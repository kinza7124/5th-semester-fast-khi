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1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2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3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14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15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56" r:id="rId2"/>
    <p:sldId id="322" r:id="rId3"/>
    <p:sldId id="387" r:id="rId4"/>
    <p:sldId id="388" r:id="rId5"/>
    <p:sldId id="369" r:id="rId6"/>
    <p:sldId id="370" r:id="rId7"/>
    <p:sldId id="371" r:id="rId8"/>
    <p:sldId id="372" r:id="rId9"/>
    <p:sldId id="400" r:id="rId10"/>
    <p:sldId id="373" r:id="rId11"/>
    <p:sldId id="374" r:id="rId12"/>
    <p:sldId id="368" r:id="rId13"/>
    <p:sldId id="395" r:id="rId14"/>
    <p:sldId id="385" r:id="rId15"/>
    <p:sldId id="389" r:id="rId16"/>
    <p:sldId id="366" r:id="rId17"/>
    <p:sldId id="393" r:id="rId18"/>
    <p:sldId id="394" r:id="rId19"/>
    <p:sldId id="391" r:id="rId20"/>
    <p:sldId id="330" r:id="rId21"/>
    <p:sldId id="342" r:id="rId22"/>
    <p:sldId id="396" r:id="rId23"/>
    <p:sldId id="378" r:id="rId24"/>
    <p:sldId id="401" r:id="rId25"/>
    <p:sldId id="402" r:id="rId26"/>
    <p:sldId id="403" r:id="rId27"/>
    <p:sldId id="404" r:id="rId28"/>
    <p:sldId id="392" r:id="rId29"/>
    <p:sldId id="379" r:id="rId30"/>
    <p:sldId id="399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138" autoAdjust="0"/>
  </p:normalViewPr>
  <p:slideViewPr>
    <p:cSldViewPr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17B8F4-EB21-4AB0-A514-4D64B7869DD5}" type="datetimeFigureOut">
              <a:rPr lang="en-GB" smtClean="0"/>
              <a:t>30/11/2022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7FEB7-C754-4127-8BDC-9706E49141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986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81df3b6b9a_0_4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81df3b6b9a_0_4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0234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4AD497-96F6-49E0-9DE2-35EABF21E015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8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8012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A93313-5AC6-44B2-A141-09D85FE0044A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991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1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5099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DA7417-3CB6-45D2-B395-5D0B14D683D4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999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9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627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4AD497-96F6-49E0-9DE2-35EABF21E015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98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8182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4AD497-96F6-49E0-9DE2-35EABF21E015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98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6665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4AD497-96F6-49E0-9DE2-35EABF21E015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98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968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4AD497-96F6-49E0-9DE2-35EABF21E015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98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7875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8d231503f1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8d231503f1_0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6803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Independent-set set to Vertex Cover = V-Answer</a:t>
            </a:r>
            <a:r>
              <a:rPr lang="en-US" baseline="0" dirty="0"/>
              <a:t> of </a:t>
            </a:r>
            <a:r>
              <a:rPr lang="en-US" dirty="0"/>
              <a:t>Independent-set</a:t>
            </a:r>
            <a:r>
              <a:rPr lang="en-US" baseline="0" dirty="0"/>
              <a:t>(S)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97FEB7-C754-4127-8BDC-9706E491416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742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97FEB7-C754-4127-8BDC-9706E491416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5505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already</a:t>
            </a:r>
            <a:r>
              <a:rPr lang="en-US" baseline="0" dirty="0"/>
              <a:t> have solution of Independent Set (Problem A), and we want to use the same solution of Problem A for Problem B (Vertex Cover), and this mapping of solution A to solution B (solution B needs to find out), must be in polynomial time)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97FEB7-C754-4127-8BDC-9706E491416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577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verify in P-time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97FEB7-C754-4127-8BDC-9706E491416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15417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Indepenset set to Vertex Cover = V-Answer</a:t>
            </a:r>
            <a:r>
              <a:rPr lang="en-US" baseline="0" dirty="0"/>
              <a:t> of </a:t>
            </a:r>
            <a:r>
              <a:rPr lang="en-US" baseline="0" dirty="0" err="1"/>
              <a:t>indepense</a:t>
            </a:r>
            <a:r>
              <a:rPr lang="en-US" baseline="0" dirty="0"/>
              <a:t> set(V)</a:t>
            </a:r>
          </a:p>
          <a:p>
            <a:endParaRPr lang="en-US" baseline="0" dirty="0"/>
          </a:p>
          <a:p>
            <a:r>
              <a:rPr lang="en-US" baseline="0" dirty="0"/>
              <a:t>Compliment graph of </a:t>
            </a:r>
            <a:r>
              <a:rPr lang="en-US" baseline="0" dirty="0" err="1"/>
              <a:t>indepenset</a:t>
            </a:r>
            <a:r>
              <a:rPr lang="en-US" baseline="0" dirty="0"/>
              <a:t> set in </a:t>
            </a:r>
            <a:r>
              <a:rPr lang="en-US" baseline="0" dirty="0" err="1"/>
              <a:t>cliqie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97FEB7-C754-4127-8BDC-9706E491416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07874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vertex of</a:t>
            </a:r>
            <a:r>
              <a:rPr lang="en-US" baseline="0" dirty="0"/>
              <a:t> </a:t>
            </a:r>
            <a:r>
              <a:rPr lang="en-US" dirty="0"/>
              <a:t>S contained each other.</a:t>
            </a:r>
            <a:r>
              <a:rPr lang="en-US" baseline="0" dirty="0"/>
              <a:t> (Mesh Connected)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97FEB7-C754-4127-8BDC-9706E4914167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212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ssistant ExtraLight"/>
              <a:buChar char="●"/>
              <a:defRPr sz="2000">
                <a:solidFill>
                  <a:srgbClr val="00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defRPr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ssistant ExtraLight"/>
              <a:buChar char="○"/>
              <a:defRPr sz="1600">
                <a:solidFill>
                  <a:srgbClr val="00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defRPr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ssistant ExtraLight"/>
              <a:buChar char="■"/>
              <a:defRPr sz="1600">
                <a:solidFill>
                  <a:srgbClr val="00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defRPr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ssistant ExtraLight"/>
              <a:buChar char="●"/>
              <a:defRPr sz="1600">
                <a:solidFill>
                  <a:srgbClr val="00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defRPr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ssistant ExtraLight"/>
              <a:buChar char="○"/>
              <a:defRPr sz="1600">
                <a:solidFill>
                  <a:srgbClr val="00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defRPr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ssistant ExtraLight"/>
              <a:buChar char="■"/>
              <a:defRPr sz="1600">
                <a:solidFill>
                  <a:srgbClr val="00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defRPr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ssistant ExtraLight"/>
              <a:buChar char="●"/>
              <a:defRPr sz="1600">
                <a:solidFill>
                  <a:srgbClr val="00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defRPr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ssistant ExtraLight"/>
              <a:buChar char="○"/>
              <a:defRPr sz="1600">
                <a:solidFill>
                  <a:srgbClr val="00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defRPr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600"/>
              <a:buFont typeface="Assistant ExtraLight"/>
              <a:buChar char="■"/>
              <a:defRPr sz="1600">
                <a:solidFill>
                  <a:srgbClr val="00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defRPr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4" name="Google Shape;64;p16"/>
          <p:cNvSpPr txBox="1"/>
          <p:nvPr/>
        </p:nvSpPr>
        <p:spPr>
          <a:xfrm>
            <a:off x="311700" y="494900"/>
            <a:ext cx="8520600" cy="862000"/>
          </a:xfrm>
          <a:prstGeom prst="rect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accent5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  <p:extLst>
      <p:ext uri="{BB962C8B-B14F-4D97-AF65-F5344CB8AC3E}">
        <p14:creationId xmlns:p14="http://schemas.microsoft.com/office/powerpoint/2010/main" val="284737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notesSlide" Target="../notesSlides/notesSlide10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notesSlide" Target="../notesSlides/notesSlide11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3" Type="http://schemas.openxmlformats.org/officeDocument/2006/relationships/tags" Target="../tags/tag27.xml"/><Relationship Id="rId21" Type="http://schemas.openxmlformats.org/officeDocument/2006/relationships/notesSlide" Target="../notesSlides/notesSlide13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10" Type="http://schemas.openxmlformats.org/officeDocument/2006/relationships/tags" Target="../tags/tag34.xml"/><Relationship Id="rId19" Type="http://schemas.openxmlformats.org/officeDocument/2006/relationships/tags" Target="../tags/tag43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5" Type="http://schemas.openxmlformats.org/officeDocument/2006/relationships/tags" Target="../tags/tag48.xml"/><Relationship Id="rId10" Type="http://schemas.openxmlformats.org/officeDocument/2006/relationships/tags" Target="../tags/tag53.xml"/><Relationship Id="rId4" Type="http://schemas.openxmlformats.org/officeDocument/2006/relationships/tags" Target="../tags/tag47.xml"/><Relationship Id="rId9" Type="http://schemas.openxmlformats.org/officeDocument/2006/relationships/tags" Target="../tags/tag5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tags" Target="../tags/tag67.xml"/><Relationship Id="rId18" Type="http://schemas.openxmlformats.org/officeDocument/2006/relationships/tags" Target="../tags/tag72.xml"/><Relationship Id="rId26" Type="http://schemas.openxmlformats.org/officeDocument/2006/relationships/tags" Target="../tags/tag80.xml"/><Relationship Id="rId3" Type="http://schemas.openxmlformats.org/officeDocument/2006/relationships/tags" Target="../tags/tag57.xml"/><Relationship Id="rId21" Type="http://schemas.openxmlformats.org/officeDocument/2006/relationships/tags" Target="../tags/tag75.xml"/><Relationship Id="rId34" Type="http://schemas.openxmlformats.org/officeDocument/2006/relationships/tags" Target="../tags/tag88.xml"/><Relationship Id="rId7" Type="http://schemas.openxmlformats.org/officeDocument/2006/relationships/tags" Target="../tags/tag61.xml"/><Relationship Id="rId12" Type="http://schemas.openxmlformats.org/officeDocument/2006/relationships/tags" Target="../tags/tag66.xml"/><Relationship Id="rId17" Type="http://schemas.openxmlformats.org/officeDocument/2006/relationships/tags" Target="../tags/tag71.xml"/><Relationship Id="rId25" Type="http://schemas.openxmlformats.org/officeDocument/2006/relationships/tags" Target="../tags/tag79.xml"/><Relationship Id="rId33" Type="http://schemas.openxmlformats.org/officeDocument/2006/relationships/tags" Target="../tags/tag87.xml"/><Relationship Id="rId38" Type="http://schemas.openxmlformats.org/officeDocument/2006/relationships/notesSlide" Target="../notesSlides/notesSlide14.xml"/><Relationship Id="rId2" Type="http://schemas.openxmlformats.org/officeDocument/2006/relationships/tags" Target="../tags/tag56.xml"/><Relationship Id="rId16" Type="http://schemas.openxmlformats.org/officeDocument/2006/relationships/tags" Target="../tags/tag70.xml"/><Relationship Id="rId20" Type="http://schemas.openxmlformats.org/officeDocument/2006/relationships/tags" Target="../tags/tag74.xml"/><Relationship Id="rId29" Type="http://schemas.openxmlformats.org/officeDocument/2006/relationships/tags" Target="../tags/tag83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tags" Target="../tags/tag65.xml"/><Relationship Id="rId24" Type="http://schemas.openxmlformats.org/officeDocument/2006/relationships/tags" Target="../tags/tag78.xml"/><Relationship Id="rId32" Type="http://schemas.openxmlformats.org/officeDocument/2006/relationships/tags" Target="../tags/tag86.xml"/><Relationship Id="rId37" Type="http://schemas.openxmlformats.org/officeDocument/2006/relationships/slideLayout" Target="../slideLayouts/slideLayout2.xml"/><Relationship Id="rId5" Type="http://schemas.openxmlformats.org/officeDocument/2006/relationships/tags" Target="../tags/tag59.xml"/><Relationship Id="rId15" Type="http://schemas.openxmlformats.org/officeDocument/2006/relationships/tags" Target="../tags/tag69.xml"/><Relationship Id="rId23" Type="http://schemas.openxmlformats.org/officeDocument/2006/relationships/tags" Target="../tags/tag77.xml"/><Relationship Id="rId28" Type="http://schemas.openxmlformats.org/officeDocument/2006/relationships/tags" Target="../tags/tag82.xml"/><Relationship Id="rId36" Type="http://schemas.openxmlformats.org/officeDocument/2006/relationships/tags" Target="../tags/tag90.xml"/><Relationship Id="rId10" Type="http://schemas.openxmlformats.org/officeDocument/2006/relationships/tags" Target="../tags/tag64.xml"/><Relationship Id="rId19" Type="http://schemas.openxmlformats.org/officeDocument/2006/relationships/tags" Target="../tags/tag73.xml"/><Relationship Id="rId31" Type="http://schemas.openxmlformats.org/officeDocument/2006/relationships/tags" Target="../tags/tag85.xml"/><Relationship Id="rId4" Type="http://schemas.openxmlformats.org/officeDocument/2006/relationships/tags" Target="../tags/tag58.xml"/><Relationship Id="rId9" Type="http://schemas.openxmlformats.org/officeDocument/2006/relationships/tags" Target="../tags/tag63.xml"/><Relationship Id="rId14" Type="http://schemas.openxmlformats.org/officeDocument/2006/relationships/tags" Target="../tags/tag68.xml"/><Relationship Id="rId22" Type="http://schemas.openxmlformats.org/officeDocument/2006/relationships/tags" Target="../tags/tag76.xml"/><Relationship Id="rId27" Type="http://schemas.openxmlformats.org/officeDocument/2006/relationships/tags" Target="../tags/tag81.xml"/><Relationship Id="rId30" Type="http://schemas.openxmlformats.org/officeDocument/2006/relationships/tags" Target="../tags/tag84.xml"/><Relationship Id="rId35" Type="http://schemas.openxmlformats.org/officeDocument/2006/relationships/tags" Target="../tags/tag8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94.xml"/><Relationship Id="rId9" Type="http://schemas.openxmlformats.org/officeDocument/2006/relationships/tags" Target="../tags/tag9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09.xml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10" Type="http://schemas.openxmlformats.org/officeDocument/2006/relationships/notesSlide" Target="../notesSlides/notesSlide15.xml"/><Relationship Id="rId4" Type="http://schemas.openxmlformats.org/officeDocument/2006/relationships/tags" Target="../tags/tag105.xml"/><Relationship Id="rId9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tags" Target="../tags/tag124.xml"/><Relationship Id="rId18" Type="http://schemas.openxmlformats.org/officeDocument/2006/relationships/tags" Target="../tags/tag129.xml"/><Relationship Id="rId3" Type="http://schemas.openxmlformats.org/officeDocument/2006/relationships/tags" Target="../tags/tag114.xml"/><Relationship Id="rId21" Type="http://schemas.openxmlformats.org/officeDocument/2006/relationships/tags" Target="../tags/tag132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17" Type="http://schemas.openxmlformats.org/officeDocument/2006/relationships/tags" Target="../tags/tag128.xml"/><Relationship Id="rId25" Type="http://schemas.openxmlformats.org/officeDocument/2006/relationships/slideLayout" Target="../slideLayouts/slideLayout2.xml"/><Relationship Id="rId2" Type="http://schemas.openxmlformats.org/officeDocument/2006/relationships/tags" Target="../tags/tag113.xml"/><Relationship Id="rId16" Type="http://schemas.openxmlformats.org/officeDocument/2006/relationships/tags" Target="../tags/tag127.xml"/><Relationship Id="rId20" Type="http://schemas.openxmlformats.org/officeDocument/2006/relationships/tags" Target="../tags/tag131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24" Type="http://schemas.openxmlformats.org/officeDocument/2006/relationships/tags" Target="../tags/tag135.xml"/><Relationship Id="rId5" Type="http://schemas.openxmlformats.org/officeDocument/2006/relationships/tags" Target="../tags/tag116.xml"/><Relationship Id="rId15" Type="http://schemas.openxmlformats.org/officeDocument/2006/relationships/tags" Target="../tags/tag126.xml"/><Relationship Id="rId23" Type="http://schemas.openxmlformats.org/officeDocument/2006/relationships/tags" Target="../tags/tag134.xml"/><Relationship Id="rId10" Type="http://schemas.openxmlformats.org/officeDocument/2006/relationships/tags" Target="../tags/tag121.xml"/><Relationship Id="rId19" Type="http://schemas.openxmlformats.org/officeDocument/2006/relationships/tags" Target="../tags/tag130.xml"/><Relationship Id="rId4" Type="http://schemas.openxmlformats.org/officeDocument/2006/relationships/tags" Target="../tags/tag115.xml"/><Relationship Id="rId9" Type="http://schemas.openxmlformats.org/officeDocument/2006/relationships/tags" Target="../tags/tag120.xml"/><Relationship Id="rId14" Type="http://schemas.openxmlformats.org/officeDocument/2006/relationships/tags" Target="../tags/tag125.xml"/><Relationship Id="rId22" Type="http://schemas.openxmlformats.org/officeDocument/2006/relationships/tags" Target="../tags/tag13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4;p13"/>
          <p:cNvSpPr txBox="1">
            <a:spLocks/>
          </p:cNvSpPr>
          <p:nvPr/>
        </p:nvSpPr>
        <p:spPr>
          <a:xfrm>
            <a:off x="777000" y="650324"/>
            <a:ext cx="7590000" cy="1751700"/>
          </a:xfrm>
          <a:prstGeom prst="rect">
            <a:avLst/>
          </a:prstGeom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ctr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accent5"/>
                </a:solidFill>
                <a:latin typeface="Lato Light"/>
                <a:ea typeface="Lato Light"/>
                <a:cs typeface="Lato Light"/>
                <a:sym typeface="Lato Light"/>
              </a:rPr>
              <a:t>CS 2009</a:t>
            </a:r>
            <a:br>
              <a:rPr lang="en-US" sz="3600" dirty="0">
                <a:solidFill>
                  <a:schemeClr val="accent5"/>
                </a:solidFill>
                <a:latin typeface="Lato Light"/>
                <a:ea typeface="Lato Light"/>
                <a:cs typeface="Lato Light"/>
                <a:sym typeface="Lato Light"/>
              </a:rPr>
            </a:br>
            <a:r>
              <a:rPr lang="en-US" sz="2400" dirty="0">
                <a:solidFill>
                  <a:schemeClr val="accent5"/>
                </a:solidFill>
                <a:latin typeface="Lato Light"/>
                <a:ea typeface="Lato Light"/>
                <a:cs typeface="Lato Light"/>
                <a:sym typeface="Lato Light"/>
              </a:rPr>
              <a:t>Design and Analysis of Algorithms</a:t>
            </a:r>
            <a:br>
              <a:rPr lang="en-US" sz="2400" dirty="0">
                <a:solidFill>
                  <a:schemeClr val="accent5"/>
                </a:solidFill>
                <a:latin typeface="Lato Light"/>
                <a:ea typeface="Lato Light"/>
                <a:cs typeface="Lato Light"/>
                <a:sym typeface="Lato Light"/>
              </a:rPr>
            </a:br>
            <a:br>
              <a:rPr lang="en-US" sz="2400" dirty="0">
                <a:solidFill>
                  <a:schemeClr val="accent5"/>
                </a:solidFill>
                <a:latin typeface="Lato Light"/>
                <a:ea typeface="Lato Light"/>
                <a:cs typeface="Lato Light"/>
                <a:sym typeface="Lato Light"/>
              </a:rPr>
            </a:br>
            <a:endParaRPr lang="en-US" sz="2400" dirty="0">
              <a:solidFill>
                <a:srgbClr val="4C113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5" name="Google Shape;109;p27"/>
          <p:cNvSpPr txBox="1">
            <a:spLocks/>
          </p:cNvSpPr>
          <p:nvPr/>
        </p:nvSpPr>
        <p:spPr>
          <a:xfrm>
            <a:off x="70800" y="3886200"/>
            <a:ext cx="9002400" cy="1751700"/>
          </a:xfrm>
          <a:prstGeom prst="rect">
            <a:avLst/>
          </a:prstGeom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900" dirty="0">
                <a:solidFill>
                  <a:schemeClr val="accent5"/>
                </a:solidFill>
                <a:latin typeface="Lato Light"/>
                <a:ea typeface="Lato Light"/>
                <a:cs typeface="Lato Light"/>
                <a:sym typeface="Lato Light"/>
              </a:rPr>
              <a:t>Week 14.2:</a:t>
            </a:r>
            <a:r>
              <a:rPr lang="en-US" dirty="0">
                <a:solidFill>
                  <a:schemeClr val="accent5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</a:p>
          <a:p>
            <a:pPr>
              <a:spcBef>
                <a:spcPts val="0"/>
              </a:spcBef>
            </a:pPr>
            <a:r>
              <a:rPr lang="en-US" altLang="zh-CN" sz="3600" dirty="0">
                <a:solidFill>
                  <a:schemeClr val="accent5"/>
                </a:solidFill>
                <a:latin typeface="Lato Light"/>
                <a:ea typeface="Lato Light"/>
                <a:cs typeface="Lato Light"/>
              </a:rPr>
              <a:t>NP-Completeness Reduction</a:t>
            </a:r>
          </a:p>
          <a:p>
            <a:pPr>
              <a:spcBef>
                <a:spcPts val="0"/>
              </a:spcBef>
            </a:pPr>
            <a:endParaRPr lang="en-US" sz="3600" dirty="0">
              <a:solidFill>
                <a:schemeClr val="accent5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>
              <a:spcBef>
                <a:spcPts val="0"/>
              </a:spcBef>
            </a:pPr>
            <a:r>
              <a:rPr lang="en-US" sz="2400" b="1" dirty="0">
                <a:solidFill>
                  <a:srgbClr val="40458B"/>
                </a:solidFill>
                <a:latin typeface="Tahoma" panose="020B0604030504040204" pitchFamily="34" charset="0"/>
                <a:sym typeface="Lato Light"/>
              </a:rPr>
              <a:t>Thomas H. </a:t>
            </a:r>
            <a:r>
              <a:rPr lang="en-US" sz="2400" b="1" dirty="0" err="1">
                <a:solidFill>
                  <a:srgbClr val="40458B"/>
                </a:solidFill>
                <a:latin typeface="Tahoma" panose="020B0604030504040204" pitchFamily="34" charset="0"/>
                <a:sym typeface="Lato Light"/>
              </a:rPr>
              <a:t>Coreman</a:t>
            </a:r>
            <a:r>
              <a:rPr lang="en-US" sz="2400" b="1" dirty="0">
                <a:solidFill>
                  <a:srgbClr val="40458B"/>
                </a:solidFill>
                <a:latin typeface="Tahoma" panose="020B0604030504040204" pitchFamily="34" charset="0"/>
                <a:sym typeface="Lato Light"/>
              </a:rPr>
              <a:t> (CLRS), Chapter 34.</a:t>
            </a:r>
          </a:p>
          <a:p>
            <a:pPr>
              <a:spcBef>
                <a:spcPts val="0"/>
              </a:spcBef>
            </a:pPr>
            <a:r>
              <a:rPr lang="en-US" sz="2400" b="1" dirty="0">
                <a:solidFill>
                  <a:srgbClr val="40458B"/>
                </a:solidFill>
                <a:latin typeface="Tahoma" panose="020B0604030504040204" pitchFamily="34" charset="0"/>
                <a:ea typeface="Lato Light"/>
                <a:cs typeface="Lato Light"/>
                <a:sym typeface="Lato Light"/>
              </a:rPr>
              <a:t>JON KLEINBERG, EVA TARDOS, Chapter 8.</a:t>
            </a:r>
            <a:endParaRPr lang="en-US" sz="2400" dirty="0">
              <a:solidFill>
                <a:schemeClr val="accent5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" name="Google Shape;55;p13"/>
          <p:cNvSpPr txBox="1"/>
          <p:nvPr/>
        </p:nvSpPr>
        <p:spPr>
          <a:xfrm>
            <a:off x="311700" y="2209800"/>
            <a:ext cx="8520600" cy="1553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2400" i="1" dirty="0">
                <a:latin typeface="Assistant ExtraLight"/>
                <a:ea typeface="Assistant ExtraLight"/>
                <a:cs typeface="Assistant ExtraLight"/>
                <a:sym typeface="Assistant ExtraLight"/>
              </a:rPr>
              <a:t>Waheed Ahmed</a:t>
            </a:r>
          </a:p>
          <a:p>
            <a:pPr algn="ctr"/>
            <a:r>
              <a:rPr lang="en" sz="2400" i="1" dirty="0">
                <a:latin typeface="Assistant ExtraLight"/>
                <a:ea typeface="Assistant ExtraLight"/>
                <a:cs typeface="Assistant ExtraLight"/>
                <a:sym typeface="Assistant ExtraLight"/>
              </a:rPr>
              <a:t>Email : waheedahmed@nu.edu.pk</a:t>
            </a:r>
          </a:p>
          <a:p>
            <a:pPr algn="ctr"/>
            <a:endParaRPr sz="2400" i="1" dirty="0"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1080289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12E5CF-9DB6-49B4-B1ED-5711B97701D2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8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Reductions</a:t>
            </a:r>
          </a:p>
        </p:txBody>
      </p:sp>
      <p:sp>
        <p:nvSpPr>
          <p:cNvPr id="98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875" y="1214438"/>
            <a:ext cx="8686800" cy="5076825"/>
          </a:xfrm>
        </p:spPr>
        <p:txBody>
          <a:bodyPr/>
          <a:lstStyle/>
          <a:p>
            <a:r>
              <a:rPr lang="en-US" altLang="en-US" sz="2800" dirty="0">
                <a:solidFill>
                  <a:schemeClr val="tx2"/>
                </a:solidFill>
              </a:rPr>
              <a:t>Reduction is a way of saying that one problem is </a:t>
            </a:r>
            <a:r>
              <a:rPr lang="en-US" altLang="en-US" sz="2800" b="1" dirty="0">
                <a:solidFill>
                  <a:schemeClr val="tx2"/>
                </a:solidFill>
              </a:rPr>
              <a:t>“easier”</a:t>
            </a:r>
            <a:r>
              <a:rPr lang="en-US" altLang="en-US" sz="2800" dirty="0">
                <a:solidFill>
                  <a:schemeClr val="tx2"/>
                </a:solidFill>
              </a:rPr>
              <a:t> than another.</a:t>
            </a:r>
          </a:p>
          <a:p>
            <a:r>
              <a:rPr lang="en-US" altLang="en-US" sz="2800" dirty="0">
                <a:solidFill>
                  <a:schemeClr val="tx2"/>
                </a:solidFill>
              </a:rPr>
              <a:t>We say that problem A is easier than problem B, 	 	           (i.e., we write </a:t>
            </a:r>
            <a:r>
              <a:rPr lang="en-US" altLang="en-US" sz="2800" b="1" dirty="0">
                <a:solidFill>
                  <a:schemeClr val="tx2"/>
                </a:solidFill>
              </a:rPr>
              <a:t>“A </a:t>
            </a:r>
            <a:r>
              <a:rPr lang="en-US" altLang="en-US" sz="2800" b="1" dirty="0">
                <a:solidFill>
                  <a:schemeClr val="tx2"/>
                </a:solidFill>
                <a:sym typeface="Symbol" panose="05050102010706020507" pitchFamily="18" charset="2"/>
              </a:rPr>
              <a:t> </a:t>
            </a:r>
            <a:r>
              <a:rPr lang="en-US" altLang="en-US" sz="2800" b="1" dirty="0">
                <a:solidFill>
                  <a:schemeClr val="tx2"/>
                </a:solidFill>
              </a:rPr>
              <a:t>B”</a:t>
            </a:r>
            <a:r>
              <a:rPr lang="en-US" altLang="en-US" sz="2800" dirty="0">
                <a:solidFill>
                  <a:schemeClr val="tx2"/>
                </a:solidFill>
              </a:rPr>
              <a:t>) </a:t>
            </a:r>
          </a:p>
          <a:p>
            <a:pPr>
              <a:buFontTx/>
              <a:buNone/>
            </a:pPr>
            <a:r>
              <a:rPr lang="en-US" altLang="en-US" sz="2800" dirty="0">
                <a:solidFill>
                  <a:schemeClr val="tx2"/>
                </a:solidFill>
              </a:rPr>
              <a:t>   if we can solve A using the algorithm that solves B.</a:t>
            </a:r>
          </a:p>
          <a:p>
            <a:r>
              <a:rPr lang="en-US" altLang="en-US" b="1" dirty="0"/>
              <a:t>Idea: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DD0111"/>
                </a:solidFill>
              </a:rPr>
              <a:t>transform the inputs of A to inputs of B</a:t>
            </a:r>
          </a:p>
        </p:txBody>
      </p:sp>
      <p:grpSp>
        <p:nvGrpSpPr>
          <p:cNvPr id="986133" name="Group 21"/>
          <p:cNvGrpSpPr>
            <a:grpSpLocks/>
          </p:cNvGrpSpPr>
          <p:nvPr/>
        </p:nvGrpSpPr>
        <p:grpSpPr bwMode="auto">
          <a:xfrm>
            <a:off x="457200" y="4495800"/>
            <a:ext cx="8115300" cy="1587500"/>
            <a:chOff x="304" y="895"/>
            <a:chExt cx="5112" cy="1000"/>
          </a:xfrm>
        </p:grpSpPr>
        <p:sp>
          <p:nvSpPr>
            <p:cNvPr id="986134" name="Rectangle 22"/>
            <p:cNvSpPr>
              <a:spLocks noChangeArrowheads="1"/>
            </p:cNvSpPr>
            <p:nvPr/>
          </p:nvSpPr>
          <p:spPr bwMode="auto">
            <a:xfrm>
              <a:off x="677" y="895"/>
              <a:ext cx="4181" cy="98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  <a:p>
              <a:pPr algn="ctr"/>
              <a:endParaRPr lang="en-US" altLang="en-US" sz="2400"/>
            </a:p>
            <a:p>
              <a:pPr algn="ctr"/>
              <a:endParaRPr lang="en-US" altLang="en-US" sz="2400"/>
            </a:p>
          </p:txBody>
        </p:sp>
        <p:sp>
          <p:nvSpPr>
            <p:cNvPr id="986135" name="Rectangle 23"/>
            <p:cNvSpPr>
              <a:spLocks noChangeArrowheads="1"/>
            </p:cNvSpPr>
            <p:nvPr/>
          </p:nvSpPr>
          <p:spPr bwMode="auto">
            <a:xfrm>
              <a:off x="852" y="1102"/>
              <a:ext cx="614" cy="5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800">
                  <a:latin typeface="Monotype Corsiva" panose="03010101010201010101" pitchFamily="66" charset="0"/>
                </a:rPr>
                <a:t>f</a:t>
              </a:r>
            </a:p>
          </p:txBody>
        </p:sp>
        <p:sp>
          <p:nvSpPr>
            <p:cNvPr id="986136" name="Rectangle 24"/>
            <p:cNvSpPr>
              <a:spLocks noChangeArrowheads="1"/>
            </p:cNvSpPr>
            <p:nvPr/>
          </p:nvSpPr>
          <p:spPr bwMode="auto">
            <a:xfrm>
              <a:off x="2224" y="1102"/>
              <a:ext cx="2082" cy="5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/>
                <a:t>Problem B</a:t>
              </a:r>
            </a:p>
          </p:txBody>
        </p:sp>
        <p:sp>
          <p:nvSpPr>
            <p:cNvPr id="986137" name="Line 25"/>
            <p:cNvSpPr>
              <a:spLocks noChangeShapeType="1"/>
            </p:cNvSpPr>
            <p:nvPr/>
          </p:nvSpPr>
          <p:spPr bwMode="auto">
            <a:xfrm>
              <a:off x="304" y="1383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38" name="Text Box 26"/>
            <p:cNvSpPr txBox="1">
              <a:spLocks noChangeArrowheads="1"/>
            </p:cNvSpPr>
            <p:nvPr/>
          </p:nvSpPr>
          <p:spPr bwMode="auto">
            <a:xfrm>
              <a:off x="453" y="1074"/>
              <a:ext cx="25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986139" name="Text Box 27"/>
            <p:cNvSpPr txBox="1">
              <a:spLocks noChangeArrowheads="1"/>
            </p:cNvSpPr>
            <p:nvPr/>
          </p:nvSpPr>
          <p:spPr bwMode="auto">
            <a:xfrm>
              <a:off x="1946" y="1074"/>
              <a:ext cx="2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986140" name="Line 28"/>
            <p:cNvSpPr>
              <a:spLocks noChangeShapeType="1"/>
            </p:cNvSpPr>
            <p:nvPr/>
          </p:nvSpPr>
          <p:spPr bwMode="auto">
            <a:xfrm>
              <a:off x="1480" y="1383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1" name="Line 29"/>
            <p:cNvSpPr>
              <a:spLocks noChangeShapeType="1"/>
            </p:cNvSpPr>
            <p:nvPr/>
          </p:nvSpPr>
          <p:spPr bwMode="auto">
            <a:xfrm flipV="1">
              <a:off x="4310" y="1186"/>
              <a:ext cx="547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2" name="Line 30"/>
            <p:cNvSpPr>
              <a:spLocks noChangeShapeType="1"/>
            </p:cNvSpPr>
            <p:nvPr/>
          </p:nvSpPr>
          <p:spPr bwMode="auto">
            <a:xfrm>
              <a:off x="4310" y="1397"/>
              <a:ext cx="547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3" name="Line 31"/>
            <p:cNvSpPr>
              <a:spLocks noChangeShapeType="1"/>
            </p:cNvSpPr>
            <p:nvPr/>
          </p:nvSpPr>
          <p:spPr bwMode="auto">
            <a:xfrm>
              <a:off x="4854" y="1191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4" name="Line 32"/>
            <p:cNvSpPr>
              <a:spLocks noChangeShapeType="1"/>
            </p:cNvSpPr>
            <p:nvPr/>
          </p:nvSpPr>
          <p:spPr bwMode="auto">
            <a:xfrm>
              <a:off x="4859" y="1585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5" name="Text Box 33"/>
            <p:cNvSpPr txBox="1">
              <a:spLocks noChangeArrowheads="1"/>
            </p:cNvSpPr>
            <p:nvPr/>
          </p:nvSpPr>
          <p:spPr bwMode="auto">
            <a:xfrm>
              <a:off x="4402" y="1065"/>
              <a:ext cx="3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yes</a:t>
              </a:r>
            </a:p>
          </p:txBody>
        </p:sp>
        <p:sp>
          <p:nvSpPr>
            <p:cNvPr id="986146" name="Text Box 34"/>
            <p:cNvSpPr txBox="1">
              <a:spLocks noChangeArrowheads="1"/>
            </p:cNvSpPr>
            <p:nvPr/>
          </p:nvSpPr>
          <p:spPr bwMode="auto">
            <a:xfrm>
              <a:off x="4426" y="1463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no</a:t>
              </a:r>
            </a:p>
          </p:txBody>
        </p:sp>
        <p:sp>
          <p:nvSpPr>
            <p:cNvPr id="986147" name="Text Box 35"/>
            <p:cNvSpPr txBox="1">
              <a:spLocks noChangeArrowheads="1"/>
            </p:cNvSpPr>
            <p:nvPr/>
          </p:nvSpPr>
          <p:spPr bwMode="auto">
            <a:xfrm>
              <a:off x="4997" y="969"/>
              <a:ext cx="3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yes</a:t>
              </a:r>
            </a:p>
          </p:txBody>
        </p:sp>
        <p:sp>
          <p:nvSpPr>
            <p:cNvPr id="986148" name="Text Box 36"/>
            <p:cNvSpPr txBox="1">
              <a:spLocks noChangeArrowheads="1"/>
            </p:cNvSpPr>
            <p:nvPr/>
          </p:nvSpPr>
          <p:spPr bwMode="auto">
            <a:xfrm>
              <a:off x="5021" y="1367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no</a:t>
              </a:r>
            </a:p>
          </p:txBody>
        </p:sp>
        <p:sp>
          <p:nvSpPr>
            <p:cNvPr id="986149" name="Text Box 37"/>
            <p:cNvSpPr txBox="1">
              <a:spLocks noChangeArrowheads="1"/>
            </p:cNvSpPr>
            <p:nvPr/>
          </p:nvSpPr>
          <p:spPr bwMode="auto">
            <a:xfrm>
              <a:off x="1469" y="1664"/>
              <a:ext cx="7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Problem 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0517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7DD868-10A7-432D-927E-692429EE891A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99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Polynomial Reductions</a:t>
            </a:r>
          </a:p>
        </p:txBody>
      </p:sp>
      <p:sp>
        <p:nvSpPr>
          <p:cNvPr id="990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33400" indent="-533400">
              <a:lnSpc>
                <a:spcPct val="200000"/>
              </a:lnSpc>
            </a:pPr>
            <a:r>
              <a:rPr lang="en-US" altLang="en-US" dirty="0">
                <a:solidFill>
                  <a:schemeClr val="tx2"/>
                </a:solidFill>
              </a:rPr>
              <a:t>Given two problems A, B, we say that A is </a:t>
            </a:r>
            <a:r>
              <a:rPr lang="en-US" altLang="en-US" dirty="0" err="1">
                <a:solidFill>
                  <a:schemeClr val="tx2"/>
                </a:solidFill>
              </a:rPr>
              <a:t>polynomially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b="1" dirty="0">
                <a:solidFill>
                  <a:schemeClr val="tx2"/>
                </a:solidFill>
              </a:rPr>
              <a:t>reducible</a:t>
            </a:r>
            <a:r>
              <a:rPr lang="en-US" altLang="en-US" dirty="0">
                <a:solidFill>
                  <a:schemeClr val="tx2"/>
                </a:solidFill>
              </a:rPr>
              <a:t> to B (A </a:t>
            </a:r>
            <a:r>
              <a:rPr lang="en-US" altLang="en-US" dirty="0">
                <a:solidFill>
                  <a:schemeClr val="tx2"/>
                </a:solidFill>
                <a:sym typeface="Symbol" panose="05050102010706020507" pitchFamily="18" charset="2"/>
              </a:rPr>
              <a:t></a:t>
            </a:r>
            <a:r>
              <a:rPr lang="en-US" altLang="en-US" baseline="-25000" dirty="0">
                <a:solidFill>
                  <a:schemeClr val="tx2"/>
                </a:solidFill>
                <a:sym typeface="Symbol" panose="05050102010706020507" pitchFamily="18" charset="2"/>
              </a:rPr>
              <a:t>p</a:t>
            </a:r>
            <a:r>
              <a:rPr lang="en-US" altLang="en-US" dirty="0">
                <a:solidFill>
                  <a:schemeClr val="tx2"/>
                </a:solidFill>
                <a:sym typeface="Symbol" panose="05050102010706020507" pitchFamily="18" charset="2"/>
              </a:rPr>
              <a:t> B</a:t>
            </a:r>
            <a:r>
              <a:rPr lang="en-US" altLang="en-US" dirty="0">
                <a:solidFill>
                  <a:schemeClr val="tx2"/>
                </a:solidFill>
              </a:rPr>
              <a:t>) if:</a:t>
            </a:r>
          </a:p>
          <a:p>
            <a:pPr marL="914400" lvl="1" indent="-457200">
              <a:lnSpc>
                <a:spcPct val="200000"/>
              </a:lnSpc>
              <a:buFontTx/>
              <a:buAutoNum type="arabicPeriod"/>
            </a:pPr>
            <a:r>
              <a:rPr lang="en-US" altLang="en-US" dirty="0"/>
              <a:t>There exists a function </a:t>
            </a:r>
            <a:r>
              <a:rPr lang="en-US" altLang="en-US" dirty="0">
                <a:latin typeface="Monotype Corsiva" panose="03010101010201010101" pitchFamily="66" charset="0"/>
              </a:rPr>
              <a:t>f  </a:t>
            </a:r>
            <a:r>
              <a:rPr lang="en-US" altLang="en-US" dirty="0"/>
              <a:t>that converts the input of A to inputs of B in polynomial time</a:t>
            </a:r>
          </a:p>
          <a:p>
            <a:pPr marL="914400" lvl="1" indent="-457200">
              <a:lnSpc>
                <a:spcPct val="200000"/>
              </a:lnSpc>
              <a:buFontTx/>
              <a:buAutoNum type="arabicPeriod"/>
            </a:pPr>
            <a:r>
              <a:rPr lang="en-US" altLang="en-US" dirty="0"/>
              <a:t>A(</a:t>
            </a:r>
            <a:r>
              <a:rPr lang="en-US" altLang="en-US" dirty="0" err="1"/>
              <a:t>i</a:t>
            </a:r>
            <a:r>
              <a:rPr lang="en-US" altLang="en-US" dirty="0"/>
              <a:t>) = YES </a:t>
            </a:r>
            <a:r>
              <a:rPr lang="en-US" altLang="en-US" dirty="0">
                <a:sym typeface="Symbol" panose="05050102010706020507" pitchFamily="18" charset="2"/>
              </a:rPr>
              <a:t> B(f(</a:t>
            </a:r>
            <a:r>
              <a:rPr lang="en-US" altLang="en-US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)) = YES</a:t>
            </a:r>
          </a:p>
        </p:txBody>
      </p:sp>
    </p:spTree>
    <p:extLst>
      <p:ext uri="{BB962C8B-B14F-4D97-AF65-F5344CB8AC3E}">
        <p14:creationId xmlns:p14="http://schemas.microsoft.com/office/powerpoint/2010/main" val="245854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8A1801-F6BC-47E7-9CD6-621F06C14265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998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Polynomial Reduction</a:t>
            </a:r>
          </a:p>
        </p:txBody>
      </p:sp>
      <p:sp>
        <p:nvSpPr>
          <p:cNvPr id="998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3225800"/>
            <a:ext cx="8496300" cy="3065463"/>
          </a:xfrm>
        </p:spPr>
        <p:txBody>
          <a:bodyPr/>
          <a:lstStyle/>
          <a:p>
            <a:pPr marL="914400" lvl="1" indent="-457200">
              <a:lnSpc>
                <a:spcPct val="130000"/>
              </a:lnSpc>
              <a:buFontTx/>
              <a:buAutoNum type="arabicPeriod"/>
            </a:pPr>
            <a:r>
              <a:rPr lang="en-US" altLang="en-US"/>
              <a:t>Use a </a:t>
            </a:r>
            <a:r>
              <a:rPr lang="en-US" altLang="en-US" b="1"/>
              <a:t>polynomial time</a:t>
            </a:r>
            <a:r>
              <a:rPr lang="en-US" altLang="en-US"/>
              <a:t> reduction algorithm to </a:t>
            </a:r>
          </a:p>
          <a:p>
            <a:pPr marL="914400" lvl="1" indent="-457200">
              <a:lnSpc>
                <a:spcPct val="130000"/>
              </a:lnSpc>
              <a:buFontTx/>
              <a:buNone/>
            </a:pPr>
            <a:r>
              <a:rPr lang="en-US" altLang="en-US"/>
              <a:t>      transform A into B</a:t>
            </a:r>
          </a:p>
          <a:p>
            <a:pPr marL="914400" lvl="1" indent="-457200">
              <a:lnSpc>
                <a:spcPct val="130000"/>
              </a:lnSpc>
              <a:buFontTx/>
              <a:buAutoNum type="arabicPeriod" startAt="2"/>
            </a:pPr>
            <a:r>
              <a:rPr lang="en-US" altLang="en-US"/>
              <a:t>Run a known </a:t>
            </a:r>
            <a:r>
              <a:rPr lang="en-US" altLang="en-US" b="1"/>
              <a:t>polynomial time</a:t>
            </a:r>
            <a:r>
              <a:rPr lang="en-US" altLang="en-US"/>
              <a:t> algorithm for B</a:t>
            </a:r>
          </a:p>
          <a:p>
            <a:pPr marL="914400" lvl="1" indent="-457200">
              <a:lnSpc>
                <a:spcPct val="130000"/>
              </a:lnSpc>
              <a:buFontTx/>
              <a:buAutoNum type="arabicPeriod" startAt="2"/>
            </a:pPr>
            <a:r>
              <a:rPr lang="en-US" altLang="en-US"/>
              <a:t>Use the answer for B as the answer for A</a:t>
            </a:r>
          </a:p>
        </p:txBody>
      </p:sp>
      <p:grpSp>
        <p:nvGrpSpPr>
          <p:cNvPr id="998404" name="Group 4"/>
          <p:cNvGrpSpPr>
            <a:grpSpLocks/>
          </p:cNvGrpSpPr>
          <p:nvPr/>
        </p:nvGrpSpPr>
        <p:grpSpPr bwMode="auto">
          <a:xfrm>
            <a:off x="482600" y="1530350"/>
            <a:ext cx="8115300" cy="1571625"/>
            <a:chOff x="304" y="964"/>
            <a:chExt cx="5112" cy="990"/>
          </a:xfrm>
        </p:grpSpPr>
        <p:sp>
          <p:nvSpPr>
            <p:cNvPr id="998405" name="Rectangle 5"/>
            <p:cNvSpPr>
              <a:spLocks noChangeArrowheads="1"/>
            </p:cNvSpPr>
            <p:nvPr/>
          </p:nvSpPr>
          <p:spPr bwMode="auto">
            <a:xfrm>
              <a:off x="677" y="965"/>
              <a:ext cx="4181" cy="98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  <a:p>
              <a:pPr algn="ctr"/>
              <a:endParaRPr lang="en-US" altLang="en-US" sz="2400"/>
            </a:p>
            <a:p>
              <a:pPr algn="ctr"/>
              <a:endParaRPr lang="en-US" altLang="en-US" sz="2400"/>
            </a:p>
            <a:p>
              <a:pPr algn="ctr"/>
              <a:r>
                <a:rPr lang="en-US" altLang="en-US" sz="2400"/>
                <a:t>Polynomial time algorithm to decide A</a:t>
              </a:r>
            </a:p>
          </p:txBody>
        </p:sp>
        <p:sp>
          <p:nvSpPr>
            <p:cNvPr id="998406" name="Rectangle 6"/>
            <p:cNvSpPr>
              <a:spLocks noChangeArrowheads="1"/>
            </p:cNvSpPr>
            <p:nvPr/>
          </p:nvSpPr>
          <p:spPr bwMode="auto">
            <a:xfrm>
              <a:off x="852" y="1097"/>
              <a:ext cx="614" cy="5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800">
                  <a:latin typeface="Monotype Corsiva" panose="03010101010201010101" pitchFamily="66" charset="0"/>
                </a:rPr>
                <a:t>f</a:t>
              </a:r>
            </a:p>
          </p:txBody>
        </p:sp>
        <p:sp>
          <p:nvSpPr>
            <p:cNvPr id="998407" name="Rectangle 7"/>
            <p:cNvSpPr>
              <a:spLocks noChangeArrowheads="1"/>
            </p:cNvSpPr>
            <p:nvPr/>
          </p:nvSpPr>
          <p:spPr bwMode="auto">
            <a:xfrm>
              <a:off x="2224" y="1097"/>
              <a:ext cx="2082" cy="5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/>
                <a:t>Polynomial time </a:t>
              </a:r>
            </a:p>
            <a:p>
              <a:pPr algn="ctr"/>
              <a:r>
                <a:rPr lang="en-US" altLang="en-US" sz="2400"/>
                <a:t>algorithm to decide B</a:t>
              </a:r>
            </a:p>
          </p:txBody>
        </p:sp>
        <p:sp>
          <p:nvSpPr>
            <p:cNvPr id="998408" name="Line 8"/>
            <p:cNvSpPr>
              <a:spLocks noChangeShapeType="1"/>
            </p:cNvSpPr>
            <p:nvPr/>
          </p:nvSpPr>
          <p:spPr bwMode="auto">
            <a:xfrm>
              <a:off x="304" y="1378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98409" name="Text Box 9"/>
            <p:cNvSpPr txBox="1">
              <a:spLocks noChangeArrowheads="1"/>
            </p:cNvSpPr>
            <p:nvPr/>
          </p:nvSpPr>
          <p:spPr bwMode="auto">
            <a:xfrm>
              <a:off x="453" y="1069"/>
              <a:ext cx="25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998410" name="Text Box 10"/>
            <p:cNvSpPr txBox="1">
              <a:spLocks noChangeArrowheads="1"/>
            </p:cNvSpPr>
            <p:nvPr/>
          </p:nvSpPr>
          <p:spPr bwMode="auto">
            <a:xfrm>
              <a:off x="1946" y="1069"/>
              <a:ext cx="2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998411" name="Line 11"/>
            <p:cNvSpPr>
              <a:spLocks noChangeShapeType="1"/>
            </p:cNvSpPr>
            <p:nvPr/>
          </p:nvSpPr>
          <p:spPr bwMode="auto">
            <a:xfrm>
              <a:off x="1480" y="1378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98412" name="Line 12"/>
            <p:cNvSpPr>
              <a:spLocks noChangeShapeType="1"/>
            </p:cNvSpPr>
            <p:nvPr/>
          </p:nvSpPr>
          <p:spPr bwMode="auto">
            <a:xfrm flipV="1">
              <a:off x="4310" y="1181"/>
              <a:ext cx="547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98413" name="Line 13"/>
            <p:cNvSpPr>
              <a:spLocks noChangeShapeType="1"/>
            </p:cNvSpPr>
            <p:nvPr/>
          </p:nvSpPr>
          <p:spPr bwMode="auto">
            <a:xfrm>
              <a:off x="4310" y="1392"/>
              <a:ext cx="547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98414" name="Line 14"/>
            <p:cNvSpPr>
              <a:spLocks noChangeShapeType="1"/>
            </p:cNvSpPr>
            <p:nvPr/>
          </p:nvSpPr>
          <p:spPr bwMode="auto">
            <a:xfrm>
              <a:off x="4854" y="1186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98415" name="Line 15"/>
            <p:cNvSpPr>
              <a:spLocks noChangeShapeType="1"/>
            </p:cNvSpPr>
            <p:nvPr/>
          </p:nvSpPr>
          <p:spPr bwMode="auto">
            <a:xfrm>
              <a:off x="4859" y="1580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98416" name="Text Box 16"/>
            <p:cNvSpPr txBox="1">
              <a:spLocks noChangeArrowheads="1"/>
            </p:cNvSpPr>
            <p:nvPr/>
          </p:nvSpPr>
          <p:spPr bwMode="auto">
            <a:xfrm>
              <a:off x="4402" y="1060"/>
              <a:ext cx="3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yes</a:t>
              </a:r>
            </a:p>
          </p:txBody>
        </p:sp>
        <p:sp>
          <p:nvSpPr>
            <p:cNvPr id="998417" name="Text Box 17"/>
            <p:cNvSpPr txBox="1">
              <a:spLocks noChangeArrowheads="1"/>
            </p:cNvSpPr>
            <p:nvPr/>
          </p:nvSpPr>
          <p:spPr bwMode="auto">
            <a:xfrm>
              <a:off x="4426" y="1458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no</a:t>
              </a:r>
            </a:p>
          </p:txBody>
        </p:sp>
        <p:sp>
          <p:nvSpPr>
            <p:cNvPr id="998418" name="Text Box 18"/>
            <p:cNvSpPr txBox="1">
              <a:spLocks noChangeArrowheads="1"/>
            </p:cNvSpPr>
            <p:nvPr/>
          </p:nvSpPr>
          <p:spPr bwMode="auto">
            <a:xfrm>
              <a:off x="4997" y="964"/>
              <a:ext cx="3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yes</a:t>
              </a:r>
            </a:p>
          </p:txBody>
        </p:sp>
        <p:sp>
          <p:nvSpPr>
            <p:cNvPr id="998419" name="Text Box 19"/>
            <p:cNvSpPr txBox="1">
              <a:spLocks noChangeArrowheads="1"/>
            </p:cNvSpPr>
            <p:nvPr/>
          </p:nvSpPr>
          <p:spPr bwMode="auto">
            <a:xfrm>
              <a:off x="5021" y="1362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1644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12E5CF-9DB6-49B4-B1ED-5711B97701D2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986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4301"/>
            <a:ext cx="8229600" cy="1143000"/>
          </a:xfrm>
        </p:spPr>
        <p:txBody>
          <a:bodyPr/>
          <a:lstStyle/>
          <a:p>
            <a:r>
              <a:rPr lang="en-US" altLang="en-US" dirty="0"/>
              <a:t>Implications of Reduction</a:t>
            </a:r>
          </a:p>
        </p:txBody>
      </p:sp>
      <p:sp>
        <p:nvSpPr>
          <p:cNvPr id="98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875" y="1214438"/>
            <a:ext cx="8686800" cy="5076825"/>
          </a:xfrm>
        </p:spPr>
        <p:txBody>
          <a:bodyPr/>
          <a:lstStyle/>
          <a:p>
            <a:r>
              <a:rPr lang="en-US" altLang="en-US" sz="2800" dirty="0">
                <a:solidFill>
                  <a:schemeClr val="tx2"/>
                </a:solidFill>
              </a:rPr>
              <a:t>Problem A reduces to problem B if you can use an algorithm that solves B to help solve A.</a:t>
            </a:r>
          </a:p>
          <a:p>
            <a:endParaRPr lang="en-US" altLang="en-US" sz="2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Cost of solving </a:t>
            </a:r>
            <a:r>
              <a:rPr lang="en-US" sz="2400" i="1" dirty="0">
                <a:solidFill>
                  <a:srgbClr val="C00000"/>
                </a:solidFill>
              </a:rPr>
              <a:t>A </a:t>
            </a:r>
            <a:r>
              <a:rPr lang="en-US" sz="2400" dirty="0">
                <a:solidFill>
                  <a:srgbClr val="C00000"/>
                </a:solidFill>
              </a:rPr>
              <a:t>= total cost of solving </a:t>
            </a:r>
            <a:r>
              <a:rPr lang="en-US" sz="2400" i="1" dirty="0">
                <a:solidFill>
                  <a:srgbClr val="C00000"/>
                </a:solidFill>
              </a:rPr>
              <a:t>B </a:t>
            </a:r>
            <a:r>
              <a:rPr lang="en-US" sz="2400" dirty="0">
                <a:solidFill>
                  <a:srgbClr val="C00000"/>
                </a:solidFill>
              </a:rPr>
              <a:t>+ cost of reduction.</a:t>
            </a:r>
            <a:endParaRPr lang="en-US" altLang="en-US" sz="2400" dirty="0">
              <a:solidFill>
                <a:srgbClr val="C00000"/>
              </a:solidFill>
            </a:endParaRPr>
          </a:p>
        </p:txBody>
      </p:sp>
      <p:grpSp>
        <p:nvGrpSpPr>
          <p:cNvPr id="986133" name="Group 21"/>
          <p:cNvGrpSpPr>
            <a:grpSpLocks/>
          </p:cNvGrpSpPr>
          <p:nvPr/>
        </p:nvGrpSpPr>
        <p:grpSpPr bwMode="auto">
          <a:xfrm>
            <a:off x="76200" y="2357438"/>
            <a:ext cx="8115300" cy="1966913"/>
            <a:chOff x="304" y="895"/>
            <a:chExt cx="5112" cy="1239"/>
          </a:xfrm>
        </p:grpSpPr>
        <p:sp>
          <p:nvSpPr>
            <p:cNvPr id="986134" name="Rectangle 22"/>
            <p:cNvSpPr>
              <a:spLocks noChangeArrowheads="1"/>
            </p:cNvSpPr>
            <p:nvPr/>
          </p:nvSpPr>
          <p:spPr bwMode="auto">
            <a:xfrm>
              <a:off x="677" y="895"/>
              <a:ext cx="4181" cy="98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  <a:p>
              <a:pPr algn="ctr"/>
              <a:endParaRPr lang="en-US" altLang="en-US" sz="2400"/>
            </a:p>
            <a:p>
              <a:pPr algn="ctr"/>
              <a:endParaRPr lang="en-US" altLang="en-US" sz="2400"/>
            </a:p>
          </p:txBody>
        </p:sp>
        <p:sp>
          <p:nvSpPr>
            <p:cNvPr id="986135" name="Rectangle 23"/>
            <p:cNvSpPr>
              <a:spLocks noChangeArrowheads="1"/>
            </p:cNvSpPr>
            <p:nvPr/>
          </p:nvSpPr>
          <p:spPr bwMode="auto">
            <a:xfrm>
              <a:off x="852" y="1102"/>
              <a:ext cx="614" cy="5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800">
                  <a:latin typeface="Monotype Corsiva" panose="03010101010201010101" pitchFamily="66" charset="0"/>
                </a:rPr>
                <a:t>f</a:t>
              </a:r>
            </a:p>
          </p:txBody>
        </p:sp>
        <p:sp>
          <p:nvSpPr>
            <p:cNvPr id="986136" name="Rectangle 24"/>
            <p:cNvSpPr>
              <a:spLocks noChangeArrowheads="1"/>
            </p:cNvSpPr>
            <p:nvPr/>
          </p:nvSpPr>
          <p:spPr bwMode="auto">
            <a:xfrm>
              <a:off x="2224" y="1102"/>
              <a:ext cx="2082" cy="5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/>
                <a:t>Problem B</a:t>
              </a:r>
            </a:p>
          </p:txBody>
        </p:sp>
        <p:sp>
          <p:nvSpPr>
            <p:cNvPr id="986137" name="Line 25"/>
            <p:cNvSpPr>
              <a:spLocks noChangeShapeType="1"/>
            </p:cNvSpPr>
            <p:nvPr/>
          </p:nvSpPr>
          <p:spPr bwMode="auto">
            <a:xfrm>
              <a:off x="304" y="1383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38" name="Text Box 26"/>
            <p:cNvSpPr txBox="1">
              <a:spLocks noChangeArrowheads="1"/>
            </p:cNvSpPr>
            <p:nvPr/>
          </p:nvSpPr>
          <p:spPr bwMode="auto">
            <a:xfrm>
              <a:off x="453" y="1074"/>
              <a:ext cx="25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986139" name="Text Box 27"/>
            <p:cNvSpPr txBox="1">
              <a:spLocks noChangeArrowheads="1"/>
            </p:cNvSpPr>
            <p:nvPr/>
          </p:nvSpPr>
          <p:spPr bwMode="auto">
            <a:xfrm>
              <a:off x="1946" y="1074"/>
              <a:ext cx="2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986140" name="Line 28"/>
            <p:cNvSpPr>
              <a:spLocks noChangeShapeType="1"/>
            </p:cNvSpPr>
            <p:nvPr/>
          </p:nvSpPr>
          <p:spPr bwMode="auto">
            <a:xfrm>
              <a:off x="1480" y="1383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1" name="Line 29"/>
            <p:cNvSpPr>
              <a:spLocks noChangeShapeType="1"/>
            </p:cNvSpPr>
            <p:nvPr/>
          </p:nvSpPr>
          <p:spPr bwMode="auto">
            <a:xfrm flipV="1">
              <a:off x="4310" y="1186"/>
              <a:ext cx="547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2" name="Line 30"/>
            <p:cNvSpPr>
              <a:spLocks noChangeShapeType="1"/>
            </p:cNvSpPr>
            <p:nvPr/>
          </p:nvSpPr>
          <p:spPr bwMode="auto">
            <a:xfrm>
              <a:off x="4310" y="1397"/>
              <a:ext cx="547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3" name="Line 31"/>
            <p:cNvSpPr>
              <a:spLocks noChangeShapeType="1"/>
            </p:cNvSpPr>
            <p:nvPr/>
          </p:nvSpPr>
          <p:spPr bwMode="auto">
            <a:xfrm>
              <a:off x="4854" y="1191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4" name="Line 32"/>
            <p:cNvSpPr>
              <a:spLocks noChangeShapeType="1"/>
            </p:cNvSpPr>
            <p:nvPr/>
          </p:nvSpPr>
          <p:spPr bwMode="auto">
            <a:xfrm>
              <a:off x="4859" y="1585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5" name="Text Box 33"/>
            <p:cNvSpPr txBox="1">
              <a:spLocks noChangeArrowheads="1"/>
            </p:cNvSpPr>
            <p:nvPr/>
          </p:nvSpPr>
          <p:spPr bwMode="auto">
            <a:xfrm>
              <a:off x="4402" y="1065"/>
              <a:ext cx="3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yes</a:t>
              </a:r>
            </a:p>
          </p:txBody>
        </p:sp>
        <p:sp>
          <p:nvSpPr>
            <p:cNvPr id="986146" name="Text Box 34"/>
            <p:cNvSpPr txBox="1">
              <a:spLocks noChangeArrowheads="1"/>
            </p:cNvSpPr>
            <p:nvPr/>
          </p:nvSpPr>
          <p:spPr bwMode="auto">
            <a:xfrm>
              <a:off x="4426" y="1463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no</a:t>
              </a:r>
            </a:p>
          </p:txBody>
        </p:sp>
        <p:sp>
          <p:nvSpPr>
            <p:cNvPr id="986147" name="Text Box 35"/>
            <p:cNvSpPr txBox="1">
              <a:spLocks noChangeArrowheads="1"/>
            </p:cNvSpPr>
            <p:nvPr/>
          </p:nvSpPr>
          <p:spPr bwMode="auto">
            <a:xfrm>
              <a:off x="4997" y="969"/>
              <a:ext cx="3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yes</a:t>
              </a:r>
            </a:p>
          </p:txBody>
        </p:sp>
        <p:sp>
          <p:nvSpPr>
            <p:cNvPr id="986148" name="Text Box 36"/>
            <p:cNvSpPr txBox="1">
              <a:spLocks noChangeArrowheads="1"/>
            </p:cNvSpPr>
            <p:nvPr/>
          </p:nvSpPr>
          <p:spPr bwMode="auto">
            <a:xfrm>
              <a:off x="5021" y="1367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no</a:t>
              </a:r>
            </a:p>
          </p:txBody>
        </p:sp>
        <p:sp>
          <p:nvSpPr>
            <p:cNvPr id="986149" name="Text Box 37"/>
            <p:cNvSpPr txBox="1">
              <a:spLocks noChangeArrowheads="1"/>
            </p:cNvSpPr>
            <p:nvPr/>
          </p:nvSpPr>
          <p:spPr bwMode="auto">
            <a:xfrm>
              <a:off x="1984" y="1901"/>
              <a:ext cx="155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Algorithm for Problem A</a:t>
              </a:r>
            </a:p>
          </p:txBody>
        </p:sp>
      </p:grp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457200" y="3952654"/>
            <a:ext cx="8229600" cy="357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>
              <a:buFontTx/>
              <a:buNone/>
            </a:pPr>
            <a:r>
              <a:rPr lang="en-US" altLang="en-US" dirty="0"/>
              <a:t>	</a:t>
            </a:r>
          </a:p>
          <a:p>
            <a:pPr marL="914400" lvl="1" indent="-457200">
              <a:buFontTx/>
              <a:buNone/>
            </a:pPr>
            <a:r>
              <a:rPr lang="en-US" altLang="en-US" dirty="0"/>
              <a:t>     - If A </a:t>
            </a:r>
            <a:r>
              <a:rPr lang="en-US" altLang="en-US" dirty="0">
                <a:sym typeface="Symbol" panose="05050102010706020507" pitchFamily="18" charset="2"/>
              </a:rPr>
              <a:t></a:t>
            </a:r>
            <a:r>
              <a:rPr lang="en-US" altLang="en-US" baseline="-25000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/>
              <a:t>B and B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dirty="0"/>
              <a:t> P, then A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dirty="0"/>
              <a:t> P</a:t>
            </a:r>
          </a:p>
          <a:p>
            <a:pPr marL="914400" lvl="1" indent="-457200">
              <a:lnSpc>
                <a:spcPct val="160000"/>
              </a:lnSpc>
              <a:buFontTx/>
              <a:buNone/>
            </a:pPr>
            <a:r>
              <a:rPr lang="en-US" altLang="en-US" dirty="0"/>
              <a:t>     - if A </a:t>
            </a:r>
            <a:r>
              <a:rPr lang="en-US" altLang="en-US" dirty="0">
                <a:sym typeface="Symbol" panose="05050102010706020507" pitchFamily="18" charset="2"/>
              </a:rPr>
              <a:t></a:t>
            </a:r>
            <a:r>
              <a:rPr lang="en-US" altLang="en-US" baseline="-25000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/>
              <a:t>B and B </a:t>
            </a:r>
            <a:r>
              <a:rPr lang="en-US" altLang="en-US" dirty="0">
                <a:sym typeface="Symbol" panose="05050102010706020507" pitchFamily="18" charset="2"/>
              </a:rPr>
              <a:t></a:t>
            </a:r>
            <a:r>
              <a:rPr lang="en-US" altLang="en-US" dirty="0"/>
              <a:t> P, then A </a:t>
            </a:r>
            <a:r>
              <a:rPr lang="en-US" altLang="en-US" dirty="0">
                <a:sym typeface="Symbol" panose="05050102010706020507" pitchFamily="18" charset="2"/>
              </a:rPr>
              <a:t></a:t>
            </a:r>
            <a:r>
              <a:rPr lang="en-US" altLang="en-US" dirty="0"/>
              <a:t> P</a:t>
            </a:r>
          </a:p>
          <a:p>
            <a:pPr marL="914400" lvl="1" indent="-457200">
              <a:lnSpc>
                <a:spcPct val="160000"/>
              </a:lnSpc>
              <a:buFontTx/>
              <a:buNone/>
            </a:pPr>
            <a:r>
              <a:rPr lang="en-US" alt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2127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12E5CF-9DB6-49B4-B1ED-5711B97701D2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986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1198"/>
            <a:ext cx="8229600" cy="913606"/>
          </a:xfrm>
        </p:spPr>
        <p:txBody>
          <a:bodyPr/>
          <a:lstStyle/>
          <a:p>
            <a:r>
              <a:rPr lang="en-US" altLang="en-US" dirty="0"/>
              <a:t>Reductions Examples</a:t>
            </a:r>
          </a:p>
        </p:txBody>
      </p:sp>
      <p:sp>
        <p:nvSpPr>
          <p:cNvPr id="98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875" y="964804"/>
            <a:ext cx="8686800" cy="5326459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sz="2800" dirty="0">
                <a:solidFill>
                  <a:schemeClr val="tx2"/>
                </a:solidFill>
              </a:rPr>
              <a:t>Problem A reduces to problem B if you can use an algorithm that solves B to help solve A.</a:t>
            </a:r>
          </a:p>
          <a:p>
            <a:endParaRPr lang="en-US" altLang="en-US" sz="2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800" dirty="0">
              <a:solidFill>
                <a:schemeClr val="tx2"/>
              </a:solidFill>
            </a:endParaRPr>
          </a:p>
          <a:p>
            <a:r>
              <a:rPr lang="en-US" sz="2800" dirty="0">
                <a:solidFill>
                  <a:schemeClr val="tx2"/>
                </a:solidFill>
              </a:rPr>
              <a:t>Example 1. [finding the median reduces to sorting]</a:t>
            </a:r>
          </a:p>
          <a:p>
            <a:r>
              <a:rPr lang="en-US" dirty="0"/>
              <a:t>To find the median of </a:t>
            </a:r>
            <a:r>
              <a:rPr lang="en-US" i="1" dirty="0"/>
              <a:t>N </a:t>
            </a:r>
            <a:r>
              <a:rPr lang="en-US" dirty="0"/>
              <a:t>items: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Sort N items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Return item in the middle:</a:t>
            </a:r>
          </a:p>
          <a:p>
            <a:endParaRPr lang="en-US" sz="2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Cost of solving </a:t>
            </a:r>
            <a:r>
              <a:rPr lang="en-US" sz="2400" i="1" dirty="0">
                <a:solidFill>
                  <a:srgbClr val="C00000"/>
                </a:solidFill>
              </a:rPr>
              <a:t>finding median </a:t>
            </a:r>
            <a:r>
              <a:rPr lang="en-US" sz="2400" dirty="0">
                <a:solidFill>
                  <a:srgbClr val="C00000"/>
                </a:solidFill>
              </a:rPr>
              <a:t>= </a:t>
            </a:r>
            <a:r>
              <a:rPr lang="en-US" sz="2400" dirty="0">
                <a:solidFill>
                  <a:srgbClr val="002060"/>
                </a:solidFill>
              </a:rPr>
              <a:t>O(n log n) + 1</a:t>
            </a:r>
          </a:p>
          <a:p>
            <a:pPr marL="0" indent="0">
              <a:buNone/>
            </a:pPr>
            <a:endParaRPr lang="en-US" altLang="en-US" sz="2400" dirty="0">
              <a:solidFill>
                <a:srgbClr val="C00000"/>
              </a:solidFill>
            </a:endParaRPr>
          </a:p>
        </p:txBody>
      </p:sp>
      <p:grpSp>
        <p:nvGrpSpPr>
          <p:cNvPr id="986133" name="Group 21"/>
          <p:cNvGrpSpPr>
            <a:grpSpLocks/>
          </p:cNvGrpSpPr>
          <p:nvPr/>
        </p:nvGrpSpPr>
        <p:grpSpPr bwMode="auto">
          <a:xfrm>
            <a:off x="76200" y="1828800"/>
            <a:ext cx="8115300" cy="1966913"/>
            <a:chOff x="304" y="895"/>
            <a:chExt cx="5112" cy="1239"/>
          </a:xfrm>
        </p:grpSpPr>
        <p:sp>
          <p:nvSpPr>
            <p:cNvPr id="986134" name="Rectangle 22"/>
            <p:cNvSpPr>
              <a:spLocks noChangeArrowheads="1"/>
            </p:cNvSpPr>
            <p:nvPr/>
          </p:nvSpPr>
          <p:spPr bwMode="auto">
            <a:xfrm>
              <a:off x="677" y="895"/>
              <a:ext cx="4181" cy="98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  <a:p>
              <a:pPr algn="ctr"/>
              <a:endParaRPr lang="en-US" altLang="en-US" sz="2400"/>
            </a:p>
            <a:p>
              <a:pPr algn="ctr"/>
              <a:endParaRPr lang="en-US" altLang="en-US" sz="2400"/>
            </a:p>
          </p:txBody>
        </p:sp>
        <p:sp>
          <p:nvSpPr>
            <p:cNvPr id="986135" name="Rectangle 23"/>
            <p:cNvSpPr>
              <a:spLocks noChangeArrowheads="1"/>
            </p:cNvSpPr>
            <p:nvPr/>
          </p:nvSpPr>
          <p:spPr bwMode="auto">
            <a:xfrm>
              <a:off x="852" y="1102"/>
              <a:ext cx="614" cy="5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800">
                  <a:latin typeface="Monotype Corsiva" panose="03010101010201010101" pitchFamily="66" charset="0"/>
                </a:rPr>
                <a:t>f</a:t>
              </a:r>
            </a:p>
          </p:txBody>
        </p:sp>
        <p:sp>
          <p:nvSpPr>
            <p:cNvPr id="986136" name="Rectangle 24"/>
            <p:cNvSpPr>
              <a:spLocks noChangeArrowheads="1"/>
            </p:cNvSpPr>
            <p:nvPr/>
          </p:nvSpPr>
          <p:spPr bwMode="auto">
            <a:xfrm>
              <a:off x="2224" y="1102"/>
              <a:ext cx="2082" cy="5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/>
                <a:t>Problem B</a:t>
              </a:r>
            </a:p>
          </p:txBody>
        </p:sp>
        <p:sp>
          <p:nvSpPr>
            <p:cNvPr id="986137" name="Line 25"/>
            <p:cNvSpPr>
              <a:spLocks noChangeShapeType="1"/>
            </p:cNvSpPr>
            <p:nvPr/>
          </p:nvSpPr>
          <p:spPr bwMode="auto">
            <a:xfrm>
              <a:off x="304" y="1383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38" name="Text Box 26"/>
            <p:cNvSpPr txBox="1">
              <a:spLocks noChangeArrowheads="1"/>
            </p:cNvSpPr>
            <p:nvPr/>
          </p:nvSpPr>
          <p:spPr bwMode="auto">
            <a:xfrm>
              <a:off x="453" y="1074"/>
              <a:ext cx="25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986139" name="Text Box 27"/>
            <p:cNvSpPr txBox="1">
              <a:spLocks noChangeArrowheads="1"/>
            </p:cNvSpPr>
            <p:nvPr/>
          </p:nvSpPr>
          <p:spPr bwMode="auto">
            <a:xfrm>
              <a:off x="1946" y="1074"/>
              <a:ext cx="2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986140" name="Line 28"/>
            <p:cNvSpPr>
              <a:spLocks noChangeShapeType="1"/>
            </p:cNvSpPr>
            <p:nvPr/>
          </p:nvSpPr>
          <p:spPr bwMode="auto">
            <a:xfrm>
              <a:off x="1480" y="1383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1" name="Line 29"/>
            <p:cNvSpPr>
              <a:spLocks noChangeShapeType="1"/>
            </p:cNvSpPr>
            <p:nvPr/>
          </p:nvSpPr>
          <p:spPr bwMode="auto">
            <a:xfrm flipV="1">
              <a:off x="4310" y="1186"/>
              <a:ext cx="547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2" name="Line 30"/>
            <p:cNvSpPr>
              <a:spLocks noChangeShapeType="1"/>
            </p:cNvSpPr>
            <p:nvPr/>
          </p:nvSpPr>
          <p:spPr bwMode="auto">
            <a:xfrm>
              <a:off x="4310" y="1397"/>
              <a:ext cx="547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3" name="Line 31"/>
            <p:cNvSpPr>
              <a:spLocks noChangeShapeType="1"/>
            </p:cNvSpPr>
            <p:nvPr/>
          </p:nvSpPr>
          <p:spPr bwMode="auto">
            <a:xfrm>
              <a:off x="4854" y="1191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4" name="Line 32"/>
            <p:cNvSpPr>
              <a:spLocks noChangeShapeType="1"/>
            </p:cNvSpPr>
            <p:nvPr/>
          </p:nvSpPr>
          <p:spPr bwMode="auto">
            <a:xfrm>
              <a:off x="4859" y="1585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5" name="Text Box 33"/>
            <p:cNvSpPr txBox="1">
              <a:spLocks noChangeArrowheads="1"/>
            </p:cNvSpPr>
            <p:nvPr/>
          </p:nvSpPr>
          <p:spPr bwMode="auto">
            <a:xfrm>
              <a:off x="4402" y="1065"/>
              <a:ext cx="3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yes</a:t>
              </a:r>
            </a:p>
          </p:txBody>
        </p:sp>
        <p:sp>
          <p:nvSpPr>
            <p:cNvPr id="986146" name="Text Box 34"/>
            <p:cNvSpPr txBox="1">
              <a:spLocks noChangeArrowheads="1"/>
            </p:cNvSpPr>
            <p:nvPr/>
          </p:nvSpPr>
          <p:spPr bwMode="auto">
            <a:xfrm>
              <a:off x="4426" y="1463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no</a:t>
              </a:r>
            </a:p>
          </p:txBody>
        </p:sp>
        <p:sp>
          <p:nvSpPr>
            <p:cNvPr id="986147" name="Text Box 35"/>
            <p:cNvSpPr txBox="1">
              <a:spLocks noChangeArrowheads="1"/>
            </p:cNvSpPr>
            <p:nvPr/>
          </p:nvSpPr>
          <p:spPr bwMode="auto">
            <a:xfrm>
              <a:off x="4997" y="969"/>
              <a:ext cx="3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yes</a:t>
              </a:r>
            </a:p>
          </p:txBody>
        </p:sp>
        <p:sp>
          <p:nvSpPr>
            <p:cNvPr id="986148" name="Text Box 36"/>
            <p:cNvSpPr txBox="1">
              <a:spLocks noChangeArrowheads="1"/>
            </p:cNvSpPr>
            <p:nvPr/>
          </p:nvSpPr>
          <p:spPr bwMode="auto">
            <a:xfrm>
              <a:off x="5021" y="1367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no</a:t>
              </a:r>
            </a:p>
          </p:txBody>
        </p:sp>
        <p:sp>
          <p:nvSpPr>
            <p:cNvPr id="986149" name="Text Box 37"/>
            <p:cNvSpPr txBox="1">
              <a:spLocks noChangeArrowheads="1"/>
            </p:cNvSpPr>
            <p:nvPr/>
          </p:nvSpPr>
          <p:spPr bwMode="auto">
            <a:xfrm>
              <a:off x="1984" y="1901"/>
              <a:ext cx="155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Algorithm for Problem A</a:t>
              </a:r>
            </a:p>
          </p:txBody>
        </p:sp>
      </p:grpSp>
      <p:sp>
        <p:nvSpPr>
          <p:cNvPr id="22" name="Google Shape;285;p49"/>
          <p:cNvSpPr txBox="1"/>
          <p:nvPr/>
        </p:nvSpPr>
        <p:spPr>
          <a:xfrm>
            <a:off x="4343400" y="4890648"/>
            <a:ext cx="2319726" cy="656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Cost of Sorting</a:t>
            </a:r>
            <a:endParaRPr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cxnSp>
        <p:nvCxnSpPr>
          <p:cNvPr id="23" name="Google Shape;286;p49"/>
          <p:cNvCxnSpPr/>
          <p:nvPr/>
        </p:nvCxnSpPr>
        <p:spPr>
          <a:xfrm rot="10800000" flipV="1">
            <a:off x="4776788" y="5351022"/>
            <a:ext cx="517137" cy="440179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" name="Google Shape;285;p49"/>
          <p:cNvSpPr txBox="1"/>
          <p:nvPr/>
        </p:nvSpPr>
        <p:spPr>
          <a:xfrm>
            <a:off x="5672650" y="5263386"/>
            <a:ext cx="2319726" cy="656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Cost of Reduction</a:t>
            </a:r>
            <a:endParaRPr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cxnSp>
        <p:nvCxnSpPr>
          <p:cNvPr id="26" name="Google Shape;286;p49"/>
          <p:cNvCxnSpPr/>
          <p:nvPr/>
        </p:nvCxnSpPr>
        <p:spPr>
          <a:xfrm rot="10800000" flipV="1">
            <a:off x="5638800" y="5723760"/>
            <a:ext cx="984376" cy="14977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14203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12E5CF-9DB6-49B4-B1ED-5711B97701D2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986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1198"/>
            <a:ext cx="8229600" cy="913606"/>
          </a:xfrm>
        </p:spPr>
        <p:txBody>
          <a:bodyPr/>
          <a:lstStyle/>
          <a:p>
            <a:r>
              <a:rPr lang="en-US" altLang="en-US" dirty="0"/>
              <a:t>Reductions Examples</a:t>
            </a:r>
          </a:p>
        </p:txBody>
      </p:sp>
      <p:sp>
        <p:nvSpPr>
          <p:cNvPr id="98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875" y="964804"/>
            <a:ext cx="8686800" cy="5326459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sz="2800" dirty="0">
                <a:solidFill>
                  <a:schemeClr val="tx2"/>
                </a:solidFill>
              </a:rPr>
              <a:t>Problem A reduces to problem B if you can use an algorithm that solves B to help solve A.</a:t>
            </a:r>
          </a:p>
          <a:p>
            <a:endParaRPr lang="en-US" altLang="en-US" sz="2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800" dirty="0">
              <a:solidFill>
                <a:schemeClr val="tx2"/>
              </a:solidFill>
            </a:endParaRPr>
          </a:p>
          <a:p>
            <a:r>
              <a:rPr lang="en-US" sz="2800" dirty="0">
                <a:solidFill>
                  <a:schemeClr val="tx2"/>
                </a:solidFill>
              </a:rPr>
              <a:t>Example 2. [element distinctness reduces to sorting]</a:t>
            </a:r>
          </a:p>
          <a:p>
            <a:r>
              <a:rPr lang="en-US" dirty="0"/>
              <a:t>To solve element distinctness on N items: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Sort N items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Check adjacent pairs for equality.</a:t>
            </a:r>
          </a:p>
          <a:p>
            <a:endParaRPr lang="en-US" sz="2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Cost of solving </a:t>
            </a:r>
            <a:r>
              <a:rPr lang="en-US" sz="2400" i="1" dirty="0">
                <a:solidFill>
                  <a:srgbClr val="C00000"/>
                </a:solidFill>
              </a:rPr>
              <a:t>element distinctness </a:t>
            </a:r>
            <a:r>
              <a:rPr lang="en-US" sz="2400" dirty="0">
                <a:solidFill>
                  <a:srgbClr val="C00000"/>
                </a:solidFill>
              </a:rPr>
              <a:t>= </a:t>
            </a:r>
            <a:r>
              <a:rPr lang="en-US" sz="2400" dirty="0">
                <a:solidFill>
                  <a:srgbClr val="002060"/>
                </a:solidFill>
              </a:rPr>
              <a:t>O(n log n) + O(n)</a:t>
            </a:r>
          </a:p>
          <a:p>
            <a:pPr marL="0" indent="0">
              <a:buNone/>
            </a:pPr>
            <a:endParaRPr lang="en-US" altLang="en-US" sz="2400" dirty="0">
              <a:solidFill>
                <a:srgbClr val="C00000"/>
              </a:solidFill>
            </a:endParaRPr>
          </a:p>
        </p:txBody>
      </p:sp>
      <p:grpSp>
        <p:nvGrpSpPr>
          <p:cNvPr id="986133" name="Group 21"/>
          <p:cNvGrpSpPr>
            <a:grpSpLocks/>
          </p:cNvGrpSpPr>
          <p:nvPr/>
        </p:nvGrpSpPr>
        <p:grpSpPr bwMode="auto">
          <a:xfrm>
            <a:off x="76200" y="1828800"/>
            <a:ext cx="8115300" cy="1966913"/>
            <a:chOff x="304" y="895"/>
            <a:chExt cx="5112" cy="1239"/>
          </a:xfrm>
        </p:grpSpPr>
        <p:sp>
          <p:nvSpPr>
            <p:cNvPr id="986134" name="Rectangle 22"/>
            <p:cNvSpPr>
              <a:spLocks noChangeArrowheads="1"/>
            </p:cNvSpPr>
            <p:nvPr/>
          </p:nvSpPr>
          <p:spPr bwMode="auto">
            <a:xfrm>
              <a:off x="677" y="895"/>
              <a:ext cx="4181" cy="98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  <a:p>
              <a:pPr algn="ctr"/>
              <a:endParaRPr lang="en-US" altLang="en-US" sz="2400"/>
            </a:p>
            <a:p>
              <a:pPr algn="ctr"/>
              <a:endParaRPr lang="en-US" altLang="en-US" sz="2400"/>
            </a:p>
          </p:txBody>
        </p:sp>
        <p:sp>
          <p:nvSpPr>
            <p:cNvPr id="986135" name="Rectangle 23"/>
            <p:cNvSpPr>
              <a:spLocks noChangeArrowheads="1"/>
            </p:cNvSpPr>
            <p:nvPr/>
          </p:nvSpPr>
          <p:spPr bwMode="auto">
            <a:xfrm>
              <a:off x="852" y="1102"/>
              <a:ext cx="614" cy="5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800">
                  <a:latin typeface="Monotype Corsiva" panose="03010101010201010101" pitchFamily="66" charset="0"/>
                </a:rPr>
                <a:t>f</a:t>
              </a:r>
            </a:p>
          </p:txBody>
        </p:sp>
        <p:sp>
          <p:nvSpPr>
            <p:cNvPr id="986136" name="Rectangle 24"/>
            <p:cNvSpPr>
              <a:spLocks noChangeArrowheads="1"/>
            </p:cNvSpPr>
            <p:nvPr/>
          </p:nvSpPr>
          <p:spPr bwMode="auto">
            <a:xfrm>
              <a:off x="2224" y="1102"/>
              <a:ext cx="2082" cy="5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/>
                <a:t>Problem B</a:t>
              </a:r>
            </a:p>
          </p:txBody>
        </p:sp>
        <p:sp>
          <p:nvSpPr>
            <p:cNvPr id="986137" name="Line 25"/>
            <p:cNvSpPr>
              <a:spLocks noChangeShapeType="1"/>
            </p:cNvSpPr>
            <p:nvPr/>
          </p:nvSpPr>
          <p:spPr bwMode="auto">
            <a:xfrm>
              <a:off x="304" y="1383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38" name="Text Box 26"/>
            <p:cNvSpPr txBox="1">
              <a:spLocks noChangeArrowheads="1"/>
            </p:cNvSpPr>
            <p:nvPr/>
          </p:nvSpPr>
          <p:spPr bwMode="auto">
            <a:xfrm>
              <a:off x="453" y="1074"/>
              <a:ext cx="25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986139" name="Text Box 27"/>
            <p:cNvSpPr txBox="1">
              <a:spLocks noChangeArrowheads="1"/>
            </p:cNvSpPr>
            <p:nvPr/>
          </p:nvSpPr>
          <p:spPr bwMode="auto">
            <a:xfrm>
              <a:off x="1946" y="1074"/>
              <a:ext cx="2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986140" name="Line 28"/>
            <p:cNvSpPr>
              <a:spLocks noChangeShapeType="1"/>
            </p:cNvSpPr>
            <p:nvPr/>
          </p:nvSpPr>
          <p:spPr bwMode="auto">
            <a:xfrm>
              <a:off x="1480" y="1383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1" name="Line 29"/>
            <p:cNvSpPr>
              <a:spLocks noChangeShapeType="1"/>
            </p:cNvSpPr>
            <p:nvPr/>
          </p:nvSpPr>
          <p:spPr bwMode="auto">
            <a:xfrm flipV="1">
              <a:off x="4310" y="1186"/>
              <a:ext cx="547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2" name="Line 30"/>
            <p:cNvSpPr>
              <a:spLocks noChangeShapeType="1"/>
            </p:cNvSpPr>
            <p:nvPr/>
          </p:nvSpPr>
          <p:spPr bwMode="auto">
            <a:xfrm>
              <a:off x="4310" y="1397"/>
              <a:ext cx="547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3" name="Line 31"/>
            <p:cNvSpPr>
              <a:spLocks noChangeShapeType="1"/>
            </p:cNvSpPr>
            <p:nvPr/>
          </p:nvSpPr>
          <p:spPr bwMode="auto">
            <a:xfrm>
              <a:off x="4854" y="1191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4" name="Line 32"/>
            <p:cNvSpPr>
              <a:spLocks noChangeShapeType="1"/>
            </p:cNvSpPr>
            <p:nvPr/>
          </p:nvSpPr>
          <p:spPr bwMode="auto">
            <a:xfrm>
              <a:off x="4859" y="1585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5" name="Text Box 33"/>
            <p:cNvSpPr txBox="1">
              <a:spLocks noChangeArrowheads="1"/>
            </p:cNvSpPr>
            <p:nvPr/>
          </p:nvSpPr>
          <p:spPr bwMode="auto">
            <a:xfrm>
              <a:off x="4402" y="1065"/>
              <a:ext cx="3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yes</a:t>
              </a:r>
            </a:p>
          </p:txBody>
        </p:sp>
        <p:sp>
          <p:nvSpPr>
            <p:cNvPr id="986146" name="Text Box 34"/>
            <p:cNvSpPr txBox="1">
              <a:spLocks noChangeArrowheads="1"/>
            </p:cNvSpPr>
            <p:nvPr/>
          </p:nvSpPr>
          <p:spPr bwMode="auto">
            <a:xfrm>
              <a:off x="4426" y="1463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no</a:t>
              </a:r>
            </a:p>
          </p:txBody>
        </p:sp>
        <p:sp>
          <p:nvSpPr>
            <p:cNvPr id="986147" name="Text Box 35"/>
            <p:cNvSpPr txBox="1">
              <a:spLocks noChangeArrowheads="1"/>
            </p:cNvSpPr>
            <p:nvPr/>
          </p:nvSpPr>
          <p:spPr bwMode="auto">
            <a:xfrm>
              <a:off x="4997" y="969"/>
              <a:ext cx="3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yes</a:t>
              </a:r>
            </a:p>
          </p:txBody>
        </p:sp>
        <p:sp>
          <p:nvSpPr>
            <p:cNvPr id="986148" name="Text Box 36"/>
            <p:cNvSpPr txBox="1">
              <a:spLocks noChangeArrowheads="1"/>
            </p:cNvSpPr>
            <p:nvPr/>
          </p:nvSpPr>
          <p:spPr bwMode="auto">
            <a:xfrm>
              <a:off x="5021" y="1367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no</a:t>
              </a:r>
            </a:p>
          </p:txBody>
        </p:sp>
        <p:sp>
          <p:nvSpPr>
            <p:cNvPr id="986149" name="Text Box 37"/>
            <p:cNvSpPr txBox="1">
              <a:spLocks noChangeArrowheads="1"/>
            </p:cNvSpPr>
            <p:nvPr/>
          </p:nvSpPr>
          <p:spPr bwMode="auto">
            <a:xfrm>
              <a:off x="1984" y="1901"/>
              <a:ext cx="155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Algorithm for Problem A</a:t>
              </a:r>
            </a:p>
          </p:txBody>
        </p:sp>
      </p:grpSp>
      <p:sp>
        <p:nvSpPr>
          <p:cNvPr id="22" name="Google Shape;285;p49"/>
          <p:cNvSpPr txBox="1"/>
          <p:nvPr/>
        </p:nvSpPr>
        <p:spPr>
          <a:xfrm>
            <a:off x="4343400" y="4890648"/>
            <a:ext cx="2319726" cy="656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         Cost of Sorting</a:t>
            </a:r>
            <a:endParaRPr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cxnSp>
        <p:nvCxnSpPr>
          <p:cNvPr id="23" name="Google Shape;286;p49"/>
          <p:cNvCxnSpPr/>
          <p:nvPr/>
        </p:nvCxnSpPr>
        <p:spPr>
          <a:xfrm rot="5400000">
            <a:off x="5065683" y="5495515"/>
            <a:ext cx="372737" cy="83751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" name="Google Shape;285;p49"/>
          <p:cNvSpPr txBox="1"/>
          <p:nvPr/>
        </p:nvSpPr>
        <p:spPr>
          <a:xfrm>
            <a:off x="6294680" y="5156621"/>
            <a:ext cx="2319726" cy="656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Cost of Reduction</a:t>
            </a:r>
            <a:endParaRPr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cxnSp>
        <p:nvCxnSpPr>
          <p:cNvPr id="26" name="Google Shape;286;p49"/>
          <p:cNvCxnSpPr/>
          <p:nvPr/>
        </p:nvCxnSpPr>
        <p:spPr>
          <a:xfrm rot="10800000" flipV="1">
            <a:off x="6581775" y="5688153"/>
            <a:ext cx="539752" cy="189609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8732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12E5CF-9DB6-49B4-B1ED-5711B97701D2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986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1198"/>
            <a:ext cx="8229600" cy="913606"/>
          </a:xfrm>
        </p:spPr>
        <p:txBody>
          <a:bodyPr/>
          <a:lstStyle/>
          <a:p>
            <a:r>
              <a:rPr lang="en-US" altLang="en-US" dirty="0"/>
              <a:t>Reductions Examples</a:t>
            </a:r>
          </a:p>
        </p:txBody>
      </p:sp>
      <p:sp>
        <p:nvSpPr>
          <p:cNvPr id="98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875" y="964804"/>
            <a:ext cx="8686800" cy="5326459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sz="2800" dirty="0">
                <a:solidFill>
                  <a:srgbClr val="C00000"/>
                </a:solidFill>
              </a:rPr>
              <a:t>Convex hull. </a:t>
            </a:r>
            <a:r>
              <a:rPr lang="en-US" altLang="en-US" sz="2800" dirty="0">
                <a:solidFill>
                  <a:schemeClr val="tx2"/>
                </a:solidFill>
              </a:rPr>
              <a:t>Given N points in the plane, identify the extreme points of the convex hull (in counterclockwise order).</a:t>
            </a:r>
          </a:p>
          <a:p>
            <a:endParaRPr lang="en-US" altLang="en-US" sz="2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800" dirty="0">
              <a:solidFill>
                <a:schemeClr val="tx2"/>
              </a:solidFill>
            </a:endParaRPr>
          </a:p>
          <a:p>
            <a:r>
              <a:rPr lang="en-US" sz="2800" dirty="0">
                <a:solidFill>
                  <a:schemeClr val="tx2"/>
                </a:solidFill>
              </a:rPr>
              <a:t>Example 3. [Convex hull reduces to sorting.]</a:t>
            </a:r>
          </a:p>
          <a:p>
            <a:r>
              <a:rPr lang="en-US" dirty="0"/>
              <a:t>To solve convex hull: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Choose point p with smallest (or largest) y-coordinate.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Sort points by polar angle with p.</a:t>
            </a:r>
          </a:p>
          <a:p>
            <a:pPr lvl="1"/>
            <a:r>
              <a:rPr lang="en-US" sz="2400" dirty="0">
                <a:solidFill>
                  <a:schemeClr val="tx2"/>
                </a:solidFill>
              </a:rPr>
              <a:t>Consider points in order, and discard those that would create a clockwise turn.</a:t>
            </a:r>
          </a:p>
          <a:p>
            <a:pPr marL="0" indent="0">
              <a:buNone/>
            </a:pPr>
            <a:endParaRPr lang="en-US" sz="2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Cost of solving </a:t>
            </a:r>
            <a:r>
              <a:rPr lang="en-US" sz="2400" i="1" dirty="0">
                <a:solidFill>
                  <a:srgbClr val="C00000"/>
                </a:solidFill>
              </a:rPr>
              <a:t>element distinctness </a:t>
            </a:r>
            <a:r>
              <a:rPr lang="en-US" sz="2400" dirty="0">
                <a:solidFill>
                  <a:srgbClr val="C00000"/>
                </a:solidFill>
              </a:rPr>
              <a:t>= </a:t>
            </a:r>
            <a:r>
              <a:rPr lang="en-US" sz="2400" dirty="0">
                <a:solidFill>
                  <a:srgbClr val="002060"/>
                </a:solidFill>
              </a:rPr>
              <a:t>O(n log n) + O(n)</a:t>
            </a:r>
          </a:p>
          <a:p>
            <a:pPr marL="0" indent="0">
              <a:buNone/>
            </a:pPr>
            <a:endParaRPr lang="en-US" altLang="en-US" sz="2400" dirty="0">
              <a:solidFill>
                <a:srgbClr val="C00000"/>
              </a:solidFill>
            </a:endParaRPr>
          </a:p>
        </p:txBody>
      </p:sp>
      <p:grpSp>
        <p:nvGrpSpPr>
          <p:cNvPr id="986133" name="Group 21"/>
          <p:cNvGrpSpPr>
            <a:grpSpLocks/>
          </p:cNvGrpSpPr>
          <p:nvPr/>
        </p:nvGrpSpPr>
        <p:grpSpPr bwMode="auto">
          <a:xfrm>
            <a:off x="76200" y="1828800"/>
            <a:ext cx="8115300" cy="1635125"/>
            <a:chOff x="304" y="895"/>
            <a:chExt cx="5112" cy="1030"/>
          </a:xfrm>
        </p:grpSpPr>
        <p:sp>
          <p:nvSpPr>
            <p:cNvPr id="986134" name="Rectangle 22"/>
            <p:cNvSpPr>
              <a:spLocks noChangeArrowheads="1"/>
            </p:cNvSpPr>
            <p:nvPr/>
          </p:nvSpPr>
          <p:spPr bwMode="auto">
            <a:xfrm>
              <a:off x="677" y="895"/>
              <a:ext cx="4181" cy="98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  <a:p>
              <a:pPr algn="ctr"/>
              <a:endParaRPr lang="en-US" altLang="en-US" sz="2400"/>
            </a:p>
            <a:p>
              <a:pPr algn="ctr"/>
              <a:endParaRPr lang="en-US" altLang="en-US" sz="2400"/>
            </a:p>
          </p:txBody>
        </p:sp>
        <p:sp>
          <p:nvSpPr>
            <p:cNvPr id="986135" name="Rectangle 23"/>
            <p:cNvSpPr>
              <a:spLocks noChangeArrowheads="1"/>
            </p:cNvSpPr>
            <p:nvPr/>
          </p:nvSpPr>
          <p:spPr bwMode="auto">
            <a:xfrm>
              <a:off x="852" y="1102"/>
              <a:ext cx="614" cy="5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800">
                  <a:latin typeface="Monotype Corsiva" panose="03010101010201010101" pitchFamily="66" charset="0"/>
                </a:rPr>
                <a:t>f</a:t>
              </a:r>
            </a:p>
          </p:txBody>
        </p:sp>
        <p:sp>
          <p:nvSpPr>
            <p:cNvPr id="986136" name="Rectangle 24"/>
            <p:cNvSpPr>
              <a:spLocks noChangeArrowheads="1"/>
            </p:cNvSpPr>
            <p:nvPr/>
          </p:nvSpPr>
          <p:spPr bwMode="auto">
            <a:xfrm>
              <a:off x="2224" y="1102"/>
              <a:ext cx="2082" cy="5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dirty="0"/>
                <a:t>Problem B</a:t>
              </a:r>
            </a:p>
          </p:txBody>
        </p:sp>
        <p:sp>
          <p:nvSpPr>
            <p:cNvPr id="986137" name="Line 25"/>
            <p:cNvSpPr>
              <a:spLocks noChangeShapeType="1"/>
            </p:cNvSpPr>
            <p:nvPr/>
          </p:nvSpPr>
          <p:spPr bwMode="auto">
            <a:xfrm>
              <a:off x="304" y="1383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38" name="Text Box 26"/>
            <p:cNvSpPr txBox="1">
              <a:spLocks noChangeArrowheads="1"/>
            </p:cNvSpPr>
            <p:nvPr/>
          </p:nvSpPr>
          <p:spPr bwMode="auto">
            <a:xfrm>
              <a:off x="453" y="1074"/>
              <a:ext cx="25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986139" name="Text Box 27"/>
            <p:cNvSpPr txBox="1">
              <a:spLocks noChangeArrowheads="1"/>
            </p:cNvSpPr>
            <p:nvPr/>
          </p:nvSpPr>
          <p:spPr bwMode="auto">
            <a:xfrm>
              <a:off x="1946" y="1074"/>
              <a:ext cx="2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986140" name="Line 28"/>
            <p:cNvSpPr>
              <a:spLocks noChangeShapeType="1"/>
            </p:cNvSpPr>
            <p:nvPr/>
          </p:nvSpPr>
          <p:spPr bwMode="auto">
            <a:xfrm>
              <a:off x="1480" y="1383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1" name="Line 29"/>
            <p:cNvSpPr>
              <a:spLocks noChangeShapeType="1"/>
            </p:cNvSpPr>
            <p:nvPr/>
          </p:nvSpPr>
          <p:spPr bwMode="auto">
            <a:xfrm flipV="1">
              <a:off x="4310" y="1186"/>
              <a:ext cx="547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2" name="Line 30"/>
            <p:cNvSpPr>
              <a:spLocks noChangeShapeType="1"/>
            </p:cNvSpPr>
            <p:nvPr/>
          </p:nvSpPr>
          <p:spPr bwMode="auto">
            <a:xfrm>
              <a:off x="4310" y="1397"/>
              <a:ext cx="547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3" name="Line 31"/>
            <p:cNvSpPr>
              <a:spLocks noChangeShapeType="1"/>
            </p:cNvSpPr>
            <p:nvPr/>
          </p:nvSpPr>
          <p:spPr bwMode="auto">
            <a:xfrm>
              <a:off x="4854" y="1191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4" name="Line 32"/>
            <p:cNvSpPr>
              <a:spLocks noChangeShapeType="1"/>
            </p:cNvSpPr>
            <p:nvPr/>
          </p:nvSpPr>
          <p:spPr bwMode="auto">
            <a:xfrm>
              <a:off x="4859" y="1585"/>
              <a:ext cx="5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6145" name="Text Box 33"/>
            <p:cNvSpPr txBox="1">
              <a:spLocks noChangeArrowheads="1"/>
            </p:cNvSpPr>
            <p:nvPr/>
          </p:nvSpPr>
          <p:spPr bwMode="auto">
            <a:xfrm>
              <a:off x="4402" y="1065"/>
              <a:ext cx="3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yes</a:t>
              </a:r>
            </a:p>
          </p:txBody>
        </p:sp>
        <p:sp>
          <p:nvSpPr>
            <p:cNvPr id="986146" name="Text Box 34"/>
            <p:cNvSpPr txBox="1">
              <a:spLocks noChangeArrowheads="1"/>
            </p:cNvSpPr>
            <p:nvPr/>
          </p:nvSpPr>
          <p:spPr bwMode="auto">
            <a:xfrm>
              <a:off x="4426" y="1463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no</a:t>
              </a:r>
            </a:p>
          </p:txBody>
        </p:sp>
        <p:sp>
          <p:nvSpPr>
            <p:cNvPr id="986147" name="Text Box 35"/>
            <p:cNvSpPr txBox="1">
              <a:spLocks noChangeArrowheads="1"/>
            </p:cNvSpPr>
            <p:nvPr/>
          </p:nvSpPr>
          <p:spPr bwMode="auto">
            <a:xfrm>
              <a:off x="4997" y="969"/>
              <a:ext cx="3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yes</a:t>
              </a:r>
            </a:p>
          </p:txBody>
        </p:sp>
        <p:sp>
          <p:nvSpPr>
            <p:cNvPr id="986148" name="Text Box 36"/>
            <p:cNvSpPr txBox="1">
              <a:spLocks noChangeArrowheads="1"/>
            </p:cNvSpPr>
            <p:nvPr/>
          </p:nvSpPr>
          <p:spPr bwMode="auto">
            <a:xfrm>
              <a:off x="5021" y="1367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no</a:t>
              </a:r>
            </a:p>
          </p:txBody>
        </p:sp>
        <p:sp>
          <p:nvSpPr>
            <p:cNvPr id="986149" name="Text Box 37"/>
            <p:cNvSpPr txBox="1">
              <a:spLocks noChangeArrowheads="1"/>
            </p:cNvSpPr>
            <p:nvPr/>
          </p:nvSpPr>
          <p:spPr bwMode="auto">
            <a:xfrm>
              <a:off x="2185" y="1692"/>
              <a:ext cx="155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Algorithm for Problem A</a:t>
              </a:r>
            </a:p>
          </p:txBody>
        </p:sp>
      </p:grpSp>
      <p:sp>
        <p:nvSpPr>
          <p:cNvPr id="22" name="Google Shape;285;p49"/>
          <p:cNvSpPr txBox="1"/>
          <p:nvPr/>
        </p:nvSpPr>
        <p:spPr>
          <a:xfrm>
            <a:off x="3124200" y="5221708"/>
            <a:ext cx="2319726" cy="656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         Cost of Sorting</a:t>
            </a:r>
            <a:endParaRPr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cxnSp>
        <p:nvCxnSpPr>
          <p:cNvPr id="23" name="Google Shape;286;p49"/>
          <p:cNvCxnSpPr/>
          <p:nvPr/>
        </p:nvCxnSpPr>
        <p:spPr>
          <a:xfrm rot="16200000" flipH="1">
            <a:off x="4599104" y="5695447"/>
            <a:ext cx="259344" cy="146049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" name="Google Shape;285;p49"/>
          <p:cNvSpPr txBox="1"/>
          <p:nvPr/>
        </p:nvSpPr>
        <p:spPr>
          <a:xfrm>
            <a:off x="5476487" y="5251984"/>
            <a:ext cx="2319726" cy="656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Cost of Reduction</a:t>
            </a:r>
            <a:endParaRPr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cxnSp>
        <p:nvCxnSpPr>
          <p:cNvPr id="26" name="Google Shape;286;p49"/>
          <p:cNvCxnSpPr/>
          <p:nvPr/>
        </p:nvCxnSpPr>
        <p:spPr>
          <a:xfrm rot="10800000" flipV="1">
            <a:off x="5921832" y="5726646"/>
            <a:ext cx="411521" cy="13172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371571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4"/>
          <p:cNvSpPr txBox="1">
            <a:spLocks noGrp="1"/>
          </p:cNvSpPr>
          <p:nvPr>
            <p:ph type="title" idx="4294967295"/>
          </p:nvPr>
        </p:nvSpPr>
        <p:spPr>
          <a:xfrm>
            <a:off x="155775" y="223667"/>
            <a:ext cx="8832150" cy="990600"/>
          </a:xfrm>
          <a:prstGeom prst="rect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sz="2800" dirty="0">
                <a:solidFill>
                  <a:schemeClr val="accent5"/>
                </a:solidFill>
                <a:latin typeface="Lato Light"/>
                <a:ea typeface="Lato Light"/>
                <a:cs typeface="Lato Light"/>
                <a:sym typeface="Lato Light"/>
              </a:rPr>
              <a:t>RECIPE FOR PROVING </a:t>
            </a:r>
            <a:r>
              <a:rPr lang="en-US" altLang="en-US" sz="2800" dirty="0">
                <a:solidFill>
                  <a:schemeClr val="accent5"/>
                </a:solidFill>
                <a:latin typeface="Lato Light"/>
                <a:ea typeface="Lato Light"/>
                <a:cs typeface="Lato Light"/>
              </a:rPr>
              <a:t>PROBLEM Is NP-Complete</a:t>
            </a:r>
            <a:endParaRPr sz="2800" dirty="0">
              <a:solidFill>
                <a:schemeClr val="accent5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54" name="Google Shape;154;p34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9</a:t>
            </a:fld>
            <a:endParaRPr/>
          </a:p>
        </p:txBody>
      </p:sp>
      <p:sp>
        <p:nvSpPr>
          <p:cNvPr id="155" name="Google Shape;155;p34"/>
          <p:cNvSpPr/>
          <p:nvPr/>
        </p:nvSpPr>
        <p:spPr>
          <a:xfrm>
            <a:off x="311549" y="1847308"/>
            <a:ext cx="8520600" cy="3681800"/>
          </a:xfrm>
          <a:prstGeom prst="roundRect">
            <a:avLst>
              <a:gd name="adj" fmla="val 11810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indent="-342900">
              <a:buSzPts val="1800"/>
              <a:buFont typeface="Assistant"/>
              <a:buAutoNum type="arabicPeriod"/>
            </a:pPr>
            <a:r>
              <a:rPr lang="en-US" sz="2400" b="1" dirty="0">
                <a:latin typeface="Assistant"/>
                <a:ea typeface="Assistant"/>
                <a:cs typeface="Assistant"/>
                <a:sym typeface="Assistant"/>
              </a:rPr>
              <a:t>Prove that B is a member of the class NP.</a:t>
            </a:r>
            <a:r>
              <a:rPr lang="en" sz="2400" b="1" dirty="0"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altLang="en-US" sz="2400" dirty="0">
                <a:latin typeface="Assistant ExtraLight"/>
                <a:ea typeface="Assistant ExtraLight"/>
                <a:cs typeface="Assistant ExtraLight"/>
              </a:rPr>
              <a:t>B </a:t>
            </a:r>
            <a:r>
              <a:rPr lang="en-US" sz="2400" dirty="0">
                <a:latin typeface="Assistant ExtraLight"/>
                <a:ea typeface="Assistant ExtraLight"/>
                <a:cs typeface="Assistant ExtraLight"/>
              </a:rPr>
              <a:t>∈ NP</a:t>
            </a:r>
          </a:p>
          <a:p>
            <a:pPr marL="457200" indent="-342900">
              <a:buSzPts val="1800"/>
              <a:buFont typeface="Assistant"/>
              <a:buAutoNum type="arabicPeriod"/>
            </a:pPr>
            <a:endParaRPr sz="2400" dirty="0">
              <a:latin typeface="Assistant ExtraLight"/>
              <a:ea typeface="Assistant ExtraLight"/>
              <a:cs typeface="Assistant ExtraLight"/>
              <a:sym typeface="Assistant ExtraLight"/>
            </a:endParaRPr>
          </a:p>
          <a:p>
            <a:pPr marL="457200" indent="-342900">
              <a:spcBef>
                <a:spcPts val="1000"/>
              </a:spcBef>
              <a:buSzPts val="1800"/>
              <a:buFont typeface="Assistant"/>
              <a:buAutoNum type="arabicPeriod"/>
            </a:pPr>
            <a:r>
              <a:rPr lang="en-US" sz="2400" b="1" dirty="0">
                <a:latin typeface="Assistant"/>
                <a:ea typeface="Assistant"/>
                <a:cs typeface="Assistant"/>
                <a:sym typeface="Assistant"/>
              </a:rPr>
              <a:t>Choose an NP-complete problem A.</a:t>
            </a:r>
          </a:p>
          <a:p>
            <a:pPr marL="457200" indent="-342900">
              <a:spcBef>
                <a:spcPts val="1000"/>
              </a:spcBef>
              <a:buSzPts val="1800"/>
              <a:buFont typeface="Assistant"/>
              <a:buAutoNum type="arabicPeriod"/>
            </a:pPr>
            <a:endParaRPr sz="2400" i="1" dirty="0">
              <a:latin typeface="Assistant ExtraLight"/>
              <a:ea typeface="Assistant ExtraLight"/>
              <a:cs typeface="Assistant ExtraLight"/>
              <a:sym typeface="Assistant ExtraLight"/>
            </a:endParaRPr>
          </a:p>
          <a:p>
            <a:pPr marL="457200" indent="-342900">
              <a:spcBef>
                <a:spcPts val="1000"/>
              </a:spcBef>
              <a:buSzPts val="1800"/>
              <a:buFont typeface="Assistant"/>
              <a:buAutoNum type="arabicPeriod"/>
            </a:pPr>
            <a:r>
              <a:rPr lang="en-US" sz="2400" b="1" dirty="0">
                <a:latin typeface="Assistant"/>
                <a:ea typeface="Assistant"/>
                <a:cs typeface="Assistant"/>
                <a:sym typeface="Assistant"/>
              </a:rPr>
              <a:t>Prove that there is a Levin reduction from A to B.</a:t>
            </a:r>
            <a:endParaRPr sz="2400" dirty="0"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sp>
        <p:nvSpPr>
          <p:cNvPr id="5" name="Google Shape;153;p34"/>
          <p:cNvSpPr txBox="1">
            <a:spLocks/>
          </p:cNvSpPr>
          <p:nvPr/>
        </p:nvSpPr>
        <p:spPr>
          <a:xfrm>
            <a:off x="877836" y="977467"/>
            <a:ext cx="7388025" cy="775133"/>
          </a:xfrm>
          <a:prstGeom prst="rect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800" dirty="0">
                <a:solidFill>
                  <a:srgbClr val="002060"/>
                </a:solidFill>
                <a:latin typeface="Lato Light"/>
                <a:ea typeface="Lato Light"/>
                <a:cs typeface="Lato Light"/>
                <a:sym typeface="Lato Light"/>
              </a:rPr>
              <a:t>To Prove </a:t>
            </a:r>
            <a:r>
              <a:rPr lang="en-US" altLang="en-US" sz="2800" dirty="0">
                <a:solidFill>
                  <a:srgbClr val="002060"/>
                </a:solidFill>
                <a:latin typeface="Lato Light"/>
                <a:ea typeface="Lato Light"/>
                <a:cs typeface="Lato Light"/>
              </a:rPr>
              <a:t>B Is NP-Complete</a:t>
            </a:r>
            <a:endParaRPr lang="en-US" sz="2800" dirty="0">
              <a:solidFill>
                <a:srgbClr val="00206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  <p:extLst>
      <p:ext uri="{BB962C8B-B14F-4D97-AF65-F5344CB8AC3E}">
        <p14:creationId xmlns:p14="http://schemas.microsoft.com/office/powerpoint/2010/main" val="677460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65252"/>
            <a:ext cx="8229600" cy="7191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Independent Set (Example 1)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2015" y="877494"/>
            <a:ext cx="8499969" cy="5669280"/>
          </a:xfrm>
          <a:prstGeom prst="rect">
            <a:avLst/>
          </a:prstGeom>
        </p:spPr>
      </p:pic>
      <p:sp>
        <p:nvSpPr>
          <p:cNvPr id="4" name="Oval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590800" y="3352800"/>
            <a:ext cx="303212" cy="3032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Oval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624858" y="4033761"/>
            <a:ext cx="303212" cy="3032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" name="Oval 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200471" y="4816633"/>
            <a:ext cx="303212" cy="3032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7" name="Oval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590800" y="5458240"/>
            <a:ext cx="303212" cy="3032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8" name="Oval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200471" y="5532938"/>
            <a:ext cx="303212" cy="3032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9" name="Oval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590800" y="6243561"/>
            <a:ext cx="303212" cy="3032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0" name="Oval 7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203790" y="3352800"/>
            <a:ext cx="303212" cy="303213"/>
          </a:xfrm>
          <a:prstGeom prst="ellipse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2</a:t>
            </a:r>
          </a:p>
        </p:txBody>
      </p:sp>
      <p:sp>
        <p:nvSpPr>
          <p:cNvPr id="11" name="Oval 7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200471" y="4069104"/>
            <a:ext cx="303212" cy="303213"/>
          </a:xfrm>
          <a:prstGeom prst="ellipse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4</a:t>
            </a:r>
          </a:p>
        </p:txBody>
      </p:sp>
      <p:sp>
        <p:nvSpPr>
          <p:cNvPr id="12" name="Oval 7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642639" y="4846571"/>
            <a:ext cx="303212" cy="303213"/>
          </a:xfrm>
          <a:prstGeom prst="ellipse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5</a:t>
            </a:r>
          </a:p>
        </p:txBody>
      </p:sp>
      <p:sp>
        <p:nvSpPr>
          <p:cNvPr id="13" name="Oval 7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183265" y="6265028"/>
            <a:ext cx="303212" cy="303213"/>
          </a:xfrm>
          <a:prstGeom prst="ellipse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10</a:t>
            </a:r>
          </a:p>
        </p:txBody>
      </p:sp>
      <p:sp>
        <p:nvSpPr>
          <p:cNvPr id="14" name="Google Shape;285;p49"/>
          <p:cNvSpPr txBox="1"/>
          <p:nvPr/>
        </p:nvSpPr>
        <p:spPr>
          <a:xfrm>
            <a:off x="6019014" y="2027070"/>
            <a:ext cx="2667000" cy="34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 {1} is independent Set</a:t>
            </a:r>
            <a:endParaRPr sz="1400" b="1"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sp>
        <p:nvSpPr>
          <p:cNvPr id="15" name="Google Shape;285;p49"/>
          <p:cNvSpPr txBox="1"/>
          <p:nvPr/>
        </p:nvSpPr>
        <p:spPr>
          <a:xfrm>
            <a:off x="5996233" y="2367196"/>
            <a:ext cx="2667000" cy="34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 {2, 3} is independent Set</a:t>
            </a:r>
            <a:endParaRPr sz="1400" b="1"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sp>
        <p:nvSpPr>
          <p:cNvPr id="16" name="Google Shape;285;p49"/>
          <p:cNvSpPr txBox="1"/>
          <p:nvPr/>
        </p:nvSpPr>
        <p:spPr>
          <a:xfrm>
            <a:off x="6019014" y="2796189"/>
            <a:ext cx="2667000" cy="34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 {1, 3} is independent Set</a:t>
            </a:r>
            <a:endParaRPr sz="1400" b="1"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sp>
        <p:nvSpPr>
          <p:cNvPr id="17" name="Google Shape;285;p49"/>
          <p:cNvSpPr txBox="1"/>
          <p:nvPr/>
        </p:nvSpPr>
        <p:spPr>
          <a:xfrm>
            <a:off x="5986020" y="3153744"/>
            <a:ext cx="2667000" cy="34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 {1, 3, 6} is independent Set</a:t>
            </a:r>
            <a:endParaRPr sz="1400" b="1"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sp>
        <p:nvSpPr>
          <p:cNvPr id="18" name="Google Shape;285;p49"/>
          <p:cNvSpPr txBox="1"/>
          <p:nvPr/>
        </p:nvSpPr>
        <p:spPr>
          <a:xfrm>
            <a:off x="6019014" y="3996848"/>
            <a:ext cx="2802970" cy="34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 {1, 3, 6, 7} is independent Set</a:t>
            </a:r>
            <a:endParaRPr sz="1400" b="1"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sp>
        <p:nvSpPr>
          <p:cNvPr id="19" name="Google Shape;285;p49"/>
          <p:cNvSpPr txBox="1"/>
          <p:nvPr/>
        </p:nvSpPr>
        <p:spPr>
          <a:xfrm>
            <a:off x="5867400" y="4464692"/>
            <a:ext cx="3332441" cy="34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 {1, 3, 6, 7, 8 , 9} is independent Set</a:t>
            </a:r>
            <a:endParaRPr sz="1400" b="1"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sp>
        <p:nvSpPr>
          <p:cNvPr id="20" name="Google Shape;285;p49"/>
          <p:cNvSpPr txBox="1"/>
          <p:nvPr/>
        </p:nvSpPr>
        <p:spPr>
          <a:xfrm>
            <a:off x="5928248" y="3584308"/>
            <a:ext cx="2802970" cy="34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 {2, 5, 6, 7} is independent Set</a:t>
            </a:r>
            <a:endParaRPr sz="1400" b="1"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cxnSp>
        <p:nvCxnSpPr>
          <p:cNvPr id="21" name="Google Shape;286;p49"/>
          <p:cNvCxnSpPr/>
          <p:nvPr/>
        </p:nvCxnSpPr>
        <p:spPr>
          <a:xfrm rot="10800000" flipV="1">
            <a:off x="6066715" y="3733800"/>
            <a:ext cx="2619299" cy="20560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61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65252"/>
            <a:ext cx="8229600" cy="719137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Vertex Cover (Example 1)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7703" y="914400"/>
            <a:ext cx="8427954" cy="5669280"/>
          </a:xfrm>
          <a:prstGeom prst="rect">
            <a:avLst/>
          </a:prstGeom>
        </p:spPr>
      </p:pic>
      <p:sp>
        <p:nvSpPr>
          <p:cNvPr id="5" name="Oval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590800" y="3352800"/>
            <a:ext cx="303212" cy="3032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" name="Oval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590800" y="4116387"/>
            <a:ext cx="303212" cy="3032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" name="Oval 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257800" y="4876800"/>
            <a:ext cx="303212" cy="3032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8" name="Oval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590800" y="5562600"/>
            <a:ext cx="303212" cy="3032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9" name="Oval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257800" y="5564163"/>
            <a:ext cx="303212" cy="3032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0" name="Oval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590800" y="6243561"/>
            <a:ext cx="303212" cy="3032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1" name="Oval 7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198857" y="3394591"/>
            <a:ext cx="303212" cy="303213"/>
          </a:xfrm>
          <a:prstGeom prst="ellipse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2</a:t>
            </a:r>
          </a:p>
        </p:txBody>
      </p:sp>
      <p:sp>
        <p:nvSpPr>
          <p:cNvPr id="12" name="Oval 7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198857" y="4084980"/>
            <a:ext cx="303212" cy="303213"/>
          </a:xfrm>
          <a:prstGeom prst="ellipse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4</a:t>
            </a:r>
          </a:p>
        </p:txBody>
      </p:sp>
      <p:sp>
        <p:nvSpPr>
          <p:cNvPr id="13" name="Oval 7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642639" y="4846571"/>
            <a:ext cx="303212" cy="303213"/>
          </a:xfrm>
          <a:prstGeom prst="ellipse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5</a:t>
            </a:r>
          </a:p>
        </p:txBody>
      </p:sp>
      <p:sp>
        <p:nvSpPr>
          <p:cNvPr id="14" name="Oval 7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198857" y="6251526"/>
            <a:ext cx="303212" cy="303213"/>
          </a:xfrm>
          <a:prstGeom prst="ellipse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2140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altLang="en-US" dirty="0"/>
              <a:t>Vertex Cover is NP-Complete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76200" y="1066800"/>
            <a:ext cx="9067800" cy="50593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en-US" sz="3600" dirty="0">
                <a:solidFill>
                  <a:srgbClr val="002060"/>
                </a:solidFill>
              </a:rPr>
              <a:t>Recipe to Prove a Problem Is NP-Complete</a:t>
            </a:r>
            <a:endParaRPr lang="en-US" altLang="en-US" sz="36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en-US" dirty="0">
              <a:solidFill>
                <a:srgbClr val="0070C0"/>
              </a:solidFill>
            </a:endParaRPr>
          </a:p>
          <a:p>
            <a:r>
              <a:rPr lang="en-US" altLang="en-US" sz="2400" dirty="0">
                <a:solidFill>
                  <a:srgbClr val="C00000"/>
                </a:solidFill>
              </a:rPr>
              <a:t>Prove that a </a:t>
            </a:r>
            <a:r>
              <a:rPr lang="en-US" altLang="en-US" sz="2400">
                <a:solidFill>
                  <a:srgbClr val="C00000"/>
                </a:solidFill>
              </a:rPr>
              <a:t>Vertex Cover </a:t>
            </a:r>
            <a:r>
              <a:rPr lang="en-US" altLang="en-US" sz="2400" dirty="0">
                <a:solidFill>
                  <a:srgbClr val="C00000"/>
                </a:solidFill>
              </a:rPr>
              <a:t>is NP-Complete</a:t>
            </a:r>
            <a:endParaRPr lang="en-US" altLang="en-US" sz="2400" dirty="0">
              <a:solidFill>
                <a:srgbClr val="0070C0"/>
              </a:solidFill>
            </a:endParaRPr>
          </a:p>
          <a:p>
            <a:endParaRPr lang="en-US" altLang="en-US" sz="2400" dirty="0">
              <a:solidFill>
                <a:srgbClr val="0070C0"/>
              </a:solidFill>
            </a:endParaRPr>
          </a:p>
          <a:p>
            <a:r>
              <a:rPr lang="en-US" altLang="en-US" sz="2400" dirty="0">
                <a:solidFill>
                  <a:srgbClr val="0070C0"/>
                </a:solidFill>
              </a:rPr>
              <a:t>Step 1. Vertex Cover </a:t>
            </a:r>
            <a:r>
              <a:rPr lang="en-US" sz="2400" dirty="0">
                <a:solidFill>
                  <a:srgbClr val="0070C0"/>
                </a:solidFill>
              </a:rPr>
              <a:t>∈ NP</a:t>
            </a:r>
          </a:p>
          <a:p>
            <a:pPr marL="0" indent="0">
              <a:buNone/>
            </a:pPr>
            <a:endParaRPr lang="en-US" altLang="en-US" sz="2400" dirty="0">
              <a:solidFill>
                <a:srgbClr val="0070C0"/>
              </a:solidFill>
            </a:endParaRPr>
          </a:p>
          <a:p>
            <a:r>
              <a:rPr lang="en-US" altLang="en-US" sz="2400" dirty="0">
                <a:solidFill>
                  <a:srgbClr val="0070C0"/>
                </a:solidFill>
              </a:rPr>
              <a:t>Step 2. Choose an NP-Complete problem A (Independent Set).</a:t>
            </a:r>
          </a:p>
          <a:p>
            <a:pPr marL="0" indent="0">
              <a:buNone/>
            </a:pPr>
            <a:r>
              <a:rPr lang="en-US" altLang="en-US" sz="2400" dirty="0">
                <a:solidFill>
                  <a:srgbClr val="0070C0"/>
                </a:solidFill>
              </a:rPr>
              <a:t>	Prove that A (Independent set) reduces to B (Vertex Cover)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/>
              <a:t> INDEPENDENT-SET </a:t>
            </a:r>
            <a:r>
              <a:rPr lang="en-US" altLang="en-US" sz="2400" dirty="0">
                <a:sym typeface="Symbol" panose="05050102010706020507" pitchFamily="18" charset="2"/>
              </a:rPr>
              <a:t></a:t>
            </a:r>
            <a:r>
              <a:rPr lang="en-US" altLang="en-US" sz="2400" baseline="-25000" dirty="0">
                <a:sym typeface="Symbol" panose="05050102010706020507" pitchFamily="18" charset="2"/>
              </a:rPr>
              <a:t>p</a:t>
            </a:r>
            <a:r>
              <a:rPr lang="en-US" sz="2400" dirty="0"/>
              <a:t> VERTEX-COVER</a:t>
            </a:r>
            <a:r>
              <a:rPr lang="en-US" sz="2400" dirty="0">
                <a:solidFill>
                  <a:srgbClr val="0070C0"/>
                </a:solidFill>
              </a:rPr>
              <a:t>. </a:t>
            </a:r>
            <a:endParaRPr lang="en-US" altLang="en-US" sz="2400" dirty="0">
              <a:solidFill>
                <a:srgbClr val="0070C0"/>
              </a:solidFill>
            </a:endParaRPr>
          </a:p>
          <a:p>
            <a:endParaRPr lang="en-US" alt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15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Step 1: Vertex Cover </a:t>
            </a:r>
            <a:r>
              <a:rPr lang="en-US" dirty="0"/>
              <a:t>∈ NP</a:t>
            </a:r>
            <a:endParaRPr lang="en-US" alt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1600200"/>
            <a:ext cx="8229600" cy="2055813"/>
          </a:xfrm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en-US" altLang="en-US" dirty="0"/>
              <a:t>Given Graph G = (V, E) contains Vertex cover of Size 3? </a:t>
            </a:r>
          </a:p>
          <a:p>
            <a:pPr marL="0" indent="0" eaLnBrk="1" hangingPunct="1">
              <a:buNone/>
            </a:pPr>
            <a:endParaRPr lang="en-US" altLang="en-US" dirty="0"/>
          </a:p>
          <a:p>
            <a:pPr marL="0" indent="0" eaLnBrk="1" hangingPunct="1">
              <a:buNone/>
            </a:pPr>
            <a:r>
              <a:rPr lang="en-US" altLang="en-US" dirty="0"/>
              <a:t>S is vertex cover if every edge in E has at least one endpoint in S. </a:t>
            </a:r>
          </a:p>
        </p:txBody>
      </p:sp>
      <p:sp>
        <p:nvSpPr>
          <p:cNvPr id="7179" name="Line 11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1992313" y="4187825"/>
            <a:ext cx="758825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0" name="Line 12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3054350" y="4035425"/>
            <a:ext cx="11382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1" name="Line 13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4495800" y="4187825"/>
            <a:ext cx="455613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2" name="Line 14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H="1">
            <a:off x="4040188" y="4264025"/>
            <a:ext cx="304800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3" name="Line 15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V="1">
            <a:off x="2066925" y="4187825"/>
            <a:ext cx="2201863" cy="835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4" name="Line 16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1992313" y="5249863"/>
            <a:ext cx="530225" cy="758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5" name="Line 17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2066925" y="5099050"/>
            <a:ext cx="2201863" cy="1062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6" name="Line 18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2825750" y="6084888"/>
            <a:ext cx="1443038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7" name="Line 19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116388" y="5326063"/>
            <a:ext cx="228600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8" name="Line 20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H="1">
            <a:off x="4572000" y="5249863"/>
            <a:ext cx="379413" cy="758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Oval 7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712244" y="3901796"/>
            <a:ext cx="379412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1</a:t>
            </a:r>
          </a:p>
        </p:txBody>
      </p:sp>
      <p:sp>
        <p:nvSpPr>
          <p:cNvPr id="26" name="Oval 7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446338" y="5891524"/>
            <a:ext cx="379412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6</a:t>
            </a:r>
          </a:p>
        </p:txBody>
      </p:sp>
      <p:sp>
        <p:nvSpPr>
          <p:cNvPr id="27" name="Oval 7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817889" y="4950307"/>
            <a:ext cx="379412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4</a:t>
            </a:r>
          </a:p>
        </p:txBody>
      </p:sp>
      <p:sp>
        <p:nvSpPr>
          <p:cNvPr id="28" name="Oval 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813152" y="4870449"/>
            <a:ext cx="379412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5</a:t>
            </a:r>
          </a:p>
        </p:txBody>
      </p:sp>
      <p:sp>
        <p:nvSpPr>
          <p:cNvPr id="22" name="Oval 4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192588" y="3863764"/>
            <a:ext cx="379412" cy="37941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2</a:t>
            </a:r>
          </a:p>
        </p:txBody>
      </p:sp>
      <p:sp>
        <p:nvSpPr>
          <p:cNvPr id="21" name="Oval 4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1689101" y="4903804"/>
            <a:ext cx="379412" cy="37941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3</a:t>
            </a:r>
          </a:p>
        </p:txBody>
      </p:sp>
      <p:sp>
        <p:nvSpPr>
          <p:cNvPr id="30" name="Oval 4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284500" y="5971382"/>
            <a:ext cx="379412" cy="37941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58672" y="2815518"/>
            <a:ext cx="39154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en-US" sz="2800" dirty="0"/>
              <a:t>(Example V.C = {2,3,7})</a:t>
            </a:r>
          </a:p>
        </p:txBody>
      </p:sp>
    </p:spTree>
    <p:extLst>
      <p:ext uri="{BB962C8B-B14F-4D97-AF65-F5344CB8AC3E}">
        <p14:creationId xmlns:p14="http://schemas.microsoft.com/office/powerpoint/2010/main" val="2871074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76200" y="1143000"/>
            <a:ext cx="9067800" cy="4983163"/>
          </a:xfrm>
        </p:spPr>
        <p:txBody>
          <a:bodyPr>
            <a:normAutofit/>
          </a:bodyPr>
          <a:lstStyle/>
          <a:p>
            <a:r>
              <a:rPr lang="en-US" altLang="en-US" sz="2400" b="1" dirty="0"/>
              <a:t>Lemma:</a:t>
            </a:r>
            <a:r>
              <a:rPr lang="en-US" altLang="en-US" b="1" dirty="0"/>
              <a:t> </a:t>
            </a:r>
            <a:r>
              <a:rPr lang="en-US" sz="2400" dirty="0"/>
              <a:t>INDEPENDENT-SET </a:t>
            </a:r>
            <a:r>
              <a:rPr lang="en-US" altLang="en-US" sz="2400" dirty="0">
                <a:sym typeface="Symbol" panose="05050102010706020507" pitchFamily="18" charset="2"/>
              </a:rPr>
              <a:t></a:t>
            </a:r>
            <a:r>
              <a:rPr lang="en-US" altLang="en-US" sz="2400" baseline="-25000" dirty="0">
                <a:sym typeface="Symbol" panose="05050102010706020507" pitchFamily="18" charset="2"/>
              </a:rPr>
              <a:t>p</a:t>
            </a:r>
            <a:r>
              <a:rPr lang="en-US" sz="2400" dirty="0"/>
              <a:t> VERTEX-COVER. </a:t>
            </a:r>
            <a:endParaRPr lang="en-US" altLang="en-US" sz="2400" dirty="0"/>
          </a:p>
          <a:p>
            <a:r>
              <a:rPr lang="en-US" altLang="en-US" sz="2400" b="1" dirty="0"/>
              <a:t>Proof: </a:t>
            </a:r>
            <a:r>
              <a:rPr lang="en-US" sz="2400" dirty="0"/>
              <a:t>We show </a:t>
            </a:r>
            <a:r>
              <a:rPr lang="en-US" sz="2400" i="1" dirty="0"/>
              <a:t>S </a:t>
            </a:r>
            <a:r>
              <a:rPr lang="en-US" sz="2400" dirty="0"/>
              <a:t>is an independent set of size </a:t>
            </a:r>
            <a:r>
              <a:rPr lang="en-US" sz="2400" i="1" dirty="0"/>
              <a:t>k, </a:t>
            </a:r>
          </a:p>
          <a:p>
            <a:pPr marL="0" indent="0">
              <a:buNone/>
            </a:pPr>
            <a:r>
              <a:rPr lang="en-US" sz="2400" i="1" dirty="0"/>
              <a:t>		</a:t>
            </a:r>
            <a:r>
              <a:rPr lang="en-US" sz="2400" dirty="0" err="1"/>
              <a:t>iff</a:t>
            </a:r>
            <a:r>
              <a:rPr lang="en-US" sz="2400" dirty="0"/>
              <a:t> </a:t>
            </a:r>
            <a:r>
              <a:rPr lang="en-US" sz="2400" i="1" dirty="0"/>
              <a:t>V </a:t>
            </a:r>
            <a:r>
              <a:rPr lang="en-US" sz="2400" dirty="0"/>
              <a:t>− </a:t>
            </a:r>
            <a:r>
              <a:rPr lang="en-US" sz="2400" i="1" dirty="0"/>
              <a:t>S </a:t>
            </a:r>
            <a:r>
              <a:rPr lang="en-US" sz="2400" dirty="0"/>
              <a:t>is a vertex cover of size </a:t>
            </a:r>
            <a:r>
              <a:rPr lang="en-US" sz="2400" i="1" dirty="0"/>
              <a:t>n </a:t>
            </a:r>
            <a:r>
              <a:rPr lang="en-US" sz="2400" dirty="0"/>
              <a:t>– </a:t>
            </a:r>
            <a:r>
              <a:rPr lang="en-US" sz="2400" i="1" dirty="0"/>
              <a:t>k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sz="2400" dirty="0"/>
              <a:t>Let S be any independent set of size k. </a:t>
            </a:r>
          </a:p>
          <a:p>
            <a:pPr lvl="1"/>
            <a:r>
              <a:rPr lang="en-US" sz="2400" dirty="0"/>
              <a:t>Consider an arbitrary edge (u, v) ∈ E.</a:t>
            </a:r>
          </a:p>
          <a:p>
            <a:pPr lvl="1"/>
            <a:endParaRPr lang="en-US" sz="2400" dirty="0">
              <a:solidFill>
                <a:srgbClr val="C00000"/>
              </a:solidFill>
            </a:endParaRPr>
          </a:p>
          <a:p>
            <a:pPr lvl="1"/>
            <a:r>
              <a:rPr lang="en-US" sz="2400" dirty="0">
                <a:solidFill>
                  <a:srgbClr val="C00000"/>
                </a:solidFill>
              </a:rPr>
              <a:t>S independent </a:t>
            </a:r>
            <a:r>
              <a:rPr lang="en-US" sz="2400" dirty="0"/>
              <a:t>⇒ either u ∉ S, or v ∉ S, or both ∉ S.</a:t>
            </a:r>
          </a:p>
          <a:p>
            <a:pPr lvl="1"/>
            <a:endParaRPr lang="en-US" sz="2400" dirty="0">
              <a:solidFill>
                <a:srgbClr val="0070C0"/>
              </a:solidFill>
            </a:endParaRP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Vertex Cover (V-S)</a:t>
            </a:r>
            <a:r>
              <a:rPr lang="en-US" sz="2400" dirty="0"/>
              <a:t>⇒ either u ∈ V − S, or v ∈ V − S, or both ∈ V − S.</a:t>
            </a:r>
          </a:p>
          <a:p>
            <a:pPr lvl="1"/>
            <a:r>
              <a:rPr lang="en-US" sz="2400" dirty="0"/>
              <a:t>Thus, V − S covers (u, v). ▪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228600" y="304800"/>
            <a:ext cx="8763000" cy="719137"/>
          </a:xfrm>
        </p:spPr>
        <p:txBody>
          <a:bodyPr>
            <a:noAutofit/>
          </a:bodyPr>
          <a:lstStyle/>
          <a:p>
            <a:r>
              <a:rPr lang="en-US" sz="2800" dirty="0"/>
              <a:t>Vertex cover and independent set reduce to one another </a:t>
            </a:r>
            <a:endParaRPr lang="en-US" altLang="en-US" sz="2800" dirty="0"/>
          </a:p>
        </p:txBody>
      </p:sp>
      <p:sp>
        <p:nvSpPr>
          <p:cNvPr id="8" name="Oval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929563" y="2209800"/>
            <a:ext cx="379412" cy="37941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2</a:t>
            </a:r>
          </a:p>
        </p:txBody>
      </p:sp>
      <p:sp>
        <p:nvSpPr>
          <p:cNvPr id="9" name="Oval 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005763" y="4333875"/>
            <a:ext cx="379412" cy="37941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7</a:t>
            </a:r>
          </a:p>
        </p:txBody>
      </p:sp>
      <p:sp>
        <p:nvSpPr>
          <p:cNvPr id="10" name="Oval 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550150" y="3271837"/>
            <a:ext cx="379413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4</a:t>
            </a:r>
          </a:p>
        </p:txBody>
      </p:sp>
      <p:sp>
        <p:nvSpPr>
          <p:cNvPr id="11" name="Oval 1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535988" y="3195637"/>
            <a:ext cx="379412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5</a:t>
            </a:r>
          </a:p>
        </p:txBody>
      </p:sp>
      <p:sp>
        <p:nvSpPr>
          <p:cNvPr id="12" name="Line 14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>
            <a:off x="7777163" y="2588426"/>
            <a:ext cx="304800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8234363" y="2514600"/>
            <a:ext cx="452436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4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8156576" y="2588426"/>
            <a:ext cx="74612" cy="174544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4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7777163" y="3649678"/>
            <a:ext cx="320462" cy="73378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822282" y="2671956"/>
            <a:ext cx="11477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S = {4,5}</a:t>
            </a:r>
            <a:endParaRPr lang="en-US" dirty="0"/>
          </a:p>
        </p:txBody>
      </p:sp>
      <p:sp>
        <p:nvSpPr>
          <p:cNvPr id="16" name="Line 14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flipH="1">
            <a:off x="8305801" y="3573462"/>
            <a:ext cx="429771" cy="760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36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36319" y="3401873"/>
            <a:ext cx="379412" cy="379412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1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 dirty="0"/>
              <a:t>Independent Set (Example 2)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457200" y="1346060"/>
            <a:ext cx="8229600" cy="2055813"/>
          </a:xfrm>
        </p:spPr>
        <p:txBody>
          <a:bodyPr/>
          <a:lstStyle/>
          <a:p>
            <a:pPr eaLnBrk="1" hangingPunct="1"/>
            <a:r>
              <a:rPr lang="en-US" altLang="en-US" dirty="0"/>
              <a:t>S is independent if there are no edges between vertices in S. </a:t>
            </a:r>
          </a:p>
        </p:txBody>
      </p:sp>
      <p:sp>
        <p:nvSpPr>
          <p:cNvPr id="6149" name="Oval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57200" y="4414837"/>
            <a:ext cx="379412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3</a:t>
            </a:r>
          </a:p>
        </p:txBody>
      </p:sp>
      <p:sp>
        <p:nvSpPr>
          <p:cNvPr id="6150" name="Oval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964116" y="3415643"/>
            <a:ext cx="379412" cy="379412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2</a:t>
            </a:r>
          </a:p>
        </p:txBody>
      </p:sp>
      <p:sp>
        <p:nvSpPr>
          <p:cNvPr id="6152" name="Oval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38475" y="5553075"/>
            <a:ext cx="379412" cy="379412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7</a:t>
            </a:r>
          </a:p>
        </p:txBody>
      </p:sp>
      <p:sp>
        <p:nvSpPr>
          <p:cNvPr id="6155" name="Line 11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V="1">
            <a:off x="762000" y="3732212"/>
            <a:ext cx="758825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6" name="Line 12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1824037" y="3579812"/>
            <a:ext cx="11382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7" name="Line 13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3265487" y="3732212"/>
            <a:ext cx="455613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8" name="Line 14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2809875" y="3808412"/>
            <a:ext cx="304800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9" name="Line 15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flipV="1">
            <a:off x="836612" y="3732212"/>
            <a:ext cx="2201863" cy="835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0" name="Line 16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762000" y="4794250"/>
            <a:ext cx="530225" cy="758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1" name="Line 17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836612" y="4643437"/>
            <a:ext cx="2201863" cy="1062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2" name="Line 18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1595437" y="5629275"/>
            <a:ext cx="1443038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3" name="Line 19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2886075" y="4870450"/>
            <a:ext cx="228600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" name="Line 20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 flipH="1">
            <a:off x="3341687" y="4794250"/>
            <a:ext cx="379413" cy="758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Oval 6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649637" y="4507468"/>
            <a:ext cx="379412" cy="379412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4</a:t>
            </a:r>
          </a:p>
        </p:txBody>
      </p:sp>
      <p:sp>
        <p:nvSpPr>
          <p:cNvPr id="24" name="Oval 6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531394" y="4414837"/>
            <a:ext cx="379412" cy="379412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5</a:t>
            </a:r>
          </a:p>
        </p:txBody>
      </p:sp>
      <p:sp>
        <p:nvSpPr>
          <p:cNvPr id="25" name="Oval 6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1236207" y="5438776"/>
            <a:ext cx="379412" cy="379412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6</a:t>
            </a:r>
          </a:p>
        </p:txBody>
      </p:sp>
      <p:sp>
        <p:nvSpPr>
          <p:cNvPr id="2" name="Rectangle 1"/>
          <p:cNvSpPr/>
          <p:nvPr/>
        </p:nvSpPr>
        <p:spPr>
          <a:xfrm>
            <a:off x="4128569" y="1834129"/>
            <a:ext cx="40911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en-US" sz="2800" dirty="0"/>
              <a:t>(Example I.S = {1,4,5,6})</a:t>
            </a:r>
          </a:p>
        </p:txBody>
      </p:sp>
      <p:sp>
        <p:nvSpPr>
          <p:cNvPr id="26" name="Line 11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 flipV="1">
            <a:off x="5652722" y="3732212"/>
            <a:ext cx="758825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12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6714759" y="3579812"/>
            <a:ext cx="11382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13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8156209" y="3732212"/>
            <a:ext cx="455613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14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 flipH="1">
            <a:off x="7700597" y="3808412"/>
            <a:ext cx="304800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15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 flipV="1">
            <a:off x="5727334" y="3732212"/>
            <a:ext cx="2201863" cy="835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16"/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>
            <a:off x="5652722" y="4794250"/>
            <a:ext cx="530225" cy="758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17"/>
          <p:cNvSpPr>
            <a:spLocks noChangeShapeType="1"/>
          </p:cNvSpPr>
          <p:nvPr>
            <p:custDataLst>
              <p:tags r:id="rId26"/>
            </p:custDataLst>
          </p:nvPr>
        </p:nvSpPr>
        <p:spPr bwMode="auto">
          <a:xfrm>
            <a:off x="5727334" y="4643437"/>
            <a:ext cx="2201863" cy="1062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18"/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>
            <a:off x="6486159" y="5629275"/>
            <a:ext cx="1443038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19"/>
          <p:cNvSpPr>
            <a:spLocks noChangeShapeType="1"/>
          </p:cNvSpPr>
          <p:nvPr>
            <p:custDataLst>
              <p:tags r:id="rId28"/>
            </p:custDataLst>
          </p:nvPr>
        </p:nvSpPr>
        <p:spPr bwMode="auto">
          <a:xfrm>
            <a:off x="7776797" y="4870450"/>
            <a:ext cx="228600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20"/>
          <p:cNvSpPr>
            <a:spLocks noChangeShapeType="1"/>
          </p:cNvSpPr>
          <p:nvPr>
            <p:custDataLst>
              <p:tags r:id="rId29"/>
            </p:custDataLst>
          </p:nvPr>
        </p:nvSpPr>
        <p:spPr bwMode="auto">
          <a:xfrm flipH="1">
            <a:off x="8232409" y="4794250"/>
            <a:ext cx="379413" cy="758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Oval 7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6372653" y="3446183"/>
            <a:ext cx="379412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1</a:t>
            </a:r>
          </a:p>
        </p:txBody>
      </p:sp>
      <p:sp>
        <p:nvSpPr>
          <p:cNvPr id="39" name="Oval 7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6106747" y="5435911"/>
            <a:ext cx="379412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6</a:t>
            </a:r>
          </a:p>
        </p:txBody>
      </p:sp>
      <p:sp>
        <p:nvSpPr>
          <p:cNvPr id="40" name="Oval 7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7478298" y="4494694"/>
            <a:ext cx="379412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4</a:t>
            </a:r>
          </a:p>
        </p:txBody>
      </p:sp>
      <p:sp>
        <p:nvSpPr>
          <p:cNvPr id="41" name="Oval 7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8473561" y="4414836"/>
            <a:ext cx="379412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5</a:t>
            </a:r>
          </a:p>
        </p:txBody>
      </p:sp>
      <p:sp>
        <p:nvSpPr>
          <p:cNvPr id="44" name="Oval 4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360254" y="4394699"/>
            <a:ext cx="379412" cy="37941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3</a:t>
            </a:r>
          </a:p>
        </p:txBody>
      </p:sp>
      <p:sp>
        <p:nvSpPr>
          <p:cNvPr id="45" name="Oval 4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7891097" y="5478988"/>
            <a:ext cx="379412" cy="37941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7</a:t>
            </a:r>
          </a:p>
        </p:txBody>
      </p:sp>
      <p:sp>
        <p:nvSpPr>
          <p:cNvPr id="47" name="Oval 6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7840277" y="3388253"/>
            <a:ext cx="379412" cy="37941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4600" y="2341910"/>
            <a:ext cx="2602636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en-US" sz="2800" dirty="0"/>
              <a:t> V.C = V – S </a:t>
            </a:r>
          </a:p>
          <a:p>
            <a:pPr lvl="1"/>
            <a:r>
              <a:rPr lang="en-US" altLang="en-US" sz="2800" dirty="0"/>
              <a:t>(V.C  ={2,3,7})</a:t>
            </a:r>
          </a:p>
        </p:txBody>
      </p:sp>
      <p:sp>
        <p:nvSpPr>
          <p:cNvPr id="49" name="Google Shape;285;p49"/>
          <p:cNvSpPr txBox="1"/>
          <p:nvPr/>
        </p:nvSpPr>
        <p:spPr>
          <a:xfrm>
            <a:off x="3894963" y="3934746"/>
            <a:ext cx="1589507" cy="66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VC = V - S</a:t>
            </a:r>
            <a:endParaRPr sz="2000" b="1"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4231166" y="4567237"/>
            <a:ext cx="606363" cy="3032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363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 dirty="0"/>
              <a:t>Clique (Example 2)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1600200"/>
            <a:ext cx="8229600" cy="205581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Clique</a:t>
            </a:r>
          </a:p>
          <a:p>
            <a:pPr lvl="1"/>
            <a:r>
              <a:rPr lang="en-US" altLang="en-US" dirty="0"/>
              <a:t>Graph G = (V, E), a subset S of the vertices is a clique if there is an edge between every pair of vertices in S. (Example </a:t>
            </a:r>
            <a:r>
              <a:rPr lang="en-US" altLang="en-US" dirty="0">
                <a:solidFill>
                  <a:srgbClr val="C00000"/>
                </a:solidFill>
              </a:rPr>
              <a:t>Clique = {1,4,5,6}</a:t>
            </a:r>
            <a:r>
              <a:rPr lang="en-US" altLang="en-US" dirty="0"/>
              <a:t>)</a:t>
            </a:r>
          </a:p>
          <a:p>
            <a:pPr lvl="1" eaLnBrk="1" hangingPunct="1"/>
            <a:endParaRPr lang="en-US" altLang="en-US" dirty="0"/>
          </a:p>
        </p:txBody>
      </p:sp>
      <p:sp>
        <p:nvSpPr>
          <p:cNvPr id="27" name="Google Shape;285;p49"/>
          <p:cNvSpPr txBox="1"/>
          <p:nvPr/>
        </p:nvSpPr>
        <p:spPr>
          <a:xfrm>
            <a:off x="6400800" y="3816932"/>
            <a:ext cx="1214438" cy="656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B05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         Clique of size 4</a:t>
            </a:r>
            <a:endParaRPr dirty="0">
              <a:solidFill>
                <a:srgbClr val="00B05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cxnSp>
        <p:nvCxnSpPr>
          <p:cNvPr id="28" name="Google Shape;286;p49"/>
          <p:cNvCxnSpPr/>
          <p:nvPr/>
        </p:nvCxnSpPr>
        <p:spPr>
          <a:xfrm rot="16200000" flipV="1">
            <a:off x="6314283" y="3591720"/>
            <a:ext cx="477837" cy="30479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" name="Oval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663825" y="3821113"/>
            <a:ext cx="379412" cy="379412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1</a:t>
            </a:r>
          </a:p>
        </p:txBody>
      </p:sp>
      <p:sp>
        <p:nvSpPr>
          <p:cNvPr id="47" name="Oval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76400" y="4806950"/>
            <a:ext cx="379412" cy="37941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3</a:t>
            </a:r>
          </a:p>
        </p:txBody>
      </p:sp>
      <p:sp>
        <p:nvSpPr>
          <p:cNvPr id="48" name="Oval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372000" y="3659189"/>
            <a:ext cx="379412" cy="37941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2</a:t>
            </a:r>
          </a:p>
        </p:txBody>
      </p:sp>
      <p:sp>
        <p:nvSpPr>
          <p:cNvPr id="49" name="Oval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35225" y="5870575"/>
            <a:ext cx="379412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6</a:t>
            </a:r>
          </a:p>
        </p:txBody>
      </p:sp>
      <p:sp>
        <p:nvSpPr>
          <p:cNvPr id="50" name="Oval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257675" y="5945188"/>
            <a:ext cx="379412" cy="37941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7</a:t>
            </a:r>
          </a:p>
        </p:txBody>
      </p:sp>
      <p:sp>
        <p:nvSpPr>
          <p:cNvPr id="51" name="Oval 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802062" y="4883150"/>
            <a:ext cx="379413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4</a:t>
            </a:r>
          </a:p>
        </p:txBody>
      </p:sp>
      <p:sp>
        <p:nvSpPr>
          <p:cNvPr id="52" name="Oval 10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787900" y="4806950"/>
            <a:ext cx="379412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5</a:t>
            </a:r>
          </a:p>
        </p:txBody>
      </p:sp>
      <p:cxnSp>
        <p:nvCxnSpPr>
          <p:cNvPr id="53" name="Google Shape;286;p49"/>
          <p:cNvCxnSpPr>
            <a:stCxn id="47" idx="4"/>
            <a:endCxn id="52" idx="3"/>
          </p:cNvCxnSpPr>
          <p:nvPr/>
        </p:nvCxnSpPr>
        <p:spPr>
          <a:xfrm rot="5400000" flipH="1" flipV="1">
            <a:off x="3327003" y="3669902"/>
            <a:ext cx="55564" cy="2977358"/>
          </a:xfrm>
          <a:prstGeom prst="curvedConnector3">
            <a:avLst>
              <a:gd name="adj1" fmla="val -41141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Google Shape;286;p49"/>
          <p:cNvCxnSpPr>
            <a:stCxn id="46" idx="6"/>
            <a:endCxn id="52" idx="0"/>
          </p:cNvCxnSpPr>
          <p:nvPr/>
        </p:nvCxnSpPr>
        <p:spPr>
          <a:xfrm>
            <a:off x="3043237" y="4010819"/>
            <a:ext cx="1934369" cy="796131"/>
          </a:xfrm>
          <a:prstGeom prst="curvedConnector2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oogle Shape;286;p49"/>
          <p:cNvCxnSpPr>
            <a:stCxn id="46" idx="5"/>
            <a:endCxn id="51" idx="2"/>
          </p:cNvCxnSpPr>
          <p:nvPr/>
        </p:nvCxnSpPr>
        <p:spPr>
          <a:xfrm rot="16200000" flipH="1">
            <a:off x="2930919" y="4201714"/>
            <a:ext cx="927896" cy="814389"/>
          </a:xfrm>
          <a:prstGeom prst="curvedConnector2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Google Shape;286;p49"/>
          <p:cNvCxnSpPr>
            <a:stCxn id="46" idx="3"/>
            <a:endCxn id="49" idx="0"/>
          </p:cNvCxnSpPr>
          <p:nvPr/>
        </p:nvCxnSpPr>
        <p:spPr>
          <a:xfrm rot="5400000">
            <a:off x="1809353" y="4960539"/>
            <a:ext cx="1725614" cy="94458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oogle Shape;286;p49"/>
          <p:cNvCxnSpPr>
            <a:stCxn id="46" idx="4"/>
            <a:endCxn id="50" idx="2"/>
          </p:cNvCxnSpPr>
          <p:nvPr/>
        </p:nvCxnSpPr>
        <p:spPr>
          <a:xfrm rot="16200000" flipH="1">
            <a:off x="2588419" y="4465637"/>
            <a:ext cx="1934369" cy="1404144"/>
          </a:xfrm>
          <a:prstGeom prst="curvedConnector2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Google Shape;286;p49"/>
          <p:cNvCxnSpPr>
            <a:stCxn id="48" idx="4"/>
            <a:endCxn id="50" idx="0"/>
          </p:cNvCxnSpPr>
          <p:nvPr/>
        </p:nvCxnSpPr>
        <p:spPr>
          <a:xfrm rot="5400000">
            <a:off x="3551251" y="4934732"/>
            <a:ext cx="1906587" cy="114325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Google Shape;286;p49"/>
          <p:cNvCxnSpPr>
            <a:stCxn id="48" idx="3"/>
            <a:endCxn id="49" idx="0"/>
          </p:cNvCxnSpPr>
          <p:nvPr/>
        </p:nvCxnSpPr>
        <p:spPr>
          <a:xfrm rot="5400000">
            <a:off x="2582479" y="4025490"/>
            <a:ext cx="1887538" cy="1802633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Google Shape;286;p49"/>
          <p:cNvCxnSpPr>
            <a:stCxn id="47" idx="6"/>
            <a:endCxn id="51" idx="2"/>
          </p:cNvCxnSpPr>
          <p:nvPr/>
        </p:nvCxnSpPr>
        <p:spPr>
          <a:xfrm>
            <a:off x="2055812" y="4996657"/>
            <a:ext cx="1746250" cy="76200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Google Shape;286;p49"/>
          <p:cNvCxnSpPr>
            <a:stCxn id="51" idx="6"/>
            <a:endCxn id="52" idx="2"/>
          </p:cNvCxnSpPr>
          <p:nvPr/>
        </p:nvCxnSpPr>
        <p:spPr>
          <a:xfrm flipV="1">
            <a:off x="4181475" y="4996657"/>
            <a:ext cx="606425" cy="76200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Google Shape;286;p49"/>
          <p:cNvCxnSpPr>
            <a:stCxn id="51" idx="3"/>
            <a:endCxn id="49" idx="6"/>
          </p:cNvCxnSpPr>
          <p:nvPr/>
        </p:nvCxnSpPr>
        <p:spPr>
          <a:xfrm rot="5400000">
            <a:off x="2909491" y="5112146"/>
            <a:ext cx="853283" cy="1042989"/>
          </a:xfrm>
          <a:prstGeom prst="curvedConnector2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oogle Shape;286;p49"/>
          <p:cNvCxnSpPr>
            <a:stCxn id="52" idx="5"/>
            <a:endCxn id="49" idx="5"/>
          </p:cNvCxnSpPr>
          <p:nvPr/>
        </p:nvCxnSpPr>
        <p:spPr>
          <a:xfrm rot="5400000">
            <a:off x="3403599" y="4486274"/>
            <a:ext cx="1063625" cy="2352675"/>
          </a:xfrm>
          <a:prstGeom prst="curvedConnector3">
            <a:avLst>
              <a:gd name="adj1" fmla="val 151533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41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en-US" dirty="0"/>
              <a:t>Clique is NP-Complete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52400" y="1066800"/>
            <a:ext cx="8915400" cy="50593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en-US" sz="3600" dirty="0">
                <a:solidFill>
                  <a:srgbClr val="002060"/>
                </a:solidFill>
              </a:rPr>
              <a:t>Recipe to Prove a Problem Is NP-Complete</a:t>
            </a:r>
            <a:endParaRPr lang="en-US" altLang="en-US" dirty="0">
              <a:solidFill>
                <a:srgbClr val="0070C0"/>
              </a:solidFill>
            </a:endParaRPr>
          </a:p>
          <a:p>
            <a:endParaRPr lang="en-US" altLang="en-US" sz="2800" dirty="0">
              <a:solidFill>
                <a:srgbClr val="0070C0"/>
              </a:solidFill>
            </a:endParaRPr>
          </a:p>
          <a:p>
            <a:r>
              <a:rPr lang="en-US" altLang="en-US" sz="2800" dirty="0">
                <a:solidFill>
                  <a:srgbClr val="C00000"/>
                </a:solidFill>
              </a:rPr>
              <a:t>Prove that a Clique is NP-Complete</a:t>
            </a:r>
          </a:p>
          <a:p>
            <a:endParaRPr lang="en-US" altLang="en-US" sz="2800" dirty="0">
              <a:solidFill>
                <a:srgbClr val="0070C0"/>
              </a:solidFill>
            </a:endParaRPr>
          </a:p>
          <a:p>
            <a:r>
              <a:rPr lang="en-US" altLang="en-US" sz="2800" dirty="0">
                <a:solidFill>
                  <a:srgbClr val="0070C0"/>
                </a:solidFill>
              </a:rPr>
              <a:t>Step 1. Clique </a:t>
            </a:r>
            <a:r>
              <a:rPr lang="en-US" sz="2800" dirty="0">
                <a:solidFill>
                  <a:srgbClr val="0070C0"/>
                </a:solidFill>
              </a:rPr>
              <a:t>∈</a:t>
            </a:r>
            <a:r>
              <a:rPr lang="en-US" altLang="en-US" sz="2800" dirty="0">
                <a:solidFill>
                  <a:srgbClr val="0070C0"/>
                </a:solidFill>
              </a:rPr>
              <a:t> NP. </a:t>
            </a:r>
          </a:p>
          <a:p>
            <a:pPr marL="0" indent="0">
              <a:buNone/>
            </a:pPr>
            <a:endParaRPr lang="en-US" altLang="en-US" sz="2800" dirty="0">
              <a:solidFill>
                <a:srgbClr val="0070C0"/>
              </a:solidFill>
            </a:endParaRPr>
          </a:p>
          <a:p>
            <a:r>
              <a:rPr lang="en-US" altLang="en-US" sz="2800" dirty="0">
                <a:solidFill>
                  <a:srgbClr val="0070C0"/>
                </a:solidFill>
              </a:rPr>
              <a:t>Step 2. Choose known NP-Complete problem A (IS).</a:t>
            </a:r>
          </a:p>
          <a:p>
            <a:pPr marL="0" indent="0">
              <a:buNone/>
            </a:pPr>
            <a:r>
              <a:rPr lang="en-US" altLang="en-US" sz="2800" dirty="0">
                <a:solidFill>
                  <a:srgbClr val="0070C0"/>
                </a:solidFill>
              </a:rPr>
              <a:t>	Prove that A (IS) reduces to B (Clique)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</a:rPr>
              <a:t>	</a:t>
            </a:r>
            <a:r>
              <a:rPr lang="en-US" altLang="en-US" sz="2800" dirty="0"/>
              <a:t>IS </a:t>
            </a:r>
            <a:r>
              <a:rPr lang="en-US" altLang="en-US" sz="2800" dirty="0">
                <a:sym typeface="Symbol" panose="05050102010706020507" pitchFamily="18" charset="2"/>
              </a:rPr>
              <a:t></a:t>
            </a:r>
            <a:r>
              <a:rPr lang="en-US" altLang="en-US" sz="2800" baseline="-25000" dirty="0">
                <a:sym typeface="Symbol" panose="05050102010706020507" pitchFamily="18" charset="2"/>
              </a:rPr>
              <a:t>p</a:t>
            </a:r>
            <a:r>
              <a:rPr lang="en-US" altLang="en-US" sz="2800" dirty="0"/>
              <a:t> Clique</a:t>
            </a:r>
            <a:r>
              <a:rPr lang="en-US" sz="2800" dirty="0">
                <a:solidFill>
                  <a:srgbClr val="0070C0"/>
                </a:solidFill>
              </a:rPr>
              <a:t>. </a:t>
            </a:r>
            <a:endParaRPr lang="en-US" altLang="en-US" sz="2800" dirty="0">
              <a:solidFill>
                <a:srgbClr val="0070C0"/>
              </a:solidFill>
            </a:endParaRPr>
          </a:p>
          <a:p>
            <a:endParaRPr lang="en-US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61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077" y="-15711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Step 1: Clique </a:t>
            </a:r>
            <a:r>
              <a:rPr lang="en-US" dirty="0"/>
              <a:t>∈</a:t>
            </a:r>
            <a:r>
              <a:rPr lang="en-US" altLang="en-US" dirty="0"/>
              <a:t> NP.   </a:t>
            </a:r>
            <a:endParaRPr lang="en-GB" dirty="0"/>
          </a:p>
        </p:txBody>
      </p:sp>
      <p:sp>
        <p:nvSpPr>
          <p:cNvPr id="22" name="Oval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278313" y="3668713"/>
            <a:ext cx="379412" cy="379412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1</a:t>
            </a:r>
          </a:p>
        </p:txBody>
      </p:sp>
      <p:sp>
        <p:nvSpPr>
          <p:cNvPr id="23" name="Oval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290888" y="4654550"/>
            <a:ext cx="379412" cy="37941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3</a:t>
            </a:r>
          </a:p>
        </p:txBody>
      </p:sp>
      <p:sp>
        <p:nvSpPr>
          <p:cNvPr id="24" name="Oval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986488" y="3506789"/>
            <a:ext cx="379412" cy="37941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2</a:t>
            </a:r>
          </a:p>
        </p:txBody>
      </p:sp>
      <p:sp>
        <p:nvSpPr>
          <p:cNvPr id="25" name="Oval 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049713" y="5718175"/>
            <a:ext cx="379412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6</a:t>
            </a:r>
          </a:p>
        </p:txBody>
      </p:sp>
      <p:sp>
        <p:nvSpPr>
          <p:cNvPr id="26" name="Oval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872163" y="5792788"/>
            <a:ext cx="379412" cy="37941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7</a:t>
            </a:r>
          </a:p>
        </p:txBody>
      </p:sp>
      <p:sp>
        <p:nvSpPr>
          <p:cNvPr id="27" name="Oval 9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416550" y="4730750"/>
            <a:ext cx="379413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4</a:t>
            </a:r>
          </a:p>
        </p:txBody>
      </p:sp>
      <p:sp>
        <p:nvSpPr>
          <p:cNvPr id="28" name="Oval 10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402388" y="4654550"/>
            <a:ext cx="379412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5</a:t>
            </a:r>
          </a:p>
        </p:txBody>
      </p:sp>
      <p:cxnSp>
        <p:nvCxnSpPr>
          <p:cNvPr id="39" name="Google Shape;286;p49"/>
          <p:cNvCxnSpPr>
            <a:stCxn id="23" idx="4"/>
            <a:endCxn id="28" idx="3"/>
          </p:cNvCxnSpPr>
          <p:nvPr/>
        </p:nvCxnSpPr>
        <p:spPr>
          <a:xfrm rot="5400000" flipH="1" flipV="1">
            <a:off x="4941491" y="3517502"/>
            <a:ext cx="55564" cy="2977358"/>
          </a:xfrm>
          <a:prstGeom prst="curvedConnector3">
            <a:avLst>
              <a:gd name="adj1" fmla="val -41141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Google Shape;286;p49"/>
          <p:cNvCxnSpPr>
            <a:stCxn id="22" idx="6"/>
            <a:endCxn id="28" idx="0"/>
          </p:cNvCxnSpPr>
          <p:nvPr/>
        </p:nvCxnSpPr>
        <p:spPr>
          <a:xfrm>
            <a:off x="4657725" y="3858419"/>
            <a:ext cx="1934369" cy="796131"/>
          </a:xfrm>
          <a:prstGeom prst="curvedConnector2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oogle Shape;286;p49"/>
          <p:cNvCxnSpPr>
            <a:stCxn id="22" idx="5"/>
            <a:endCxn id="27" idx="2"/>
          </p:cNvCxnSpPr>
          <p:nvPr/>
        </p:nvCxnSpPr>
        <p:spPr>
          <a:xfrm rot="16200000" flipH="1">
            <a:off x="4545407" y="4049314"/>
            <a:ext cx="927896" cy="814389"/>
          </a:xfrm>
          <a:prstGeom prst="curvedConnector2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oogle Shape;286;p49"/>
          <p:cNvCxnSpPr>
            <a:stCxn id="22" idx="3"/>
            <a:endCxn id="25" idx="0"/>
          </p:cNvCxnSpPr>
          <p:nvPr/>
        </p:nvCxnSpPr>
        <p:spPr>
          <a:xfrm rot="5400000">
            <a:off x="3423841" y="4808139"/>
            <a:ext cx="1725614" cy="94458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oogle Shape;286;p49"/>
          <p:cNvCxnSpPr>
            <a:stCxn id="22" idx="4"/>
            <a:endCxn id="26" idx="2"/>
          </p:cNvCxnSpPr>
          <p:nvPr/>
        </p:nvCxnSpPr>
        <p:spPr>
          <a:xfrm rot="16200000" flipH="1">
            <a:off x="4202907" y="4313237"/>
            <a:ext cx="1934369" cy="1404144"/>
          </a:xfrm>
          <a:prstGeom prst="curvedConnector2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Google Shape;286;p49"/>
          <p:cNvCxnSpPr>
            <a:stCxn id="24" idx="4"/>
            <a:endCxn id="26" idx="0"/>
          </p:cNvCxnSpPr>
          <p:nvPr/>
        </p:nvCxnSpPr>
        <p:spPr>
          <a:xfrm rot="5400000">
            <a:off x="5165739" y="4782332"/>
            <a:ext cx="1906587" cy="114325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Google Shape;286;p49"/>
          <p:cNvCxnSpPr>
            <a:stCxn id="24" idx="3"/>
            <a:endCxn id="25" idx="0"/>
          </p:cNvCxnSpPr>
          <p:nvPr/>
        </p:nvCxnSpPr>
        <p:spPr>
          <a:xfrm rot="5400000">
            <a:off x="4196967" y="3873090"/>
            <a:ext cx="1887538" cy="1802633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Google Shape;286;p49"/>
          <p:cNvCxnSpPr>
            <a:stCxn id="23" idx="6"/>
            <a:endCxn id="27" idx="2"/>
          </p:cNvCxnSpPr>
          <p:nvPr/>
        </p:nvCxnSpPr>
        <p:spPr>
          <a:xfrm>
            <a:off x="3670300" y="4844257"/>
            <a:ext cx="1746250" cy="76200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Google Shape;286;p49"/>
          <p:cNvCxnSpPr>
            <a:stCxn id="27" idx="6"/>
            <a:endCxn id="28" idx="2"/>
          </p:cNvCxnSpPr>
          <p:nvPr/>
        </p:nvCxnSpPr>
        <p:spPr>
          <a:xfrm flipV="1">
            <a:off x="5795963" y="4844257"/>
            <a:ext cx="606425" cy="76200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Google Shape;286;p49"/>
          <p:cNvCxnSpPr>
            <a:stCxn id="27" idx="3"/>
            <a:endCxn id="25" idx="6"/>
          </p:cNvCxnSpPr>
          <p:nvPr/>
        </p:nvCxnSpPr>
        <p:spPr>
          <a:xfrm rot="5400000">
            <a:off x="4523979" y="4959746"/>
            <a:ext cx="853283" cy="1042989"/>
          </a:xfrm>
          <a:prstGeom prst="curvedConnector2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Google Shape;286;p49"/>
          <p:cNvCxnSpPr>
            <a:stCxn id="28" idx="5"/>
            <a:endCxn id="25" idx="5"/>
          </p:cNvCxnSpPr>
          <p:nvPr/>
        </p:nvCxnSpPr>
        <p:spPr>
          <a:xfrm rot="5400000">
            <a:off x="5018087" y="4333874"/>
            <a:ext cx="1063625" cy="2352675"/>
          </a:xfrm>
          <a:prstGeom prst="curvedConnector3">
            <a:avLst>
              <a:gd name="adj1" fmla="val 151533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04800" y="2654843"/>
            <a:ext cx="71417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70C0"/>
                </a:solidFill>
              </a:rPr>
              <a:t>Given graph contains Clique of size = 4 ?</a:t>
            </a:r>
            <a:endParaRPr lang="en-US" altLang="en-US" dirty="0">
              <a:solidFill>
                <a:srgbClr val="0070C0"/>
              </a:solidFill>
            </a:endParaRPr>
          </a:p>
        </p:txBody>
      </p:sp>
      <p:sp>
        <p:nvSpPr>
          <p:cNvPr id="29" name="Rectangle 3"/>
          <p:cNvSpPr txBox="1">
            <a:spLocks noChangeArrowheads="1"/>
          </p:cNvSpPr>
          <p:nvPr>
            <p:custDataLst>
              <p:tags r:id="rId8"/>
            </p:custDataLst>
          </p:nvPr>
        </p:nvSpPr>
        <p:spPr>
          <a:xfrm>
            <a:off x="428625" y="1046268"/>
            <a:ext cx="8229600" cy="2055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 dirty="0"/>
              <a:t>Graph G = (V, E), a subset S of the vertices is a clique if there is an edge between every pair of vertices in S. (Example </a:t>
            </a:r>
            <a:r>
              <a:rPr lang="en-US" altLang="en-US" sz="2800" dirty="0">
                <a:solidFill>
                  <a:srgbClr val="C00000"/>
                </a:solidFill>
              </a:rPr>
              <a:t>Clique = {1,4,5,6}</a:t>
            </a:r>
            <a:r>
              <a:rPr lang="en-US" altLang="en-US" sz="2800" dirty="0"/>
              <a:t>)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05401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 dirty="0"/>
              <a:t>Step 2: IS </a:t>
            </a:r>
            <a:r>
              <a:rPr lang="en-US" altLang="en-US" dirty="0">
                <a:sym typeface="Symbol" panose="05050102010706020507" pitchFamily="18" charset="2"/>
              </a:rPr>
              <a:t></a:t>
            </a:r>
            <a:r>
              <a:rPr lang="en-US" altLang="en-US" baseline="-25000" dirty="0">
                <a:sym typeface="Symbol" panose="05050102010706020507" pitchFamily="18" charset="2"/>
              </a:rPr>
              <a:t>p</a:t>
            </a:r>
            <a:r>
              <a:rPr lang="en-US" altLang="en-US" dirty="0"/>
              <a:t> Clique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dirty="0"/>
              <a:t>Lemma: S is Independent in G </a:t>
            </a:r>
            <a:r>
              <a:rPr lang="en-US" altLang="en-US" dirty="0" err="1"/>
              <a:t>iff</a:t>
            </a:r>
            <a:r>
              <a:rPr lang="en-US" altLang="en-US" dirty="0"/>
              <a:t> S is a Clique in the complement of G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To reduce IS to Clique, we compute the complement of the graph.  </a:t>
            </a:r>
            <a:r>
              <a:rPr lang="en-US" altLang="en-US" dirty="0">
                <a:solidFill>
                  <a:srgbClr val="0070C0"/>
                </a:solidFill>
              </a:rPr>
              <a:t>The complement has a clique of size K </a:t>
            </a:r>
            <a:r>
              <a:rPr lang="en-US" altLang="en-US" dirty="0" err="1">
                <a:solidFill>
                  <a:srgbClr val="0070C0"/>
                </a:solidFill>
              </a:rPr>
              <a:t>iff</a:t>
            </a:r>
            <a:r>
              <a:rPr lang="en-US" altLang="en-US" dirty="0">
                <a:solidFill>
                  <a:srgbClr val="0070C0"/>
                </a:solidFill>
              </a:rPr>
              <a:t> the original graph has an independent set of size K.</a:t>
            </a:r>
          </a:p>
          <a:p>
            <a:pPr eaLnBrk="1" hangingPunct="1"/>
            <a:endParaRPr lang="en-US" altLang="en-US" dirty="0">
              <a:solidFill>
                <a:srgbClr val="0070C0"/>
              </a:solidFill>
            </a:endParaRPr>
          </a:p>
          <a:p>
            <a:r>
              <a:rPr lang="en-US" altLang="en-US" dirty="0"/>
              <a:t>Construction of Complement of the graph can easily be done in polynomial time. </a:t>
            </a:r>
            <a:endParaRPr lang="en-US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297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IS </a:t>
            </a:r>
            <a:r>
              <a:rPr lang="en-US" altLang="en-US" dirty="0">
                <a:sym typeface="Symbol" panose="05050102010706020507" pitchFamily="18" charset="2"/>
              </a:rPr>
              <a:t></a:t>
            </a:r>
            <a:r>
              <a:rPr lang="en-US" altLang="en-US" baseline="-25000" dirty="0">
                <a:sym typeface="Symbol" panose="05050102010706020507" pitchFamily="18" charset="2"/>
              </a:rPr>
              <a:t>p</a:t>
            </a:r>
            <a:r>
              <a:rPr lang="en-US" altLang="en-US" dirty="0"/>
              <a:t> Clique (Example 2)</a:t>
            </a:r>
            <a:endParaRPr lang="en-GB" dirty="0"/>
          </a:p>
        </p:txBody>
      </p:sp>
      <p:sp>
        <p:nvSpPr>
          <p:cNvPr id="4" name="Oval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611313" y="2438400"/>
            <a:ext cx="379412" cy="379412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1</a:t>
            </a:r>
          </a:p>
        </p:txBody>
      </p:sp>
      <p:sp>
        <p:nvSpPr>
          <p:cNvPr id="5" name="Oval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23888" y="3424237"/>
            <a:ext cx="379412" cy="37941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3</a:t>
            </a:r>
          </a:p>
        </p:txBody>
      </p:sp>
      <p:sp>
        <p:nvSpPr>
          <p:cNvPr id="7" name="Oval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28963" y="2438400"/>
            <a:ext cx="379412" cy="37941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2</a:t>
            </a:r>
          </a:p>
        </p:txBody>
      </p:sp>
      <p:sp>
        <p:nvSpPr>
          <p:cNvPr id="8" name="Oval 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382713" y="4487862"/>
            <a:ext cx="379412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6</a:t>
            </a:r>
          </a:p>
        </p:txBody>
      </p:sp>
      <p:sp>
        <p:nvSpPr>
          <p:cNvPr id="9" name="Oval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05163" y="4562475"/>
            <a:ext cx="379412" cy="37941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7</a:t>
            </a:r>
          </a:p>
        </p:txBody>
      </p:sp>
      <p:sp>
        <p:nvSpPr>
          <p:cNvPr id="10" name="Oval 9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749550" y="3500437"/>
            <a:ext cx="379413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4</a:t>
            </a:r>
          </a:p>
        </p:txBody>
      </p:sp>
      <p:sp>
        <p:nvSpPr>
          <p:cNvPr id="11" name="Oval 10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735388" y="3424237"/>
            <a:ext cx="379412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5</a:t>
            </a:r>
          </a:p>
        </p:txBody>
      </p:sp>
      <p:sp>
        <p:nvSpPr>
          <p:cNvPr id="12" name="Line 11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 flipV="1">
            <a:off x="928688" y="2741612"/>
            <a:ext cx="758825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2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1990725" y="2589212"/>
            <a:ext cx="11382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3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3432175" y="2741612"/>
            <a:ext cx="455613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4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flipH="1">
            <a:off x="2976563" y="2817812"/>
            <a:ext cx="304800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5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V="1">
            <a:off x="1003300" y="2741612"/>
            <a:ext cx="2201863" cy="835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6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928688" y="3803650"/>
            <a:ext cx="530225" cy="758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7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1003300" y="3652837"/>
            <a:ext cx="2201863" cy="1062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8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1762125" y="4638675"/>
            <a:ext cx="1443038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9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3052763" y="3879850"/>
            <a:ext cx="228600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0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 flipH="1">
            <a:off x="3508375" y="3803650"/>
            <a:ext cx="379413" cy="758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Oval 4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183313" y="2438400"/>
            <a:ext cx="379412" cy="379412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 dirty="0"/>
              <a:t>1</a:t>
            </a:r>
          </a:p>
        </p:txBody>
      </p:sp>
      <p:sp>
        <p:nvSpPr>
          <p:cNvPr id="23" name="Oval 5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195888" y="3424237"/>
            <a:ext cx="379412" cy="37941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3</a:t>
            </a:r>
          </a:p>
        </p:txBody>
      </p:sp>
      <p:sp>
        <p:nvSpPr>
          <p:cNvPr id="24" name="Oval 6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7891488" y="2276476"/>
            <a:ext cx="379412" cy="37941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2</a:t>
            </a:r>
          </a:p>
        </p:txBody>
      </p:sp>
      <p:sp>
        <p:nvSpPr>
          <p:cNvPr id="25" name="Oval 7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954713" y="4487862"/>
            <a:ext cx="379412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6</a:t>
            </a:r>
          </a:p>
        </p:txBody>
      </p:sp>
      <p:sp>
        <p:nvSpPr>
          <p:cNvPr id="26" name="Oval 8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7777163" y="4562475"/>
            <a:ext cx="379412" cy="37941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7</a:t>
            </a:r>
          </a:p>
        </p:txBody>
      </p:sp>
      <p:sp>
        <p:nvSpPr>
          <p:cNvPr id="27" name="Oval 9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7321550" y="3500437"/>
            <a:ext cx="379413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4</a:t>
            </a:r>
          </a:p>
        </p:txBody>
      </p:sp>
      <p:sp>
        <p:nvSpPr>
          <p:cNvPr id="28" name="Oval 10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8307388" y="3424237"/>
            <a:ext cx="379412" cy="37941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5</a:t>
            </a:r>
          </a:p>
        </p:txBody>
      </p:sp>
      <p:cxnSp>
        <p:nvCxnSpPr>
          <p:cNvPr id="39" name="Google Shape;286;p49"/>
          <p:cNvCxnSpPr>
            <a:stCxn id="23" idx="4"/>
            <a:endCxn id="28" idx="3"/>
          </p:cNvCxnSpPr>
          <p:nvPr/>
        </p:nvCxnSpPr>
        <p:spPr>
          <a:xfrm rot="5400000" flipH="1" flipV="1">
            <a:off x="6846491" y="2287189"/>
            <a:ext cx="55564" cy="2977358"/>
          </a:xfrm>
          <a:prstGeom prst="curvedConnector3">
            <a:avLst>
              <a:gd name="adj1" fmla="val -41141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Google Shape;286;p49"/>
          <p:cNvCxnSpPr>
            <a:stCxn id="22" idx="6"/>
            <a:endCxn id="28" idx="0"/>
          </p:cNvCxnSpPr>
          <p:nvPr/>
        </p:nvCxnSpPr>
        <p:spPr>
          <a:xfrm>
            <a:off x="6562725" y="2628106"/>
            <a:ext cx="1934369" cy="796131"/>
          </a:xfrm>
          <a:prstGeom prst="curvedConnector2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oogle Shape;286;p49"/>
          <p:cNvCxnSpPr>
            <a:stCxn id="22" idx="5"/>
            <a:endCxn id="27" idx="2"/>
          </p:cNvCxnSpPr>
          <p:nvPr/>
        </p:nvCxnSpPr>
        <p:spPr>
          <a:xfrm rot="16200000" flipH="1">
            <a:off x="6450407" y="2819001"/>
            <a:ext cx="927896" cy="814389"/>
          </a:xfrm>
          <a:prstGeom prst="curvedConnector2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oogle Shape;286;p49"/>
          <p:cNvCxnSpPr>
            <a:stCxn id="22" idx="3"/>
            <a:endCxn id="25" idx="0"/>
          </p:cNvCxnSpPr>
          <p:nvPr/>
        </p:nvCxnSpPr>
        <p:spPr>
          <a:xfrm rot="5400000">
            <a:off x="5328841" y="3577826"/>
            <a:ext cx="1725614" cy="94458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oogle Shape;286;p49"/>
          <p:cNvCxnSpPr>
            <a:stCxn id="22" idx="4"/>
            <a:endCxn id="26" idx="2"/>
          </p:cNvCxnSpPr>
          <p:nvPr/>
        </p:nvCxnSpPr>
        <p:spPr>
          <a:xfrm rot="16200000" flipH="1">
            <a:off x="6107907" y="3082924"/>
            <a:ext cx="1934369" cy="1404144"/>
          </a:xfrm>
          <a:prstGeom prst="curvedConnector2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Google Shape;286;p49"/>
          <p:cNvCxnSpPr>
            <a:stCxn id="24" idx="4"/>
            <a:endCxn id="26" idx="0"/>
          </p:cNvCxnSpPr>
          <p:nvPr/>
        </p:nvCxnSpPr>
        <p:spPr>
          <a:xfrm rot="5400000">
            <a:off x="7070739" y="3552019"/>
            <a:ext cx="1906587" cy="114325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Google Shape;286;p49"/>
          <p:cNvCxnSpPr>
            <a:stCxn id="24" idx="3"/>
            <a:endCxn id="25" idx="0"/>
          </p:cNvCxnSpPr>
          <p:nvPr/>
        </p:nvCxnSpPr>
        <p:spPr>
          <a:xfrm rot="5400000">
            <a:off x="6101967" y="2642777"/>
            <a:ext cx="1887538" cy="1802633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Google Shape;286;p49"/>
          <p:cNvCxnSpPr>
            <a:stCxn id="23" idx="6"/>
            <a:endCxn id="27" idx="2"/>
          </p:cNvCxnSpPr>
          <p:nvPr/>
        </p:nvCxnSpPr>
        <p:spPr>
          <a:xfrm>
            <a:off x="5575300" y="3613944"/>
            <a:ext cx="1746250" cy="76200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Google Shape;286;p49"/>
          <p:cNvCxnSpPr>
            <a:stCxn id="27" idx="6"/>
            <a:endCxn id="28" idx="2"/>
          </p:cNvCxnSpPr>
          <p:nvPr/>
        </p:nvCxnSpPr>
        <p:spPr>
          <a:xfrm flipV="1">
            <a:off x="7700963" y="3613944"/>
            <a:ext cx="606425" cy="76200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Google Shape;286;p49"/>
          <p:cNvCxnSpPr>
            <a:stCxn id="27" idx="3"/>
            <a:endCxn id="25" idx="6"/>
          </p:cNvCxnSpPr>
          <p:nvPr/>
        </p:nvCxnSpPr>
        <p:spPr>
          <a:xfrm rot="5400000">
            <a:off x="6428979" y="3729433"/>
            <a:ext cx="853283" cy="1042989"/>
          </a:xfrm>
          <a:prstGeom prst="curvedConnector2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Google Shape;286;p49"/>
          <p:cNvCxnSpPr>
            <a:stCxn id="28" idx="5"/>
            <a:endCxn id="25" idx="5"/>
          </p:cNvCxnSpPr>
          <p:nvPr/>
        </p:nvCxnSpPr>
        <p:spPr>
          <a:xfrm rot="5400000">
            <a:off x="6923087" y="3103561"/>
            <a:ext cx="1063625" cy="2352675"/>
          </a:xfrm>
          <a:prstGeom prst="curvedConnector3">
            <a:avLst>
              <a:gd name="adj1" fmla="val 151533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ight Arrow 2"/>
          <p:cNvSpPr/>
          <p:nvPr/>
        </p:nvSpPr>
        <p:spPr>
          <a:xfrm>
            <a:off x="4419600" y="3500437"/>
            <a:ext cx="533400" cy="3238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Google Shape;285;p49"/>
          <p:cNvSpPr txBox="1"/>
          <p:nvPr/>
        </p:nvSpPr>
        <p:spPr>
          <a:xfrm>
            <a:off x="2032163" y="5428479"/>
            <a:ext cx="20412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Independent-Set of Size 4</a:t>
            </a:r>
            <a:endParaRPr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cxnSp>
        <p:nvCxnSpPr>
          <p:cNvPr id="42" name="Google Shape;286;p49"/>
          <p:cNvCxnSpPr/>
          <p:nvPr/>
        </p:nvCxnSpPr>
        <p:spPr>
          <a:xfrm rot="5400000" flipH="1" flipV="1">
            <a:off x="2753134" y="5567769"/>
            <a:ext cx="429397" cy="17465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" name="Google Shape;285;p49"/>
          <p:cNvSpPr txBox="1"/>
          <p:nvPr/>
        </p:nvSpPr>
        <p:spPr>
          <a:xfrm>
            <a:off x="6569400" y="5486400"/>
            <a:ext cx="20412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Clique of Size 4</a:t>
            </a:r>
            <a:endParaRPr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cxnSp>
        <p:nvCxnSpPr>
          <p:cNvPr id="45" name="Google Shape;286;p49"/>
          <p:cNvCxnSpPr/>
          <p:nvPr/>
        </p:nvCxnSpPr>
        <p:spPr>
          <a:xfrm rot="16200000" flipV="1">
            <a:off x="7249402" y="5704602"/>
            <a:ext cx="465137" cy="28735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" name="Google Shape;285;p49"/>
          <p:cNvSpPr txBox="1"/>
          <p:nvPr/>
        </p:nvSpPr>
        <p:spPr>
          <a:xfrm>
            <a:off x="3713583" y="2471737"/>
            <a:ext cx="20412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Complement</a:t>
            </a:r>
            <a:endParaRPr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63590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3" grpId="0"/>
      <p:bldP spid="4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Reduction: Independent Set, Vertex Cover, and Clique (</a:t>
            </a:r>
            <a:r>
              <a:rPr lang="en-US" altLang="en-US" dirty="0"/>
              <a:t>Example 3</a:t>
            </a:r>
            <a:r>
              <a:rPr lang="en-GB" dirty="0"/>
              <a:t>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00" y="2209800"/>
            <a:ext cx="88734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914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 INDEPENDENT-SET </a:t>
            </a:r>
            <a:r>
              <a:rPr lang="en-US" altLang="en-US" dirty="0"/>
              <a:t>is NP-Complete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0" y="1066800"/>
            <a:ext cx="9067800" cy="50593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en-US" sz="3600" dirty="0">
                <a:solidFill>
                  <a:srgbClr val="002060"/>
                </a:solidFill>
              </a:rPr>
              <a:t>Recipe to Prove a Problem Is NP-Complete</a:t>
            </a:r>
            <a:endParaRPr lang="en-US" altLang="en-US" sz="36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en-US" dirty="0">
              <a:solidFill>
                <a:srgbClr val="0070C0"/>
              </a:solidFill>
            </a:endParaRPr>
          </a:p>
          <a:p>
            <a:r>
              <a:rPr lang="en-US" altLang="en-US" sz="2400" dirty="0">
                <a:solidFill>
                  <a:srgbClr val="0070C0"/>
                </a:solidFill>
              </a:rPr>
              <a:t>To prove that a problem B (</a:t>
            </a:r>
            <a:r>
              <a:rPr lang="en-US" sz="2400" dirty="0">
                <a:solidFill>
                  <a:srgbClr val="0070C0"/>
                </a:solidFill>
              </a:rPr>
              <a:t>INDEPENDENT-SET</a:t>
            </a:r>
            <a:r>
              <a:rPr lang="en-US" altLang="en-US" sz="2400" dirty="0">
                <a:solidFill>
                  <a:srgbClr val="0070C0"/>
                </a:solidFill>
              </a:rPr>
              <a:t>) is NP-Complete:</a:t>
            </a:r>
          </a:p>
          <a:p>
            <a:endParaRPr lang="en-US" altLang="en-US" sz="2400" dirty="0">
              <a:solidFill>
                <a:srgbClr val="0070C0"/>
              </a:solidFill>
            </a:endParaRPr>
          </a:p>
          <a:p>
            <a:r>
              <a:rPr lang="en-US" altLang="en-US" sz="2400" dirty="0">
                <a:solidFill>
                  <a:srgbClr val="0070C0"/>
                </a:solidFill>
              </a:rPr>
              <a:t>Step 1. </a:t>
            </a:r>
            <a:r>
              <a:rPr lang="en-US" sz="2400" dirty="0">
                <a:solidFill>
                  <a:srgbClr val="0070C0"/>
                </a:solidFill>
              </a:rPr>
              <a:t>INDEPENDENT-SET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70C0"/>
                </a:solidFill>
              </a:rPr>
              <a:t>∈ NP</a:t>
            </a:r>
          </a:p>
          <a:p>
            <a:pPr marL="0" indent="0">
              <a:buNone/>
            </a:pPr>
            <a:endParaRPr lang="en-US" altLang="en-US" sz="2400" dirty="0">
              <a:solidFill>
                <a:srgbClr val="0070C0"/>
              </a:solidFill>
            </a:endParaRPr>
          </a:p>
          <a:p>
            <a:r>
              <a:rPr lang="en-US" altLang="en-US" sz="2400" dirty="0">
                <a:solidFill>
                  <a:srgbClr val="0070C0"/>
                </a:solidFill>
              </a:rPr>
              <a:t>Step 2. Choose an NP-Complete problem A (3-SAT).</a:t>
            </a:r>
          </a:p>
          <a:p>
            <a:pPr marL="0" indent="0">
              <a:buNone/>
            </a:pPr>
            <a:r>
              <a:rPr lang="en-US" altLang="en-US" sz="2400" dirty="0">
                <a:solidFill>
                  <a:srgbClr val="0070C0"/>
                </a:solidFill>
              </a:rPr>
              <a:t>	Prove that A (3-SAT) reduces to B (</a:t>
            </a:r>
            <a:r>
              <a:rPr lang="en-US" sz="2400" dirty="0">
                <a:solidFill>
                  <a:srgbClr val="0070C0"/>
                </a:solidFill>
              </a:rPr>
              <a:t>INDEPENDENT-SET)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 	</a:t>
            </a:r>
            <a:r>
              <a:rPr lang="en-US" sz="2400" dirty="0"/>
              <a:t> 3-SAT </a:t>
            </a:r>
            <a:r>
              <a:rPr lang="en-US" altLang="en-US" sz="2400" dirty="0">
                <a:sym typeface="Symbol" panose="05050102010706020507" pitchFamily="18" charset="2"/>
              </a:rPr>
              <a:t></a:t>
            </a:r>
            <a:r>
              <a:rPr lang="en-US" altLang="en-US" sz="2400" baseline="-25000" dirty="0">
                <a:sym typeface="Symbol" panose="05050102010706020507" pitchFamily="18" charset="2"/>
              </a:rPr>
              <a:t>p</a:t>
            </a:r>
            <a:r>
              <a:rPr lang="en-US" sz="2400" dirty="0"/>
              <a:t> INDEPENDENT-SET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endParaRPr lang="en-US" altLang="en-US" sz="2400" dirty="0">
              <a:solidFill>
                <a:srgbClr val="0070C0"/>
              </a:solidFill>
            </a:endParaRPr>
          </a:p>
          <a:p>
            <a:endParaRPr lang="en-US" alt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218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1500"/>
          </a:xfrm>
        </p:spPr>
        <p:txBody>
          <a:bodyPr>
            <a:normAutofit fontScale="90000"/>
          </a:bodyPr>
          <a:lstStyle/>
          <a:p>
            <a:r>
              <a:rPr lang="en-US" dirty="0"/>
              <a:t>Satisfiability </a:t>
            </a:r>
            <a:endParaRPr lang="en-GB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28" y="1143000"/>
            <a:ext cx="8805544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06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71500"/>
          </a:xfrm>
        </p:spPr>
        <p:txBody>
          <a:bodyPr>
            <a:noAutofit/>
          </a:bodyPr>
          <a:lstStyle/>
          <a:p>
            <a:r>
              <a:rPr lang="en-US" sz="3600" dirty="0"/>
              <a:t>3-satisfiability reduces to independent set  </a:t>
            </a:r>
            <a:endParaRPr lang="en-GB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990600"/>
            <a:ext cx="6038850" cy="21812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733800"/>
            <a:ext cx="621030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11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71500"/>
          </a:xfrm>
        </p:spPr>
        <p:txBody>
          <a:bodyPr>
            <a:noAutofit/>
          </a:bodyPr>
          <a:lstStyle/>
          <a:p>
            <a:r>
              <a:rPr lang="en-US" sz="3600" dirty="0"/>
              <a:t>3-satisfiability reduces to independent set  </a:t>
            </a:r>
            <a:endParaRPr lang="en-GB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990600"/>
            <a:ext cx="6038850" cy="21812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733800"/>
            <a:ext cx="621030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8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71500"/>
          </a:xfrm>
        </p:spPr>
        <p:txBody>
          <a:bodyPr>
            <a:noAutofit/>
          </a:bodyPr>
          <a:lstStyle/>
          <a:p>
            <a:r>
              <a:rPr lang="en-US" sz="3600" dirty="0"/>
              <a:t>3-satisfiability reduces to independent set  </a:t>
            </a:r>
            <a:endParaRPr lang="en-GB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96" y="990600"/>
            <a:ext cx="7953375" cy="666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4" y="1998679"/>
            <a:ext cx="9118076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87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8AC85A-24EF-B26E-1203-B0A1140B4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2552"/>
            <a:ext cx="9144000" cy="507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276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3169DE-176D-88D2-C206-23161F58F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9150"/>
            <a:ext cx="9144000" cy="387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301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71500"/>
          </a:xfrm>
        </p:spPr>
        <p:txBody>
          <a:bodyPr>
            <a:normAutofit fontScale="90000"/>
          </a:bodyPr>
          <a:lstStyle/>
          <a:p>
            <a:r>
              <a:rPr lang="en-US" dirty="0"/>
              <a:t>Poly-time reductions </a:t>
            </a:r>
            <a:endParaRPr lang="en-GB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21" y="846138"/>
            <a:ext cx="8851279" cy="566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996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15" y="1143000"/>
            <a:ext cx="8940369" cy="5212080"/>
          </a:xfr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62000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Cook-Levin theorem shows that 3-SAT is a “universal” problem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8241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3193</TotalTime>
  <Words>1559</Words>
  <Application>Microsoft Office PowerPoint</Application>
  <PresentationFormat>On-screen Show (4:3)</PresentationFormat>
  <Paragraphs>344</Paragraphs>
  <Slides>30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Assistant</vt:lpstr>
      <vt:lpstr>Assistant ExtraLight</vt:lpstr>
      <vt:lpstr>Calibri</vt:lpstr>
      <vt:lpstr>Lato Light</vt:lpstr>
      <vt:lpstr>Monotype Corsiva</vt:lpstr>
      <vt:lpstr>Tahoma</vt:lpstr>
      <vt:lpstr>Office Theme</vt:lpstr>
      <vt:lpstr>PowerPoint Presentation</vt:lpstr>
      <vt:lpstr>Reductions</vt:lpstr>
      <vt:lpstr>Polynomial Reductions</vt:lpstr>
      <vt:lpstr>Polynomial Reduction</vt:lpstr>
      <vt:lpstr>Implications of Reduction</vt:lpstr>
      <vt:lpstr>Reductions Examples</vt:lpstr>
      <vt:lpstr>Reductions Examples</vt:lpstr>
      <vt:lpstr>Reductions Examples</vt:lpstr>
      <vt:lpstr>RECIPE FOR PROVING PROBLEM Is NP-Complete</vt:lpstr>
      <vt:lpstr>Independent Set (Example 1)</vt:lpstr>
      <vt:lpstr>Vertex Cover (Example 1)</vt:lpstr>
      <vt:lpstr>Vertex Cover is NP-Complete </vt:lpstr>
      <vt:lpstr>Step 1: Vertex Cover ∈ NP</vt:lpstr>
      <vt:lpstr>Vertex cover and independent set reduce to one another </vt:lpstr>
      <vt:lpstr>Independent Set (Example 2)</vt:lpstr>
      <vt:lpstr>Clique (Example 2)</vt:lpstr>
      <vt:lpstr>Clique is NP-Complete </vt:lpstr>
      <vt:lpstr>Step 1: Clique ∈ NP.   </vt:lpstr>
      <vt:lpstr>Step 2: IS p Clique</vt:lpstr>
      <vt:lpstr>IS p Clique (Example 2)</vt:lpstr>
      <vt:lpstr>Reduction: Independent Set, Vertex Cover, and Clique (Example 3)</vt:lpstr>
      <vt:lpstr> INDEPENDENT-SET is NP-Complete </vt:lpstr>
      <vt:lpstr>Satisfiability </vt:lpstr>
      <vt:lpstr>3-satisfiability reduces to independent set  </vt:lpstr>
      <vt:lpstr>3-satisfiability reduces to independent set  </vt:lpstr>
      <vt:lpstr>3-satisfiability reduces to independent set  </vt:lpstr>
      <vt:lpstr>PowerPoint Presentation</vt:lpstr>
      <vt:lpstr>PowerPoint Presentation</vt:lpstr>
      <vt:lpstr>Poly-time reductions </vt:lpstr>
      <vt:lpstr>Cook-Levin theorem shows that 3-SAT is a “universal”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Haydon</dc:creator>
  <cp:lastModifiedBy>Dr. Atif Tahir</cp:lastModifiedBy>
  <cp:revision>247</cp:revision>
  <dcterms:created xsi:type="dcterms:W3CDTF">2006-08-16T00:00:00Z</dcterms:created>
  <dcterms:modified xsi:type="dcterms:W3CDTF">2022-11-30T07:11:32Z</dcterms:modified>
</cp:coreProperties>
</file>