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3" r:id="rId3"/>
    <p:sldId id="259" r:id="rId4"/>
    <p:sldId id="260" r:id="rId5"/>
    <p:sldId id="261" r:id="rId6"/>
    <p:sldId id="262" r:id="rId7"/>
    <p:sldId id="264" r:id="rId8"/>
    <p:sldId id="257" r:id="rId9"/>
    <p:sldId id="292" r:id="rId10"/>
    <p:sldId id="258" r:id="rId11"/>
    <p:sldId id="263" r:id="rId12"/>
    <p:sldId id="266" r:id="rId13"/>
    <p:sldId id="267" r:id="rId14"/>
    <p:sldId id="265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95" r:id="rId24"/>
    <p:sldId id="296" r:id="rId25"/>
    <p:sldId id="297" r:id="rId26"/>
    <p:sldId id="298" r:id="rId27"/>
    <p:sldId id="299" r:id="rId28"/>
    <p:sldId id="300" r:id="rId29"/>
    <p:sldId id="301" r:id="rId30"/>
    <p:sldId id="302" r:id="rId31"/>
    <p:sldId id="303" r:id="rId32"/>
    <p:sldId id="304" r:id="rId33"/>
    <p:sldId id="305" r:id="rId34"/>
    <p:sldId id="306" r:id="rId35"/>
    <p:sldId id="294" r:id="rId36"/>
    <p:sldId id="276" r:id="rId37"/>
    <p:sldId id="277" r:id="rId38"/>
    <p:sldId id="278" r:id="rId39"/>
    <p:sldId id="279" r:id="rId40"/>
    <p:sldId id="280" r:id="rId41"/>
    <p:sldId id="281" r:id="rId42"/>
    <p:sldId id="307" r:id="rId43"/>
    <p:sldId id="282" r:id="rId44"/>
    <p:sldId id="283" r:id="rId45"/>
    <p:sldId id="284" r:id="rId46"/>
    <p:sldId id="285" r:id="rId47"/>
    <p:sldId id="286" r:id="rId48"/>
    <p:sldId id="287" r:id="rId49"/>
    <p:sldId id="288" r:id="rId50"/>
    <p:sldId id="289" r:id="rId51"/>
    <p:sldId id="290" r:id="rId52"/>
    <p:sldId id="291" r:id="rId53"/>
    <p:sldId id="309" r:id="rId5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5" Type="http://schemas.openxmlformats.org/officeDocument/2006/relationships/image" Target="../media/image19.png"/><Relationship Id="rId10" Type="http://schemas.openxmlformats.org/officeDocument/2006/relationships/image" Target="../media/image22.png"/><Relationship Id="rId4" Type="http://schemas.openxmlformats.org/officeDocument/2006/relationships/image" Target="../media/image18.png"/><Relationship Id="rId9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0.png"/><Relationship Id="rId4" Type="http://schemas.openxmlformats.org/officeDocument/2006/relationships/image" Target="../media/image33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7" Type="http://schemas.openxmlformats.org/officeDocument/2006/relationships/image" Target="../media/image380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0.png"/><Relationship Id="rId5" Type="http://schemas.openxmlformats.org/officeDocument/2006/relationships/image" Target="../media/image360.png"/><Relationship Id="rId4" Type="http://schemas.openxmlformats.org/officeDocument/2006/relationships/image" Target="../media/image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0.png"/><Relationship Id="rId4" Type="http://schemas.openxmlformats.org/officeDocument/2006/relationships/image" Target="../media/image40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0.png"/><Relationship Id="rId4" Type="http://schemas.openxmlformats.org/officeDocument/2006/relationships/image" Target="../media/image42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2" Type="http://schemas.openxmlformats.org/officeDocument/2006/relationships/image" Target="../media/image57.png"/><Relationship Id="rId16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5" Type="http://schemas.openxmlformats.org/officeDocument/2006/relationships/image" Target="../media/image7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9.png"/><Relationship Id="rId3" Type="http://schemas.openxmlformats.org/officeDocument/2006/relationships/image" Target="../media/image65.png"/><Relationship Id="rId7" Type="http://schemas.openxmlformats.org/officeDocument/2006/relationships/image" Target="../media/image75.png"/><Relationship Id="rId12" Type="http://schemas.openxmlformats.org/officeDocument/2006/relationships/image" Target="../media/image78.png"/><Relationship Id="rId17" Type="http://schemas.openxmlformats.org/officeDocument/2006/relationships/image" Target="../media/image83.png"/><Relationship Id="rId2" Type="http://schemas.openxmlformats.org/officeDocument/2006/relationships/image" Target="../media/image72.png"/><Relationship Id="rId16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11" Type="http://schemas.openxmlformats.org/officeDocument/2006/relationships/image" Target="../media/image77.png"/><Relationship Id="rId5" Type="http://schemas.openxmlformats.org/officeDocument/2006/relationships/image" Target="../media/image73.png"/><Relationship Id="rId15" Type="http://schemas.openxmlformats.org/officeDocument/2006/relationships/image" Target="../media/image81.png"/><Relationship Id="rId10" Type="http://schemas.openxmlformats.org/officeDocument/2006/relationships/image" Target="../media/image76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80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5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17" Type="http://schemas.openxmlformats.org/officeDocument/2006/relationships/image" Target="../media/image99.png"/><Relationship Id="rId2" Type="http://schemas.openxmlformats.org/officeDocument/2006/relationships/image" Target="../media/image84.png"/><Relationship Id="rId16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5" Type="http://schemas.openxmlformats.org/officeDocument/2006/relationships/image" Target="../media/image97.pn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Relationship Id="rId14" Type="http://schemas.openxmlformats.org/officeDocument/2006/relationships/image" Target="../media/image96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5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12" Type="http://schemas.openxmlformats.org/officeDocument/2006/relationships/image" Target="../media/image101.png"/><Relationship Id="rId17" Type="http://schemas.openxmlformats.org/officeDocument/2006/relationships/image" Target="../media/image99.png"/><Relationship Id="rId2" Type="http://schemas.openxmlformats.org/officeDocument/2006/relationships/image" Target="../media/image84.png"/><Relationship Id="rId16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11" Type="http://schemas.openxmlformats.org/officeDocument/2006/relationships/image" Target="../media/image100.png"/><Relationship Id="rId5" Type="http://schemas.openxmlformats.org/officeDocument/2006/relationships/image" Target="../media/image87.png"/><Relationship Id="rId15" Type="http://schemas.openxmlformats.org/officeDocument/2006/relationships/image" Target="../media/image103.pn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Relationship Id="rId14" Type="http://schemas.openxmlformats.org/officeDocument/2006/relationships/image" Target="../media/image102.png"/></Relationships>
</file>

<file path=ppt/slides/_rels/slide51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12.png"/><Relationship Id="rId26" Type="http://schemas.openxmlformats.org/officeDocument/2006/relationships/image" Target="../media/image121.png"/><Relationship Id="rId39" Type="http://schemas.openxmlformats.org/officeDocument/2006/relationships/image" Target="../media/image134.png"/><Relationship Id="rId3" Type="http://schemas.openxmlformats.org/officeDocument/2006/relationships/image" Target="../media/image106.png"/><Relationship Id="rId21" Type="http://schemas.openxmlformats.org/officeDocument/2006/relationships/image" Target="../media/image115.png"/><Relationship Id="rId34" Type="http://schemas.openxmlformats.org/officeDocument/2006/relationships/image" Target="../media/image129.png"/><Relationship Id="rId17" Type="http://schemas.openxmlformats.org/officeDocument/2006/relationships/image" Target="../media/image111.png"/><Relationship Id="rId25" Type="http://schemas.openxmlformats.org/officeDocument/2006/relationships/image" Target="../media/image120.png"/><Relationship Id="rId33" Type="http://schemas.openxmlformats.org/officeDocument/2006/relationships/image" Target="../media/image128.png"/><Relationship Id="rId38" Type="http://schemas.openxmlformats.org/officeDocument/2006/relationships/image" Target="../media/image133.png"/><Relationship Id="rId2" Type="http://schemas.openxmlformats.org/officeDocument/2006/relationships/image" Target="../media/image105.png"/><Relationship Id="rId16" Type="http://schemas.openxmlformats.org/officeDocument/2006/relationships/image" Target="../media/image110.png"/><Relationship Id="rId20" Type="http://schemas.openxmlformats.org/officeDocument/2006/relationships/image" Target="../media/image114.png"/><Relationship Id="rId29" Type="http://schemas.openxmlformats.org/officeDocument/2006/relationships/image" Target="../media/image124.png"/><Relationship Id="rId41" Type="http://schemas.openxmlformats.org/officeDocument/2006/relationships/image" Target="../media/image1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24" Type="http://schemas.openxmlformats.org/officeDocument/2006/relationships/image" Target="../media/image119.png"/><Relationship Id="rId32" Type="http://schemas.openxmlformats.org/officeDocument/2006/relationships/image" Target="../media/image127.png"/><Relationship Id="rId37" Type="http://schemas.openxmlformats.org/officeDocument/2006/relationships/image" Target="../media/image132.png"/><Relationship Id="rId40" Type="http://schemas.openxmlformats.org/officeDocument/2006/relationships/image" Target="../media/image135.png"/><Relationship Id="rId5" Type="http://schemas.openxmlformats.org/officeDocument/2006/relationships/image" Target="../media/image108.png"/><Relationship Id="rId15" Type="http://schemas.openxmlformats.org/officeDocument/2006/relationships/image" Target="../media/image118.png"/><Relationship Id="rId23" Type="http://schemas.openxmlformats.org/officeDocument/2006/relationships/image" Target="../media/image117.png"/><Relationship Id="rId28" Type="http://schemas.openxmlformats.org/officeDocument/2006/relationships/image" Target="../media/image123.png"/><Relationship Id="rId36" Type="http://schemas.openxmlformats.org/officeDocument/2006/relationships/image" Target="../media/image131.png"/><Relationship Id="rId19" Type="http://schemas.openxmlformats.org/officeDocument/2006/relationships/image" Target="../media/image113.png"/><Relationship Id="rId31" Type="http://schemas.openxmlformats.org/officeDocument/2006/relationships/image" Target="../media/image126.png"/><Relationship Id="rId4" Type="http://schemas.openxmlformats.org/officeDocument/2006/relationships/image" Target="../media/image107.png"/><Relationship Id="rId22" Type="http://schemas.openxmlformats.org/officeDocument/2006/relationships/image" Target="../media/image116.png"/><Relationship Id="rId27" Type="http://schemas.openxmlformats.org/officeDocument/2006/relationships/image" Target="../media/image122.png"/><Relationship Id="rId30" Type="http://schemas.openxmlformats.org/officeDocument/2006/relationships/image" Target="../media/image125.png"/><Relationship Id="rId35" Type="http://schemas.openxmlformats.org/officeDocument/2006/relationships/image" Target="../media/image130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3" Type="http://schemas.openxmlformats.org/officeDocument/2006/relationships/image" Target="../media/image138.png"/><Relationship Id="rId7" Type="http://schemas.openxmlformats.org/officeDocument/2006/relationships/image" Target="../media/image142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.png"/><Relationship Id="rId5" Type="http://schemas.openxmlformats.org/officeDocument/2006/relationships/image" Target="../media/image140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5"/>
          <p:cNvSpPr txBox="1">
            <a:spLocks/>
          </p:cNvSpPr>
          <p:nvPr/>
        </p:nvSpPr>
        <p:spPr>
          <a:xfrm>
            <a:off x="838200" y="2282825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Design and Analysis of Algorithms</a:t>
            </a:r>
            <a:br>
              <a:rPr lang="en-US" altLang="zh-CN" sz="3200" dirty="0"/>
            </a:br>
            <a:r>
              <a:rPr lang="en-US" altLang="zh-CN" sz="3200" dirty="0"/>
              <a:t>Single-source shortest paths, all-pairs shortest paths</a:t>
            </a:r>
            <a:endParaRPr lang="zh-CN" altLang="en-US" sz="3200" dirty="0"/>
          </a:p>
        </p:txBody>
      </p:sp>
      <p:sp>
        <p:nvSpPr>
          <p:cNvPr id="5" name="副标题 6"/>
          <p:cNvSpPr txBox="1">
            <a:spLocks/>
          </p:cNvSpPr>
          <p:nvPr/>
        </p:nvSpPr>
        <p:spPr>
          <a:xfrm>
            <a:off x="1524000" y="4038600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Presented By</a:t>
            </a:r>
            <a:b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Muhammad Atif Tahir</a:t>
            </a:r>
          </a:p>
          <a:p>
            <a:pPr>
              <a:defRPr/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Slides from: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Haidong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Xue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and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Dr.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Fethi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Jarray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47272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F943FACF-C5E2-4CD3-9553-EA99B862C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Shortest-Path Problems</a:t>
            </a:r>
            <a:r>
              <a:rPr lang="en-US" altLang="en-US"/>
              <a:t>		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C7ECE217-B684-40E1-AE49-FCD0E113C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895850"/>
          </a:xfrm>
        </p:spPr>
        <p:txBody>
          <a:bodyPr/>
          <a:lstStyle/>
          <a:p>
            <a:pPr lvl="1" eaLnBrk="1" hangingPunct="1"/>
            <a:r>
              <a:rPr lang="en-US" altLang="en-US" b="1" dirty="0"/>
              <a:t>Single-source. </a:t>
            </a:r>
            <a:r>
              <a:rPr lang="en-US" altLang="en-US" dirty="0"/>
              <a:t>Find a shortest path from a given source  to each of the vertices</a:t>
            </a:r>
          </a:p>
          <a:p>
            <a:pPr lvl="1" eaLnBrk="1" hangingPunct="1">
              <a:buFont typeface="Wingdings 3" panose="05040102010807070707" pitchFamily="18" charset="2"/>
              <a:buNone/>
            </a:pPr>
            <a:r>
              <a:rPr lang="en-US" altLang="en-US" dirty="0"/>
              <a:t> </a:t>
            </a:r>
          </a:p>
          <a:p>
            <a:pPr lvl="1" eaLnBrk="1" hangingPunct="1"/>
            <a:r>
              <a:rPr lang="en-US" altLang="en-US" b="1" dirty="0"/>
              <a:t>Single-pair. </a:t>
            </a:r>
            <a:r>
              <a:rPr lang="en-US" altLang="en-US" dirty="0"/>
              <a:t>Given two vertices, find a shortest path between them. Solution to single-source problem solves this problem efficiently, too</a:t>
            </a:r>
          </a:p>
          <a:p>
            <a:pPr lvl="1" eaLnBrk="1" hangingPunct="1">
              <a:buFont typeface="Wingdings 3" panose="05040102010807070707" pitchFamily="18" charset="2"/>
              <a:buNone/>
            </a:pPr>
            <a:endParaRPr lang="en-US" altLang="en-US" dirty="0"/>
          </a:p>
          <a:p>
            <a:pPr lvl="1" eaLnBrk="1" hangingPunct="1"/>
            <a:r>
              <a:rPr lang="en-US" altLang="en-US" b="1" dirty="0"/>
              <a:t>All-pairs. </a:t>
            </a:r>
            <a:r>
              <a:rPr lang="en-US" altLang="en-US" dirty="0"/>
              <a:t>Find shortest-paths for every pair of vertices</a:t>
            </a:r>
          </a:p>
        </p:txBody>
      </p:sp>
    </p:spTree>
    <p:extLst>
      <p:ext uri="{BB962C8B-B14F-4D97-AF65-F5344CB8AC3E}">
        <p14:creationId xmlns:p14="http://schemas.microsoft.com/office/powerpoint/2010/main" val="1079706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Single-source shortest paths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47800"/>
                <a:ext cx="8229600" cy="46783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 </a:t>
                </a:r>
                <a:r>
                  <a:rPr lang="en-US" b="1" dirty="0"/>
                  <a:t>path</a:t>
                </a:r>
                <a:r>
                  <a:rPr lang="en-US" dirty="0"/>
                  <a:t> of a weighted, directed graph is a sequence of vertices: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, …,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i="1" dirty="0" smtClean="0">
                        <a:latin typeface="Cambria Math"/>
                      </a:rPr>
                      <m:t>&gt;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The </a:t>
                </a:r>
                <a:r>
                  <a:rPr lang="en-US" b="1" dirty="0"/>
                  <a:t>weight of a path </a:t>
                </a:r>
                <a:r>
                  <a:rPr lang="en-US" dirty="0"/>
                  <a:t>is the sum of weights of edges that make the path: </a:t>
                </a:r>
              </a:p>
              <a:p>
                <a:pPr marL="400050" lvl="1" indent="0">
                  <a:buNone/>
                </a:pPr>
                <a:r>
                  <a:rPr lang="en-US" dirty="0"/>
                  <a:t>weight(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, …,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&gt;</m:t>
                    </m:r>
                  </m:oMath>
                </a14:m>
                <a:r>
                  <a:rPr lang="en-US" dirty="0"/>
                  <a:t> )=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dirty="0" smtClean="0">
                            <a:latin typeface="Cambria Math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b="0" i="1" dirty="0" smtClean="0">
                            <a:latin typeface="Cambria Math"/>
                          </a:rPr>
                          <m:t>𝑘</m:t>
                        </m:r>
                        <m:r>
                          <a:rPr lang="en-US" b="0" i="1" dirty="0" smtClean="0">
                            <a:latin typeface="Cambria Math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dirty="0" smtClean="0">
                                <a:latin typeface="Cambria Math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b="0" i="1" dirty="0" smtClean="0">
                                <a:latin typeface="Cambria Math"/>
                              </a:rPr>
                              <m:t>)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47800"/>
                <a:ext cx="8229600" cy="4678363"/>
              </a:xfrm>
              <a:blipFill rotWithShape="1">
                <a:blip r:embed="rId2"/>
                <a:stretch>
                  <a:fillRect l="-1630" t="-1695" r="-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2109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Single-source shortest paths</a:t>
            </a:r>
          </a:p>
        </p:txBody>
      </p:sp>
      <p:sp>
        <p:nvSpPr>
          <p:cNvPr id="5" name="Oval 4"/>
          <p:cNvSpPr/>
          <p:nvPr/>
        </p:nvSpPr>
        <p:spPr>
          <a:xfrm>
            <a:off x="2086468" y="2971052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3591664" y="1981748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5771685" y="1981748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9" name="Oval 8"/>
          <p:cNvSpPr/>
          <p:nvPr/>
        </p:nvSpPr>
        <p:spPr>
          <a:xfrm>
            <a:off x="3591664" y="3888629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0" name="Oval 9"/>
          <p:cNvSpPr/>
          <p:nvPr/>
        </p:nvSpPr>
        <p:spPr>
          <a:xfrm>
            <a:off x="5771685" y="3961935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1" name="Curved Connector 10"/>
          <p:cNvCxnSpPr>
            <a:stCxn id="5" idx="7"/>
            <a:endCxn id="6" idx="2"/>
          </p:cNvCxnSpPr>
          <p:nvPr/>
        </p:nvCxnSpPr>
        <p:spPr>
          <a:xfrm flipV="1">
            <a:off x="2476713" y="2210348"/>
            <a:ext cx="1114951" cy="82765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Curved Connector 13"/>
          <p:cNvCxnSpPr>
            <a:stCxn id="6" idx="5"/>
            <a:endCxn id="9" idx="7"/>
          </p:cNvCxnSpPr>
          <p:nvPr/>
        </p:nvCxnSpPr>
        <p:spPr>
          <a:xfrm rot="5400000">
            <a:off x="3190114" y="3163788"/>
            <a:ext cx="1583591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Curved Connector 10"/>
          <p:cNvCxnSpPr>
            <a:stCxn id="5" idx="5"/>
            <a:endCxn id="9" idx="2"/>
          </p:cNvCxnSpPr>
          <p:nvPr/>
        </p:nvCxnSpPr>
        <p:spPr>
          <a:xfrm>
            <a:off x="2476713" y="3361297"/>
            <a:ext cx="1114951" cy="7559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Curved Connector 10"/>
          <p:cNvCxnSpPr>
            <a:stCxn id="9" idx="5"/>
            <a:endCxn id="10" idx="3"/>
          </p:cNvCxnSpPr>
          <p:nvPr/>
        </p:nvCxnSpPr>
        <p:spPr>
          <a:xfrm rot="16200000" flipH="1">
            <a:off x="4873621" y="3387161"/>
            <a:ext cx="73306" cy="1856731"/>
          </a:xfrm>
          <a:prstGeom prst="curvedConnector3">
            <a:avLst>
              <a:gd name="adj1" fmla="val 50318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Curved Connector 10"/>
          <p:cNvCxnSpPr>
            <a:stCxn id="6" idx="7"/>
            <a:endCxn id="7" idx="1"/>
          </p:cNvCxnSpPr>
          <p:nvPr/>
        </p:nvCxnSpPr>
        <p:spPr>
          <a:xfrm rot="5400000" flipH="1" flipV="1">
            <a:off x="4910274" y="1120338"/>
            <a:ext cx="12700" cy="1856731"/>
          </a:xfrm>
          <a:prstGeom prst="curvedConnector3">
            <a:avLst>
              <a:gd name="adj1" fmla="val 2327205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Curved Connector 27"/>
          <p:cNvCxnSpPr>
            <a:stCxn id="10" idx="1"/>
            <a:endCxn id="7" idx="3"/>
          </p:cNvCxnSpPr>
          <p:nvPr/>
        </p:nvCxnSpPr>
        <p:spPr>
          <a:xfrm rot="5400000" flipH="1" flipV="1">
            <a:off x="5010192" y="3200442"/>
            <a:ext cx="1656897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4" name="Curved Connector 43"/>
          <p:cNvCxnSpPr>
            <a:stCxn id="9" idx="1"/>
            <a:endCxn id="6" idx="3"/>
          </p:cNvCxnSpPr>
          <p:nvPr/>
        </p:nvCxnSpPr>
        <p:spPr>
          <a:xfrm rot="5400000" flipH="1" flipV="1">
            <a:off x="2866824" y="3163789"/>
            <a:ext cx="1583591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9" name="Curved Connector 10"/>
          <p:cNvCxnSpPr>
            <a:stCxn id="9" idx="6"/>
            <a:endCxn id="7" idx="2"/>
          </p:cNvCxnSpPr>
          <p:nvPr/>
        </p:nvCxnSpPr>
        <p:spPr>
          <a:xfrm flipV="1">
            <a:off x="4048864" y="2210348"/>
            <a:ext cx="1722821" cy="190688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Curved Connector 10"/>
          <p:cNvCxnSpPr>
            <a:stCxn id="10" idx="2"/>
            <a:endCxn id="5" idx="6"/>
          </p:cNvCxnSpPr>
          <p:nvPr/>
        </p:nvCxnSpPr>
        <p:spPr>
          <a:xfrm flipH="1" flipV="1">
            <a:off x="2543668" y="3199652"/>
            <a:ext cx="3228017" cy="99088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5" name="Curved Connector 54"/>
          <p:cNvCxnSpPr>
            <a:stCxn id="7" idx="5"/>
            <a:endCxn id="10" idx="7"/>
          </p:cNvCxnSpPr>
          <p:nvPr/>
        </p:nvCxnSpPr>
        <p:spPr>
          <a:xfrm rot="5400000">
            <a:off x="5333482" y="3200441"/>
            <a:ext cx="1656897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2579178" y="2346651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436428" y="3580852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390891" y="2773163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3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975559" y="2773164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701937" y="1393114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572000" y="4593514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176827" y="3018016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816869" y="2676056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9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795944" y="3677161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7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556998" y="3045764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6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692037" y="4926216"/>
            <a:ext cx="601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Given this weighted, directed graph, what is the weight of path: &lt;1, 2, 4&gt;?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703543" y="5687226"/>
            <a:ext cx="601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10+2=12</a:t>
            </a:r>
          </a:p>
        </p:txBody>
      </p:sp>
    </p:spTree>
    <p:extLst>
      <p:ext uri="{BB962C8B-B14F-4D97-AF65-F5344CB8AC3E}">
        <p14:creationId xmlns:p14="http://schemas.microsoft.com/office/powerpoint/2010/main" val="1665331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Single-source shortest paths</a:t>
            </a:r>
          </a:p>
        </p:txBody>
      </p:sp>
      <p:sp>
        <p:nvSpPr>
          <p:cNvPr id="5" name="Oval 4"/>
          <p:cNvSpPr/>
          <p:nvPr/>
        </p:nvSpPr>
        <p:spPr>
          <a:xfrm>
            <a:off x="2086468" y="2971052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3591664" y="1981748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5771685" y="1981748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9" name="Oval 8"/>
          <p:cNvSpPr/>
          <p:nvPr/>
        </p:nvSpPr>
        <p:spPr>
          <a:xfrm>
            <a:off x="3591664" y="3888629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0" name="Oval 9"/>
          <p:cNvSpPr/>
          <p:nvPr/>
        </p:nvSpPr>
        <p:spPr>
          <a:xfrm>
            <a:off x="5771685" y="3961935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1" name="Curved Connector 10"/>
          <p:cNvCxnSpPr>
            <a:stCxn id="5" idx="7"/>
            <a:endCxn id="6" idx="2"/>
          </p:cNvCxnSpPr>
          <p:nvPr/>
        </p:nvCxnSpPr>
        <p:spPr>
          <a:xfrm flipV="1">
            <a:off x="2476713" y="2210348"/>
            <a:ext cx="1114951" cy="82765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Curved Connector 13"/>
          <p:cNvCxnSpPr>
            <a:stCxn id="6" idx="5"/>
            <a:endCxn id="9" idx="7"/>
          </p:cNvCxnSpPr>
          <p:nvPr/>
        </p:nvCxnSpPr>
        <p:spPr>
          <a:xfrm rot="5400000">
            <a:off x="3190114" y="3163788"/>
            <a:ext cx="1583591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Curved Connector 10"/>
          <p:cNvCxnSpPr>
            <a:stCxn id="5" idx="5"/>
            <a:endCxn id="9" idx="2"/>
          </p:cNvCxnSpPr>
          <p:nvPr/>
        </p:nvCxnSpPr>
        <p:spPr>
          <a:xfrm>
            <a:off x="2476713" y="3361297"/>
            <a:ext cx="1114951" cy="7559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Curved Connector 10"/>
          <p:cNvCxnSpPr>
            <a:stCxn id="9" idx="5"/>
            <a:endCxn id="10" idx="3"/>
          </p:cNvCxnSpPr>
          <p:nvPr/>
        </p:nvCxnSpPr>
        <p:spPr>
          <a:xfrm rot="16200000" flipH="1">
            <a:off x="4873621" y="3387161"/>
            <a:ext cx="73306" cy="1856731"/>
          </a:xfrm>
          <a:prstGeom prst="curvedConnector3">
            <a:avLst>
              <a:gd name="adj1" fmla="val 50318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Curved Connector 10"/>
          <p:cNvCxnSpPr>
            <a:stCxn id="6" idx="7"/>
            <a:endCxn id="7" idx="1"/>
          </p:cNvCxnSpPr>
          <p:nvPr/>
        </p:nvCxnSpPr>
        <p:spPr>
          <a:xfrm rot="5400000" flipH="1" flipV="1">
            <a:off x="4910274" y="1120338"/>
            <a:ext cx="12700" cy="1856731"/>
          </a:xfrm>
          <a:prstGeom prst="curvedConnector3">
            <a:avLst>
              <a:gd name="adj1" fmla="val 2327205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Curved Connector 27"/>
          <p:cNvCxnSpPr>
            <a:stCxn id="10" idx="1"/>
            <a:endCxn id="7" idx="3"/>
          </p:cNvCxnSpPr>
          <p:nvPr/>
        </p:nvCxnSpPr>
        <p:spPr>
          <a:xfrm rot="5400000" flipH="1" flipV="1">
            <a:off x="5010192" y="3200442"/>
            <a:ext cx="1656897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4" name="Curved Connector 43"/>
          <p:cNvCxnSpPr>
            <a:stCxn id="9" idx="1"/>
            <a:endCxn id="6" idx="3"/>
          </p:cNvCxnSpPr>
          <p:nvPr/>
        </p:nvCxnSpPr>
        <p:spPr>
          <a:xfrm rot="5400000" flipH="1" flipV="1">
            <a:off x="2866824" y="3163789"/>
            <a:ext cx="1583591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9" name="Curved Connector 10"/>
          <p:cNvCxnSpPr>
            <a:stCxn id="9" idx="6"/>
            <a:endCxn id="7" idx="2"/>
          </p:cNvCxnSpPr>
          <p:nvPr/>
        </p:nvCxnSpPr>
        <p:spPr>
          <a:xfrm flipV="1">
            <a:off x="4048864" y="2210348"/>
            <a:ext cx="1722821" cy="190688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Curved Connector 10"/>
          <p:cNvCxnSpPr>
            <a:stCxn id="10" idx="2"/>
            <a:endCxn id="5" idx="6"/>
          </p:cNvCxnSpPr>
          <p:nvPr/>
        </p:nvCxnSpPr>
        <p:spPr>
          <a:xfrm flipH="1" flipV="1">
            <a:off x="2543668" y="3199652"/>
            <a:ext cx="3228017" cy="99088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5" name="Curved Connector 54"/>
          <p:cNvCxnSpPr>
            <a:stCxn id="7" idx="5"/>
            <a:endCxn id="10" idx="7"/>
          </p:cNvCxnSpPr>
          <p:nvPr/>
        </p:nvCxnSpPr>
        <p:spPr>
          <a:xfrm rot="5400000">
            <a:off x="5333482" y="3200441"/>
            <a:ext cx="1656897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2579178" y="2346651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436428" y="3580852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390891" y="2773163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3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975559" y="2773164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701937" y="1393114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572000" y="4593514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176827" y="3018016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816869" y="2676056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9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795944" y="3677161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7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556998" y="3045764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6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692037" y="4926216"/>
            <a:ext cx="601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Given this weighted, directed graph, what is the weight of path: &lt;1, 2, 4, 2, 4&gt;?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703543" y="5687226"/>
            <a:ext cx="601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10+2 + 3 + 2 = 17</a:t>
            </a:r>
          </a:p>
        </p:txBody>
      </p:sp>
    </p:spTree>
    <p:extLst>
      <p:ext uri="{BB962C8B-B14F-4D97-AF65-F5344CB8AC3E}">
        <p14:creationId xmlns:p14="http://schemas.microsoft.com/office/powerpoint/2010/main" val="1868209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Single-source shortest paths</a:t>
            </a:r>
          </a:p>
        </p:txBody>
      </p:sp>
      <p:sp>
        <p:nvSpPr>
          <p:cNvPr id="5" name="Oval 4"/>
          <p:cNvSpPr/>
          <p:nvPr/>
        </p:nvSpPr>
        <p:spPr>
          <a:xfrm>
            <a:off x="2086468" y="2971052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3591664" y="1981748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5771685" y="1981748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9" name="Oval 8"/>
          <p:cNvSpPr/>
          <p:nvPr/>
        </p:nvSpPr>
        <p:spPr>
          <a:xfrm>
            <a:off x="3591664" y="3888629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0" name="Oval 9"/>
          <p:cNvSpPr/>
          <p:nvPr/>
        </p:nvSpPr>
        <p:spPr>
          <a:xfrm>
            <a:off x="5771685" y="3961935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1" name="Curved Connector 10"/>
          <p:cNvCxnSpPr>
            <a:stCxn id="5" idx="7"/>
            <a:endCxn id="6" idx="2"/>
          </p:cNvCxnSpPr>
          <p:nvPr/>
        </p:nvCxnSpPr>
        <p:spPr>
          <a:xfrm flipV="1">
            <a:off x="2476713" y="2210348"/>
            <a:ext cx="1114951" cy="82765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Curved Connector 13"/>
          <p:cNvCxnSpPr>
            <a:stCxn id="6" idx="5"/>
            <a:endCxn id="9" idx="7"/>
          </p:cNvCxnSpPr>
          <p:nvPr/>
        </p:nvCxnSpPr>
        <p:spPr>
          <a:xfrm rot="5400000">
            <a:off x="3190114" y="3163788"/>
            <a:ext cx="1583591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Curved Connector 10"/>
          <p:cNvCxnSpPr>
            <a:stCxn id="5" idx="5"/>
            <a:endCxn id="9" idx="2"/>
          </p:cNvCxnSpPr>
          <p:nvPr/>
        </p:nvCxnSpPr>
        <p:spPr>
          <a:xfrm>
            <a:off x="2476713" y="3361297"/>
            <a:ext cx="1114951" cy="7559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Curved Connector 10"/>
          <p:cNvCxnSpPr>
            <a:stCxn id="9" idx="5"/>
            <a:endCxn id="10" idx="3"/>
          </p:cNvCxnSpPr>
          <p:nvPr/>
        </p:nvCxnSpPr>
        <p:spPr>
          <a:xfrm rot="16200000" flipH="1">
            <a:off x="4873621" y="3387161"/>
            <a:ext cx="73306" cy="1856731"/>
          </a:xfrm>
          <a:prstGeom prst="curvedConnector3">
            <a:avLst>
              <a:gd name="adj1" fmla="val 50318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Curved Connector 10"/>
          <p:cNvCxnSpPr>
            <a:stCxn id="6" idx="7"/>
            <a:endCxn id="7" idx="1"/>
          </p:cNvCxnSpPr>
          <p:nvPr/>
        </p:nvCxnSpPr>
        <p:spPr>
          <a:xfrm rot="5400000" flipH="1" flipV="1">
            <a:off x="4910274" y="1120338"/>
            <a:ext cx="12700" cy="1856731"/>
          </a:xfrm>
          <a:prstGeom prst="curvedConnector3">
            <a:avLst>
              <a:gd name="adj1" fmla="val 2327205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Curved Connector 27"/>
          <p:cNvCxnSpPr>
            <a:stCxn id="10" idx="1"/>
            <a:endCxn id="7" idx="3"/>
          </p:cNvCxnSpPr>
          <p:nvPr/>
        </p:nvCxnSpPr>
        <p:spPr>
          <a:xfrm rot="5400000" flipH="1" flipV="1">
            <a:off x="5010192" y="3200442"/>
            <a:ext cx="1656897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4" name="Curved Connector 43"/>
          <p:cNvCxnSpPr>
            <a:stCxn id="9" idx="1"/>
            <a:endCxn id="6" idx="3"/>
          </p:cNvCxnSpPr>
          <p:nvPr/>
        </p:nvCxnSpPr>
        <p:spPr>
          <a:xfrm rot="5400000" flipH="1" flipV="1">
            <a:off x="2866824" y="3163789"/>
            <a:ext cx="1583591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9" name="Curved Connector 10"/>
          <p:cNvCxnSpPr>
            <a:stCxn id="9" idx="6"/>
            <a:endCxn id="7" idx="2"/>
          </p:cNvCxnSpPr>
          <p:nvPr/>
        </p:nvCxnSpPr>
        <p:spPr>
          <a:xfrm flipV="1">
            <a:off x="4048864" y="2210348"/>
            <a:ext cx="1722821" cy="190688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Curved Connector 10"/>
          <p:cNvCxnSpPr>
            <a:stCxn id="10" idx="2"/>
            <a:endCxn id="5" idx="6"/>
          </p:cNvCxnSpPr>
          <p:nvPr/>
        </p:nvCxnSpPr>
        <p:spPr>
          <a:xfrm flipH="1" flipV="1">
            <a:off x="2543668" y="3199652"/>
            <a:ext cx="3228017" cy="99088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5" name="Curved Connector 54"/>
          <p:cNvCxnSpPr>
            <a:stCxn id="7" idx="5"/>
            <a:endCxn id="10" idx="7"/>
          </p:cNvCxnSpPr>
          <p:nvPr/>
        </p:nvCxnSpPr>
        <p:spPr>
          <a:xfrm rot="5400000">
            <a:off x="5333482" y="3200441"/>
            <a:ext cx="1656897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2579178" y="2346651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436428" y="3580852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390891" y="2773163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3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975559" y="2773164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732618" y="1401938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572000" y="4593514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176827" y="3018016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816869" y="2676056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9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795944" y="3677161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7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556998" y="3045764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6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692037" y="4926216"/>
            <a:ext cx="601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Given this weighted, directed graph, what is the weight of path: &lt;1, 2, 4, 1&gt;?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/>
              <p:cNvSpPr txBox="1"/>
              <p:nvPr/>
            </p:nvSpPr>
            <p:spPr>
              <a:xfrm>
                <a:off x="1703543" y="5687226"/>
                <a:ext cx="6019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10 + 2 +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∞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∞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1" name="TextBox 1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543" y="5687226"/>
                <a:ext cx="6019800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810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4883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Single-source shortest paths</a:t>
            </a:r>
          </a:p>
        </p:txBody>
      </p:sp>
      <p:sp>
        <p:nvSpPr>
          <p:cNvPr id="5" name="Oval 4"/>
          <p:cNvSpPr/>
          <p:nvPr/>
        </p:nvSpPr>
        <p:spPr>
          <a:xfrm>
            <a:off x="2086468" y="2971052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3591664" y="1981748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5771685" y="1981748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9" name="Oval 8"/>
          <p:cNvSpPr/>
          <p:nvPr/>
        </p:nvSpPr>
        <p:spPr>
          <a:xfrm>
            <a:off x="3591664" y="3888629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0" name="Oval 9"/>
          <p:cNvSpPr/>
          <p:nvPr/>
        </p:nvSpPr>
        <p:spPr>
          <a:xfrm>
            <a:off x="5771685" y="3961935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1" name="Curved Connector 10"/>
          <p:cNvCxnSpPr>
            <a:stCxn id="5" idx="7"/>
            <a:endCxn id="6" idx="2"/>
          </p:cNvCxnSpPr>
          <p:nvPr/>
        </p:nvCxnSpPr>
        <p:spPr>
          <a:xfrm flipV="1">
            <a:off x="2476713" y="2210348"/>
            <a:ext cx="1114951" cy="82765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Curved Connector 13"/>
          <p:cNvCxnSpPr>
            <a:stCxn id="6" idx="5"/>
            <a:endCxn id="9" idx="7"/>
          </p:cNvCxnSpPr>
          <p:nvPr/>
        </p:nvCxnSpPr>
        <p:spPr>
          <a:xfrm rot="5400000">
            <a:off x="3190114" y="3163788"/>
            <a:ext cx="1583591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Curved Connector 10"/>
          <p:cNvCxnSpPr>
            <a:stCxn id="5" idx="5"/>
            <a:endCxn id="9" idx="2"/>
          </p:cNvCxnSpPr>
          <p:nvPr/>
        </p:nvCxnSpPr>
        <p:spPr>
          <a:xfrm>
            <a:off x="2476713" y="3361297"/>
            <a:ext cx="1114951" cy="7559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Curved Connector 10"/>
          <p:cNvCxnSpPr>
            <a:stCxn id="9" idx="5"/>
            <a:endCxn id="10" idx="3"/>
          </p:cNvCxnSpPr>
          <p:nvPr/>
        </p:nvCxnSpPr>
        <p:spPr>
          <a:xfrm rot="16200000" flipH="1">
            <a:off x="4873621" y="3387161"/>
            <a:ext cx="73306" cy="1856731"/>
          </a:xfrm>
          <a:prstGeom prst="curvedConnector3">
            <a:avLst>
              <a:gd name="adj1" fmla="val 50318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Curved Connector 10"/>
          <p:cNvCxnSpPr>
            <a:stCxn id="6" idx="7"/>
            <a:endCxn id="7" idx="1"/>
          </p:cNvCxnSpPr>
          <p:nvPr/>
        </p:nvCxnSpPr>
        <p:spPr>
          <a:xfrm rot="5400000" flipH="1" flipV="1">
            <a:off x="4910274" y="1120338"/>
            <a:ext cx="12700" cy="1856731"/>
          </a:xfrm>
          <a:prstGeom prst="curvedConnector3">
            <a:avLst>
              <a:gd name="adj1" fmla="val 2327205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Curved Connector 27"/>
          <p:cNvCxnSpPr>
            <a:stCxn id="10" idx="1"/>
            <a:endCxn id="7" idx="3"/>
          </p:cNvCxnSpPr>
          <p:nvPr/>
        </p:nvCxnSpPr>
        <p:spPr>
          <a:xfrm rot="5400000" flipH="1" flipV="1">
            <a:off x="5010192" y="3200442"/>
            <a:ext cx="1656897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4" name="Curved Connector 43"/>
          <p:cNvCxnSpPr>
            <a:stCxn id="9" idx="1"/>
            <a:endCxn id="6" idx="3"/>
          </p:cNvCxnSpPr>
          <p:nvPr/>
        </p:nvCxnSpPr>
        <p:spPr>
          <a:xfrm rot="5400000" flipH="1" flipV="1">
            <a:off x="2866824" y="3163789"/>
            <a:ext cx="1583591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9" name="Curved Connector 10"/>
          <p:cNvCxnSpPr>
            <a:stCxn id="9" idx="6"/>
            <a:endCxn id="7" idx="2"/>
          </p:cNvCxnSpPr>
          <p:nvPr/>
        </p:nvCxnSpPr>
        <p:spPr>
          <a:xfrm flipV="1">
            <a:off x="4048864" y="2210348"/>
            <a:ext cx="1722821" cy="190688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Curved Connector 10"/>
          <p:cNvCxnSpPr>
            <a:stCxn id="10" idx="2"/>
            <a:endCxn id="5" idx="6"/>
          </p:cNvCxnSpPr>
          <p:nvPr/>
        </p:nvCxnSpPr>
        <p:spPr>
          <a:xfrm flipH="1" flipV="1">
            <a:off x="2543668" y="3199652"/>
            <a:ext cx="3228017" cy="99088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5" name="Curved Connector 54"/>
          <p:cNvCxnSpPr>
            <a:stCxn id="7" idx="5"/>
            <a:endCxn id="10" idx="7"/>
          </p:cNvCxnSpPr>
          <p:nvPr/>
        </p:nvCxnSpPr>
        <p:spPr>
          <a:xfrm rot="5400000">
            <a:off x="5333482" y="3200441"/>
            <a:ext cx="1656897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2579178" y="2346651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436428" y="3580852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390891" y="2773163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3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975559" y="2773164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732618" y="1401938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572000" y="4593514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176827" y="3018016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816869" y="2676056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9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795944" y="3677161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7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556998" y="3045764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-6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692037" y="4926216"/>
            <a:ext cx="601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Given this weighted, directed graph, what is the weight of path: &lt;5, 3, 5&gt; and &lt;5, 3, 5, 3, 5&gt;??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703543" y="5687226"/>
            <a:ext cx="601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4-6 = -2 and -6+4-6+4 = -4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52114" y="6172200"/>
            <a:ext cx="1738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Negative cycle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5608" y="6172200"/>
            <a:ext cx="3859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is no shortest path from 1 to 5</a:t>
            </a:r>
          </a:p>
        </p:txBody>
      </p:sp>
    </p:spTree>
    <p:extLst>
      <p:ext uri="{BB962C8B-B14F-4D97-AF65-F5344CB8AC3E}">
        <p14:creationId xmlns:p14="http://schemas.microsoft.com/office/powerpoint/2010/main" val="315454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/>
      <p:bldP spid="30" grpId="0"/>
      <p:bldP spid="3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Single-source shortest paths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>
            <a:normAutofit/>
          </a:bodyPr>
          <a:lstStyle/>
          <a:p>
            <a:r>
              <a:rPr lang="en-US" b="1" dirty="0"/>
              <a:t>Shortest path</a:t>
            </a:r>
            <a:r>
              <a:rPr lang="en-US" dirty="0"/>
              <a:t> of a pair of vertices &lt;u, v&gt;: a path from u to v, with minimum path weight  </a:t>
            </a:r>
          </a:p>
          <a:p>
            <a:r>
              <a:rPr lang="en-US" dirty="0"/>
              <a:t>Applications:</a:t>
            </a:r>
          </a:p>
          <a:p>
            <a:pPr lvl="1"/>
            <a:r>
              <a:rPr lang="en-US" dirty="0"/>
              <a:t>Your GPS navigator</a:t>
            </a:r>
          </a:p>
          <a:p>
            <a:pPr lvl="1"/>
            <a:r>
              <a:rPr lang="en-US" dirty="0"/>
              <a:t>If weights are time, it produces the fastest route</a:t>
            </a:r>
          </a:p>
          <a:p>
            <a:pPr lvl="1"/>
            <a:r>
              <a:rPr lang="en-US" dirty="0"/>
              <a:t>If weights are gas cost, it produces the lowest cost route</a:t>
            </a:r>
          </a:p>
          <a:p>
            <a:pPr lvl="1"/>
            <a:r>
              <a:rPr lang="en-US" dirty="0"/>
              <a:t>If weights are distance, it produces the shortest route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8934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Single-source shortest paths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>
            <a:normAutofit/>
          </a:bodyPr>
          <a:lstStyle/>
          <a:p>
            <a:r>
              <a:rPr lang="en-US" b="1" dirty="0"/>
              <a:t>Single-source shortest path problem: </a:t>
            </a:r>
            <a:r>
              <a:rPr lang="en-US" dirty="0"/>
              <a:t>given a </a:t>
            </a:r>
            <a:r>
              <a:rPr lang="en-US" b="1" dirty="0"/>
              <a:t>weighted</a:t>
            </a:r>
            <a:r>
              <a:rPr lang="en-US" dirty="0"/>
              <a:t>, </a:t>
            </a:r>
            <a:r>
              <a:rPr lang="en-US" b="1" dirty="0"/>
              <a:t>directed</a:t>
            </a:r>
            <a:r>
              <a:rPr lang="en-US" dirty="0"/>
              <a:t> graph G=(V, E) with source vertex s, find all the shortest (least weight) paths from s to all vertices in V.</a:t>
            </a:r>
          </a:p>
        </p:txBody>
      </p:sp>
    </p:spTree>
    <p:extLst>
      <p:ext uri="{BB962C8B-B14F-4D97-AF65-F5344CB8AC3E}">
        <p14:creationId xmlns:p14="http://schemas.microsoft.com/office/powerpoint/2010/main" val="3307151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Single-source shortest paths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>
            <a:normAutofit/>
          </a:bodyPr>
          <a:lstStyle/>
          <a:p>
            <a:r>
              <a:rPr lang="en-US" dirty="0"/>
              <a:t>Two classic algorithms to solve single-source shortest path problem</a:t>
            </a:r>
          </a:p>
          <a:p>
            <a:pPr lvl="1"/>
            <a:r>
              <a:rPr lang="en-US" dirty="0"/>
              <a:t>Bellman-Ford algorithm</a:t>
            </a:r>
          </a:p>
          <a:p>
            <a:pPr lvl="2"/>
            <a:r>
              <a:rPr lang="en-US" dirty="0"/>
              <a:t>A dynamic programming algorithm</a:t>
            </a:r>
          </a:p>
          <a:p>
            <a:pPr lvl="2"/>
            <a:r>
              <a:rPr lang="en-US" dirty="0"/>
              <a:t>Works when some weights are negative</a:t>
            </a:r>
          </a:p>
          <a:p>
            <a:pPr lvl="1"/>
            <a:r>
              <a:rPr lang="en-US" dirty="0" err="1"/>
              <a:t>Dijkstra’s</a:t>
            </a:r>
            <a:r>
              <a:rPr lang="en-US" dirty="0"/>
              <a:t> algorithm</a:t>
            </a:r>
          </a:p>
          <a:p>
            <a:pPr lvl="2"/>
            <a:r>
              <a:rPr lang="en-US" dirty="0"/>
              <a:t>A greedy algorithm</a:t>
            </a:r>
          </a:p>
          <a:p>
            <a:pPr lvl="2"/>
            <a:r>
              <a:rPr lang="en-US" dirty="0"/>
              <a:t>Faster than Bellman-Ford</a:t>
            </a:r>
          </a:p>
          <a:p>
            <a:pPr lvl="2"/>
            <a:r>
              <a:rPr lang="en-US" dirty="0"/>
              <a:t>Works when weights are all non-negative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784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Observation:</a:t>
            </a:r>
          </a:p>
          <a:p>
            <a:r>
              <a:rPr lang="en-US" dirty="0"/>
              <a:t>If there is a negative cycle, there is no solution</a:t>
            </a:r>
          </a:p>
          <a:p>
            <a:pPr lvl="1"/>
            <a:r>
              <a:rPr lang="en-US" dirty="0"/>
              <a:t>Add this cycle again can always produces a less weight path</a:t>
            </a:r>
          </a:p>
          <a:p>
            <a:r>
              <a:rPr lang="en-US" dirty="0"/>
              <a:t>If there is no negative cycle, a shortest path has at most |V|-1 edges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Idea:</a:t>
            </a:r>
          </a:p>
          <a:p>
            <a:r>
              <a:rPr lang="en-US" dirty="0"/>
              <a:t>Solve it using dynamic programming</a:t>
            </a:r>
          </a:p>
          <a:p>
            <a:r>
              <a:rPr lang="en-US" dirty="0"/>
              <a:t>For all the paths have at most 0 edge, find all the shortest paths</a:t>
            </a:r>
          </a:p>
          <a:p>
            <a:r>
              <a:rPr lang="en-US" dirty="0"/>
              <a:t>For all the paths have at most 1 edge, find all the shortest paths</a:t>
            </a:r>
          </a:p>
          <a:p>
            <a:r>
              <a:rPr lang="en-US" dirty="0"/>
              <a:t>…</a:t>
            </a:r>
          </a:p>
          <a:p>
            <a:r>
              <a:rPr lang="en-US" dirty="0"/>
              <a:t>For all the paths have at most |V|-1  edge, find all the shortest paths</a:t>
            </a:r>
          </a:p>
        </p:txBody>
      </p:sp>
    </p:spTree>
    <p:extLst>
      <p:ext uri="{BB962C8B-B14F-4D97-AF65-F5344CB8AC3E}">
        <p14:creationId xmlns:p14="http://schemas.microsoft.com/office/powerpoint/2010/main" val="1375224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47800"/>
                <a:ext cx="8229600" cy="5181600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Bellman-Ford</a:t>
                </a:r>
                <a:r>
                  <a:rPr lang="en-US" dirty="0"/>
                  <a:t>(G, s) </a:t>
                </a:r>
              </a:p>
              <a:p>
                <a:pPr marL="400050" lvl="1" indent="0">
                  <a:buNone/>
                </a:pPr>
                <a:r>
                  <a:rPr lang="en-US" dirty="0"/>
                  <a:t>for each v in G.V{</a:t>
                </a:r>
              </a:p>
              <a:p>
                <a:pPr marL="800100" lvl="2" indent="0">
                  <a:buNone/>
                </a:pPr>
                <a:r>
                  <a:rPr lang="en-US" b="1" dirty="0"/>
                  <a:t>if</a:t>
                </a:r>
                <a:r>
                  <a:rPr lang="en-US" dirty="0"/>
                  <a:t>(v==s)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  <m:r>
                          <a:rPr lang="en-US" i="1" dirty="0">
                            <a:latin typeface="Cambria Math"/>
                          </a:rPr>
                          <m:t>,</m:t>
                        </m:r>
                        <m:r>
                          <a:rPr lang="en-US" i="1" dirty="0">
                            <a:latin typeface="Cambria Math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dirty="0"/>
                  <a:t>=0; </a:t>
                </a:r>
                <a:r>
                  <a:rPr lang="en-US" b="1" dirty="0"/>
                  <a:t>else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  <m:r>
                          <a:rPr lang="en-US" i="1" dirty="0">
                            <a:latin typeface="Cambria Math"/>
                          </a:rPr>
                          <m:t>,</m:t>
                        </m:r>
                        <m:r>
                          <a:rPr lang="en-US" i="1" dirty="0">
                            <a:latin typeface="Cambria Math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dirty="0"/>
                  <a:t>=</a:t>
                </a:r>
                <a:r>
                  <a:rPr lang="en-US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  <a:ea typeface="Cambria Math"/>
                      </a:rPr>
                      <m:t>∞</m:t>
                    </m:r>
                    <m:r>
                      <a:rPr lang="en-US" b="0" i="1" dirty="0" smtClean="0">
                        <a:latin typeface="Cambria Math"/>
                        <a:ea typeface="Cambria Math"/>
                      </a:rPr>
                      <m:t>;</m:t>
                    </m:r>
                    <m:r>
                      <a:rPr lang="en-US" i="1" dirty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dirty="0"/>
                  <a:t>//set the 0-edge shortest distance </a:t>
                </a:r>
              </a:p>
              <a:p>
                <a:pPr marL="800100" lvl="2" indent="0">
                  <a:buNone/>
                </a:pPr>
                <a:r>
                  <a:rPr lang="en-US" dirty="0"/>
                  <a:t>                                                        from s to v</a:t>
                </a:r>
              </a:p>
              <a:p>
                <a:pPr marL="800100" lvl="2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  <a:ea typeface="Cambria Math"/>
                          </a:rPr>
                          <m:t>𝜋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  <m:r>
                          <a:rPr lang="en-US" i="1" dirty="0">
                            <a:latin typeface="Cambria Math"/>
                          </a:rPr>
                          <m:t>,</m:t>
                        </m:r>
                        <m:r>
                          <a:rPr lang="en-US" i="1" dirty="0">
                            <a:latin typeface="Cambria Math"/>
                          </a:rPr>
                          <m:t>𝑣</m:t>
                        </m:r>
                      </m:sub>
                    </m:sSub>
                    <m:r>
                      <a:rPr lang="en-US" dirty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/>
                      </a:rPr>
                      <m:t>NIL</m:t>
                    </m:r>
                  </m:oMath>
                </a14:m>
                <a:r>
                  <a:rPr lang="en-US" i="1" dirty="0"/>
                  <a:t>;  //</a:t>
                </a:r>
                <a:r>
                  <a:rPr lang="en-US" dirty="0"/>
                  <a:t>set the predecessor of v on the shortest path</a:t>
                </a:r>
              </a:p>
              <a:p>
                <a:pPr marL="400050" lvl="1" indent="0">
                  <a:buNone/>
                </a:pPr>
                <a:r>
                  <a:rPr lang="en-US" dirty="0"/>
                  <a:t>}</a:t>
                </a:r>
              </a:p>
              <a:p>
                <a:pPr marL="400050" lvl="1" indent="0">
                  <a:buNone/>
                </a:pPr>
                <a:r>
                  <a:rPr lang="en-US" dirty="0"/>
                  <a:t>Repeat |G.V|-1 times {</a:t>
                </a:r>
              </a:p>
              <a:p>
                <a:pPr marL="800100" lvl="2" indent="0">
                  <a:buNone/>
                </a:pPr>
                <a:r>
                  <a:rPr lang="en-US" dirty="0"/>
                  <a:t>for each edge (u, v) in G.E{</a:t>
                </a:r>
              </a:p>
              <a:p>
                <a:pPr marL="1257300" lvl="3" indent="0">
                  <a:buNone/>
                </a:pPr>
                <a:r>
                  <a:rPr lang="en-US" dirty="0"/>
                  <a:t>if(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  <m:r>
                          <a:rPr lang="en-US" i="1" dirty="0">
                            <a:latin typeface="Cambria Math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/>
                          </a:rPr>
                          <m:t>𝑣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  <m:r>
                          <a:rPr lang="en-US" i="1" dirty="0">
                            <a:latin typeface="Cambria Math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(</m:t>
                        </m:r>
                        <m:r>
                          <a:rPr lang="en-US" b="0" i="1" dirty="0" smtClean="0">
                            <a:latin typeface="Cambria Math"/>
                          </a:rPr>
                          <m:t>𝑢</m:t>
                        </m:r>
                        <m:r>
                          <a:rPr lang="en-US" i="1" dirty="0">
                            <a:latin typeface="Cambria Math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/>
                          </a:rPr>
                          <m:t>𝑣</m:t>
                        </m:r>
                        <m:r>
                          <a:rPr lang="en-US" i="1" dirty="0">
                            <a:latin typeface="Cambria Math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dirty="0"/>
                  <a:t>){</a:t>
                </a:r>
              </a:p>
              <a:p>
                <a:pPr marL="1714500" lvl="4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  <m:r>
                          <a:rPr lang="en-US" i="1" dirty="0">
                            <a:latin typeface="Cambria Math"/>
                          </a:rPr>
                          <m:t>,</m:t>
                        </m:r>
                        <m:r>
                          <a:rPr lang="en-US" i="1" dirty="0">
                            <a:latin typeface="Cambria Math"/>
                          </a:rPr>
                          <m:t>𝑣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  <m:r>
                          <a:rPr lang="en-US" i="1" dirty="0">
                            <a:latin typeface="Cambria Math"/>
                          </a:rPr>
                          <m:t>,</m:t>
                        </m:r>
                        <m:r>
                          <a:rPr lang="en-US" i="1" dirty="0">
                            <a:latin typeface="Cambria Math"/>
                          </a:rPr>
                          <m:t>𝑢</m:t>
                        </m:r>
                      </m:sub>
                    </m:sSub>
                    <m:r>
                      <m:rPr>
                        <m:nor/>
                      </m:rPr>
                      <a:rPr lang="en-US" dirty="0"/>
                      <m:t>+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(</m:t>
                        </m:r>
                        <m:r>
                          <a:rPr lang="en-US" i="1" dirty="0">
                            <a:latin typeface="Cambria Math"/>
                          </a:rPr>
                          <m:t>𝑢</m:t>
                        </m:r>
                        <m:r>
                          <a:rPr lang="en-US" i="1" dirty="0">
                            <a:latin typeface="Cambria Math"/>
                          </a:rPr>
                          <m:t>,</m:t>
                        </m:r>
                        <m:r>
                          <a:rPr lang="en-US" i="1" dirty="0">
                            <a:latin typeface="Cambria Math"/>
                          </a:rPr>
                          <m:t>𝑣</m:t>
                        </m:r>
                        <m:r>
                          <a:rPr lang="en-US" i="1" dirty="0">
                            <a:latin typeface="Cambria Math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dirty="0"/>
                  <a:t>;</a:t>
                </a:r>
              </a:p>
              <a:p>
                <a:pPr marL="1714500" lvl="4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  <a:ea typeface="Cambria Math"/>
                          </a:rPr>
                          <m:t>𝜋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  <m:r>
                          <a:rPr lang="en-US" i="1" dirty="0">
                            <a:latin typeface="Cambria Math"/>
                          </a:rPr>
                          <m:t>,</m:t>
                        </m:r>
                        <m:r>
                          <a:rPr lang="en-US" i="1" dirty="0">
                            <a:latin typeface="Cambria Math"/>
                          </a:rPr>
                          <m:t>𝑣</m:t>
                        </m:r>
                      </m:sub>
                    </m:sSub>
                    <m:r>
                      <a:rPr lang="en-US" b="0" i="0" dirty="0" smtClean="0">
                        <a:latin typeface="Cambria Math"/>
                      </a:rPr>
                      <m:t>=</m:t>
                    </m:r>
                    <m:r>
                      <a:rPr lang="en-US" b="0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en-US" i="1" dirty="0"/>
                  <a:t>; </a:t>
                </a:r>
                <a:endParaRPr lang="en-US" dirty="0"/>
              </a:p>
              <a:p>
                <a:pPr marL="1257300" lvl="3" indent="0">
                  <a:buNone/>
                </a:pPr>
                <a:r>
                  <a:rPr lang="en-US" dirty="0"/>
                  <a:t>}</a:t>
                </a:r>
              </a:p>
              <a:p>
                <a:pPr marL="400050" lvl="1" indent="0">
                  <a:buNone/>
                </a:pPr>
                <a:r>
                  <a:rPr lang="en-US" dirty="0"/>
                  <a:t>}</a:t>
                </a:r>
                <a:br>
                  <a:rPr lang="en-US" dirty="0"/>
                </a:br>
                <a:r>
                  <a:rPr lang="en-US" dirty="0"/>
                  <a:t>for each edge (u, v) in G.E{</a:t>
                </a:r>
              </a:p>
              <a:p>
                <a:pPr marL="800100" lvl="2" indent="0">
                  <a:buNone/>
                </a:pPr>
                <a:r>
                  <a:rPr lang="en-US" dirty="0"/>
                  <a:t>If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  <m:r>
                          <a:rPr lang="en-US" i="1" dirty="0">
                            <a:latin typeface="Cambria Math"/>
                          </a:rPr>
                          <m:t>,</m:t>
                        </m:r>
                        <m:r>
                          <a:rPr lang="en-US" i="1" dirty="0">
                            <a:latin typeface="Cambria Math"/>
                          </a:rPr>
                          <m:t>𝑣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  <m:r>
                          <a:rPr lang="en-US" i="1" dirty="0">
                            <a:latin typeface="Cambria Math"/>
                          </a:rPr>
                          <m:t>,</m:t>
                        </m:r>
                        <m:r>
                          <a:rPr lang="en-US" i="1" dirty="0">
                            <a:latin typeface="Cambria Math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(</m:t>
                        </m:r>
                        <m:r>
                          <a:rPr lang="en-US" i="1" dirty="0">
                            <a:latin typeface="Cambria Math"/>
                          </a:rPr>
                          <m:t>𝑢</m:t>
                        </m:r>
                        <m:r>
                          <a:rPr lang="en-US" i="1" dirty="0">
                            <a:latin typeface="Cambria Math"/>
                          </a:rPr>
                          <m:t>,</m:t>
                        </m:r>
                        <m:r>
                          <a:rPr lang="en-US" i="1" dirty="0">
                            <a:latin typeface="Cambria Math"/>
                          </a:rPr>
                          <m:t>𝑣</m:t>
                        </m:r>
                        <m:r>
                          <a:rPr lang="en-US" i="1" dirty="0">
                            <a:latin typeface="Cambria Math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dirty="0"/>
                  <a:t>) return false; // there is no solution</a:t>
                </a:r>
              </a:p>
              <a:p>
                <a:pPr marL="400050" lvl="1" indent="0">
                  <a:buNone/>
                </a:pPr>
                <a:r>
                  <a:rPr lang="en-US" dirty="0"/>
                  <a:t>}</a:t>
                </a:r>
              </a:p>
              <a:p>
                <a:pPr marL="400050" lvl="1" indent="0">
                  <a:buNone/>
                </a:pPr>
                <a:r>
                  <a:rPr lang="en-US" dirty="0"/>
                  <a:t>return true;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47800"/>
                <a:ext cx="8229600" cy="5181600"/>
              </a:xfrm>
              <a:blipFill rotWithShape="1">
                <a:blip r:embed="rId2"/>
                <a:stretch>
                  <a:fillRect l="-889" t="-1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2819400" y="1752600"/>
            <a:ext cx="327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//Initialize 0-edge shortest paths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3124200"/>
            <a:ext cx="586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//bottom-up construct 0-to-(|V|-1)-edges shortest paths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33800" y="4800600"/>
            <a:ext cx="586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//test negative cycle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90600" y="6324600"/>
                <a:ext cx="3962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T(n)=O(VE)=O(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/>
                          </a:rPr>
                          <m:t>𝑉</m:t>
                        </m:r>
                      </m:e>
                      <m:sup>
                        <m:r>
                          <a:rPr lang="en-US" b="0" i="1" dirty="0" smtClean="0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6324600"/>
                <a:ext cx="3962400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385" t="-8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4796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1"/>
            <a:ext cx="8229600" cy="1295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e.g.</a:t>
            </a:r>
          </a:p>
        </p:txBody>
      </p:sp>
      <p:sp>
        <p:nvSpPr>
          <p:cNvPr id="4" name="Oval 3"/>
          <p:cNvSpPr/>
          <p:nvPr/>
        </p:nvSpPr>
        <p:spPr>
          <a:xfrm>
            <a:off x="1953583" y="2538804"/>
            <a:ext cx="457200" cy="4572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3626773" y="2553337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638800" y="2565924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7" name="Curved Connector 10"/>
          <p:cNvCxnSpPr>
            <a:stCxn id="4" idx="6"/>
            <a:endCxn id="5" idx="2"/>
          </p:cNvCxnSpPr>
          <p:nvPr/>
        </p:nvCxnSpPr>
        <p:spPr>
          <a:xfrm>
            <a:off x="2410783" y="2767404"/>
            <a:ext cx="1215990" cy="1453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Curved Connector 10"/>
          <p:cNvCxnSpPr>
            <a:stCxn id="5" idx="6"/>
            <a:endCxn id="6" idx="2"/>
          </p:cNvCxnSpPr>
          <p:nvPr/>
        </p:nvCxnSpPr>
        <p:spPr>
          <a:xfrm>
            <a:off x="4083973" y="2781937"/>
            <a:ext cx="1554827" cy="12587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89405" y="2441902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35836" y="2466893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" y="3429000"/>
            <a:ext cx="495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the 0-edge shortest path from 1 to 1?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600" y="3836514"/>
            <a:ext cx="495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&lt;&gt; with path weight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9146" y="4190070"/>
            <a:ext cx="495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the 0-edge shortest path from 1 to 2?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999146" y="4597584"/>
                <a:ext cx="4953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&lt;&gt; with path weight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∞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146" y="4597584"/>
                <a:ext cx="4953000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1108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/>
          <p:cNvSpPr txBox="1"/>
          <p:nvPr/>
        </p:nvSpPr>
        <p:spPr>
          <a:xfrm>
            <a:off x="990600" y="5078886"/>
            <a:ext cx="495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the 0-edge shortest path from 1 to 3?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1005555" y="5448218"/>
                <a:ext cx="4953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&lt;&gt; with path weight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∞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555" y="5448218"/>
                <a:ext cx="4953000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108" t="-8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1939497" y="2258147"/>
            <a:ext cx="356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626773" y="2258147"/>
                <a:ext cx="3564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6773" y="2258147"/>
                <a:ext cx="356431" cy="307777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648210" y="2288013"/>
                <a:ext cx="3564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8210" y="2288013"/>
                <a:ext cx="356431" cy="307777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Curved Connector 10"/>
          <p:cNvCxnSpPr>
            <a:stCxn id="4" idx="7"/>
            <a:endCxn id="6" idx="1"/>
          </p:cNvCxnSpPr>
          <p:nvPr/>
        </p:nvCxnSpPr>
        <p:spPr>
          <a:xfrm rot="16200000" flipH="1">
            <a:off x="4011231" y="938356"/>
            <a:ext cx="27120" cy="3361927"/>
          </a:xfrm>
          <a:prstGeom prst="curvedConnector3">
            <a:avLst>
              <a:gd name="adj1" fmla="val -1089805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656713" y="1980236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704190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7" grpId="0"/>
      <p:bldP spid="28" grpId="0"/>
      <p:bldP spid="29" grpId="0"/>
      <p:bldP spid="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1"/>
            <a:ext cx="1482297" cy="6863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e.g.</a:t>
            </a:r>
          </a:p>
        </p:txBody>
      </p:sp>
      <p:sp>
        <p:nvSpPr>
          <p:cNvPr id="4" name="Oval 3"/>
          <p:cNvSpPr/>
          <p:nvPr/>
        </p:nvSpPr>
        <p:spPr>
          <a:xfrm>
            <a:off x="1953583" y="2538804"/>
            <a:ext cx="457200" cy="4572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3626773" y="2553337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638800" y="2565924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7" name="Curved Connector 10"/>
          <p:cNvCxnSpPr>
            <a:stCxn id="4" idx="6"/>
            <a:endCxn id="5" idx="2"/>
          </p:cNvCxnSpPr>
          <p:nvPr/>
        </p:nvCxnSpPr>
        <p:spPr>
          <a:xfrm>
            <a:off x="2410783" y="2767404"/>
            <a:ext cx="1215990" cy="1453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Curved Connector 10"/>
          <p:cNvCxnSpPr>
            <a:stCxn id="5" idx="6"/>
            <a:endCxn id="6" idx="2"/>
          </p:cNvCxnSpPr>
          <p:nvPr/>
        </p:nvCxnSpPr>
        <p:spPr>
          <a:xfrm>
            <a:off x="4083973" y="2781937"/>
            <a:ext cx="1554827" cy="12587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89405" y="2441902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35836" y="2466893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" y="3429000"/>
            <a:ext cx="64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the at most 1-edge shortest path from 1 to 1?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600" y="3836514"/>
            <a:ext cx="495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&lt;&gt; with path weight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9146" y="4190070"/>
            <a:ext cx="7154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the at most 1-edge shortest path from 1 to 2?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9146" y="4597584"/>
            <a:ext cx="495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&lt;1, 2&gt; with path weight 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0600" y="5078886"/>
            <a:ext cx="701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the at most 1-edge shortest path from 1 to 3?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555" y="5448218"/>
            <a:ext cx="495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&lt;1, 3&gt; with path weight 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39497" y="2258147"/>
            <a:ext cx="356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626773" y="2258147"/>
                <a:ext cx="3564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6773" y="2258147"/>
                <a:ext cx="356431" cy="30777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648210" y="2288013"/>
                <a:ext cx="3564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8210" y="2288013"/>
                <a:ext cx="356431" cy="30777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Curved Connector 10"/>
          <p:cNvCxnSpPr>
            <a:stCxn id="4" idx="7"/>
            <a:endCxn id="6" idx="1"/>
          </p:cNvCxnSpPr>
          <p:nvPr/>
        </p:nvCxnSpPr>
        <p:spPr>
          <a:xfrm rot="16200000" flipH="1">
            <a:off x="4011231" y="938356"/>
            <a:ext cx="27120" cy="3361927"/>
          </a:xfrm>
          <a:prstGeom prst="curvedConnector3">
            <a:avLst>
              <a:gd name="adj1" fmla="val -1089805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656713" y="1980236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000" y="6096000"/>
            <a:ext cx="632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Bellman-Ford, they are calculated by scan all edges once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6553200" y="1524000"/>
                <a:ext cx="1676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  <m:r>
                        <a:rPr lang="en-US" b="0" i="0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&gt;0+20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0" y="1524000"/>
                <a:ext cx="1676400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6629400" y="1980235"/>
                <a:ext cx="1676400" cy="381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/>
                            </a:rPr>
                            <m:t>1</m:t>
                          </m:r>
                          <m:r>
                            <a:rPr lang="en-US" i="1" dirty="0">
                              <a:latin typeface="Cambria Math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i="1" dirty="0">
                          <a:latin typeface="Cambria Math"/>
                        </a:rPr>
                        <m:t>=</m:t>
                      </m:r>
                      <m:r>
                        <a:rPr lang="en-US" b="0" i="1" dirty="0" smtClean="0">
                          <a:latin typeface="Cambria Math"/>
                        </a:rPr>
                        <m:t>20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0" y="1980235"/>
                <a:ext cx="1676400" cy="38151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5826425" y="2301579"/>
                <a:ext cx="35643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/20</m:t>
                      </m:r>
                    </m:oMath>
                  </m:oMathPara>
                </a14:m>
                <a:endParaRPr lang="en-US" sz="11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6425" y="2301579"/>
                <a:ext cx="356431" cy="261610"/>
              </a:xfrm>
              <a:prstGeom prst="rect">
                <a:avLst/>
              </a:prstGeom>
              <a:blipFill rotWithShape="1">
                <a:blip r:embed="rId5"/>
                <a:stretch>
                  <a:fillRect r="-3448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6606611" y="2436466"/>
                <a:ext cx="1676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  <m:r>
                        <a:rPr lang="en-US" b="0" i="0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&gt;0+10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6611" y="2436466"/>
                <a:ext cx="1676400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6682811" y="2892701"/>
                <a:ext cx="1676400" cy="381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/>
                            </a:rPr>
                            <m:t>1</m:t>
                          </m:r>
                          <m:r>
                            <a:rPr lang="en-US" i="1" dirty="0">
                              <a:latin typeface="Cambria Math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 dirty="0">
                          <a:latin typeface="Cambria Math"/>
                        </a:rPr>
                        <m:t>=</m:t>
                      </m:r>
                      <m:r>
                        <a:rPr lang="en-US" b="0" i="1" dirty="0" smtClean="0">
                          <a:latin typeface="Cambria Math"/>
                        </a:rPr>
                        <m:t>10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2811" y="2892701"/>
                <a:ext cx="1676400" cy="38151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3803184" y="2281230"/>
                <a:ext cx="35643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/</m:t>
                      </m:r>
                      <m:r>
                        <a:rPr lang="en-US" sz="1100" i="1">
                          <a:solidFill>
                            <a:srgbClr val="FF0000"/>
                          </a:solidFill>
                          <a:latin typeface="Cambria Math"/>
                        </a:rPr>
                        <m:t>1</m:t>
                      </m:r>
                      <m:r>
                        <a:rPr lang="en-US" sz="11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11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3184" y="2281230"/>
                <a:ext cx="356431" cy="261610"/>
              </a:xfrm>
              <a:prstGeom prst="rect">
                <a:avLst/>
              </a:prstGeom>
              <a:blipFill rotWithShape="1">
                <a:blip r:embed="rId8"/>
                <a:stretch>
                  <a:fillRect r="-3448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6617293" y="3368096"/>
                <a:ext cx="1676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∞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=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∞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+1</a:t>
                </a: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7293" y="3368096"/>
                <a:ext cx="1676400" cy="369332"/>
              </a:xfrm>
              <a:prstGeom prst="rect">
                <a:avLst/>
              </a:prstGeom>
              <a:blipFill rotWithShape="1">
                <a:blip r:embed="rId9"/>
                <a:stretch>
                  <a:fillRect t="-8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6693493" y="3824331"/>
                <a:ext cx="1676400" cy="381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/>
                            </a:rPr>
                            <m:t>1</m:t>
                          </m:r>
                          <m:r>
                            <a:rPr lang="en-US" i="1" dirty="0">
                              <a:latin typeface="Cambria Math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b="0" i="1" dirty="0" smtClean="0">
                          <a:latin typeface="Cambria Math"/>
                        </a:rPr>
                        <m:t> </m:t>
                      </m:r>
                      <m:r>
                        <a:rPr lang="en-US" b="0" i="1" dirty="0" smtClean="0">
                          <a:latin typeface="Cambria Math"/>
                        </a:rPr>
                        <m:t>𝑢𝑛𝑐h𝑎𝑛𝑔𝑒𝑑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3493" y="3824331"/>
                <a:ext cx="1676400" cy="381515"/>
              </a:xfrm>
              <a:prstGeom prst="rect">
                <a:avLst/>
              </a:prstGeom>
              <a:blipFill rotWithShape="1">
                <a:blip r:embed="rId10"/>
                <a:stretch>
                  <a:fillRect r="-5455"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1716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49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7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9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7" grpId="0"/>
      <p:bldP spid="35" grpId="0"/>
      <p:bldP spid="37" grpId="0"/>
      <p:bldP spid="38" grpId="0"/>
      <p:bldP spid="39" grpId="0"/>
      <p:bldP spid="40" grpId="0"/>
      <p:bldP spid="41" grpId="0"/>
      <p:bldP spid="44" grpId="0"/>
      <p:bldP spid="45" grpId="0"/>
      <p:bldP spid="4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1"/>
            <a:ext cx="1482297" cy="6863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e.g.</a:t>
            </a:r>
          </a:p>
        </p:txBody>
      </p:sp>
      <p:sp>
        <p:nvSpPr>
          <p:cNvPr id="4" name="Oval 3"/>
          <p:cNvSpPr/>
          <p:nvPr/>
        </p:nvSpPr>
        <p:spPr>
          <a:xfrm>
            <a:off x="1953583" y="2538804"/>
            <a:ext cx="457200" cy="4572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3626773" y="2553337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638800" y="2565924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7" name="Curved Connector 10"/>
          <p:cNvCxnSpPr>
            <a:stCxn id="4" idx="6"/>
            <a:endCxn id="5" idx="2"/>
          </p:cNvCxnSpPr>
          <p:nvPr/>
        </p:nvCxnSpPr>
        <p:spPr>
          <a:xfrm>
            <a:off x="2410783" y="2767404"/>
            <a:ext cx="1215990" cy="1453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Curved Connector 10"/>
          <p:cNvCxnSpPr>
            <a:stCxn id="5" idx="6"/>
            <a:endCxn id="6" idx="2"/>
          </p:cNvCxnSpPr>
          <p:nvPr/>
        </p:nvCxnSpPr>
        <p:spPr>
          <a:xfrm>
            <a:off x="4083973" y="2781937"/>
            <a:ext cx="1554827" cy="12587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89405" y="2441902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35836" y="2466893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" y="3429000"/>
            <a:ext cx="64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the at most 2-edges shortest path from 1 to 1?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600" y="3836514"/>
            <a:ext cx="495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&lt;&gt; with path weight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9146" y="4190070"/>
            <a:ext cx="7154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the at most 2-edges shortest path from 1 to 2?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9146" y="4597584"/>
            <a:ext cx="495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&lt;1, 2&gt; with path weight 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0600" y="5078886"/>
            <a:ext cx="701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the at most 2-edges shortest path from 1 to 3?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555" y="5448218"/>
            <a:ext cx="495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&lt;1, 2, 3&gt; with path weight 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39497" y="2258147"/>
            <a:ext cx="356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637099" y="2292583"/>
                <a:ext cx="35643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10</m:t>
                      </m:r>
                    </m:oMath>
                  </m:oMathPara>
                </a14:m>
                <a:endParaRPr lang="en-US" sz="1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7099" y="2292583"/>
                <a:ext cx="356431" cy="24622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5689184" y="2311097"/>
            <a:ext cx="3564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20</a:t>
            </a:r>
          </a:p>
        </p:txBody>
      </p:sp>
      <p:cxnSp>
        <p:nvCxnSpPr>
          <p:cNvPr id="31" name="Curved Connector 10"/>
          <p:cNvCxnSpPr>
            <a:stCxn id="4" idx="7"/>
            <a:endCxn id="6" idx="1"/>
          </p:cNvCxnSpPr>
          <p:nvPr/>
        </p:nvCxnSpPr>
        <p:spPr>
          <a:xfrm rot="16200000" flipH="1">
            <a:off x="4011231" y="938356"/>
            <a:ext cx="27120" cy="3361927"/>
          </a:xfrm>
          <a:prstGeom prst="curvedConnector3">
            <a:avLst>
              <a:gd name="adj1" fmla="val -1089805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656713" y="1980236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000" y="6096000"/>
            <a:ext cx="632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Bellman-Ford, they are calculated by scan all edges once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6553200" y="1524000"/>
                <a:ext cx="1676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0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+20</m:t>
                      </m:r>
                      <m:r>
                        <a:rPr lang="en-US" b="0" i="0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b="0" i="0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20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0" y="1524000"/>
                <a:ext cx="1676400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6629400" y="1980235"/>
                <a:ext cx="1676400" cy="381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/>
                            </a:rPr>
                            <m:t>1</m:t>
                          </m:r>
                          <m:r>
                            <a:rPr lang="en-US" i="1" dirty="0">
                              <a:latin typeface="Cambria Math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b="0" i="1" dirty="0" smtClean="0">
                          <a:latin typeface="Cambria Math"/>
                        </a:rPr>
                        <m:t> </m:t>
                      </m:r>
                      <m:r>
                        <a:rPr lang="en-US" b="0" i="1" dirty="0" smtClean="0">
                          <a:latin typeface="Cambria Math"/>
                        </a:rPr>
                        <m:t>𝑢𝑛𝑐h𝑎𝑛𝑔𝑒𝑑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0" y="1980235"/>
                <a:ext cx="1676400" cy="381515"/>
              </a:xfrm>
              <a:prstGeom prst="rect">
                <a:avLst/>
              </a:prstGeom>
              <a:blipFill rotWithShape="1">
                <a:blip r:embed="rId4"/>
                <a:stretch>
                  <a:fillRect r="-5091" b="-11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5826425" y="2301579"/>
                <a:ext cx="35643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/11</m:t>
                      </m:r>
                    </m:oMath>
                  </m:oMathPara>
                </a14:m>
                <a:endParaRPr lang="en-US" sz="11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6425" y="2301579"/>
                <a:ext cx="356431" cy="261610"/>
              </a:xfrm>
              <a:prstGeom prst="rect">
                <a:avLst/>
              </a:prstGeom>
              <a:blipFill rotWithShape="1">
                <a:blip r:embed="rId5"/>
                <a:stretch>
                  <a:fillRect r="-3448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6606611" y="2436466"/>
                <a:ext cx="1676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10</m:t>
                      </m:r>
                      <m:r>
                        <a:rPr lang="en-US" b="0" i="0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=0+10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6611" y="2436466"/>
                <a:ext cx="1676400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6682811" y="2892701"/>
                <a:ext cx="1676400" cy="381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/>
                            </a:rPr>
                            <m:t>1</m:t>
                          </m:r>
                          <m:r>
                            <a:rPr lang="en-US" i="1" dirty="0">
                              <a:latin typeface="Cambria Math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b="0" i="1" dirty="0" smtClean="0">
                          <a:latin typeface="Cambria Math"/>
                        </a:rPr>
                        <m:t> </m:t>
                      </m:r>
                      <m:r>
                        <a:rPr lang="en-US" b="0" i="1" dirty="0" smtClean="0">
                          <a:latin typeface="Cambria Math"/>
                        </a:rPr>
                        <m:t>𝑢𝑛𝑐h𝑎𝑛𝑔𝑒𝑑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2811" y="2892701"/>
                <a:ext cx="1676400" cy="381515"/>
              </a:xfrm>
              <a:prstGeom prst="rect">
                <a:avLst/>
              </a:prstGeom>
              <a:blipFill rotWithShape="1">
                <a:blip r:embed="rId7"/>
                <a:stretch>
                  <a:fillRect r="-5455" b="-11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3803184" y="2281230"/>
                <a:ext cx="35643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/</m:t>
                      </m:r>
                      <m:r>
                        <a:rPr lang="en-US" sz="1100" i="1">
                          <a:solidFill>
                            <a:srgbClr val="FF0000"/>
                          </a:solidFill>
                          <a:latin typeface="Cambria Math"/>
                        </a:rPr>
                        <m:t>1</m:t>
                      </m:r>
                      <m:r>
                        <a:rPr lang="en-US" sz="11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11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3184" y="2281230"/>
                <a:ext cx="356431" cy="261610"/>
              </a:xfrm>
              <a:prstGeom prst="rect">
                <a:avLst/>
              </a:prstGeom>
              <a:blipFill rotWithShape="1">
                <a:blip r:embed="rId8"/>
                <a:stretch>
                  <a:fillRect r="-3448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6617293" y="3368096"/>
                <a:ext cx="1676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2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0</m:t>
                    </m:r>
                    <m:r>
                      <a:rPr lang="en-US" b="0" i="0" smtClean="0">
                        <a:latin typeface="Cambria Math"/>
                        <a:ea typeface="Cambria Math"/>
                      </a:rPr>
                      <m:t>&gt;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10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+1</a:t>
                </a: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7293" y="3368096"/>
                <a:ext cx="1676400" cy="369332"/>
              </a:xfrm>
              <a:prstGeom prst="rect">
                <a:avLst/>
              </a:prstGeom>
              <a:blipFill rotWithShape="1">
                <a:blip r:embed="rId9"/>
                <a:stretch>
                  <a:fillRect t="-8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6693493" y="3824331"/>
                <a:ext cx="1676400" cy="381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/>
                            </a:rPr>
                            <m:t>1</m:t>
                          </m:r>
                          <m:r>
                            <a:rPr lang="en-US" i="1" dirty="0">
                              <a:latin typeface="Cambria Math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b="0" i="1" dirty="0" smtClean="0">
                          <a:latin typeface="Cambria Math"/>
                        </a:rPr>
                        <m:t>=11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3493" y="3824331"/>
                <a:ext cx="1676400" cy="38151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2531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49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6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8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7" grpId="0"/>
      <p:bldP spid="35" grpId="0"/>
      <p:bldP spid="37" grpId="0"/>
      <p:bldP spid="38" grpId="0"/>
      <p:bldP spid="39" grpId="0"/>
      <p:bldP spid="40" grpId="0"/>
      <p:bldP spid="41" grpId="0"/>
      <p:bldP spid="44" grpId="0"/>
      <p:bldP spid="45" grpId="0"/>
      <p:bldP spid="4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algorithm</a:t>
            </a:r>
          </a:p>
        </p:txBody>
      </p:sp>
      <p:sp>
        <p:nvSpPr>
          <p:cNvPr id="4" name="Oval 3"/>
          <p:cNvSpPr/>
          <p:nvPr/>
        </p:nvSpPr>
        <p:spPr>
          <a:xfrm>
            <a:off x="1923804" y="2665439"/>
            <a:ext cx="457200" cy="4572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3429000" y="1676135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609021" y="1676135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3429000" y="3583016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5609021" y="3656322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9" name="Curved Connector 10"/>
          <p:cNvCxnSpPr>
            <a:stCxn id="4" idx="7"/>
            <a:endCxn id="5" idx="2"/>
          </p:cNvCxnSpPr>
          <p:nvPr/>
        </p:nvCxnSpPr>
        <p:spPr>
          <a:xfrm flipV="1">
            <a:off x="2314049" y="1904735"/>
            <a:ext cx="1114951" cy="82765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Curved Connector 9"/>
          <p:cNvCxnSpPr>
            <a:stCxn id="5" idx="4"/>
            <a:endCxn id="7" idx="0"/>
          </p:cNvCxnSpPr>
          <p:nvPr/>
        </p:nvCxnSpPr>
        <p:spPr>
          <a:xfrm rot="5400000">
            <a:off x="2932760" y="2858175"/>
            <a:ext cx="1449681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Curved Connector 10"/>
          <p:cNvCxnSpPr>
            <a:stCxn id="4" idx="5"/>
            <a:endCxn id="7" idx="2"/>
          </p:cNvCxnSpPr>
          <p:nvPr/>
        </p:nvCxnSpPr>
        <p:spPr>
          <a:xfrm>
            <a:off x="2314049" y="3055684"/>
            <a:ext cx="1114951" cy="7559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Curved Connector 10"/>
          <p:cNvCxnSpPr>
            <a:stCxn id="7" idx="5"/>
            <a:endCxn id="8" idx="3"/>
          </p:cNvCxnSpPr>
          <p:nvPr/>
        </p:nvCxnSpPr>
        <p:spPr>
          <a:xfrm rot="16200000" flipH="1">
            <a:off x="4710957" y="3081548"/>
            <a:ext cx="73306" cy="1856731"/>
          </a:xfrm>
          <a:prstGeom prst="curvedConnector3">
            <a:avLst>
              <a:gd name="adj1" fmla="val 50318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Curved Connector 10"/>
          <p:cNvCxnSpPr>
            <a:stCxn id="5" idx="7"/>
            <a:endCxn id="6" idx="1"/>
          </p:cNvCxnSpPr>
          <p:nvPr/>
        </p:nvCxnSpPr>
        <p:spPr>
          <a:xfrm rot="5400000" flipH="1" flipV="1">
            <a:off x="4747610" y="814725"/>
            <a:ext cx="12700" cy="1856731"/>
          </a:xfrm>
          <a:prstGeom prst="curvedConnector3">
            <a:avLst>
              <a:gd name="adj1" fmla="val 2327205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Curved Connector 13"/>
          <p:cNvCxnSpPr>
            <a:stCxn id="6" idx="2"/>
            <a:endCxn id="5" idx="6"/>
          </p:cNvCxnSpPr>
          <p:nvPr/>
        </p:nvCxnSpPr>
        <p:spPr>
          <a:xfrm rot="10800000">
            <a:off x="3886201" y="1904735"/>
            <a:ext cx="1722821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Curved Connector 10"/>
          <p:cNvCxnSpPr>
            <a:stCxn id="7" idx="6"/>
            <a:endCxn id="6" idx="2"/>
          </p:cNvCxnSpPr>
          <p:nvPr/>
        </p:nvCxnSpPr>
        <p:spPr>
          <a:xfrm flipV="1">
            <a:off x="3886200" y="1904735"/>
            <a:ext cx="1722821" cy="190688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Curved Connector 10"/>
          <p:cNvCxnSpPr>
            <a:stCxn id="8" idx="2"/>
            <a:endCxn id="4" idx="6"/>
          </p:cNvCxnSpPr>
          <p:nvPr/>
        </p:nvCxnSpPr>
        <p:spPr>
          <a:xfrm flipH="1" flipV="1">
            <a:off x="2381004" y="2894039"/>
            <a:ext cx="3228017" cy="99088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Curved Connector 17"/>
          <p:cNvCxnSpPr>
            <a:stCxn id="8" idx="0"/>
            <a:endCxn id="6" idx="4"/>
          </p:cNvCxnSpPr>
          <p:nvPr/>
        </p:nvCxnSpPr>
        <p:spPr>
          <a:xfrm rot="5400000" flipH="1" flipV="1">
            <a:off x="5076128" y="2894829"/>
            <a:ext cx="1522987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416514" y="2041038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14049" y="3296448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96221" y="2511550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9273" y="1087501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9336" y="4287901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1534" y="2694573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8891" y="2216554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-3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3280" y="3371548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62653" y="2988200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-4</a:t>
            </a:r>
          </a:p>
        </p:txBody>
      </p:sp>
      <p:cxnSp>
        <p:nvCxnSpPr>
          <p:cNvPr id="31" name="Curved Connector 30"/>
          <p:cNvCxnSpPr>
            <a:stCxn id="5" idx="5"/>
            <a:endCxn id="8" idx="1"/>
          </p:cNvCxnSpPr>
          <p:nvPr/>
        </p:nvCxnSpPr>
        <p:spPr>
          <a:xfrm>
            <a:off x="3819245" y="2066380"/>
            <a:ext cx="1856731" cy="165689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444076" y="1628898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-2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391" y="1444185"/>
            <a:ext cx="3439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0 edge shortest paths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71404" y="2370442"/>
            <a:ext cx="381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/>
              <p:cNvSpPr txBox="1"/>
              <p:nvPr/>
            </p:nvSpPr>
            <p:spPr>
              <a:xfrm>
                <a:off x="3218005" y="1368358"/>
                <a:ext cx="3564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8005" y="1368358"/>
                <a:ext cx="356431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/>
              <p:cNvSpPr txBox="1"/>
              <p:nvPr/>
            </p:nvSpPr>
            <p:spPr>
              <a:xfrm>
                <a:off x="5710809" y="1384346"/>
                <a:ext cx="3564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809" y="1384346"/>
                <a:ext cx="356431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/>
              <p:cNvSpPr txBox="1"/>
              <p:nvPr/>
            </p:nvSpPr>
            <p:spPr>
              <a:xfrm>
                <a:off x="3294819" y="4047992"/>
                <a:ext cx="3564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4819" y="4047992"/>
                <a:ext cx="356431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/>
              <p:cNvSpPr txBox="1"/>
              <p:nvPr/>
            </p:nvSpPr>
            <p:spPr>
              <a:xfrm>
                <a:off x="5831271" y="4069819"/>
                <a:ext cx="3564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1271" y="4069819"/>
                <a:ext cx="356431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53A0BF-FBF5-4E44-BEA0-7934EF6A96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958269"/>
              </p:ext>
            </p:extLst>
          </p:nvPr>
        </p:nvGraphicFramePr>
        <p:xfrm>
          <a:off x="1610762" y="4656835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35617253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656808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90727617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19205325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375109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47092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0582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884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666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7307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5" grpId="0"/>
      <p:bldP spid="46" grpId="0"/>
      <p:bldP spid="4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algorithm</a:t>
            </a:r>
          </a:p>
        </p:txBody>
      </p:sp>
      <p:sp>
        <p:nvSpPr>
          <p:cNvPr id="4" name="Oval 3"/>
          <p:cNvSpPr/>
          <p:nvPr/>
        </p:nvSpPr>
        <p:spPr>
          <a:xfrm>
            <a:off x="2220006" y="2680619"/>
            <a:ext cx="457200" cy="4572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3725202" y="1691315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905223" y="1691315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3725202" y="3598196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5905223" y="3671502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9" name="Curved Connector 10"/>
          <p:cNvCxnSpPr>
            <a:cxnSpLocks/>
          </p:cNvCxnSpPr>
          <p:nvPr/>
        </p:nvCxnSpPr>
        <p:spPr>
          <a:xfrm flipV="1">
            <a:off x="2610251" y="1919915"/>
            <a:ext cx="1114951" cy="82765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Curved Connector 9"/>
          <p:cNvCxnSpPr>
            <a:cxnSpLocks/>
          </p:cNvCxnSpPr>
          <p:nvPr/>
        </p:nvCxnSpPr>
        <p:spPr>
          <a:xfrm rot="5400000">
            <a:off x="3228962" y="2873355"/>
            <a:ext cx="1449681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Curved Connector 10"/>
          <p:cNvCxnSpPr>
            <a:cxnSpLocks/>
          </p:cNvCxnSpPr>
          <p:nvPr/>
        </p:nvCxnSpPr>
        <p:spPr>
          <a:xfrm>
            <a:off x="2610251" y="3070864"/>
            <a:ext cx="1114951" cy="7559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Curved Connector 10"/>
          <p:cNvCxnSpPr>
            <a:cxnSpLocks/>
          </p:cNvCxnSpPr>
          <p:nvPr/>
        </p:nvCxnSpPr>
        <p:spPr>
          <a:xfrm rot="16200000" flipH="1">
            <a:off x="5007159" y="3096728"/>
            <a:ext cx="73306" cy="1856731"/>
          </a:xfrm>
          <a:prstGeom prst="curvedConnector3">
            <a:avLst>
              <a:gd name="adj1" fmla="val 50318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Curved Connector 10"/>
          <p:cNvCxnSpPr>
            <a:cxnSpLocks/>
          </p:cNvCxnSpPr>
          <p:nvPr/>
        </p:nvCxnSpPr>
        <p:spPr>
          <a:xfrm rot="5400000" flipH="1" flipV="1">
            <a:off x="5043812" y="829905"/>
            <a:ext cx="12700" cy="1856731"/>
          </a:xfrm>
          <a:prstGeom prst="curvedConnector3">
            <a:avLst>
              <a:gd name="adj1" fmla="val 2327205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Curved Connector 13"/>
          <p:cNvCxnSpPr>
            <a:cxnSpLocks/>
          </p:cNvCxnSpPr>
          <p:nvPr/>
        </p:nvCxnSpPr>
        <p:spPr>
          <a:xfrm rot="10800000">
            <a:off x="4182403" y="1919915"/>
            <a:ext cx="1722821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Curved Connector 10"/>
          <p:cNvCxnSpPr>
            <a:cxnSpLocks/>
          </p:cNvCxnSpPr>
          <p:nvPr/>
        </p:nvCxnSpPr>
        <p:spPr>
          <a:xfrm flipV="1">
            <a:off x="4182402" y="1919915"/>
            <a:ext cx="1722821" cy="190688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Curved Connector 10"/>
          <p:cNvCxnSpPr>
            <a:cxnSpLocks/>
          </p:cNvCxnSpPr>
          <p:nvPr/>
        </p:nvCxnSpPr>
        <p:spPr>
          <a:xfrm flipH="1" flipV="1">
            <a:off x="2677206" y="2909219"/>
            <a:ext cx="3228017" cy="99088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Curved Connector 17"/>
          <p:cNvCxnSpPr>
            <a:cxnSpLocks/>
          </p:cNvCxnSpPr>
          <p:nvPr/>
        </p:nvCxnSpPr>
        <p:spPr>
          <a:xfrm rot="5400000" flipH="1" flipV="1">
            <a:off x="5372330" y="2910009"/>
            <a:ext cx="1522987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712716" y="2056218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10251" y="3311628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92423" y="2526730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35475" y="1102681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5538" y="4303081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7736" y="2709753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5093" y="2231734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-3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29482" y="3386728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58855" y="3003380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-4</a:t>
            </a:r>
          </a:p>
        </p:txBody>
      </p:sp>
      <p:cxnSp>
        <p:nvCxnSpPr>
          <p:cNvPr id="31" name="Curved Connector 30"/>
          <p:cNvCxnSpPr>
            <a:cxnSpLocks/>
          </p:cNvCxnSpPr>
          <p:nvPr/>
        </p:nvCxnSpPr>
        <p:spPr>
          <a:xfrm>
            <a:off x="4115447" y="2081560"/>
            <a:ext cx="1856731" cy="165689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740278" y="1644078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-2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8971" y="1064974"/>
            <a:ext cx="3439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Calculate all at most 1 edge shortest paths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67606" y="2385622"/>
            <a:ext cx="381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/>
              <p:cNvSpPr txBox="1"/>
              <p:nvPr/>
            </p:nvSpPr>
            <p:spPr>
              <a:xfrm>
                <a:off x="3494277" y="1383538"/>
                <a:ext cx="3564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4277" y="1383538"/>
                <a:ext cx="356431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/>
              <p:cNvSpPr txBox="1"/>
              <p:nvPr/>
            </p:nvSpPr>
            <p:spPr>
              <a:xfrm>
                <a:off x="6007011" y="1399526"/>
                <a:ext cx="3564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7011" y="1399526"/>
                <a:ext cx="356431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/>
              <p:cNvSpPr txBox="1"/>
              <p:nvPr/>
            </p:nvSpPr>
            <p:spPr>
              <a:xfrm>
                <a:off x="3591021" y="4063172"/>
                <a:ext cx="3564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1021" y="4063172"/>
                <a:ext cx="356431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/>
              <p:cNvSpPr txBox="1"/>
              <p:nvPr/>
            </p:nvSpPr>
            <p:spPr>
              <a:xfrm>
                <a:off x="6127473" y="4084999"/>
                <a:ext cx="3564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7473" y="4084999"/>
                <a:ext cx="356431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3725202" y="1410458"/>
                <a:ext cx="35643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/6</m:t>
                      </m:r>
                    </m:oMath>
                  </m:oMathPara>
                </a14:m>
                <a:endParaRPr lang="en-US" sz="11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5202" y="1410458"/>
                <a:ext cx="356431" cy="261610"/>
              </a:xfrm>
              <a:prstGeom prst="rect">
                <a:avLst/>
              </a:prstGeom>
              <a:blipFill>
                <a:blip r:embed="rId4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6297887" y="1399526"/>
                <a:ext cx="55049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FF0000"/>
                    </a:solidFill>
                    <a:ea typeface="Cambria Math"/>
                  </a:rPr>
                  <a:t>/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∞</m:t>
                    </m:r>
                  </m:oMath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7887" y="1399526"/>
                <a:ext cx="550496" cy="307777"/>
              </a:xfrm>
              <a:prstGeom prst="rect">
                <a:avLst/>
              </a:prstGeom>
              <a:blipFill>
                <a:blip r:embed="rId5"/>
                <a:stretch>
                  <a:fillRect l="-3333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3779348" y="4063172"/>
                <a:ext cx="55049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FF0000"/>
                    </a:solidFill>
                    <a:ea typeface="Cambria Math"/>
                  </a:rPr>
                  <a:t>/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∞</m:t>
                    </m:r>
                  </m:oMath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348" y="4063172"/>
                <a:ext cx="550496" cy="307777"/>
              </a:xfrm>
              <a:prstGeom prst="rect">
                <a:avLst/>
              </a:prstGeom>
              <a:blipFill>
                <a:blip r:embed="rId5"/>
                <a:stretch>
                  <a:fillRect l="-3333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/>
              <p:cNvSpPr txBox="1"/>
              <p:nvPr/>
            </p:nvSpPr>
            <p:spPr>
              <a:xfrm>
                <a:off x="6361739" y="4063172"/>
                <a:ext cx="55049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FF0000"/>
                    </a:solidFill>
                    <a:ea typeface="Cambria Math"/>
                  </a:rPr>
                  <a:t>/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∞</m:t>
                    </m:r>
                  </m:oMath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1739" y="4063172"/>
                <a:ext cx="550496" cy="307777"/>
              </a:xfrm>
              <a:prstGeom prst="rect">
                <a:avLst/>
              </a:prstGeom>
              <a:blipFill>
                <a:blip r:embed="rId5"/>
                <a:stretch>
                  <a:fillRect l="-3333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/>
          <p:cNvSpPr txBox="1"/>
          <p:nvPr/>
        </p:nvSpPr>
        <p:spPr>
          <a:xfrm>
            <a:off x="2208850" y="2395925"/>
            <a:ext cx="550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  <a:ea typeface="Cambria Math"/>
              </a:rPr>
              <a:t>/0</a:t>
            </a:r>
            <a:endParaRPr lang="en-US" sz="11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/>
              <p:cNvSpPr txBox="1"/>
              <p:nvPr/>
            </p:nvSpPr>
            <p:spPr>
              <a:xfrm>
                <a:off x="3840199" y="4131166"/>
                <a:ext cx="55049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solidFill>
                      <a:srgbClr val="FF0000"/>
                    </a:solidFill>
                    <a:ea typeface="Cambria Math"/>
                  </a:rPr>
                  <a:t>/</a:t>
                </a:r>
                <a14:m>
                  <m:oMath xmlns:m="http://schemas.openxmlformats.org/officeDocument/2006/math">
                    <m:r>
                      <a:rPr lang="en-US" sz="11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7</m:t>
                    </m:r>
                  </m:oMath>
                </a14:m>
                <a:endParaRPr lang="en-US" sz="11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199" y="4131166"/>
                <a:ext cx="550496" cy="261610"/>
              </a:xfrm>
              <a:prstGeom prst="rect">
                <a:avLst/>
              </a:prstGeom>
              <a:blipFill>
                <a:blip r:embed="rId6"/>
                <a:stretch>
                  <a:fillRect b="-16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0" name="Table 49">
            <a:extLst>
              <a:ext uri="{FF2B5EF4-FFF2-40B4-BE49-F238E27FC236}">
                <a16:creationId xmlns:a16="http://schemas.microsoft.com/office/drawing/2014/main" id="{255DAD81-6BBC-464E-A42B-31A3C9D2C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936880"/>
              </p:ext>
            </p:extLst>
          </p:nvPr>
        </p:nvGraphicFramePr>
        <p:xfrm>
          <a:off x="1524000" y="4806273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35617253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656808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90727617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19205325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375109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47092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0582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884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666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8890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4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2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4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52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63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6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7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4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9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9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9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10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10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  <p:bldP spid="37" grpId="1"/>
      <p:bldP spid="38" grpId="0"/>
      <p:bldP spid="39" grpId="0"/>
      <p:bldP spid="4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60658"/>
          </a:xfrm>
        </p:spPr>
        <p:txBody>
          <a:bodyPr>
            <a:normAutofit fontScale="90000"/>
          </a:bodyPr>
          <a:lstStyle/>
          <a:p>
            <a:r>
              <a:rPr lang="en-US" dirty="0"/>
              <a:t>Bellman-Ford algorithm</a:t>
            </a:r>
          </a:p>
        </p:txBody>
      </p:sp>
      <p:sp>
        <p:nvSpPr>
          <p:cNvPr id="4" name="Oval 3"/>
          <p:cNvSpPr/>
          <p:nvPr/>
        </p:nvSpPr>
        <p:spPr>
          <a:xfrm>
            <a:off x="2410783" y="2394822"/>
            <a:ext cx="457200" cy="4572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3915979" y="1405518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6096000" y="1405518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3915979" y="3312399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6096000" y="3385705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9" name="Curved Connector 10"/>
          <p:cNvCxnSpPr>
            <a:stCxn id="4" idx="7"/>
            <a:endCxn id="5" idx="2"/>
          </p:cNvCxnSpPr>
          <p:nvPr/>
        </p:nvCxnSpPr>
        <p:spPr>
          <a:xfrm flipV="1">
            <a:off x="2801028" y="1634118"/>
            <a:ext cx="1114951" cy="82765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Curved Connector 9"/>
          <p:cNvCxnSpPr>
            <a:stCxn id="5" idx="4"/>
            <a:endCxn id="7" idx="0"/>
          </p:cNvCxnSpPr>
          <p:nvPr/>
        </p:nvCxnSpPr>
        <p:spPr>
          <a:xfrm rot="5400000">
            <a:off x="3419739" y="2587558"/>
            <a:ext cx="1449681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Curved Connector 10"/>
          <p:cNvCxnSpPr>
            <a:stCxn id="4" idx="5"/>
            <a:endCxn id="7" idx="2"/>
          </p:cNvCxnSpPr>
          <p:nvPr/>
        </p:nvCxnSpPr>
        <p:spPr>
          <a:xfrm>
            <a:off x="2801028" y="2785067"/>
            <a:ext cx="1114951" cy="7559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Curved Connector 10"/>
          <p:cNvCxnSpPr>
            <a:stCxn id="7" idx="5"/>
            <a:endCxn id="8" idx="3"/>
          </p:cNvCxnSpPr>
          <p:nvPr/>
        </p:nvCxnSpPr>
        <p:spPr>
          <a:xfrm rot="16200000" flipH="1">
            <a:off x="5197936" y="2810931"/>
            <a:ext cx="73306" cy="1856731"/>
          </a:xfrm>
          <a:prstGeom prst="curvedConnector3">
            <a:avLst>
              <a:gd name="adj1" fmla="val 50318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Curved Connector 10"/>
          <p:cNvCxnSpPr>
            <a:stCxn id="5" idx="7"/>
            <a:endCxn id="6" idx="1"/>
          </p:cNvCxnSpPr>
          <p:nvPr/>
        </p:nvCxnSpPr>
        <p:spPr>
          <a:xfrm rot="5400000" flipH="1" flipV="1">
            <a:off x="5234589" y="544108"/>
            <a:ext cx="12700" cy="1856731"/>
          </a:xfrm>
          <a:prstGeom prst="curvedConnector3">
            <a:avLst>
              <a:gd name="adj1" fmla="val 2327205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Curved Connector 13"/>
          <p:cNvCxnSpPr>
            <a:stCxn id="6" idx="2"/>
            <a:endCxn id="5" idx="6"/>
          </p:cNvCxnSpPr>
          <p:nvPr/>
        </p:nvCxnSpPr>
        <p:spPr>
          <a:xfrm rot="10800000">
            <a:off x="4373180" y="1634118"/>
            <a:ext cx="1722821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Curved Connector 10"/>
          <p:cNvCxnSpPr>
            <a:stCxn id="7" idx="6"/>
            <a:endCxn id="6" idx="2"/>
          </p:cNvCxnSpPr>
          <p:nvPr/>
        </p:nvCxnSpPr>
        <p:spPr>
          <a:xfrm flipV="1">
            <a:off x="4373179" y="1634118"/>
            <a:ext cx="1722821" cy="190688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Curved Connector 10"/>
          <p:cNvCxnSpPr>
            <a:stCxn id="8" idx="2"/>
            <a:endCxn id="4" idx="6"/>
          </p:cNvCxnSpPr>
          <p:nvPr/>
        </p:nvCxnSpPr>
        <p:spPr>
          <a:xfrm flipH="1" flipV="1">
            <a:off x="2867983" y="2623422"/>
            <a:ext cx="3228017" cy="99088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Curved Connector 17"/>
          <p:cNvCxnSpPr>
            <a:stCxn id="8" idx="0"/>
            <a:endCxn id="6" idx="4"/>
          </p:cNvCxnSpPr>
          <p:nvPr/>
        </p:nvCxnSpPr>
        <p:spPr>
          <a:xfrm rot="5400000" flipH="1" flipV="1">
            <a:off x="5563107" y="2624212"/>
            <a:ext cx="1522987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903493" y="1770421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01028" y="3025831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3200" y="2240933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26497" y="855637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6315" y="4017284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8513" y="2423956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55870" y="1945937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-3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259" y="3100931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49632" y="2717583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-4</a:t>
            </a:r>
          </a:p>
        </p:txBody>
      </p:sp>
      <p:cxnSp>
        <p:nvCxnSpPr>
          <p:cNvPr id="31" name="Curved Connector 30"/>
          <p:cNvCxnSpPr>
            <a:cxnSpLocks/>
          </p:cNvCxnSpPr>
          <p:nvPr/>
        </p:nvCxnSpPr>
        <p:spPr>
          <a:xfrm>
            <a:off x="4257859" y="1827702"/>
            <a:ext cx="1856731" cy="165689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931055" y="1358281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-2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3620" y="1114379"/>
            <a:ext cx="3439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Calculate all at most 2 edges shortest paths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58383" y="2099825"/>
            <a:ext cx="381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45915" y="1129261"/>
            <a:ext cx="3564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/>
              <p:cNvSpPr txBox="1"/>
              <p:nvPr/>
            </p:nvSpPr>
            <p:spPr>
              <a:xfrm>
                <a:off x="6197788" y="1113729"/>
                <a:ext cx="3564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7788" y="1113729"/>
                <a:ext cx="356431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/>
          <p:cNvSpPr txBox="1"/>
          <p:nvPr/>
        </p:nvSpPr>
        <p:spPr>
          <a:xfrm>
            <a:off x="3934979" y="3845369"/>
            <a:ext cx="3564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/>
              <p:cNvSpPr txBox="1"/>
              <p:nvPr/>
            </p:nvSpPr>
            <p:spPr>
              <a:xfrm>
                <a:off x="6318250" y="3799202"/>
                <a:ext cx="3564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8250" y="3799202"/>
                <a:ext cx="356431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3915979" y="1124661"/>
                <a:ext cx="35643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/6</m:t>
                      </m:r>
                    </m:oMath>
                  </m:oMathPara>
                </a14:m>
                <a:endParaRPr lang="en-US" sz="11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5979" y="1124661"/>
                <a:ext cx="356431" cy="261610"/>
              </a:xfrm>
              <a:prstGeom prst="rect">
                <a:avLst/>
              </a:prstGeom>
              <a:blipFill>
                <a:blip r:embed="rId4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/>
          <p:cNvSpPr txBox="1"/>
          <p:nvPr/>
        </p:nvSpPr>
        <p:spPr>
          <a:xfrm>
            <a:off x="6488664" y="1113729"/>
            <a:ext cx="5504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ea typeface="Cambria Math"/>
              </a:rPr>
              <a:t>/11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067381" y="3872528"/>
            <a:ext cx="5504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ea typeface="Cambria Math"/>
              </a:rPr>
              <a:t>/7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552516" y="3777375"/>
            <a:ext cx="5504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ea typeface="Cambria Math"/>
              </a:rPr>
              <a:t>/2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410783" y="2078198"/>
            <a:ext cx="550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  <a:ea typeface="Cambria Math"/>
              </a:rPr>
              <a:t>/0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553200" y="1152217"/>
            <a:ext cx="5504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ea typeface="Cambria Math"/>
              </a:rPr>
              <a:t>/4</a:t>
            </a:r>
            <a:endParaRPr lang="en-US" sz="1400" dirty="0">
              <a:solidFill>
                <a:srgbClr val="FF0000"/>
              </a:solidFill>
            </a:endParaRPr>
          </a:p>
        </p:txBody>
      </p:sp>
      <p:cxnSp>
        <p:nvCxnSpPr>
          <p:cNvPr id="48" name="Curved Connector 10"/>
          <p:cNvCxnSpPr>
            <a:cxnSpLocks/>
          </p:cNvCxnSpPr>
          <p:nvPr/>
        </p:nvCxnSpPr>
        <p:spPr>
          <a:xfrm rot="5400000" flipH="1" flipV="1">
            <a:off x="5234590" y="544108"/>
            <a:ext cx="12700" cy="1856731"/>
          </a:xfrm>
          <a:prstGeom prst="curvedConnector3">
            <a:avLst>
              <a:gd name="adj1" fmla="val 2327205"/>
            </a:avLst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aphicFrame>
        <p:nvGraphicFramePr>
          <p:cNvPr id="50" name="Table 49">
            <a:extLst>
              <a:ext uri="{FF2B5EF4-FFF2-40B4-BE49-F238E27FC236}">
                <a16:creationId xmlns:a16="http://schemas.microsoft.com/office/drawing/2014/main" id="{D35910E4-DF60-4182-8099-5583ADCF2A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377247"/>
              </p:ext>
            </p:extLst>
          </p:nvPr>
        </p:nvGraphicFramePr>
        <p:xfrm>
          <a:off x="1600200" y="4623900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35617253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656808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90727617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19205325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375109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47092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0582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884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666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3355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1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4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4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52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4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6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6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7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7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8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91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9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4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6" grpId="1"/>
      <p:bldP spid="37" grpId="0"/>
      <p:bldP spid="38" grpId="0"/>
      <p:bldP spid="39" grpId="0"/>
      <p:bldP spid="4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78327"/>
          </a:xfrm>
        </p:spPr>
        <p:txBody>
          <a:bodyPr>
            <a:normAutofit fontScale="90000"/>
          </a:bodyPr>
          <a:lstStyle/>
          <a:p>
            <a:r>
              <a:rPr lang="en-US" dirty="0"/>
              <a:t>Bellman-Ford algorithm</a:t>
            </a:r>
          </a:p>
        </p:txBody>
      </p:sp>
      <p:sp>
        <p:nvSpPr>
          <p:cNvPr id="4" name="Oval 3"/>
          <p:cNvSpPr/>
          <p:nvPr/>
        </p:nvSpPr>
        <p:spPr>
          <a:xfrm>
            <a:off x="2806496" y="2452346"/>
            <a:ext cx="457200" cy="4572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4311692" y="1463042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6491713" y="1463042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4311692" y="3369923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6491713" y="3443229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9" name="Curved Connector 10"/>
          <p:cNvCxnSpPr>
            <a:stCxn id="4" idx="7"/>
            <a:endCxn id="5" idx="2"/>
          </p:cNvCxnSpPr>
          <p:nvPr/>
        </p:nvCxnSpPr>
        <p:spPr>
          <a:xfrm flipV="1">
            <a:off x="3196741" y="1691642"/>
            <a:ext cx="1114951" cy="82765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Curved Connector 9"/>
          <p:cNvCxnSpPr>
            <a:stCxn id="5" idx="4"/>
            <a:endCxn id="7" idx="0"/>
          </p:cNvCxnSpPr>
          <p:nvPr/>
        </p:nvCxnSpPr>
        <p:spPr>
          <a:xfrm rot="5400000">
            <a:off x="3815452" y="2645082"/>
            <a:ext cx="1449681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Curved Connector 10"/>
          <p:cNvCxnSpPr>
            <a:stCxn id="4" idx="5"/>
            <a:endCxn id="7" idx="2"/>
          </p:cNvCxnSpPr>
          <p:nvPr/>
        </p:nvCxnSpPr>
        <p:spPr>
          <a:xfrm>
            <a:off x="3196741" y="2842591"/>
            <a:ext cx="1114951" cy="7559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Curved Connector 10"/>
          <p:cNvCxnSpPr>
            <a:stCxn id="7" idx="5"/>
            <a:endCxn id="8" idx="3"/>
          </p:cNvCxnSpPr>
          <p:nvPr/>
        </p:nvCxnSpPr>
        <p:spPr>
          <a:xfrm rot="16200000" flipH="1">
            <a:off x="5593649" y="2868455"/>
            <a:ext cx="73306" cy="1856731"/>
          </a:xfrm>
          <a:prstGeom prst="curvedConnector3">
            <a:avLst>
              <a:gd name="adj1" fmla="val 50318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Curved Connector 10"/>
          <p:cNvCxnSpPr>
            <a:stCxn id="5" idx="7"/>
            <a:endCxn id="6" idx="1"/>
          </p:cNvCxnSpPr>
          <p:nvPr/>
        </p:nvCxnSpPr>
        <p:spPr>
          <a:xfrm rot="5400000" flipH="1" flipV="1">
            <a:off x="5630302" y="601632"/>
            <a:ext cx="12700" cy="1856731"/>
          </a:xfrm>
          <a:prstGeom prst="curvedConnector3">
            <a:avLst>
              <a:gd name="adj1" fmla="val 2327205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Curved Connector 13"/>
          <p:cNvCxnSpPr>
            <a:stCxn id="6" idx="2"/>
            <a:endCxn id="5" idx="6"/>
          </p:cNvCxnSpPr>
          <p:nvPr/>
        </p:nvCxnSpPr>
        <p:spPr>
          <a:xfrm rot="10800000">
            <a:off x="4768893" y="1691642"/>
            <a:ext cx="1722821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Curved Connector 10"/>
          <p:cNvCxnSpPr>
            <a:stCxn id="7" idx="6"/>
            <a:endCxn id="6" idx="2"/>
          </p:cNvCxnSpPr>
          <p:nvPr/>
        </p:nvCxnSpPr>
        <p:spPr>
          <a:xfrm flipV="1">
            <a:off x="4768892" y="1691642"/>
            <a:ext cx="1722821" cy="190688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Curved Connector 10"/>
          <p:cNvCxnSpPr>
            <a:stCxn id="8" idx="2"/>
            <a:endCxn id="4" idx="6"/>
          </p:cNvCxnSpPr>
          <p:nvPr/>
        </p:nvCxnSpPr>
        <p:spPr>
          <a:xfrm flipH="1" flipV="1">
            <a:off x="3263696" y="2680946"/>
            <a:ext cx="3228017" cy="99088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Curved Connector 17"/>
          <p:cNvCxnSpPr>
            <a:stCxn id="8" idx="0"/>
            <a:endCxn id="6" idx="4"/>
          </p:cNvCxnSpPr>
          <p:nvPr/>
        </p:nvCxnSpPr>
        <p:spPr>
          <a:xfrm rot="5400000" flipH="1" flipV="1">
            <a:off x="5958820" y="2681736"/>
            <a:ext cx="1522987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299206" y="1827945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96741" y="3083355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8913" y="2298457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0292" y="1978053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92028" y="4074808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4226" y="2481480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51583" y="2003461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-3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15972" y="3158455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5345" y="2775107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-4</a:t>
            </a:r>
          </a:p>
        </p:txBody>
      </p:sp>
      <p:cxnSp>
        <p:nvCxnSpPr>
          <p:cNvPr id="31" name="Curved Connector 30"/>
          <p:cNvCxnSpPr>
            <a:stCxn id="5" idx="5"/>
            <a:endCxn id="8" idx="1"/>
          </p:cNvCxnSpPr>
          <p:nvPr/>
        </p:nvCxnSpPr>
        <p:spPr>
          <a:xfrm>
            <a:off x="4701937" y="1853287"/>
            <a:ext cx="1856731" cy="165689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326768" y="1453512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-2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191" y="1142802"/>
            <a:ext cx="3439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Calculate all at most 3 edges shortest paths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54096" y="2157349"/>
            <a:ext cx="381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41628" y="1186785"/>
            <a:ext cx="3564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93501" y="1171253"/>
            <a:ext cx="356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30692" y="3902893"/>
            <a:ext cx="3564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13963" y="3856726"/>
            <a:ext cx="356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4311692" y="1182185"/>
                <a:ext cx="35643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/6</m:t>
                      </m:r>
                    </m:oMath>
                  </m:oMathPara>
                </a14:m>
                <a:endParaRPr lang="en-US" sz="11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1692" y="1182185"/>
                <a:ext cx="356431" cy="261610"/>
              </a:xfrm>
              <a:prstGeom prst="rect">
                <a:avLst/>
              </a:prstGeom>
              <a:blipFill>
                <a:blip r:embed="rId2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/>
          <p:cNvSpPr txBox="1"/>
          <p:nvPr/>
        </p:nvSpPr>
        <p:spPr>
          <a:xfrm>
            <a:off x="6884377" y="1171253"/>
            <a:ext cx="5504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ea typeface="Cambria Math"/>
              </a:rPr>
              <a:t>/4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463094" y="3930052"/>
            <a:ext cx="5504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ea typeface="Cambria Math"/>
              </a:rPr>
              <a:t>/7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948229" y="3834899"/>
            <a:ext cx="5504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ea typeface="Cambria Math"/>
              </a:rPr>
              <a:t>/2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806496" y="2135722"/>
            <a:ext cx="550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  <a:ea typeface="Cambria Math"/>
              </a:rPr>
              <a:t>/0</a:t>
            </a:r>
            <a:endParaRPr lang="en-US" sz="11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/>
              <p:cNvSpPr txBox="1"/>
              <p:nvPr/>
            </p:nvSpPr>
            <p:spPr>
              <a:xfrm>
                <a:off x="4381911" y="1175325"/>
                <a:ext cx="35643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/2</m:t>
                      </m:r>
                    </m:oMath>
                  </m:oMathPara>
                </a14:m>
                <a:endParaRPr lang="en-US" sz="11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911" y="1175325"/>
                <a:ext cx="356431" cy="261610"/>
              </a:xfrm>
              <a:prstGeom prst="rect">
                <a:avLst/>
              </a:prstGeom>
              <a:blipFill>
                <a:blip r:embed="rId3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A02C4581-3F19-4E87-980D-140E426C66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202068"/>
              </p:ext>
            </p:extLst>
          </p:nvPr>
        </p:nvGraphicFramePr>
        <p:xfrm>
          <a:off x="1600200" y="4623900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35617253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656808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90727617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19205325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375109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47092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0582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884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666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3743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1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4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61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7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7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8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9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9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5" grpId="1"/>
      <p:bldP spid="36" grpId="0"/>
      <p:bldP spid="37" grpId="0"/>
      <p:bldP spid="38" grpId="0"/>
      <p:bldP spid="39" grpId="0"/>
      <p:bldP spid="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4079"/>
          </a:xfrm>
        </p:spPr>
        <p:txBody>
          <a:bodyPr>
            <a:normAutofit fontScale="90000"/>
          </a:bodyPr>
          <a:lstStyle/>
          <a:p>
            <a:r>
              <a:rPr lang="en-US" dirty="0"/>
              <a:t>Bellman-Ford algorithm</a:t>
            </a:r>
          </a:p>
        </p:txBody>
      </p:sp>
      <p:sp>
        <p:nvSpPr>
          <p:cNvPr id="4" name="Oval 3"/>
          <p:cNvSpPr/>
          <p:nvPr/>
        </p:nvSpPr>
        <p:spPr>
          <a:xfrm>
            <a:off x="2457204" y="2511117"/>
            <a:ext cx="457200" cy="4572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3962400" y="1521813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6142421" y="1521813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3962400" y="3428694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6142421" y="3502000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9" name="Curved Connector 10"/>
          <p:cNvCxnSpPr>
            <a:stCxn id="4" idx="7"/>
            <a:endCxn id="5" idx="2"/>
          </p:cNvCxnSpPr>
          <p:nvPr/>
        </p:nvCxnSpPr>
        <p:spPr>
          <a:xfrm flipV="1">
            <a:off x="2847449" y="1750413"/>
            <a:ext cx="1114951" cy="82765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Curved Connector 9"/>
          <p:cNvCxnSpPr>
            <a:stCxn id="5" idx="4"/>
            <a:endCxn id="7" idx="0"/>
          </p:cNvCxnSpPr>
          <p:nvPr/>
        </p:nvCxnSpPr>
        <p:spPr>
          <a:xfrm rot="5400000">
            <a:off x="3466160" y="2703853"/>
            <a:ext cx="1449681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Curved Connector 10"/>
          <p:cNvCxnSpPr>
            <a:stCxn id="4" idx="5"/>
            <a:endCxn id="7" idx="2"/>
          </p:cNvCxnSpPr>
          <p:nvPr/>
        </p:nvCxnSpPr>
        <p:spPr>
          <a:xfrm>
            <a:off x="2847449" y="2901362"/>
            <a:ext cx="1114951" cy="7559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Curved Connector 10"/>
          <p:cNvCxnSpPr>
            <a:stCxn id="7" idx="5"/>
            <a:endCxn id="8" idx="3"/>
          </p:cNvCxnSpPr>
          <p:nvPr/>
        </p:nvCxnSpPr>
        <p:spPr>
          <a:xfrm rot="16200000" flipH="1">
            <a:off x="5244357" y="2927226"/>
            <a:ext cx="73306" cy="1856731"/>
          </a:xfrm>
          <a:prstGeom prst="curvedConnector3">
            <a:avLst>
              <a:gd name="adj1" fmla="val 50318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Curved Connector 10"/>
          <p:cNvCxnSpPr>
            <a:stCxn id="5" idx="7"/>
            <a:endCxn id="6" idx="1"/>
          </p:cNvCxnSpPr>
          <p:nvPr/>
        </p:nvCxnSpPr>
        <p:spPr>
          <a:xfrm rot="5400000" flipH="1" flipV="1">
            <a:off x="5281010" y="660403"/>
            <a:ext cx="12700" cy="1856731"/>
          </a:xfrm>
          <a:prstGeom prst="curvedConnector3">
            <a:avLst>
              <a:gd name="adj1" fmla="val 2327205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Curved Connector 13"/>
          <p:cNvCxnSpPr>
            <a:stCxn id="6" idx="2"/>
            <a:endCxn id="5" idx="6"/>
          </p:cNvCxnSpPr>
          <p:nvPr/>
        </p:nvCxnSpPr>
        <p:spPr>
          <a:xfrm rot="10800000">
            <a:off x="4419601" y="1750413"/>
            <a:ext cx="1722821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Curved Connector 10"/>
          <p:cNvCxnSpPr>
            <a:stCxn id="7" idx="6"/>
            <a:endCxn id="6" idx="2"/>
          </p:cNvCxnSpPr>
          <p:nvPr/>
        </p:nvCxnSpPr>
        <p:spPr>
          <a:xfrm flipV="1">
            <a:off x="4419600" y="1750413"/>
            <a:ext cx="1722821" cy="190688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Curved Connector 10"/>
          <p:cNvCxnSpPr>
            <a:stCxn id="8" idx="2"/>
            <a:endCxn id="4" idx="6"/>
          </p:cNvCxnSpPr>
          <p:nvPr/>
        </p:nvCxnSpPr>
        <p:spPr>
          <a:xfrm flipH="1" flipV="1">
            <a:off x="2914404" y="2739717"/>
            <a:ext cx="3228017" cy="99088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Curved Connector 17"/>
          <p:cNvCxnSpPr>
            <a:stCxn id="8" idx="0"/>
            <a:endCxn id="6" idx="4"/>
          </p:cNvCxnSpPr>
          <p:nvPr/>
        </p:nvCxnSpPr>
        <p:spPr>
          <a:xfrm rot="5400000" flipH="1" flipV="1">
            <a:off x="5609528" y="2740507"/>
            <a:ext cx="1522987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949914" y="1886716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47449" y="3142126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29621" y="2357228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2673" y="933179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42736" y="4133579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4934" y="2540251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2291" y="2062232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-3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680" y="3217226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96053" y="2833878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-4</a:t>
            </a:r>
          </a:p>
        </p:txBody>
      </p:sp>
      <p:cxnSp>
        <p:nvCxnSpPr>
          <p:cNvPr id="31" name="Curved Connector 30"/>
          <p:cNvCxnSpPr>
            <a:stCxn id="5" idx="5"/>
            <a:endCxn id="8" idx="1"/>
          </p:cNvCxnSpPr>
          <p:nvPr/>
        </p:nvCxnSpPr>
        <p:spPr>
          <a:xfrm>
            <a:off x="4352645" y="1912058"/>
            <a:ext cx="1856731" cy="165689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977476" y="1474576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-2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2158" y="689360"/>
            <a:ext cx="3439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Calculate all at most 4 edges shortest paths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04804" y="2216120"/>
            <a:ext cx="381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92336" y="1245556"/>
            <a:ext cx="3564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44209" y="1230024"/>
            <a:ext cx="356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81400" y="3961664"/>
            <a:ext cx="3564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64671" y="3915497"/>
            <a:ext cx="356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3962400" y="1240956"/>
                <a:ext cx="35643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/2</m:t>
                      </m:r>
                    </m:oMath>
                  </m:oMathPara>
                </a14:m>
                <a:endParaRPr lang="en-US" sz="11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1240956"/>
                <a:ext cx="356431" cy="261610"/>
              </a:xfrm>
              <a:prstGeom prst="rect">
                <a:avLst/>
              </a:prstGeom>
              <a:blipFill>
                <a:blip r:embed="rId2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/>
          <p:cNvSpPr txBox="1"/>
          <p:nvPr/>
        </p:nvSpPr>
        <p:spPr>
          <a:xfrm>
            <a:off x="6535085" y="1230024"/>
            <a:ext cx="5504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ea typeface="Cambria Math"/>
              </a:rPr>
              <a:t>/4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113802" y="3988823"/>
            <a:ext cx="5504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ea typeface="Cambria Math"/>
              </a:rPr>
              <a:t>/7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598937" y="3938580"/>
            <a:ext cx="5504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ea typeface="Cambria Math"/>
              </a:rPr>
              <a:t>/-2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457204" y="2194493"/>
            <a:ext cx="550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  <a:ea typeface="Cambria Math"/>
              </a:rPr>
              <a:t>/0</a:t>
            </a:r>
            <a:endParaRPr lang="en-US" sz="1100" dirty="0">
              <a:solidFill>
                <a:srgbClr val="FF0000"/>
              </a:solidFill>
            </a:endParaRP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922FE711-8228-40D5-BBBC-FF5FA5650F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2202683"/>
              </p:ext>
            </p:extLst>
          </p:nvPr>
        </p:nvGraphicFramePr>
        <p:xfrm>
          <a:off x="1600200" y="4623900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35617253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656808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90727617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19205325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375109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47092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0582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884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666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3525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1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3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5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59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7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7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8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5" grpId="1"/>
      <p:bldP spid="36" grpId="0"/>
      <p:bldP spid="37" grpId="0"/>
      <p:bldP spid="38" grpId="0"/>
      <p:bldP spid="3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algorithm</a:t>
            </a:r>
          </a:p>
        </p:txBody>
      </p:sp>
      <p:sp>
        <p:nvSpPr>
          <p:cNvPr id="4" name="Oval 3"/>
          <p:cNvSpPr/>
          <p:nvPr/>
        </p:nvSpPr>
        <p:spPr>
          <a:xfrm>
            <a:off x="1924823" y="3555991"/>
            <a:ext cx="457200" cy="4572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3430019" y="2566687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610040" y="2566687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3430019" y="4473568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5610040" y="4546874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9" name="Curved Connector 10"/>
          <p:cNvCxnSpPr>
            <a:stCxn id="4" idx="7"/>
            <a:endCxn id="5" idx="2"/>
          </p:cNvCxnSpPr>
          <p:nvPr/>
        </p:nvCxnSpPr>
        <p:spPr>
          <a:xfrm flipV="1">
            <a:off x="2315068" y="2795287"/>
            <a:ext cx="1114951" cy="82765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Curved Connector 9"/>
          <p:cNvCxnSpPr>
            <a:stCxn id="5" idx="4"/>
            <a:endCxn id="7" idx="0"/>
          </p:cNvCxnSpPr>
          <p:nvPr/>
        </p:nvCxnSpPr>
        <p:spPr>
          <a:xfrm rot="5400000">
            <a:off x="2933779" y="3748727"/>
            <a:ext cx="1449681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Curved Connector 10"/>
          <p:cNvCxnSpPr>
            <a:stCxn id="4" idx="5"/>
            <a:endCxn id="7" idx="2"/>
          </p:cNvCxnSpPr>
          <p:nvPr/>
        </p:nvCxnSpPr>
        <p:spPr>
          <a:xfrm>
            <a:off x="2315068" y="3946236"/>
            <a:ext cx="1114951" cy="7559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Curved Connector 10"/>
          <p:cNvCxnSpPr>
            <a:stCxn id="7" idx="5"/>
            <a:endCxn id="8" idx="3"/>
          </p:cNvCxnSpPr>
          <p:nvPr/>
        </p:nvCxnSpPr>
        <p:spPr>
          <a:xfrm rot="16200000" flipH="1">
            <a:off x="4711976" y="3972100"/>
            <a:ext cx="73306" cy="1856731"/>
          </a:xfrm>
          <a:prstGeom prst="curvedConnector3">
            <a:avLst>
              <a:gd name="adj1" fmla="val 50318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Curved Connector 10"/>
          <p:cNvCxnSpPr>
            <a:stCxn id="5" idx="7"/>
            <a:endCxn id="6" idx="1"/>
          </p:cNvCxnSpPr>
          <p:nvPr/>
        </p:nvCxnSpPr>
        <p:spPr>
          <a:xfrm rot="5400000" flipH="1" flipV="1">
            <a:off x="4748629" y="1705277"/>
            <a:ext cx="12700" cy="1856731"/>
          </a:xfrm>
          <a:prstGeom prst="curvedConnector3">
            <a:avLst>
              <a:gd name="adj1" fmla="val 2327205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Curved Connector 13"/>
          <p:cNvCxnSpPr>
            <a:stCxn id="6" idx="2"/>
            <a:endCxn id="5" idx="6"/>
          </p:cNvCxnSpPr>
          <p:nvPr/>
        </p:nvCxnSpPr>
        <p:spPr>
          <a:xfrm rot="10800000">
            <a:off x="3887220" y="2795287"/>
            <a:ext cx="1722821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Curved Connector 10"/>
          <p:cNvCxnSpPr>
            <a:stCxn id="7" idx="6"/>
            <a:endCxn id="6" idx="2"/>
          </p:cNvCxnSpPr>
          <p:nvPr/>
        </p:nvCxnSpPr>
        <p:spPr>
          <a:xfrm flipV="1">
            <a:off x="3887219" y="2795287"/>
            <a:ext cx="1722821" cy="190688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Curved Connector 10"/>
          <p:cNvCxnSpPr>
            <a:stCxn id="8" idx="2"/>
            <a:endCxn id="4" idx="6"/>
          </p:cNvCxnSpPr>
          <p:nvPr/>
        </p:nvCxnSpPr>
        <p:spPr>
          <a:xfrm flipH="1" flipV="1">
            <a:off x="2382023" y="3784591"/>
            <a:ext cx="3228017" cy="99088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Curved Connector 17"/>
          <p:cNvCxnSpPr>
            <a:stCxn id="8" idx="0"/>
            <a:endCxn id="6" idx="4"/>
          </p:cNvCxnSpPr>
          <p:nvPr/>
        </p:nvCxnSpPr>
        <p:spPr>
          <a:xfrm rot="5400000" flipH="1" flipV="1">
            <a:off x="5077147" y="3785381"/>
            <a:ext cx="1522987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417533" y="2931590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15068" y="4187000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97240" y="3402102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0292" y="1978053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0355" y="5178453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553" y="3585125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910" y="3107106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-3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4299" y="4262100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63672" y="3878752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-4</a:t>
            </a:r>
          </a:p>
        </p:txBody>
      </p:sp>
      <p:cxnSp>
        <p:nvCxnSpPr>
          <p:cNvPr id="31" name="Curved Connector 30"/>
          <p:cNvCxnSpPr>
            <a:stCxn id="5" idx="5"/>
            <a:endCxn id="8" idx="1"/>
          </p:cNvCxnSpPr>
          <p:nvPr/>
        </p:nvCxnSpPr>
        <p:spPr>
          <a:xfrm>
            <a:off x="3820264" y="2956932"/>
            <a:ext cx="1856731" cy="165689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445095" y="2519450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-2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1000" y="1612695"/>
            <a:ext cx="3439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Final result: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72423" y="3260994"/>
            <a:ext cx="381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59955" y="2290430"/>
            <a:ext cx="3564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11828" y="2274898"/>
            <a:ext cx="356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49019" y="5006538"/>
            <a:ext cx="3564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32290" y="4960371"/>
            <a:ext cx="356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5446694"/>
            <a:ext cx="3016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the shortest path from 1 to 5?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1000" y="6140642"/>
            <a:ext cx="301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weight of this path?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51661" y="5486230"/>
            <a:ext cx="301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1, 4, 3, 2, 5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16921" y="6093025"/>
            <a:ext cx="301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84925" y="5954525"/>
            <a:ext cx="3016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the shortest path from 1 to 2, 3, and 4?</a:t>
            </a:r>
          </a:p>
        </p:txBody>
      </p:sp>
    </p:spTree>
    <p:extLst>
      <p:ext uri="{BB962C8B-B14F-4D97-AF65-F5344CB8AC3E}">
        <p14:creationId xmlns:p14="http://schemas.microsoft.com/office/powerpoint/2010/main" val="216467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0" grpId="0"/>
      <p:bldP spid="41" grpId="0"/>
      <p:bldP spid="48" grpId="0"/>
      <p:bldP spid="3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Dijkstra’s</a:t>
            </a:r>
            <a:r>
              <a:rPr lang="en-US" dirty="0"/>
              <a:t>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r>
                  <a:rPr lang="en-US" dirty="0"/>
                  <a:t>A greedy algorithm</a:t>
                </a:r>
              </a:p>
              <a:p>
                <a:r>
                  <a:rPr lang="en-US" b="1" dirty="0" err="1"/>
                  <a:t>Dijkstra</a:t>
                </a:r>
                <a:r>
                  <a:rPr lang="en-US" dirty="0"/>
                  <a:t> (G, s)</a:t>
                </a:r>
              </a:p>
              <a:p>
                <a:pPr marL="400050" lvl="1" indent="0">
                  <a:buNone/>
                </a:pPr>
                <a:r>
                  <a:rPr lang="en-US" dirty="0"/>
                  <a:t>for each v in G.V{</a:t>
                </a:r>
              </a:p>
              <a:p>
                <a:pPr marL="800100" lvl="2" indent="0">
                  <a:buNone/>
                </a:pPr>
                <a:r>
                  <a:rPr lang="en-US" b="1" dirty="0"/>
                  <a:t>if</a:t>
                </a:r>
                <a:r>
                  <a:rPr lang="en-US" dirty="0"/>
                  <a:t>(v==s)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  <m:r>
                          <a:rPr lang="en-US" i="1" dirty="0">
                            <a:latin typeface="Cambria Math"/>
                          </a:rPr>
                          <m:t>,</m:t>
                        </m:r>
                        <m:r>
                          <a:rPr lang="en-US" i="1" dirty="0">
                            <a:latin typeface="Cambria Math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dirty="0"/>
                  <a:t>=0; </a:t>
                </a:r>
                <a:r>
                  <a:rPr lang="en-US" b="1" dirty="0"/>
                  <a:t>else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  <m:r>
                          <a:rPr lang="en-US" i="1" dirty="0">
                            <a:latin typeface="Cambria Math"/>
                          </a:rPr>
                          <m:t>,</m:t>
                        </m:r>
                        <m:r>
                          <a:rPr lang="en-US" i="1" dirty="0">
                            <a:latin typeface="Cambria Math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dirty="0"/>
                  <a:t>=</a:t>
                </a:r>
                <a:r>
                  <a:rPr lang="en-US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  <a:ea typeface="Cambria Math"/>
                      </a:rPr>
                      <m:t>∞; </m:t>
                    </m:r>
                  </m:oMath>
                </a14:m>
                <a:r>
                  <a:rPr lang="en-US" dirty="0"/>
                  <a:t>//set the 0-edge shortest distance </a:t>
                </a:r>
              </a:p>
              <a:p>
                <a:pPr marL="800100" lvl="2" indent="0">
                  <a:buNone/>
                </a:pPr>
                <a:r>
                  <a:rPr lang="en-US" dirty="0"/>
                  <a:t>                                                        from s to v</a:t>
                </a:r>
              </a:p>
              <a:p>
                <a:pPr marL="800100" lvl="2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  <a:ea typeface="Cambria Math"/>
                          </a:rPr>
                          <m:t>𝜋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  <m:r>
                          <a:rPr lang="en-US" i="1" dirty="0">
                            <a:latin typeface="Cambria Math"/>
                          </a:rPr>
                          <m:t>,</m:t>
                        </m:r>
                        <m:r>
                          <a:rPr lang="en-US" i="1" dirty="0">
                            <a:latin typeface="Cambria Math"/>
                          </a:rPr>
                          <m:t>𝑣</m:t>
                        </m:r>
                      </m:sub>
                    </m:sSub>
                    <m:r>
                      <a:rPr lang="en-US" dirty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dirty="0">
                        <a:latin typeface="Cambria Math"/>
                      </a:rPr>
                      <m:t>NIL</m:t>
                    </m:r>
                  </m:oMath>
                </a14:m>
                <a:r>
                  <a:rPr lang="en-US" i="1" dirty="0"/>
                  <a:t>;  //</a:t>
                </a:r>
                <a:r>
                  <a:rPr lang="en-US" dirty="0"/>
                  <a:t>set the predecessor of v on the shortest path</a:t>
                </a:r>
              </a:p>
              <a:p>
                <a:pPr marL="400050" lvl="1" indent="0">
                  <a:buNone/>
                </a:pPr>
                <a:r>
                  <a:rPr lang="en-US" dirty="0"/>
                  <a:t>}</a:t>
                </a:r>
              </a:p>
              <a:p>
                <a:pPr marL="400050" lvl="1" indent="0">
                  <a:buNone/>
                </a:pPr>
                <a:r>
                  <a:rPr lang="en-US" dirty="0"/>
                  <a:t>S=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∅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;</m:t>
                    </m:r>
                  </m:oMath>
                </a14:m>
                <a:r>
                  <a:rPr lang="en-US" dirty="0"/>
                  <a:t>//the set of vertices whose final shortest-path </a:t>
                </a:r>
              </a:p>
              <a:p>
                <a:pPr marL="400050" lvl="1" indent="0">
                  <a:buNone/>
                </a:pPr>
                <a:r>
                  <a:rPr lang="en-US" dirty="0"/>
                  <a:t>            weights have already been determined</a:t>
                </a:r>
              </a:p>
              <a:p>
                <a:pPr marL="400050" lvl="1" indent="0">
                  <a:buNone/>
                </a:pPr>
                <a:r>
                  <a:rPr lang="en-US" dirty="0"/>
                  <a:t>Q=G.V;</a:t>
                </a:r>
              </a:p>
              <a:p>
                <a:pPr marL="400050" lvl="1" indent="0">
                  <a:buNone/>
                </a:pPr>
                <a:r>
                  <a:rPr lang="en-US" dirty="0"/>
                  <a:t>while(Q</a:t>
                </a:r>
                <a:r>
                  <a:rPr lang="en-US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∅</m:t>
                    </m:r>
                  </m:oMath>
                </a14:m>
                <a:r>
                  <a:rPr lang="en-US" dirty="0"/>
                  <a:t>){</a:t>
                </a:r>
              </a:p>
              <a:p>
                <a:pPr marL="800100" lvl="2" indent="0">
                  <a:buNone/>
                </a:pPr>
                <a:r>
                  <a:rPr lang="en-US" dirty="0"/>
                  <a:t>u=Extract-Min(Q);  </a:t>
                </a:r>
              </a:p>
              <a:p>
                <a:pPr marL="800100" lvl="2" indent="0">
                  <a:buNone/>
                </a:pPr>
                <a:r>
                  <a:rPr lang="en-US" dirty="0"/>
                  <a:t>S=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/>
                        <a:ea typeface="Cambria Math"/>
                      </a:rPr>
                      <m:t>S</m:t>
                    </m:r>
                    <m:r>
                      <a:rPr lang="en-US" i="1" smtClean="0">
                        <a:latin typeface="Cambria Math"/>
                        <a:ea typeface="Cambria Math"/>
                      </a:rPr>
                      <m:t>∪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{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𝑢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}</m:t>
                    </m:r>
                  </m:oMath>
                </a14:m>
                <a:r>
                  <a:rPr lang="en-US" dirty="0"/>
                  <a:t>; </a:t>
                </a:r>
              </a:p>
              <a:p>
                <a:pPr marL="800100" lvl="2" indent="0">
                  <a:buNone/>
                </a:pPr>
                <a:r>
                  <a:rPr lang="en-US" dirty="0"/>
                  <a:t>for all (u, v){//the greedy choice</a:t>
                </a:r>
              </a:p>
              <a:p>
                <a:pPr marL="1257300" lvl="3" indent="0">
                  <a:buNone/>
                </a:pPr>
                <a:r>
                  <a:rPr lang="en-US" dirty="0"/>
                  <a:t>if(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  <m:r>
                          <a:rPr lang="en-US" i="1" dirty="0">
                            <a:latin typeface="Cambria Math"/>
                          </a:rPr>
                          <m:t>,</m:t>
                        </m:r>
                        <m:r>
                          <a:rPr lang="en-US" i="1" dirty="0">
                            <a:latin typeface="Cambria Math"/>
                          </a:rPr>
                          <m:t>𝑣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  <m:r>
                          <a:rPr lang="en-US" i="1" dirty="0">
                            <a:latin typeface="Cambria Math"/>
                          </a:rPr>
                          <m:t>,</m:t>
                        </m:r>
                        <m:r>
                          <a:rPr lang="en-US" i="1" dirty="0">
                            <a:latin typeface="Cambria Math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(</m:t>
                        </m:r>
                        <m:r>
                          <a:rPr lang="en-US" i="1" dirty="0">
                            <a:latin typeface="Cambria Math"/>
                          </a:rPr>
                          <m:t>𝑢</m:t>
                        </m:r>
                        <m:r>
                          <a:rPr lang="en-US" i="1" dirty="0">
                            <a:latin typeface="Cambria Math"/>
                          </a:rPr>
                          <m:t>,</m:t>
                        </m:r>
                        <m:r>
                          <a:rPr lang="en-US" i="1" dirty="0">
                            <a:latin typeface="Cambria Math"/>
                          </a:rPr>
                          <m:t>𝑣</m:t>
                        </m:r>
                        <m:r>
                          <a:rPr lang="en-US" i="1" dirty="0">
                            <a:latin typeface="Cambria Math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dirty="0"/>
                  <a:t>){</a:t>
                </a:r>
              </a:p>
              <a:p>
                <a:pPr marL="1714500" lvl="4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  <m:r>
                          <a:rPr lang="en-US" i="1" dirty="0">
                            <a:latin typeface="Cambria Math"/>
                          </a:rPr>
                          <m:t>,</m:t>
                        </m:r>
                        <m:r>
                          <a:rPr lang="en-US" i="1" dirty="0">
                            <a:latin typeface="Cambria Math"/>
                          </a:rPr>
                          <m:t>𝑣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  <m:r>
                          <a:rPr lang="en-US" i="1" dirty="0">
                            <a:latin typeface="Cambria Math"/>
                          </a:rPr>
                          <m:t>,</m:t>
                        </m:r>
                        <m:r>
                          <a:rPr lang="en-US" i="1" dirty="0">
                            <a:latin typeface="Cambria Math"/>
                          </a:rPr>
                          <m:t>𝑢</m:t>
                        </m:r>
                      </m:sub>
                    </m:sSub>
                    <m:r>
                      <m:rPr>
                        <m:nor/>
                      </m:rPr>
                      <a:rPr lang="en-US" dirty="0"/>
                      <m:t>+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(</m:t>
                        </m:r>
                        <m:r>
                          <a:rPr lang="en-US" i="1" dirty="0">
                            <a:latin typeface="Cambria Math"/>
                          </a:rPr>
                          <m:t>𝑢</m:t>
                        </m:r>
                        <m:r>
                          <a:rPr lang="en-US" i="1" dirty="0">
                            <a:latin typeface="Cambria Math"/>
                          </a:rPr>
                          <m:t>,</m:t>
                        </m:r>
                        <m:r>
                          <a:rPr lang="en-US" i="1" dirty="0">
                            <a:latin typeface="Cambria Math"/>
                          </a:rPr>
                          <m:t>𝑣</m:t>
                        </m:r>
                        <m:r>
                          <a:rPr lang="en-US" i="1" dirty="0">
                            <a:latin typeface="Cambria Math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dirty="0"/>
                  <a:t>;</a:t>
                </a:r>
              </a:p>
              <a:p>
                <a:pPr marL="1714500" lvl="4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  <a:ea typeface="Cambria Math"/>
                          </a:rPr>
                          <m:t>𝜋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  <m:r>
                          <a:rPr lang="en-US" i="1" dirty="0">
                            <a:latin typeface="Cambria Math"/>
                          </a:rPr>
                          <m:t>,</m:t>
                        </m:r>
                        <m:r>
                          <a:rPr lang="en-US" i="1" dirty="0">
                            <a:latin typeface="Cambria Math"/>
                          </a:rPr>
                          <m:t>𝑣</m:t>
                        </m:r>
                      </m:sub>
                    </m:sSub>
                    <m:r>
                      <a:rPr lang="en-US" dirty="0">
                        <a:latin typeface="Cambria Math"/>
                      </a:rPr>
                      <m:t>=</m:t>
                    </m:r>
                    <m:r>
                      <a:rPr lang="en-US" i="1" dirty="0">
                        <a:latin typeface="Cambria Math"/>
                      </a:rPr>
                      <m:t>𝑢</m:t>
                    </m:r>
                  </m:oMath>
                </a14:m>
                <a:r>
                  <a:rPr lang="en-US" i="1" dirty="0"/>
                  <a:t>; </a:t>
                </a:r>
                <a:endParaRPr lang="en-US" dirty="0"/>
              </a:p>
              <a:p>
                <a:pPr marL="1257300" lvl="3" indent="0">
                  <a:buNone/>
                </a:pPr>
                <a:r>
                  <a:rPr lang="en-US" dirty="0"/>
                  <a:t>}</a:t>
                </a:r>
              </a:p>
              <a:p>
                <a:pPr marL="800100" lvl="2" indent="0">
                  <a:buNone/>
                </a:pPr>
                <a:r>
                  <a:rPr lang="en-US" dirty="0"/>
                  <a:t>}</a:t>
                </a:r>
              </a:p>
              <a:p>
                <a:pPr marL="400050" lvl="1" indent="0">
                  <a:buNone/>
                </a:pPr>
                <a:r>
                  <a:rPr lang="en-US" dirty="0"/>
                  <a:t>}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444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09600" y="6248400"/>
                <a:ext cx="12328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T(n)=O(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/>
                          </a:rPr>
                          <m:t>𝑉</m:t>
                        </m:r>
                      </m:e>
                      <m:sup>
                        <m:r>
                          <a:rPr lang="en-US" b="0" i="1" dirty="0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6248400"/>
                <a:ext cx="1232838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3960" t="-8197" r="-445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149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">
            <a:extLst>
              <a:ext uri="{FF2B5EF4-FFF2-40B4-BE49-F238E27FC236}">
                <a16:creationId xmlns:a16="http://schemas.microsoft.com/office/drawing/2014/main" id="{B921D0DE-346B-466E-BB2D-F335F438AF5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 eaLnBrk="1" hangingPunct="1">
              <a:lnSpc>
                <a:spcPct val="95000"/>
              </a:lnSpc>
            </a:pPr>
            <a:r>
              <a:rPr lang="en-US" altLang="en-US" sz="4400">
                <a:solidFill>
                  <a:srgbClr val="FF0000"/>
                </a:solidFill>
                <a:latin typeface="Arial" panose="020B0604020202020204" pitchFamily="34" charset="0"/>
              </a:rPr>
              <a:t>Dijkstra's algorithm </a:t>
            </a:r>
            <a:r>
              <a:rPr lang="en-US" altLang="en-US" sz="4200">
                <a:solidFill>
                  <a:srgbClr val="FF0000"/>
                </a:solidFill>
                <a:latin typeface="Arial" panose="020B0604020202020204" pitchFamily="34" charset="0"/>
              </a:rPr>
              <a:t>Pseudocode</a:t>
            </a:r>
            <a:endParaRPr lang="en-US" altLang="en-US" sz="4200">
              <a:solidFill>
                <a:srgbClr val="3B62AF"/>
              </a:solidFill>
              <a:latin typeface="Arial" panose="020B0604020202020204" pitchFamily="34" charset="0"/>
            </a:endParaRPr>
          </a:p>
        </p:txBody>
      </p:sp>
      <p:sp>
        <p:nvSpPr>
          <p:cNvPr id="33795" name="Text Box 4">
            <a:extLst>
              <a:ext uri="{FF2B5EF4-FFF2-40B4-BE49-F238E27FC236}">
                <a16:creationId xmlns:a16="http://schemas.microsoft.com/office/drawing/2014/main" id="{6A447518-B6F2-4D33-A767-8E9E5A72B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828800"/>
            <a:ext cx="8686800" cy="315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8223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223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223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223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223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22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22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22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22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5000"/>
              </a:lnSpc>
            </a:pPr>
            <a:r>
              <a:rPr lang="en-US" altLang="en-US">
                <a:solidFill>
                  <a:srgbClr val="674EA7"/>
                </a:solidFill>
                <a:latin typeface="Constantia" panose="02030602050306030303" pitchFamily="18" charset="0"/>
              </a:rPr>
              <a:t>dist[s] ←0        			</a:t>
            </a:r>
            <a:r>
              <a:rPr lang="en-US" altLang="en-US">
                <a:solidFill>
                  <a:srgbClr val="C00000"/>
                </a:solidFill>
                <a:latin typeface="Constantia" panose="02030602050306030303" pitchFamily="18" charset="0"/>
              </a:rPr>
              <a:t>(distance to source vertex is zero)</a:t>
            </a:r>
            <a:br>
              <a:rPr lang="en-US" altLang="en-US">
                <a:solidFill>
                  <a:srgbClr val="444444"/>
                </a:solidFill>
                <a:latin typeface="Constantia" panose="02030602050306030303" pitchFamily="18" charset="0"/>
              </a:rPr>
            </a:br>
            <a:r>
              <a:rPr lang="en-US" altLang="en-US">
                <a:solidFill>
                  <a:srgbClr val="444444"/>
                </a:solidFill>
                <a:latin typeface="Constantia" panose="02030602050306030303" pitchFamily="18" charset="0"/>
              </a:rPr>
              <a:t>for  all </a:t>
            </a:r>
            <a:r>
              <a:rPr lang="en-US" altLang="en-US">
                <a:solidFill>
                  <a:srgbClr val="674EA7"/>
                </a:solidFill>
                <a:latin typeface="Constantia" panose="02030602050306030303" pitchFamily="18" charset="0"/>
              </a:rPr>
              <a:t>v </a:t>
            </a:r>
            <a:r>
              <a:rPr lang="en-US" altLang="en-US">
                <a:solidFill>
                  <a:srgbClr val="674EA7"/>
                </a:solidFill>
                <a:latin typeface="Constantia" panose="02030602050306030303" pitchFamily="18" charset="0"/>
                <a:sym typeface="Symbol" panose="05050102010706020507" pitchFamily="18" charset="2"/>
              </a:rPr>
              <a:t></a:t>
            </a:r>
            <a:r>
              <a:rPr lang="en-US" altLang="en-US">
                <a:solidFill>
                  <a:srgbClr val="674EA7"/>
                </a:solidFill>
                <a:latin typeface="Constantia" panose="02030602050306030303" pitchFamily="18" charset="0"/>
              </a:rPr>
              <a:t> V–{s}</a:t>
            </a:r>
            <a:br>
              <a:rPr lang="en-US" altLang="en-US">
                <a:solidFill>
                  <a:srgbClr val="444444"/>
                </a:solidFill>
                <a:latin typeface="Constantia" panose="02030602050306030303" pitchFamily="18" charset="0"/>
              </a:rPr>
            </a:br>
            <a:r>
              <a:rPr lang="en-US" altLang="en-US">
                <a:solidFill>
                  <a:srgbClr val="444444"/>
                </a:solidFill>
                <a:latin typeface="Constantia" panose="02030602050306030303" pitchFamily="18" charset="0"/>
              </a:rPr>
              <a:t>        do  </a:t>
            </a:r>
            <a:r>
              <a:rPr lang="en-US" altLang="en-US">
                <a:solidFill>
                  <a:srgbClr val="674EA7"/>
                </a:solidFill>
                <a:latin typeface="Constantia" panose="02030602050306030303" pitchFamily="18" charset="0"/>
              </a:rPr>
              <a:t>dist[v] ←∞ 		</a:t>
            </a:r>
            <a:r>
              <a:rPr lang="en-US" altLang="en-US">
                <a:solidFill>
                  <a:srgbClr val="C00000"/>
                </a:solidFill>
                <a:latin typeface="Constantia" panose="02030602050306030303" pitchFamily="18" charset="0"/>
              </a:rPr>
              <a:t>(set all other distances to infinity) </a:t>
            </a:r>
            <a:br>
              <a:rPr lang="en-US" altLang="en-US">
                <a:solidFill>
                  <a:srgbClr val="444444"/>
                </a:solidFill>
                <a:latin typeface="Constantia" panose="02030602050306030303" pitchFamily="18" charset="0"/>
              </a:rPr>
            </a:br>
            <a:r>
              <a:rPr lang="en-US" altLang="en-US">
                <a:solidFill>
                  <a:srgbClr val="674EA7"/>
                </a:solidFill>
                <a:latin typeface="Constantia" panose="02030602050306030303" pitchFamily="18" charset="0"/>
              </a:rPr>
              <a:t>S←∅ 				</a:t>
            </a:r>
            <a:r>
              <a:rPr lang="en-US" altLang="en-US">
                <a:solidFill>
                  <a:srgbClr val="C00000"/>
                </a:solidFill>
                <a:latin typeface="Constantia" panose="02030602050306030303" pitchFamily="18" charset="0"/>
              </a:rPr>
              <a:t>(S, the set of visited vertices is initially empty) </a:t>
            </a:r>
            <a:br>
              <a:rPr lang="en-US" altLang="en-US">
                <a:solidFill>
                  <a:srgbClr val="444444"/>
                </a:solidFill>
                <a:latin typeface="Constantia" panose="02030602050306030303" pitchFamily="18" charset="0"/>
              </a:rPr>
            </a:br>
            <a:r>
              <a:rPr lang="en-US" altLang="en-US">
                <a:solidFill>
                  <a:srgbClr val="674EA7"/>
                </a:solidFill>
                <a:latin typeface="Constantia" panose="02030602050306030303" pitchFamily="18" charset="0"/>
              </a:rPr>
              <a:t>Q←V </a:t>
            </a:r>
            <a:r>
              <a:rPr lang="en-US" altLang="en-US">
                <a:solidFill>
                  <a:srgbClr val="C00000"/>
                </a:solidFill>
                <a:latin typeface="Constantia" panose="02030602050306030303" pitchFamily="18" charset="0"/>
              </a:rPr>
              <a:t> 				(Q, the queue initially contains all vertices) </a:t>
            </a:r>
            <a:r>
              <a:rPr lang="en-US" altLang="en-US">
                <a:solidFill>
                  <a:srgbClr val="674EA7"/>
                </a:solidFill>
                <a:latin typeface="Constantia" panose="02030602050306030303" pitchFamily="18" charset="0"/>
              </a:rPr>
              <a:t>              </a:t>
            </a:r>
            <a:br>
              <a:rPr lang="en-US" altLang="en-US">
                <a:solidFill>
                  <a:srgbClr val="444444"/>
                </a:solidFill>
                <a:latin typeface="Constantia" panose="02030602050306030303" pitchFamily="18" charset="0"/>
              </a:rPr>
            </a:br>
            <a:r>
              <a:rPr lang="en-US" altLang="en-US">
                <a:solidFill>
                  <a:srgbClr val="444444"/>
                </a:solidFill>
                <a:latin typeface="Constantia" panose="02030602050306030303" pitchFamily="18" charset="0"/>
              </a:rPr>
              <a:t>while </a:t>
            </a:r>
            <a:r>
              <a:rPr lang="en-US" altLang="en-US">
                <a:solidFill>
                  <a:srgbClr val="674EA7"/>
                </a:solidFill>
                <a:latin typeface="Constantia" panose="02030602050306030303" pitchFamily="18" charset="0"/>
              </a:rPr>
              <a:t>Q ≠∅ 			</a:t>
            </a:r>
            <a:r>
              <a:rPr lang="en-US" altLang="en-US">
                <a:solidFill>
                  <a:srgbClr val="C00000"/>
                </a:solidFill>
                <a:latin typeface="Constantia" panose="02030602050306030303" pitchFamily="18" charset="0"/>
              </a:rPr>
              <a:t>(while the queue is not empty) </a:t>
            </a:r>
            <a:br>
              <a:rPr lang="en-US" altLang="en-US">
                <a:solidFill>
                  <a:srgbClr val="444444"/>
                </a:solidFill>
                <a:latin typeface="Constantia" panose="02030602050306030303" pitchFamily="18" charset="0"/>
              </a:rPr>
            </a:br>
            <a:r>
              <a:rPr lang="en-US" altLang="en-US">
                <a:solidFill>
                  <a:srgbClr val="444444"/>
                </a:solidFill>
                <a:latin typeface="Constantia" panose="02030602050306030303" pitchFamily="18" charset="0"/>
              </a:rPr>
              <a:t>do  </a:t>
            </a:r>
            <a:r>
              <a:rPr lang="en-US" altLang="en-US">
                <a:solidFill>
                  <a:srgbClr val="674EA7"/>
                </a:solidFill>
                <a:latin typeface="Constantia" panose="02030602050306030303" pitchFamily="18" charset="0"/>
              </a:rPr>
              <a:t> u ← </a:t>
            </a:r>
            <a:r>
              <a:rPr lang="en-US" altLang="en-US">
                <a:solidFill>
                  <a:srgbClr val="444444"/>
                </a:solidFill>
                <a:latin typeface="Constantia" panose="02030602050306030303" pitchFamily="18" charset="0"/>
              </a:rPr>
              <a:t>mindistance</a:t>
            </a:r>
            <a:r>
              <a:rPr lang="en-US" altLang="en-US">
                <a:solidFill>
                  <a:srgbClr val="674EA7"/>
                </a:solidFill>
                <a:latin typeface="Constantia" panose="02030602050306030303" pitchFamily="18" charset="0"/>
              </a:rPr>
              <a:t>(Q,dist)	</a:t>
            </a:r>
            <a:r>
              <a:rPr lang="en-US" altLang="en-US">
                <a:solidFill>
                  <a:srgbClr val="C00000"/>
                </a:solidFill>
                <a:latin typeface="Constantia" panose="02030602050306030303" pitchFamily="18" charset="0"/>
              </a:rPr>
              <a:t>(select the element of Q with the min. distance) </a:t>
            </a:r>
            <a:br>
              <a:rPr lang="en-US" altLang="en-US">
                <a:solidFill>
                  <a:srgbClr val="444444"/>
                </a:solidFill>
                <a:latin typeface="Constantia" panose="02030602050306030303" pitchFamily="18" charset="0"/>
              </a:rPr>
            </a:br>
            <a:r>
              <a:rPr lang="en-US" altLang="en-US">
                <a:solidFill>
                  <a:srgbClr val="444444"/>
                </a:solidFill>
                <a:latin typeface="Constantia" panose="02030602050306030303" pitchFamily="18" charset="0"/>
              </a:rPr>
              <a:t>    </a:t>
            </a:r>
            <a:r>
              <a:rPr lang="en-US" altLang="en-US">
                <a:solidFill>
                  <a:srgbClr val="674EA7"/>
                </a:solidFill>
                <a:latin typeface="Constantia" panose="02030602050306030303" pitchFamily="18" charset="0"/>
              </a:rPr>
              <a:t>  S←S </a:t>
            </a:r>
            <a:r>
              <a:rPr lang="en-US" altLang="en-US">
                <a:solidFill>
                  <a:srgbClr val="674EA7"/>
                </a:solidFill>
                <a:sym typeface="Symbol" panose="05050102010706020507" pitchFamily="18" charset="2"/>
              </a:rPr>
              <a:t></a:t>
            </a:r>
            <a:r>
              <a:rPr lang="en-US" altLang="en-US">
                <a:solidFill>
                  <a:srgbClr val="674EA7"/>
                </a:solidFill>
                <a:latin typeface="Constantia" panose="02030602050306030303" pitchFamily="18" charset="0"/>
              </a:rPr>
              <a:t>{u} 			</a:t>
            </a:r>
            <a:r>
              <a:rPr lang="en-US" altLang="en-US">
                <a:solidFill>
                  <a:srgbClr val="C00000"/>
                </a:solidFill>
                <a:latin typeface="Constantia" panose="02030602050306030303" pitchFamily="18" charset="0"/>
              </a:rPr>
              <a:t>(add u to list of visited vertices) </a:t>
            </a:r>
            <a:br>
              <a:rPr lang="en-US" altLang="en-US">
                <a:solidFill>
                  <a:srgbClr val="444444"/>
                </a:solidFill>
                <a:latin typeface="Constantia" panose="02030602050306030303" pitchFamily="18" charset="0"/>
              </a:rPr>
            </a:br>
            <a:r>
              <a:rPr lang="en-US" altLang="en-US">
                <a:solidFill>
                  <a:srgbClr val="444444"/>
                </a:solidFill>
                <a:latin typeface="Constantia" panose="02030602050306030303" pitchFamily="18" charset="0"/>
              </a:rPr>
              <a:t>       for all </a:t>
            </a:r>
            <a:r>
              <a:rPr lang="en-US" altLang="en-US">
                <a:solidFill>
                  <a:srgbClr val="674EA7"/>
                </a:solidFill>
                <a:latin typeface="Constantia" panose="02030602050306030303" pitchFamily="18" charset="0"/>
              </a:rPr>
              <a:t>v </a:t>
            </a:r>
            <a:r>
              <a:rPr lang="en-US" altLang="en-US">
                <a:solidFill>
                  <a:srgbClr val="674EA7"/>
                </a:solidFill>
                <a:sym typeface="Symbol" panose="05050102010706020507" pitchFamily="18" charset="2"/>
              </a:rPr>
              <a:t></a:t>
            </a:r>
            <a:r>
              <a:rPr lang="en-US" altLang="en-US">
                <a:solidFill>
                  <a:srgbClr val="674EA7"/>
                </a:solidFill>
                <a:latin typeface="Constantia" panose="02030602050306030303" pitchFamily="18" charset="0"/>
              </a:rPr>
              <a:t> neighbors[u]  </a:t>
            </a:r>
            <a:r>
              <a:rPr lang="en-US" altLang="en-US">
                <a:solidFill>
                  <a:srgbClr val="444444"/>
                </a:solidFill>
                <a:latin typeface="Constantia" panose="02030602050306030303" pitchFamily="18" charset="0"/>
              </a:rPr>
              <a:t>do  </a:t>
            </a:r>
          </a:p>
          <a:p>
            <a:pPr eaLnBrk="1" hangingPunct="1">
              <a:lnSpc>
                <a:spcPct val="95000"/>
              </a:lnSpc>
            </a:pPr>
            <a:r>
              <a:rPr lang="en-US" altLang="en-US">
                <a:solidFill>
                  <a:srgbClr val="444444"/>
                </a:solidFill>
                <a:latin typeface="Constantia" panose="02030602050306030303" pitchFamily="18" charset="0"/>
              </a:rPr>
              <a:t>                     </a:t>
            </a:r>
            <a:r>
              <a:rPr lang="en-US" altLang="en-US">
                <a:solidFill>
                  <a:srgbClr val="674EA7"/>
                </a:solidFill>
                <a:latin typeface="Constantia" panose="02030602050306030303" pitchFamily="18" charset="0"/>
              </a:rPr>
              <a:t>dist[v]= min(</a:t>
            </a:r>
            <a:r>
              <a:rPr lang="en-US" altLang="en-US">
                <a:solidFill>
                  <a:srgbClr val="674EA7"/>
                </a:solidFill>
              </a:rPr>
              <a:t>dist[v],</a:t>
            </a:r>
            <a:r>
              <a:rPr lang="en-US" altLang="en-US"/>
              <a:t> </a:t>
            </a:r>
            <a:r>
              <a:rPr lang="en-US" altLang="en-US">
                <a:solidFill>
                  <a:srgbClr val="674EA7"/>
                </a:solidFill>
                <a:latin typeface="Constantia" panose="02030602050306030303" pitchFamily="18" charset="0"/>
              </a:rPr>
              <a:t>dist[u] + w(u, v))  </a:t>
            </a:r>
            <a:r>
              <a:rPr lang="en-US" altLang="en-US">
                <a:solidFill>
                  <a:srgbClr val="C00000"/>
                </a:solidFill>
                <a:latin typeface="Constantia" panose="02030602050306030303" pitchFamily="18" charset="0"/>
              </a:rPr>
              <a:t>(update distance)  </a:t>
            </a:r>
            <a:r>
              <a:rPr lang="en-US" altLang="en-US">
                <a:solidFill>
                  <a:srgbClr val="444444"/>
                </a:solidFill>
                <a:latin typeface="Constantia" panose="02030602050306030303" pitchFamily="18" charset="0"/>
              </a:rPr>
              <a:t>                      </a:t>
            </a:r>
          </a:p>
          <a:p>
            <a:pPr eaLnBrk="1" hangingPunct="1">
              <a:lnSpc>
                <a:spcPct val="95000"/>
              </a:lnSpc>
            </a:pPr>
            <a:r>
              <a:rPr lang="en-US" altLang="en-US">
                <a:solidFill>
                  <a:srgbClr val="444444"/>
                </a:solidFill>
                <a:latin typeface="Constantia" panose="02030602050306030303" pitchFamily="18" charset="0"/>
              </a:rPr>
              <a:t>return </a:t>
            </a:r>
            <a:r>
              <a:rPr lang="en-US" altLang="en-US">
                <a:solidFill>
                  <a:srgbClr val="674EA7"/>
                </a:solidFill>
                <a:latin typeface="Constantia" panose="02030602050306030303" pitchFamily="18" charset="0"/>
              </a:rPr>
              <a:t>dist</a:t>
            </a:r>
            <a:endParaRPr lang="en-US" altLang="en-US">
              <a:solidFill>
                <a:srgbClr val="C00000"/>
              </a:solidFill>
              <a:latin typeface="Constantia" panose="02030602050306030303" pitchFamily="18" charset="0"/>
            </a:endParaRPr>
          </a:p>
          <a:p>
            <a:pPr eaLnBrk="1" hangingPunct="1">
              <a:lnSpc>
                <a:spcPct val="95000"/>
              </a:lnSpc>
            </a:pPr>
            <a:endParaRPr lang="en-US" altLang="en-US">
              <a:solidFill>
                <a:srgbClr val="674EA7"/>
              </a:solidFill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87546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">
            <a:extLst>
              <a:ext uri="{FF2B5EF4-FFF2-40B4-BE49-F238E27FC236}">
                <a16:creationId xmlns:a16="http://schemas.microsoft.com/office/drawing/2014/main" id="{F1B43306-FAB5-42D6-9B0C-721F3E09C26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 eaLnBrk="1" hangingPunct="1">
              <a:lnSpc>
                <a:spcPct val="95000"/>
              </a:lnSpc>
            </a:pPr>
            <a:r>
              <a:rPr lang="en-US" altLang="en-US" sz="4200">
                <a:solidFill>
                  <a:srgbClr val="3B62AF"/>
                </a:solidFill>
                <a:latin typeface="Arial" panose="020B0604020202020204" pitchFamily="34" charset="0"/>
              </a:rPr>
              <a:t>DIJKSTRA   EXAMPLE</a:t>
            </a:r>
          </a:p>
        </p:txBody>
      </p:sp>
      <p:pic>
        <p:nvPicPr>
          <p:cNvPr id="34819" name="Picture 4">
            <a:extLst>
              <a:ext uri="{FF2B5EF4-FFF2-40B4-BE49-F238E27FC236}">
                <a16:creationId xmlns:a16="http://schemas.microsoft.com/office/drawing/2014/main" id="{09129C81-F580-4F91-9CD5-D9815D76A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063625"/>
            <a:ext cx="8229600" cy="4697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40446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">
            <a:extLst>
              <a:ext uri="{FF2B5EF4-FFF2-40B4-BE49-F238E27FC236}">
                <a16:creationId xmlns:a16="http://schemas.microsoft.com/office/drawing/2014/main" id="{9793C4A3-788A-4EB0-BD22-B916E7660A5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 eaLnBrk="1" hangingPunct="1">
              <a:lnSpc>
                <a:spcPct val="95000"/>
              </a:lnSpc>
            </a:pPr>
            <a:r>
              <a:rPr lang="en-US" altLang="en-US" sz="4200">
                <a:solidFill>
                  <a:srgbClr val="3B62AF"/>
                </a:solidFill>
                <a:latin typeface="Arial" panose="020B0604020202020204" pitchFamily="34" charset="0"/>
              </a:rPr>
              <a:t>DIJKSTRA   EXAMPLE</a:t>
            </a:r>
          </a:p>
        </p:txBody>
      </p:sp>
      <p:pic>
        <p:nvPicPr>
          <p:cNvPr id="35843" name="Picture 5">
            <a:extLst>
              <a:ext uri="{FF2B5EF4-FFF2-40B4-BE49-F238E27FC236}">
                <a16:creationId xmlns:a16="http://schemas.microsoft.com/office/drawing/2014/main" id="{18A6893B-79CC-4944-AB8D-640548856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675" y="754063"/>
            <a:ext cx="7912100" cy="408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47153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">
            <a:extLst>
              <a:ext uri="{FF2B5EF4-FFF2-40B4-BE49-F238E27FC236}">
                <a16:creationId xmlns:a16="http://schemas.microsoft.com/office/drawing/2014/main" id="{9F6ED818-54AE-4D22-B5B3-BF876BFE3C1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 eaLnBrk="1" hangingPunct="1">
              <a:lnSpc>
                <a:spcPct val="95000"/>
              </a:lnSpc>
            </a:pPr>
            <a:r>
              <a:rPr lang="en-US" altLang="en-US" sz="4200">
                <a:solidFill>
                  <a:srgbClr val="3B62AF"/>
                </a:solidFill>
                <a:latin typeface="Arial" panose="020B0604020202020204" pitchFamily="34" charset="0"/>
              </a:rPr>
              <a:t>DIJKSTRA   EXAMPLE</a:t>
            </a:r>
          </a:p>
        </p:txBody>
      </p:sp>
      <p:pic>
        <p:nvPicPr>
          <p:cNvPr id="36867" name="Picture 5">
            <a:extLst>
              <a:ext uri="{FF2B5EF4-FFF2-40B4-BE49-F238E27FC236}">
                <a16:creationId xmlns:a16="http://schemas.microsoft.com/office/drawing/2014/main" id="{E9E1F04B-C661-4460-B796-243BC4849F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908050"/>
            <a:ext cx="8247063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90375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">
            <a:extLst>
              <a:ext uri="{FF2B5EF4-FFF2-40B4-BE49-F238E27FC236}">
                <a16:creationId xmlns:a16="http://schemas.microsoft.com/office/drawing/2014/main" id="{0864E269-B32C-4EBA-91C7-49BC352C010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 eaLnBrk="1" hangingPunct="1">
              <a:lnSpc>
                <a:spcPct val="95000"/>
              </a:lnSpc>
            </a:pPr>
            <a:r>
              <a:rPr lang="en-US" altLang="en-US" sz="4200">
                <a:solidFill>
                  <a:srgbClr val="3B62AF"/>
                </a:solidFill>
                <a:latin typeface="Arial" panose="020B0604020202020204" pitchFamily="34" charset="0"/>
              </a:rPr>
              <a:t>DIJKSTRA  EXAMPLE</a:t>
            </a:r>
          </a:p>
        </p:txBody>
      </p:sp>
      <p:pic>
        <p:nvPicPr>
          <p:cNvPr id="37891" name="Picture 5">
            <a:extLst>
              <a:ext uri="{FF2B5EF4-FFF2-40B4-BE49-F238E27FC236}">
                <a16:creationId xmlns:a16="http://schemas.microsoft.com/office/drawing/2014/main" id="{DE6F9417-F7CA-4463-92E9-7FF731522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960438"/>
            <a:ext cx="8247063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94026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">
            <a:extLst>
              <a:ext uri="{FF2B5EF4-FFF2-40B4-BE49-F238E27FC236}">
                <a16:creationId xmlns:a16="http://schemas.microsoft.com/office/drawing/2014/main" id="{7A018C08-01A9-4509-9A5E-D64E369F174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 eaLnBrk="1" hangingPunct="1">
              <a:lnSpc>
                <a:spcPct val="95000"/>
              </a:lnSpc>
            </a:pPr>
            <a:r>
              <a:rPr lang="en-US" altLang="en-US" sz="4200">
                <a:solidFill>
                  <a:srgbClr val="3B62AF"/>
                </a:solidFill>
                <a:latin typeface="Arial" panose="020B0604020202020204" pitchFamily="34" charset="0"/>
              </a:rPr>
              <a:t>DIJKSTRA   EXAMPLE</a:t>
            </a:r>
          </a:p>
        </p:txBody>
      </p:sp>
      <p:pic>
        <p:nvPicPr>
          <p:cNvPr id="38915" name="Picture 5">
            <a:extLst>
              <a:ext uri="{FF2B5EF4-FFF2-40B4-BE49-F238E27FC236}">
                <a16:creationId xmlns:a16="http://schemas.microsoft.com/office/drawing/2014/main" id="{D9C0D8AD-667C-4A87-AD9D-AC6E9020E8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908050"/>
            <a:ext cx="8247063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11080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">
            <a:extLst>
              <a:ext uri="{FF2B5EF4-FFF2-40B4-BE49-F238E27FC236}">
                <a16:creationId xmlns:a16="http://schemas.microsoft.com/office/drawing/2014/main" id="{8BA213AF-9D4A-4F25-B709-ED50C5663D3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 eaLnBrk="1" hangingPunct="1">
              <a:lnSpc>
                <a:spcPct val="95000"/>
              </a:lnSpc>
            </a:pPr>
            <a:r>
              <a:rPr lang="en-US" altLang="en-US" sz="4200">
                <a:solidFill>
                  <a:srgbClr val="3B62AF"/>
                </a:solidFill>
                <a:latin typeface="Arial" panose="020B0604020202020204" pitchFamily="34" charset="0"/>
              </a:rPr>
              <a:t>DIJKSTRA   EXAMPLE</a:t>
            </a:r>
          </a:p>
        </p:txBody>
      </p:sp>
      <p:pic>
        <p:nvPicPr>
          <p:cNvPr id="39939" name="Picture 5">
            <a:extLst>
              <a:ext uri="{FF2B5EF4-FFF2-40B4-BE49-F238E27FC236}">
                <a16:creationId xmlns:a16="http://schemas.microsoft.com/office/drawing/2014/main" id="{937ED1FE-CAC7-4032-A3D2-DBD0CFF6EB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908050"/>
            <a:ext cx="8247063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90850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">
            <a:extLst>
              <a:ext uri="{FF2B5EF4-FFF2-40B4-BE49-F238E27FC236}">
                <a16:creationId xmlns:a16="http://schemas.microsoft.com/office/drawing/2014/main" id="{68C1D85E-F8A1-4FA0-98BA-9AF84D79B89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 eaLnBrk="1" hangingPunct="1">
              <a:lnSpc>
                <a:spcPct val="95000"/>
              </a:lnSpc>
            </a:pPr>
            <a:r>
              <a:rPr lang="en-US" altLang="en-US" sz="4200">
                <a:solidFill>
                  <a:srgbClr val="3B62AF"/>
                </a:solidFill>
                <a:latin typeface="Arial" panose="020B0604020202020204" pitchFamily="34" charset="0"/>
              </a:rPr>
              <a:t>DIJKSTRA   EXAMPLE</a:t>
            </a:r>
          </a:p>
        </p:txBody>
      </p:sp>
      <p:pic>
        <p:nvPicPr>
          <p:cNvPr id="40963" name="Picture 5">
            <a:extLst>
              <a:ext uri="{FF2B5EF4-FFF2-40B4-BE49-F238E27FC236}">
                <a16:creationId xmlns:a16="http://schemas.microsoft.com/office/drawing/2014/main" id="{60C0F2A0-9D5C-4334-8725-33AA93030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263" y="1071563"/>
            <a:ext cx="8245475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30755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">
            <a:extLst>
              <a:ext uri="{FF2B5EF4-FFF2-40B4-BE49-F238E27FC236}">
                <a16:creationId xmlns:a16="http://schemas.microsoft.com/office/drawing/2014/main" id="{BB281387-2EA1-46A8-BA2E-64010324579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 eaLnBrk="1" hangingPunct="1">
              <a:lnSpc>
                <a:spcPct val="95000"/>
              </a:lnSpc>
            </a:pPr>
            <a:r>
              <a:rPr lang="en-US" altLang="en-US" sz="4200">
                <a:solidFill>
                  <a:srgbClr val="3B62AF"/>
                </a:solidFill>
                <a:latin typeface="Arial" panose="020B0604020202020204" pitchFamily="34" charset="0"/>
              </a:rPr>
              <a:t>DIJKSTRA   EXAMPLE</a:t>
            </a:r>
          </a:p>
        </p:txBody>
      </p:sp>
      <p:pic>
        <p:nvPicPr>
          <p:cNvPr id="41987" name="Picture 5">
            <a:extLst>
              <a:ext uri="{FF2B5EF4-FFF2-40B4-BE49-F238E27FC236}">
                <a16:creationId xmlns:a16="http://schemas.microsoft.com/office/drawing/2014/main" id="{D5F00689-242C-4E8C-B577-083691FB91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13" y="1071563"/>
            <a:ext cx="8247062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45342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">
            <a:extLst>
              <a:ext uri="{FF2B5EF4-FFF2-40B4-BE49-F238E27FC236}">
                <a16:creationId xmlns:a16="http://schemas.microsoft.com/office/drawing/2014/main" id="{DF163A7B-AFA0-4BCF-8CF9-B9F08B15B66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 eaLnBrk="1" hangingPunct="1">
              <a:lnSpc>
                <a:spcPct val="95000"/>
              </a:lnSpc>
            </a:pPr>
            <a:r>
              <a:rPr lang="en-US" altLang="en-US" sz="4200">
                <a:solidFill>
                  <a:srgbClr val="3B62AF"/>
                </a:solidFill>
                <a:latin typeface="Arial" panose="020B0604020202020204" pitchFamily="34" charset="0"/>
              </a:rPr>
              <a:t>DIJKSTRA   EXAMPLE</a:t>
            </a:r>
          </a:p>
        </p:txBody>
      </p:sp>
      <p:pic>
        <p:nvPicPr>
          <p:cNvPr id="43011" name="Picture 5">
            <a:extLst>
              <a:ext uri="{FF2B5EF4-FFF2-40B4-BE49-F238E27FC236}">
                <a16:creationId xmlns:a16="http://schemas.microsoft.com/office/drawing/2014/main" id="{EEF65E05-C9C3-4904-BE4A-67E34A1A59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263" y="1071563"/>
            <a:ext cx="8245475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89345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">
            <a:extLst>
              <a:ext uri="{FF2B5EF4-FFF2-40B4-BE49-F238E27FC236}">
                <a16:creationId xmlns:a16="http://schemas.microsoft.com/office/drawing/2014/main" id="{85880107-3FF0-4EC1-B4AF-BBD66D4351D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 eaLnBrk="1" hangingPunct="1">
              <a:lnSpc>
                <a:spcPct val="95000"/>
              </a:lnSpc>
            </a:pPr>
            <a:r>
              <a:rPr lang="en-US" altLang="en-US" sz="4200">
                <a:solidFill>
                  <a:srgbClr val="3B62AF"/>
                </a:solidFill>
                <a:latin typeface="Arial" panose="020B0604020202020204" pitchFamily="34" charset="0"/>
              </a:rPr>
              <a:t>DIJKSTRA   EXAMPLE</a:t>
            </a:r>
          </a:p>
        </p:txBody>
      </p:sp>
      <p:pic>
        <p:nvPicPr>
          <p:cNvPr id="44035" name="Picture 5">
            <a:extLst>
              <a:ext uri="{FF2B5EF4-FFF2-40B4-BE49-F238E27FC236}">
                <a16:creationId xmlns:a16="http://schemas.microsoft.com/office/drawing/2014/main" id="{BF64B3E5-D6E1-47A5-9D43-19F165C1FA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263" y="1071563"/>
            <a:ext cx="8245475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2356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">
            <a:extLst>
              <a:ext uri="{FF2B5EF4-FFF2-40B4-BE49-F238E27FC236}">
                <a16:creationId xmlns:a16="http://schemas.microsoft.com/office/drawing/2014/main" id="{AE27BDEF-D986-4DE2-BE71-1D85BB387A3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 eaLnBrk="1" hangingPunct="1">
              <a:lnSpc>
                <a:spcPct val="95000"/>
              </a:lnSpc>
            </a:pPr>
            <a:r>
              <a:rPr lang="en-US" altLang="en-US" sz="4400">
                <a:solidFill>
                  <a:srgbClr val="FF0000"/>
                </a:solidFill>
                <a:latin typeface="Arial" panose="020B0604020202020204" pitchFamily="34" charset="0"/>
              </a:rPr>
              <a:t>Dijkstra's algorithm </a:t>
            </a:r>
            <a:r>
              <a:rPr lang="en-US" altLang="en-US" sz="4200">
                <a:solidFill>
                  <a:srgbClr val="FF0000"/>
                </a:solidFill>
                <a:latin typeface="Arial" panose="020B0604020202020204" pitchFamily="34" charset="0"/>
              </a:rPr>
              <a:t>Pseudocode</a:t>
            </a:r>
            <a:endParaRPr lang="en-US" altLang="en-US" sz="4200">
              <a:solidFill>
                <a:srgbClr val="3B62AF"/>
              </a:solidFill>
              <a:latin typeface="Arial" panose="020B0604020202020204" pitchFamily="34" charset="0"/>
            </a:endParaRPr>
          </a:p>
        </p:txBody>
      </p:sp>
      <p:sp>
        <p:nvSpPr>
          <p:cNvPr id="57347" name="Text Box 4">
            <a:extLst>
              <a:ext uri="{FF2B5EF4-FFF2-40B4-BE49-F238E27FC236}">
                <a16:creationId xmlns:a16="http://schemas.microsoft.com/office/drawing/2014/main" id="{BBAEFF68-182D-4EDC-937D-2B750DC46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828800"/>
            <a:ext cx="8686800" cy="3421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342900" indent="-342900" defTabSz="822325">
              <a:lnSpc>
                <a:spcPct val="95000"/>
              </a:lnSpc>
              <a:defRPr/>
            </a:pPr>
            <a:r>
              <a:rPr lang="en-US" dirty="0">
                <a:solidFill>
                  <a:srgbClr val="674EA7"/>
                </a:solidFill>
                <a:latin typeface="Constantia" pitchFamily="18" charset="0"/>
              </a:rPr>
              <a:t>dist[s] ←0        			</a:t>
            </a:r>
            <a:r>
              <a:rPr lang="en-US" dirty="0">
                <a:solidFill>
                  <a:srgbClr val="C00000"/>
                </a:solidFill>
                <a:latin typeface="Constantia" pitchFamily="18" charset="0"/>
              </a:rPr>
              <a:t>(distance to source vertex is zero)</a:t>
            </a:r>
            <a:br>
              <a:rPr lang="en-US" dirty="0">
                <a:solidFill>
                  <a:srgbClr val="444444"/>
                </a:solidFill>
                <a:latin typeface="Constantia" pitchFamily="18" charset="0"/>
              </a:rPr>
            </a:br>
            <a:r>
              <a:rPr lang="en-US" dirty="0">
                <a:solidFill>
                  <a:srgbClr val="444444"/>
                </a:solidFill>
                <a:latin typeface="Constantia" pitchFamily="18" charset="0"/>
              </a:rPr>
              <a:t>for  all </a:t>
            </a:r>
            <a:r>
              <a:rPr lang="en-US" dirty="0">
                <a:solidFill>
                  <a:srgbClr val="674EA7"/>
                </a:solidFill>
                <a:latin typeface="Constantia" pitchFamily="18" charset="0"/>
              </a:rPr>
              <a:t>v </a:t>
            </a:r>
            <a:r>
              <a:rPr lang="en-US" dirty="0">
                <a:solidFill>
                  <a:srgbClr val="674EA7"/>
                </a:solidFill>
                <a:latin typeface="Constantia" pitchFamily="18" charset="0"/>
                <a:sym typeface="Symbol" pitchFamily="18" charset="2"/>
              </a:rPr>
              <a:t></a:t>
            </a:r>
            <a:r>
              <a:rPr lang="en-US" dirty="0">
                <a:solidFill>
                  <a:srgbClr val="674EA7"/>
                </a:solidFill>
                <a:latin typeface="Constantia" pitchFamily="18" charset="0"/>
              </a:rPr>
              <a:t> V–{s}</a:t>
            </a:r>
            <a:br>
              <a:rPr lang="en-US" dirty="0">
                <a:solidFill>
                  <a:srgbClr val="444444"/>
                </a:solidFill>
                <a:latin typeface="Constantia" pitchFamily="18" charset="0"/>
              </a:rPr>
            </a:br>
            <a:r>
              <a:rPr lang="en-US" dirty="0">
                <a:solidFill>
                  <a:srgbClr val="444444"/>
                </a:solidFill>
                <a:latin typeface="Constantia" pitchFamily="18" charset="0"/>
              </a:rPr>
              <a:t>        do  </a:t>
            </a:r>
            <a:r>
              <a:rPr lang="en-US" dirty="0">
                <a:solidFill>
                  <a:srgbClr val="674EA7"/>
                </a:solidFill>
                <a:latin typeface="Constantia" pitchFamily="18" charset="0"/>
              </a:rPr>
              <a:t>dist[v] ←∞ 		</a:t>
            </a:r>
            <a:r>
              <a:rPr lang="en-US" dirty="0">
                <a:solidFill>
                  <a:srgbClr val="C00000"/>
                </a:solidFill>
                <a:latin typeface="Constantia" pitchFamily="18" charset="0"/>
              </a:rPr>
              <a:t>(set all other distances to infinity) </a:t>
            </a:r>
            <a:br>
              <a:rPr lang="en-US" dirty="0">
                <a:solidFill>
                  <a:srgbClr val="444444"/>
                </a:solidFill>
                <a:latin typeface="Constantia" pitchFamily="18" charset="0"/>
              </a:rPr>
            </a:br>
            <a:r>
              <a:rPr lang="en-US" dirty="0">
                <a:solidFill>
                  <a:srgbClr val="674EA7"/>
                </a:solidFill>
                <a:latin typeface="Constantia" pitchFamily="18" charset="0"/>
              </a:rPr>
              <a:t>S←∅ 				</a:t>
            </a:r>
            <a:r>
              <a:rPr lang="en-US" dirty="0">
                <a:solidFill>
                  <a:srgbClr val="C00000"/>
                </a:solidFill>
                <a:latin typeface="Constantia" pitchFamily="18" charset="0"/>
              </a:rPr>
              <a:t>(S, the set of visited vertices is initially empty) </a:t>
            </a:r>
            <a:br>
              <a:rPr lang="en-US" dirty="0">
                <a:solidFill>
                  <a:srgbClr val="444444"/>
                </a:solidFill>
                <a:latin typeface="Constantia" pitchFamily="18" charset="0"/>
              </a:rPr>
            </a:br>
            <a:r>
              <a:rPr lang="en-US" dirty="0">
                <a:solidFill>
                  <a:srgbClr val="674EA7"/>
                </a:solidFill>
                <a:latin typeface="Constantia" pitchFamily="18" charset="0"/>
              </a:rPr>
              <a:t>Q←V </a:t>
            </a:r>
            <a:r>
              <a:rPr lang="en-US" dirty="0">
                <a:solidFill>
                  <a:srgbClr val="C00000"/>
                </a:solidFill>
                <a:latin typeface="Constantia" pitchFamily="18" charset="0"/>
              </a:rPr>
              <a:t> 				(Q, the queue initially contains all vertices) </a:t>
            </a:r>
            <a:r>
              <a:rPr lang="en-US" dirty="0">
                <a:solidFill>
                  <a:srgbClr val="674EA7"/>
                </a:solidFill>
                <a:latin typeface="Constantia" pitchFamily="18" charset="0"/>
              </a:rPr>
              <a:t>              </a:t>
            </a:r>
            <a:br>
              <a:rPr lang="en-US" dirty="0">
                <a:solidFill>
                  <a:srgbClr val="444444"/>
                </a:solidFill>
                <a:latin typeface="Constantia" pitchFamily="18" charset="0"/>
              </a:rPr>
            </a:br>
            <a:r>
              <a:rPr lang="en-US" dirty="0">
                <a:solidFill>
                  <a:srgbClr val="444444"/>
                </a:solidFill>
                <a:latin typeface="Constantia" pitchFamily="18" charset="0"/>
              </a:rPr>
              <a:t>while </a:t>
            </a:r>
            <a:r>
              <a:rPr lang="en-US" dirty="0">
                <a:solidFill>
                  <a:srgbClr val="674EA7"/>
                </a:solidFill>
                <a:latin typeface="Constantia" pitchFamily="18" charset="0"/>
              </a:rPr>
              <a:t>Q ≠∅ 			</a:t>
            </a:r>
            <a:r>
              <a:rPr lang="en-US" dirty="0">
                <a:solidFill>
                  <a:srgbClr val="C00000"/>
                </a:solidFill>
                <a:latin typeface="Constantia" pitchFamily="18" charset="0"/>
              </a:rPr>
              <a:t>(while the queue is not empty) </a:t>
            </a:r>
            <a:br>
              <a:rPr lang="en-US" dirty="0">
                <a:solidFill>
                  <a:srgbClr val="444444"/>
                </a:solidFill>
                <a:latin typeface="Constantia" pitchFamily="18" charset="0"/>
              </a:rPr>
            </a:br>
            <a:r>
              <a:rPr lang="en-US" dirty="0">
                <a:solidFill>
                  <a:srgbClr val="444444"/>
                </a:solidFill>
                <a:latin typeface="Constantia" pitchFamily="18" charset="0"/>
              </a:rPr>
              <a:t>do  </a:t>
            </a:r>
            <a:r>
              <a:rPr lang="en-US" dirty="0">
                <a:solidFill>
                  <a:srgbClr val="674EA7"/>
                </a:solidFill>
                <a:latin typeface="Constantia" pitchFamily="18" charset="0"/>
              </a:rPr>
              <a:t> u ← </a:t>
            </a:r>
            <a:r>
              <a:rPr lang="en-US" dirty="0" err="1">
                <a:solidFill>
                  <a:srgbClr val="444444"/>
                </a:solidFill>
                <a:latin typeface="Constantia" pitchFamily="18" charset="0"/>
              </a:rPr>
              <a:t>mindistance</a:t>
            </a:r>
            <a:r>
              <a:rPr lang="en-US" dirty="0">
                <a:solidFill>
                  <a:srgbClr val="674EA7"/>
                </a:solidFill>
                <a:latin typeface="Constantia" pitchFamily="18" charset="0"/>
              </a:rPr>
              <a:t>(</a:t>
            </a:r>
            <a:r>
              <a:rPr lang="en-US" dirty="0" err="1">
                <a:solidFill>
                  <a:srgbClr val="674EA7"/>
                </a:solidFill>
                <a:latin typeface="Constantia" pitchFamily="18" charset="0"/>
              </a:rPr>
              <a:t>Q,dist</a:t>
            </a:r>
            <a:r>
              <a:rPr lang="en-US" dirty="0">
                <a:solidFill>
                  <a:srgbClr val="674EA7"/>
                </a:solidFill>
                <a:latin typeface="Constantia" pitchFamily="18" charset="0"/>
              </a:rPr>
              <a:t>)	</a:t>
            </a:r>
            <a:r>
              <a:rPr lang="en-US" dirty="0">
                <a:solidFill>
                  <a:srgbClr val="C00000"/>
                </a:solidFill>
                <a:latin typeface="Constantia" pitchFamily="18" charset="0"/>
              </a:rPr>
              <a:t>(select the element of Q with the min. distance) </a:t>
            </a:r>
            <a:br>
              <a:rPr lang="en-US" dirty="0">
                <a:solidFill>
                  <a:srgbClr val="444444"/>
                </a:solidFill>
                <a:latin typeface="Constantia" pitchFamily="18" charset="0"/>
              </a:rPr>
            </a:br>
            <a:r>
              <a:rPr lang="en-US" dirty="0">
                <a:solidFill>
                  <a:srgbClr val="444444"/>
                </a:solidFill>
                <a:latin typeface="Constantia" pitchFamily="18" charset="0"/>
              </a:rPr>
              <a:t>    </a:t>
            </a:r>
            <a:r>
              <a:rPr lang="en-US" dirty="0">
                <a:solidFill>
                  <a:srgbClr val="674EA7"/>
                </a:solidFill>
                <a:latin typeface="Constantia" pitchFamily="18" charset="0"/>
              </a:rPr>
              <a:t>  S←S </a:t>
            </a:r>
            <a:r>
              <a:rPr lang="en-US" dirty="0">
                <a:solidFill>
                  <a:srgbClr val="674EA7"/>
                </a:solidFill>
                <a:sym typeface="Symbol" pitchFamily="18" charset="2"/>
              </a:rPr>
              <a:t></a:t>
            </a:r>
            <a:r>
              <a:rPr lang="en-US" dirty="0">
                <a:solidFill>
                  <a:srgbClr val="674EA7"/>
                </a:solidFill>
                <a:latin typeface="Constantia" pitchFamily="18" charset="0"/>
              </a:rPr>
              <a:t>{u} 			</a:t>
            </a:r>
            <a:r>
              <a:rPr lang="en-US" dirty="0">
                <a:solidFill>
                  <a:srgbClr val="C00000"/>
                </a:solidFill>
                <a:latin typeface="Constantia" pitchFamily="18" charset="0"/>
              </a:rPr>
              <a:t>(add u to list of visited vertices) </a:t>
            </a:r>
            <a:br>
              <a:rPr lang="en-US" dirty="0">
                <a:solidFill>
                  <a:srgbClr val="444444"/>
                </a:solidFill>
                <a:latin typeface="Constantia" pitchFamily="18" charset="0"/>
              </a:rPr>
            </a:br>
            <a:r>
              <a:rPr lang="en-US" dirty="0">
                <a:solidFill>
                  <a:srgbClr val="444444"/>
                </a:solidFill>
                <a:latin typeface="Constantia" pitchFamily="18" charset="0"/>
              </a:rPr>
              <a:t>       for all </a:t>
            </a:r>
            <a:r>
              <a:rPr lang="en-US" dirty="0">
                <a:solidFill>
                  <a:srgbClr val="674EA7"/>
                </a:solidFill>
                <a:latin typeface="Constantia" pitchFamily="18" charset="0"/>
              </a:rPr>
              <a:t>v </a:t>
            </a:r>
            <a:r>
              <a:rPr lang="en-US" dirty="0">
                <a:solidFill>
                  <a:srgbClr val="674EA7"/>
                </a:solidFill>
                <a:sym typeface="Symbol" pitchFamily="18" charset="2"/>
              </a:rPr>
              <a:t></a:t>
            </a:r>
            <a:r>
              <a:rPr lang="en-US" dirty="0">
                <a:solidFill>
                  <a:srgbClr val="674EA7"/>
                </a:solidFill>
                <a:latin typeface="Constantia" pitchFamily="18" charset="0"/>
              </a:rPr>
              <a:t> neighbors[u]		</a:t>
            </a:r>
            <a:r>
              <a:rPr lang="en-US" dirty="0">
                <a:solidFill>
                  <a:srgbClr val="C00000"/>
                </a:solidFill>
                <a:latin typeface="Constantia" pitchFamily="18" charset="0"/>
              </a:rPr>
              <a:t> </a:t>
            </a:r>
            <a:br>
              <a:rPr lang="en-US" dirty="0">
                <a:solidFill>
                  <a:srgbClr val="444444"/>
                </a:solidFill>
                <a:latin typeface="Constantia" pitchFamily="18" charset="0"/>
              </a:rPr>
            </a:br>
            <a:r>
              <a:rPr lang="en-US" dirty="0">
                <a:solidFill>
                  <a:srgbClr val="444444"/>
                </a:solidFill>
                <a:latin typeface="Constantia" pitchFamily="18" charset="0"/>
              </a:rPr>
              <a:t>              do  if   </a:t>
            </a:r>
            <a:r>
              <a:rPr lang="en-US" dirty="0">
                <a:solidFill>
                  <a:srgbClr val="674EA7"/>
                </a:solidFill>
                <a:latin typeface="Constantia" pitchFamily="18" charset="0"/>
              </a:rPr>
              <a:t>dist[v] min(</a:t>
            </a:r>
            <a:r>
              <a:rPr lang="en-US" dirty="0">
                <a:solidFill>
                  <a:srgbClr val="674EA7"/>
                </a:solidFill>
              </a:rPr>
              <a:t>dist[v],</a:t>
            </a:r>
            <a:r>
              <a:rPr lang="en-US" dirty="0"/>
              <a:t> </a:t>
            </a:r>
            <a:r>
              <a:rPr lang="en-US" dirty="0">
                <a:solidFill>
                  <a:srgbClr val="674EA7"/>
                </a:solidFill>
                <a:latin typeface="Constantia" pitchFamily="18" charset="0"/>
              </a:rPr>
              <a:t>dist[u] + w(u, v))  </a:t>
            </a:r>
            <a:r>
              <a:rPr lang="en-US" dirty="0">
                <a:solidFill>
                  <a:srgbClr val="C00000"/>
                </a:solidFill>
                <a:latin typeface="Constantia" pitchFamily="18" charset="0"/>
              </a:rPr>
              <a:t>(update distance)  </a:t>
            </a:r>
            <a:r>
              <a:rPr lang="en-US" dirty="0">
                <a:solidFill>
                  <a:srgbClr val="444444"/>
                </a:solidFill>
                <a:latin typeface="Constantia" pitchFamily="18" charset="0"/>
              </a:rPr>
              <a:t>                      </a:t>
            </a:r>
          </a:p>
          <a:p>
            <a:pPr marL="342900" indent="-342900" defTabSz="822325">
              <a:lnSpc>
                <a:spcPct val="95000"/>
              </a:lnSpc>
              <a:defRPr/>
            </a:pPr>
            <a:r>
              <a:rPr lang="en-US" dirty="0">
                <a:solidFill>
                  <a:srgbClr val="444444"/>
                </a:solidFill>
                <a:latin typeface="Constantia" pitchFamily="18" charset="0"/>
              </a:rPr>
              <a:t>return </a:t>
            </a:r>
            <a:r>
              <a:rPr lang="en-US" dirty="0">
                <a:solidFill>
                  <a:srgbClr val="674EA7"/>
                </a:solidFill>
                <a:latin typeface="Constantia" pitchFamily="18" charset="0"/>
              </a:rPr>
              <a:t>dist</a:t>
            </a:r>
            <a:endParaRPr lang="en-US" dirty="0">
              <a:solidFill>
                <a:srgbClr val="C00000"/>
              </a:solidFill>
              <a:latin typeface="Constantia" pitchFamily="18" charset="0"/>
            </a:endParaRPr>
          </a:p>
          <a:p>
            <a:pPr defTabSz="822325">
              <a:lnSpc>
                <a:spcPct val="95000"/>
              </a:lnSpc>
              <a:defRPr/>
            </a:pPr>
            <a:endParaRPr lang="en-US" dirty="0">
              <a:solidFill>
                <a:srgbClr val="674EA7"/>
              </a:solidFill>
              <a:latin typeface="Constant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95617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0F0EA44E-4098-4FA3-BC77-0E025BC81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a-DK" altLang="en-US">
                <a:solidFill>
                  <a:srgbClr val="FF0000"/>
                </a:solidFill>
              </a:rPr>
              <a:t>Dijkstra’s algorith Running Time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9F8B5C45-F9FB-41FB-B984-EAAC09832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138"/>
          </a:xfrm>
        </p:spPr>
        <p:txBody>
          <a:bodyPr/>
          <a:lstStyle/>
          <a:p>
            <a:pPr eaLnBrk="1" hangingPunct="1"/>
            <a:r>
              <a:rPr lang="da-DK" altLang="en-US"/>
              <a:t>Initialization : </a:t>
            </a:r>
            <a:r>
              <a:rPr lang="da-DK" altLang="en-US">
                <a:latin typeface="Symbol" panose="05050102010706020507" pitchFamily="18" charset="2"/>
              </a:rPr>
              <a:t>Q</a:t>
            </a:r>
            <a:r>
              <a:rPr lang="da-DK" altLang="en-US"/>
              <a:t>(</a:t>
            </a:r>
            <a:r>
              <a:rPr lang="da-DK" altLang="en-US" i="1"/>
              <a:t>V</a:t>
            </a:r>
            <a:r>
              <a:rPr lang="da-DK" altLang="en-US"/>
              <a:t>)</a:t>
            </a:r>
          </a:p>
          <a:p>
            <a:pPr eaLnBrk="1" hangingPunct="1"/>
            <a:r>
              <a:rPr lang="da-DK" altLang="en-US" i="1"/>
              <a:t>  |V| iterations</a:t>
            </a:r>
          </a:p>
          <a:p>
            <a:pPr eaLnBrk="1" hangingPunct="1"/>
            <a:r>
              <a:rPr lang="da-DK" altLang="en-US" i="1"/>
              <a:t>Each iteration:</a:t>
            </a:r>
            <a:r>
              <a:rPr lang="da-DK" altLang="en-US">
                <a:latin typeface="Symbol" panose="05050102010706020507" pitchFamily="18" charset="2"/>
              </a:rPr>
              <a:t> Q</a:t>
            </a:r>
            <a:r>
              <a:rPr lang="da-DK" altLang="en-US"/>
              <a:t>(</a:t>
            </a:r>
            <a:r>
              <a:rPr lang="da-DK" altLang="en-US" i="1"/>
              <a:t>V</a:t>
            </a:r>
            <a:r>
              <a:rPr lang="da-DK" altLang="en-US"/>
              <a:t>)</a:t>
            </a:r>
            <a:r>
              <a:rPr lang="da-DK" altLang="en-US" i="1"/>
              <a:t> </a:t>
            </a:r>
            <a:endParaRPr lang="da-DK" altLang="en-US"/>
          </a:p>
          <a:p>
            <a:pPr eaLnBrk="1" hangingPunct="1"/>
            <a:r>
              <a:rPr lang="da-DK" altLang="en-US"/>
              <a:t>Total time: </a:t>
            </a:r>
            <a:r>
              <a:rPr lang="da-DK" altLang="en-US" i="1"/>
              <a:t>O</a:t>
            </a:r>
            <a:r>
              <a:rPr lang="da-DK" altLang="en-US"/>
              <a:t>(</a:t>
            </a:r>
            <a:r>
              <a:rPr lang="da-DK" altLang="en-US" i="1"/>
              <a:t>V</a:t>
            </a:r>
            <a:r>
              <a:rPr lang="da-DK" altLang="en-US" i="1" baseline="30000"/>
              <a:t>2</a:t>
            </a:r>
            <a:r>
              <a:rPr lang="da-DK" altLang="en-US"/>
              <a:t>) </a:t>
            </a:r>
          </a:p>
          <a:p>
            <a:pPr eaLnBrk="1" hangingPunct="1"/>
            <a:endParaRPr lang="da-DK" altLang="en-US"/>
          </a:p>
        </p:txBody>
      </p:sp>
    </p:spTree>
    <p:extLst>
      <p:ext uri="{BB962C8B-B14F-4D97-AF65-F5344CB8AC3E}">
        <p14:creationId xmlns:p14="http://schemas.microsoft.com/office/powerpoint/2010/main" val="9917038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Dijkstra’s</a:t>
            </a:r>
            <a:r>
              <a:rPr lang="en-US" dirty="0"/>
              <a:t> Algorithm</a:t>
            </a:r>
          </a:p>
        </p:txBody>
      </p:sp>
      <p:sp>
        <p:nvSpPr>
          <p:cNvPr id="5" name="Oval 4"/>
          <p:cNvSpPr/>
          <p:nvPr/>
        </p:nvSpPr>
        <p:spPr>
          <a:xfrm>
            <a:off x="2025864" y="3489843"/>
            <a:ext cx="457200" cy="4572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3531060" y="2500539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5711081" y="2500539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3531060" y="4407420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5711081" y="4480726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0" name="Curved Connector 10"/>
          <p:cNvCxnSpPr>
            <a:stCxn id="5" idx="7"/>
            <a:endCxn id="6" idx="2"/>
          </p:cNvCxnSpPr>
          <p:nvPr/>
        </p:nvCxnSpPr>
        <p:spPr>
          <a:xfrm flipV="1">
            <a:off x="2416109" y="2729139"/>
            <a:ext cx="1114951" cy="82765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Curved Connector 10"/>
          <p:cNvCxnSpPr>
            <a:stCxn id="6" idx="5"/>
            <a:endCxn id="8" idx="7"/>
          </p:cNvCxnSpPr>
          <p:nvPr/>
        </p:nvCxnSpPr>
        <p:spPr>
          <a:xfrm rot="5400000">
            <a:off x="3129510" y="3682579"/>
            <a:ext cx="1583591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Curved Connector 10"/>
          <p:cNvCxnSpPr>
            <a:stCxn id="5" idx="5"/>
            <a:endCxn id="8" idx="2"/>
          </p:cNvCxnSpPr>
          <p:nvPr/>
        </p:nvCxnSpPr>
        <p:spPr>
          <a:xfrm>
            <a:off x="2416109" y="3880088"/>
            <a:ext cx="1114951" cy="7559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Curved Connector 10"/>
          <p:cNvCxnSpPr>
            <a:stCxn id="8" idx="5"/>
            <a:endCxn id="9" idx="3"/>
          </p:cNvCxnSpPr>
          <p:nvPr/>
        </p:nvCxnSpPr>
        <p:spPr>
          <a:xfrm rot="16200000" flipH="1">
            <a:off x="4813017" y="3905952"/>
            <a:ext cx="73306" cy="1856731"/>
          </a:xfrm>
          <a:prstGeom prst="curvedConnector3">
            <a:avLst>
              <a:gd name="adj1" fmla="val 50318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Curved Connector 10"/>
          <p:cNvCxnSpPr>
            <a:stCxn id="6" idx="7"/>
            <a:endCxn id="7" idx="1"/>
          </p:cNvCxnSpPr>
          <p:nvPr/>
        </p:nvCxnSpPr>
        <p:spPr>
          <a:xfrm rot="5400000" flipH="1" flipV="1">
            <a:off x="4849670" y="1639129"/>
            <a:ext cx="12700" cy="1856731"/>
          </a:xfrm>
          <a:prstGeom prst="curvedConnector3">
            <a:avLst>
              <a:gd name="adj1" fmla="val 2327205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Curved Connector 14"/>
          <p:cNvCxnSpPr>
            <a:stCxn id="9" idx="1"/>
            <a:endCxn id="7" idx="3"/>
          </p:cNvCxnSpPr>
          <p:nvPr/>
        </p:nvCxnSpPr>
        <p:spPr>
          <a:xfrm rot="5400000" flipH="1" flipV="1">
            <a:off x="4949588" y="3719233"/>
            <a:ext cx="1656897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Curved Connector 15"/>
          <p:cNvCxnSpPr>
            <a:stCxn id="8" idx="1"/>
            <a:endCxn id="6" idx="3"/>
          </p:cNvCxnSpPr>
          <p:nvPr/>
        </p:nvCxnSpPr>
        <p:spPr>
          <a:xfrm rot="5400000" flipH="1" flipV="1">
            <a:off x="2806220" y="3682580"/>
            <a:ext cx="1583591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Curved Connector 10"/>
          <p:cNvCxnSpPr>
            <a:stCxn id="8" idx="6"/>
            <a:endCxn id="7" idx="2"/>
          </p:cNvCxnSpPr>
          <p:nvPr/>
        </p:nvCxnSpPr>
        <p:spPr>
          <a:xfrm flipV="1">
            <a:off x="3988260" y="2729139"/>
            <a:ext cx="1722821" cy="190688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Curved Connector 10"/>
          <p:cNvCxnSpPr>
            <a:stCxn id="9" idx="2"/>
            <a:endCxn id="5" idx="6"/>
          </p:cNvCxnSpPr>
          <p:nvPr/>
        </p:nvCxnSpPr>
        <p:spPr>
          <a:xfrm flipH="1" flipV="1">
            <a:off x="2483064" y="3718443"/>
            <a:ext cx="3228017" cy="99088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Curved Connector 18"/>
          <p:cNvCxnSpPr>
            <a:stCxn id="7" idx="5"/>
            <a:endCxn id="9" idx="7"/>
          </p:cNvCxnSpPr>
          <p:nvPr/>
        </p:nvCxnSpPr>
        <p:spPr>
          <a:xfrm rot="5400000">
            <a:off x="5272878" y="3719232"/>
            <a:ext cx="1656897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518574" y="2865442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5824" y="4099643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0287" y="3291954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14955" y="3291955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1333" y="1911905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1396" y="5112305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16223" y="3536807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6265" y="3194847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35340" y="4195952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96394" y="3564555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9871" y="1371600"/>
            <a:ext cx="5885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shortest path of the vertex with smallest distance is determined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72423" y="3260994"/>
            <a:ext cx="381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3295838" y="4938544"/>
                <a:ext cx="3564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5838" y="4938544"/>
                <a:ext cx="356431" cy="30777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3157512" y="2208006"/>
                <a:ext cx="3564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7512" y="2208006"/>
                <a:ext cx="356431" cy="30777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5916760" y="2180709"/>
                <a:ext cx="3564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6760" y="2180709"/>
                <a:ext cx="356431" cy="30777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094975" y="4937926"/>
                <a:ext cx="3564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975" y="4937926"/>
                <a:ext cx="356431" cy="30777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426150" y="2208006"/>
                <a:ext cx="3564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/10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6150" y="2208006"/>
                <a:ext cx="356431" cy="307777"/>
              </a:xfrm>
              <a:prstGeom prst="rect">
                <a:avLst/>
              </a:prstGeom>
              <a:blipFill rotWithShape="1">
                <a:blip r:embed="rId4"/>
                <a:stretch>
                  <a:fillRect r="-22034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3571225" y="4937925"/>
                <a:ext cx="3564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/5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225" y="4937925"/>
                <a:ext cx="356431" cy="307777"/>
              </a:xfrm>
              <a:prstGeom prst="rect">
                <a:avLst/>
              </a:prstGeom>
              <a:blipFill rotWithShape="1">
                <a:blip r:embed="rId5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0175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1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2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6" grpId="0"/>
      <p:bldP spid="3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Dijkstra’s</a:t>
            </a:r>
            <a:r>
              <a:rPr lang="en-US" dirty="0"/>
              <a:t> Algorithm</a:t>
            </a:r>
          </a:p>
        </p:txBody>
      </p:sp>
      <p:sp>
        <p:nvSpPr>
          <p:cNvPr id="5" name="Oval 4"/>
          <p:cNvSpPr/>
          <p:nvPr/>
        </p:nvSpPr>
        <p:spPr>
          <a:xfrm>
            <a:off x="2025864" y="3489843"/>
            <a:ext cx="457200" cy="4572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3531060" y="2500539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5711081" y="2500539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3531060" y="4407420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5711081" y="4480726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0" name="Curved Connector 10"/>
          <p:cNvCxnSpPr>
            <a:stCxn id="5" idx="7"/>
            <a:endCxn id="6" idx="2"/>
          </p:cNvCxnSpPr>
          <p:nvPr/>
        </p:nvCxnSpPr>
        <p:spPr>
          <a:xfrm flipV="1">
            <a:off x="2416109" y="2729139"/>
            <a:ext cx="1114951" cy="82765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Curved Connector 10"/>
          <p:cNvCxnSpPr>
            <a:stCxn id="6" idx="5"/>
            <a:endCxn id="8" idx="7"/>
          </p:cNvCxnSpPr>
          <p:nvPr/>
        </p:nvCxnSpPr>
        <p:spPr>
          <a:xfrm rot="5400000">
            <a:off x="3129510" y="3682579"/>
            <a:ext cx="1583591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Curved Connector 10"/>
          <p:cNvCxnSpPr>
            <a:stCxn id="5" idx="5"/>
            <a:endCxn id="8" idx="2"/>
          </p:cNvCxnSpPr>
          <p:nvPr/>
        </p:nvCxnSpPr>
        <p:spPr>
          <a:xfrm>
            <a:off x="2416109" y="3880088"/>
            <a:ext cx="1114951" cy="7559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Curved Connector 10"/>
          <p:cNvCxnSpPr>
            <a:stCxn id="8" idx="5"/>
            <a:endCxn id="9" idx="3"/>
          </p:cNvCxnSpPr>
          <p:nvPr/>
        </p:nvCxnSpPr>
        <p:spPr>
          <a:xfrm rot="16200000" flipH="1">
            <a:off x="4813017" y="3905952"/>
            <a:ext cx="73306" cy="1856731"/>
          </a:xfrm>
          <a:prstGeom prst="curvedConnector3">
            <a:avLst>
              <a:gd name="adj1" fmla="val 50318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Curved Connector 10"/>
          <p:cNvCxnSpPr>
            <a:stCxn id="6" idx="7"/>
            <a:endCxn id="7" idx="1"/>
          </p:cNvCxnSpPr>
          <p:nvPr/>
        </p:nvCxnSpPr>
        <p:spPr>
          <a:xfrm rot="5400000" flipH="1" flipV="1">
            <a:off x="4849670" y="1639129"/>
            <a:ext cx="12700" cy="1856731"/>
          </a:xfrm>
          <a:prstGeom prst="curvedConnector3">
            <a:avLst>
              <a:gd name="adj1" fmla="val 2327205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Curved Connector 14"/>
          <p:cNvCxnSpPr>
            <a:stCxn id="9" idx="1"/>
            <a:endCxn id="7" idx="3"/>
          </p:cNvCxnSpPr>
          <p:nvPr/>
        </p:nvCxnSpPr>
        <p:spPr>
          <a:xfrm rot="5400000" flipH="1" flipV="1">
            <a:off x="4949588" y="3719233"/>
            <a:ext cx="1656897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Curved Connector 15"/>
          <p:cNvCxnSpPr>
            <a:stCxn id="8" idx="1"/>
            <a:endCxn id="6" idx="3"/>
          </p:cNvCxnSpPr>
          <p:nvPr/>
        </p:nvCxnSpPr>
        <p:spPr>
          <a:xfrm rot="5400000" flipH="1" flipV="1">
            <a:off x="2806220" y="3682580"/>
            <a:ext cx="1583591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Curved Connector 10"/>
          <p:cNvCxnSpPr>
            <a:stCxn id="8" idx="6"/>
            <a:endCxn id="7" idx="2"/>
          </p:cNvCxnSpPr>
          <p:nvPr/>
        </p:nvCxnSpPr>
        <p:spPr>
          <a:xfrm flipV="1">
            <a:off x="3988260" y="2729139"/>
            <a:ext cx="1722821" cy="190688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Curved Connector 10"/>
          <p:cNvCxnSpPr>
            <a:stCxn id="9" idx="2"/>
            <a:endCxn id="5" idx="6"/>
          </p:cNvCxnSpPr>
          <p:nvPr/>
        </p:nvCxnSpPr>
        <p:spPr>
          <a:xfrm flipH="1" flipV="1">
            <a:off x="2483064" y="3718443"/>
            <a:ext cx="3228017" cy="99088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Curved Connector 18"/>
          <p:cNvCxnSpPr>
            <a:stCxn id="7" idx="5"/>
            <a:endCxn id="9" idx="7"/>
          </p:cNvCxnSpPr>
          <p:nvPr/>
        </p:nvCxnSpPr>
        <p:spPr>
          <a:xfrm rot="5400000">
            <a:off x="5272878" y="3719232"/>
            <a:ext cx="1656897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518574" y="2865442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5824" y="4099643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0287" y="3291954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14955" y="3291955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1333" y="1911905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1396" y="5112305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16223" y="3536807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6265" y="3194847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35340" y="4195952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96394" y="3564555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9871" y="1371600"/>
            <a:ext cx="5885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Choose a vertex whose shortest path is now determined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72423" y="3260994"/>
            <a:ext cx="381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3295838" y="4938544"/>
                <a:ext cx="3564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5838" y="4938544"/>
                <a:ext cx="356431" cy="30777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3157512" y="2208006"/>
            <a:ext cx="373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5916760" y="2180709"/>
                <a:ext cx="3564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6760" y="2180709"/>
                <a:ext cx="356431" cy="30777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094975" y="4937926"/>
                <a:ext cx="3564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975" y="4937926"/>
                <a:ext cx="356431" cy="307777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444564" y="2180709"/>
                <a:ext cx="3564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/8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564" y="2180709"/>
                <a:ext cx="356431" cy="307777"/>
              </a:xfrm>
              <a:prstGeom prst="rect">
                <a:avLst/>
              </a:prstGeom>
              <a:blipFill rotWithShape="1">
                <a:blip r:embed="rId5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6367380" y="4958416"/>
                <a:ext cx="3564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/7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7380" y="4958416"/>
                <a:ext cx="356431" cy="307777"/>
              </a:xfrm>
              <a:prstGeom prst="rect">
                <a:avLst/>
              </a:prstGeom>
              <a:blipFill rotWithShape="1">
                <a:blip r:embed="rId6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Curved Connector 10"/>
          <p:cNvCxnSpPr>
            <a:stCxn id="5" idx="7"/>
            <a:endCxn id="6" idx="2"/>
          </p:cNvCxnSpPr>
          <p:nvPr/>
        </p:nvCxnSpPr>
        <p:spPr>
          <a:xfrm flipV="1">
            <a:off x="2416109" y="2729139"/>
            <a:ext cx="1114951" cy="82765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6189164" y="2219682"/>
                <a:ext cx="3564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/14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164" y="2219682"/>
                <a:ext cx="356431" cy="307777"/>
              </a:xfrm>
              <a:prstGeom prst="rect">
                <a:avLst/>
              </a:prstGeom>
              <a:blipFill rotWithShape="1">
                <a:blip r:embed="rId7"/>
                <a:stretch>
                  <a:fillRect r="-22034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5749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1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2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2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4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6" grpId="0"/>
      <p:bldP spid="37" grpId="0"/>
      <p:bldP spid="3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Dijkstra’s</a:t>
            </a:r>
            <a:r>
              <a:rPr lang="en-US" dirty="0"/>
              <a:t> Algorithm</a:t>
            </a:r>
          </a:p>
        </p:txBody>
      </p:sp>
      <p:sp>
        <p:nvSpPr>
          <p:cNvPr id="5" name="Oval 4"/>
          <p:cNvSpPr/>
          <p:nvPr/>
        </p:nvSpPr>
        <p:spPr>
          <a:xfrm>
            <a:off x="2025864" y="3489843"/>
            <a:ext cx="457200" cy="4572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3531060" y="2500539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5711081" y="2500539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3531060" y="4407420"/>
            <a:ext cx="457200" cy="4572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5711081" y="4480726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0" name="Curved Connector 10"/>
          <p:cNvCxnSpPr>
            <a:stCxn id="5" idx="7"/>
            <a:endCxn id="6" idx="2"/>
          </p:cNvCxnSpPr>
          <p:nvPr/>
        </p:nvCxnSpPr>
        <p:spPr>
          <a:xfrm flipV="1">
            <a:off x="2416109" y="2729139"/>
            <a:ext cx="1114951" cy="82765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Curved Connector 10"/>
          <p:cNvCxnSpPr>
            <a:stCxn id="6" idx="5"/>
            <a:endCxn id="8" idx="7"/>
          </p:cNvCxnSpPr>
          <p:nvPr/>
        </p:nvCxnSpPr>
        <p:spPr>
          <a:xfrm rot="5400000">
            <a:off x="3129510" y="3682579"/>
            <a:ext cx="1583591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Curved Connector 10"/>
          <p:cNvCxnSpPr>
            <a:stCxn id="5" idx="5"/>
            <a:endCxn id="8" idx="2"/>
          </p:cNvCxnSpPr>
          <p:nvPr/>
        </p:nvCxnSpPr>
        <p:spPr>
          <a:xfrm>
            <a:off x="2416109" y="3880088"/>
            <a:ext cx="1114951" cy="7559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Curved Connector 10"/>
          <p:cNvCxnSpPr>
            <a:stCxn id="8" idx="5"/>
            <a:endCxn id="9" idx="3"/>
          </p:cNvCxnSpPr>
          <p:nvPr/>
        </p:nvCxnSpPr>
        <p:spPr>
          <a:xfrm rot="16200000" flipH="1">
            <a:off x="4813017" y="3905952"/>
            <a:ext cx="73306" cy="1856731"/>
          </a:xfrm>
          <a:prstGeom prst="curvedConnector3">
            <a:avLst>
              <a:gd name="adj1" fmla="val 503180"/>
            </a:avLst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Curved Connector 10"/>
          <p:cNvCxnSpPr>
            <a:stCxn id="6" idx="7"/>
            <a:endCxn id="7" idx="1"/>
          </p:cNvCxnSpPr>
          <p:nvPr/>
        </p:nvCxnSpPr>
        <p:spPr>
          <a:xfrm rot="5400000" flipH="1" flipV="1">
            <a:off x="4849670" y="1639129"/>
            <a:ext cx="12700" cy="1856731"/>
          </a:xfrm>
          <a:prstGeom prst="curvedConnector3">
            <a:avLst>
              <a:gd name="adj1" fmla="val 2327205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Curved Connector 14"/>
          <p:cNvCxnSpPr>
            <a:stCxn id="9" idx="1"/>
            <a:endCxn id="7" idx="3"/>
          </p:cNvCxnSpPr>
          <p:nvPr/>
        </p:nvCxnSpPr>
        <p:spPr>
          <a:xfrm rot="5400000" flipH="1" flipV="1">
            <a:off x="4949588" y="3719233"/>
            <a:ext cx="1656897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Curved Connector 15"/>
          <p:cNvCxnSpPr>
            <a:stCxn id="8" idx="1"/>
            <a:endCxn id="6" idx="3"/>
          </p:cNvCxnSpPr>
          <p:nvPr/>
        </p:nvCxnSpPr>
        <p:spPr>
          <a:xfrm rot="5400000" flipH="1" flipV="1">
            <a:off x="2806220" y="3682580"/>
            <a:ext cx="1583591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Curved Connector 10"/>
          <p:cNvCxnSpPr>
            <a:stCxn id="8" idx="6"/>
            <a:endCxn id="7" idx="2"/>
          </p:cNvCxnSpPr>
          <p:nvPr/>
        </p:nvCxnSpPr>
        <p:spPr>
          <a:xfrm flipV="1">
            <a:off x="3988260" y="2729139"/>
            <a:ext cx="1722821" cy="190688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Curved Connector 10"/>
          <p:cNvCxnSpPr>
            <a:stCxn id="9" idx="2"/>
            <a:endCxn id="5" idx="6"/>
          </p:cNvCxnSpPr>
          <p:nvPr/>
        </p:nvCxnSpPr>
        <p:spPr>
          <a:xfrm flipH="1" flipV="1">
            <a:off x="2483064" y="3718443"/>
            <a:ext cx="3228017" cy="99088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Curved Connector 18"/>
          <p:cNvCxnSpPr>
            <a:stCxn id="7" idx="5"/>
            <a:endCxn id="9" idx="7"/>
          </p:cNvCxnSpPr>
          <p:nvPr/>
        </p:nvCxnSpPr>
        <p:spPr>
          <a:xfrm rot="5400000">
            <a:off x="5272878" y="3719232"/>
            <a:ext cx="1656897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518574" y="2865442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5824" y="4099643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0287" y="3291954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14955" y="3291955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1333" y="1911905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1396" y="5112305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16223" y="3536807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6265" y="3194847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35340" y="4195952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96394" y="3564555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9871" y="1371600"/>
            <a:ext cx="5885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Choose a vertex whose shortest path is now determined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72423" y="3260994"/>
            <a:ext cx="381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3295838" y="4938544"/>
                <a:ext cx="3564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5838" y="4938544"/>
                <a:ext cx="356431" cy="30777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3157512" y="2208006"/>
            <a:ext cx="373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16760" y="2180709"/>
            <a:ext cx="534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14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094975" y="4937926"/>
                <a:ext cx="3564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975" y="4937926"/>
                <a:ext cx="356431" cy="30777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6204732" y="2205977"/>
                <a:ext cx="3564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/13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732" y="2205977"/>
                <a:ext cx="356431" cy="307777"/>
              </a:xfrm>
              <a:prstGeom prst="rect">
                <a:avLst/>
              </a:prstGeom>
              <a:blipFill rotWithShape="1">
                <a:blip r:embed="rId4"/>
                <a:stretch>
                  <a:fillRect r="-22414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1975207" y="3214827"/>
                <a:ext cx="3564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/0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5207" y="3214827"/>
                <a:ext cx="356431" cy="307777"/>
              </a:xfrm>
              <a:prstGeom prst="rect">
                <a:avLst/>
              </a:prstGeom>
              <a:blipFill rotWithShape="1">
                <a:blip r:embed="rId5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Curved Connector 10"/>
          <p:cNvCxnSpPr>
            <a:stCxn id="8" idx="6"/>
            <a:endCxn id="7" idx="2"/>
          </p:cNvCxnSpPr>
          <p:nvPr/>
        </p:nvCxnSpPr>
        <p:spPr>
          <a:xfrm flipV="1">
            <a:off x="3988260" y="2729139"/>
            <a:ext cx="1722821" cy="190688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7812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4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Dijkstra’s</a:t>
            </a:r>
            <a:r>
              <a:rPr lang="en-US" dirty="0"/>
              <a:t> Algorithm</a:t>
            </a:r>
          </a:p>
        </p:txBody>
      </p:sp>
      <p:sp>
        <p:nvSpPr>
          <p:cNvPr id="5" name="Oval 4"/>
          <p:cNvSpPr/>
          <p:nvPr/>
        </p:nvSpPr>
        <p:spPr>
          <a:xfrm>
            <a:off x="2025864" y="3489843"/>
            <a:ext cx="457200" cy="4572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3531060" y="2500539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5711081" y="2500539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3531060" y="4407420"/>
            <a:ext cx="457200" cy="4572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5711081" y="4480726"/>
            <a:ext cx="457200" cy="4572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0" name="Curved Connector 10"/>
          <p:cNvCxnSpPr>
            <a:stCxn id="5" idx="7"/>
            <a:endCxn id="6" idx="2"/>
          </p:cNvCxnSpPr>
          <p:nvPr/>
        </p:nvCxnSpPr>
        <p:spPr>
          <a:xfrm flipV="1">
            <a:off x="2416109" y="2729139"/>
            <a:ext cx="1114951" cy="82765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Curved Connector 10"/>
          <p:cNvCxnSpPr>
            <a:stCxn id="6" idx="5"/>
            <a:endCxn id="8" idx="7"/>
          </p:cNvCxnSpPr>
          <p:nvPr/>
        </p:nvCxnSpPr>
        <p:spPr>
          <a:xfrm rot="5400000">
            <a:off x="3129510" y="3682579"/>
            <a:ext cx="1583591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Curved Connector 10"/>
          <p:cNvCxnSpPr>
            <a:stCxn id="5" idx="5"/>
            <a:endCxn id="8" idx="2"/>
          </p:cNvCxnSpPr>
          <p:nvPr/>
        </p:nvCxnSpPr>
        <p:spPr>
          <a:xfrm>
            <a:off x="2416109" y="3880088"/>
            <a:ext cx="1114951" cy="7559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Curved Connector 10"/>
          <p:cNvCxnSpPr>
            <a:stCxn id="8" idx="5"/>
            <a:endCxn id="9" idx="3"/>
          </p:cNvCxnSpPr>
          <p:nvPr/>
        </p:nvCxnSpPr>
        <p:spPr>
          <a:xfrm rot="16200000" flipH="1">
            <a:off x="4813017" y="3905952"/>
            <a:ext cx="73306" cy="1856731"/>
          </a:xfrm>
          <a:prstGeom prst="curvedConnector3">
            <a:avLst>
              <a:gd name="adj1" fmla="val 503180"/>
            </a:avLst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Curved Connector 10"/>
          <p:cNvCxnSpPr>
            <a:stCxn id="6" idx="7"/>
            <a:endCxn id="7" idx="1"/>
          </p:cNvCxnSpPr>
          <p:nvPr/>
        </p:nvCxnSpPr>
        <p:spPr>
          <a:xfrm rot="5400000" flipH="1" flipV="1">
            <a:off x="4849670" y="1639129"/>
            <a:ext cx="12700" cy="1856731"/>
          </a:xfrm>
          <a:prstGeom prst="curvedConnector3">
            <a:avLst>
              <a:gd name="adj1" fmla="val 2327205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Curved Connector 14"/>
          <p:cNvCxnSpPr>
            <a:stCxn id="9" idx="1"/>
            <a:endCxn id="7" idx="3"/>
          </p:cNvCxnSpPr>
          <p:nvPr/>
        </p:nvCxnSpPr>
        <p:spPr>
          <a:xfrm rot="5400000" flipH="1" flipV="1">
            <a:off x="4949588" y="3719233"/>
            <a:ext cx="1656897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Curved Connector 15"/>
          <p:cNvCxnSpPr>
            <a:stCxn id="8" idx="1"/>
            <a:endCxn id="6" idx="3"/>
          </p:cNvCxnSpPr>
          <p:nvPr/>
        </p:nvCxnSpPr>
        <p:spPr>
          <a:xfrm rot="5400000" flipH="1" flipV="1">
            <a:off x="2806220" y="3682580"/>
            <a:ext cx="1583591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Curved Connector 10"/>
          <p:cNvCxnSpPr>
            <a:stCxn id="9" idx="2"/>
            <a:endCxn id="5" idx="6"/>
          </p:cNvCxnSpPr>
          <p:nvPr/>
        </p:nvCxnSpPr>
        <p:spPr>
          <a:xfrm flipH="1" flipV="1">
            <a:off x="2483064" y="3718443"/>
            <a:ext cx="3228017" cy="99088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Curved Connector 18"/>
          <p:cNvCxnSpPr>
            <a:stCxn id="7" idx="5"/>
            <a:endCxn id="9" idx="7"/>
          </p:cNvCxnSpPr>
          <p:nvPr/>
        </p:nvCxnSpPr>
        <p:spPr>
          <a:xfrm rot="5400000">
            <a:off x="5272878" y="3719232"/>
            <a:ext cx="1656897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518574" y="2865442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5824" y="4099643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0287" y="3291954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14955" y="3291955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1333" y="1911905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1396" y="5112305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16223" y="3536807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6265" y="3194847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35340" y="4195952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96394" y="3564555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9871" y="1371600"/>
            <a:ext cx="5885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Choose a vertex whose shortest path is now determined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72423" y="3260994"/>
            <a:ext cx="381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3295838" y="4938544"/>
                <a:ext cx="3564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5838" y="4938544"/>
                <a:ext cx="356431" cy="30777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3157512" y="2208006"/>
            <a:ext cx="373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16760" y="2180709"/>
            <a:ext cx="534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094975" y="4937926"/>
                <a:ext cx="3564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975" y="4937926"/>
                <a:ext cx="356431" cy="30777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6189165" y="2180708"/>
                <a:ext cx="3564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/9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165" y="2180708"/>
                <a:ext cx="356431" cy="307777"/>
              </a:xfrm>
              <a:prstGeom prst="rect">
                <a:avLst/>
              </a:prstGeom>
              <a:blipFill rotWithShape="1">
                <a:blip r:embed="rId4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Curved Connector 10"/>
          <p:cNvCxnSpPr>
            <a:stCxn id="8" idx="6"/>
            <a:endCxn id="7" idx="2"/>
          </p:cNvCxnSpPr>
          <p:nvPr/>
        </p:nvCxnSpPr>
        <p:spPr>
          <a:xfrm flipV="1">
            <a:off x="3988260" y="2729139"/>
            <a:ext cx="1722821" cy="190688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3544973" y="4937925"/>
                <a:ext cx="3564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/5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973" y="4937925"/>
                <a:ext cx="356431" cy="307777"/>
              </a:xfrm>
              <a:prstGeom prst="rect">
                <a:avLst/>
              </a:prstGeom>
              <a:blipFill rotWithShape="1">
                <a:blip r:embed="rId5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Curved Connector 42"/>
          <p:cNvCxnSpPr>
            <a:stCxn id="9" idx="1"/>
            <a:endCxn id="7" idx="3"/>
          </p:cNvCxnSpPr>
          <p:nvPr/>
        </p:nvCxnSpPr>
        <p:spPr>
          <a:xfrm rot="5400000" flipH="1" flipV="1">
            <a:off x="4949588" y="3719233"/>
            <a:ext cx="1656897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4516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4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Dijkstra’s</a:t>
            </a:r>
            <a:r>
              <a:rPr lang="en-US" dirty="0"/>
              <a:t> Algorithm</a:t>
            </a:r>
          </a:p>
        </p:txBody>
      </p:sp>
      <p:sp>
        <p:nvSpPr>
          <p:cNvPr id="5" name="Oval 4"/>
          <p:cNvSpPr/>
          <p:nvPr/>
        </p:nvSpPr>
        <p:spPr>
          <a:xfrm>
            <a:off x="2025864" y="3489843"/>
            <a:ext cx="457200" cy="4572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3531060" y="2500539"/>
            <a:ext cx="457200" cy="4572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5711081" y="2500539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3531060" y="4407420"/>
            <a:ext cx="457200" cy="4572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5711081" y="4480726"/>
            <a:ext cx="457200" cy="4572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0" name="Curved Connector 10"/>
          <p:cNvCxnSpPr>
            <a:stCxn id="5" idx="7"/>
            <a:endCxn id="6" idx="2"/>
          </p:cNvCxnSpPr>
          <p:nvPr/>
        </p:nvCxnSpPr>
        <p:spPr>
          <a:xfrm flipV="1">
            <a:off x="2416109" y="2729139"/>
            <a:ext cx="1114951" cy="82765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Curved Connector 10"/>
          <p:cNvCxnSpPr>
            <a:stCxn id="6" idx="5"/>
            <a:endCxn id="8" idx="7"/>
          </p:cNvCxnSpPr>
          <p:nvPr/>
        </p:nvCxnSpPr>
        <p:spPr>
          <a:xfrm rot="5400000">
            <a:off x="3129510" y="3682579"/>
            <a:ext cx="1583591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Curved Connector 10"/>
          <p:cNvCxnSpPr>
            <a:stCxn id="5" idx="5"/>
            <a:endCxn id="8" idx="2"/>
          </p:cNvCxnSpPr>
          <p:nvPr/>
        </p:nvCxnSpPr>
        <p:spPr>
          <a:xfrm>
            <a:off x="2416109" y="3880088"/>
            <a:ext cx="1114951" cy="7559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Curved Connector 10"/>
          <p:cNvCxnSpPr>
            <a:stCxn id="8" idx="5"/>
            <a:endCxn id="9" idx="3"/>
          </p:cNvCxnSpPr>
          <p:nvPr/>
        </p:nvCxnSpPr>
        <p:spPr>
          <a:xfrm rot="16200000" flipH="1">
            <a:off x="4813017" y="3905952"/>
            <a:ext cx="73306" cy="1856731"/>
          </a:xfrm>
          <a:prstGeom prst="curvedConnector3">
            <a:avLst>
              <a:gd name="adj1" fmla="val 503180"/>
            </a:avLst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Curved Connector 10"/>
          <p:cNvCxnSpPr>
            <a:stCxn id="6" idx="7"/>
            <a:endCxn id="7" idx="1"/>
          </p:cNvCxnSpPr>
          <p:nvPr/>
        </p:nvCxnSpPr>
        <p:spPr>
          <a:xfrm rot="5400000" flipH="1" flipV="1">
            <a:off x="4849670" y="1639129"/>
            <a:ext cx="12700" cy="1856731"/>
          </a:xfrm>
          <a:prstGeom prst="curvedConnector3">
            <a:avLst>
              <a:gd name="adj1" fmla="val 2327205"/>
            </a:avLst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Curved Connector 14"/>
          <p:cNvCxnSpPr>
            <a:stCxn id="9" idx="1"/>
            <a:endCxn id="7" idx="3"/>
          </p:cNvCxnSpPr>
          <p:nvPr/>
        </p:nvCxnSpPr>
        <p:spPr>
          <a:xfrm rot="5400000" flipH="1" flipV="1">
            <a:off x="4949588" y="3719233"/>
            <a:ext cx="1656897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Curved Connector 15"/>
          <p:cNvCxnSpPr>
            <a:stCxn id="8" idx="1"/>
            <a:endCxn id="6" idx="3"/>
          </p:cNvCxnSpPr>
          <p:nvPr/>
        </p:nvCxnSpPr>
        <p:spPr>
          <a:xfrm rot="5400000" flipH="1" flipV="1">
            <a:off x="2806220" y="3682580"/>
            <a:ext cx="1583591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Curved Connector 10"/>
          <p:cNvCxnSpPr>
            <a:stCxn id="9" idx="2"/>
            <a:endCxn id="5" idx="6"/>
          </p:cNvCxnSpPr>
          <p:nvPr/>
        </p:nvCxnSpPr>
        <p:spPr>
          <a:xfrm flipH="1" flipV="1">
            <a:off x="2483064" y="3718443"/>
            <a:ext cx="3228017" cy="99088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Curved Connector 18"/>
          <p:cNvCxnSpPr>
            <a:stCxn id="7" idx="5"/>
            <a:endCxn id="9" idx="7"/>
          </p:cNvCxnSpPr>
          <p:nvPr/>
        </p:nvCxnSpPr>
        <p:spPr>
          <a:xfrm rot="5400000">
            <a:off x="5272878" y="3719232"/>
            <a:ext cx="1656897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518574" y="2865442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5824" y="4099643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0287" y="3291954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14955" y="3291955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1333" y="1911905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1396" y="5112305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16223" y="3536807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6265" y="3194847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35340" y="4195952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96394" y="3564555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9871" y="1371600"/>
            <a:ext cx="5885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Choose a vertex whose shortest path is now determined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72423" y="3260994"/>
            <a:ext cx="381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3295838" y="4938544"/>
                <a:ext cx="3564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5838" y="4938544"/>
                <a:ext cx="356431" cy="30777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3157512" y="2208006"/>
            <a:ext cx="373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16760" y="2180709"/>
            <a:ext cx="534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094975" y="4937926"/>
                <a:ext cx="3564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975" y="4937926"/>
                <a:ext cx="356431" cy="30777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6367380" y="4936838"/>
                <a:ext cx="3564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/7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7380" y="4936838"/>
                <a:ext cx="356431" cy="307777"/>
              </a:xfrm>
              <a:prstGeom prst="rect">
                <a:avLst/>
              </a:prstGeom>
              <a:blipFill rotWithShape="1">
                <a:blip r:embed="rId4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Curved Connector 10"/>
          <p:cNvCxnSpPr>
            <a:stCxn id="8" idx="6"/>
            <a:endCxn id="7" idx="2"/>
          </p:cNvCxnSpPr>
          <p:nvPr/>
        </p:nvCxnSpPr>
        <p:spPr>
          <a:xfrm flipV="1">
            <a:off x="3988260" y="2729139"/>
            <a:ext cx="1722821" cy="190688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803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Dijkstra’s</a:t>
            </a:r>
            <a:r>
              <a:rPr lang="en-US" dirty="0"/>
              <a:t> Algorithm</a:t>
            </a:r>
          </a:p>
        </p:txBody>
      </p:sp>
      <p:sp>
        <p:nvSpPr>
          <p:cNvPr id="5" name="Oval 4"/>
          <p:cNvSpPr/>
          <p:nvPr/>
        </p:nvSpPr>
        <p:spPr>
          <a:xfrm>
            <a:off x="2025864" y="3489843"/>
            <a:ext cx="457200" cy="4572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3531060" y="2500539"/>
            <a:ext cx="457200" cy="4572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5711081" y="2500539"/>
            <a:ext cx="457200" cy="4572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3531060" y="4407420"/>
            <a:ext cx="457200" cy="4572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5711081" y="4480726"/>
            <a:ext cx="457200" cy="4572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0" name="Curved Connector 10"/>
          <p:cNvCxnSpPr>
            <a:stCxn id="5" idx="7"/>
            <a:endCxn id="6" idx="2"/>
          </p:cNvCxnSpPr>
          <p:nvPr/>
        </p:nvCxnSpPr>
        <p:spPr>
          <a:xfrm flipV="1">
            <a:off x="2416109" y="2729139"/>
            <a:ext cx="1114951" cy="82765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Curved Connector 10"/>
          <p:cNvCxnSpPr>
            <a:stCxn id="6" idx="5"/>
            <a:endCxn id="8" idx="7"/>
          </p:cNvCxnSpPr>
          <p:nvPr/>
        </p:nvCxnSpPr>
        <p:spPr>
          <a:xfrm rot="5400000">
            <a:off x="3129510" y="3682579"/>
            <a:ext cx="1583591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Curved Connector 10"/>
          <p:cNvCxnSpPr>
            <a:stCxn id="5" idx="5"/>
            <a:endCxn id="8" idx="2"/>
          </p:cNvCxnSpPr>
          <p:nvPr/>
        </p:nvCxnSpPr>
        <p:spPr>
          <a:xfrm>
            <a:off x="2416109" y="3880088"/>
            <a:ext cx="1114951" cy="7559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Curved Connector 10"/>
          <p:cNvCxnSpPr>
            <a:stCxn id="8" idx="5"/>
            <a:endCxn id="9" idx="3"/>
          </p:cNvCxnSpPr>
          <p:nvPr/>
        </p:nvCxnSpPr>
        <p:spPr>
          <a:xfrm rot="16200000" flipH="1">
            <a:off x="4813017" y="3905952"/>
            <a:ext cx="73306" cy="1856731"/>
          </a:xfrm>
          <a:prstGeom prst="curvedConnector3">
            <a:avLst>
              <a:gd name="adj1" fmla="val 503180"/>
            </a:avLst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Curved Connector 10"/>
          <p:cNvCxnSpPr>
            <a:stCxn id="6" idx="7"/>
            <a:endCxn id="7" idx="1"/>
          </p:cNvCxnSpPr>
          <p:nvPr/>
        </p:nvCxnSpPr>
        <p:spPr>
          <a:xfrm rot="5400000" flipH="1" flipV="1">
            <a:off x="4849670" y="1639129"/>
            <a:ext cx="12700" cy="1856731"/>
          </a:xfrm>
          <a:prstGeom prst="curvedConnector3">
            <a:avLst>
              <a:gd name="adj1" fmla="val 2327205"/>
            </a:avLst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Curved Connector 14"/>
          <p:cNvCxnSpPr>
            <a:stCxn id="9" idx="1"/>
            <a:endCxn id="7" idx="3"/>
          </p:cNvCxnSpPr>
          <p:nvPr/>
        </p:nvCxnSpPr>
        <p:spPr>
          <a:xfrm rot="5400000" flipH="1" flipV="1">
            <a:off x="4949588" y="3719233"/>
            <a:ext cx="1656897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Curved Connector 15"/>
          <p:cNvCxnSpPr>
            <a:stCxn id="8" idx="1"/>
            <a:endCxn id="6" idx="3"/>
          </p:cNvCxnSpPr>
          <p:nvPr/>
        </p:nvCxnSpPr>
        <p:spPr>
          <a:xfrm rot="5400000" flipH="1" flipV="1">
            <a:off x="2806220" y="3682580"/>
            <a:ext cx="1583591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Curved Connector 10"/>
          <p:cNvCxnSpPr>
            <a:stCxn id="9" idx="2"/>
            <a:endCxn id="5" idx="6"/>
          </p:cNvCxnSpPr>
          <p:nvPr/>
        </p:nvCxnSpPr>
        <p:spPr>
          <a:xfrm flipH="1" flipV="1">
            <a:off x="2483064" y="3718443"/>
            <a:ext cx="3228017" cy="99088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Curved Connector 18"/>
          <p:cNvCxnSpPr>
            <a:stCxn id="7" idx="5"/>
            <a:endCxn id="9" idx="7"/>
          </p:cNvCxnSpPr>
          <p:nvPr/>
        </p:nvCxnSpPr>
        <p:spPr>
          <a:xfrm rot="5400000">
            <a:off x="5272878" y="3719232"/>
            <a:ext cx="1656897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518574" y="2865442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5824" y="4099643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0287" y="3291954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14955" y="3291955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1333" y="1911905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1396" y="5112305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16223" y="3536807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6265" y="3194847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35340" y="4195952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96394" y="3564555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4776" y="1346894"/>
            <a:ext cx="5885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Final result: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72423" y="3260994"/>
            <a:ext cx="381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3295838" y="4938544"/>
                <a:ext cx="3564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5838" y="4938544"/>
                <a:ext cx="356431" cy="30777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3157512" y="2208006"/>
            <a:ext cx="373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16760" y="2180709"/>
            <a:ext cx="534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094975" y="4937926"/>
                <a:ext cx="3564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975" y="4937926"/>
                <a:ext cx="356431" cy="30777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Curved Connector 10"/>
          <p:cNvCxnSpPr>
            <a:stCxn id="8" idx="6"/>
            <a:endCxn id="7" idx="2"/>
          </p:cNvCxnSpPr>
          <p:nvPr/>
        </p:nvCxnSpPr>
        <p:spPr>
          <a:xfrm flipV="1">
            <a:off x="3988260" y="2729139"/>
            <a:ext cx="1722821" cy="190688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81000" y="5446694"/>
            <a:ext cx="3016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the shortest path from 1 to 5?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1000" y="6140642"/>
            <a:ext cx="301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weight of this path?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51661" y="5486230"/>
            <a:ext cx="301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1, 4, 5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16921" y="6093025"/>
            <a:ext cx="301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84925" y="5954525"/>
            <a:ext cx="3016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the shortest path from 1 to 2, 3, and 4?</a:t>
            </a:r>
          </a:p>
        </p:txBody>
      </p:sp>
    </p:spTree>
    <p:extLst>
      <p:ext uri="{BB962C8B-B14F-4D97-AF65-F5344CB8AC3E}">
        <p14:creationId xmlns:p14="http://schemas.microsoft.com/office/powerpoint/2010/main" val="2493627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  <p:bldP spid="40" grpId="0"/>
      <p:bldP spid="3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">
            <a:extLst>
              <a:ext uri="{FF2B5EF4-FFF2-40B4-BE49-F238E27FC236}">
                <a16:creationId xmlns:a16="http://schemas.microsoft.com/office/drawing/2014/main" id="{E1C2BE06-3300-49DF-83AA-CC8A2F88853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 eaLnBrk="1" hangingPunct="1">
              <a:lnSpc>
                <a:spcPct val="95000"/>
              </a:lnSpc>
            </a:pPr>
            <a:r>
              <a:rPr lang="en-US" altLang="en-US" sz="4200">
                <a:solidFill>
                  <a:srgbClr val="FF0000"/>
                </a:solidFill>
                <a:latin typeface="Arial" panose="020B0604020202020204" pitchFamily="34" charset="0"/>
              </a:rPr>
              <a:t>APPLICATIONS</a:t>
            </a:r>
            <a:r>
              <a:rPr lang="en-US" altLang="en-US" sz="4200">
                <a:solidFill>
                  <a:srgbClr val="3B62AF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D8114D99-D01C-4D8A-A1EC-BC8907418098}"/>
              </a:ext>
            </a:extLst>
          </p:cNvPr>
          <p:cNvSpPr>
            <a:spLocks noGrp="1" noChangeArrowheads="1"/>
          </p:cNvSpPr>
          <p:nvPr>
            <p:ph sz="quarter" idx="4294967295"/>
          </p:nvPr>
        </p:nvSpPr>
        <p:spPr>
          <a:xfrm>
            <a:off x="220663" y="1079500"/>
            <a:ext cx="8702675" cy="4941888"/>
          </a:xfrm>
        </p:spPr>
        <p:txBody>
          <a:bodyPr lIns="0" tIns="0" rIns="0" bIns="0"/>
          <a:lstStyle/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en-US" sz="2700">
                <a:solidFill>
                  <a:srgbClr val="444444"/>
                </a:solidFill>
                <a:latin typeface="Arial" panose="020B0604020202020204" pitchFamily="34" charset="0"/>
              </a:rPr>
              <a:t>- Traffic Information Systems are most prominent use  </a:t>
            </a:r>
            <a:endParaRPr lang="en-US" altLang="en-US" sz="2700"/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en-US" sz="2700">
                <a:solidFill>
                  <a:srgbClr val="444444"/>
                </a:solidFill>
                <a:latin typeface="Arial" panose="020B0604020202020204" pitchFamily="34" charset="0"/>
              </a:rPr>
              <a:t>- Mapping (Map Quest, Google Maps) </a:t>
            </a:r>
            <a:endParaRPr lang="en-US" altLang="en-US" sz="2700"/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en-US" sz="2700">
                <a:solidFill>
                  <a:srgbClr val="444444"/>
                </a:solidFill>
                <a:latin typeface="Arial" panose="020B0604020202020204" pitchFamily="34" charset="0"/>
              </a:rPr>
              <a:t>- Routing Systems</a:t>
            </a:r>
          </a:p>
        </p:txBody>
      </p:sp>
      <p:pic>
        <p:nvPicPr>
          <p:cNvPr id="47108" name="Picture 4">
            <a:extLst>
              <a:ext uri="{FF2B5EF4-FFF2-40B4-BE49-F238E27FC236}">
                <a16:creationId xmlns:a16="http://schemas.microsoft.com/office/drawing/2014/main" id="{44ABCBD0-0A5C-4C72-B818-82AEFD848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" y="2403475"/>
            <a:ext cx="3413125" cy="332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9" name="Picture 5">
            <a:extLst>
              <a:ext uri="{FF2B5EF4-FFF2-40B4-BE49-F238E27FC236}">
                <a16:creationId xmlns:a16="http://schemas.microsoft.com/office/drawing/2014/main" id="{ABD67FDC-99A7-4920-B1A6-E345200E3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975" y="2070100"/>
            <a:ext cx="3760788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87645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All-pairs shortest paths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b="1" dirty="0"/>
                  <a:t>All-pairs shortest path problem</a:t>
                </a:r>
                <a:r>
                  <a:rPr lang="en-US" dirty="0"/>
                  <a:t>: given a weighted, directed graph G=(V, E), for every pair of vertices, find a shortest path.</a:t>
                </a:r>
              </a:p>
              <a:p>
                <a:r>
                  <a:rPr lang="en-US" dirty="0"/>
                  <a:t>If there are negative weights, run </a:t>
                </a:r>
                <a:r>
                  <a:rPr lang="en-US" b="1" dirty="0"/>
                  <a:t>Bellman-Ford</a:t>
                </a:r>
                <a:r>
                  <a:rPr lang="en-US" dirty="0"/>
                  <a:t> algorithm |V| times </a:t>
                </a:r>
              </a:p>
              <a:p>
                <a:pPr lvl="1"/>
                <a:r>
                  <a:rPr lang="en-US" dirty="0"/>
                  <a:t>T(n)=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/>
                          </a:rPr>
                          <m:t>𝑉</m:t>
                        </m:r>
                      </m:e>
                    </m:d>
                    <m:r>
                      <a:rPr lang="en-US" i="1" dirty="0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latin typeface="Cambria Math"/>
                                  </a:rPr>
                                  <m:t>𝑉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dirty="0" smtClean="0">
                                <a:latin typeface="Cambria Math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a:rPr lang="en-US" b="0" i="1" dirty="0" smtClean="0">
                        <a:latin typeface="Cambria Math"/>
                      </a:rPr>
                      <m:t>=</m:t>
                    </m:r>
                    <m:r>
                      <a:rPr lang="en-US" i="1" dirty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latin typeface="Cambria Math"/>
                                  </a:rPr>
                                  <m:t>𝑉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dirty="0" smtClean="0">
                                <a:latin typeface="Cambria Math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If there are no negative weights, run </a:t>
                </a:r>
                <a:r>
                  <a:rPr lang="en-US" b="1" dirty="0" err="1"/>
                  <a:t>Dijkstra’s</a:t>
                </a:r>
                <a:r>
                  <a:rPr lang="en-US" dirty="0"/>
                  <a:t> algorithm |V| times </a:t>
                </a:r>
              </a:p>
              <a:p>
                <a:pPr lvl="1"/>
                <a:r>
                  <a:rPr lang="en-US" dirty="0"/>
                  <a:t>T(n)=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/>
                          </a:rPr>
                          <m:t>𝑉</m:t>
                        </m:r>
                      </m:e>
                    </m:d>
                    <m:r>
                      <a:rPr lang="en-US" i="1" dirty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latin typeface="Cambria Math"/>
                                  </a:rPr>
                                  <m:t>𝑉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dirty="0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i="1" dirty="0">
                        <a:latin typeface="Cambria Math"/>
                      </a:rPr>
                      <m:t>=</m:t>
                    </m:r>
                    <m:r>
                      <a:rPr lang="en-US" i="1" dirty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latin typeface="Cambria Math"/>
                                  </a:rPr>
                                  <m:t>𝑉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dirty="0" smtClean="0">
                                <a:latin typeface="Cambria Math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2830" r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10867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All-pairs shortest paths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There are other algorithms can do it more efficient, such like </a:t>
                </a:r>
                <a:r>
                  <a:rPr lang="en-US" b="1" dirty="0"/>
                  <a:t>Floyd-</a:t>
                </a:r>
                <a:r>
                  <a:rPr lang="en-US" b="1" dirty="0" err="1"/>
                  <a:t>Warshall</a:t>
                </a:r>
                <a:r>
                  <a:rPr lang="en-US" dirty="0"/>
                  <a:t> algorithm</a:t>
                </a:r>
              </a:p>
              <a:p>
                <a:r>
                  <a:rPr lang="en-US" b="1" dirty="0"/>
                  <a:t>Floyd-</a:t>
                </a:r>
                <a:r>
                  <a:rPr lang="en-US" b="1" dirty="0" err="1"/>
                  <a:t>Warshall</a:t>
                </a:r>
                <a:r>
                  <a:rPr lang="en-US" dirty="0"/>
                  <a:t> algorithm</a:t>
                </a:r>
              </a:p>
              <a:p>
                <a:pPr lvl="1"/>
                <a:r>
                  <a:rPr lang="en-US" dirty="0"/>
                  <a:t>Negative weights may present, but no negative cycle</a:t>
                </a:r>
              </a:p>
              <a:p>
                <a:pPr lvl="1"/>
                <a:r>
                  <a:rPr lang="en-US" dirty="0"/>
                  <a:t>T(n)=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latin typeface="Cambria Math"/>
                                  </a:rPr>
                                  <m:t>𝑉</m:t>
                                </m:r>
                              </m:e>
                            </m:d>
                          </m:e>
                          <m:sup>
                            <m:r>
                              <a:rPr lang="en-US" i="1" dirty="0">
                                <a:latin typeface="Cambria Math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 dynamic programming algorithm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61203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All-pairs shortest paths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/>
                  <a:t>Floyd-</a:t>
                </a:r>
                <a:r>
                  <a:rPr lang="en-US" b="1" dirty="0" err="1"/>
                  <a:t>Warshall</a:t>
                </a:r>
                <a:r>
                  <a:rPr lang="en-US" dirty="0"/>
                  <a:t>(G)</a:t>
                </a:r>
              </a:p>
              <a:p>
                <a:pPr marL="457200" lvl="1" indent="0">
                  <a:buNone/>
                </a:pPr>
                <a:r>
                  <a:rPr lang="en-US" dirty="0"/>
                  <a:t>Construct the shortest path matrix when there is no intermediate vertex, D(0);</a:t>
                </a:r>
              </a:p>
              <a:p>
                <a:pPr marL="457200" lvl="1" indent="0">
                  <a:buNone/>
                </a:pPr>
                <a:r>
                  <a:rPr lang="en-US" dirty="0"/>
                  <a:t>for(</a:t>
                </a:r>
                <a:r>
                  <a:rPr lang="en-US" dirty="0" err="1"/>
                  <a:t>i</a:t>
                </a:r>
                <a:r>
                  <a:rPr lang="en-US" dirty="0"/>
                  <a:t>=1 to |G.V|){</a:t>
                </a:r>
              </a:p>
              <a:p>
                <a:pPr marL="857250" lvl="2" indent="0">
                  <a:buNone/>
                </a:pPr>
                <a:r>
                  <a:rPr lang="en-US" dirty="0"/>
                  <a:t>//D(</a:t>
                </a:r>
                <a:r>
                  <a:rPr lang="en-US" dirty="0" err="1"/>
                  <a:t>i</a:t>
                </a:r>
                <a:r>
                  <a:rPr lang="en-US" dirty="0"/>
                  <a:t>) is the shortest path matrix when the intermediate //vertices could be: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, 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marL="857250" lvl="2" indent="0">
                  <a:buNone/>
                </a:pPr>
                <a:r>
                  <a:rPr lang="en-US" dirty="0"/>
                  <a:t>Compute D(</a:t>
                </a:r>
                <a:r>
                  <a:rPr lang="en-US" dirty="0" err="1"/>
                  <a:t>i</a:t>
                </a:r>
                <a:r>
                  <a:rPr lang="en-US" dirty="0"/>
                  <a:t>) from D(i-1);</a:t>
                </a:r>
              </a:p>
              <a:p>
                <a:pPr marL="457200" lvl="1" indent="0">
                  <a:buNone/>
                </a:pPr>
                <a:r>
                  <a:rPr lang="en-US" dirty="0"/>
                  <a:t>}</a:t>
                </a:r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89786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All-pairs shortest paths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38600" y="1447800"/>
            <a:ext cx="434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are the weights of shortest paths with no intermediate vertices, D(0)?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6559329"/>
              </p:ext>
            </p:extLst>
          </p:nvPr>
        </p:nvGraphicFramePr>
        <p:xfrm>
          <a:off x="4191000" y="2878625"/>
          <a:ext cx="350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44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947302" y="3290074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580404" y="3292100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404" y="3292100"/>
                <a:ext cx="462897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324600" y="3283636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600" y="3283636"/>
                <a:ext cx="462897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010400" y="3292100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400" y="3292100"/>
                <a:ext cx="462897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947302" y="3657380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7302" y="3657380"/>
                <a:ext cx="462897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5580404" y="3659406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404" y="3659406"/>
                <a:ext cx="462897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6324600" y="3650942"/>
                <a:ext cx="46289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600" y="3650942"/>
                <a:ext cx="462897" cy="646331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7010400" y="3659406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47302" y="3973149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5580404" y="3975175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404" y="3975175"/>
                <a:ext cx="462897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6324600" y="3966711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600" y="3966711"/>
                <a:ext cx="462897" cy="369332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7010400" y="3975175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4947301" y="4334017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7301" y="4334017"/>
                <a:ext cx="462897" cy="369332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/>
          <p:cNvSpPr txBox="1"/>
          <p:nvPr/>
        </p:nvSpPr>
        <p:spPr>
          <a:xfrm>
            <a:off x="5580403" y="4336043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6324599" y="4327579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599" y="4327579"/>
                <a:ext cx="462897" cy="369332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/>
          <p:cNvSpPr txBox="1"/>
          <p:nvPr/>
        </p:nvSpPr>
        <p:spPr>
          <a:xfrm>
            <a:off x="7010399" y="4336043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2" name="Oval 51"/>
          <p:cNvSpPr/>
          <p:nvPr/>
        </p:nvSpPr>
        <p:spPr>
          <a:xfrm>
            <a:off x="838200" y="2375548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3" name="Oval 52"/>
          <p:cNvSpPr/>
          <p:nvPr/>
        </p:nvSpPr>
        <p:spPr>
          <a:xfrm>
            <a:off x="3018221" y="2375548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54" name="Oval 53"/>
          <p:cNvSpPr/>
          <p:nvPr/>
        </p:nvSpPr>
        <p:spPr>
          <a:xfrm>
            <a:off x="838200" y="4282429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55" name="Oval 54"/>
          <p:cNvSpPr/>
          <p:nvPr/>
        </p:nvSpPr>
        <p:spPr>
          <a:xfrm>
            <a:off x="3018221" y="4355735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56" name="Curved Connector 10"/>
          <p:cNvCxnSpPr>
            <a:stCxn id="54" idx="5"/>
            <a:endCxn id="55" idx="3"/>
          </p:cNvCxnSpPr>
          <p:nvPr/>
        </p:nvCxnSpPr>
        <p:spPr>
          <a:xfrm rot="16200000" flipH="1">
            <a:off x="2120157" y="3780961"/>
            <a:ext cx="73306" cy="1856731"/>
          </a:xfrm>
          <a:prstGeom prst="curvedConnector3">
            <a:avLst>
              <a:gd name="adj1" fmla="val 50318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Curved Connector 56"/>
          <p:cNvCxnSpPr>
            <a:stCxn id="55" idx="1"/>
            <a:endCxn id="53" idx="3"/>
          </p:cNvCxnSpPr>
          <p:nvPr/>
        </p:nvCxnSpPr>
        <p:spPr>
          <a:xfrm rot="5400000" flipH="1" flipV="1">
            <a:off x="2256728" y="3594242"/>
            <a:ext cx="1656897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8" name="Curved Connector 57"/>
          <p:cNvCxnSpPr>
            <a:stCxn id="54" idx="1"/>
            <a:endCxn id="52" idx="3"/>
          </p:cNvCxnSpPr>
          <p:nvPr/>
        </p:nvCxnSpPr>
        <p:spPr>
          <a:xfrm rot="5400000" flipH="1" flipV="1">
            <a:off x="113360" y="3557589"/>
            <a:ext cx="1583591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Curved Connector 58"/>
          <p:cNvCxnSpPr>
            <a:stCxn id="53" idx="5"/>
            <a:endCxn id="55" idx="7"/>
          </p:cNvCxnSpPr>
          <p:nvPr/>
        </p:nvCxnSpPr>
        <p:spPr>
          <a:xfrm rot="5400000">
            <a:off x="2580018" y="3594241"/>
            <a:ext cx="1656897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37427" y="3166963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18536" y="4987314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23363" y="3411816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42123" y="3024055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803534" y="3439564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6</a:t>
            </a:r>
          </a:p>
        </p:txBody>
      </p:sp>
      <p:cxnSp>
        <p:nvCxnSpPr>
          <p:cNvPr id="65" name="Curved Connector 10"/>
          <p:cNvCxnSpPr>
            <a:stCxn id="54" idx="7"/>
            <a:endCxn id="53" idx="2"/>
          </p:cNvCxnSpPr>
          <p:nvPr/>
        </p:nvCxnSpPr>
        <p:spPr>
          <a:xfrm rot="5400000" flipH="1" flipV="1">
            <a:off x="1250715" y="2581878"/>
            <a:ext cx="1745236" cy="1789776"/>
          </a:xfrm>
          <a:prstGeom prst="curvedConnector2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9150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All-pairs shortest paths</a:t>
            </a:r>
          </a:p>
        </p:txBody>
      </p:sp>
      <p:sp>
        <p:nvSpPr>
          <p:cNvPr id="4" name="Oval 3"/>
          <p:cNvSpPr/>
          <p:nvPr/>
        </p:nvSpPr>
        <p:spPr>
          <a:xfrm>
            <a:off x="838200" y="2375548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3018221" y="2375548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38200" y="4282429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3018221" y="4355735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8" name="Curved Connector 10"/>
          <p:cNvCxnSpPr>
            <a:stCxn id="6" idx="5"/>
            <a:endCxn id="7" idx="3"/>
          </p:cNvCxnSpPr>
          <p:nvPr/>
        </p:nvCxnSpPr>
        <p:spPr>
          <a:xfrm rot="16200000" flipH="1">
            <a:off x="2120157" y="3780961"/>
            <a:ext cx="73306" cy="1856731"/>
          </a:xfrm>
          <a:prstGeom prst="curvedConnector3">
            <a:avLst>
              <a:gd name="adj1" fmla="val 50318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Curved Connector 8"/>
          <p:cNvCxnSpPr>
            <a:stCxn id="7" idx="1"/>
            <a:endCxn id="5" idx="3"/>
          </p:cNvCxnSpPr>
          <p:nvPr/>
        </p:nvCxnSpPr>
        <p:spPr>
          <a:xfrm rot="5400000" flipH="1" flipV="1">
            <a:off x="2256728" y="3594242"/>
            <a:ext cx="1656897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Curved Connector 9"/>
          <p:cNvCxnSpPr>
            <a:stCxn id="6" idx="1"/>
            <a:endCxn id="4" idx="3"/>
          </p:cNvCxnSpPr>
          <p:nvPr/>
        </p:nvCxnSpPr>
        <p:spPr>
          <a:xfrm rot="5400000" flipH="1" flipV="1">
            <a:off x="113360" y="3557589"/>
            <a:ext cx="1583591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Curved Connector 10"/>
          <p:cNvCxnSpPr>
            <a:stCxn id="5" idx="5"/>
            <a:endCxn id="7" idx="7"/>
          </p:cNvCxnSpPr>
          <p:nvPr/>
        </p:nvCxnSpPr>
        <p:spPr>
          <a:xfrm rot="5400000">
            <a:off x="2580018" y="3594241"/>
            <a:ext cx="1656897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37427" y="3166963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8536" y="4987314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3363" y="3411816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42123" y="3024055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3534" y="3439564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6</a:t>
            </a:r>
          </a:p>
        </p:txBody>
      </p:sp>
      <p:cxnSp>
        <p:nvCxnSpPr>
          <p:cNvPr id="17" name="Curved Connector 10"/>
          <p:cNvCxnSpPr>
            <a:stCxn id="6" idx="7"/>
            <a:endCxn id="5" idx="2"/>
          </p:cNvCxnSpPr>
          <p:nvPr/>
        </p:nvCxnSpPr>
        <p:spPr>
          <a:xfrm rot="5400000" flipH="1" flipV="1">
            <a:off x="1250715" y="2581878"/>
            <a:ext cx="1745236" cy="1789776"/>
          </a:xfrm>
          <a:prstGeom prst="curvedConnector2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030054" y="1295400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D(0)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200221"/>
              </p:ext>
            </p:extLst>
          </p:nvPr>
        </p:nvGraphicFramePr>
        <p:xfrm>
          <a:off x="4114800" y="1689748"/>
          <a:ext cx="350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44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871102" y="2101197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504204" y="2103223"/>
                <a:ext cx="762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204" y="2103223"/>
                <a:ext cx="762000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248400" y="2094759"/>
                <a:ext cx="762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0" y="2094759"/>
                <a:ext cx="762000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934200" y="2103223"/>
                <a:ext cx="762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2103223"/>
                <a:ext cx="762000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871102" y="2468503"/>
                <a:ext cx="762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1102" y="2468503"/>
                <a:ext cx="762000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5504204" y="2470529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6248400" y="2462065"/>
                <a:ext cx="762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0" y="2462065"/>
                <a:ext cx="762000" cy="64633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6934200" y="2470529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71102" y="2784272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04204" y="27862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8400" y="2777834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4200" y="27862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4871101" y="3145140"/>
                <a:ext cx="762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1101" y="3145140"/>
                <a:ext cx="762000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/>
          <p:cNvSpPr txBox="1"/>
          <p:nvPr/>
        </p:nvSpPr>
        <p:spPr>
          <a:xfrm>
            <a:off x="5504203" y="3147166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6248399" y="3138702"/>
                <a:ext cx="762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399" y="3138702"/>
                <a:ext cx="762000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/>
          <p:cNvSpPr txBox="1"/>
          <p:nvPr/>
        </p:nvSpPr>
        <p:spPr>
          <a:xfrm>
            <a:off x="6934199" y="3147166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79904" y="3640316"/>
            <a:ext cx="434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are the weights of shortest paths with intermediate vertex 1?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67101"/>
              </p:ext>
            </p:extLst>
          </p:nvPr>
        </p:nvGraphicFramePr>
        <p:xfrm>
          <a:off x="4267200" y="4683391"/>
          <a:ext cx="350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44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5023502" y="5094840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5656604" y="5096866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6604" y="5096866"/>
                <a:ext cx="462897" cy="369332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6400800" y="5088402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5088402"/>
                <a:ext cx="462897" cy="369332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7086600" y="5096866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600" y="5096866"/>
                <a:ext cx="462897" cy="369332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5023502" y="5462146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3502" y="5462146"/>
                <a:ext cx="462897" cy="369332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/>
          <p:cNvSpPr txBox="1"/>
          <p:nvPr/>
        </p:nvSpPr>
        <p:spPr>
          <a:xfrm>
            <a:off x="5656604" y="5464172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6479848" y="5404677"/>
                <a:ext cx="3197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9848" y="5404677"/>
                <a:ext cx="319757" cy="369332"/>
              </a:xfrm>
              <a:prstGeom prst="rect">
                <a:avLst/>
              </a:prstGeom>
              <a:blipFill rotWithShape="1">
                <a:blip r:embed="rId13"/>
                <a:stretch>
                  <a:fillRect r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/>
          <p:cNvSpPr txBox="1"/>
          <p:nvPr/>
        </p:nvSpPr>
        <p:spPr>
          <a:xfrm>
            <a:off x="7086600" y="5464172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3502" y="5777915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5656604" y="5779941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6604" y="5779941"/>
                <a:ext cx="462897" cy="369332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/>
          <p:cNvSpPr txBox="1"/>
          <p:nvPr/>
        </p:nvSpPr>
        <p:spPr>
          <a:xfrm>
            <a:off x="6400800" y="5771477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86600" y="5779941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5023501" y="6138783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3501" y="6138783"/>
                <a:ext cx="462897" cy="369332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52"/>
          <p:cNvSpPr txBox="1"/>
          <p:nvPr/>
        </p:nvSpPr>
        <p:spPr>
          <a:xfrm>
            <a:off x="5656603" y="6140809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6400799" y="6132345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799" y="6132345"/>
                <a:ext cx="462897" cy="369332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/>
          <p:cNvSpPr txBox="1"/>
          <p:nvPr/>
        </p:nvSpPr>
        <p:spPr>
          <a:xfrm>
            <a:off x="7086599" y="6140809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29100" y="4244374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D(1)</a:t>
            </a:r>
          </a:p>
        </p:txBody>
      </p:sp>
    </p:spTree>
    <p:extLst>
      <p:ext uri="{BB962C8B-B14F-4D97-AF65-F5344CB8AC3E}">
        <p14:creationId xmlns:p14="http://schemas.microsoft.com/office/powerpoint/2010/main" val="2119777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7" presetClass="emph" presetSubtype="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250" autoRev="1" fill="remov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7" dur="250" autoRev="1" fill="remove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" dur="250" autoRev="1" fill="remove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250" autoRev="1" fill="remove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7" presetClass="emph" presetSubtype="0" fill="remove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250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2" dur="250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250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50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7" presetClass="emph" presetSubtype="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250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5" dur="250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" dur="250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" dur="250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7" presetClass="emph" presetSubtype="0" fill="remove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" dur="250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0" dur="250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250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250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7" presetClass="emph" presetSubtype="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3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7" presetClass="emph" presetSubtype="0" fill="remove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" dur="250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8" dur="250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250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250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7" presetClass="emph" presetSubtype="0" fill="remove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250" autoRev="1" fill="remov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1" dur="250" autoRev="1" fill="remove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" dur="250" autoRev="1" fill="remove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250" autoRev="1" fill="remove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27" presetClass="emph" presetSubtype="0" fill="remove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5" dur="250" autoRev="1" fill="remove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6" dur="250" autoRev="1" fill="remove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250" autoRev="1" fill="remove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250" autoRev="1" fill="remove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7" presetClass="emph" presetSubtype="0" fill="remove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" dur="250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9" dur="250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0" dur="250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" dur="250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27" presetClass="emph" presetSubtype="0" fill="remove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" dur="250" autoRev="1" fill="remove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4" dur="250" autoRev="1" fill="remove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" dur="250" autoRev="1" fill="remove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250" autoRev="1" fill="remove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7" presetClass="emph" presetSubtype="0" fill="remove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7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8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9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27" presetClass="emph" presetSubtype="0" fill="remove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1" dur="250" autoRev="1" fill="remove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2" dur="250" autoRev="1" fill="remove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250" autoRev="1" fill="remove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250" autoRev="1" fill="remove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7" presetClass="emph" presetSubtype="0" fill="remove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" dur="250" autoRev="1" fill="remov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5" dur="250" autoRev="1" fill="remove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6" dur="250" autoRev="1" fill="remove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7" dur="250" autoRev="1" fill="remove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27" presetClass="emph" presetSubtype="0" fill="remove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9" dur="250" autoRev="1" fill="remove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50" dur="250" autoRev="1" fill="remove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250" autoRev="1" fill="remove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250" autoRev="1" fill="remove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7" presetClass="emph" presetSubtype="0" fill="remove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2" dur="250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63" dur="250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4" dur="250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5" dur="250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27" presetClass="emph" presetSubtype="0" fill="remove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7" dur="250" autoRev="1" fill="remove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68" dur="250" autoRev="1" fill="remove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9" dur="250" autoRev="1" fill="remove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0" dur="250" autoRev="1" fill="remove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7" presetClass="emph" presetSubtype="0" fill="remove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0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81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2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3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27" presetClass="emph" presetSubtype="0" fill="remove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5" dur="250" autoRev="1" fill="remove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86" dur="250" autoRev="1" fill="remove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250" autoRev="1" fill="remove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250" autoRev="1" fill="remove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41" grpId="1"/>
      <p:bldP spid="41" grpId="2"/>
      <p:bldP spid="41" grpId="3"/>
      <p:bldP spid="42" grpId="0"/>
      <p:bldP spid="42" grpId="1"/>
      <p:bldP spid="42" grpId="2"/>
      <p:bldP spid="42" grpId="3"/>
      <p:bldP spid="43" grpId="0"/>
      <p:bldP spid="43" grpId="1"/>
      <p:bldP spid="43" grpId="2"/>
      <p:bldP spid="43" grpId="3"/>
      <p:bldP spid="44" grpId="0"/>
      <p:bldP spid="44" grpId="1"/>
      <p:bldP spid="44" grpId="2"/>
      <p:bldP spid="44" grpId="3"/>
      <p:bldP spid="45" grpId="0"/>
      <p:bldP spid="46" grpId="0"/>
      <p:bldP spid="47" grpId="0"/>
      <p:bldP spid="48" grpId="0"/>
      <p:bldP spid="48" grpId="1"/>
      <p:bldP spid="48" grpId="2"/>
      <p:bldP spid="48" grpId="3"/>
      <p:bldP spid="49" grpId="0"/>
      <p:bldP spid="50" grpId="0"/>
      <p:bldP spid="51" grpId="0"/>
      <p:bldP spid="52" grpId="0"/>
      <p:bldP spid="52" grpId="1"/>
      <p:bldP spid="52" grpId="2"/>
      <p:bldP spid="52" grpId="3"/>
      <p:bldP spid="53" grpId="0"/>
      <p:bldP spid="54" grpId="0"/>
      <p:bldP spid="5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All-pairs shortest paths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3363" y="3411816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30054" y="1295400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D(1)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79904" y="3640316"/>
            <a:ext cx="434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are the weights of shortest paths with intermediate vertices 1 and 2?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89962"/>
              </p:ext>
            </p:extLst>
          </p:nvPr>
        </p:nvGraphicFramePr>
        <p:xfrm>
          <a:off x="4267200" y="4683391"/>
          <a:ext cx="350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44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5023502" y="5094840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5656604" y="5096866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6604" y="5096866"/>
                <a:ext cx="462897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6400800" y="5088402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5088402"/>
                <a:ext cx="462897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7086600" y="5096866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600" y="5096866"/>
                <a:ext cx="462897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5023502" y="5462146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3502" y="5462146"/>
                <a:ext cx="462897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/>
          <p:cNvSpPr txBox="1"/>
          <p:nvPr/>
        </p:nvSpPr>
        <p:spPr>
          <a:xfrm>
            <a:off x="5656604" y="5464172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6479848" y="5404677"/>
                <a:ext cx="3197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9848" y="5404677"/>
                <a:ext cx="319757" cy="369332"/>
              </a:xfrm>
              <a:prstGeom prst="rect">
                <a:avLst/>
              </a:prstGeom>
              <a:blipFill rotWithShape="1">
                <a:blip r:embed="rId6"/>
                <a:stretch>
                  <a:fillRect r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/>
          <p:cNvSpPr txBox="1"/>
          <p:nvPr/>
        </p:nvSpPr>
        <p:spPr>
          <a:xfrm>
            <a:off x="7086600" y="5464172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3502" y="5777915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5656604" y="5779941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6604" y="5779941"/>
                <a:ext cx="462897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/>
          <p:cNvSpPr txBox="1"/>
          <p:nvPr/>
        </p:nvSpPr>
        <p:spPr>
          <a:xfrm>
            <a:off x="6400800" y="5771477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86600" y="5779941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5023501" y="6138783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3501" y="6138783"/>
                <a:ext cx="462897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52"/>
          <p:cNvSpPr txBox="1"/>
          <p:nvPr/>
        </p:nvSpPr>
        <p:spPr>
          <a:xfrm>
            <a:off x="5656603" y="6140809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6400799" y="6132345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799" y="6132345"/>
                <a:ext cx="462897" cy="369332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/>
          <p:cNvSpPr txBox="1"/>
          <p:nvPr/>
        </p:nvSpPr>
        <p:spPr>
          <a:xfrm>
            <a:off x="7086599" y="6140809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29100" y="4244374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D(2)</a:t>
            </a:r>
          </a:p>
        </p:txBody>
      </p:sp>
      <p:graphicFrame>
        <p:nvGraphicFramePr>
          <p:cNvPr id="57" name="Table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002810"/>
              </p:ext>
            </p:extLst>
          </p:nvPr>
        </p:nvGraphicFramePr>
        <p:xfrm>
          <a:off x="4135452" y="1664732"/>
          <a:ext cx="350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44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8" name="TextBox 57"/>
          <p:cNvSpPr txBox="1"/>
          <p:nvPr/>
        </p:nvSpPr>
        <p:spPr>
          <a:xfrm>
            <a:off x="4891754" y="2076181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5524856" y="2078207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856" y="2078207"/>
                <a:ext cx="462897" cy="369332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6269052" y="2069743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9052" y="2069743"/>
                <a:ext cx="462897" cy="369332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6954852" y="2078207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852" y="2078207"/>
                <a:ext cx="462897" cy="369332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4891754" y="2443487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1754" y="2443487"/>
                <a:ext cx="462897" cy="369332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Box 62"/>
          <p:cNvSpPr txBox="1"/>
          <p:nvPr/>
        </p:nvSpPr>
        <p:spPr>
          <a:xfrm>
            <a:off x="5524856" y="2445513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6348100" y="2386018"/>
                <a:ext cx="3197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8100" y="2386018"/>
                <a:ext cx="319757" cy="369332"/>
              </a:xfrm>
              <a:prstGeom prst="rect">
                <a:avLst/>
              </a:prstGeom>
              <a:blipFill rotWithShape="1">
                <a:blip r:embed="rId14"/>
                <a:stretch>
                  <a:fillRect r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/>
          <p:cNvSpPr txBox="1"/>
          <p:nvPr/>
        </p:nvSpPr>
        <p:spPr>
          <a:xfrm>
            <a:off x="6954852" y="2445513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91754" y="2759256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5524856" y="2761282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856" y="2761282"/>
                <a:ext cx="462897" cy="369332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TextBox 67"/>
          <p:cNvSpPr txBox="1"/>
          <p:nvPr/>
        </p:nvSpPr>
        <p:spPr>
          <a:xfrm>
            <a:off x="6269052" y="2752818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54852" y="2761282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4891753" y="3120124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1753" y="3120124"/>
                <a:ext cx="462897" cy="369332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TextBox 70"/>
          <p:cNvSpPr txBox="1"/>
          <p:nvPr/>
        </p:nvSpPr>
        <p:spPr>
          <a:xfrm>
            <a:off x="5524855" y="3122150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6269051" y="3113686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9051" y="3113686"/>
                <a:ext cx="462897" cy="369332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/>
          <p:cNvSpPr txBox="1"/>
          <p:nvPr/>
        </p:nvSpPr>
        <p:spPr>
          <a:xfrm>
            <a:off x="6954851" y="3122150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74" name="Oval 73"/>
          <p:cNvSpPr/>
          <p:nvPr/>
        </p:nvSpPr>
        <p:spPr>
          <a:xfrm>
            <a:off x="838200" y="2375548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5" name="Oval 74"/>
          <p:cNvSpPr/>
          <p:nvPr/>
        </p:nvSpPr>
        <p:spPr>
          <a:xfrm>
            <a:off x="3018221" y="2375548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6" name="Oval 75"/>
          <p:cNvSpPr/>
          <p:nvPr/>
        </p:nvSpPr>
        <p:spPr>
          <a:xfrm>
            <a:off x="838200" y="4282429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7" name="Oval 76"/>
          <p:cNvSpPr/>
          <p:nvPr/>
        </p:nvSpPr>
        <p:spPr>
          <a:xfrm>
            <a:off x="3018221" y="4355735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78" name="Curved Connector 10"/>
          <p:cNvCxnSpPr>
            <a:stCxn id="76" idx="5"/>
            <a:endCxn id="77" idx="3"/>
          </p:cNvCxnSpPr>
          <p:nvPr/>
        </p:nvCxnSpPr>
        <p:spPr>
          <a:xfrm rot="16200000" flipH="1">
            <a:off x="2120157" y="3780961"/>
            <a:ext cx="73306" cy="1856731"/>
          </a:xfrm>
          <a:prstGeom prst="curvedConnector3">
            <a:avLst>
              <a:gd name="adj1" fmla="val 50318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Curved Connector 78"/>
          <p:cNvCxnSpPr>
            <a:stCxn id="77" idx="1"/>
            <a:endCxn id="75" idx="3"/>
          </p:cNvCxnSpPr>
          <p:nvPr/>
        </p:nvCxnSpPr>
        <p:spPr>
          <a:xfrm rot="5400000" flipH="1" flipV="1">
            <a:off x="2256728" y="3594242"/>
            <a:ext cx="1656897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0" name="Curved Connector 79"/>
          <p:cNvCxnSpPr>
            <a:stCxn id="76" idx="1"/>
            <a:endCxn id="74" idx="3"/>
          </p:cNvCxnSpPr>
          <p:nvPr/>
        </p:nvCxnSpPr>
        <p:spPr>
          <a:xfrm rot="5400000" flipH="1" flipV="1">
            <a:off x="113360" y="3557589"/>
            <a:ext cx="1583591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1" name="Curved Connector 80"/>
          <p:cNvCxnSpPr>
            <a:stCxn id="75" idx="5"/>
            <a:endCxn id="77" idx="7"/>
          </p:cNvCxnSpPr>
          <p:nvPr/>
        </p:nvCxnSpPr>
        <p:spPr>
          <a:xfrm rot="5400000">
            <a:off x="2580018" y="3594241"/>
            <a:ext cx="1656897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637427" y="3166963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818536" y="4987314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3363" y="3411816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942123" y="3024055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803534" y="3439564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6</a:t>
            </a:r>
          </a:p>
        </p:txBody>
      </p:sp>
      <p:cxnSp>
        <p:nvCxnSpPr>
          <p:cNvPr id="87" name="Curved Connector 10"/>
          <p:cNvCxnSpPr>
            <a:stCxn id="76" idx="7"/>
            <a:endCxn id="75" idx="2"/>
          </p:cNvCxnSpPr>
          <p:nvPr/>
        </p:nvCxnSpPr>
        <p:spPr>
          <a:xfrm rot="5400000" flipH="1" flipV="1">
            <a:off x="1250715" y="2581878"/>
            <a:ext cx="1745236" cy="1789776"/>
          </a:xfrm>
          <a:prstGeom prst="curvedConnector2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9648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All-pairs shortest paths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30054" y="1295400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D(2)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79904" y="3640316"/>
            <a:ext cx="434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are the weights of shortest paths with intermediate vertices 1, 2 and 3?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373033"/>
              </p:ext>
            </p:extLst>
          </p:nvPr>
        </p:nvGraphicFramePr>
        <p:xfrm>
          <a:off x="4135451" y="1785597"/>
          <a:ext cx="350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44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4891753" y="2197046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5524855" y="2199072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855" y="2199072"/>
                <a:ext cx="462897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6269051" y="2190608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9051" y="2190608"/>
                <a:ext cx="462897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6954851" y="2199072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851" y="2199072"/>
                <a:ext cx="462897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4891753" y="2564352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1753" y="2564352"/>
                <a:ext cx="462897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/>
          <p:cNvSpPr txBox="1"/>
          <p:nvPr/>
        </p:nvSpPr>
        <p:spPr>
          <a:xfrm>
            <a:off x="5524855" y="2566378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6348099" y="2506883"/>
                <a:ext cx="3197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8099" y="2506883"/>
                <a:ext cx="319757" cy="369332"/>
              </a:xfrm>
              <a:prstGeom prst="rect">
                <a:avLst/>
              </a:prstGeom>
              <a:blipFill rotWithShape="1">
                <a:blip r:embed="rId6"/>
                <a:stretch>
                  <a:fillRect r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/>
          <p:cNvSpPr txBox="1"/>
          <p:nvPr/>
        </p:nvSpPr>
        <p:spPr>
          <a:xfrm>
            <a:off x="6954851" y="2566378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91753" y="2880121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5524855" y="2882147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855" y="2882147"/>
                <a:ext cx="462897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/>
          <p:cNvSpPr txBox="1"/>
          <p:nvPr/>
        </p:nvSpPr>
        <p:spPr>
          <a:xfrm>
            <a:off x="6269051" y="2873683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54851" y="2882147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4891752" y="3240989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1752" y="3240989"/>
                <a:ext cx="462897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52"/>
          <p:cNvSpPr txBox="1"/>
          <p:nvPr/>
        </p:nvSpPr>
        <p:spPr>
          <a:xfrm>
            <a:off x="5524854" y="3243015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6269050" y="3234551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9050" y="3234551"/>
                <a:ext cx="462897" cy="369332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/>
          <p:cNvSpPr txBox="1"/>
          <p:nvPr/>
        </p:nvSpPr>
        <p:spPr>
          <a:xfrm>
            <a:off x="6954850" y="3243015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76399" y="4302318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D(3)</a:t>
            </a:r>
          </a:p>
        </p:txBody>
      </p:sp>
      <p:graphicFrame>
        <p:nvGraphicFramePr>
          <p:cNvPr id="74" name="Table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794329"/>
              </p:ext>
            </p:extLst>
          </p:nvPr>
        </p:nvGraphicFramePr>
        <p:xfrm>
          <a:off x="4176399" y="4708006"/>
          <a:ext cx="350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44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5" name="TextBox 74"/>
          <p:cNvSpPr txBox="1"/>
          <p:nvPr/>
        </p:nvSpPr>
        <p:spPr>
          <a:xfrm>
            <a:off x="4932701" y="5119455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5565803" y="5121481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5803" y="5121481"/>
                <a:ext cx="462897" cy="369332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6309999" y="5113017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999" y="5113017"/>
                <a:ext cx="462897" cy="369332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6995799" y="5121481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5799" y="5121481"/>
                <a:ext cx="462897" cy="369332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>
                <a:off x="4932701" y="5486761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2701" y="5486761"/>
                <a:ext cx="462897" cy="369332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/>
          <p:cNvSpPr txBox="1"/>
          <p:nvPr/>
        </p:nvSpPr>
        <p:spPr>
          <a:xfrm>
            <a:off x="5565803" y="5488787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6389047" y="5429292"/>
                <a:ext cx="3197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9047" y="5429292"/>
                <a:ext cx="319757" cy="369332"/>
              </a:xfrm>
              <a:prstGeom prst="rect">
                <a:avLst/>
              </a:prstGeom>
              <a:blipFill rotWithShape="1">
                <a:blip r:embed="rId14"/>
                <a:stretch>
                  <a:fillRect r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TextBox 81"/>
          <p:cNvSpPr txBox="1"/>
          <p:nvPr/>
        </p:nvSpPr>
        <p:spPr>
          <a:xfrm>
            <a:off x="6995799" y="5488787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932701" y="5802530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5565803" y="5804556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5803" y="5804556"/>
                <a:ext cx="462897" cy="369332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TextBox 84"/>
          <p:cNvSpPr txBox="1"/>
          <p:nvPr/>
        </p:nvSpPr>
        <p:spPr>
          <a:xfrm>
            <a:off x="6309999" y="5796092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995799" y="5804556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4932700" y="6163398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2700" y="6163398"/>
                <a:ext cx="462897" cy="369332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TextBox 87"/>
          <p:cNvSpPr txBox="1"/>
          <p:nvPr/>
        </p:nvSpPr>
        <p:spPr>
          <a:xfrm>
            <a:off x="5565802" y="6165424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6309998" y="6156960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998" y="6156960"/>
                <a:ext cx="462897" cy="369332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TextBox 89"/>
          <p:cNvSpPr txBox="1"/>
          <p:nvPr/>
        </p:nvSpPr>
        <p:spPr>
          <a:xfrm>
            <a:off x="6995798" y="6165424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91" name="Oval 90"/>
          <p:cNvSpPr/>
          <p:nvPr/>
        </p:nvSpPr>
        <p:spPr>
          <a:xfrm>
            <a:off x="838200" y="2375548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2" name="Oval 91"/>
          <p:cNvSpPr/>
          <p:nvPr/>
        </p:nvSpPr>
        <p:spPr>
          <a:xfrm>
            <a:off x="3018221" y="2375548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93" name="Oval 92"/>
          <p:cNvSpPr/>
          <p:nvPr/>
        </p:nvSpPr>
        <p:spPr>
          <a:xfrm>
            <a:off x="838200" y="4282429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94" name="Oval 93"/>
          <p:cNvSpPr/>
          <p:nvPr/>
        </p:nvSpPr>
        <p:spPr>
          <a:xfrm>
            <a:off x="3018221" y="4355735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95" name="Curved Connector 10"/>
          <p:cNvCxnSpPr>
            <a:stCxn id="93" idx="5"/>
            <a:endCxn id="94" idx="3"/>
          </p:cNvCxnSpPr>
          <p:nvPr/>
        </p:nvCxnSpPr>
        <p:spPr>
          <a:xfrm rot="16200000" flipH="1">
            <a:off x="2120157" y="3780961"/>
            <a:ext cx="73306" cy="1856731"/>
          </a:xfrm>
          <a:prstGeom prst="curvedConnector3">
            <a:avLst>
              <a:gd name="adj1" fmla="val 50318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6" name="Curved Connector 95"/>
          <p:cNvCxnSpPr>
            <a:stCxn id="94" idx="1"/>
            <a:endCxn id="92" idx="3"/>
          </p:cNvCxnSpPr>
          <p:nvPr/>
        </p:nvCxnSpPr>
        <p:spPr>
          <a:xfrm rot="5400000" flipH="1" flipV="1">
            <a:off x="2256728" y="3594242"/>
            <a:ext cx="1656897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7" name="Curved Connector 96"/>
          <p:cNvCxnSpPr>
            <a:stCxn id="93" idx="1"/>
            <a:endCxn id="91" idx="3"/>
          </p:cNvCxnSpPr>
          <p:nvPr/>
        </p:nvCxnSpPr>
        <p:spPr>
          <a:xfrm rot="5400000" flipH="1" flipV="1">
            <a:off x="113360" y="3557589"/>
            <a:ext cx="1583591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8" name="Curved Connector 97"/>
          <p:cNvCxnSpPr>
            <a:stCxn id="92" idx="5"/>
            <a:endCxn id="94" idx="7"/>
          </p:cNvCxnSpPr>
          <p:nvPr/>
        </p:nvCxnSpPr>
        <p:spPr>
          <a:xfrm rot="5400000">
            <a:off x="2580018" y="3594241"/>
            <a:ext cx="1656897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637427" y="3166963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818536" y="4987314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9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423363" y="3411816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942123" y="3024055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803534" y="3439564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6</a:t>
            </a:r>
          </a:p>
        </p:txBody>
      </p:sp>
      <p:cxnSp>
        <p:nvCxnSpPr>
          <p:cNvPr id="104" name="Curved Connector 10"/>
          <p:cNvCxnSpPr>
            <a:stCxn id="93" idx="7"/>
            <a:endCxn id="92" idx="2"/>
          </p:cNvCxnSpPr>
          <p:nvPr/>
        </p:nvCxnSpPr>
        <p:spPr>
          <a:xfrm rot="5400000" flipH="1" flipV="1">
            <a:off x="1250715" y="2581878"/>
            <a:ext cx="1745236" cy="1789776"/>
          </a:xfrm>
          <a:prstGeom prst="curvedConnector2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1169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All-pairs shortest paths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30054" y="1295400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D(3)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79904" y="3640316"/>
            <a:ext cx="434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are the weights of shortest paths with intermediate vertices 1, 2, 3 and 4?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222451"/>
              </p:ext>
            </p:extLst>
          </p:nvPr>
        </p:nvGraphicFramePr>
        <p:xfrm>
          <a:off x="4135451" y="1785597"/>
          <a:ext cx="350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44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4891753" y="2197046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5524855" y="2199072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855" y="2199072"/>
                <a:ext cx="462897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6269051" y="2190608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9051" y="2190608"/>
                <a:ext cx="462897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6954851" y="2199072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851" y="2199072"/>
                <a:ext cx="462897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4891753" y="2564352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1753" y="2564352"/>
                <a:ext cx="462897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/>
          <p:cNvSpPr txBox="1"/>
          <p:nvPr/>
        </p:nvSpPr>
        <p:spPr>
          <a:xfrm>
            <a:off x="5524855" y="2566378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6348099" y="2506883"/>
                <a:ext cx="3197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8099" y="2506883"/>
                <a:ext cx="319757" cy="369332"/>
              </a:xfrm>
              <a:prstGeom prst="rect">
                <a:avLst/>
              </a:prstGeom>
              <a:blipFill rotWithShape="1">
                <a:blip r:embed="rId6"/>
                <a:stretch>
                  <a:fillRect r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/>
          <p:cNvSpPr txBox="1"/>
          <p:nvPr/>
        </p:nvSpPr>
        <p:spPr>
          <a:xfrm>
            <a:off x="6954851" y="2566378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91753" y="2880121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5524855" y="2882147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855" y="2882147"/>
                <a:ext cx="462897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/>
          <p:cNvSpPr txBox="1"/>
          <p:nvPr/>
        </p:nvSpPr>
        <p:spPr>
          <a:xfrm>
            <a:off x="6269051" y="2873683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54851" y="2882147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4891752" y="3240989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1752" y="3240989"/>
                <a:ext cx="462897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52"/>
          <p:cNvSpPr txBox="1"/>
          <p:nvPr/>
        </p:nvSpPr>
        <p:spPr>
          <a:xfrm>
            <a:off x="5524854" y="3243015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6269050" y="3234551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9050" y="3234551"/>
                <a:ext cx="462897" cy="369332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/>
          <p:cNvSpPr txBox="1"/>
          <p:nvPr/>
        </p:nvSpPr>
        <p:spPr>
          <a:xfrm>
            <a:off x="6954850" y="3243015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76399" y="4302318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D(4)</a:t>
            </a:r>
          </a:p>
        </p:txBody>
      </p:sp>
      <p:graphicFrame>
        <p:nvGraphicFramePr>
          <p:cNvPr id="74" name="Table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583556"/>
              </p:ext>
            </p:extLst>
          </p:nvPr>
        </p:nvGraphicFramePr>
        <p:xfrm>
          <a:off x="4176399" y="4708006"/>
          <a:ext cx="350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44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5" name="TextBox 74"/>
          <p:cNvSpPr txBox="1"/>
          <p:nvPr/>
        </p:nvSpPr>
        <p:spPr>
          <a:xfrm>
            <a:off x="4932701" y="5119455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5565803" y="5121481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5803" y="5121481"/>
                <a:ext cx="462897" cy="369332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6309999" y="5113017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999" y="5113017"/>
                <a:ext cx="462897" cy="369332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6995799" y="5121481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5799" y="5121481"/>
                <a:ext cx="462897" cy="369332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>
                <a:off x="4932701" y="5486761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2701" y="5486761"/>
                <a:ext cx="462897" cy="369332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/>
          <p:cNvSpPr txBox="1"/>
          <p:nvPr/>
        </p:nvSpPr>
        <p:spPr>
          <a:xfrm>
            <a:off x="5565803" y="5488787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6389047" y="5429292"/>
                <a:ext cx="3197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9047" y="5429292"/>
                <a:ext cx="319757" cy="369332"/>
              </a:xfrm>
              <a:prstGeom prst="rect">
                <a:avLst/>
              </a:prstGeom>
              <a:blipFill rotWithShape="1">
                <a:blip r:embed="rId14"/>
                <a:stretch>
                  <a:fillRect r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TextBox 81"/>
          <p:cNvSpPr txBox="1"/>
          <p:nvPr/>
        </p:nvSpPr>
        <p:spPr>
          <a:xfrm>
            <a:off x="6995799" y="5488787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932701" y="5802530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5565803" y="5804556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5803" y="5804556"/>
                <a:ext cx="462897" cy="369332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TextBox 84"/>
          <p:cNvSpPr txBox="1"/>
          <p:nvPr/>
        </p:nvSpPr>
        <p:spPr>
          <a:xfrm>
            <a:off x="6309999" y="5796092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995799" y="5804556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4932700" y="6163398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2700" y="6163398"/>
                <a:ext cx="462897" cy="369332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TextBox 87"/>
          <p:cNvSpPr txBox="1"/>
          <p:nvPr/>
        </p:nvSpPr>
        <p:spPr>
          <a:xfrm>
            <a:off x="5565802" y="6165424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6309998" y="6156960"/>
                <a:ext cx="462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998" y="6156960"/>
                <a:ext cx="462897" cy="369332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TextBox 89"/>
          <p:cNvSpPr txBox="1"/>
          <p:nvPr/>
        </p:nvSpPr>
        <p:spPr>
          <a:xfrm>
            <a:off x="6995798" y="6165424"/>
            <a:ext cx="4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71" name="Oval 70"/>
          <p:cNvSpPr/>
          <p:nvPr/>
        </p:nvSpPr>
        <p:spPr>
          <a:xfrm>
            <a:off x="990600" y="2527948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2" name="Oval 71"/>
          <p:cNvSpPr/>
          <p:nvPr/>
        </p:nvSpPr>
        <p:spPr>
          <a:xfrm>
            <a:off x="3170621" y="2527948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3" name="Oval 72"/>
          <p:cNvSpPr/>
          <p:nvPr/>
        </p:nvSpPr>
        <p:spPr>
          <a:xfrm>
            <a:off x="990600" y="4434829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91" name="Oval 90"/>
          <p:cNvSpPr/>
          <p:nvPr/>
        </p:nvSpPr>
        <p:spPr>
          <a:xfrm>
            <a:off x="3170621" y="4508135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92" name="Curved Connector 10"/>
          <p:cNvCxnSpPr>
            <a:stCxn id="73" idx="5"/>
            <a:endCxn id="91" idx="3"/>
          </p:cNvCxnSpPr>
          <p:nvPr/>
        </p:nvCxnSpPr>
        <p:spPr>
          <a:xfrm rot="16200000" flipH="1">
            <a:off x="2272557" y="3933361"/>
            <a:ext cx="73306" cy="1856731"/>
          </a:xfrm>
          <a:prstGeom prst="curvedConnector3">
            <a:avLst>
              <a:gd name="adj1" fmla="val 50318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3" name="Curved Connector 92"/>
          <p:cNvCxnSpPr>
            <a:stCxn id="91" idx="1"/>
            <a:endCxn id="72" idx="3"/>
          </p:cNvCxnSpPr>
          <p:nvPr/>
        </p:nvCxnSpPr>
        <p:spPr>
          <a:xfrm rot="5400000" flipH="1" flipV="1">
            <a:off x="2409128" y="3746642"/>
            <a:ext cx="1656897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4" name="Curved Connector 93"/>
          <p:cNvCxnSpPr>
            <a:stCxn id="73" idx="1"/>
            <a:endCxn id="71" idx="3"/>
          </p:cNvCxnSpPr>
          <p:nvPr/>
        </p:nvCxnSpPr>
        <p:spPr>
          <a:xfrm rot="5400000" flipH="1" flipV="1">
            <a:off x="265760" y="3709989"/>
            <a:ext cx="1583591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5" name="Curved Connector 94"/>
          <p:cNvCxnSpPr>
            <a:stCxn id="72" idx="5"/>
            <a:endCxn id="91" idx="7"/>
          </p:cNvCxnSpPr>
          <p:nvPr/>
        </p:nvCxnSpPr>
        <p:spPr>
          <a:xfrm rot="5400000">
            <a:off x="2732418" y="3746641"/>
            <a:ext cx="1656897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789827" y="3319363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970936" y="5139714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9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575763" y="3564216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094523" y="3176455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955934" y="3591964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6</a:t>
            </a:r>
          </a:p>
        </p:txBody>
      </p:sp>
      <p:cxnSp>
        <p:nvCxnSpPr>
          <p:cNvPr id="101" name="Curved Connector 10"/>
          <p:cNvCxnSpPr>
            <a:stCxn id="73" idx="7"/>
            <a:endCxn id="72" idx="2"/>
          </p:cNvCxnSpPr>
          <p:nvPr/>
        </p:nvCxnSpPr>
        <p:spPr>
          <a:xfrm rot="5400000" flipH="1" flipV="1">
            <a:off x="1403115" y="2734278"/>
            <a:ext cx="1745236" cy="1789776"/>
          </a:xfrm>
          <a:prstGeom prst="curvedConnector2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0122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All-pairs shortest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845" y="1871141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D(0)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240201"/>
              </p:ext>
            </p:extLst>
          </p:nvPr>
        </p:nvGraphicFramePr>
        <p:xfrm>
          <a:off x="207591" y="2265489"/>
          <a:ext cx="350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44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3704245" y="1884672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D(1)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525969"/>
              </p:ext>
            </p:extLst>
          </p:nvPr>
        </p:nvGraphicFramePr>
        <p:xfrm>
          <a:off x="3809643" y="2254004"/>
          <a:ext cx="350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44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228599" y="4092152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D(2)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620457"/>
              </p:ext>
            </p:extLst>
          </p:nvPr>
        </p:nvGraphicFramePr>
        <p:xfrm>
          <a:off x="333996" y="4582349"/>
          <a:ext cx="350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44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8" name="TextBox 57"/>
          <p:cNvSpPr txBox="1"/>
          <p:nvPr/>
        </p:nvSpPr>
        <p:spPr>
          <a:xfrm>
            <a:off x="3906851" y="4081638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D(3)</a:t>
            </a:r>
          </a:p>
        </p:txBody>
      </p:sp>
      <p:graphicFrame>
        <p:nvGraphicFramePr>
          <p:cNvPr id="59" name="Table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010432"/>
              </p:ext>
            </p:extLst>
          </p:nvPr>
        </p:nvGraphicFramePr>
        <p:xfrm>
          <a:off x="4012248" y="4571835"/>
          <a:ext cx="350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44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6" name="TextBox 75"/>
          <p:cNvSpPr txBox="1"/>
          <p:nvPr/>
        </p:nvSpPr>
        <p:spPr>
          <a:xfrm>
            <a:off x="381000" y="1124265"/>
            <a:ext cx="678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predecessor information to reconstruct a shortest path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1042" y="2650261"/>
            <a:ext cx="76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0/n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1560670" y="2663772"/>
                <a:ext cx="762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∞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0670" y="2663772"/>
                <a:ext cx="762357" cy="369332"/>
              </a:xfrm>
              <a:prstGeom prst="rect">
                <a:avLst/>
              </a:prstGeom>
              <a:blipFill rotWithShape="1">
                <a:blip r:embed="rId2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>
                <a:off x="2241485" y="2635069"/>
                <a:ext cx="762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∞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1485" y="2635069"/>
                <a:ext cx="762357" cy="369332"/>
              </a:xfrm>
              <a:prstGeom prst="rect">
                <a:avLst/>
              </a:prstGeom>
              <a:blipFill rotWithShape="1">
                <a:blip r:embed="rId3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2947933" y="2618808"/>
                <a:ext cx="762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∞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7933" y="2618808"/>
                <a:ext cx="762357" cy="369332"/>
              </a:xfrm>
              <a:prstGeom prst="rect">
                <a:avLst/>
              </a:prstGeom>
              <a:blipFill rotWithShape="1"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888400" y="3017567"/>
                <a:ext cx="762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∞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400" y="3017567"/>
                <a:ext cx="762357" cy="369332"/>
              </a:xfrm>
              <a:prstGeom prst="rect">
                <a:avLst/>
              </a:prstGeom>
              <a:blipFill rotWithShape="1"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TextBox 81"/>
          <p:cNvSpPr txBox="1"/>
          <p:nvPr/>
        </p:nvSpPr>
        <p:spPr>
          <a:xfrm>
            <a:off x="1732654" y="3033104"/>
            <a:ext cx="76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0/n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2277813" y="2986036"/>
                <a:ext cx="6843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∞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7813" y="2986036"/>
                <a:ext cx="684360" cy="369332"/>
              </a:xfrm>
              <a:prstGeom prst="rect">
                <a:avLst/>
              </a:prstGeom>
              <a:blipFill rotWithShape="1"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TextBox 83"/>
          <p:cNvSpPr txBox="1"/>
          <p:nvPr/>
        </p:nvSpPr>
        <p:spPr>
          <a:xfrm>
            <a:off x="3024140" y="2976447"/>
            <a:ext cx="76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4/2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61042" y="3333336"/>
            <a:ext cx="76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3/3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1497288" y="3335362"/>
                <a:ext cx="762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2/3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288" y="3335362"/>
                <a:ext cx="762357" cy="369332"/>
              </a:xfrm>
              <a:prstGeom prst="rect">
                <a:avLst/>
              </a:prstGeom>
              <a:blipFill rotWithShape="1">
                <a:blip r:embed="rId1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TextBox 86"/>
          <p:cNvSpPr txBox="1"/>
          <p:nvPr/>
        </p:nvSpPr>
        <p:spPr>
          <a:xfrm>
            <a:off x="2996722" y="3714153"/>
            <a:ext cx="76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0/n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24140" y="3335362"/>
            <a:ext cx="76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9/3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886975" y="3694204"/>
                <a:ext cx="762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∞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975" y="3694204"/>
                <a:ext cx="762357" cy="369332"/>
              </a:xfrm>
              <a:prstGeom prst="rect">
                <a:avLst/>
              </a:prstGeom>
              <a:blipFill rotWithShape="1">
                <a:blip r:embed="rId16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TextBox 89"/>
          <p:cNvSpPr txBox="1"/>
          <p:nvPr/>
        </p:nvSpPr>
        <p:spPr>
          <a:xfrm>
            <a:off x="1650757" y="3673437"/>
            <a:ext cx="76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6/4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2288840" y="3687766"/>
                <a:ext cx="762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∞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8840" y="3687766"/>
                <a:ext cx="762357" cy="369332"/>
              </a:xfrm>
              <a:prstGeom prst="rect">
                <a:avLst/>
              </a:prstGeom>
              <a:blipFill rotWithShape="1">
                <a:blip r:embed="rId17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TextBox 91"/>
          <p:cNvSpPr txBox="1"/>
          <p:nvPr/>
        </p:nvSpPr>
        <p:spPr>
          <a:xfrm>
            <a:off x="2356500" y="3355368"/>
            <a:ext cx="76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0/n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68178" y="1493597"/>
            <a:ext cx="8166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updated the predecessor </a:t>
            </a:r>
            <a:r>
              <a:rPr lang="en-US" dirty="0" err="1"/>
              <a:t>i</a:t>
            </a:r>
            <a:r>
              <a:rPr lang="en-US" dirty="0"/>
              <a:t>-j in D(k) is the same as the predecessor k-j in D(k-1)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477825" y="2650261"/>
            <a:ext cx="76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0/n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/>
              <p:cNvSpPr txBox="1"/>
              <p:nvPr/>
            </p:nvSpPr>
            <p:spPr>
              <a:xfrm>
                <a:off x="5077453" y="2663772"/>
                <a:ext cx="762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∞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4" name="TextBox 1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7453" y="2663772"/>
                <a:ext cx="762357" cy="369332"/>
              </a:xfrm>
              <a:prstGeom prst="rect">
                <a:avLst/>
              </a:prstGeom>
              <a:blipFill rotWithShape="1">
                <a:blip r:embed="rId18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/>
              <p:cNvSpPr txBox="1"/>
              <p:nvPr/>
            </p:nvSpPr>
            <p:spPr>
              <a:xfrm>
                <a:off x="5758268" y="2635069"/>
                <a:ext cx="762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∞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5" name="TextBox 1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8268" y="2635069"/>
                <a:ext cx="762357" cy="369332"/>
              </a:xfrm>
              <a:prstGeom prst="rect">
                <a:avLst/>
              </a:prstGeom>
              <a:blipFill rotWithShape="1">
                <a:blip r:embed="rId19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/>
              <p:cNvSpPr txBox="1"/>
              <p:nvPr/>
            </p:nvSpPr>
            <p:spPr>
              <a:xfrm>
                <a:off x="6464716" y="2618808"/>
                <a:ext cx="762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∞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6" name="TextBox 1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4716" y="2618808"/>
                <a:ext cx="762357" cy="369332"/>
              </a:xfrm>
              <a:prstGeom prst="rect">
                <a:avLst/>
              </a:prstGeom>
              <a:blipFill rotWithShape="1">
                <a:blip r:embed="rId20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/>
              <p:cNvSpPr txBox="1"/>
              <p:nvPr/>
            </p:nvSpPr>
            <p:spPr>
              <a:xfrm>
                <a:off x="4405183" y="3017567"/>
                <a:ext cx="762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∞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7" name="TextBox 1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5183" y="3017567"/>
                <a:ext cx="762357" cy="369332"/>
              </a:xfrm>
              <a:prstGeom prst="rect">
                <a:avLst/>
              </a:prstGeom>
              <a:blipFill rotWithShape="1">
                <a:blip r:embed="rId21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" name="TextBox 147"/>
          <p:cNvSpPr txBox="1"/>
          <p:nvPr/>
        </p:nvSpPr>
        <p:spPr>
          <a:xfrm>
            <a:off x="5249437" y="3033104"/>
            <a:ext cx="76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0/n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/>
              <p:cNvSpPr txBox="1"/>
              <p:nvPr/>
            </p:nvSpPr>
            <p:spPr>
              <a:xfrm>
                <a:off x="5794596" y="2986036"/>
                <a:ext cx="6843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∞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9" name="TextBox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4596" y="2986036"/>
                <a:ext cx="684360" cy="369332"/>
              </a:xfrm>
              <a:prstGeom prst="rect">
                <a:avLst/>
              </a:prstGeom>
              <a:blipFill rotWithShape="1">
                <a:blip r:embed="rId2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0" name="TextBox 149"/>
          <p:cNvSpPr txBox="1"/>
          <p:nvPr/>
        </p:nvSpPr>
        <p:spPr>
          <a:xfrm>
            <a:off x="6540923" y="2976447"/>
            <a:ext cx="76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4/2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477825" y="3333336"/>
            <a:ext cx="76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3/3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/>
              <p:cNvSpPr txBox="1"/>
              <p:nvPr/>
            </p:nvSpPr>
            <p:spPr>
              <a:xfrm>
                <a:off x="5014071" y="3335362"/>
                <a:ext cx="762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2/3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2" name="TextBox 1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4071" y="3335362"/>
                <a:ext cx="762357" cy="369332"/>
              </a:xfrm>
              <a:prstGeom prst="rect">
                <a:avLst/>
              </a:prstGeom>
              <a:blipFill rotWithShape="1">
                <a:blip r:embed="rId23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TextBox 152"/>
          <p:cNvSpPr txBox="1"/>
          <p:nvPr/>
        </p:nvSpPr>
        <p:spPr>
          <a:xfrm>
            <a:off x="6513505" y="3714153"/>
            <a:ext cx="76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0/n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540923" y="3335362"/>
            <a:ext cx="76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9/3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/>
              <p:cNvSpPr txBox="1"/>
              <p:nvPr/>
            </p:nvSpPr>
            <p:spPr>
              <a:xfrm>
                <a:off x="4403758" y="3694204"/>
                <a:ext cx="762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∞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5" name="TextBox 1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3758" y="3694204"/>
                <a:ext cx="762357" cy="369332"/>
              </a:xfrm>
              <a:prstGeom prst="rect">
                <a:avLst/>
              </a:prstGeom>
              <a:blipFill rotWithShape="1">
                <a:blip r:embed="rId2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6" name="TextBox 155"/>
          <p:cNvSpPr txBox="1"/>
          <p:nvPr/>
        </p:nvSpPr>
        <p:spPr>
          <a:xfrm>
            <a:off x="5167540" y="3673437"/>
            <a:ext cx="76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6/4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/>
              <p:cNvSpPr txBox="1"/>
              <p:nvPr/>
            </p:nvSpPr>
            <p:spPr>
              <a:xfrm>
                <a:off x="5805623" y="3687766"/>
                <a:ext cx="762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∞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7" name="TextBox 1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5623" y="3687766"/>
                <a:ext cx="762357" cy="369332"/>
              </a:xfrm>
              <a:prstGeom prst="rect">
                <a:avLst/>
              </a:prstGeom>
              <a:blipFill rotWithShape="1">
                <a:blip r:embed="rId2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" name="TextBox 157"/>
          <p:cNvSpPr txBox="1"/>
          <p:nvPr/>
        </p:nvSpPr>
        <p:spPr>
          <a:xfrm>
            <a:off x="5873283" y="3355368"/>
            <a:ext cx="76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0/n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052041" y="4899657"/>
            <a:ext cx="76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0/n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/>
              <p:cNvSpPr txBox="1"/>
              <p:nvPr/>
            </p:nvSpPr>
            <p:spPr>
              <a:xfrm>
                <a:off x="1651669" y="4913168"/>
                <a:ext cx="762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∞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0" name="TextBox 1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1669" y="4913168"/>
                <a:ext cx="762357" cy="369332"/>
              </a:xfrm>
              <a:prstGeom prst="rect">
                <a:avLst/>
              </a:prstGeom>
              <a:blipFill rotWithShape="1">
                <a:blip r:embed="rId26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TextBox 160"/>
              <p:cNvSpPr txBox="1"/>
              <p:nvPr/>
            </p:nvSpPr>
            <p:spPr>
              <a:xfrm>
                <a:off x="2332484" y="4884465"/>
                <a:ext cx="762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∞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1" name="TextBox 1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2484" y="4884465"/>
                <a:ext cx="762357" cy="369332"/>
              </a:xfrm>
              <a:prstGeom prst="rect">
                <a:avLst/>
              </a:prstGeom>
              <a:blipFill rotWithShape="1">
                <a:blip r:embed="rId27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TextBox 161"/>
              <p:cNvSpPr txBox="1"/>
              <p:nvPr/>
            </p:nvSpPr>
            <p:spPr>
              <a:xfrm>
                <a:off x="3038932" y="4868204"/>
                <a:ext cx="762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∞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2" name="TextBox 1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8932" y="4868204"/>
                <a:ext cx="762357" cy="369332"/>
              </a:xfrm>
              <a:prstGeom prst="rect">
                <a:avLst/>
              </a:prstGeom>
              <a:blipFill rotWithShape="1">
                <a:blip r:embed="rId2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TextBox 162"/>
              <p:cNvSpPr txBox="1"/>
              <p:nvPr/>
            </p:nvSpPr>
            <p:spPr>
              <a:xfrm>
                <a:off x="979399" y="5266963"/>
                <a:ext cx="762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∞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3" name="TextBox 1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399" y="5266963"/>
                <a:ext cx="762357" cy="369332"/>
              </a:xfrm>
              <a:prstGeom prst="rect">
                <a:avLst/>
              </a:prstGeom>
              <a:blipFill rotWithShape="1">
                <a:blip r:embed="rId29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4" name="TextBox 163"/>
          <p:cNvSpPr txBox="1"/>
          <p:nvPr/>
        </p:nvSpPr>
        <p:spPr>
          <a:xfrm>
            <a:off x="1823653" y="5282500"/>
            <a:ext cx="76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0/n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Box 164"/>
              <p:cNvSpPr txBox="1"/>
              <p:nvPr/>
            </p:nvSpPr>
            <p:spPr>
              <a:xfrm>
                <a:off x="2368812" y="5235432"/>
                <a:ext cx="6843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∞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5" name="TextBox 1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812" y="5235432"/>
                <a:ext cx="684360" cy="369332"/>
              </a:xfrm>
              <a:prstGeom prst="rect">
                <a:avLst/>
              </a:prstGeom>
              <a:blipFill rotWithShape="1">
                <a:blip r:embed="rId30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6" name="TextBox 165"/>
          <p:cNvSpPr txBox="1"/>
          <p:nvPr/>
        </p:nvSpPr>
        <p:spPr>
          <a:xfrm>
            <a:off x="3115139" y="5225843"/>
            <a:ext cx="76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4/</a:t>
            </a:r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52041" y="5582732"/>
            <a:ext cx="76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3/3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TextBox 167"/>
              <p:cNvSpPr txBox="1"/>
              <p:nvPr/>
            </p:nvSpPr>
            <p:spPr>
              <a:xfrm>
                <a:off x="1588287" y="5584758"/>
                <a:ext cx="762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2/3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8" name="TextBox 1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287" y="5584758"/>
                <a:ext cx="762357" cy="369332"/>
              </a:xfrm>
              <a:prstGeom prst="rect">
                <a:avLst/>
              </a:prstGeom>
              <a:blipFill rotWithShape="1">
                <a:blip r:embed="rId31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9" name="TextBox 168"/>
          <p:cNvSpPr txBox="1"/>
          <p:nvPr/>
        </p:nvSpPr>
        <p:spPr>
          <a:xfrm>
            <a:off x="3087721" y="5963549"/>
            <a:ext cx="76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0/n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115139" y="5584758"/>
            <a:ext cx="76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6</a:t>
            </a:r>
            <a:r>
              <a:rPr lang="en-US" dirty="0"/>
              <a:t>/</a:t>
            </a:r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TextBox 170"/>
              <p:cNvSpPr txBox="1"/>
              <p:nvPr/>
            </p:nvSpPr>
            <p:spPr>
              <a:xfrm>
                <a:off x="977974" y="5943600"/>
                <a:ext cx="762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∞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1" name="TextBox 1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974" y="5943600"/>
                <a:ext cx="762357" cy="369332"/>
              </a:xfrm>
              <a:prstGeom prst="rect">
                <a:avLst/>
              </a:prstGeom>
              <a:blipFill rotWithShape="1">
                <a:blip r:embed="rId32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2" name="TextBox 171"/>
          <p:cNvSpPr txBox="1"/>
          <p:nvPr/>
        </p:nvSpPr>
        <p:spPr>
          <a:xfrm>
            <a:off x="1741756" y="5922833"/>
            <a:ext cx="76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6/4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TextBox 172"/>
              <p:cNvSpPr txBox="1"/>
              <p:nvPr/>
            </p:nvSpPr>
            <p:spPr>
              <a:xfrm>
                <a:off x="2379839" y="5937162"/>
                <a:ext cx="762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∞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3" name="TextBox 1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9839" y="5937162"/>
                <a:ext cx="762357" cy="369332"/>
              </a:xfrm>
              <a:prstGeom prst="rect">
                <a:avLst/>
              </a:prstGeom>
              <a:blipFill rotWithShape="1">
                <a:blip r:embed="rId33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" name="TextBox 173"/>
          <p:cNvSpPr txBox="1"/>
          <p:nvPr/>
        </p:nvSpPr>
        <p:spPr>
          <a:xfrm>
            <a:off x="2447499" y="5604764"/>
            <a:ext cx="76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0/n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770341" y="4930153"/>
            <a:ext cx="76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0/n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TextBox 175"/>
              <p:cNvSpPr txBox="1"/>
              <p:nvPr/>
            </p:nvSpPr>
            <p:spPr>
              <a:xfrm>
                <a:off x="5369969" y="4943664"/>
                <a:ext cx="762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∞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6" name="TextBox 1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9969" y="4943664"/>
                <a:ext cx="762357" cy="369332"/>
              </a:xfrm>
              <a:prstGeom prst="rect">
                <a:avLst/>
              </a:prstGeom>
              <a:blipFill rotWithShape="1">
                <a:blip r:embed="rId3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TextBox 176"/>
              <p:cNvSpPr txBox="1"/>
              <p:nvPr/>
            </p:nvSpPr>
            <p:spPr>
              <a:xfrm>
                <a:off x="6050784" y="4914961"/>
                <a:ext cx="762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∞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7" name="TextBox 1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0784" y="4914961"/>
                <a:ext cx="762357" cy="369332"/>
              </a:xfrm>
              <a:prstGeom prst="rect">
                <a:avLst/>
              </a:prstGeom>
              <a:blipFill rotWithShape="1">
                <a:blip r:embed="rId3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TextBox 177"/>
              <p:cNvSpPr txBox="1"/>
              <p:nvPr/>
            </p:nvSpPr>
            <p:spPr>
              <a:xfrm>
                <a:off x="6757232" y="4898700"/>
                <a:ext cx="762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∞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8" name="TextBox 1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7232" y="4898700"/>
                <a:ext cx="762357" cy="369332"/>
              </a:xfrm>
              <a:prstGeom prst="rect">
                <a:avLst/>
              </a:prstGeom>
              <a:blipFill rotWithShape="1">
                <a:blip r:embed="rId3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TextBox 178"/>
              <p:cNvSpPr txBox="1"/>
              <p:nvPr/>
            </p:nvSpPr>
            <p:spPr>
              <a:xfrm>
                <a:off x="4697699" y="5297459"/>
                <a:ext cx="762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∞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9" name="TextBox 1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7699" y="5297459"/>
                <a:ext cx="762357" cy="369332"/>
              </a:xfrm>
              <a:prstGeom prst="rect">
                <a:avLst/>
              </a:prstGeom>
              <a:blipFill rotWithShape="1">
                <a:blip r:embed="rId37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0" name="TextBox 179"/>
          <p:cNvSpPr txBox="1"/>
          <p:nvPr/>
        </p:nvSpPr>
        <p:spPr>
          <a:xfrm>
            <a:off x="5541953" y="5312996"/>
            <a:ext cx="76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0/n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TextBox 180"/>
              <p:cNvSpPr txBox="1"/>
              <p:nvPr/>
            </p:nvSpPr>
            <p:spPr>
              <a:xfrm>
                <a:off x="6087112" y="5265928"/>
                <a:ext cx="6843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∞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1" name="TextBox 1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7112" y="5265928"/>
                <a:ext cx="684360" cy="369332"/>
              </a:xfrm>
              <a:prstGeom prst="rect">
                <a:avLst/>
              </a:prstGeom>
              <a:blipFill rotWithShape="1">
                <a:blip r:embed="rId3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2" name="TextBox 181"/>
          <p:cNvSpPr txBox="1"/>
          <p:nvPr/>
        </p:nvSpPr>
        <p:spPr>
          <a:xfrm>
            <a:off x="6833439" y="5256339"/>
            <a:ext cx="76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4/2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770341" y="5613228"/>
            <a:ext cx="76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3/3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TextBox 183"/>
              <p:cNvSpPr txBox="1"/>
              <p:nvPr/>
            </p:nvSpPr>
            <p:spPr>
              <a:xfrm>
                <a:off x="5306587" y="5615254"/>
                <a:ext cx="762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2/3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4" name="TextBox 1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6587" y="5615254"/>
                <a:ext cx="762357" cy="369332"/>
              </a:xfrm>
              <a:prstGeom prst="rect">
                <a:avLst/>
              </a:prstGeom>
              <a:blipFill rotWithShape="1">
                <a:blip r:embed="rId39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" name="TextBox 184"/>
          <p:cNvSpPr txBox="1"/>
          <p:nvPr/>
        </p:nvSpPr>
        <p:spPr>
          <a:xfrm>
            <a:off x="6806021" y="5994045"/>
            <a:ext cx="76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0/n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6833439" y="5615254"/>
            <a:ext cx="76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6/2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TextBox 186"/>
              <p:cNvSpPr txBox="1"/>
              <p:nvPr/>
            </p:nvSpPr>
            <p:spPr>
              <a:xfrm>
                <a:off x="4696274" y="5974096"/>
                <a:ext cx="762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∞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7" name="TextBox 1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6274" y="5974096"/>
                <a:ext cx="762357" cy="369332"/>
              </a:xfrm>
              <a:prstGeom prst="rect">
                <a:avLst/>
              </a:prstGeom>
              <a:blipFill rotWithShape="1">
                <a:blip r:embed="rId40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TextBox 187"/>
          <p:cNvSpPr txBox="1"/>
          <p:nvPr/>
        </p:nvSpPr>
        <p:spPr>
          <a:xfrm>
            <a:off x="5460056" y="5953329"/>
            <a:ext cx="76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6/4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TextBox 188"/>
              <p:cNvSpPr txBox="1"/>
              <p:nvPr/>
            </p:nvSpPr>
            <p:spPr>
              <a:xfrm>
                <a:off x="6098139" y="5967658"/>
                <a:ext cx="762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∞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9" name="TextBox 1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8139" y="5967658"/>
                <a:ext cx="762357" cy="369332"/>
              </a:xfrm>
              <a:prstGeom prst="rect">
                <a:avLst/>
              </a:prstGeom>
              <a:blipFill rotWithShape="1">
                <a:blip r:embed="rId41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0" name="TextBox 189"/>
          <p:cNvSpPr txBox="1"/>
          <p:nvPr/>
        </p:nvSpPr>
        <p:spPr>
          <a:xfrm>
            <a:off x="6165799" y="5635260"/>
            <a:ext cx="76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0/n</a:t>
            </a:r>
          </a:p>
        </p:txBody>
      </p:sp>
    </p:spTree>
    <p:extLst>
      <p:ext uri="{BB962C8B-B14F-4D97-AF65-F5344CB8AC3E}">
        <p14:creationId xmlns:p14="http://schemas.microsoft.com/office/powerpoint/2010/main" val="41186788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All-pairs shortest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6564" y="2326610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D(4)</a:t>
            </a:r>
          </a:p>
        </p:txBody>
      </p:sp>
      <p:sp>
        <p:nvSpPr>
          <p:cNvPr id="22" name="Oval 21"/>
          <p:cNvSpPr/>
          <p:nvPr/>
        </p:nvSpPr>
        <p:spPr>
          <a:xfrm>
            <a:off x="5156289" y="2695942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3" name="Oval 22"/>
          <p:cNvSpPr/>
          <p:nvPr/>
        </p:nvSpPr>
        <p:spPr>
          <a:xfrm>
            <a:off x="7336310" y="2695942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4" name="Oval 23"/>
          <p:cNvSpPr/>
          <p:nvPr/>
        </p:nvSpPr>
        <p:spPr>
          <a:xfrm>
            <a:off x="5156289" y="4602823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5" name="Oval 24"/>
          <p:cNvSpPr/>
          <p:nvPr/>
        </p:nvSpPr>
        <p:spPr>
          <a:xfrm>
            <a:off x="7336310" y="4676129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26" name="Curved Connector 10"/>
          <p:cNvCxnSpPr>
            <a:stCxn id="24" idx="5"/>
            <a:endCxn id="25" idx="3"/>
          </p:cNvCxnSpPr>
          <p:nvPr/>
        </p:nvCxnSpPr>
        <p:spPr>
          <a:xfrm rot="16200000" flipH="1">
            <a:off x="6438246" y="4101355"/>
            <a:ext cx="73306" cy="1856731"/>
          </a:xfrm>
          <a:prstGeom prst="curvedConnector3">
            <a:avLst>
              <a:gd name="adj1" fmla="val 50318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Curved Connector 26"/>
          <p:cNvCxnSpPr>
            <a:stCxn id="25" idx="1"/>
            <a:endCxn id="23" idx="3"/>
          </p:cNvCxnSpPr>
          <p:nvPr/>
        </p:nvCxnSpPr>
        <p:spPr>
          <a:xfrm rot="5400000" flipH="1" flipV="1">
            <a:off x="6574817" y="3914636"/>
            <a:ext cx="1656897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Curved Connector 27"/>
          <p:cNvCxnSpPr>
            <a:stCxn id="24" idx="0"/>
            <a:endCxn id="22" idx="4"/>
          </p:cNvCxnSpPr>
          <p:nvPr/>
        </p:nvCxnSpPr>
        <p:spPr>
          <a:xfrm rot="5400000" flipH="1" flipV="1">
            <a:off x="4660049" y="3877983"/>
            <a:ext cx="1449681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Curved Connector 28"/>
          <p:cNvCxnSpPr>
            <a:stCxn id="23" idx="5"/>
            <a:endCxn id="25" idx="7"/>
          </p:cNvCxnSpPr>
          <p:nvPr/>
        </p:nvCxnSpPr>
        <p:spPr>
          <a:xfrm rot="5400000">
            <a:off x="6898107" y="3914635"/>
            <a:ext cx="1656897" cy="127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955516" y="3487357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36625" y="5307708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41452" y="3732210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0212" y="3344449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21623" y="3759958"/>
            <a:ext cx="429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6</a:t>
            </a:r>
          </a:p>
        </p:txBody>
      </p:sp>
      <p:cxnSp>
        <p:nvCxnSpPr>
          <p:cNvPr id="35" name="Curved Connector 10"/>
          <p:cNvCxnSpPr>
            <a:stCxn id="24" idx="7"/>
            <a:endCxn id="23" idx="2"/>
          </p:cNvCxnSpPr>
          <p:nvPr/>
        </p:nvCxnSpPr>
        <p:spPr>
          <a:xfrm rot="5400000" flipH="1" flipV="1">
            <a:off x="5568804" y="2902272"/>
            <a:ext cx="1745236" cy="1789776"/>
          </a:xfrm>
          <a:prstGeom prst="curvedConnector2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81000" y="5446694"/>
            <a:ext cx="3016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the shortest path from 3 to 4?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1000" y="6140642"/>
            <a:ext cx="301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weight of this path?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51661" y="5486230"/>
            <a:ext cx="301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3, 2, 4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16921" y="6093025"/>
            <a:ext cx="301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76559"/>
              </p:ext>
            </p:extLst>
          </p:nvPr>
        </p:nvGraphicFramePr>
        <p:xfrm>
          <a:off x="533400" y="2924542"/>
          <a:ext cx="350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44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1291493" y="3282860"/>
            <a:ext cx="76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0/n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1891121" y="3296371"/>
                <a:ext cx="762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∞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1121" y="3296371"/>
                <a:ext cx="762357" cy="369332"/>
              </a:xfrm>
              <a:prstGeom prst="rect">
                <a:avLst/>
              </a:prstGeom>
              <a:blipFill rotWithShape="1">
                <a:blip r:embed="rId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2571936" y="3267668"/>
                <a:ext cx="762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∞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936" y="3267668"/>
                <a:ext cx="762357" cy="369332"/>
              </a:xfrm>
              <a:prstGeom prst="rect">
                <a:avLst/>
              </a:prstGeom>
              <a:blipFill rotWithShape="1">
                <a:blip r:embed="rId3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3278384" y="3251407"/>
                <a:ext cx="762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∞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384" y="3251407"/>
                <a:ext cx="762357" cy="369332"/>
              </a:xfrm>
              <a:prstGeom prst="rect">
                <a:avLst/>
              </a:prstGeom>
              <a:blipFill rotWithShape="1"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1218851" y="3650166"/>
                <a:ext cx="762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∞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851" y="3650166"/>
                <a:ext cx="762357" cy="369332"/>
              </a:xfrm>
              <a:prstGeom prst="rect">
                <a:avLst/>
              </a:prstGeom>
              <a:blipFill rotWithShape="1"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/>
          <p:cNvSpPr txBox="1"/>
          <p:nvPr/>
        </p:nvSpPr>
        <p:spPr>
          <a:xfrm>
            <a:off x="2063105" y="3665703"/>
            <a:ext cx="76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0/n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2608264" y="3618635"/>
                <a:ext cx="6843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∞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8264" y="3618635"/>
                <a:ext cx="684360" cy="369332"/>
              </a:xfrm>
              <a:prstGeom prst="rect">
                <a:avLst/>
              </a:prstGeom>
              <a:blipFill rotWithShape="1"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/>
          <p:cNvSpPr txBox="1"/>
          <p:nvPr/>
        </p:nvSpPr>
        <p:spPr>
          <a:xfrm>
            <a:off x="3354591" y="3609046"/>
            <a:ext cx="76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4/2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91493" y="3965935"/>
            <a:ext cx="76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3/3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1827739" y="3967961"/>
                <a:ext cx="762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2/3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739" y="3967961"/>
                <a:ext cx="762357" cy="369332"/>
              </a:xfrm>
              <a:prstGeom prst="rect">
                <a:avLst/>
              </a:prstGeom>
              <a:blipFill rotWithShape="1"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52"/>
          <p:cNvSpPr txBox="1"/>
          <p:nvPr/>
        </p:nvSpPr>
        <p:spPr>
          <a:xfrm>
            <a:off x="3327173" y="4346752"/>
            <a:ext cx="76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0/n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54591" y="3967961"/>
            <a:ext cx="76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6/2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1217426" y="4326803"/>
                <a:ext cx="762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∞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7426" y="4326803"/>
                <a:ext cx="762357" cy="369332"/>
              </a:xfrm>
              <a:prstGeom prst="rect">
                <a:avLst/>
              </a:prstGeom>
              <a:blipFill rotWithShape="1"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/>
          <p:cNvSpPr txBox="1"/>
          <p:nvPr/>
        </p:nvSpPr>
        <p:spPr>
          <a:xfrm>
            <a:off x="1981208" y="4306036"/>
            <a:ext cx="76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6/4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2619291" y="4320365"/>
                <a:ext cx="762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∞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9291" y="4320365"/>
                <a:ext cx="762357" cy="369332"/>
              </a:xfrm>
              <a:prstGeom prst="rect">
                <a:avLst/>
              </a:prstGeom>
              <a:blipFill rotWithShape="1"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/>
          <p:cNvSpPr txBox="1"/>
          <p:nvPr/>
        </p:nvSpPr>
        <p:spPr>
          <a:xfrm>
            <a:off x="2686951" y="3987967"/>
            <a:ext cx="76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0/n</a:t>
            </a:r>
          </a:p>
        </p:txBody>
      </p:sp>
    </p:spTree>
    <p:extLst>
      <p:ext uri="{BB962C8B-B14F-4D97-AF65-F5344CB8AC3E}">
        <p14:creationId xmlns:p14="http://schemas.microsoft.com/office/powerpoint/2010/main" val="1611676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0" grpId="0"/>
      <p:bldP spid="4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978E5D23-DB6A-47A4-9B7E-3B30BAC98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Remarks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A9618C12-CEB5-4DA2-BCC9-4802C4A90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138"/>
          </a:xfrm>
        </p:spPr>
        <p:txBody>
          <a:bodyPr/>
          <a:lstStyle/>
          <a:p>
            <a:pPr eaLnBrk="1" hangingPunct="1"/>
            <a:r>
              <a:rPr lang="en-US" altLang="en-US"/>
              <a:t> Dijkstra’s algorithm is a </a:t>
            </a:r>
            <a:r>
              <a:rPr lang="en-US" altLang="en-US" u="sng"/>
              <a:t>single source</a:t>
            </a:r>
            <a:r>
              <a:rPr lang="en-US" altLang="en-US"/>
              <a:t> one</a:t>
            </a:r>
            <a:endParaRPr lang="en-US" altLang="en-US" sz="3000"/>
          </a:p>
          <a:p>
            <a:pPr eaLnBrk="1" hangingPunct="1"/>
            <a:r>
              <a:rPr lang="en-US" altLang="en-US"/>
              <a:t> Bellman’s algorithm consider negative weights but for acyclic graphs</a:t>
            </a:r>
          </a:p>
          <a:p>
            <a:pPr eaLnBrk="1" hangingPunct="1"/>
            <a:r>
              <a:rPr lang="en-US" altLang="en-US"/>
              <a:t>   Floyd’s algorithm solves for the shortest path among all pairs of vertices.</a:t>
            </a:r>
          </a:p>
        </p:txBody>
      </p:sp>
    </p:spTree>
    <p:extLst>
      <p:ext uri="{BB962C8B-B14F-4D97-AF65-F5344CB8AC3E}">
        <p14:creationId xmlns:p14="http://schemas.microsoft.com/office/powerpoint/2010/main" val="3478255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 build="p" autoUpdateAnimBg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</TotalTime>
  <Words>2723</Words>
  <Application>Microsoft Office PowerPoint</Application>
  <PresentationFormat>On-screen Show (4:3)</PresentationFormat>
  <Paragraphs>1092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1" baseType="lpstr">
      <vt:lpstr>宋体</vt:lpstr>
      <vt:lpstr>Arial</vt:lpstr>
      <vt:lpstr>Calibri</vt:lpstr>
      <vt:lpstr>Cambria Math</vt:lpstr>
      <vt:lpstr>Constantia</vt:lpstr>
      <vt:lpstr>Symbol</vt:lpstr>
      <vt:lpstr>Wingdings 3</vt:lpstr>
      <vt:lpstr>Office Theme</vt:lpstr>
      <vt:lpstr>PowerPoint Presentation</vt:lpstr>
      <vt:lpstr>Shortest-Path Problems  </vt:lpstr>
      <vt:lpstr>Single-source shortest paths</vt:lpstr>
      <vt:lpstr>Single-source shortest paths</vt:lpstr>
      <vt:lpstr>Single-source shortest paths</vt:lpstr>
      <vt:lpstr>Single-source shortest paths</vt:lpstr>
      <vt:lpstr>Single-source shortest paths</vt:lpstr>
      <vt:lpstr>Single-source shortest paths</vt:lpstr>
      <vt:lpstr>Single-source shortest paths</vt:lpstr>
      <vt:lpstr>Single-source shortest paths</vt:lpstr>
      <vt:lpstr>Bellman-Ford algorithm</vt:lpstr>
      <vt:lpstr>Bellman-Ford algorithm</vt:lpstr>
      <vt:lpstr>Bellman-Ford algorithm</vt:lpstr>
      <vt:lpstr>Bellman-Ford algorithm</vt:lpstr>
      <vt:lpstr>Bellman-Ford algorithm</vt:lpstr>
      <vt:lpstr>Bellman-Ford algorithm</vt:lpstr>
      <vt:lpstr>Bellman-Ford algorithm</vt:lpstr>
      <vt:lpstr>Bellman-Ford algorithm</vt:lpstr>
      <vt:lpstr>Bellman-Ford algorithm</vt:lpstr>
      <vt:lpstr>Bellman-Ford algorithm</vt:lpstr>
      <vt:lpstr>Bellman-Ford algorithm</vt:lpstr>
      <vt:lpstr>Dijkstra’s Algorithm</vt:lpstr>
      <vt:lpstr>Dijkstra's algorithm Pseudocode</vt:lpstr>
      <vt:lpstr>DIJKSTRA   EXAMPLE</vt:lpstr>
      <vt:lpstr>DIJKSTRA   EXAMPLE</vt:lpstr>
      <vt:lpstr>DIJKSTRA   EXAMPLE</vt:lpstr>
      <vt:lpstr>DIJKSTRA  EXAMPLE</vt:lpstr>
      <vt:lpstr>DIJKSTRA   EXAMPLE</vt:lpstr>
      <vt:lpstr>DIJKSTRA   EXAMPLE</vt:lpstr>
      <vt:lpstr>DIJKSTRA   EXAMPLE</vt:lpstr>
      <vt:lpstr>DIJKSTRA   EXAMPLE</vt:lpstr>
      <vt:lpstr>DIJKSTRA   EXAMPLE</vt:lpstr>
      <vt:lpstr>DIJKSTRA   EXAMPLE</vt:lpstr>
      <vt:lpstr>Dijkstra's algorithm Pseudocode</vt:lpstr>
      <vt:lpstr>Dijkstra’s algorith Running Time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APPLICATIONS </vt:lpstr>
      <vt:lpstr>All-pairs shortest paths</vt:lpstr>
      <vt:lpstr>All-pairs shortest paths</vt:lpstr>
      <vt:lpstr>All-pairs shortest paths</vt:lpstr>
      <vt:lpstr>All-pairs shortest paths</vt:lpstr>
      <vt:lpstr>All-pairs shortest paths</vt:lpstr>
      <vt:lpstr>All-pairs shortest paths</vt:lpstr>
      <vt:lpstr>All-pairs shortest paths</vt:lpstr>
      <vt:lpstr>All-pairs shortest paths</vt:lpstr>
      <vt:lpstr>All-pairs shortest paths</vt:lpstr>
      <vt:lpstr>All-pairs shortest paths</vt:lpstr>
      <vt:lpstr>Remarks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H&amp;H</dc:creator>
  <cp:lastModifiedBy>Dr. Muhammad Atif Tahir</cp:lastModifiedBy>
  <cp:revision>55</cp:revision>
  <dcterms:created xsi:type="dcterms:W3CDTF">2006-08-16T00:00:00Z</dcterms:created>
  <dcterms:modified xsi:type="dcterms:W3CDTF">2018-10-29T05:32:33Z</dcterms:modified>
</cp:coreProperties>
</file>