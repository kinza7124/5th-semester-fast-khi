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embeddedFontLst>
    <p:embeddedFont>
      <p:font typeface="Hedvig Letters Sans" panose="020B0604020202020204" charset="0"/>
      <p:regular r:id="rId20"/>
    </p:embeddedFont>
    <p:embeddedFont>
      <p:font typeface="Liter" panose="020B0604020202020204" charset="0"/>
      <p:regular r:id="rId21"/>
    </p:embeddedFont>
    <p:embeddedFont>
      <p:font typeface="Quattrocento Sans" panose="020B0502050000020003" pitchFamily="34" charset="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65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34445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4DB6AC">
                  <a:alpha val="20000"/>
                </a:srgbClr>
              </a:gs>
              <a:gs pos="50000">
                <a:srgbClr val="000000">
                  <a:alpha val="0"/>
                </a:srgbClr>
              </a:gs>
              <a:gs pos="100000">
                <a:srgbClr val="FFD54F">
                  <a:alpha val="1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756547" y="1720215"/>
            <a:ext cx="2674620" cy="426720"/>
          </a:xfrm>
          <a:custGeom>
            <a:avLst/>
            <a:gdLst/>
            <a:ahLst/>
            <a:cxnLst/>
            <a:rect l="l" t="t" r="r" b="b"/>
            <a:pathLst>
              <a:path w="2674620" h="426720">
                <a:moveTo>
                  <a:pt x="213360" y="0"/>
                </a:moveTo>
                <a:lnTo>
                  <a:pt x="2461260" y="0"/>
                </a:lnTo>
                <a:cubicBezTo>
                  <a:pt x="2579095" y="0"/>
                  <a:pt x="2674620" y="95525"/>
                  <a:pt x="2674620" y="213360"/>
                </a:cubicBezTo>
                <a:lnTo>
                  <a:pt x="2674620" y="213360"/>
                </a:lnTo>
                <a:cubicBezTo>
                  <a:pt x="2674620" y="331195"/>
                  <a:pt x="2579095" y="426720"/>
                  <a:pt x="2461260" y="426720"/>
                </a:cubicBezTo>
                <a:lnTo>
                  <a:pt x="213360" y="426720"/>
                </a:lnTo>
                <a:cubicBezTo>
                  <a:pt x="95603" y="426720"/>
                  <a:pt x="0" y="331117"/>
                  <a:pt x="0" y="213360"/>
                </a:cubicBezTo>
                <a:lnTo>
                  <a:pt x="0" y="213360"/>
                </a:lnTo>
                <a:cubicBezTo>
                  <a:pt x="0" y="95603"/>
                  <a:pt x="95603" y="0"/>
                  <a:pt x="213360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 w="10160">
            <a:solidFill>
              <a:srgbClr val="4DB6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946095" y="1838325"/>
            <a:ext cx="229969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kern="0" spc="68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COMPUTER VISION SERIES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405658" y="2684145"/>
            <a:ext cx="7381875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400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YOLO Object Detection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0" y="3769995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4DB6AC"/>
              </a:gs>
              <a:gs pos="100000">
                <a:srgbClr val="FFD54F"/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088481" y="4036695"/>
            <a:ext cx="6019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dirty="0">
                <a:solidFill>
                  <a:srgbClr val="78909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Complete Guide: From Beginner to Advanced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863221" y="4874895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21431" y="87422"/>
                </a:moveTo>
                <a:lnTo>
                  <a:pt x="114836" y="125864"/>
                </a:lnTo>
                <a:cubicBezTo>
                  <a:pt x="119211" y="127650"/>
                  <a:pt x="123855" y="128588"/>
                  <a:pt x="128588" y="128588"/>
                </a:cubicBezTo>
                <a:cubicBezTo>
                  <a:pt x="133320" y="128588"/>
                  <a:pt x="137964" y="127650"/>
                  <a:pt x="142339" y="125864"/>
                </a:cubicBezTo>
                <a:lnTo>
                  <a:pt x="250567" y="81305"/>
                </a:lnTo>
                <a:cubicBezTo>
                  <a:pt x="254585" y="79653"/>
                  <a:pt x="257175" y="75768"/>
                  <a:pt x="257175" y="71437"/>
                </a:cubicBezTo>
                <a:cubicBezTo>
                  <a:pt x="257175" y="67107"/>
                  <a:pt x="254585" y="63222"/>
                  <a:pt x="250567" y="61570"/>
                </a:cubicBezTo>
                <a:lnTo>
                  <a:pt x="142339" y="17011"/>
                </a:lnTo>
                <a:cubicBezTo>
                  <a:pt x="137964" y="15225"/>
                  <a:pt x="133320" y="14288"/>
                  <a:pt x="128588" y="14288"/>
                </a:cubicBezTo>
                <a:cubicBezTo>
                  <a:pt x="123855" y="14288"/>
                  <a:pt x="119211" y="15225"/>
                  <a:pt x="114836" y="17011"/>
                </a:cubicBezTo>
                <a:lnTo>
                  <a:pt x="6608" y="61570"/>
                </a:lnTo>
                <a:cubicBezTo>
                  <a:pt x="2590" y="63222"/>
                  <a:pt x="0" y="67107"/>
                  <a:pt x="0" y="71438"/>
                </a:cubicBezTo>
                <a:lnTo>
                  <a:pt x="0" y="203597"/>
                </a:lnTo>
                <a:cubicBezTo>
                  <a:pt x="0" y="209535"/>
                  <a:pt x="4777" y="214313"/>
                  <a:pt x="10716" y="214313"/>
                </a:cubicBezTo>
                <a:cubicBezTo>
                  <a:pt x="16654" y="214313"/>
                  <a:pt x="21431" y="209535"/>
                  <a:pt x="21431" y="203597"/>
                </a:cubicBezTo>
                <a:lnTo>
                  <a:pt x="21431" y="87422"/>
                </a:lnTo>
                <a:close/>
                <a:moveTo>
                  <a:pt x="42863" y="119435"/>
                </a:moveTo>
                <a:lnTo>
                  <a:pt x="42863" y="171450"/>
                </a:lnTo>
                <a:cubicBezTo>
                  <a:pt x="42863" y="195114"/>
                  <a:pt x="81260" y="214313"/>
                  <a:pt x="128588" y="214313"/>
                </a:cubicBezTo>
                <a:cubicBezTo>
                  <a:pt x="175915" y="214313"/>
                  <a:pt x="214313" y="195114"/>
                  <a:pt x="214313" y="171450"/>
                </a:cubicBezTo>
                <a:lnTo>
                  <a:pt x="214313" y="119390"/>
                </a:lnTo>
                <a:lnTo>
                  <a:pt x="150510" y="145688"/>
                </a:lnTo>
                <a:cubicBezTo>
                  <a:pt x="143545" y="148545"/>
                  <a:pt x="136133" y="150019"/>
                  <a:pt x="128588" y="150019"/>
                </a:cubicBezTo>
                <a:cubicBezTo>
                  <a:pt x="121042" y="150019"/>
                  <a:pt x="113630" y="148545"/>
                  <a:pt x="106665" y="145688"/>
                </a:cubicBezTo>
                <a:lnTo>
                  <a:pt x="42863" y="119390"/>
                </a:ln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201358" y="4855845"/>
            <a:ext cx="1981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 &amp; Interview Prep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39971" y="4836795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9525" y="0"/>
                </a:lnTo>
                <a:lnTo>
                  <a:pt x="9525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7890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768584" y="4874895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61092" y="536"/>
                </a:moveTo>
                <a:cubicBezTo>
                  <a:pt x="153501" y="-1652"/>
                  <a:pt x="145599" y="2768"/>
                  <a:pt x="143411" y="10358"/>
                </a:cubicBezTo>
                <a:lnTo>
                  <a:pt x="86261" y="210383"/>
                </a:lnTo>
                <a:cubicBezTo>
                  <a:pt x="84073" y="217974"/>
                  <a:pt x="88493" y="225876"/>
                  <a:pt x="96083" y="228064"/>
                </a:cubicBezTo>
                <a:cubicBezTo>
                  <a:pt x="103674" y="230252"/>
                  <a:pt x="111576" y="225832"/>
                  <a:pt x="113764" y="218242"/>
                </a:cubicBezTo>
                <a:lnTo>
                  <a:pt x="170914" y="18217"/>
                </a:lnTo>
                <a:cubicBezTo>
                  <a:pt x="173102" y="10626"/>
                  <a:pt x="168682" y="2724"/>
                  <a:pt x="161092" y="536"/>
                </a:cubicBezTo>
                <a:close/>
                <a:moveTo>
                  <a:pt x="189934" y="61302"/>
                </a:moveTo>
                <a:cubicBezTo>
                  <a:pt x="184353" y="66883"/>
                  <a:pt x="184353" y="75947"/>
                  <a:pt x="189934" y="81528"/>
                </a:cubicBezTo>
                <a:lnTo>
                  <a:pt x="222706" y="114300"/>
                </a:lnTo>
                <a:lnTo>
                  <a:pt x="189934" y="147072"/>
                </a:lnTo>
                <a:cubicBezTo>
                  <a:pt x="184353" y="152653"/>
                  <a:pt x="184353" y="161717"/>
                  <a:pt x="189934" y="167298"/>
                </a:cubicBezTo>
                <a:cubicBezTo>
                  <a:pt x="195516" y="172879"/>
                  <a:pt x="204579" y="172879"/>
                  <a:pt x="210160" y="167298"/>
                </a:cubicBezTo>
                <a:lnTo>
                  <a:pt x="253023" y="124435"/>
                </a:lnTo>
                <a:cubicBezTo>
                  <a:pt x="258604" y="118854"/>
                  <a:pt x="258604" y="109791"/>
                  <a:pt x="253023" y="104209"/>
                </a:cubicBezTo>
                <a:lnTo>
                  <a:pt x="210160" y="61347"/>
                </a:lnTo>
                <a:cubicBezTo>
                  <a:pt x="204579" y="55766"/>
                  <a:pt x="195516" y="55766"/>
                  <a:pt x="189934" y="61347"/>
                </a:cubicBezTo>
                <a:close/>
                <a:moveTo>
                  <a:pt x="67285" y="61302"/>
                </a:moveTo>
                <a:cubicBezTo>
                  <a:pt x="61704" y="55721"/>
                  <a:pt x="52641" y="55721"/>
                  <a:pt x="47059" y="61302"/>
                </a:cubicBezTo>
                <a:lnTo>
                  <a:pt x="4197" y="104165"/>
                </a:lnTo>
                <a:cubicBezTo>
                  <a:pt x="-1384" y="109746"/>
                  <a:pt x="-1384" y="118809"/>
                  <a:pt x="4197" y="124391"/>
                </a:cubicBezTo>
                <a:lnTo>
                  <a:pt x="47059" y="167253"/>
                </a:lnTo>
                <a:cubicBezTo>
                  <a:pt x="52641" y="172834"/>
                  <a:pt x="61704" y="172834"/>
                  <a:pt x="67285" y="167253"/>
                </a:cubicBezTo>
                <a:cubicBezTo>
                  <a:pt x="72866" y="161672"/>
                  <a:pt x="72866" y="152608"/>
                  <a:pt x="67285" y="147027"/>
                </a:cubicBezTo>
                <a:lnTo>
                  <a:pt x="34513" y="114300"/>
                </a:lnTo>
                <a:lnTo>
                  <a:pt x="67241" y="81528"/>
                </a:lnTo>
                <a:cubicBezTo>
                  <a:pt x="72822" y="75947"/>
                  <a:pt x="72822" y="66883"/>
                  <a:pt x="67241" y="61302"/>
                </a:cubicBezTo>
                <a:close/>
              </a:path>
            </a:pathLst>
          </a:custGeom>
          <a:solidFill>
            <a:srgbClr val="FFD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106721" y="4855845"/>
            <a:ext cx="1285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Deep Learning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PRESENTATION OVERVIEW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We'll Cover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0050" y="1447800"/>
            <a:ext cx="5543550" cy="838200"/>
          </a:xfrm>
          <a:custGeom>
            <a:avLst/>
            <a:gdLst/>
            <a:ahLst/>
            <a:cxnLst/>
            <a:rect l="l" t="t" r="r" b="b"/>
            <a:pathLst>
              <a:path w="5543550" h="838200">
                <a:moveTo>
                  <a:pt x="38100" y="0"/>
                </a:moveTo>
                <a:lnTo>
                  <a:pt x="5429253" y="0"/>
                </a:lnTo>
                <a:cubicBezTo>
                  <a:pt x="5492378" y="0"/>
                  <a:pt x="5543550" y="51172"/>
                  <a:pt x="5543550" y="114297"/>
                </a:cubicBezTo>
                <a:lnTo>
                  <a:pt x="5543550" y="723903"/>
                </a:lnTo>
                <a:cubicBezTo>
                  <a:pt x="5543550" y="787028"/>
                  <a:pt x="5492378" y="838200"/>
                  <a:pt x="5429253" y="838200"/>
                </a:cubicBezTo>
                <a:lnTo>
                  <a:pt x="38100" y="838200"/>
                </a:lnTo>
                <a:cubicBezTo>
                  <a:pt x="17058" y="838200"/>
                  <a:pt x="0" y="821142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63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00050" y="1447800"/>
            <a:ext cx="38100" cy="838200"/>
          </a:xfrm>
          <a:custGeom>
            <a:avLst/>
            <a:gdLst/>
            <a:ahLst/>
            <a:cxnLst/>
            <a:rect l="l" t="t" r="r" b="b"/>
            <a:pathLst>
              <a:path w="38100" h="838200">
                <a:moveTo>
                  <a:pt x="38100" y="0"/>
                </a:moveTo>
                <a:lnTo>
                  <a:pt x="38100" y="0"/>
                </a:lnTo>
                <a:lnTo>
                  <a:pt x="38100" y="838200"/>
                </a:lnTo>
                <a:lnTo>
                  <a:pt x="38100" y="838200"/>
                </a:lnTo>
                <a:cubicBezTo>
                  <a:pt x="17072" y="838200"/>
                  <a:pt x="0" y="821128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71500" y="1638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23875" y="16383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1100" y="1600200"/>
            <a:ext cx="3495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Object Detection Basics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1100" y="1905000"/>
            <a:ext cx="3476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Classification, Localization, Detection, Segmentation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67450" y="1447800"/>
            <a:ext cx="5543550" cy="838200"/>
          </a:xfrm>
          <a:custGeom>
            <a:avLst/>
            <a:gdLst/>
            <a:ahLst/>
            <a:cxnLst/>
            <a:rect l="l" t="t" r="r" b="b"/>
            <a:pathLst>
              <a:path w="5543550" h="838200">
                <a:moveTo>
                  <a:pt x="38100" y="0"/>
                </a:moveTo>
                <a:lnTo>
                  <a:pt x="5429253" y="0"/>
                </a:lnTo>
                <a:cubicBezTo>
                  <a:pt x="5492378" y="0"/>
                  <a:pt x="5543550" y="51172"/>
                  <a:pt x="5543550" y="114297"/>
                </a:cubicBezTo>
                <a:lnTo>
                  <a:pt x="5543550" y="723903"/>
                </a:lnTo>
                <a:cubicBezTo>
                  <a:pt x="5543550" y="787028"/>
                  <a:pt x="5492378" y="838200"/>
                  <a:pt x="5429253" y="838200"/>
                </a:cubicBezTo>
                <a:lnTo>
                  <a:pt x="38100" y="838200"/>
                </a:lnTo>
                <a:cubicBezTo>
                  <a:pt x="17058" y="838200"/>
                  <a:pt x="0" y="821142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63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267450" y="1447800"/>
            <a:ext cx="38100" cy="838200"/>
          </a:xfrm>
          <a:custGeom>
            <a:avLst/>
            <a:gdLst/>
            <a:ahLst/>
            <a:cxnLst/>
            <a:rect l="l" t="t" r="r" b="b"/>
            <a:pathLst>
              <a:path w="38100" h="838200">
                <a:moveTo>
                  <a:pt x="38100" y="0"/>
                </a:moveTo>
                <a:lnTo>
                  <a:pt x="38100" y="0"/>
                </a:lnTo>
                <a:lnTo>
                  <a:pt x="38100" y="838200"/>
                </a:lnTo>
                <a:lnTo>
                  <a:pt x="38100" y="838200"/>
                </a:lnTo>
                <a:cubicBezTo>
                  <a:pt x="17072" y="838200"/>
                  <a:pt x="0" y="821128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D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438900" y="1638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FFD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391275" y="16383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048500" y="1600200"/>
            <a:ext cx="2705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Two-Stage vs One-Stage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048500" y="1905000"/>
            <a:ext cx="2686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R-CNN vs YOLO approaches compared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00050" y="2438400"/>
            <a:ext cx="5543550" cy="838200"/>
          </a:xfrm>
          <a:custGeom>
            <a:avLst/>
            <a:gdLst/>
            <a:ahLst/>
            <a:cxnLst/>
            <a:rect l="l" t="t" r="r" b="b"/>
            <a:pathLst>
              <a:path w="5543550" h="838200">
                <a:moveTo>
                  <a:pt x="38100" y="0"/>
                </a:moveTo>
                <a:lnTo>
                  <a:pt x="5429253" y="0"/>
                </a:lnTo>
                <a:cubicBezTo>
                  <a:pt x="5492378" y="0"/>
                  <a:pt x="5543550" y="51172"/>
                  <a:pt x="5543550" y="114297"/>
                </a:cubicBezTo>
                <a:lnTo>
                  <a:pt x="5543550" y="723903"/>
                </a:lnTo>
                <a:cubicBezTo>
                  <a:pt x="5543550" y="787028"/>
                  <a:pt x="5492378" y="838200"/>
                  <a:pt x="5429253" y="838200"/>
                </a:cubicBezTo>
                <a:lnTo>
                  <a:pt x="38100" y="838200"/>
                </a:lnTo>
                <a:cubicBezTo>
                  <a:pt x="17058" y="838200"/>
                  <a:pt x="0" y="821142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63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00050" y="2438400"/>
            <a:ext cx="38100" cy="838200"/>
          </a:xfrm>
          <a:custGeom>
            <a:avLst/>
            <a:gdLst/>
            <a:ahLst/>
            <a:cxnLst/>
            <a:rect l="l" t="t" r="r" b="b"/>
            <a:pathLst>
              <a:path w="38100" h="838200">
                <a:moveTo>
                  <a:pt x="38100" y="0"/>
                </a:moveTo>
                <a:lnTo>
                  <a:pt x="38100" y="0"/>
                </a:lnTo>
                <a:lnTo>
                  <a:pt x="38100" y="838200"/>
                </a:lnTo>
                <a:lnTo>
                  <a:pt x="38100" y="838200"/>
                </a:lnTo>
                <a:cubicBezTo>
                  <a:pt x="17072" y="838200"/>
                  <a:pt x="0" y="821128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71500" y="26289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23875" y="26289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81100" y="2590800"/>
            <a:ext cx="3419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 to YOLO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81100" y="2895600"/>
            <a:ext cx="3400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You Only Look Once - The revolutionary approach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67450" y="2438400"/>
            <a:ext cx="5543550" cy="838200"/>
          </a:xfrm>
          <a:custGeom>
            <a:avLst/>
            <a:gdLst/>
            <a:ahLst/>
            <a:cxnLst/>
            <a:rect l="l" t="t" r="r" b="b"/>
            <a:pathLst>
              <a:path w="5543550" h="838200">
                <a:moveTo>
                  <a:pt x="38100" y="0"/>
                </a:moveTo>
                <a:lnTo>
                  <a:pt x="5429253" y="0"/>
                </a:lnTo>
                <a:cubicBezTo>
                  <a:pt x="5492378" y="0"/>
                  <a:pt x="5543550" y="51172"/>
                  <a:pt x="5543550" y="114297"/>
                </a:cubicBezTo>
                <a:lnTo>
                  <a:pt x="5543550" y="723903"/>
                </a:lnTo>
                <a:cubicBezTo>
                  <a:pt x="5543550" y="787028"/>
                  <a:pt x="5492378" y="838200"/>
                  <a:pt x="5429253" y="838200"/>
                </a:cubicBezTo>
                <a:lnTo>
                  <a:pt x="38100" y="838200"/>
                </a:lnTo>
                <a:cubicBezTo>
                  <a:pt x="17058" y="838200"/>
                  <a:pt x="0" y="821142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63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267450" y="2438400"/>
            <a:ext cx="38100" cy="838200"/>
          </a:xfrm>
          <a:custGeom>
            <a:avLst/>
            <a:gdLst/>
            <a:ahLst/>
            <a:cxnLst/>
            <a:rect l="l" t="t" r="r" b="b"/>
            <a:pathLst>
              <a:path w="38100" h="838200">
                <a:moveTo>
                  <a:pt x="38100" y="0"/>
                </a:moveTo>
                <a:lnTo>
                  <a:pt x="38100" y="0"/>
                </a:lnTo>
                <a:lnTo>
                  <a:pt x="38100" y="838200"/>
                </a:lnTo>
                <a:lnTo>
                  <a:pt x="38100" y="838200"/>
                </a:lnTo>
                <a:cubicBezTo>
                  <a:pt x="17072" y="838200"/>
                  <a:pt x="0" y="821128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D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438900" y="26289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FFD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391275" y="26289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048500" y="2590800"/>
            <a:ext cx="2590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Grid Cells &amp; Bounding Boxes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048500" y="2895600"/>
            <a:ext cx="2571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prediction mechanism explained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00050" y="3429000"/>
            <a:ext cx="5543550" cy="838200"/>
          </a:xfrm>
          <a:custGeom>
            <a:avLst/>
            <a:gdLst/>
            <a:ahLst/>
            <a:cxnLst/>
            <a:rect l="l" t="t" r="r" b="b"/>
            <a:pathLst>
              <a:path w="5543550" h="838200">
                <a:moveTo>
                  <a:pt x="38100" y="0"/>
                </a:moveTo>
                <a:lnTo>
                  <a:pt x="5429253" y="0"/>
                </a:lnTo>
                <a:cubicBezTo>
                  <a:pt x="5492378" y="0"/>
                  <a:pt x="5543550" y="51172"/>
                  <a:pt x="5543550" y="114297"/>
                </a:cubicBezTo>
                <a:lnTo>
                  <a:pt x="5543550" y="723903"/>
                </a:lnTo>
                <a:cubicBezTo>
                  <a:pt x="5543550" y="787028"/>
                  <a:pt x="5492378" y="838200"/>
                  <a:pt x="5429253" y="838200"/>
                </a:cubicBezTo>
                <a:lnTo>
                  <a:pt x="38100" y="838200"/>
                </a:lnTo>
                <a:cubicBezTo>
                  <a:pt x="17058" y="838200"/>
                  <a:pt x="0" y="821142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63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00050" y="3429000"/>
            <a:ext cx="38100" cy="838200"/>
          </a:xfrm>
          <a:custGeom>
            <a:avLst/>
            <a:gdLst/>
            <a:ahLst/>
            <a:cxnLst/>
            <a:rect l="l" t="t" r="r" b="b"/>
            <a:pathLst>
              <a:path w="38100" h="838200">
                <a:moveTo>
                  <a:pt x="38100" y="0"/>
                </a:moveTo>
                <a:lnTo>
                  <a:pt x="38100" y="0"/>
                </a:lnTo>
                <a:lnTo>
                  <a:pt x="38100" y="838200"/>
                </a:lnTo>
                <a:lnTo>
                  <a:pt x="38100" y="838200"/>
                </a:lnTo>
                <a:cubicBezTo>
                  <a:pt x="17072" y="838200"/>
                  <a:pt x="0" y="821128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71500" y="3619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23875" y="36195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181100" y="3581400"/>
            <a:ext cx="2543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Intersection Over Union (IoU)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181100" y="3886200"/>
            <a:ext cx="2524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Measuring prediction accuracy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267450" y="3429000"/>
            <a:ext cx="5543550" cy="838200"/>
          </a:xfrm>
          <a:custGeom>
            <a:avLst/>
            <a:gdLst/>
            <a:ahLst/>
            <a:cxnLst/>
            <a:rect l="l" t="t" r="r" b="b"/>
            <a:pathLst>
              <a:path w="5543550" h="838200">
                <a:moveTo>
                  <a:pt x="38100" y="0"/>
                </a:moveTo>
                <a:lnTo>
                  <a:pt x="5429253" y="0"/>
                </a:lnTo>
                <a:cubicBezTo>
                  <a:pt x="5492378" y="0"/>
                  <a:pt x="5543550" y="51172"/>
                  <a:pt x="5543550" y="114297"/>
                </a:cubicBezTo>
                <a:lnTo>
                  <a:pt x="5543550" y="723903"/>
                </a:lnTo>
                <a:cubicBezTo>
                  <a:pt x="5543550" y="787028"/>
                  <a:pt x="5492378" y="838200"/>
                  <a:pt x="5429253" y="838200"/>
                </a:cubicBezTo>
                <a:lnTo>
                  <a:pt x="38100" y="838200"/>
                </a:lnTo>
                <a:cubicBezTo>
                  <a:pt x="17058" y="838200"/>
                  <a:pt x="0" y="821142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63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267450" y="3429000"/>
            <a:ext cx="38100" cy="838200"/>
          </a:xfrm>
          <a:custGeom>
            <a:avLst/>
            <a:gdLst/>
            <a:ahLst/>
            <a:cxnLst/>
            <a:rect l="l" t="t" r="r" b="b"/>
            <a:pathLst>
              <a:path w="38100" h="838200">
                <a:moveTo>
                  <a:pt x="38100" y="0"/>
                </a:moveTo>
                <a:lnTo>
                  <a:pt x="38100" y="0"/>
                </a:lnTo>
                <a:lnTo>
                  <a:pt x="38100" y="838200"/>
                </a:lnTo>
                <a:lnTo>
                  <a:pt x="38100" y="838200"/>
                </a:lnTo>
                <a:cubicBezTo>
                  <a:pt x="17072" y="838200"/>
                  <a:pt x="0" y="821128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D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438900" y="3619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FFD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391275" y="36195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048500" y="3581400"/>
            <a:ext cx="2581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Non-Max Suppression (NMS)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048500" y="3886200"/>
            <a:ext cx="2562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Eliminating duplicate detections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400050" y="4419600"/>
            <a:ext cx="5543550" cy="838200"/>
          </a:xfrm>
          <a:custGeom>
            <a:avLst/>
            <a:gdLst/>
            <a:ahLst/>
            <a:cxnLst/>
            <a:rect l="l" t="t" r="r" b="b"/>
            <a:pathLst>
              <a:path w="5543550" h="838200">
                <a:moveTo>
                  <a:pt x="38100" y="0"/>
                </a:moveTo>
                <a:lnTo>
                  <a:pt x="5429253" y="0"/>
                </a:lnTo>
                <a:cubicBezTo>
                  <a:pt x="5492378" y="0"/>
                  <a:pt x="5543550" y="51172"/>
                  <a:pt x="5543550" y="114297"/>
                </a:cubicBezTo>
                <a:lnTo>
                  <a:pt x="5543550" y="723903"/>
                </a:lnTo>
                <a:cubicBezTo>
                  <a:pt x="5543550" y="787028"/>
                  <a:pt x="5492378" y="838200"/>
                  <a:pt x="5429253" y="838200"/>
                </a:cubicBezTo>
                <a:lnTo>
                  <a:pt x="38100" y="838200"/>
                </a:lnTo>
                <a:cubicBezTo>
                  <a:pt x="17058" y="838200"/>
                  <a:pt x="0" y="821142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63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400050" y="4419600"/>
            <a:ext cx="38100" cy="838200"/>
          </a:xfrm>
          <a:custGeom>
            <a:avLst/>
            <a:gdLst/>
            <a:ahLst/>
            <a:cxnLst/>
            <a:rect l="l" t="t" r="r" b="b"/>
            <a:pathLst>
              <a:path w="38100" h="838200">
                <a:moveTo>
                  <a:pt x="38100" y="0"/>
                </a:moveTo>
                <a:lnTo>
                  <a:pt x="38100" y="0"/>
                </a:lnTo>
                <a:lnTo>
                  <a:pt x="38100" y="838200"/>
                </a:lnTo>
                <a:lnTo>
                  <a:pt x="38100" y="838200"/>
                </a:lnTo>
                <a:cubicBezTo>
                  <a:pt x="17072" y="838200"/>
                  <a:pt x="0" y="821128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571500" y="46101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523875" y="46101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181100" y="4572000"/>
            <a:ext cx="2286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Anchor Boxes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181100" y="4876800"/>
            <a:ext cx="2266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Handling multiple objects per cell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267450" y="4419600"/>
            <a:ext cx="5543550" cy="838200"/>
          </a:xfrm>
          <a:custGeom>
            <a:avLst/>
            <a:gdLst/>
            <a:ahLst/>
            <a:cxnLst/>
            <a:rect l="l" t="t" r="r" b="b"/>
            <a:pathLst>
              <a:path w="5543550" h="838200">
                <a:moveTo>
                  <a:pt x="38100" y="0"/>
                </a:moveTo>
                <a:lnTo>
                  <a:pt x="5429253" y="0"/>
                </a:lnTo>
                <a:cubicBezTo>
                  <a:pt x="5492378" y="0"/>
                  <a:pt x="5543550" y="51172"/>
                  <a:pt x="5543550" y="114297"/>
                </a:cubicBezTo>
                <a:lnTo>
                  <a:pt x="5543550" y="723903"/>
                </a:lnTo>
                <a:cubicBezTo>
                  <a:pt x="5543550" y="787028"/>
                  <a:pt x="5492378" y="838200"/>
                  <a:pt x="5429253" y="838200"/>
                </a:cubicBezTo>
                <a:lnTo>
                  <a:pt x="38100" y="838200"/>
                </a:lnTo>
                <a:cubicBezTo>
                  <a:pt x="17058" y="838200"/>
                  <a:pt x="0" y="821142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63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6267450" y="4419600"/>
            <a:ext cx="38100" cy="838200"/>
          </a:xfrm>
          <a:custGeom>
            <a:avLst/>
            <a:gdLst/>
            <a:ahLst/>
            <a:cxnLst/>
            <a:rect l="l" t="t" r="r" b="b"/>
            <a:pathLst>
              <a:path w="38100" h="838200">
                <a:moveTo>
                  <a:pt x="38100" y="0"/>
                </a:moveTo>
                <a:lnTo>
                  <a:pt x="38100" y="0"/>
                </a:lnTo>
                <a:lnTo>
                  <a:pt x="38100" y="838200"/>
                </a:lnTo>
                <a:lnTo>
                  <a:pt x="38100" y="838200"/>
                </a:lnTo>
                <a:cubicBezTo>
                  <a:pt x="17072" y="838200"/>
                  <a:pt x="0" y="821128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D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6438900" y="46101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FFD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6391275" y="46101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08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7048500" y="4572000"/>
            <a:ext cx="2724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YOLO Architecture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7048500" y="4876800"/>
            <a:ext cx="2705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Backbone, Neck, and Head components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400050" y="5410200"/>
            <a:ext cx="5543550" cy="838200"/>
          </a:xfrm>
          <a:custGeom>
            <a:avLst/>
            <a:gdLst/>
            <a:ahLst/>
            <a:cxnLst/>
            <a:rect l="l" t="t" r="r" b="b"/>
            <a:pathLst>
              <a:path w="5543550" h="838200">
                <a:moveTo>
                  <a:pt x="38100" y="0"/>
                </a:moveTo>
                <a:lnTo>
                  <a:pt x="5429253" y="0"/>
                </a:lnTo>
                <a:cubicBezTo>
                  <a:pt x="5492378" y="0"/>
                  <a:pt x="5543550" y="51172"/>
                  <a:pt x="5543550" y="114297"/>
                </a:cubicBezTo>
                <a:lnTo>
                  <a:pt x="5543550" y="723903"/>
                </a:lnTo>
                <a:cubicBezTo>
                  <a:pt x="5543550" y="787028"/>
                  <a:pt x="5492378" y="838200"/>
                  <a:pt x="5429253" y="838200"/>
                </a:cubicBezTo>
                <a:lnTo>
                  <a:pt x="38100" y="838200"/>
                </a:lnTo>
                <a:cubicBezTo>
                  <a:pt x="17058" y="838200"/>
                  <a:pt x="0" y="821142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63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400050" y="5410200"/>
            <a:ext cx="38100" cy="838200"/>
          </a:xfrm>
          <a:custGeom>
            <a:avLst/>
            <a:gdLst/>
            <a:ahLst/>
            <a:cxnLst/>
            <a:rect l="l" t="t" r="r" b="b"/>
            <a:pathLst>
              <a:path w="38100" h="838200">
                <a:moveTo>
                  <a:pt x="38100" y="0"/>
                </a:moveTo>
                <a:lnTo>
                  <a:pt x="38100" y="0"/>
                </a:lnTo>
                <a:lnTo>
                  <a:pt x="38100" y="838200"/>
                </a:lnTo>
                <a:lnTo>
                  <a:pt x="38100" y="838200"/>
                </a:lnTo>
                <a:cubicBezTo>
                  <a:pt x="17072" y="838200"/>
                  <a:pt x="0" y="821128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571500" y="56007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523875" y="56007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09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1181100" y="5562600"/>
            <a:ext cx="2047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YOLO Evolution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1181100" y="5867400"/>
            <a:ext cx="2028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From v1 to v8+ improvements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267450" y="5410200"/>
            <a:ext cx="5543550" cy="838200"/>
          </a:xfrm>
          <a:custGeom>
            <a:avLst/>
            <a:gdLst/>
            <a:ahLst/>
            <a:cxnLst/>
            <a:rect l="l" t="t" r="r" b="b"/>
            <a:pathLst>
              <a:path w="5543550" h="838200">
                <a:moveTo>
                  <a:pt x="38100" y="0"/>
                </a:moveTo>
                <a:lnTo>
                  <a:pt x="5429253" y="0"/>
                </a:lnTo>
                <a:cubicBezTo>
                  <a:pt x="5492378" y="0"/>
                  <a:pt x="5543550" y="51172"/>
                  <a:pt x="5543550" y="114297"/>
                </a:cubicBezTo>
                <a:lnTo>
                  <a:pt x="5543550" y="723903"/>
                </a:lnTo>
                <a:cubicBezTo>
                  <a:pt x="5543550" y="787028"/>
                  <a:pt x="5492378" y="838200"/>
                  <a:pt x="5429253" y="838200"/>
                </a:cubicBezTo>
                <a:lnTo>
                  <a:pt x="38100" y="838200"/>
                </a:lnTo>
                <a:cubicBezTo>
                  <a:pt x="17058" y="838200"/>
                  <a:pt x="0" y="821142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63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6267450" y="5410200"/>
            <a:ext cx="38100" cy="838200"/>
          </a:xfrm>
          <a:custGeom>
            <a:avLst/>
            <a:gdLst/>
            <a:ahLst/>
            <a:cxnLst/>
            <a:rect l="l" t="t" r="r" b="b"/>
            <a:pathLst>
              <a:path w="38100" h="838200">
                <a:moveTo>
                  <a:pt x="38100" y="0"/>
                </a:moveTo>
                <a:lnTo>
                  <a:pt x="38100" y="0"/>
                </a:lnTo>
                <a:lnTo>
                  <a:pt x="38100" y="838200"/>
                </a:lnTo>
                <a:lnTo>
                  <a:pt x="38100" y="838200"/>
                </a:lnTo>
                <a:cubicBezTo>
                  <a:pt x="17072" y="838200"/>
                  <a:pt x="0" y="821128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D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6438900" y="56007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FFD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6391275" y="56007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7048500" y="5562600"/>
            <a:ext cx="2724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Applications &amp; Q&amp;A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7048500" y="5867400"/>
            <a:ext cx="2705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Real-world use cases &amp; exam questions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FOUNDATION CONCEPTS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Object Detection: The Basics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0050" y="1371600"/>
            <a:ext cx="5600700" cy="1657350"/>
          </a:xfrm>
          <a:custGeom>
            <a:avLst/>
            <a:gdLst/>
            <a:ahLst/>
            <a:cxnLst/>
            <a:rect l="l" t="t" r="r" b="b"/>
            <a:pathLst>
              <a:path w="5600700" h="1657350">
                <a:moveTo>
                  <a:pt x="38100" y="0"/>
                </a:moveTo>
                <a:lnTo>
                  <a:pt x="5486393" y="0"/>
                </a:lnTo>
                <a:cubicBezTo>
                  <a:pt x="5549523" y="0"/>
                  <a:pt x="5600700" y="51177"/>
                  <a:pt x="5600700" y="114307"/>
                </a:cubicBezTo>
                <a:lnTo>
                  <a:pt x="5600700" y="1543043"/>
                </a:lnTo>
                <a:cubicBezTo>
                  <a:pt x="5600700" y="1606173"/>
                  <a:pt x="5549523" y="1657350"/>
                  <a:pt x="5486393" y="1657350"/>
                </a:cubicBezTo>
                <a:lnTo>
                  <a:pt x="38100" y="1657350"/>
                </a:lnTo>
                <a:cubicBezTo>
                  <a:pt x="17072" y="1657350"/>
                  <a:pt x="0" y="1640278"/>
                  <a:pt x="0" y="16192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63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00050" y="1371600"/>
            <a:ext cx="38100" cy="1657350"/>
          </a:xfrm>
          <a:custGeom>
            <a:avLst/>
            <a:gdLst/>
            <a:ahLst/>
            <a:cxnLst/>
            <a:rect l="l" t="t" r="r" b="b"/>
            <a:pathLst>
              <a:path w="38100" h="1657350">
                <a:moveTo>
                  <a:pt x="38100" y="0"/>
                </a:moveTo>
                <a:lnTo>
                  <a:pt x="38100" y="0"/>
                </a:lnTo>
                <a:lnTo>
                  <a:pt x="38100" y="1657350"/>
                </a:lnTo>
                <a:lnTo>
                  <a:pt x="38100" y="1657350"/>
                </a:lnTo>
                <a:cubicBezTo>
                  <a:pt x="17072" y="1657350"/>
                  <a:pt x="0" y="1640278"/>
                  <a:pt x="0" y="16192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71500" y="1524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00088" y="163830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8575" y="14288"/>
                </a:moveTo>
                <a:cubicBezTo>
                  <a:pt x="12814" y="14288"/>
                  <a:pt x="0" y="27102"/>
                  <a:pt x="0" y="42863"/>
                </a:cubicBezTo>
                <a:lnTo>
                  <a:pt x="0" y="185738"/>
                </a:lnTo>
                <a:cubicBezTo>
                  <a:pt x="0" y="201498"/>
                  <a:pt x="12814" y="214313"/>
                  <a:pt x="28575" y="214313"/>
                </a:cubicBezTo>
                <a:lnTo>
                  <a:pt x="171450" y="214313"/>
                </a:lnTo>
                <a:cubicBezTo>
                  <a:pt x="187211" y="214313"/>
                  <a:pt x="200025" y="201498"/>
                  <a:pt x="200025" y="185738"/>
                </a:cubicBezTo>
                <a:lnTo>
                  <a:pt x="200025" y="42863"/>
                </a:lnTo>
                <a:cubicBezTo>
                  <a:pt x="200025" y="27102"/>
                  <a:pt x="187211" y="14288"/>
                  <a:pt x="171450" y="14288"/>
                </a:cubicBezTo>
                <a:lnTo>
                  <a:pt x="28575" y="14288"/>
                </a:lnTo>
                <a:close/>
                <a:moveTo>
                  <a:pt x="57150" y="50006"/>
                </a:moveTo>
                <a:cubicBezTo>
                  <a:pt x="68978" y="50006"/>
                  <a:pt x="78581" y="59609"/>
                  <a:pt x="78581" y="71438"/>
                </a:cubicBezTo>
                <a:cubicBezTo>
                  <a:pt x="78581" y="83266"/>
                  <a:pt x="68978" y="92869"/>
                  <a:pt x="57150" y="92869"/>
                </a:cubicBezTo>
                <a:cubicBezTo>
                  <a:pt x="45322" y="92869"/>
                  <a:pt x="35719" y="83266"/>
                  <a:pt x="35719" y="71438"/>
                </a:cubicBezTo>
                <a:cubicBezTo>
                  <a:pt x="35719" y="59609"/>
                  <a:pt x="45322" y="50006"/>
                  <a:pt x="57150" y="50006"/>
                </a:cubicBezTo>
                <a:close/>
                <a:moveTo>
                  <a:pt x="121444" y="100013"/>
                </a:moveTo>
                <a:cubicBezTo>
                  <a:pt x="125194" y="100013"/>
                  <a:pt x="128632" y="101977"/>
                  <a:pt x="130597" y="105147"/>
                </a:cubicBezTo>
                <a:lnTo>
                  <a:pt x="169887" y="169441"/>
                </a:lnTo>
                <a:cubicBezTo>
                  <a:pt x="171896" y="172745"/>
                  <a:pt x="171986" y="176897"/>
                  <a:pt x="170111" y="180290"/>
                </a:cubicBezTo>
                <a:cubicBezTo>
                  <a:pt x="168235" y="183684"/>
                  <a:pt x="164619" y="185738"/>
                  <a:pt x="160734" y="185738"/>
                </a:cubicBezTo>
                <a:lnTo>
                  <a:pt x="39291" y="185738"/>
                </a:lnTo>
                <a:cubicBezTo>
                  <a:pt x="35317" y="185738"/>
                  <a:pt x="31611" y="183505"/>
                  <a:pt x="29781" y="179978"/>
                </a:cubicBezTo>
                <a:cubicBezTo>
                  <a:pt x="27950" y="176451"/>
                  <a:pt x="28218" y="172164"/>
                  <a:pt x="30495" y="168905"/>
                </a:cubicBezTo>
                <a:lnTo>
                  <a:pt x="55498" y="133186"/>
                </a:lnTo>
                <a:cubicBezTo>
                  <a:pt x="57507" y="130329"/>
                  <a:pt x="60767" y="128632"/>
                  <a:pt x="64294" y="128632"/>
                </a:cubicBezTo>
                <a:cubicBezTo>
                  <a:pt x="67821" y="128632"/>
                  <a:pt x="71080" y="130329"/>
                  <a:pt x="73089" y="133186"/>
                </a:cubicBezTo>
                <a:lnTo>
                  <a:pt x="84877" y="150063"/>
                </a:lnTo>
                <a:lnTo>
                  <a:pt x="112291" y="105192"/>
                </a:lnTo>
                <a:cubicBezTo>
                  <a:pt x="114255" y="102022"/>
                  <a:pt x="117693" y="100057"/>
                  <a:pt x="121444" y="100057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181100" y="1524000"/>
            <a:ext cx="4762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Classification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1100" y="1866900"/>
            <a:ext cx="47434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FFD5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What:</a:t>
            </a:r>
            <a:r>
              <a:rPr lang="en-US" sz="1200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Identifying what object is present in an image.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1100" y="2190750"/>
            <a:ext cx="4743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Example:</a:t>
            </a:r>
            <a:r>
              <a:rPr lang="en-US" sz="1200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Given an image, output: "Dog" or "Cat"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181100" y="2495550"/>
            <a:ext cx="4667250" cy="381000"/>
          </a:xfrm>
          <a:custGeom>
            <a:avLst/>
            <a:gdLst/>
            <a:ahLst/>
            <a:cxnLst/>
            <a:rect l="l" t="t" r="r" b="b"/>
            <a:pathLst>
              <a:path w="4667250" h="381000">
                <a:moveTo>
                  <a:pt x="38100" y="0"/>
                </a:moveTo>
                <a:lnTo>
                  <a:pt x="4629150" y="0"/>
                </a:lnTo>
                <a:cubicBezTo>
                  <a:pt x="4650178" y="0"/>
                  <a:pt x="4667250" y="17072"/>
                  <a:pt x="4667250" y="38100"/>
                </a:cubicBezTo>
                <a:lnTo>
                  <a:pt x="4667250" y="342900"/>
                </a:lnTo>
                <a:cubicBezTo>
                  <a:pt x="4667250" y="363928"/>
                  <a:pt x="4650178" y="381000"/>
                  <a:pt x="4629150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81100" y="2495550"/>
            <a:ext cx="4743450" cy="3810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Input: Image → Output: Class label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00050" y="3143250"/>
            <a:ext cx="5600700" cy="1657350"/>
          </a:xfrm>
          <a:custGeom>
            <a:avLst/>
            <a:gdLst/>
            <a:ahLst/>
            <a:cxnLst/>
            <a:rect l="l" t="t" r="r" b="b"/>
            <a:pathLst>
              <a:path w="5600700" h="1657350">
                <a:moveTo>
                  <a:pt x="38100" y="0"/>
                </a:moveTo>
                <a:lnTo>
                  <a:pt x="5486393" y="0"/>
                </a:lnTo>
                <a:cubicBezTo>
                  <a:pt x="5549523" y="0"/>
                  <a:pt x="5600700" y="51177"/>
                  <a:pt x="5600700" y="114307"/>
                </a:cubicBezTo>
                <a:lnTo>
                  <a:pt x="5600700" y="1543043"/>
                </a:lnTo>
                <a:cubicBezTo>
                  <a:pt x="5600700" y="1606173"/>
                  <a:pt x="5549523" y="1657350"/>
                  <a:pt x="5486393" y="1657350"/>
                </a:cubicBezTo>
                <a:lnTo>
                  <a:pt x="38100" y="1657350"/>
                </a:lnTo>
                <a:cubicBezTo>
                  <a:pt x="17072" y="1657350"/>
                  <a:pt x="0" y="1640278"/>
                  <a:pt x="0" y="16192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63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00050" y="3143250"/>
            <a:ext cx="38100" cy="1657350"/>
          </a:xfrm>
          <a:custGeom>
            <a:avLst/>
            <a:gdLst/>
            <a:ahLst/>
            <a:cxnLst/>
            <a:rect l="l" t="t" r="r" b="b"/>
            <a:pathLst>
              <a:path w="38100" h="1657350">
                <a:moveTo>
                  <a:pt x="38100" y="0"/>
                </a:moveTo>
                <a:lnTo>
                  <a:pt x="38100" y="0"/>
                </a:lnTo>
                <a:lnTo>
                  <a:pt x="38100" y="1657350"/>
                </a:lnTo>
                <a:lnTo>
                  <a:pt x="38100" y="1657350"/>
                </a:lnTo>
                <a:cubicBezTo>
                  <a:pt x="17072" y="1657350"/>
                  <a:pt x="0" y="1640278"/>
                  <a:pt x="0" y="16192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D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71500" y="32956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FD54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71513" y="340995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28588" y="-7144"/>
                </a:moveTo>
                <a:cubicBezTo>
                  <a:pt x="136490" y="-7144"/>
                  <a:pt x="142875" y="-759"/>
                  <a:pt x="142875" y="7144"/>
                </a:cubicBezTo>
                <a:lnTo>
                  <a:pt x="142875" y="15314"/>
                </a:lnTo>
                <a:cubicBezTo>
                  <a:pt x="186675" y="21565"/>
                  <a:pt x="221322" y="56212"/>
                  <a:pt x="227573" y="100013"/>
                </a:cubicBezTo>
                <a:lnTo>
                  <a:pt x="235744" y="100013"/>
                </a:lnTo>
                <a:cubicBezTo>
                  <a:pt x="243647" y="100013"/>
                  <a:pt x="250031" y="106397"/>
                  <a:pt x="250031" y="114300"/>
                </a:cubicBezTo>
                <a:cubicBezTo>
                  <a:pt x="250031" y="122203"/>
                  <a:pt x="243647" y="128588"/>
                  <a:pt x="235744" y="128588"/>
                </a:cubicBezTo>
                <a:lnTo>
                  <a:pt x="227573" y="128588"/>
                </a:lnTo>
                <a:cubicBezTo>
                  <a:pt x="221322" y="172388"/>
                  <a:pt x="186675" y="207035"/>
                  <a:pt x="142875" y="213286"/>
                </a:cubicBezTo>
                <a:lnTo>
                  <a:pt x="142875" y="221456"/>
                </a:lnTo>
                <a:cubicBezTo>
                  <a:pt x="142875" y="229359"/>
                  <a:pt x="136490" y="235744"/>
                  <a:pt x="128588" y="235744"/>
                </a:cubicBezTo>
                <a:cubicBezTo>
                  <a:pt x="120685" y="235744"/>
                  <a:pt x="114300" y="229359"/>
                  <a:pt x="114300" y="221456"/>
                </a:cubicBezTo>
                <a:lnTo>
                  <a:pt x="114300" y="213286"/>
                </a:lnTo>
                <a:cubicBezTo>
                  <a:pt x="70500" y="207035"/>
                  <a:pt x="35853" y="172388"/>
                  <a:pt x="29602" y="128588"/>
                </a:cubicBezTo>
                <a:lnTo>
                  <a:pt x="21431" y="128588"/>
                </a:lnTo>
                <a:cubicBezTo>
                  <a:pt x="13528" y="128588"/>
                  <a:pt x="7144" y="122203"/>
                  <a:pt x="7144" y="114300"/>
                </a:cubicBezTo>
                <a:cubicBezTo>
                  <a:pt x="7144" y="106397"/>
                  <a:pt x="13528" y="100013"/>
                  <a:pt x="21431" y="100013"/>
                </a:cubicBezTo>
                <a:lnTo>
                  <a:pt x="29602" y="100013"/>
                </a:lnTo>
                <a:cubicBezTo>
                  <a:pt x="35853" y="56212"/>
                  <a:pt x="70500" y="21565"/>
                  <a:pt x="114300" y="15314"/>
                </a:cubicBezTo>
                <a:lnTo>
                  <a:pt x="114300" y="7144"/>
                </a:lnTo>
                <a:cubicBezTo>
                  <a:pt x="114300" y="-759"/>
                  <a:pt x="120685" y="-7144"/>
                  <a:pt x="128588" y="-7144"/>
                </a:cubicBezTo>
                <a:close/>
                <a:moveTo>
                  <a:pt x="58579" y="128588"/>
                </a:moveTo>
                <a:cubicBezTo>
                  <a:pt x="64249" y="156582"/>
                  <a:pt x="86305" y="178638"/>
                  <a:pt x="114300" y="184309"/>
                </a:cubicBezTo>
                <a:lnTo>
                  <a:pt x="114300" y="178594"/>
                </a:lnTo>
                <a:cubicBezTo>
                  <a:pt x="114300" y="170691"/>
                  <a:pt x="120685" y="164306"/>
                  <a:pt x="128588" y="164306"/>
                </a:cubicBezTo>
                <a:cubicBezTo>
                  <a:pt x="136490" y="164306"/>
                  <a:pt x="142875" y="170691"/>
                  <a:pt x="142875" y="178594"/>
                </a:cubicBezTo>
                <a:lnTo>
                  <a:pt x="142875" y="184309"/>
                </a:lnTo>
                <a:cubicBezTo>
                  <a:pt x="170870" y="178638"/>
                  <a:pt x="192926" y="156582"/>
                  <a:pt x="198596" y="128588"/>
                </a:cubicBezTo>
                <a:lnTo>
                  <a:pt x="192881" y="128588"/>
                </a:lnTo>
                <a:cubicBezTo>
                  <a:pt x="184978" y="128588"/>
                  <a:pt x="178594" y="122203"/>
                  <a:pt x="178594" y="114300"/>
                </a:cubicBezTo>
                <a:cubicBezTo>
                  <a:pt x="178594" y="106397"/>
                  <a:pt x="184978" y="100013"/>
                  <a:pt x="192881" y="100013"/>
                </a:cubicBezTo>
                <a:lnTo>
                  <a:pt x="198596" y="100013"/>
                </a:lnTo>
                <a:cubicBezTo>
                  <a:pt x="192926" y="72018"/>
                  <a:pt x="170870" y="49962"/>
                  <a:pt x="142875" y="44291"/>
                </a:cubicBezTo>
                <a:lnTo>
                  <a:pt x="142875" y="50006"/>
                </a:lnTo>
                <a:cubicBezTo>
                  <a:pt x="142875" y="57909"/>
                  <a:pt x="136490" y="64294"/>
                  <a:pt x="128588" y="64294"/>
                </a:cubicBezTo>
                <a:cubicBezTo>
                  <a:pt x="120685" y="64294"/>
                  <a:pt x="114300" y="57909"/>
                  <a:pt x="114300" y="50006"/>
                </a:cubicBezTo>
                <a:lnTo>
                  <a:pt x="114300" y="44291"/>
                </a:lnTo>
                <a:cubicBezTo>
                  <a:pt x="86305" y="49962"/>
                  <a:pt x="64249" y="72018"/>
                  <a:pt x="58579" y="100013"/>
                </a:cubicBezTo>
                <a:lnTo>
                  <a:pt x="64294" y="100013"/>
                </a:lnTo>
                <a:cubicBezTo>
                  <a:pt x="72197" y="100013"/>
                  <a:pt x="78581" y="106397"/>
                  <a:pt x="78581" y="114300"/>
                </a:cubicBezTo>
                <a:cubicBezTo>
                  <a:pt x="78581" y="122203"/>
                  <a:pt x="72197" y="128588"/>
                  <a:pt x="64294" y="128588"/>
                </a:cubicBezTo>
                <a:lnTo>
                  <a:pt x="58579" y="128588"/>
                </a:lnTo>
                <a:close/>
                <a:moveTo>
                  <a:pt x="128588" y="92869"/>
                </a:moveTo>
                <a:cubicBezTo>
                  <a:pt x="140416" y="92869"/>
                  <a:pt x="150019" y="102472"/>
                  <a:pt x="150019" y="114300"/>
                </a:cubicBezTo>
                <a:cubicBezTo>
                  <a:pt x="150019" y="126128"/>
                  <a:pt x="140416" y="135731"/>
                  <a:pt x="128588" y="135731"/>
                </a:cubicBezTo>
                <a:cubicBezTo>
                  <a:pt x="116759" y="135731"/>
                  <a:pt x="107156" y="126128"/>
                  <a:pt x="107156" y="114300"/>
                </a:cubicBezTo>
                <a:cubicBezTo>
                  <a:pt x="107156" y="102472"/>
                  <a:pt x="116759" y="92869"/>
                  <a:pt x="128588" y="92869"/>
                </a:cubicBezTo>
                <a:close/>
              </a:path>
            </a:pathLst>
          </a:custGeom>
          <a:solidFill>
            <a:srgbClr val="FFD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181100" y="3295650"/>
            <a:ext cx="4762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Localization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1100" y="3638550"/>
            <a:ext cx="47434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FFD5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Where:</a:t>
            </a:r>
            <a:r>
              <a:rPr lang="en-US" sz="1200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Finding the location of a single object with a bounding box.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81100" y="3962400"/>
            <a:ext cx="4743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Output:</a:t>
            </a:r>
            <a:r>
              <a:rPr lang="en-US" sz="1200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(x, y, width, height) + class label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181100" y="4267200"/>
            <a:ext cx="4667250" cy="381000"/>
          </a:xfrm>
          <a:custGeom>
            <a:avLst/>
            <a:gdLst/>
            <a:ahLst/>
            <a:cxnLst/>
            <a:rect l="l" t="t" r="r" b="b"/>
            <a:pathLst>
              <a:path w="4667250" h="381000">
                <a:moveTo>
                  <a:pt x="38100" y="0"/>
                </a:moveTo>
                <a:lnTo>
                  <a:pt x="4629150" y="0"/>
                </a:lnTo>
                <a:cubicBezTo>
                  <a:pt x="4650178" y="0"/>
                  <a:pt x="4667250" y="17072"/>
                  <a:pt x="4667250" y="38100"/>
                </a:cubicBezTo>
                <a:lnTo>
                  <a:pt x="4667250" y="342900"/>
                </a:lnTo>
                <a:cubicBezTo>
                  <a:pt x="4667250" y="363928"/>
                  <a:pt x="4650178" y="381000"/>
                  <a:pt x="4629150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181100" y="4267200"/>
            <a:ext cx="4743450" cy="3810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Input: Image → Output: Box coordinates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10300" y="1371600"/>
            <a:ext cx="5600700" cy="1657350"/>
          </a:xfrm>
          <a:custGeom>
            <a:avLst/>
            <a:gdLst/>
            <a:ahLst/>
            <a:cxnLst/>
            <a:rect l="l" t="t" r="r" b="b"/>
            <a:pathLst>
              <a:path w="5600700" h="1657350">
                <a:moveTo>
                  <a:pt x="38100" y="0"/>
                </a:moveTo>
                <a:lnTo>
                  <a:pt x="5486393" y="0"/>
                </a:lnTo>
                <a:cubicBezTo>
                  <a:pt x="5549523" y="0"/>
                  <a:pt x="5600700" y="51177"/>
                  <a:pt x="5600700" y="114307"/>
                </a:cubicBezTo>
                <a:lnTo>
                  <a:pt x="5600700" y="1543043"/>
                </a:lnTo>
                <a:cubicBezTo>
                  <a:pt x="5600700" y="1606173"/>
                  <a:pt x="5549523" y="1657350"/>
                  <a:pt x="5486393" y="1657350"/>
                </a:cubicBezTo>
                <a:lnTo>
                  <a:pt x="38100" y="1657350"/>
                </a:lnTo>
                <a:cubicBezTo>
                  <a:pt x="17072" y="1657350"/>
                  <a:pt x="0" y="1640278"/>
                  <a:pt x="0" y="16192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63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210300" y="1371600"/>
            <a:ext cx="38100" cy="1657350"/>
          </a:xfrm>
          <a:custGeom>
            <a:avLst/>
            <a:gdLst/>
            <a:ahLst/>
            <a:cxnLst/>
            <a:rect l="l" t="t" r="r" b="b"/>
            <a:pathLst>
              <a:path w="38100" h="1657350">
                <a:moveTo>
                  <a:pt x="38100" y="0"/>
                </a:moveTo>
                <a:lnTo>
                  <a:pt x="38100" y="0"/>
                </a:lnTo>
                <a:lnTo>
                  <a:pt x="38100" y="1657350"/>
                </a:lnTo>
                <a:lnTo>
                  <a:pt x="38100" y="1657350"/>
                </a:lnTo>
                <a:cubicBezTo>
                  <a:pt x="17072" y="1657350"/>
                  <a:pt x="0" y="1640278"/>
                  <a:pt x="0" y="16192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381750" y="1524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481763" y="16383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4288" y="53310"/>
                </a:moveTo>
                <a:cubicBezTo>
                  <a:pt x="5760" y="48399"/>
                  <a:pt x="0" y="39157"/>
                  <a:pt x="0" y="28575"/>
                </a:cubicBezTo>
                <a:cubicBezTo>
                  <a:pt x="0" y="12814"/>
                  <a:pt x="12814" y="0"/>
                  <a:pt x="28575" y="0"/>
                </a:cubicBezTo>
                <a:cubicBezTo>
                  <a:pt x="39157" y="0"/>
                  <a:pt x="48399" y="5760"/>
                  <a:pt x="53310" y="14288"/>
                </a:cubicBezTo>
                <a:lnTo>
                  <a:pt x="203820" y="14288"/>
                </a:lnTo>
                <a:cubicBezTo>
                  <a:pt x="208776" y="5760"/>
                  <a:pt x="217974" y="0"/>
                  <a:pt x="228555" y="0"/>
                </a:cubicBezTo>
                <a:cubicBezTo>
                  <a:pt x="244316" y="0"/>
                  <a:pt x="257130" y="12814"/>
                  <a:pt x="257130" y="28575"/>
                </a:cubicBezTo>
                <a:cubicBezTo>
                  <a:pt x="257130" y="39157"/>
                  <a:pt x="251371" y="48399"/>
                  <a:pt x="242843" y="53310"/>
                </a:cubicBezTo>
                <a:lnTo>
                  <a:pt x="242843" y="175245"/>
                </a:lnTo>
                <a:cubicBezTo>
                  <a:pt x="251371" y="180201"/>
                  <a:pt x="257130" y="189399"/>
                  <a:pt x="257130" y="199980"/>
                </a:cubicBezTo>
                <a:cubicBezTo>
                  <a:pt x="257130" y="215741"/>
                  <a:pt x="244316" y="228555"/>
                  <a:pt x="228555" y="228555"/>
                </a:cubicBezTo>
                <a:cubicBezTo>
                  <a:pt x="217974" y="228555"/>
                  <a:pt x="208731" y="222796"/>
                  <a:pt x="203820" y="214268"/>
                </a:cubicBezTo>
                <a:lnTo>
                  <a:pt x="53310" y="214268"/>
                </a:lnTo>
                <a:cubicBezTo>
                  <a:pt x="48354" y="222796"/>
                  <a:pt x="39157" y="228555"/>
                  <a:pt x="28575" y="228555"/>
                </a:cubicBezTo>
                <a:cubicBezTo>
                  <a:pt x="12814" y="228555"/>
                  <a:pt x="0" y="215741"/>
                  <a:pt x="0" y="199980"/>
                </a:cubicBezTo>
                <a:cubicBezTo>
                  <a:pt x="0" y="189399"/>
                  <a:pt x="5760" y="180156"/>
                  <a:pt x="14287" y="175245"/>
                </a:cubicBezTo>
                <a:lnTo>
                  <a:pt x="14287" y="53310"/>
                </a:lnTo>
                <a:close/>
                <a:moveTo>
                  <a:pt x="214313" y="53310"/>
                </a:moveTo>
                <a:cubicBezTo>
                  <a:pt x="209982" y="50810"/>
                  <a:pt x="206365" y="47193"/>
                  <a:pt x="203865" y="42863"/>
                </a:cubicBezTo>
                <a:lnTo>
                  <a:pt x="53310" y="42863"/>
                </a:lnTo>
                <a:cubicBezTo>
                  <a:pt x="50810" y="47193"/>
                  <a:pt x="47193" y="50810"/>
                  <a:pt x="42863" y="53310"/>
                </a:cubicBezTo>
                <a:lnTo>
                  <a:pt x="42863" y="175245"/>
                </a:lnTo>
                <a:cubicBezTo>
                  <a:pt x="47193" y="177745"/>
                  <a:pt x="50810" y="181362"/>
                  <a:pt x="53310" y="185693"/>
                </a:cubicBezTo>
                <a:lnTo>
                  <a:pt x="203820" y="185693"/>
                </a:lnTo>
                <a:cubicBezTo>
                  <a:pt x="206320" y="181362"/>
                  <a:pt x="209937" y="177745"/>
                  <a:pt x="214268" y="175245"/>
                </a:cubicBezTo>
                <a:lnTo>
                  <a:pt x="214268" y="53310"/>
                </a:lnTo>
                <a:close/>
                <a:moveTo>
                  <a:pt x="64294" y="78581"/>
                </a:moveTo>
                <a:cubicBezTo>
                  <a:pt x="64294" y="70678"/>
                  <a:pt x="70678" y="64294"/>
                  <a:pt x="78581" y="64294"/>
                </a:cubicBezTo>
                <a:lnTo>
                  <a:pt x="128588" y="64294"/>
                </a:lnTo>
                <a:cubicBezTo>
                  <a:pt x="136490" y="64294"/>
                  <a:pt x="142875" y="70678"/>
                  <a:pt x="142875" y="78581"/>
                </a:cubicBezTo>
                <a:lnTo>
                  <a:pt x="142875" y="107156"/>
                </a:lnTo>
                <a:cubicBezTo>
                  <a:pt x="142875" y="115059"/>
                  <a:pt x="136490" y="121444"/>
                  <a:pt x="128588" y="121444"/>
                </a:cubicBezTo>
                <a:lnTo>
                  <a:pt x="78581" y="121444"/>
                </a:lnTo>
                <a:cubicBezTo>
                  <a:pt x="70678" y="121444"/>
                  <a:pt x="64294" y="115059"/>
                  <a:pt x="64294" y="107156"/>
                </a:cubicBezTo>
                <a:lnTo>
                  <a:pt x="64294" y="78581"/>
                </a:lnTo>
                <a:close/>
                <a:moveTo>
                  <a:pt x="114300" y="142875"/>
                </a:moveTo>
                <a:lnTo>
                  <a:pt x="128588" y="142875"/>
                </a:lnTo>
                <a:cubicBezTo>
                  <a:pt x="148322" y="142875"/>
                  <a:pt x="164306" y="126891"/>
                  <a:pt x="164306" y="107156"/>
                </a:cubicBezTo>
                <a:lnTo>
                  <a:pt x="178594" y="107156"/>
                </a:lnTo>
                <a:cubicBezTo>
                  <a:pt x="186497" y="107156"/>
                  <a:pt x="192881" y="113541"/>
                  <a:pt x="192881" y="121444"/>
                </a:cubicBezTo>
                <a:lnTo>
                  <a:pt x="192881" y="150019"/>
                </a:lnTo>
                <a:cubicBezTo>
                  <a:pt x="192881" y="157922"/>
                  <a:pt x="186497" y="164306"/>
                  <a:pt x="178594" y="164306"/>
                </a:cubicBezTo>
                <a:lnTo>
                  <a:pt x="128588" y="164306"/>
                </a:lnTo>
                <a:cubicBezTo>
                  <a:pt x="120685" y="164306"/>
                  <a:pt x="114300" y="157922"/>
                  <a:pt x="114300" y="150019"/>
                </a:cubicBezTo>
                <a:lnTo>
                  <a:pt x="114300" y="142875"/>
                </a:ln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991350" y="1524000"/>
            <a:ext cx="4762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Object Detection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991350" y="1866900"/>
            <a:ext cx="47434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FFD5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Combined:</a:t>
            </a:r>
            <a:r>
              <a:rPr lang="en-US" sz="1200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Detecting multiple objects with their locations and classes.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991350" y="2190750"/>
            <a:ext cx="4743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Example:</a:t>
            </a:r>
            <a:r>
              <a:rPr lang="en-US" sz="1200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Finding all cars, pedestrians, bikes in an image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991350" y="2495550"/>
            <a:ext cx="4667250" cy="381000"/>
          </a:xfrm>
          <a:custGeom>
            <a:avLst/>
            <a:gdLst/>
            <a:ahLst/>
            <a:cxnLst/>
            <a:rect l="l" t="t" r="r" b="b"/>
            <a:pathLst>
              <a:path w="4667250" h="381000">
                <a:moveTo>
                  <a:pt x="38100" y="0"/>
                </a:moveTo>
                <a:lnTo>
                  <a:pt x="4629150" y="0"/>
                </a:lnTo>
                <a:cubicBezTo>
                  <a:pt x="4650178" y="0"/>
                  <a:pt x="4667250" y="17072"/>
                  <a:pt x="4667250" y="38100"/>
                </a:cubicBezTo>
                <a:lnTo>
                  <a:pt x="4667250" y="342900"/>
                </a:lnTo>
                <a:cubicBezTo>
                  <a:pt x="4667250" y="363928"/>
                  <a:pt x="4650178" y="381000"/>
                  <a:pt x="4629150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991350" y="2495550"/>
            <a:ext cx="4743450" cy="3810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Input: Image → Output: Multiple boxes + classes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210300" y="3143250"/>
            <a:ext cx="5600700" cy="1657350"/>
          </a:xfrm>
          <a:custGeom>
            <a:avLst/>
            <a:gdLst/>
            <a:ahLst/>
            <a:cxnLst/>
            <a:rect l="l" t="t" r="r" b="b"/>
            <a:pathLst>
              <a:path w="5600700" h="1657350">
                <a:moveTo>
                  <a:pt x="38100" y="0"/>
                </a:moveTo>
                <a:lnTo>
                  <a:pt x="5486393" y="0"/>
                </a:lnTo>
                <a:cubicBezTo>
                  <a:pt x="5549523" y="0"/>
                  <a:pt x="5600700" y="51177"/>
                  <a:pt x="5600700" y="114307"/>
                </a:cubicBezTo>
                <a:lnTo>
                  <a:pt x="5600700" y="1543043"/>
                </a:lnTo>
                <a:cubicBezTo>
                  <a:pt x="5600700" y="1606173"/>
                  <a:pt x="5549523" y="1657350"/>
                  <a:pt x="5486393" y="1657350"/>
                </a:cubicBezTo>
                <a:lnTo>
                  <a:pt x="38100" y="1657350"/>
                </a:lnTo>
                <a:cubicBezTo>
                  <a:pt x="17072" y="1657350"/>
                  <a:pt x="0" y="1640278"/>
                  <a:pt x="0" y="16192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63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210300" y="3143250"/>
            <a:ext cx="38100" cy="1657350"/>
          </a:xfrm>
          <a:custGeom>
            <a:avLst/>
            <a:gdLst/>
            <a:ahLst/>
            <a:cxnLst/>
            <a:rect l="l" t="t" r="r" b="b"/>
            <a:pathLst>
              <a:path w="38100" h="1657350">
                <a:moveTo>
                  <a:pt x="38100" y="0"/>
                </a:moveTo>
                <a:lnTo>
                  <a:pt x="38100" y="0"/>
                </a:lnTo>
                <a:lnTo>
                  <a:pt x="38100" y="1657350"/>
                </a:lnTo>
                <a:lnTo>
                  <a:pt x="38100" y="1657350"/>
                </a:lnTo>
                <a:cubicBezTo>
                  <a:pt x="17072" y="1657350"/>
                  <a:pt x="0" y="1640278"/>
                  <a:pt x="0" y="16192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D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381750" y="32956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FD54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496050" y="34099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00013" y="0"/>
                </a:moveTo>
                <a:cubicBezTo>
                  <a:pt x="115773" y="0"/>
                  <a:pt x="128588" y="9599"/>
                  <a:pt x="128588" y="21431"/>
                </a:cubicBezTo>
                <a:cubicBezTo>
                  <a:pt x="128588" y="26075"/>
                  <a:pt x="126623" y="30361"/>
                  <a:pt x="123230" y="33888"/>
                </a:cubicBezTo>
                <a:cubicBezTo>
                  <a:pt x="120283" y="36969"/>
                  <a:pt x="117872" y="40719"/>
                  <a:pt x="117872" y="45006"/>
                </a:cubicBezTo>
                <a:cubicBezTo>
                  <a:pt x="117872" y="51703"/>
                  <a:pt x="123319" y="57150"/>
                  <a:pt x="130016" y="57150"/>
                </a:cubicBezTo>
                <a:lnTo>
                  <a:pt x="150019" y="57150"/>
                </a:lnTo>
                <a:cubicBezTo>
                  <a:pt x="161851" y="57150"/>
                  <a:pt x="171450" y="66749"/>
                  <a:pt x="171450" y="78581"/>
                </a:cubicBezTo>
                <a:lnTo>
                  <a:pt x="171450" y="98584"/>
                </a:lnTo>
                <a:cubicBezTo>
                  <a:pt x="171450" y="105281"/>
                  <a:pt x="176897" y="110728"/>
                  <a:pt x="183594" y="110728"/>
                </a:cubicBezTo>
                <a:cubicBezTo>
                  <a:pt x="187836" y="110728"/>
                  <a:pt x="191631" y="108317"/>
                  <a:pt x="194712" y="105370"/>
                </a:cubicBezTo>
                <a:cubicBezTo>
                  <a:pt x="198239" y="102022"/>
                  <a:pt x="202525" y="100013"/>
                  <a:pt x="207169" y="100013"/>
                </a:cubicBezTo>
                <a:cubicBezTo>
                  <a:pt x="219001" y="100013"/>
                  <a:pt x="228600" y="112827"/>
                  <a:pt x="228600" y="128588"/>
                </a:cubicBezTo>
                <a:cubicBezTo>
                  <a:pt x="228600" y="144348"/>
                  <a:pt x="219001" y="157163"/>
                  <a:pt x="207169" y="157163"/>
                </a:cubicBezTo>
                <a:cubicBezTo>
                  <a:pt x="202525" y="157163"/>
                  <a:pt x="198194" y="155198"/>
                  <a:pt x="194712" y="151805"/>
                </a:cubicBezTo>
                <a:cubicBezTo>
                  <a:pt x="191631" y="148858"/>
                  <a:pt x="187881" y="146447"/>
                  <a:pt x="183594" y="146447"/>
                </a:cubicBezTo>
                <a:cubicBezTo>
                  <a:pt x="176897" y="146447"/>
                  <a:pt x="171450" y="151894"/>
                  <a:pt x="171450" y="158591"/>
                </a:cubicBezTo>
                <a:lnTo>
                  <a:pt x="171450" y="207169"/>
                </a:lnTo>
                <a:cubicBezTo>
                  <a:pt x="171450" y="219001"/>
                  <a:pt x="161851" y="228600"/>
                  <a:pt x="150019" y="228600"/>
                </a:cubicBezTo>
                <a:lnTo>
                  <a:pt x="124658" y="228600"/>
                </a:lnTo>
                <a:cubicBezTo>
                  <a:pt x="118943" y="228600"/>
                  <a:pt x="114300" y="223957"/>
                  <a:pt x="114300" y="218242"/>
                </a:cubicBezTo>
                <a:cubicBezTo>
                  <a:pt x="114300" y="214134"/>
                  <a:pt x="116890" y="210517"/>
                  <a:pt x="120194" y="208062"/>
                </a:cubicBezTo>
                <a:cubicBezTo>
                  <a:pt x="125373" y="204177"/>
                  <a:pt x="128588" y="198819"/>
                  <a:pt x="128588" y="192881"/>
                </a:cubicBezTo>
                <a:cubicBezTo>
                  <a:pt x="128588" y="181049"/>
                  <a:pt x="115773" y="171450"/>
                  <a:pt x="100013" y="171450"/>
                </a:cubicBezTo>
                <a:cubicBezTo>
                  <a:pt x="84252" y="171450"/>
                  <a:pt x="71438" y="181049"/>
                  <a:pt x="71438" y="192881"/>
                </a:cubicBezTo>
                <a:cubicBezTo>
                  <a:pt x="71438" y="198819"/>
                  <a:pt x="74652" y="204177"/>
                  <a:pt x="79831" y="208062"/>
                </a:cubicBezTo>
                <a:cubicBezTo>
                  <a:pt x="83135" y="210517"/>
                  <a:pt x="85725" y="214089"/>
                  <a:pt x="85725" y="218242"/>
                </a:cubicBezTo>
                <a:cubicBezTo>
                  <a:pt x="85725" y="223957"/>
                  <a:pt x="81082" y="228600"/>
                  <a:pt x="75367" y="228600"/>
                </a:cubicBezTo>
                <a:lnTo>
                  <a:pt x="21431" y="228600"/>
                </a:lnTo>
                <a:cubicBezTo>
                  <a:pt x="9599" y="228600"/>
                  <a:pt x="0" y="219001"/>
                  <a:pt x="0" y="207169"/>
                </a:cubicBezTo>
                <a:lnTo>
                  <a:pt x="0" y="153233"/>
                </a:lnTo>
                <a:cubicBezTo>
                  <a:pt x="0" y="147518"/>
                  <a:pt x="4643" y="142875"/>
                  <a:pt x="10358" y="142875"/>
                </a:cubicBezTo>
                <a:cubicBezTo>
                  <a:pt x="14466" y="142875"/>
                  <a:pt x="18083" y="145465"/>
                  <a:pt x="20538" y="148769"/>
                </a:cubicBezTo>
                <a:cubicBezTo>
                  <a:pt x="24423" y="153948"/>
                  <a:pt x="29781" y="157163"/>
                  <a:pt x="35719" y="157163"/>
                </a:cubicBezTo>
                <a:cubicBezTo>
                  <a:pt x="47551" y="157163"/>
                  <a:pt x="57150" y="144348"/>
                  <a:pt x="57150" y="128588"/>
                </a:cubicBezTo>
                <a:cubicBezTo>
                  <a:pt x="57150" y="112827"/>
                  <a:pt x="47551" y="100013"/>
                  <a:pt x="35719" y="100013"/>
                </a:cubicBezTo>
                <a:cubicBezTo>
                  <a:pt x="29781" y="100013"/>
                  <a:pt x="24423" y="103227"/>
                  <a:pt x="20538" y="108406"/>
                </a:cubicBezTo>
                <a:cubicBezTo>
                  <a:pt x="18083" y="111710"/>
                  <a:pt x="14511" y="114300"/>
                  <a:pt x="10358" y="114300"/>
                </a:cubicBezTo>
                <a:cubicBezTo>
                  <a:pt x="4643" y="114300"/>
                  <a:pt x="0" y="109657"/>
                  <a:pt x="0" y="103942"/>
                </a:cubicBezTo>
                <a:lnTo>
                  <a:pt x="0" y="78581"/>
                </a:lnTo>
                <a:cubicBezTo>
                  <a:pt x="0" y="66749"/>
                  <a:pt x="9599" y="57150"/>
                  <a:pt x="21431" y="57150"/>
                </a:cubicBezTo>
                <a:lnTo>
                  <a:pt x="70009" y="57150"/>
                </a:lnTo>
                <a:cubicBezTo>
                  <a:pt x="76706" y="57150"/>
                  <a:pt x="82153" y="51703"/>
                  <a:pt x="82153" y="45006"/>
                </a:cubicBezTo>
                <a:cubicBezTo>
                  <a:pt x="82153" y="40764"/>
                  <a:pt x="79742" y="36969"/>
                  <a:pt x="76795" y="33888"/>
                </a:cubicBezTo>
                <a:cubicBezTo>
                  <a:pt x="73447" y="30361"/>
                  <a:pt x="71438" y="26075"/>
                  <a:pt x="71438" y="21431"/>
                </a:cubicBezTo>
                <a:cubicBezTo>
                  <a:pt x="71438" y="9599"/>
                  <a:pt x="84252" y="0"/>
                  <a:pt x="100013" y="0"/>
                </a:cubicBezTo>
                <a:close/>
              </a:path>
            </a:pathLst>
          </a:custGeom>
          <a:solidFill>
            <a:srgbClr val="FFD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991350" y="3295650"/>
            <a:ext cx="4762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Image Segmentation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991350" y="3638550"/>
            <a:ext cx="47434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FFD5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Pixel-level:</a:t>
            </a:r>
            <a:r>
              <a:rPr lang="en-US" sz="1200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Dividing image into segments at pixel level.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991350" y="3962400"/>
            <a:ext cx="4743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Types:</a:t>
            </a:r>
            <a:r>
              <a:rPr lang="en-US" sz="1200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Semantic (classes) vs Instance (individual objects)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991350" y="4267200"/>
            <a:ext cx="4667250" cy="381000"/>
          </a:xfrm>
          <a:custGeom>
            <a:avLst/>
            <a:gdLst/>
            <a:ahLst/>
            <a:cxnLst/>
            <a:rect l="l" t="t" r="r" b="b"/>
            <a:pathLst>
              <a:path w="4667250" h="381000">
                <a:moveTo>
                  <a:pt x="38100" y="0"/>
                </a:moveTo>
                <a:lnTo>
                  <a:pt x="4629150" y="0"/>
                </a:lnTo>
                <a:cubicBezTo>
                  <a:pt x="4650178" y="0"/>
                  <a:pt x="4667250" y="17072"/>
                  <a:pt x="4667250" y="38100"/>
                </a:cubicBezTo>
                <a:lnTo>
                  <a:pt x="4667250" y="342900"/>
                </a:lnTo>
                <a:cubicBezTo>
                  <a:pt x="4667250" y="363928"/>
                  <a:pt x="4650178" y="381000"/>
                  <a:pt x="4629150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991350" y="4267200"/>
            <a:ext cx="4743450" cy="3810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Input: Image → Output: Pixel mask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384810" y="4956810"/>
            <a:ext cx="11418570" cy="541020"/>
          </a:xfrm>
          <a:custGeom>
            <a:avLst/>
            <a:gdLst/>
            <a:ahLst/>
            <a:cxnLst/>
            <a:rect l="l" t="t" r="r" b="b"/>
            <a:pathLst>
              <a:path w="11418570" h="541020">
                <a:moveTo>
                  <a:pt x="114301" y="0"/>
                </a:moveTo>
                <a:lnTo>
                  <a:pt x="11304269" y="0"/>
                </a:lnTo>
                <a:cubicBezTo>
                  <a:pt x="11367396" y="0"/>
                  <a:pt x="11418570" y="51174"/>
                  <a:pt x="11418570" y="114301"/>
                </a:cubicBezTo>
                <a:lnTo>
                  <a:pt x="11418570" y="426719"/>
                </a:lnTo>
                <a:cubicBezTo>
                  <a:pt x="11418570" y="489846"/>
                  <a:pt x="11367396" y="541020"/>
                  <a:pt x="11304269" y="541020"/>
                </a:cubicBezTo>
                <a:lnTo>
                  <a:pt x="114301" y="541020"/>
                </a:lnTo>
                <a:cubicBezTo>
                  <a:pt x="51174" y="541020"/>
                  <a:pt x="0" y="489846"/>
                  <a:pt x="0" y="42671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4DB6AC">
              <a:alpha val="10196"/>
            </a:srgbClr>
          </a:solidFill>
          <a:ln w="10160">
            <a:solidFill>
              <a:srgbClr val="4DB6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579120" y="514350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87184" y="114300"/>
                </a:moveTo>
                <a:cubicBezTo>
                  <a:pt x="89356" y="107662"/>
                  <a:pt x="93702" y="101650"/>
                  <a:pt x="98614" y="96470"/>
                </a:cubicBezTo>
                <a:cubicBezTo>
                  <a:pt x="108347" y="86231"/>
                  <a:pt x="114300" y="72390"/>
                  <a:pt x="114300" y="57150"/>
                </a:cubicBezTo>
                <a:cubicBezTo>
                  <a:pt x="114300" y="25598"/>
                  <a:pt x="88702" y="0"/>
                  <a:pt x="57150" y="0"/>
                </a:cubicBezTo>
                <a:cubicBezTo>
                  <a:pt x="25598" y="0"/>
                  <a:pt x="0" y="25598"/>
                  <a:pt x="0" y="57150"/>
                </a:cubicBezTo>
                <a:cubicBezTo>
                  <a:pt x="0" y="72390"/>
                  <a:pt x="5953" y="86231"/>
                  <a:pt x="15686" y="96470"/>
                </a:cubicBezTo>
                <a:cubicBezTo>
                  <a:pt x="20598" y="101650"/>
                  <a:pt x="24973" y="107662"/>
                  <a:pt x="27116" y="114300"/>
                </a:cubicBezTo>
                <a:lnTo>
                  <a:pt x="87154" y="114300"/>
                </a:lnTo>
                <a:close/>
                <a:moveTo>
                  <a:pt x="85725" y="128588"/>
                </a:moveTo>
                <a:lnTo>
                  <a:pt x="28575" y="128588"/>
                </a:lnTo>
                <a:lnTo>
                  <a:pt x="28575" y="133350"/>
                </a:lnTo>
                <a:cubicBezTo>
                  <a:pt x="28575" y="146506"/>
                  <a:pt x="39231" y="157163"/>
                  <a:pt x="52388" y="157163"/>
                </a:cubicBezTo>
                <a:lnTo>
                  <a:pt x="61912" y="157163"/>
                </a:lnTo>
                <a:cubicBezTo>
                  <a:pt x="75069" y="157163"/>
                  <a:pt x="85725" y="146506"/>
                  <a:pt x="85725" y="133350"/>
                </a:cubicBezTo>
                <a:lnTo>
                  <a:pt x="85725" y="128588"/>
                </a:lnTo>
                <a:close/>
                <a:moveTo>
                  <a:pt x="54769" y="33338"/>
                </a:moveTo>
                <a:cubicBezTo>
                  <a:pt x="42922" y="33338"/>
                  <a:pt x="33338" y="42922"/>
                  <a:pt x="33338" y="54769"/>
                </a:cubicBezTo>
                <a:cubicBezTo>
                  <a:pt x="33338" y="58728"/>
                  <a:pt x="30153" y="61912"/>
                  <a:pt x="26194" y="61912"/>
                </a:cubicBezTo>
                <a:cubicBezTo>
                  <a:pt x="22235" y="61912"/>
                  <a:pt x="19050" y="58728"/>
                  <a:pt x="19050" y="54769"/>
                </a:cubicBezTo>
                <a:cubicBezTo>
                  <a:pt x="19050" y="35034"/>
                  <a:pt x="35034" y="19050"/>
                  <a:pt x="54769" y="19050"/>
                </a:cubicBezTo>
                <a:cubicBezTo>
                  <a:pt x="58728" y="19050"/>
                  <a:pt x="61912" y="22235"/>
                  <a:pt x="61912" y="26194"/>
                </a:cubicBezTo>
                <a:cubicBezTo>
                  <a:pt x="61912" y="30153"/>
                  <a:pt x="58728" y="33338"/>
                  <a:pt x="54769" y="33338"/>
                </a:cubicBezTo>
                <a:close/>
              </a:path>
            </a:pathLst>
          </a:custGeom>
          <a:solidFill>
            <a:srgbClr val="FFD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788670" y="5113020"/>
            <a:ext cx="10934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D5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Insight:</a:t>
            </a:r>
            <a:r>
              <a:rPr lang="en-US" sz="1200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Object Detection = Classification + Localization for multiple objects. YOLO does this in a single forward pass!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7783" y="367783"/>
            <a:ext cx="11529991" cy="22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58" b="1" kern="0" spc="58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DETECTOR COMPARISON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7783" y="662009"/>
            <a:ext cx="11621937" cy="367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06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Two-Stage vs One-Stage Detectors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7783" y="1195294"/>
            <a:ext cx="5654661" cy="4689231"/>
          </a:xfrm>
          <a:custGeom>
            <a:avLst/>
            <a:gdLst/>
            <a:ahLst/>
            <a:cxnLst/>
            <a:rect l="l" t="t" r="r" b="b"/>
            <a:pathLst>
              <a:path w="5654661" h="4689231">
                <a:moveTo>
                  <a:pt x="36778" y="0"/>
                </a:moveTo>
                <a:lnTo>
                  <a:pt x="5617882" y="0"/>
                </a:lnTo>
                <a:cubicBezTo>
                  <a:pt x="5638194" y="0"/>
                  <a:pt x="5654661" y="16466"/>
                  <a:pt x="5654661" y="36778"/>
                </a:cubicBezTo>
                <a:lnTo>
                  <a:pt x="5654661" y="4578893"/>
                </a:lnTo>
                <a:cubicBezTo>
                  <a:pt x="5654661" y="4639831"/>
                  <a:pt x="5605261" y="4689231"/>
                  <a:pt x="5544323" y="4689231"/>
                </a:cubicBezTo>
                <a:lnTo>
                  <a:pt x="110338" y="4689231"/>
                </a:lnTo>
                <a:cubicBezTo>
                  <a:pt x="49400" y="4689231"/>
                  <a:pt x="0" y="4639831"/>
                  <a:pt x="0" y="4578893"/>
                </a:cubicBezTo>
                <a:lnTo>
                  <a:pt x="0" y="36778"/>
                </a:lnTo>
                <a:cubicBezTo>
                  <a:pt x="0" y="16480"/>
                  <a:pt x="16480" y="0"/>
                  <a:pt x="36778" y="0"/>
                </a:cubicBezTo>
                <a:close/>
              </a:path>
            </a:pathLst>
          </a:custGeom>
          <a:solidFill>
            <a:srgbClr val="263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7783" y="1195294"/>
            <a:ext cx="5654661" cy="36778"/>
          </a:xfrm>
          <a:custGeom>
            <a:avLst/>
            <a:gdLst/>
            <a:ahLst/>
            <a:cxnLst/>
            <a:rect l="l" t="t" r="r" b="b"/>
            <a:pathLst>
              <a:path w="5654661" h="36778">
                <a:moveTo>
                  <a:pt x="36778" y="0"/>
                </a:moveTo>
                <a:lnTo>
                  <a:pt x="5617882" y="0"/>
                </a:lnTo>
                <a:cubicBezTo>
                  <a:pt x="5638194" y="0"/>
                  <a:pt x="5654661" y="16466"/>
                  <a:pt x="5654661" y="36778"/>
                </a:cubicBezTo>
                <a:lnTo>
                  <a:pt x="5654661" y="36778"/>
                </a:lnTo>
                <a:lnTo>
                  <a:pt x="0" y="36778"/>
                </a:lnTo>
                <a:lnTo>
                  <a:pt x="0" y="36778"/>
                </a:lnTo>
                <a:cubicBezTo>
                  <a:pt x="0" y="16480"/>
                  <a:pt x="16480" y="0"/>
                  <a:pt x="36778" y="0"/>
                </a:cubicBezTo>
                <a:close/>
              </a:path>
            </a:pathLst>
          </a:custGeom>
          <a:solidFill>
            <a:srgbClr val="7890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14896" y="1360796"/>
            <a:ext cx="514896" cy="514896"/>
          </a:xfrm>
          <a:custGeom>
            <a:avLst/>
            <a:gdLst/>
            <a:ahLst/>
            <a:cxnLst/>
            <a:rect l="l" t="t" r="r" b="b"/>
            <a:pathLst>
              <a:path w="514896" h="514896">
                <a:moveTo>
                  <a:pt x="110337" y="0"/>
                </a:moveTo>
                <a:lnTo>
                  <a:pt x="404559" y="0"/>
                </a:lnTo>
                <a:cubicBezTo>
                  <a:pt x="465456" y="0"/>
                  <a:pt x="514896" y="49440"/>
                  <a:pt x="514896" y="110337"/>
                </a:cubicBezTo>
                <a:lnTo>
                  <a:pt x="514896" y="404559"/>
                </a:lnTo>
                <a:cubicBezTo>
                  <a:pt x="514896" y="465456"/>
                  <a:pt x="465456" y="514896"/>
                  <a:pt x="404559" y="514896"/>
                </a:cubicBezTo>
                <a:lnTo>
                  <a:pt x="110337" y="514896"/>
                </a:lnTo>
                <a:cubicBezTo>
                  <a:pt x="49440" y="514896"/>
                  <a:pt x="0" y="465456"/>
                  <a:pt x="0" y="404559"/>
                </a:cubicBezTo>
                <a:lnTo>
                  <a:pt x="0" y="110337"/>
                </a:lnTo>
                <a:cubicBezTo>
                  <a:pt x="0" y="49440"/>
                  <a:pt x="49440" y="0"/>
                  <a:pt x="110337" y="0"/>
                </a:cubicBezTo>
                <a:close/>
              </a:path>
            </a:pathLst>
          </a:custGeom>
          <a:solidFill>
            <a:srgbClr val="78909C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36724" y="1480326"/>
            <a:ext cx="275837" cy="275837"/>
          </a:xfrm>
          <a:custGeom>
            <a:avLst/>
            <a:gdLst/>
            <a:ahLst/>
            <a:cxnLst/>
            <a:rect l="l" t="t" r="r" b="b"/>
            <a:pathLst>
              <a:path w="275837" h="275837">
                <a:moveTo>
                  <a:pt x="125258" y="2801"/>
                </a:moveTo>
                <a:cubicBezTo>
                  <a:pt x="133285" y="-916"/>
                  <a:pt x="142552" y="-916"/>
                  <a:pt x="150579" y="2801"/>
                </a:cubicBezTo>
                <a:lnTo>
                  <a:pt x="268349" y="57215"/>
                </a:lnTo>
                <a:cubicBezTo>
                  <a:pt x="272928" y="59316"/>
                  <a:pt x="275837" y="63895"/>
                  <a:pt x="275837" y="68959"/>
                </a:cubicBezTo>
                <a:cubicBezTo>
                  <a:pt x="275837" y="74023"/>
                  <a:pt x="272928" y="78603"/>
                  <a:pt x="268349" y="80704"/>
                </a:cubicBezTo>
                <a:lnTo>
                  <a:pt x="150579" y="135117"/>
                </a:lnTo>
                <a:cubicBezTo>
                  <a:pt x="142552" y="138834"/>
                  <a:pt x="133285" y="138834"/>
                  <a:pt x="125258" y="135117"/>
                </a:cubicBezTo>
                <a:lnTo>
                  <a:pt x="7489" y="80704"/>
                </a:lnTo>
                <a:cubicBezTo>
                  <a:pt x="2909" y="78549"/>
                  <a:pt x="0" y="73970"/>
                  <a:pt x="0" y="68959"/>
                </a:cubicBezTo>
                <a:cubicBezTo>
                  <a:pt x="0" y="63949"/>
                  <a:pt x="2909" y="59316"/>
                  <a:pt x="7489" y="57215"/>
                </a:cubicBezTo>
                <a:lnTo>
                  <a:pt x="125258" y="2801"/>
                </a:lnTo>
                <a:close/>
                <a:moveTo>
                  <a:pt x="25914" y="117662"/>
                </a:moveTo>
                <a:lnTo>
                  <a:pt x="114429" y="158552"/>
                </a:lnTo>
                <a:cubicBezTo>
                  <a:pt x="129353" y="165448"/>
                  <a:pt x="146538" y="165448"/>
                  <a:pt x="161462" y="158552"/>
                </a:cubicBezTo>
                <a:lnTo>
                  <a:pt x="249977" y="117662"/>
                </a:lnTo>
                <a:lnTo>
                  <a:pt x="268349" y="126174"/>
                </a:lnTo>
                <a:cubicBezTo>
                  <a:pt x="272928" y="128275"/>
                  <a:pt x="275837" y="132854"/>
                  <a:pt x="275837" y="137919"/>
                </a:cubicBezTo>
                <a:cubicBezTo>
                  <a:pt x="275837" y="142983"/>
                  <a:pt x="272928" y="147562"/>
                  <a:pt x="268349" y="149663"/>
                </a:cubicBezTo>
                <a:lnTo>
                  <a:pt x="150579" y="204076"/>
                </a:lnTo>
                <a:cubicBezTo>
                  <a:pt x="142552" y="207794"/>
                  <a:pt x="133285" y="207794"/>
                  <a:pt x="125258" y="204076"/>
                </a:cubicBezTo>
                <a:lnTo>
                  <a:pt x="7489" y="149663"/>
                </a:lnTo>
                <a:cubicBezTo>
                  <a:pt x="2909" y="147508"/>
                  <a:pt x="0" y="142929"/>
                  <a:pt x="0" y="137919"/>
                </a:cubicBezTo>
                <a:cubicBezTo>
                  <a:pt x="0" y="132908"/>
                  <a:pt x="2909" y="128275"/>
                  <a:pt x="7489" y="126174"/>
                </a:cubicBezTo>
                <a:lnTo>
                  <a:pt x="25860" y="117662"/>
                </a:lnTo>
                <a:close/>
                <a:moveTo>
                  <a:pt x="7489" y="195133"/>
                </a:moveTo>
                <a:lnTo>
                  <a:pt x="25860" y="186621"/>
                </a:lnTo>
                <a:lnTo>
                  <a:pt x="114375" y="227512"/>
                </a:lnTo>
                <a:cubicBezTo>
                  <a:pt x="129299" y="234408"/>
                  <a:pt x="146485" y="234408"/>
                  <a:pt x="161408" y="227512"/>
                </a:cubicBezTo>
                <a:lnTo>
                  <a:pt x="249924" y="186621"/>
                </a:lnTo>
                <a:lnTo>
                  <a:pt x="268295" y="195133"/>
                </a:lnTo>
                <a:cubicBezTo>
                  <a:pt x="272874" y="197234"/>
                  <a:pt x="275783" y="201814"/>
                  <a:pt x="275783" y="206878"/>
                </a:cubicBezTo>
                <a:cubicBezTo>
                  <a:pt x="275783" y="211942"/>
                  <a:pt x="272874" y="216521"/>
                  <a:pt x="268295" y="218622"/>
                </a:cubicBezTo>
                <a:lnTo>
                  <a:pt x="150525" y="273036"/>
                </a:lnTo>
                <a:cubicBezTo>
                  <a:pt x="142498" y="276753"/>
                  <a:pt x="133231" y="276753"/>
                  <a:pt x="125204" y="273036"/>
                </a:cubicBezTo>
                <a:lnTo>
                  <a:pt x="7489" y="218622"/>
                </a:lnTo>
                <a:cubicBezTo>
                  <a:pt x="2909" y="216467"/>
                  <a:pt x="0" y="211888"/>
                  <a:pt x="0" y="206878"/>
                </a:cubicBezTo>
                <a:cubicBezTo>
                  <a:pt x="0" y="201868"/>
                  <a:pt x="2909" y="197234"/>
                  <a:pt x="7489" y="195133"/>
                </a:cubicBezTo>
                <a:close/>
              </a:path>
            </a:pathLst>
          </a:custGeom>
          <a:solidFill>
            <a:srgbClr val="7890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140127" y="1360796"/>
            <a:ext cx="2344615" cy="294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38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Two-Stage Detectors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0127" y="1654908"/>
            <a:ext cx="2307837" cy="22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58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R-CNN, Fast R-CNN, Faster R-CNN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14896" y="1986027"/>
            <a:ext cx="5360434" cy="1029792"/>
          </a:xfrm>
          <a:custGeom>
            <a:avLst/>
            <a:gdLst/>
            <a:ahLst/>
            <a:cxnLst/>
            <a:rect l="l" t="t" r="r" b="b"/>
            <a:pathLst>
              <a:path w="5360434" h="1029792">
                <a:moveTo>
                  <a:pt x="73558" y="0"/>
                </a:moveTo>
                <a:lnTo>
                  <a:pt x="5286876" y="0"/>
                </a:lnTo>
                <a:cubicBezTo>
                  <a:pt x="5327501" y="0"/>
                  <a:pt x="5360434" y="32933"/>
                  <a:pt x="5360434" y="73558"/>
                </a:cubicBezTo>
                <a:lnTo>
                  <a:pt x="5360434" y="956234"/>
                </a:lnTo>
                <a:cubicBezTo>
                  <a:pt x="5360434" y="996859"/>
                  <a:pt x="5327501" y="1029792"/>
                  <a:pt x="5286876" y="1029792"/>
                </a:cubicBezTo>
                <a:lnTo>
                  <a:pt x="73558" y="1029792"/>
                </a:lnTo>
                <a:cubicBezTo>
                  <a:pt x="32933" y="1029792"/>
                  <a:pt x="0" y="996859"/>
                  <a:pt x="0" y="956234"/>
                </a:cubicBezTo>
                <a:lnTo>
                  <a:pt x="0" y="73558"/>
                </a:lnTo>
                <a:cubicBezTo>
                  <a:pt x="0" y="32960"/>
                  <a:pt x="32960" y="0"/>
                  <a:pt x="73558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48217" y="2140496"/>
            <a:ext cx="165502" cy="165502"/>
          </a:xfrm>
          <a:custGeom>
            <a:avLst/>
            <a:gdLst/>
            <a:ahLst/>
            <a:cxnLst/>
            <a:rect l="l" t="t" r="r" b="b"/>
            <a:pathLst>
              <a:path w="165502" h="165502">
                <a:moveTo>
                  <a:pt x="63065" y="3071"/>
                </a:moveTo>
                <a:cubicBezTo>
                  <a:pt x="64035" y="-1713"/>
                  <a:pt x="68270" y="-5172"/>
                  <a:pt x="73183" y="-5172"/>
                </a:cubicBezTo>
                <a:lnTo>
                  <a:pt x="92513" y="-5172"/>
                </a:lnTo>
                <a:cubicBezTo>
                  <a:pt x="97427" y="-5172"/>
                  <a:pt x="101661" y="-1713"/>
                  <a:pt x="102631" y="3071"/>
                </a:cubicBezTo>
                <a:lnTo>
                  <a:pt x="107318" y="25698"/>
                </a:lnTo>
                <a:cubicBezTo>
                  <a:pt x="111876" y="27638"/>
                  <a:pt x="116143" y="30127"/>
                  <a:pt x="120021" y="33068"/>
                </a:cubicBezTo>
                <a:lnTo>
                  <a:pt x="141938" y="25795"/>
                </a:lnTo>
                <a:cubicBezTo>
                  <a:pt x="146592" y="24243"/>
                  <a:pt x="151700" y="26183"/>
                  <a:pt x="154156" y="30450"/>
                </a:cubicBezTo>
                <a:lnTo>
                  <a:pt x="163821" y="47194"/>
                </a:lnTo>
                <a:cubicBezTo>
                  <a:pt x="166278" y="51461"/>
                  <a:pt x="165405" y="56827"/>
                  <a:pt x="161720" y="60092"/>
                </a:cubicBezTo>
                <a:lnTo>
                  <a:pt x="144491" y="75413"/>
                </a:lnTo>
                <a:cubicBezTo>
                  <a:pt x="144782" y="77805"/>
                  <a:pt x="144911" y="80262"/>
                  <a:pt x="144911" y="82751"/>
                </a:cubicBezTo>
                <a:cubicBezTo>
                  <a:pt x="144911" y="85240"/>
                  <a:pt x="144750" y="87697"/>
                  <a:pt x="144491" y="90089"/>
                </a:cubicBezTo>
                <a:lnTo>
                  <a:pt x="161753" y="105443"/>
                </a:lnTo>
                <a:cubicBezTo>
                  <a:pt x="165438" y="108708"/>
                  <a:pt x="166278" y="114106"/>
                  <a:pt x="163854" y="118341"/>
                </a:cubicBezTo>
                <a:lnTo>
                  <a:pt x="154189" y="135085"/>
                </a:lnTo>
                <a:cubicBezTo>
                  <a:pt x="151732" y="139319"/>
                  <a:pt x="146625" y="141291"/>
                  <a:pt x="141970" y="139740"/>
                </a:cubicBezTo>
                <a:lnTo>
                  <a:pt x="120054" y="132466"/>
                </a:lnTo>
                <a:cubicBezTo>
                  <a:pt x="116143" y="135408"/>
                  <a:pt x="111876" y="137865"/>
                  <a:pt x="107350" y="139836"/>
                </a:cubicBezTo>
                <a:lnTo>
                  <a:pt x="102695" y="162431"/>
                </a:lnTo>
                <a:cubicBezTo>
                  <a:pt x="101693" y="167248"/>
                  <a:pt x="97459" y="170674"/>
                  <a:pt x="92578" y="170674"/>
                </a:cubicBezTo>
                <a:lnTo>
                  <a:pt x="73248" y="170674"/>
                </a:lnTo>
                <a:cubicBezTo>
                  <a:pt x="68334" y="170674"/>
                  <a:pt x="64100" y="167215"/>
                  <a:pt x="63130" y="162431"/>
                </a:cubicBezTo>
                <a:lnTo>
                  <a:pt x="58475" y="139836"/>
                </a:lnTo>
                <a:cubicBezTo>
                  <a:pt x="53918" y="137897"/>
                  <a:pt x="49683" y="135408"/>
                  <a:pt x="45772" y="132466"/>
                </a:cubicBezTo>
                <a:lnTo>
                  <a:pt x="23759" y="139740"/>
                </a:lnTo>
                <a:cubicBezTo>
                  <a:pt x="19104" y="141291"/>
                  <a:pt x="13997" y="139352"/>
                  <a:pt x="11540" y="135085"/>
                </a:cubicBezTo>
                <a:lnTo>
                  <a:pt x="1875" y="118341"/>
                </a:lnTo>
                <a:cubicBezTo>
                  <a:pt x="-582" y="114074"/>
                  <a:pt x="291" y="108708"/>
                  <a:pt x="3976" y="105443"/>
                </a:cubicBezTo>
                <a:lnTo>
                  <a:pt x="21237" y="90089"/>
                </a:lnTo>
                <a:cubicBezTo>
                  <a:pt x="20946" y="87697"/>
                  <a:pt x="20817" y="85240"/>
                  <a:pt x="20817" y="82751"/>
                </a:cubicBezTo>
                <a:cubicBezTo>
                  <a:pt x="20817" y="80262"/>
                  <a:pt x="20979" y="77805"/>
                  <a:pt x="21237" y="75413"/>
                </a:cubicBezTo>
                <a:lnTo>
                  <a:pt x="3976" y="60059"/>
                </a:lnTo>
                <a:cubicBezTo>
                  <a:pt x="291" y="56794"/>
                  <a:pt x="-550" y="51396"/>
                  <a:pt x="1875" y="47162"/>
                </a:cubicBezTo>
                <a:lnTo>
                  <a:pt x="11540" y="30418"/>
                </a:lnTo>
                <a:cubicBezTo>
                  <a:pt x="13997" y="26151"/>
                  <a:pt x="19104" y="24211"/>
                  <a:pt x="23759" y="25763"/>
                </a:cubicBezTo>
                <a:lnTo>
                  <a:pt x="45675" y="33036"/>
                </a:lnTo>
                <a:cubicBezTo>
                  <a:pt x="49586" y="30094"/>
                  <a:pt x="53853" y="27638"/>
                  <a:pt x="58378" y="25666"/>
                </a:cubicBezTo>
                <a:lnTo>
                  <a:pt x="63065" y="3071"/>
                </a:lnTo>
                <a:close/>
                <a:moveTo>
                  <a:pt x="82848" y="108611"/>
                </a:moveTo>
                <a:cubicBezTo>
                  <a:pt x="92087" y="108576"/>
                  <a:pt x="100605" y="103615"/>
                  <a:pt x="105195" y="95597"/>
                </a:cubicBezTo>
                <a:cubicBezTo>
                  <a:pt x="109784" y="87579"/>
                  <a:pt x="109747" y="77721"/>
                  <a:pt x="105098" y="69737"/>
                </a:cubicBezTo>
                <a:cubicBezTo>
                  <a:pt x="100448" y="61754"/>
                  <a:pt x="91893" y="56857"/>
                  <a:pt x="82654" y="56891"/>
                </a:cubicBezTo>
                <a:cubicBezTo>
                  <a:pt x="73415" y="56926"/>
                  <a:pt x="64897" y="61887"/>
                  <a:pt x="60307" y="69905"/>
                </a:cubicBezTo>
                <a:cubicBezTo>
                  <a:pt x="55718" y="77924"/>
                  <a:pt x="55755" y="87781"/>
                  <a:pt x="60404" y="95765"/>
                </a:cubicBezTo>
                <a:cubicBezTo>
                  <a:pt x="65054" y="103749"/>
                  <a:pt x="73609" y="108646"/>
                  <a:pt x="82848" y="108611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89960" y="2096362"/>
            <a:ext cx="4957787" cy="257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3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25231" y="2427367"/>
            <a:ext cx="5213321" cy="22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58" b="1" dirty="0">
                <a:solidFill>
                  <a:srgbClr val="FFD5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Stage 1:</a:t>
            </a:r>
            <a:r>
              <a:rPr lang="en-US" sz="1158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Generate region proposals (RPN - Region Proposal Network)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25231" y="2684814"/>
            <a:ext cx="5213321" cy="22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58" b="1" dirty="0">
                <a:solidFill>
                  <a:srgbClr val="FFD5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Stage 2:</a:t>
            </a:r>
            <a:r>
              <a:rPr lang="en-US" sz="1158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Classify each region + refine bounding boxes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14896" y="3089376"/>
            <a:ext cx="5360434" cy="1287240"/>
          </a:xfrm>
          <a:custGeom>
            <a:avLst/>
            <a:gdLst/>
            <a:ahLst/>
            <a:cxnLst/>
            <a:rect l="l" t="t" r="r" b="b"/>
            <a:pathLst>
              <a:path w="5360434" h="1287240">
                <a:moveTo>
                  <a:pt x="73553" y="0"/>
                </a:moveTo>
                <a:lnTo>
                  <a:pt x="5286882" y="0"/>
                </a:lnTo>
                <a:cubicBezTo>
                  <a:pt x="5327504" y="0"/>
                  <a:pt x="5360434" y="32931"/>
                  <a:pt x="5360434" y="73553"/>
                </a:cubicBezTo>
                <a:lnTo>
                  <a:pt x="5360434" y="1213687"/>
                </a:lnTo>
                <a:cubicBezTo>
                  <a:pt x="5360434" y="1254309"/>
                  <a:pt x="5327504" y="1287240"/>
                  <a:pt x="5286882" y="1287240"/>
                </a:cubicBezTo>
                <a:lnTo>
                  <a:pt x="73553" y="1287240"/>
                </a:lnTo>
                <a:cubicBezTo>
                  <a:pt x="32931" y="1287240"/>
                  <a:pt x="0" y="1254309"/>
                  <a:pt x="0" y="1213687"/>
                </a:cubicBezTo>
                <a:lnTo>
                  <a:pt x="0" y="73553"/>
                </a:lnTo>
                <a:cubicBezTo>
                  <a:pt x="0" y="32958"/>
                  <a:pt x="32958" y="0"/>
                  <a:pt x="73553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48217" y="3243845"/>
            <a:ext cx="165502" cy="165502"/>
          </a:xfrm>
          <a:custGeom>
            <a:avLst/>
            <a:gdLst/>
            <a:ahLst/>
            <a:cxnLst/>
            <a:rect l="l" t="t" r="r" b="b"/>
            <a:pathLst>
              <a:path w="165502" h="165502">
                <a:moveTo>
                  <a:pt x="82751" y="165502"/>
                </a:moveTo>
                <a:cubicBezTo>
                  <a:pt x="128423" y="165502"/>
                  <a:pt x="165502" y="128423"/>
                  <a:pt x="165502" y="82751"/>
                </a:cubicBezTo>
                <a:cubicBezTo>
                  <a:pt x="165502" y="37080"/>
                  <a:pt x="128423" y="0"/>
                  <a:pt x="82751" y="0"/>
                </a:cubicBezTo>
                <a:cubicBezTo>
                  <a:pt x="37080" y="0"/>
                  <a:pt x="0" y="37080"/>
                  <a:pt x="0" y="82751"/>
                </a:cubicBezTo>
                <a:cubicBezTo>
                  <a:pt x="0" y="128423"/>
                  <a:pt x="37080" y="165502"/>
                  <a:pt x="82751" y="165502"/>
                </a:cubicBezTo>
                <a:close/>
                <a:moveTo>
                  <a:pt x="110033" y="68755"/>
                </a:moveTo>
                <a:lnTo>
                  <a:pt x="84173" y="110130"/>
                </a:lnTo>
                <a:cubicBezTo>
                  <a:pt x="82816" y="112296"/>
                  <a:pt x="80488" y="113654"/>
                  <a:pt x="77935" y="113783"/>
                </a:cubicBezTo>
                <a:cubicBezTo>
                  <a:pt x="75381" y="113912"/>
                  <a:pt x="72924" y="112748"/>
                  <a:pt x="71405" y="110680"/>
                </a:cubicBezTo>
                <a:lnTo>
                  <a:pt x="55889" y="89992"/>
                </a:lnTo>
                <a:cubicBezTo>
                  <a:pt x="53303" y="86565"/>
                  <a:pt x="54015" y="81717"/>
                  <a:pt x="57441" y="79131"/>
                </a:cubicBezTo>
                <a:cubicBezTo>
                  <a:pt x="60867" y="76545"/>
                  <a:pt x="65716" y="77256"/>
                  <a:pt x="68302" y="80682"/>
                </a:cubicBezTo>
                <a:lnTo>
                  <a:pt x="77030" y="92319"/>
                </a:lnTo>
                <a:lnTo>
                  <a:pt x="96877" y="60544"/>
                </a:lnTo>
                <a:cubicBezTo>
                  <a:pt x="99140" y="56924"/>
                  <a:pt x="103924" y="55792"/>
                  <a:pt x="107576" y="58087"/>
                </a:cubicBezTo>
                <a:cubicBezTo>
                  <a:pt x="111229" y="60382"/>
                  <a:pt x="112328" y="65134"/>
                  <a:pt x="110033" y="68787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89960" y="3199710"/>
            <a:ext cx="4957787" cy="257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3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52814" y="3567493"/>
            <a:ext cx="128724" cy="147113"/>
          </a:xfrm>
          <a:custGeom>
            <a:avLst/>
            <a:gdLst/>
            <a:ahLst/>
            <a:cxnLst/>
            <a:rect l="l" t="t" r="r" b="b"/>
            <a:pathLst>
              <a:path w="128724" h="147113">
                <a:moveTo>
                  <a:pt x="73557" y="18389"/>
                </a:moveTo>
                <a:cubicBezTo>
                  <a:pt x="73557" y="13303"/>
                  <a:pt x="69448" y="9195"/>
                  <a:pt x="64362" y="9195"/>
                </a:cubicBezTo>
                <a:cubicBezTo>
                  <a:pt x="59276" y="9195"/>
                  <a:pt x="55167" y="13303"/>
                  <a:pt x="55167" y="18389"/>
                </a:cubicBezTo>
                <a:lnTo>
                  <a:pt x="55167" y="64362"/>
                </a:lnTo>
                <a:lnTo>
                  <a:pt x="9195" y="64362"/>
                </a:lnTo>
                <a:cubicBezTo>
                  <a:pt x="4109" y="64362"/>
                  <a:pt x="0" y="68471"/>
                  <a:pt x="0" y="73557"/>
                </a:cubicBezTo>
                <a:cubicBezTo>
                  <a:pt x="0" y="78642"/>
                  <a:pt x="4109" y="82751"/>
                  <a:pt x="9195" y="82751"/>
                </a:cubicBezTo>
                <a:lnTo>
                  <a:pt x="55167" y="82751"/>
                </a:lnTo>
                <a:lnTo>
                  <a:pt x="55167" y="128724"/>
                </a:lnTo>
                <a:cubicBezTo>
                  <a:pt x="55167" y="133810"/>
                  <a:pt x="59276" y="137919"/>
                  <a:pt x="64362" y="137919"/>
                </a:cubicBezTo>
                <a:cubicBezTo>
                  <a:pt x="69448" y="137919"/>
                  <a:pt x="73557" y="133810"/>
                  <a:pt x="73557" y="128724"/>
                </a:cubicBezTo>
                <a:lnTo>
                  <a:pt x="73557" y="82751"/>
                </a:lnTo>
                <a:lnTo>
                  <a:pt x="119529" y="82751"/>
                </a:lnTo>
                <a:cubicBezTo>
                  <a:pt x="124615" y="82751"/>
                  <a:pt x="128724" y="78642"/>
                  <a:pt x="128724" y="73557"/>
                </a:cubicBezTo>
                <a:cubicBezTo>
                  <a:pt x="128724" y="68471"/>
                  <a:pt x="124615" y="64362"/>
                  <a:pt x="119529" y="64362"/>
                </a:cubicBezTo>
                <a:lnTo>
                  <a:pt x="73557" y="64362"/>
                </a:lnTo>
                <a:lnTo>
                  <a:pt x="73557" y="18389"/>
                </a:ln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82679" y="3530715"/>
            <a:ext cx="2960652" cy="22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58" b="1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Higher accuracy</a:t>
            </a:r>
            <a:r>
              <a:rPr lang="en-US" sz="1158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especially for small objects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52814" y="3824941"/>
            <a:ext cx="128724" cy="147113"/>
          </a:xfrm>
          <a:custGeom>
            <a:avLst/>
            <a:gdLst/>
            <a:ahLst/>
            <a:cxnLst/>
            <a:rect l="l" t="t" r="r" b="b"/>
            <a:pathLst>
              <a:path w="128724" h="147113">
                <a:moveTo>
                  <a:pt x="73557" y="18389"/>
                </a:moveTo>
                <a:cubicBezTo>
                  <a:pt x="73557" y="13303"/>
                  <a:pt x="69448" y="9195"/>
                  <a:pt x="64362" y="9195"/>
                </a:cubicBezTo>
                <a:cubicBezTo>
                  <a:pt x="59276" y="9195"/>
                  <a:pt x="55167" y="13303"/>
                  <a:pt x="55167" y="18389"/>
                </a:cubicBezTo>
                <a:lnTo>
                  <a:pt x="55167" y="64362"/>
                </a:lnTo>
                <a:lnTo>
                  <a:pt x="9195" y="64362"/>
                </a:lnTo>
                <a:cubicBezTo>
                  <a:pt x="4109" y="64362"/>
                  <a:pt x="0" y="68471"/>
                  <a:pt x="0" y="73557"/>
                </a:cubicBezTo>
                <a:cubicBezTo>
                  <a:pt x="0" y="78642"/>
                  <a:pt x="4109" y="82751"/>
                  <a:pt x="9195" y="82751"/>
                </a:cubicBezTo>
                <a:lnTo>
                  <a:pt x="55167" y="82751"/>
                </a:lnTo>
                <a:lnTo>
                  <a:pt x="55167" y="128724"/>
                </a:lnTo>
                <a:cubicBezTo>
                  <a:pt x="55167" y="133810"/>
                  <a:pt x="59276" y="137919"/>
                  <a:pt x="64362" y="137919"/>
                </a:cubicBezTo>
                <a:cubicBezTo>
                  <a:pt x="69448" y="137919"/>
                  <a:pt x="73557" y="133810"/>
                  <a:pt x="73557" y="128724"/>
                </a:cubicBezTo>
                <a:lnTo>
                  <a:pt x="73557" y="82751"/>
                </a:lnTo>
                <a:lnTo>
                  <a:pt x="119529" y="82751"/>
                </a:lnTo>
                <a:cubicBezTo>
                  <a:pt x="124615" y="82751"/>
                  <a:pt x="128724" y="78642"/>
                  <a:pt x="128724" y="73557"/>
                </a:cubicBezTo>
                <a:cubicBezTo>
                  <a:pt x="128724" y="68471"/>
                  <a:pt x="124615" y="64362"/>
                  <a:pt x="119529" y="64362"/>
                </a:cubicBezTo>
                <a:lnTo>
                  <a:pt x="73557" y="64362"/>
                </a:lnTo>
                <a:lnTo>
                  <a:pt x="73557" y="18389"/>
                </a:ln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82679" y="3788163"/>
            <a:ext cx="2831928" cy="22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58" b="1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Fewer false positives</a:t>
            </a:r>
            <a:r>
              <a:rPr lang="en-US" sz="1158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refined classification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52814" y="4082389"/>
            <a:ext cx="128724" cy="147113"/>
          </a:xfrm>
          <a:custGeom>
            <a:avLst/>
            <a:gdLst/>
            <a:ahLst/>
            <a:cxnLst/>
            <a:rect l="l" t="t" r="r" b="b"/>
            <a:pathLst>
              <a:path w="128724" h="147113">
                <a:moveTo>
                  <a:pt x="73557" y="18389"/>
                </a:moveTo>
                <a:cubicBezTo>
                  <a:pt x="73557" y="13303"/>
                  <a:pt x="69448" y="9195"/>
                  <a:pt x="64362" y="9195"/>
                </a:cubicBezTo>
                <a:cubicBezTo>
                  <a:pt x="59276" y="9195"/>
                  <a:pt x="55167" y="13303"/>
                  <a:pt x="55167" y="18389"/>
                </a:cubicBezTo>
                <a:lnTo>
                  <a:pt x="55167" y="64362"/>
                </a:lnTo>
                <a:lnTo>
                  <a:pt x="9195" y="64362"/>
                </a:lnTo>
                <a:cubicBezTo>
                  <a:pt x="4109" y="64362"/>
                  <a:pt x="0" y="68471"/>
                  <a:pt x="0" y="73557"/>
                </a:cubicBezTo>
                <a:cubicBezTo>
                  <a:pt x="0" y="78642"/>
                  <a:pt x="4109" y="82751"/>
                  <a:pt x="9195" y="82751"/>
                </a:cubicBezTo>
                <a:lnTo>
                  <a:pt x="55167" y="82751"/>
                </a:lnTo>
                <a:lnTo>
                  <a:pt x="55167" y="128724"/>
                </a:lnTo>
                <a:cubicBezTo>
                  <a:pt x="55167" y="133810"/>
                  <a:pt x="59276" y="137919"/>
                  <a:pt x="64362" y="137919"/>
                </a:cubicBezTo>
                <a:cubicBezTo>
                  <a:pt x="69448" y="137919"/>
                  <a:pt x="73557" y="133810"/>
                  <a:pt x="73557" y="128724"/>
                </a:cubicBezTo>
                <a:lnTo>
                  <a:pt x="73557" y="82751"/>
                </a:lnTo>
                <a:lnTo>
                  <a:pt x="119529" y="82751"/>
                </a:lnTo>
                <a:cubicBezTo>
                  <a:pt x="124615" y="82751"/>
                  <a:pt x="128724" y="78642"/>
                  <a:pt x="128724" y="73557"/>
                </a:cubicBezTo>
                <a:cubicBezTo>
                  <a:pt x="128724" y="68471"/>
                  <a:pt x="124615" y="64362"/>
                  <a:pt x="119529" y="64362"/>
                </a:cubicBezTo>
                <a:lnTo>
                  <a:pt x="73557" y="64362"/>
                </a:lnTo>
                <a:lnTo>
                  <a:pt x="73557" y="18389"/>
                </a:ln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82679" y="4045611"/>
            <a:ext cx="3015819" cy="22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58" b="1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Flexible</a:t>
            </a:r>
            <a:r>
              <a:rPr lang="en-US" sz="1158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can add mask branch (Mask R-CNN)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14896" y="4450172"/>
            <a:ext cx="5360434" cy="1287240"/>
          </a:xfrm>
          <a:custGeom>
            <a:avLst/>
            <a:gdLst/>
            <a:ahLst/>
            <a:cxnLst/>
            <a:rect l="l" t="t" r="r" b="b"/>
            <a:pathLst>
              <a:path w="5360434" h="1287240">
                <a:moveTo>
                  <a:pt x="73553" y="0"/>
                </a:moveTo>
                <a:lnTo>
                  <a:pt x="5286882" y="0"/>
                </a:lnTo>
                <a:cubicBezTo>
                  <a:pt x="5327504" y="0"/>
                  <a:pt x="5360434" y="32931"/>
                  <a:pt x="5360434" y="73553"/>
                </a:cubicBezTo>
                <a:lnTo>
                  <a:pt x="5360434" y="1213687"/>
                </a:lnTo>
                <a:cubicBezTo>
                  <a:pt x="5360434" y="1254309"/>
                  <a:pt x="5327504" y="1287240"/>
                  <a:pt x="5286882" y="1287240"/>
                </a:cubicBezTo>
                <a:lnTo>
                  <a:pt x="73553" y="1287240"/>
                </a:lnTo>
                <a:cubicBezTo>
                  <a:pt x="32931" y="1287240"/>
                  <a:pt x="0" y="1254309"/>
                  <a:pt x="0" y="1213687"/>
                </a:cubicBezTo>
                <a:lnTo>
                  <a:pt x="0" y="73553"/>
                </a:lnTo>
                <a:cubicBezTo>
                  <a:pt x="0" y="32958"/>
                  <a:pt x="32958" y="0"/>
                  <a:pt x="73553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48217" y="4604641"/>
            <a:ext cx="165502" cy="165502"/>
          </a:xfrm>
          <a:custGeom>
            <a:avLst/>
            <a:gdLst/>
            <a:ahLst/>
            <a:cxnLst/>
            <a:rect l="l" t="t" r="r" b="b"/>
            <a:pathLst>
              <a:path w="165502" h="165502">
                <a:moveTo>
                  <a:pt x="82751" y="165502"/>
                </a:moveTo>
                <a:cubicBezTo>
                  <a:pt x="128423" y="165502"/>
                  <a:pt x="165502" y="128423"/>
                  <a:pt x="165502" y="82751"/>
                </a:cubicBezTo>
                <a:cubicBezTo>
                  <a:pt x="165502" y="37080"/>
                  <a:pt x="128423" y="0"/>
                  <a:pt x="82751" y="0"/>
                </a:cubicBezTo>
                <a:cubicBezTo>
                  <a:pt x="37080" y="0"/>
                  <a:pt x="0" y="37080"/>
                  <a:pt x="0" y="82751"/>
                </a:cubicBezTo>
                <a:cubicBezTo>
                  <a:pt x="0" y="128423"/>
                  <a:pt x="37080" y="165502"/>
                  <a:pt x="82751" y="165502"/>
                </a:cubicBezTo>
                <a:close/>
                <a:moveTo>
                  <a:pt x="53982" y="53982"/>
                </a:moveTo>
                <a:cubicBezTo>
                  <a:pt x="57021" y="50944"/>
                  <a:pt x="61934" y="50944"/>
                  <a:pt x="64940" y="53982"/>
                </a:cubicBezTo>
                <a:lnTo>
                  <a:pt x="82719" y="71761"/>
                </a:lnTo>
                <a:lnTo>
                  <a:pt x="100497" y="53982"/>
                </a:lnTo>
                <a:cubicBezTo>
                  <a:pt x="103536" y="50944"/>
                  <a:pt x="108449" y="50944"/>
                  <a:pt x="111455" y="53982"/>
                </a:cubicBezTo>
                <a:cubicBezTo>
                  <a:pt x="114462" y="57021"/>
                  <a:pt x="114494" y="61934"/>
                  <a:pt x="111455" y="64940"/>
                </a:cubicBezTo>
                <a:lnTo>
                  <a:pt x="93677" y="82719"/>
                </a:lnTo>
                <a:lnTo>
                  <a:pt x="111455" y="100497"/>
                </a:lnTo>
                <a:cubicBezTo>
                  <a:pt x="114494" y="103536"/>
                  <a:pt x="114494" y="108449"/>
                  <a:pt x="111455" y="111455"/>
                </a:cubicBezTo>
                <a:cubicBezTo>
                  <a:pt x="108417" y="114462"/>
                  <a:pt x="103504" y="114494"/>
                  <a:pt x="100497" y="111455"/>
                </a:cubicBezTo>
                <a:lnTo>
                  <a:pt x="82719" y="93677"/>
                </a:lnTo>
                <a:lnTo>
                  <a:pt x="64940" y="111455"/>
                </a:lnTo>
                <a:cubicBezTo>
                  <a:pt x="61902" y="114494"/>
                  <a:pt x="56988" y="114494"/>
                  <a:pt x="53982" y="111455"/>
                </a:cubicBezTo>
                <a:cubicBezTo>
                  <a:pt x="50976" y="108417"/>
                  <a:pt x="50944" y="103504"/>
                  <a:pt x="53982" y="100497"/>
                </a:cubicBezTo>
                <a:lnTo>
                  <a:pt x="71761" y="82719"/>
                </a:lnTo>
                <a:lnTo>
                  <a:pt x="53982" y="64940"/>
                </a:lnTo>
                <a:cubicBezTo>
                  <a:pt x="50944" y="61902"/>
                  <a:pt x="50944" y="56988"/>
                  <a:pt x="53982" y="53982"/>
                </a:cubicBezTo>
                <a:close/>
              </a:path>
            </a:pathLst>
          </a:custGeom>
          <a:solidFill>
            <a:srgbClr val="FFD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89960" y="4560507"/>
            <a:ext cx="4957787" cy="257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3" b="1" dirty="0">
                <a:solidFill>
                  <a:srgbClr val="FFD5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52814" y="4928290"/>
            <a:ext cx="128724" cy="147113"/>
          </a:xfrm>
          <a:custGeom>
            <a:avLst/>
            <a:gdLst/>
            <a:ahLst/>
            <a:cxnLst/>
            <a:rect l="l" t="t" r="r" b="b"/>
            <a:pathLst>
              <a:path w="128724" h="147113">
                <a:moveTo>
                  <a:pt x="0" y="73557"/>
                </a:moveTo>
                <a:cubicBezTo>
                  <a:pt x="0" y="68471"/>
                  <a:pt x="4109" y="64362"/>
                  <a:pt x="9195" y="64362"/>
                </a:cubicBezTo>
                <a:lnTo>
                  <a:pt x="119529" y="64362"/>
                </a:lnTo>
                <a:cubicBezTo>
                  <a:pt x="124615" y="64362"/>
                  <a:pt x="128724" y="68471"/>
                  <a:pt x="128724" y="73557"/>
                </a:cubicBezTo>
                <a:cubicBezTo>
                  <a:pt x="128724" y="78642"/>
                  <a:pt x="124615" y="82751"/>
                  <a:pt x="119529" y="82751"/>
                </a:cubicBezTo>
                <a:lnTo>
                  <a:pt x="9195" y="82751"/>
                </a:lnTo>
                <a:cubicBezTo>
                  <a:pt x="4109" y="82751"/>
                  <a:pt x="0" y="78642"/>
                  <a:pt x="0" y="73557"/>
                </a:cubicBezTo>
                <a:close/>
              </a:path>
            </a:pathLst>
          </a:custGeom>
          <a:solidFill>
            <a:srgbClr val="FFD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82679" y="4891511"/>
            <a:ext cx="1765357" cy="22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58" b="1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Slower</a:t>
            </a:r>
            <a:r>
              <a:rPr lang="en-US" sz="1158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- 5-20 FPS on GPU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52814" y="5185738"/>
            <a:ext cx="128724" cy="147113"/>
          </a:xfrm>
          <a:custGeom>
            <a:avLst/>
            <a:gdLst/>
            <a:ahLst/>
            <a:cxnLst/>
            <a:rect l="l" t="t" r="r" b="b"/>
            <a:pathLst>
              <a:path w="128724" h="147113">
                <a:moveTo>
                  <a:pt x="0" y="73557"/>
                </a:moveTo>
                <a:cubicBezTo>
                  <a:pt x="0" y="68471"/>
                  <a:pt x="4109" y="64362"/>
                  <a:pt x="9195" y="64362"/>
                </a:cubicBezTo>
                <a:lnTo>
                  <a:pt x="119529" y="64362"/>
                </a:lnTo>
                <a:cubicBezTo>
                  <a:pt x="124615" y="64362"/>
                  <a:pt x="128724" y="68471"/>
                  <a:pt x="128724" y="73557"/>
                </a:cubicBezTo>
                <a:cubicBezTo>
                  <a:pt x="128724" y="78642"/>
                  <a:pt x="124615" y="82751"/>
                  <a:pt x="119529" y="82751"/>
                </a:cubicBezTo>
                <a:lnTo>
                  <a:pt x="9195" y="82751"/>
                </a:lnTo>
                <a:cubicBezTo>
                  <a:pt x="4109" y="82751"/>
                  <a:pt x="0" y="78642"/>
                  <a:pt x="0" y="73557"/>
                </a:cubicBezTo>
                <a:close/>
              </a:path>
            </a:pathLst>
          </a:custGeom>
          <a:solidFill>
            <a:srgbClr val="FFD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82679" y="5148959"/>
            <a:ext cx="2749176" cy="22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58" b="1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Complex</a:t>
            </a:r>
            <a:r>
              <a:rPr lang="en-US" sz="1158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harder to optimize end-to-end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52814" y="5443186"/>
            <a:ext cx="128724" cy="147113"/>
          </a:xfrm>
          <a:custGeom>
            <a:avLst/>
            <a:gdLst/>
            <a:ahLst/>
            <a:cxnLst/>
            <a:rect l="l" t="t" r="r" b="b"/>
            <a:pathLst>
              <a:path w="128724" h="147113">
                <a:moveTo>
                  <a:pt x="0" y="73557"/>
                </a:moveTo>
                <a:cubicBezTo>
                  <a:pt x="0" y="68471"/>
                  <a:pt x="4109" y="64362"/>
                  <a:pt x="9195" y="64362"/>
                </a:cubicBezTo>
                <a:lnTo>
                  <a:pt x="119529" y="64362"/>
                </a:lnTo>
                <a:cubicBezTo>
                  <a:pt x="124615" y="64362"/>
                  <a:pt x="128724" y="68471"/>
                  <a:pt x="128724" y="73557"/>
                </a:cubicBezTo>
                <a:cubicBezTo>
                  <a:pt x="128724" y="78642"/>
                  <a:pt x="124615" y="82751"/>
                  <a:pt x="119529" y="82751"/>
                </a:cubicBezTo>
                <a:lnTo>
                  <a:pt x="9195" y="82751"/>
                </a:lnTo>
                <a:cubicBezTo>
                  <a:pt x="4109" y="82751"/>
                  <a:pt x="0" y="78642"/>
                  <a:pt x="0" y="73557"/>
                </a:cubicBezTo>
                <a:close/>
              </a:path>
            </a:pathLst>
          </a:custGeom>
          <a:solidFill>
            <a:srgbClr val="FFD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82679" y="5435829"/>
            <a:ext cx="1809721" cy="161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58" b="1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Region proposal bottleneck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170476" y="1195294"/>
            <a:ext cx="5654661" cy="4689231"/>
          </a:xfrm>
          <a:custGeom>
            <a:avLst/>
            <a:gdLst/>
            <a:ahLst/>
            <a:cxnLst/>
            <a:rect l="l" t="t" r="r" b="b"/>
            <a:pathLst>
              <a:path w="5654661" h="4689231">
                <a:moveTo>
                  <a:pt x="36778" y="0"/>
                </a:moveTo>
                <a:lnTo>
                  <a:pt x="5617882" y="0"/>
                </a:lnTo>
                <a:cubicBezTo>
                  <a:pt x="5638194" y="0"/>
                  <a:pt x="5654661" y="16466"/>
                  <a:pt x="5654661" y="36778"/>
                </a:cubicBezTo>
                <a:lnTo>
                  <a:pt x="5654661" y="4578893"/>
                </a:lnTo>
                <a:cubicBezTo>
                  <a:pt x="5654661" y="4639831"/>
                  <a:pt x="5605261" y="4689231"/>
                  <a:pt x="5544323" y="4689231"/>
                </a:cubicBezTo>
                <a:lnTo>
                  <a:pt x="110338" y="4689231"/>
                </a:lnTo>
                <a:cubicBezTo>
                  <a:pt x="49400" y="4689231"/>
                  <a:pt x="0" y="4639831"/>
                  <a:pt x="0" y="4578893"/>
                </a:cubicBezTo>
                <a:lnTo>
                  <a:pt x="0" y="36778"/>
                </a:lnTo>
                <a:cubicBezTo>
                  <a:pt x="0" y="16480"/>
                  <a:pt x="16480" y="0"/>
                  <a:pt x="36778" y="0"/>
                </a:cubicBezTo>
                <a:close/>
              </a:path>
            </a:pathLst>
          </a:custGeom>
          <a:solidFill>
            <a:srgbClr val="263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170476" y="1195294"/>
            <a:ext cx="5654661" cy="36778"/>
          </a:xfrm>
          <a:custGeom>
            <a:avLst/>
            <a:gdLst/>
            <a:ahLst/>
            <a:cxnLst/>
            <a:rect l="l" t="t" r="r" b="b"/>
            <a:pathLst>
              <a:path w="5654661" h="36778">
                <a:moveTo>
                  <a:pt x="36778" y="0"/>
                </a:moveTo>
                <a:lnTo>
                  <a:pt x="5617882" y="0"/>
                </a:lnTo>
                <a:cubicBezTo>
                  <a:pt x="5638194" y="0"/>
                  <a:pt x="5654661" y="16466"/>
                  <a:pt x="5654661" y="36778"/>
                </a:cubicBezTo>
                <a:lnTo>
                  <a:pt x="5654661" y="36778"/>
                </a:lnTo>
                <a:lnTo>
                  <a:pt x="0" y="36778"/>
                </a:lnTo>
                <a:lnTo>
                  <a:pt x="0" y="36778"/>
                </a:lnTo>
                <a:cubicBezTo>
                  <a:pt x="0" y="16480"/>
                  <a:pt x="16480" y="0"/>
                  <a:pt x="36778" y="0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317589" y="1360796"/>
            <a:ext cx="514896" cy="514896"/>
          </a:xfrm>
          <a:custGeom>
            <a:avLst/>
            <a:gdLst/>
            <a:ahLst/>
            <a:cxnLst/>
            <a:rect l="l" t="t" r="r" b="b"/>
            <a:pathLst>
              <a:path w="514896" h="514896">
                <a:moveTo>
                  <a:pt x="110337" y="0"/>
                </a:moveTo>
                <a:lnTo>
                  <a:pt x="404559" y="0"/>
                </a:lnTo>
                <a:cubicBezTo>
                  <a:pt x="465456" y="0"/>
                  <a:pt x="514896" y="49440"/>
                  <a:pt x="514896" y="110337"/>
                </a:cubicBezTo>
                <a:lnTo>
                  <a:pt x="514896" y="404559"/>
                </a:lnTo>
                <a:cubicBezTo>
                  <a:pt x="514896" y="465456"/>
                  <a:pt x="465456" y="514896"/>
                  <a:pt x="404559" y="514896"/>
                </a:cubicBezTo>
                <a:lnTo>
                  <a:pt x="110337" y="514896"/>
                </a:lnTo>
                <a:cubicBezTo>
                  <a:pt x="49440" y="514896"/>
                  <a:pt x="0" y="465456"/>
                  <a:pt x="0" y="404559"/>
                </a:cubicBezTo>
                <a:lnTo>
                  <a:pt x="0" y="110337"/>
                </a:lnTo>
                <a:cubicBezTo>
                  <a:pt x="0" y="49440"/>
                  <a:pt x="49440" y="0"/>
                  <a:pt x="110337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456657" y="1480326"/>
            <a:ext cx="241357" cy="275837"/>
          </a:xfrm>
          <a:custGeom>
            <a:avLst/>
            <a:gdLst/>
            <a:ahLst/>
            <a:cxnLst/>
            <a:rect l="l" t="t" r="r" b="b"/>
            <a:pathLst>
              <a:path w="241357" h="275837">
                <a:moveTo>
                  <a:pt x="182527" y="-5334"/>
                </a:moveTo>
                <a:cubicBezTo>
                  <a:pt x="188938" y="-700"/>
                  <a:pt x="191308" y="7704"/>
                  <a:pt x="188399" y="15031"/>
                </a:cubicBezTo>
                <a:lnTo>
                  <a:pt x="146161" y="120679"/>
                </a:lnTo>
                <a:lnTo>
                  <a:pt x="224118" y="120679"/>
                </a:lnTo>
                <a:cubicBezTo>
                  <a:pt x="231391" y="120679"/>
                  <a:pt x="237856" y="125204"/>
                  <a:pt x="240334" y="132046"/>
                </a:cubicBezTo>
                <a:cubicBezTo>
                  <a:pt x="242812" y="138888"/>
                  <a:pt x="240711" y="146538"/>
                  <a:pt x="235162" y="151172"/>
                </a:cubicBezTo>
                <a:lnTo>
                  <a:pt x="80004" y="280470"/>
                </a:lnTo>
                <a:cubicBezTo>
                  <a:pt x="73916" y="285535"/>
                  <a:pt x="65242" y="285804"/>
                  <a:pt x="58831" y="281171"/>
                </a:cubicBezTo>
                <a:cubicBezTo>
                  <a:pt x="52420" y="276537"/>
                  <a:pt x="50049" y="268133"/>
                  <a:pt x="52959" y="260806"/>
                </a:cubicBezTo>
                <a:lnTo>
                  <a:pt x="95196" y="155158"/>
                </a:lnTo>
                <a:lnTo>
                  <a:pt x="17240" y="155158"/>
                </a:lnTo>
                <a:cubicBezTo>
                  <a:pt x="9967" y="155158"/>
                  <a:pt x="3502" y="150633"/>
                  <a:pt x="1024" y="143791"/>
                </a:cubicBezTo>
                <a:cubicBezTo>
                  <a:pt x="-1455" y="136949"/>
                  <a:pt x="646" y="129299"/>
                  <a:pt x="6196" y="124665"/>
                </a:cubicBezTo>
                <a:lnTo>
                  <a:pt x="161354" y="-4633"/>
                </a:lnTo>
                <a:cubicBezTo>
                  <a:pt x="167442" y="-9697"/>
                  <a:pt x="176116" y="-9967"/>
                  <a:pt x="182527" y="-5334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942820" y="1360796"/>
            <a:ext cx="2169919" cy="294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38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One-Stage Detectors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942820" y="1654908"/>
            <a:ext cx="2133140" cy="22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58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YOLO, SSD, RetinaNet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317589" y="1986027"/>
            <a:ext cx="5360434" cy="1029792"/>
          </a:xfrm>
          <a:custGeom>
            <a:avLst/>
            <a:gdLst/>
            <a:ahLst/>
            <a:cxnLst/>
            <a:rect l="l" t="t" r="r" b="b"/>
            <a:pathLst>
              <a:path w="5360434" h="1029792">
                <a:moveTo>
                  <a:pt x="73558" y="0"/>
                </a:moveTo>
                <a:lnTo>
                  <a:pt x="5286876" y="0"/>
                </a:lnTo>
                <a:cubicBezTo>
                  <a:pt x="5327501" y="0"/>
                  <a:pt x="5360434" y="32933"/>
                  <a:pt x="5360434" y="73558"/>
                </a:cubicBezTo>
                <a:lnTo>
                  <a:pt x="5360434" y="956234"/>
                </a:lnTo>
                <a:cubicBezTo>
                  <a:pt x="5360434" y="996859"/>
                  <a:pt x="5327501" y="1029792"/>
                  <a:pt x="5286876" y="1029792"/>
                </a:cubicBezTo>
                <a:lnTo>
                  <a:pt x="73558" y="1029792"/>
                </a:lnTo>
                <a:cubicBezTo>
                  <a:pt x="32933" y="1029792"/>
                  <a:pt x="0" y="996859"/>
                  <a:pt x="0" y="956234"/>
                </a:cubicBezTo>
                <a:lnTo>
                  <a:pt x="0" y="73558"/>
                </a:lnTo>
                <a:cubicBezTo>
                  <a:pt x="0" y="32960"/>
                  <a:pt x="32960" y="0"/>
                  <a:pt x="73558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6450911" y="2140496"/>
            <a:ext cx="165502" cy="165502"/>
          </a:xfrm>
          <a:custGeom>
            <a:avLst/>
            <a:gdLst/>
            <a:ahLst/>
            <a:cxnLst/>
            <a:rect l="l" t="t" r="r" b="b"/>
            <a:pathLst>
              <a:path w="165502" h="165502">
                <a:moveTo>
                  <a:pt x="63065" y="3071"/>
                </a:moveTo>
                <a:cubicBezTo>
                  <a:pt x="64035" y="-1713"/>
                  <a:pt x="68270" y="-5172"/>
                  <a:pt x="73183" y="-5172"/>
                </a:cubicBezTo>
                <a:lnTo>
                  <a:pt x="92513" y="-5172"/>
                </a:lnTo>
                <a:cubicBezTo>
                  <a:pt x="97427" y="-5172"/>
                  <a:pt x="101661" y="-1713"/>
                  <a:pt x="102631" y="3071"/>
                </a:cubicBezTo>
                <a:lnTo>
                  <a:pt x="107318" y="25698"/>
                </a:lnTo>
                <a:cubicBezTo>
                  <a:pt x="111876" y="27638"/>
                  <a:pt x="116143" y="30127"/>
                  <a:pt x="120021" y="33068"/>
                </a:cubicBezTo>
                <a:lnTo>
                  <a:pt x="141938" y="25795"/>
                </a:lnTo>
                <a:cubicBezTo>
                  <a:pt x="146592" y="24243"/>
                  <a:pt x="151700" y="26183"/>
                  <a:pt x="154156" y="30450"/>
                </a:cubicBezTo>
                <a:lnTo>
                  <a:pt x="163821" y="47194"/>
                </a:lnTo>
                <a:cubicBezTo>
                  <a:pt x="166278" y="51461"/>
                  <a:pt x="165405" y="56827"/>
                  <a:pt x="161720" y="60092"/>
                </a:cubicBezTo>
                <a:lnTo>
                  <a:pt x="144491" y="75413"/>
                </a:lnTo>
                <a:cubicBezTo>
                  <a:pt x="144782" y="77805"/>
                  <a:pt x="144911" y="80262"/>
                  <a:pt x="144911" y="82751"/>
                </a:cubicBezTo>
                <a:cubicBezTo>
                  <a:pt x="144911" y="85240"/>
                  <a:pt x="144750" y="87697"/>
                  <a:pt x="144491" y="90089"/>
                </a:cubicBezTo>
                <a:lnTo>
                  <a:pt x="161753" y="105443"/>
                </a:lnTo>
                <a:cubicBezTo>
                  <a:pt x="165438" y="108708"/>
                  <a:pt x="166278" y="114106"/>
                  <a:pt x="163854" y="118341"/>
                </a:cubicBezTo>
                <a:lnTo>
                  <a:pt x="154189" y="135085"/>
                </a:lnTo>
                <a:cubicBezTo>
                  <a:pt x="151732" y="139319"/>
                  <a:pt x="146625" y="141291"/>
                  <a:pt x="141970" y="139740"/>
                </a:cubicBezTo>
                <a:lnTo>
                  <a:pt x="120054" y="132466"/>
                </a:lnTo>
                <a:cubicBezTo>
                  <a:pt x="116143" y="135408"/>
                  <a:pt x="111876" y="137865"/>
                  <a:pt x="107350" y="139836"/>
                </a:cubicBezTo>
                <a:lnTo>
                  <a:pt x="102695" y="162431"/>
                </a:lnTo>
                <a:cubicBezTo>
                  <a:pt x="101693" y="167248"/>
                  <a:pt x="97459" y="170674"/>
                  <a:pt x="92578" y="170674"/>
                </a:cubicBezTo>
                <a:lnTo>
                  <a:pt x="73248" y="170674"/>
                </a:lnTo>
                <a:cubicBezTo>
                  <a:pt x="68334" y="170674"/>
                  <a:pt x="64100" y="167215"/>
                  <a:pt x="63130" y="162431"/>
                </a:cubicBezTo>
                <a:lnTo>
                  <a:pt x="58475" y="139836"/>
                </a:lnTo>
                <a:cubicBezTo>
                  <a:pt x="53918" y="137897"/>
                  <a:pt x="49683" y="135408"/>
                  <a:pt x="45772" y="132466"/>
                </a:cubicBezTo>
                <a:lnTo>
                  <a:pt x="23759" y="139740"/>
                </a:lnTo>
                <a:cubicBezTo>
                  <a:pt x="19104" y="141291"/>
                  <a:pt x="13997" y="139352"/>
                  <a:pt x="11540" y="135085"/>
                </a:cubicBezTo>
                <a:lnTo>
                  <a:pt x="1875" y="118341"/>
                </a:lnTo>
                <a:cubicBezTo>
                  <a:pt x="-582" y="114074"/>
                  <a:pt x="291" y="108708"/>
                  <a:pt x="3976" y="105443"/>
                </a:cubicBezTo>
                <a:lnTo>
                  <a:pt x="21237" y="90089"/>
                </a:lnTo>
                <a:cubicBezTo>
                  <a:pt x="20946" y="87697"/>
                  <a:pt x="20817" y="85240"/>
                  <a:pt x="20817" y="82751"/>
                </a:cubicBezTo>
                <a:cubicBezTo>
                  <a:pt x="20817" y="80262"/>
                  <a:pt x="20979" y="77805"/>
                  <a:pt x="21237" y="75413"/>
                </a:cubicBezTo>
                <a:lnTo>
                  <a:pt x="3976" y="60059"/>
                </a:lnTo>
                <a:cubicBezTo>
                  <a:pt x="291" y="56794"/>
                  <a:pt x="-550" y="51396"/>
                  <a:pt x="1875" y="47162"/>
                </a:cubicBezTo>
                <a:lnTo>
                  <a:pt x="11540" y="30418"/>
                </a:lnTo>
                <a:cubicBezTo>
                  <a:pt x="13997" y="26151"/>
                  <a:pt x="19104" y="24211"/>
                  <a:pt x="23759" y="25763"/>
                </a:cubicBezTo>
                <a:lnTo>
                  <a:pt x="45675" y="33036"/>
                </a:lnTo>
                <a:cubicBezTo>
                  <a:pt x="49586" y="30094"/>
                  <a:pt x="53853" y="27638"/>
                  <a:pt x="58378" y="25666"/>
                </a:cubicBezTo>
                <a:lnTo>
                  <a:pt x="63065" y="3071"/>
                </a:lnTo>
                <a:close/>
                <a:moveTo>
                  <a:pt x="82848" y="108611"/>
                </a:moveTo>
                <a:cubicBezTo>
                  <a:pt x="92087" y="108576"/>
                  <a:pt x="100605" y="103615"/>
                  <a:pt x="105195" y="95597"/>
                </a:cubicBezTo>
                <a:cubicBezTo>
                  <a:pt x="109784" y="87579"/>
                  <a:pt x="109747" y="77721"/>
                  <a:pt x="105098" y="69737"/>
                </a:cubicBezTo>
                <a:cubicBezTo>
                  <a:pt x="100448" y="61754"/>
                  <a:pt x="91893" y="56857"/>
                  <a:pt x="82654" y="56891"/>
                </a:cubicBezTo>
                <a:cubicBezTo>
                  <a:pt x="73415" y="56926"/>
                  <a:pt x="64897" y="61887"/>
                  <a:pt x="60307" y="69905"/>
                </a:cubicBezTo>
                <a:cubicBezTo>
                  <a:pt x="55718" y="77924"/>
                  <a:pt x="55755" y="87781"/>
                  <a:pt x="60404" y="95765"/>
                </a:cubicBezTo>
                <a:cubicBezTo>
                  <a:pt x="65054" y="103749"/>
                  <a:pt x="73609" y="108646"/>
                  <a:pt x="82848" y="108611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692653" y="2096362"/>
            <a:ext cx="4957787" cy="257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3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427924" y="2427367"/>
            <a:ext cx="5213321" cy="22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58" b="1" dirty="0">
                <a:solidFill>
                  <a:srgbClr val="FFD5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Single Pass:</a:t>
            </a:r>
            <a:r>
              <a:rPr lang="en-US" sz="1158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No region proposals needed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427924" y="2684814"/>
            <a:ext cx="5213321" cy="22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58" b="1" dirty="0">
                <a:solidFill>
                  <a:srgbClr val="FFD5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Direct Prediction:</a:t>
            </a:r>
            <a:r>
              <a:rPr lang="en-US" sz="1158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Class + bounding box in one go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317589" y="3089376"/>
            <a:ext cx="5360434" cy="1287240"/>
          </a:xfrm>
          <a:custGeom>
            <a:avLst/>
            <a:gdLst/>
            <a:ahLst/>
            <a:cxnLst/>
            <a:rect l="l" t="t" r="r" b="b"/>
            <a:pathLst>
              <a:path w="5360434" h="1287240">
                <a:moveTo>
                  <a:pt x="73553" y="0"/>
                </a:moveTo>
                <a:lnTo>
                  <a:pt x="5286882" y="0"/>
                </a:lnTo>
                <a:cubicBezTo>
                  <a:pt x="5327504" y="0"/>
                  <a:pt x="5360434" y="32931"/>
                  <a:pt x="5360434" y="73553"/>
                </a:cubicBezTo>
                <a:lnTo>
                  <a:pt x="5360434" y="1213687"/>
                </a:lnTo>
                <a:cubicBezTo>
                  <a:pt x="5360434" y="1254309"/>
                  <a:pt x="5327504" y="1287240"/>
                  <a:pt x="5286882" y="1287240"/>
                </a:cubicBezTo>
                <a:lnTo>
                  <a:pt x="73553" y="1287240"/>
                </a:lnTo>
                <a:cubicBezTo>
                  <a:pt x="32931" y="1287240"/>
                  <a:pt x="0" y="1254309"/>
                  <a:pt x="0" y="1213687"/>
                </a:cubicBezTo>
                <a:lnTo>
                  <a:pt x="0" y="73553"/>
                </a:lnTo>
                <a:cubicBezTo>
                  <a:pt x="0" y="32958"/>
                  <a:pt x="32958" y="0"/>
                  <a:pt x="73553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6450911" y="3243845"/>
            <a:ext cx="165502" cy="165502"/>
          </a:xfrm>
          <a:custGeom>
            <a:avLst/>
            <a:gdLst/>
            <a:ahLst/>
            <a:cxnLst/>
            <a:rect l="l" t="t" r="r" b="b"/>
            <a:pathLst>
              <a:path w="165502" h="165502">
                <a:moveTo>
                  <a:pt x="82751" y="165502"/>
                </a:moveTo>
                <a:cubicBezTo>
                  <a:pt x="128423" y="165502"/>
                  <a:pt x="165502" y="128423"/>
                  <a:pt x="165502" y="82751"/>
                </a:cubicBezTo>
                <a:cubicBezTo>
                  <a:pt x="165502" y="37080"/>
                  <a:pt x="128423" y="0"/>
                  <a:pt x="82751" y="0"/>
                </a:cubicBezTo>
                <a:cubicBezTo>
                  <a:pt x="37080" y="0"/>
                  <a:pt x="0" y="37080"/>
                  <a:pt x="0" y="82751"/>
                </a:cubicBezTo>
                <a:cubicBezTo>
                  <a:pt x="0" y="128423"/>
                  <a:pt x="37080" y="165502"/>
                  <a:pt x="82751" y="165502"/>
                </a:cubicBezTo>
                <a:close/>
                <a:moveTo>
                  <a:pt x="110033" y="68755"/>
                </a:moveTo>
                <a:lnTo>
                  <a:pt x="84173" y="110130"/>
                </a:lnTo>
                <a:cubicBezTo>
                  <a:pt x="82816" y="112296"/>
                  <a:pt x="80488" y="113654"/>
                  <a:pt x="77935" y="113783"/>
                </a:cubicBezTo>
                <a:cubicBezTo>
                  <a:pt x="75381" y="113912"/>
                  <a:pt x="72924" y="112748"/>
                  <a:pt x="71405" y="110680"/>
                </a:cubicBezTo>
                <a:lnTo>
                  <a:pt x="55889" y="89992"/>
                </a:lnTo>
                <a:cubicBezTo>
                  <a:pt x="53303" y="86565"/>
                  <a:pt x="54015" y="81717"/>
                  <a:pt x="57441" y="79131"/>
                </a:cubicBezTo>
                <a:cubicBezTo>
                  <a:pt x="60867" y="76545"/>
                  <a:pt x="65716" y="77256"/>
                  <a:pt x="68302" y="80682"/>
                </a:cubicBezTo>
                <a:lnTo>
                  <a:pt x="77030" y="92319"/>
                </a:lnTo>
                <a:lnTo>
                  <a:pt x="96877" y="60544"/>
                </a:lnTo>
                <a:cubicBezTo>
                  <a:pt x="99140" y="56924"/>
                  <a:pt x="103924" y="55792"/>
                  <a:pt x="107576" y="58087"/>
                </a:cubicBezTo>
                <a:cubicBezTo>
                  <a:pt x="111229" y="60382"/>
                  <a:pt x="112328" y="65134"/>
                  <a:pt x="110033" y="68787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692653" y="3199710"/>
            <a:ext cx="4957787" cy="257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3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Pros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455508" y="3567493"/>
            <a:ext cx="128724" cy="147113"/>
          </a:xfrm>
          <a:custGeom>
            <a:avLst/>
            <a:gdLst/>
            <a:ahLst/>
            <a:cxnLst/>
            <a:rect l="l" t="t" r="r" b="b"/>
            <a:pathLst>
              <a:path w="128724" h="147113">
                <a:moveTo>
                  <a:pt x="73557" y="18389"/>
                </a:moveTo>
                <a:cubicBezTo>
                  <a:pt x="73557" y="13303"/>
                  <a:pt x="69448" y="9195"/>
                  <a:pt x="64362" y="9195"/>
                </a:cubicBezTo>
                <a:cubicBezTo>
                  <a:pt x="59276" y="9195"/>
                  <a:pt x="55167" y="13303"/>
                  <a:pt x="55167" y="18389"/>
                </a:cubicBezTo>
                <a:lnTo>
                  <a:pt x="55167" y="64362"/>
                </a:lnTo>
                <a:lnTo>
                  <a:pt x="9195" y="64362"/>
                </a:lnTo>
                <a:cubicBezTo>
                  <a:pt x="4109" y="64362"/>
                  <a:pt x="0" y="68471"/>
                  <a:pt x="0" y="73557"/>
                </a:cubicBezTo>
                <a:cubicBezTo>
                  <a:pt x="0" y="78642"/>
                  <a:pt x="4109" y="82751"/>
                  <a:pt x="9195" y="82751"/>
                </a:cubicBezTo>
                <a:lnTo>
                  <a:pt x="55167" y="82751"/>
                </a:lnTo>
                <a:lnTo>
                  <a:pt x="55167" y="128724"/>
                </a:lnTo>
                <a:cubicBezTo>
                  <a:pt x="55167" y="133810"/>
                  <a:pt x="59276" y="137919"/>
                  <a:pt x="64362" y="137919"/>
                </a:cubicBezTo>
                <a:cubicBezTo>
                  <a:pt x="69448" y="137919"/>
                  <a:pt x="73557" y="133810"/>
                  <a:pt x="73557" y="128724"/>
                </a:cubicBezTo>
                <a:lnTo>
                  <a:pt x="73557" y="82751"/>
                </a:lnTo>
                <a:lnTo>
                  <a:pt x="119529" y="82751"/>
                </a:lnTo>
                <a:cubicBezTo>
                  <a:pt x="124615" y="82751"/>
                  <a:pt x="128724" y="78642"/>
                  <a:pt x="128724" y="73557"/>
                </a:cubicBezTo>
                <a:cubicBezTo>
                  <a:pt x="128724" y="68471"/>
                  <a:pt x="124615" y="64362"/>
                  <a:pt x="119529" y="64362"/>
                </a:cubicBezTo>
                <a:lnTo>
                  <a:pt x="73557" y="64362"/>
                </a:lnTo>
                <a:lnTo>
                  <a:pt x="73557" y="18389"/>
                </a:ln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6685372" y="3530715"/>
            <a:ext cx="1958443" cy="22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58" b="1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Extremely fast</a:t>
            </a:r>
            <a:r>
              <a:rPr lang="en-US" sz="1158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- 45-500+ FPS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455508" y="3824941"/>
            <a:ext cx="128724" cy="147113"/>
          </a:xfrm>
          <a:custGeom>
            <a:avLst/>
            <a:gdLst/>
            <a:ahLst/>
            <a:cxnLst/>
            <a:rect l="l" t="t" r="r" b="b"/>
            <a:pathLst>
              <a:path w="128724" h="147113">
                <a:moveTo>
                  <a:pt x="73557" y="18389"/>
                </a:moveTo>
                <a:cubicBezTo>
                  <a:pt x="73557" y="13303"/>
                  <a:pt x="69448" y="9195"/>
                  <a:pt x="64362" y="9195"/>
                </a:cubicBezTo>
                <a:cubicBezTo>
                  <a:pt x="59276" y="9195"/>
                  <a:pt x="55167" y="13303"/>
                  <a:pt x="55167" y="18389"/>
                </a:cubicBezTo>
                <a:lnTo>
                  <a:pt x="55167" y="64362"/>
                </a:lnTo>
                <a:lnTo>
                  <a:pt x="9195" y="64362"/>
                </a:lnTo>
                <a:cubicBezTo>
                  <a:pt x="4109" y="64362"/>
                  <a:pt x="0" y="68471"/>
                  <a:pt x="0" y="73557"/>
                </a:cubicBezTo>
                <a:cubicBezTo>
                  <a:pt x="0" y="78642"/>
                  <a:pt x="4109" y="82751"/>
                  <a:pt x="9195" y="82751"/>
                </a:cubicBezTo>
                <a:lnTo>
                  <a:pt x="55167" y="82751"/>
                </a:lnTo>
                <a:lnTo>
                  <a:pt x="55167" y="128724"/>
                </a:lnTo>
                <a:cubicBezTo>
                  <a:pt x="55167" y="133810"/>
                  <a:pt x="59276" y="137919"/>
                  <a:pt x="64362" y="137919"/>
                </a:cubicBezTo>
                <a:cubicBezTo>
                  <a:pt x="69448" y="137919"/>
                  <a:pt x="73557" y="133810"/>
                  <a:pt x="73557" y="128724"/>
                </a:cubicBezTo>
                <a:lnTo>
                  <a:pt x="73557" y="82751"/>
                </a:lnTo>
                <a:lnTo>
                  <a:pt x="119529" y="82751"/>
                </a:lnTo>
                <a:cubicBezTo>
                  <a:pt x="124615" y="82751"/>
                  <a:pt x="128724" y="78642"/>
                  <a:pt x="128724" y="73557"/>
                </a:cubicBezTo>
                <a:cubicBezTo>
                  <a:pt x="128724" y="68471"/>
                  <a:pt x="124615" y="64362"/>
                  <a:pt x="119529" y="64362"/>
                </a:cubicBezTo>
                <a:lnTo>
                  <a:pt x="73557" y="64362"/>
                </a:lnTo>
                <a:lnTo>
                  <a:pt x="73557" y="18389"/>
                </a:ln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685372" y="3788163"/>
            <a:ext cx="2206697" cy="22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58" b="1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Simple</a:t>
            </a:r>
            <a:r>
              <a:rPr lang="en-US" sz="1158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end-to-end architecture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455508" y="4082389"/>
            <a:ext cx="128724" cy="147113"/>
          </a:xfrm>
          <a:custGeom>
            <a:avLst/>
            <a:gdLst/>
            <a:ahLst/>
            <a:cxnLst/>
            <a:rect l="l" t="t" r="r" b="b"/>
            <a:pathLst>
              <a:path w="128724" h="147113">
                <a:moveTo>
                  <a:pt x="73557" y="18389"/>
                </a:moveTo>
                <a:cubicBezTo>
                  <a:pt x="73557" y="13303"/>
                  <a:pt x="69448" y="9195"/>
                  <a:pt x="64362" y="9195"/>
                </a:cubicBezTo>
                <a:cubicBezTo>
                  <a:pt x="59276" y="9195"/>
                  <a:pt x="55167" y="13303"/>
                  <a:pt x="55167" y="18389"/>
                </a:cubicBezTo>
                <a:lnTo>
                  <a:pt x="55167" y="64362"/>
                </a:lnTo>
                <a:lnTo>
                  <a:pt x="9195" y="64362"/>
                </a:lnTo>
                <a:cubicBezTo>
                  <a:pt x="4109" y="64362"/>
                  <a:pt x="0" y="68471"/>
                  <a:pt x="0" y="73557"/>
                </a:cubicBezTo>
                <a:cubicBezTo>
                  <a:pt x="0" y="78642"/>
                  <a:pt x="4109" y="82751"/>
                  <a:pt x="9195" y="82751"/>
                </a:cubicBezTo>
                <a:lnTo>
                  <a:pt x="55167" y="82751"/>
                </a:lnTo>
                <a:lnTo>
                  <a:pt x="55167" y="128724"/>
                </a:lnTo>
                <a:cubicBezTo>
                  <a:pt x="55167" y="133810"/>
                  <a:pt x="59276" y="137919"/>
                  <a:pt x="64362" y="137919"/>
                </a:cubicBezTo>
                <a:cubicBezTo>
                  <a:pt x="69448" y="137919"/>
                  <a:pt x="73557" y="133810"/>
                  <a:pt x="73557" y="128724"/>
                </a:cubicBezTo>
                <a:lnTo>
                  <a:pt x="73557" y="82751"/>
                </a:lnTo>
                <a:lnTo>
                  <a:pt x="119529" y="82751"/>
                </a:lnTo>
                <a:cubicBezTo>
                  <a:pt x="124615" y="82751"/>
                  <a:pt x="128724" y="78642"/>
                  <a:pt x="128724" y="73557"/>
                </a:cubicBezTo>
                <a:cubicBezTo>
                  <a:pt x="128724" y="68471"/>
                  <a:pt x="124615" y="64362"/>
                  <a:pt x="119529" y="64362"/>
                </a:cubicBezTo>
                <a:lnTo>
                  <a:pt x="73557" y="64362"/>
                </a:lnTo>
                <a:lnTo>
                  <a:pt x="73557" y="18389"/>
                </a:ln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6685372" y="4045611"/>
            <a:ext cx="2105557" cy="22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58" b="1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Efficient</a:t>
            </a:r>
            <a:r>
              <a:rPr lang="en-US" sz="1158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ideal for edge devices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317589" y="4450172"/>
            <a:ext cx="5360434" cy="1287240"/>
          </a:xfrm>
          <a:custGeom>
            <a:avLst/>
            <a:gdLst/>
            <a:ahLst/>
            <a:cxnLst/>
            <a:rect l="l" t="t" r="r" b="b"/>
            <a:pathLst>
              <a:path w="5360434" h="1287240">
                <a:moveTo>
                  <a:pt x="73553" y="0"/>
                </a:moveTo>
                <a:lnTo>
                  <a:pt x="5286882" y="0"/>
                </a:lnTo>
                <a:cubicBezTo>
                  <a:pt x="5327504" y="0"/>
                  <a:pt x="5360434" y="32931"/>
                  <a:pt x="5360434" y="73553"/>
                </a:cubicBezTo>
                <a:lnTo>
                  <a:pt x="5360434" y="1213687"/>
                </a:lnTo>
                <a:cubicBezTo>
                  <a:pt x="5360434" y="1254309"/>
                  <a:pt x="5327504" y="1287240"/>
                  <a:pt x="5286882" y="1287240"/>
                </a:cubicBezTo>
                <a:lnTo>
                  <a:pt x="73553" y="1287240"/>
                </a:lnTo>
                <a:cubicBezTo>
                  <a:pt x="32931" y="1287240"/>
                  <a:pt x="0" y="1254309"/>
                  <a:pt x="0" y="1213687"/>
                </a:cubicBezTo>
                <a:lnTo>
                  <a:pt x="0" y="73553"/>
                </a:lnTo>
                <a:cubicBezTo>
                  <a:pt x="0" y="32958"/>
                  <a:pt x="32958" y="0"/>
                  <a:pt x="73553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6450911" y="4604641"/>
            <a:ext cx="165502" cy="165502"/>
          </a:xfrm>
          <a:custGeom>
            <a:avLst/>
            <a:gdLst/>
            <a:ahLst/>
            <a:cxnLst/>
            <a:rect l="l" t="t" r="r" b="b"/>
            <a:pathLst>
              <a:path w="165502" h="165502">
                <a:moveTo>
                  <a:pt x="82751" y="165502"/>
                </a:moveTo>
                <a:cubicBezTo>
                  <a:pt x="128423" y="165502"/>
                  <a:pt x="165502" y="128423"/>
                  <a:pt x="165502" y="82751"/>
                </a:cubicBezTo>
                <a:cubicBezTo>
                  <a:pt x="165502" y="37080"/>
                  <a:pt x="128423" y="0"/>
                  <a:pt x="82751" y="0"/>
                </a:cubicBezTo>
                <a:cubicBezTo>
                  <a:pt x="37080" y="0"/>
                  <a:pt x="0" y="37080"/>
                  <a:pt x="0" y="82751"/>
                </a:cubicBezTo>
                <a:cubicBezTo>
                  <a:pt x="0" y="128423"/>
                  <a:pt x="37080" y="165502"/>
                  <a:pt x="82751" y="165502"/>
                </a:cubicBezTo>
                <a:close/>
                <a:moveTo>
                  <a:pt x="53982" y="53982"/>
                </a:moveTo>
                <a:cubicBezTo>
                  <a:pt x="57021" y="50944"/>
                  <a:pt x="61934" y="50944"/>
                  <a:pt x="64940" y="53982"/>
                </a:cubicBezTo>
                <a:lnTo>
                  <a:pt x="82719" y="71761"/>
                </a:lnTo>
                <a:lnTo>
                  <a:pt x="100497" y="53982"/>
                </a:lnTo>
                <a:cubicBezTo>
                  <a:pt x="103536" y="50944"/>
                  <a:pt x="108449" y="50944"/>
                  <a:pt x="111455" y="53982"/>
                </a:cubicBezTo>
                <a:cubicBezTo>
                  <a:pt x="114462" y="57021"/>
                  <a:pt x="114494" y="61934"/>
                  <a:pt x="111455" y="64940"/>
                </a:cubicBezTo>
                <a:lnTo>
                  <a:pt x="93677" y="82719"/>
                </a:lnTo>
                <a:lnTo>
                  <a:pt x="111455" y="100497"/>
                </a:lnTo>
                <a:cubicBezTo>
                  <a:pt x="114494" y="103536"/>
                  <a:pt x="114494" y="108449"/>
                  <a:pt x="111455" y="111455"/>
                </a:cubicBezTo>
                <a:cubicBezTo>
                  <a:pt x="108417" y="114462"/>
                  <a:pt x="103504" y="114494"/>
                  <a:pt x="100497" y="111455"/>
                </a:cubicBezTo>
                <a:lnTo>
                  <a:pt x="82719" y="93677"/>
                </a:lnTo>
                <a:lnTo>
                  <a:pt x="64940" y="111455"/>
                </a:lnTo>
                <a:cubicBezTo>
                  <a:pt x="61902" y="114494"/>
                  <a:pt x="56988" y="114494"/>
                  <a:pt x="53982" y="111455"/>
                </a:cubicBezTo>
                <a:cubicBezTo>
                  <a:pt x="50976" y="108417"/>
                  <a:pt x="50944" y="103504"/>
                  <a:pt x="53982" y="100497"/>
                </a:cubicBezTo>
                <a:lnTo>
                  <a:pt x="71761" y="82719"/>
                </a:lnTo>
                <a:lnTo>
                  <a:pt x="53982" y="64940"/>
                </a:lnTo>
                <a:cubicBezTo>
                  <a:pt x="50944" y="61902"/>
                  <a:pt x="50944" y="56988"/>
                  <a:pt x="53982" y="53982"/>
                </a:cubicBezTo>
                <a:close/>
              </a:path>
            </a:pathLst>
          </a:custGeom>
          <a:solidFill>
            <a:srgbClr val="FFD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6692653" y="4560507"/>
            <a:ext cx="4957787" cy="257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3" b="1" dirty="0">
                <a:solidFill>
                  <a:srgbClr val="FFD5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455508" y="4928290"/>
            <a:ext cx="128724" cy="147113"/>
          </a:xfrm>
          <a:custGeom>
            <a:avLst/>
            <a:gdLst/>
            <a:ahLst/>
            <a:cxnLst/>
            <a:rect l="l" t="t" r="r" b="b"/>
            <a:pathLst>
              <a:path w="128724" h="147113">
                <a:moveTo>
                  <a:pt x="0" y="73557"/>
                </a:moveTo>
                <a:cubicBezTo>
                  <a:pt x="0" y="68471"/>
                  <a:pt x="4109" y="64362"/>
                  <a:pt x="9195" y="64362"/>
                </a:cubicBezTo>
                <a:lnTo>
                  <a:pt x="119529" y="64362"/>
                </a:lnTo>
                <a:cubicBezTo>
                  <a:pt x="124615" y="64362"/>
                  <a:pt x="128724" y="68471"/>
                  <a:pt x="128724" y="73557"/>
                </a:cubicBezTo>
                <a:cubicBezTo>
                  <a:pt x="128724" y="78642"/>
                  <a:pt x="124615" y="82751"/>
                  <a:pt x="119529" y="82751"/>
                </a:cubicBezTo>
                <a:lnTo>
                  <a:pt x="9195" y="82751"/>
                </a:lnTo>
                <a:cubicBezTo>
                  <a:pt x="4109" y="82751"/>
                  <a:pt x="0" y="78642"/>
                  <a:pt x="0" y="73557"/>
                </a:cubicBezTo>
                <a:close/>
              </a:path>
            </a:pathLst>
          </a:custGeom>
          <a:solidFill>
            <a:srgbClr val="FFD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6685372" y="4891511"/>
            <a:ext cx="2730787" cy="22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58" b="1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Lower accuracy</a:t>
            </a:r>
            <a:r>
              <a:rPr lang="en-US" sz="1158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especially small objects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455508" y="5185738"/>
            <a:ext cx="128724" cy="147113"/>
          </a:xfrm>
          <a:custGeom>
            <a:avLst/>
            <a:gdLst/>
            <a:ahLst/>
            <a:cxnLst/>
            <a:rect l="l" t="t" r="r" b="b"/>
            <a:pathLst>
              <a:path w="128724" h="147113">
                <a:moveTo>
                  <a:pt x="0" y="73557"/>
                </a:moveTo>
                <a:cubicBezTo>
                  <a:pt x="0" y="68471"/>
                  <a:pt x="4109" y="64362"/>
                  <a:pt x="9195" y="64362"/>
                </a:cubicBezTo>
                <a:lnTo>
                  <a:pt x="119529" y="64362"/>
                </a:lnTo>
                <a:cubicBezTo>
                  <a:pt x="124615" y="64362"/>
                  <a:pt x="128724" y="68471"/>
                  <a:pt x="128724" y="73557"/>
                </a:cubicBezTo>
                <a:cubicBezTo>
                  <a:pt x="128724" y="78642"/>
                  <a:pt x="124615" y="82751"/>
                  <a:pt x="119529" y="82751"/>
                </a:cubicBezTo>
                <a:lnTo>
                  <a:pt x="9195" y="82751"/>
                </a:lnTo>
                <a:cubicBezTo>
                  <a:pt x="4109" y="82751"/>
                  <a:pt x="0" y="78642"/>
                  <a:pt x="0" y="73557"/>
                </a:cubicBezTo>
                <a:close/>
              </a:path>
            </a:pathLst>
          </a:custGeom>
          <a:solidFill>
            <a:srgbClr val="FFD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6685372" y="5148959"/>
            <a:ext cx="2546896" cy="22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58" b="1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More false positives</a:t>
            </a:r>
            <a:r>
              <a:rPr lang="en-US" sz="1158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dense prediction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6455508" y="5443186"/>
            <a:ext cx="128724" cy="147113"/>
          </a:xfrm>
          <a:custGeom>
            <a:avLst/>
            <a:gdLst/>
            <a:ahLst/>
            <a:cxnLst/>
            <a:rect l="l" t="t" r="r" b="b"/>
            <a:pathLst>
              <a:path w="128724" h="147113">
                <a:moveTo>
                  <a:pt x="0" y="73557"/>
                </a:moveTo>
                <a:cubicBezTo>
                  <a:pt x="0" y="68471"/>
                  <a:pt x="4109" y="64362"/>
                  <a:pt x="9195" y="64362"/>
                </a:cubicBezTo>
                <a:lnTo>
                  <a:pt x="119529" y="64362"/>
                </a:lnTo>
                <a:cubicBezTo>
                  <a:pt x="124615" y="64362"/>
                  <a:pt x="128724" y="68471"/>
                  <a:pt x="128724" y="73557"/>
                </a:cubicBezTo>
                <a:cubicBezTo>
                  <a:pt x="128724" y="78642"/>
                  <a:pt x="124615" y="82751"/>
                  <a:pt x="119529" y="82751"/>
                </a:cubicBezTo>
                <a:lnTo>
                  <a:pt x="9195" y="82751"/>
                </a:lnTo>
                <a:cubicBezTo>
                  <a:pt x="4109" y="82751"/>
                  <a:pt x="0" y="78642"/>
                  <a:pt x="0" y="73557"/>
                </a:cubicBezTo>
                <a:close/>
              </a:path>
            </a:pathLst>
          </a:custGeom>
          <a:solidFill>
            <a:srgbClr val="FFD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6685372" y="5435829"/>
            <a:ext cx="2261520" cy="161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58" b="1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Struggles with overlapping objects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371461" y="6035316"/>
            <a:ext cx="11454595" cy="448695"/>
          </a:xfrm>
          <a:custGeom>
            <a:avLst/>
            <a:gdLst/>
            <a:ahLst/>
            <a:cxnLst/>
            <a:rect l="l" t="t" r="r" b="b"/>
            <a:pathLst>
              <a:path w="11454595" h="448695">
                <a:moveTo>
                  <a:pt x="110334" y="0"/>
                </a:moveTo>
                <a:lnTo>
                  <a:pt x="11344261" y="0"/>
                </a:lnTo>
                <a:cubicBezTo>
                  <a:pt x="11405197" y="0"/>
                  <a:pt x="11454595" y="49398"/>
                  <a:pt x="11454595" y="110334"/>
                </a:cubicBezTo>
                <a:lnTo>
                  <a:pt x="11454595" y="338361"/>
                </a:lnTo>
                <a:cubicBezTo>
                  <a:pt x="11454595" y="399297"/>
                  <a:pt x="11405197" y="448695"/>
                  <a:pt x="11344261" y="448695"/>
                </a:cubicBezTo>
                <a:lnTo>
                  <a:pt x="110334" y="448695"/>
                </a:lnTo>
                <a:cubicBezTo>
                  <a:pt x="49398" y="448695"/>
                  <a:pt x="0" y="399297"/>
                  <a:pt x="0" y="338361"/>
                </a:cubicBezTo>
                <a:lnTo>
                  <a:pt x="0" y="110334"/>
                </a:lnTo>
                <a:cubicBezTo>
                  <a:pt x="0" y="49398"/>
                  <a:pt x="49398" y="0"/>
                  <a:pt x="110334" y="0"/>
                </a:cubicBezTo>
                <a:close/>
              </a:path>
            </a:pathLst>
          </a:custGeom>
          <a:solidFill>
            <a:srgbClr val="FFD54F">
              <a:alpha val="10196"/>
            </a:srgbClr>
          </a:solidFill>
          <a:ln w="10160">
            <a:solidFill>
              <a:srgbClr val="FFD5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522252" y="6178751"/>
            <a:ext cx="110335" cy="147113"/>
          </a:xfrm>
          <a:custGeom>
            <a:avLst/>
            <a:gdLst/>
            <a:ahLst/>
            <a:cxnLst/>
            <a:rect l="l" t="t" r="r" b="b"/>
            <a:pathLst>
              <a:path w="110335" h="147113">
                <a:moveTo>
                  <a:pt x="84159" y="110335"/>
                </a:moveTo>
                <a:cubicBezTo>
                  <a:pt x="86257" y="103927"/>
                  <a:pt x="90452" y="98123"/>
                  <a:pt x="95193" y="93124"/>
                </a:cubicBezTo>
                <a:cubicBezTo>
                  <a:pt x="104588" y="83240"/>
                  <a:pt x="110335" y="69879"/>
                  <a:pt x="110335" y="55167"/>
                </a:cubicBezTo>
                <a:cubicBezTo>
                  <a:pt x="110335" y="24710"/>
                  <a:pt x="85624" y="0"/>
                  <a:pt x="55167" y="0"/>
                </a:cubicBezTo>
                <a:cubicBezTo>
                  <a:pt x="24710" y="0"/>
                  <a:pt x="0" y="24710"/>
                  <a:pt x="0" y="55167"/>
                </a:cubicBezTo>
                <a:cubicBezTo>
                  <a:pt x="0" y="69879"/>
                  <a:pt x="5747" y="83240"/>
                  <a:pt x="15142" y="93124"/>
                </a:cubicBezTo>
                <a:cubicBezTo>
                  <a:pt x="19883" y="98123"/>
                  <a:pt x="24107" y="103927"/>
                  <a:pt x="26176" y="110335"/>
                </a:cubicBezTo>
                <a:lnTo>
                  <a:pt x="84130" y="110335"/>
                </a:lnTo>
                <a:close/>
                <a:moveTo>
                  <a:pt x="82751" y="124127"/>
                </a:moveTo>
                <a:lnTo>
                  <a:pt x="27584" y="124127"/>
                </a:lnTo>
                <a:lnTo>
                  <a:pt x="27584" y="128724"/>
                </a:lnTo>
                <a:cubicBezTo>
                  <a:pt x="27584" y="141424"/>
                  <a:pt x="37870" y="151710"/>
                  <a:pt x="50570" y="151710"/>
                </a:cubicBezTo>
                <a:lnTo>
                  <a:pt x="59765" y="151710"/>
                </a:lnTo>
                <a:cubicBezTo>
                  <a:pt x="72465" y="151710"/>
                  <a:pt x="82751" y="141424"/>
                  <a:pt x="82751" y="128724"/>
                </a:cubicBezTo>
                <a:lnTo>
                  <a:pt x="82751" y="124127"/>
                </a:lnTo>
                <a:close/>
                <a:moveTo>
                  <a:pt x="52869" y="32181"/>
                </a:moveTo>
                <a:cubicBezTo>
                  <a:pt x="41433" y="32181"/>
                  <a:pt x="32181" y="41433"/>
                  <a:pt x="32181" y="52869"/>
                </a:cubicBezTo>
                <a:cubicBezTo>
                  <a:pt x="32181" y="56690"/>
                  <a:pt x="29107" y="59765"/>
                  <a:pt x="25285" y="59765"/>
                </a:cubicBezTo>
                <a:cubicBezTo>
                  <a:pt x="21464" y="59765"/>
                  <a:pt x="18389" y="56690"/>
                  <a:pt x="18389" y="52869"/>
                </a:cubicBezTo>
                <a:cubicBezTo>
                  <a:pt x="18389" y="33819"/>
                  <a:pt x="33819" y="18389"/>
                  <a:pt x="52869" y="18389"/>
                </a:cubicBezTo>
                <a:cubicBezTo>
                  <a:pt x="56690" y="18389"/>
                  <a:pt x="59765" y="21464"/>
                  <a:pt x="59765" y="25285"/>
                </a:cubicBezTo>
                <a:cubicBezTo>
                  <a:pt x="59765" y="29107"/>
                  <a:pt x="56690" y="32181"/>
                  <a:pt x="52869" y="32181"/>
                </a:cubicBezTo>
                <a:close/>
              </a:path>
            </a:pathLst>
          </a:custGeom>
          <a:solidFill>
            <a:srgbClr val="FFD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722618" y="6149329"/>
            <a:ext cx="11062982" cy="22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58" b="1" dirty="0">
                <a:solidFill>
                  <a:srgbClr val="FFD5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When to Choose:</a:t>
            </a:r>
            <a:r>
              <a:rPr lang="en-US" sz="1158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Use </a:t>
            </a:r>
            <a:r>
              <a:rPr lang="en-US" sz="1158" b="1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Two-Stage</a:t>
            </a:r>
            <a:r>
              <a:rPr lang="en-US" sz="1158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accuracy-critical tasks (medical imaging, research). Use </a:t>
            </a:r>
            <a:r>
              <a:rPr lang="en-US" sz="1158" b="1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One-Stage</a:t>
            </a:r>
            <a:r>
              <a:rPr lang="en-US" sz="1158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real-time applications (autonomous driving, surveillance).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3391" y="353391"/>
            <a:ext cx="11555896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b="1" kern="0" spc="56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REVOLUTIONARY APPROACH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3391" y="636104"/>
            <a:ext cx="11644243" cy="353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04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 to YOLO: You Only Look Once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71061" y="1130852"/>
            <a:ext cx="6811617" cy="1908313"/>
          </a:xfrm>
          <a:custGeom>
            <a:avLst/>
            <a:gdLst/>
            <a:ahLst/>
            <a:cxnLst/>
            <a:rect l="l" t="t" r="r" b="b"/>
            <a:pathLst>
              <a:path w="6811617" h="1908313">
                <a:moveTo>
                  <a:pt x="35339" y="0"/>
                </a:moveTo>
                <a:lnTo>
                  <a:pt x="6705592" y="0"/>
                </a:lnTo>
                <a:cubicBezTo>
                  <a:pt x="6764148" y="0"/>
                  <a:pt x="6811617" y="47469"/>
                  <a:pt x="6811617" y="106026"/>
                </a:cubicBezTo>
                <a:lnTo>
                  <a:pt x="6811617" y="1802287"/>
                </a:lnTo>
                <a:cubicBezTo>
                  <a:pt x="6811617" y="1860844"/>
                  <a:pt x="6764148" y="1908313"/>
                  <a:pt x="6705592" y="1908313"/>
                </a:cubicBezTo>
                <a:lnTo>
                  <a:pt x="35339" y="1908313"/>
                </a:lnTo>
                <a:cubicBezTo>
                  <a:pt x="15822" y="1908313"/>
                  <a:pt x="0" y="1892491"/>
                  <a:pt x="0" y="1872974"/>
                </a:cubicBezTo>
                <a:lnTo>
                  <a:pt x="0" y="35339"/>
                </a:lnTo>
                <a:cubicBezTo>
                  <a:pt x="0" y="15835"/>
                  <a:pt x="15835" y="0"/>
                  <a:pt x="35339" y="0"/>
                </a:cubicBezTo>
                <a:close/>
              </a:path>
            </a:pathLst>
          </a:custGeom>
          <a:solidFill>
            <a:srgbClr val="263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71061" y="1130852"/>
            <a:ext cx="35339" cy="1908313"/>
          </a:xfrm>
          <a:custGeom>
            <a:avLst/>
            <a:gdLst/>
            <a:ahLst/>
            <a:cxnLst/>
            <a:rect l="l" t="t" r="r" b="b"/>
            <a:pathLst>
              <a:path w="35339" h="1908313">
                <a:moveTo>
                  <a:pt x="35339" y="0"/>
                </a:moveTo>
                <a:lnTo>
                  <a:pt x="35339" y="0"/>
                </a:lnTo>
                <a:lnTo>
                  <a:pt x="35339" y="1908313"/>
                </a:lnTo>
                <a:lnTo>
                  <a:pt x="35339" y="1908313"/>
                </a:lnTo>
                <a:cubicBezTo>
                  <a:pt x="15822" y="1908313"/>
                  <a:pt x="0" y="1892491"/>
                  <a:pt x="0" y="1872974"/>
                </a:cubicBezTo>
                <a:lnTo>
                  <a:pt x="0" y="35339"/>
                </a:lnTo>
                <a:cubicBezTo>
                  <a:pt x="0" y="15835"/>
                  <a:pt x="15835" y="0"/>
                  <a:pt x="35339" y="0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1130" y="1300480"/>
            <a:ext cx="198783" cy="176696"/>
          </a:xfrm>
          <a:custGeom>
            <a:avLst/>
            <a:gdLst/>
            <a:ahLst/>
            <a:cxnLst/>
            <a:rect l="l" t="t" r="r" b="b"/>
            <a:pathLst>
              <a:path w="198783" h="176696">
                <a:moveTo>
                  <a:pt x="106811" y="-6523"/>
                </a:moveTo>
                <a:cubicBezTo>
                  <a:pt x="105396" y="-9283"/>
                  <a:pt x="102532" y="-11043"/>
                  <a:pt x="99426" y="-11043"/>
                </a:cubicBezTo>
                <a:cubicBezTo>
                  <a:pt x="96320" y="-11043"/>
                  <a:pt x="93455" y="-9283"/>
                  <a:pt x="92040" y="-6523"/>
                </a:cubicBezTo>
                <a:lnTo>
                  <a:pt x="66640" y="43242"/>
                </a:lnTo>
                <a:lnTo>
                  <a:pt x="11458" y="52008"/>
                </a:lnTo>
                <a:cubicBezTo>
                  <a:pt x="8386" y="52491"/>
                  <a:pt x="5832" y="54665"/>
                  <a:pt x="4866" y="57633"/>
                </a:cubicBezTo>
                <a:cubicBezTo>
                  <a:pt x="3900" y="60601"/>
                  <a:pt x="4693" y="63845"/>
                  <a:pt x="6868" y="66054"/>
                </a:cubicBezTo>
                <a:lnTo>
                  <a:pt x="46348" y="105569"/>
                </a:lnTo>
                <a:lnTo>
                  <a:pt x="37651" y="160752"/>
                </a:lnTo>
                <a:cubicBezTo>
                  <a:pt x="37168" y="163823"/>
                  <a:pt x="38445" y="166929"/>
                  <a:pt x="40964" y="168758"/>
                </a:cubicBezTo>
                <a:cubicBezTo>
                  <a:pt x="43484" y="170587"/>
                  <a:pt x="46797" y="170863"/>
                  <a:pt x="49592" y="169448"/>
                </a:cubicBezTo>
                <a:lnTo>
                  <a:pt x="99426" y="144117"/>
                </a:lnTo>
                <a:lnTo>
                  <a:pt x="149225" y="169448"/>
                </a:lnTo>
                <a:cubicBezTo>
                  <a:pt x="151986" y="170863"/>
                  <a:pt x="155333" y="170587"/>
                  <a:pt x="157853" y="168758"/>
                </a:cubicBezTo>
                <a:cubicBezTo>
                  <a:pt x="160372" y="166929"/>
                  <a:pt x="161649" y="163858"/>
                  <a:pt x="161166" y="160752"/>
                </a:cubicBezTo>
                <a:lnTo>
                  <a:pt x="152435" y="105569"/>
                </a:lnTo>
                <a:lnTo>
                  <a:pt x="191915" y="66054"/>
                </a:lnTo>
                <a:cubicBezTo>
                  <a:pt x="194124" y="63845"/>
                  <a:pt x="194883" y="60601"/>
                  <a:pt x="193917" y="57633"/>
                </a:cubicBezTo>
                <a:cubicBezTo>
                  <a:pt x="192950" y="54665"/>
                  <a:pt x="190431" y="52491"/>
                  <a:pt x="187325" y="52008"/>
                </a:cubicBezTo>
                <a:lnTo>
                  <a:pt x="132177" y="43242"/>
                </a:lnTo>
                <a:lnTo>
                  <a:pt x="106811" y="-6523"/>
                </a:ln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00124" y="1272209"/>
            <a:ext cx="6329546" cy="247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1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Makes YOLO Special?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30087" y="1625600"/>
            <a:ext cx="6581913" cy="4594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13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YOLO, introduced by Joseph Redmon in 2016, </a:t>
            </a:r>
            <a:r>
              <a:rPr lang="en-US" sz="1113" b="1" dirty="0">
                <a:solidFill>
                  <a:srgbClr val="FFD5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revolutionized object detection</a:t>
            </a:r>
            <a:r>
              <a:rPr lang="en-US" sz="1113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by framing it as a </a:t>
            </a:r>
            <a:r>
              <a:rPr lang="en-US" sz="1113" b="1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single regression problem</a:t>
            </a:r>
            <a:r>
              <a:rPr lang="en-US" sz="1113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instead of a multi-stage pipeline.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30087" y="2191026"/>
            <a:ext cx="6511235" cy="706783"/>
          </a:xfrm>
          <a:custGeom>
            <a:avLst/>
            <a:gdLst/>
            <a:ahLst/>
            <a:cxnLst/>
            <a:rect l="l" t="t" r="r" b="b"/>
            <a:pathLst>
              <a:path w="6511235" h="706783">
                <a:moveTo>
                  <a:pt x="70678" y="0"/>
                </a:moveTo>
                <a:lnTo>
                  <a:pt x="6440557" y="0"/>
                </a:lnTo>
                <a:cubicBezTo>
                  <a:pt x="6479591" y="0"/>
                  <a:pt x="6511235" y="31644"/>
                  <a:pt x="6511235" y="70678"/>
                </a:cubicBezTo>
                <a:lnTo>
                  <a:pt x="6511235" y="636104"/>
                </a:lnTo>
                <a:cubicBezTo>
                  <a:pt x="6511235" y="675139"/>
                  <a:pt x="6479591" y="706783"/>
                  <a:pt x="6440557" y="706783"/>
                </a:cubicBezTo>
                <a:lnTo>
                  <a:pt x="70678" y="706783"/>
                </a:lnTo>
                <a:cubicBezTo>
                  <a:pt x="31644" y="706783"/>
                  <a:pt x="0" y="675139"/>
                  <a:pt x="0" y="636104"/>
                </a:cubicBezTo>
                <a:lnTo>
                  <a:pt x="0" y="70678"/>
                </a:lnTo>
                <a:cubicBezTo>
                  <a:pt x="0" y="31670"/>
                  <a:pt x="31670" y="0"/>
                  <a:pt x="70678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36104" y="2297043"/>
            <a:ext cx="6369878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Traditional Approach:</a:t>
            </a:r>
            <a:r>
              <a:rPr lang="en-US" sz="1113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Region proposals → Feature extraction → Classification (multiple steps)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36104" y="2579757"/>
            <a:ext cx="6369878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b="1" dirty="0">
                <a:solidFill>
                  <a:srgbClr val="FFD5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YOLO Approach:</a:t>
            </a:r>
            <a:r>
              <a:rPr lang="en-US" sz="1113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Image → Single CNN → Bounding boxes + Classes (one step)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53391" y="3198191"/>
            <a:ext cx="3348383" cy="1183861"/>
          </a:xfrm>
          <a:custGeom>
            <a:avLst/>
            <a:gdLst/>
            <a:ahLst/>
            <a:cxnLst/>
            <a:rect l="l" t="t" r="r" b="b"/>
            <a:pathLst>
              <a:path w="3348383" h="1183861">
                <a:moveTo>
                  <a:pt x="35339" y="0"/>
                </a:moveTo>
                <a:lnTo>
                  <a:pt x="3313043" y="0"/>
                </a:lnTo>
                <a:cubicBezTo>
                  <a:pt x="3332561" y="0"/>
                  <a:pt x="3348383" y="15822"/>
                  <a:pt x="3348383" y="35339"/>
                </a:cubicBezTo>
                <a:lnTo>
                  <a:pt x="3348383" y="1077846"/>
                </a:lnTo>
                <a:cubicBezTo>
                  <a:pt x="3348383" y="1136396"/>
                  <a:pt x="3300918" y="1183861"/>
                  <a:pt x="3242368" y="1183861"/>
                </a:cubicBezTo>
                <a:lnTo>
                  <a:pt x="106015" y="1183861"/>
                </a:lnTo>
                <a:cubicBezTo>
                  <a:pt x="47464" y="1183861"/>
                  <a:pt x="0" y="1136396"/>
                  <a:pt x="0" y="1077846"/>
                </a:cubicBezTo>
                <a:lnTo>
                  <a:pt x="0" y="35339"/>
                </a:lnTo>
                <a:cubicBezTo>
                  <a:pt x="0" y="15835"/>
                  <a:pt x="15835" y="0"/>
                  <a:pt x="35339" y="0"/>
                </a:cubicBezTo>
                <a:close/>
              </a:path>
            </a:pathLst>
          </a:custGeom>
          <a:solidFill>
            <a:srgbClr val="263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53391" y="3198191"/>
            <a:ext cx="3348383" cy="35339"/>
          </a:xfrm>
          <a:custGeom>
            <a:avLst/>
            <a:gdLst/>
            <a:ahLst/>
            <a:cxnLst/>
            <a:rect l="l" t="t" r="r" b="b"/>
            <a:pathLst>
              <a:path w="3348383" h="35339">
                <a:moveTo>
                  <a:pt x="35339" y="0"/>
                </a:moveTo>
                <a:lnTo>
                  <a:pt x="3313043" y="0"/>
                </a:lnTo>
                <a:cubicBezTo>
                  <a:pt x="3332561" y="0"/>
                  <a:pt x="3348383" y="15822"/>
                  <a:pt x="3348383" y="35339"/>
                </a:cubicBezTo>
                <a:lnTo>
                  <a:pt x="3348383" y="35339"/>
                </a:lnTo>
                <a:lnTo>
                  <a:pt x="0" y="35339"/>
                </a:lnTo>
                <a:lnTo>
                  <a:pt x="0" y="35339"/>
                </a:lnTo>
                <a:cubicBezTo>
                  <a:pt x="0" y="15835"/>
                  <a:pt x="15835" y="0"/>
                  <a:pt x="35339" y="0"/>
                </a:cubicBezTo>
                <a:close/>
              </a:path>
            </a:pathLst>
          </a:custGeom>
          <a:solidFill>
            <a:srgbClr val="FFD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21252" y="3374887"/>
            <a:ext cx="212035" cy="212035"/>
          </a:xfrm>
          <a:custGeom>
            <a:avLst/>
            <a:gdLst/>
            <a:ahLst/>
            <a:cxnLst/>
            <a:rect l="l" t="t" r="r" b="b"/>
            <a:pathLst>
              <a:path w="212035" h="212035">
                <a:moveTo>
                  <a:pt x="0" y="106017"/>
                </a:moveTo>
                <a:cubicBezTo>
                  <a:pt x="0" y="47505"/>
                  <a:pt x="47505" y="0"/>
                  <a:pt x="106017" y="0"/>
                </a:cubicBezTo>
                <a:cubicBezTo>
                  <a:pt x="164530" y="0"/>
                  <a:pt x="212035" y="47505"/>
                  <a:pt x="212035" y="106017"/>
                </a:cubicBezTo>
                <a:cubicBezTo>
                  <a:pt x="212035" y="164530"/>
                  <a:pt x="164530" y="212035"/>
                  <a:pt x="106017" y="212035"/>
                </a:cubicBezTo>
                <a:cubicBezTo>
                  <a:pt x="47505" y="212035"/>
                  <a:pt x="0" y="164530"/>
                  <a:pt x="0" y="106017"/>
                </a:cubicBezTo>
                <a:close/>
                <a:moveTo>
                  <a:pt x="119270" y="39757"/>
                </a:moveTo>
                <a:cubicBezTo>
                  <a:pt x="119270" y="32442"/>
                  <a:pt x="113331" y="26504"/>
                  <a:pt x="106017" y="26504"/>
                </a:cubicBezTo>
                <a:cubicBezTo>
                  <a:pt x="98703" y="26504"/>
                  <a:pt x="92765" y="32442"/>
                  <a:pt x="92765" y="39757"/>
                </a:cubicBezTo>
                <a:cubicBezTo>
                  <a:pt x="92765" y="47071"/>
                  <a:pt x="98703" y="53009"/>
                  <a:pt x="106017" y="53009"/>
                </a:cubicBezTo>
                <a:cubicBezTo>
                  <a:pt x="113331" y="53009"/>
                  <a:pt x="119270" y="47071"/>
                  <a:pt x="119270" y="39757"/>
                </a:cubicBezTo>
                <a:close/>
                <a:moveTo>
                  <a:pt x="106017" y="172278"/>
                </a:moveTo>
                <a:cubicBezTo>
                  <a:pt x="120636" y="172278"/>
                  <a:pt x="132522" y="160393"/>
                  <a:pt x="132522" y="145774"/>
                </a:cubicBezTo>
                <a:cubicBezTo>
                  <a:pt x="132522" y="139065"/>
                  <a:pt x="130037" y="132894"/>
                  <a:pt x="125896" y="128256"/>
                </a:cubicBezTo>
                <a:lnTo>
                  <a:pt x="154678" y="70733"/>
                </a:lnTo>
                <a:cubicBezTo>
                  <a:pt x="157121" y="65805"/>
                  <a:pt x="155133" y="59842"/>
                  <a:pt x="150247" y="57398"/>
                </a:cubicBezTo>
                <a:cubicBezTo>
                  <a:pt x="145360" y="54955"/>
                  <a:pt x="139355" y="56943"/>
                  <a:pt x="136912" y="61830"/>
                </a:cubicBezTo>
                <a:lnTo>
                  <a:pt x="108129" y="119352"/>
                </a:lnTo>
                <a:cubicBezTo>
                  <a:pt x="107425" y="119311"/>
                  <a:pt x="106721" y="119270"/>
                  <a:pt x="106017" y="119270"/>
                </a:cubicBezTo>
                <a:cubicBezTo>
                  <a:pt x="91399" y="119270"/>
                  <a:pt x="79513" y="131155"/>
                  <a:pt x="79513" y="145774"/>
                </a:cubicBezTo>
                <a:cubicBezTo>
                  <a:pt x="79513" y="160393"/>
                  <a:pt x="91399" y="172278"/>
                  <a:pt x="106017" y="172278"/>
                </a:cubicBezTo>
                <a:close/>
                <a:moveTo>
                  <a:pt x="72887" y="59635"/>
                </a:moveTo>
                <a:cubicBezTo>
                  <a:pt x="72887" y="52321"/>
                  <a:pt x="66949" y="46383"/>
                  <a:pt x="59635" y="46383"/>
                </a:cubicBezTo>
                <a:cubicBezTo>
                  <a:pt x="52321" y="46383"/>
                  <a:pt x="46383" y="52321"/>
                  <a:pt x="46383" y="59635"/>
                </a:cubicBezTo>
                <a:cubicBezTo>
                  <a:pt x="46383" y="66949"/>
                  <a:pt x="52321" y="72887"/>
                  <a:pt x="59635" y="72887"/>
                </a:cubicBezTo>
                <a:cubicBezTo>
                  <a:pt x="66949" y="72887"/>
                  <a:pt x="72887" y="66949"/>
                  <a:pt x="72887" y="59635"/>
                </a:cubicBezTo>
                <a:close/>
                <a:moveTo>
                  <a:pt x="39757" y="119270"/>
                </a:moveTo>
                <a:cubicBezTo>
                  <a:pt x="47071" y="119270"/>
                  <a:pt x="53009" y="113331"/>
                  <a:pt x="53009" y="106017"/>
                </a:cubicBezTo>
                <a:cubicBezTo>
                  <a:pt x="53009" y="98703"/>
                  <a:pt x="47071" y="92765"/>
                  <a:pt x="39757" y="92765"/>
                </a:cubicBezTo>
                <a:cubicBezTo>
                  <a:pt x="32442" y="92765"/>
                  <a:pt x="26504" y="98703"/>
                  <a:pt x="26504" y="106017"/>
                </a:cubicBezTo>
                <a:cubicBezTo>
                  <a:pt x="26504" y="113331"/>
                  <a:pt x="32442" y="119270"/>
                  <a:pt x="39757" y="119270"/>
                </a:cubicBezTo>
                <a:close/>
                <a:moveTo>
                  <a:pt x="185530" y="106017"/>
                </a:moveTo>
                <a:cubicBezTo>
                  <a:pt x="185530" y="98703"/>
                  <a:pt x="179592" y="92765"/>
                  <a:pt x="172278" y="92765"/>
                </a:cubicBezTo>
                <a:cubicBezTo>
                  <a:pt x="164964" y="92765"/>
                  <a:pt x="159026" y="98703"/>
                  <a:pt x="159026" y="106017"/>
                </a:cubicBezTo>
                <a:cubicBezTo>
                  <a:pt x="159026" y="113331"/>
                  <a:pt x="164964" y="119270"/>
                  <a:pt x="172278" y="119270"/>
                </a:cubicBezTo>
                <a:cubicBezTo>
                  <a:pt x="179592" y="119270"/>
                  <a:pt x="185530" y="113331"/>
                  <a:pt x="185530" y="106017"/>
                </a:cubicBezTo>
                <a:close/>
              </a:path>
            </a:pathLst>
          </a:custGeom>
          <a:solidFill>
            <a:srgbClr val="FFD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65809" y="3357217"/>
            <a:ext cx="1281043" cy="247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2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 Speed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94748" y="3675270"/>
            <a:ext cx="3198191" cy="318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87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45+ FPS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94748" y="4028661"/>
            <a:ext cx="3136348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 standard GPU hardware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840149" y="3198191"/>
            <a:ext cx="3348383" cy="1183861"/>
          </a:xfrm>
          <a:custGeom>
            <a:avLst/>
            <a:gdLst/>
            <a:ahLst/>
            <a:cxnLst/>
            <a:rect l="l" t="t" r="r" b="b"/>
            <a:pathLst>
              <a:path w="3348383" h="1183861">
                <a:moveTo>
                  <a:pt x="35339" y="0"/>
                </a:moveTo>
                <a:lnTo>
                  <a:pt x="3313043" y="0"/>
                </a:lnTo>
                <a:cubicBezTo>
                  <a:pt x="3332561" y="0"/>
                  <a:pt x="3348383" y="15822"/>
                  <a:pt x="3348383" y="35339"/>
                </a:cubicBezTo>
                <a:lnTo>
                  <a:pt x="3348383" y="1077846"/>
                </a:lnTo>
                <a:cubicBezTo>
                  <a:pt x="3348383" y="1136396"/>
                  <a:pt x="3300918" y="1183861"/>
                  <a:pt x="3242368" y="1183861"/>
                </a:cubicBezTo>
                <a:lnTo>
                  <a:pt x="106015" y="1183861"/>
                </a:lnTo>
                <a:cubicBezTo>
                  <a:pt x="47464" y="1183861"/>
                  <a:pt x="0" y="1136396"/>
                  <a:pt x="0" y="1077846"/>
                </a:cubicBezTo>
                <a:lnTo>
                  <a:pt x="0" y="35339"/>
                </a:lnTo>
                <a:cubicBezTo>
                  <a:pt x="0" y="15835"/>
                  <a:pt x="15835" y="0"/>
                  <a:pt x="35339" y="0"/>
                </a:cubicBezTo>
                <a:close/>
              </a:path>
            </a:pathLst>
          </a:custGeom>
          <a:solidFill>
            <a:srgbClr val="263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840149" y="3198191"/>
            <a:ext cx="3348383" cy="35339"/>
          </a:xfrm>
          <a:custGeom>
            <a:avLst/>
            <a:gdLst/>
            <a:ahLst/>
            <a:cxnLst/>
            <a:rect l="l" t="t" r="r" b="b"/>
            <a:pathLst>
              <a:path w="3348383" h="35339">
                <a:moveTo>
                  <a:pt x="35339" y="0"/>
                </a:moveTo>
                <a:lnTo>
                  <a:pt x="3313043" y="0"/>
                </a:lnTo>
                <a:cubicBezTo>
                  <a:pt x="3332561" y="0"/>
                  <a:pt x="3348383" y="15822"/>
                  <a:pt x="3348383" y="35339"/>
                </a:cubicBezTo>
                <a:lnTo>
                  <a:pt x="3348383" y="35339"/>
                </a:lnTo>
                <a:lnTo>
                  <a:pt x="0" y="35339"/>
                </a:lnTo>
                <a:lnTo>
                  <a:pt x="0" y="35339"/>
                </a:lnTo>
                <a:cubicBezTo>
                  <a:pt x="0" y="15835"/>
                  <a:pt x="15835" y="0"/>
                  <a:pt x="35339" y="0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008010" y="3374887"/>
            <a:ext cx="212035" cy="212035"/>
          </a:xfrm>
          <a:custGeom>
            <a:avLst/>
            <a:gdLst/>
            <a:ahLst/>
            <a:cxnLst/>
            <a:rect l="l" t="t" r="r" b="b"/>
            <a:pathLst>
              <a:path w="212035" h="212035">
                <a:moveTo>
                  <a:pt x="185530" y="106017"/>
                </a:moveTo>
                <a:cubicBezTo>
                  <a:pt x="185530" y="62133"/>
                  <a:pt x="149902" y="26504"/>
                  <a:pt x="106017" y="26504"/>
                </a:cubicBezTo>
                <a:cubicBezTo>
                  <a:pt x="62133" y="26504"/>
                  <a:pt x="26504" y="62133"/>
                  <a:pt x="26504" y="106017"/>
                </a:cubicBezTo>
                <a:cubicBezTo>
                  <a:pt x="26504" y="149902"/>
                  <a:pt x="62133" y="185530"/>
                  <a:pt x="106017" y="185530"/>
                </a:cubicBezTo>
                <a:cubicBezTo>
                  <a:pt x="149902" y="185530"/>
                  <a:pt x="185530" y="149902"/>
                  <a:pt x="185530" y="106017"/>
                </a:cubicBezTo>
                <a:close/>
                <a:moveTo>
                  <a:pt x="0" y="106017"/>
                </a:moveTo>
                <a:cubicBezTo>
                  <a:pt x="0" y="47505"/>
                  <a:pt x="47505" y="0"/>
                  <a:pt x="106017" y="0"/>
                </a:cubicBezTo>
                <a:cubicBezTo>
                  <a:pt x="164530" y="0"/>
                  <a:pt x="212035" y="47505"/>
                  <a:pt x="212035" y="106017"/>
                </a:cubicBezTo>
                <a:cubicBezTo>
                  <a:pt x="212035" y="164530"/>
                  <a:pt x="164530" y="212035"/>
                  <a:pt x="106017" y="212035"/>
                </a:cubicBezTo>
                <a:cubicBezTo>
                  <a:pt x="47505" y="212035"/>
                  <a:pt x="0" y="164530"/>
                  <a:pt x="0" y="106017"/>
                </a:cubicBezTo>
                <a:close/>
                <a:moveTo>
                  <a:pt x="106017" y="139148"/>
                </a:moveTo>
                <a:cubicBezTo>
                  <a:pt x="124303" y="139148"/>
                  <a:pt x="139148" y="124303"/>
                  <a:pt x="139148" y="106017"/>
                </a:cubicBezTo>
                <a:cubicBezTo>
                  <a:pt x="139148" y="87732"/>
                  <a:pt x="124303" y="72887"/>
                  <a:pt x="106017" y="72887"/>
                </a:cubicBezTo>
                <a:cubicBezTo>
                  <a:pt x="87732" y="72887"/>
                  <a:pt x="72887" y="87732"/>
                  <a:pt x="72887" y="106017"/>
                </a:cubicBezTo>
                <a:cubicBezTo>
                  <a:pt x="72887" y="124303"/>
                  <a:pt x="87732" y="139148"/>
                  <a:pt x="106017" y="139148"/>
                </a:cubicBezTo>
                <a:close/>
                <a:moveTo>
                  <a:pt x="106017" y="46383"/>
                </a:moveTo>
                <a:cubicBezTo>
                  <a:pt x="138931" y="46383"/>
                  <a:pt x="165652" y="73104"/>
                  <a:pt x="165652" y="106017"/>
                </a:cubicBezTo>
                <a:cubicBezTo>
                  <a:pt x="165652" y="138931"/>
                  <a:pt x="138931" y="165652"/>
                  <a:pt x="106017" y="165652"/>
                </a:cubicBezTo>
                <a:cubicBezTo>
                  <a:pt x="73104" y="165652"/>
                  <a:pt x="46383" y="138931"/>
                  <a:pt x="46383" y="106017"/>
                </a:cubicBezTo>
                <a:cubicBezTo>
                  <a:pt x="46383" y="73104"/>
                  <a:pt x="73104" y="46383"/>
                  <a:pt x="106017" y="46383"/>
                </a:cubicBezTo>
                <a:close/>
                <a:moveTo>
                  <a:pt x="92765" y="106017"/>
                </a:moveTo>
                <a:cubicBezTo>
                  <a:pt x="92765" y="98703"/>
                  <a:pt x="98703" y="92765"/>
                  <a:pt x="106017" y="92765"/>
                </a:cubicBezTo>
                <a:cubicBezTo>
                  <a:pt x="113331" y="92765"/>
                  <a:pt x="119270" y="98703"/>
                  <a:pt x="119270" y="106017"/>
                </a:cubicBezTo>
                <a:cubicBezTo>
                  <a:pt x="119270" y="113331"/>
                  <a:pt x="113331" y="119270"/>
                  <a:pt x="106017" y="119270"/>
                </a:cubicBezTo>
                <a:cubicBezTo>
                  <a:pt x="98703" y="119270"/>
                  <a:pt x="92765" y="113331"/>
                  <a:pt x="92765" y="106017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352566" y="3357217"/>
            <a:ext cx="1157357" cy="247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2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Good Accuracy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981505" y="3675270"/>
            <a:ext cx="3198191" cy="318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87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63.4%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981505" y="4028661"/>
            <a:ext cx="3136348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mAP on PASCAL VOC 2007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71061" y="4523409"/>
            <a:ext cx="6811617" cy="1978991"/>
          </a:xfrm>
          <a:custGeom>
            <a:avLst/>
            <a:gdLst/>
            <a:ahLst/>
            <a:cxnLst/>
            <a:rect l="l" t="t" r="r" b="b"/>
            <a:pathLst>
              <a:path w="6811617" h="1978991">
                <a:moveTo>
                  <a:pt x="35339" y="0"/>
                </a:moveTo>
                <a:lnTo>
                  <a:pt x="6705603" y="0"/>
                </a:lnTo>
                <a:cubicBezTo>
                  <a:pt x="6764153" y="0"/>
                  <a:pt x="6811617" y="47464"/>
                  <a:pt x="6811617" y="106015"/>
                </a:cubicBezTo>
                <a:lnTo>
                  <a:pt x="6811617" y="1872977"/>
                </a:lnTo>
                <a:cubicBezTo>
                  <a:pt x="6811617" y="1931527"/>
                  <a:pt x="6764153" y="1978991"/>
                  <a:pt x="6705603" y="1978991"/>
                </a:cubicBezTo>
                <a:lnTo>
                  <a:pt x="35339" y="1978991"/>
                </a:lnTo>
                <a:cubicBezTo>
                  <a:pt x="15822" y="1978991"/>
                  <a:pt x="0" y="1963169"/>
                  <a:pt x="0" y="1943652"/>
                </a:cubicBezTo>
                <a:lnTo>
                  <a:pt x="0" y="35339"/>
                </a:lnTo>
                <a:cubicBezTo>
                  <a:pt x="0" y="15835"/>
                  <a:pt x="15835" y="0"/>
                  <a:pt x="35339" y="0"/>
                </a:cubicBezTo>
                <a:close/>
              </a:path>
            </a:pathLst>
          </a:custGeom>
          <a:solidFill>
            <a:srgbClr val="263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71061" y="4523409"/>
            <a:ext cx="35339" cy="1978991"/>
          </a:xfrm>
          <a:custGeom>
            <a:avLst/>
            <a:gdLst/>
            <a:ahLst/>
            <a:cxnLst/>
            <a:rect l="l" t="t" r="r" b="b"/>
            <a:pathLst>
              <a:path w="35339" h="1978991">
                <a:moveTo>
                  <a:pt x="35339" y="0"/>
                </a:moveTo>
                <a:lnTo>
                  <a:pt x="35339" y="0"/>
                </a:lnTo>
                <a:lnTo>
                  <a:pt x="35339" y="1978991"/>
                </a:lnTo>
                <a:lnTo>
                  <a:pt x="35339" y="1978991"/>
                </a:lnTo>
                <a:cubicBezTo>
                  <a:pt x="15822" y="1978991"/>
                  <a:pt x="0" y="1963169"/>
                  <a:pt x="0" y="1943652"/>
                </a:cubicBezTo>
                <a:lnTo>
                  <a:pt x="0" y="35339"/>
                </a:lnTo>
                <a:cubicBezTo>
                  <a:pt x="0" y="15835"/>
                  <a:pt x="15835" y="0"/>
                  <a:pt x="35339" y="0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52174" y="4693036"/>
            <a:ext cx="176696" cy="176696"/>
          </a:xfrm>
          <a:custGeom>
            <a:avLst/>
            <a:gdLst/>
            <a:ahLst/>
            <a:cxnLst/>
            <a:rect l="l" t="t" r="r" b="b"/>
            <a:pathLst>
              <a:path w="176696" h="176696">
                <a:moveTo>
                  <a:pt x="41413" y="19326"/>
                </a:moveTo>
                <a:cubicBezTo>
                  <a:pt x="41413" y="8662"/>
                  <a:pt x="50075" y="0"/>
                  <a:pt x="60739" y="0"/>
                </a:cubicBezTo>
                <a:lnTo>
                  <a:pt x="69022" y="0"/>
                </a:lnTo>
                <a:cubicBezTo>
                  <a:pt x="75130" y="0"/>
                  <a:pt x="80065" y="4935"/>
                  <a:pt x="80065" y="11043"/>
                </a:cubicBezTo>
                <a:lnTo>
                  <a:pt x="80065" y="165652"/>
                </a:lnTo>
                <a:cubicBezTo>
                  <a:pt x="80065" y="171761"/>
                  <a:pt x="75130" y="176696"/>
                  <a:pt x="69022" y="176696"/>
                </a:cubicBezTo>
                <a:lnTo>
                  <a:pt x="57978" y="176696"/>
                </a:lnTo>
                <a:cubicBezTo>
                  <a:pt x="47694" y="176696"/>
                  <a:pt x="39032" y="169655"/>
                  <a:pt x="36582" y="160130"/>
                </a:cubicBezTo>
                <a:cubicBezTo>
                  <a:pt x="36340" y="160130"/>
                  <a:pt x="36133" y="160130"/>
                  <a:pt x="35891" y="160130"/>
                </a:cubicBezTo>
                <a:cubicBezTo>
                  <a:pt x="20637" y="160130"/>
                  <a:pt x="8283" y="147776"/>
                  <a:pt x="8283" y="132522"/>
                </a:cubicBezTo>
                <a:cubicBezTo>
                  <a:pt x="8283" y="126310"/>
                  <a:pt x="10353" y="120581"/>
                  <a:pt x="13804" y="115957"/>
                </a:cubicBezTo>
                <a:cubicBezTo>
                  <a:pt x="7109" y="110918"/>
                  <a:pt x="2761" y="102911"/>
                  <a:pt x="2761" y="93870"/>
                </a:cubicBezTo>
                <a:cubicBezTo>
                  <a:pt x="2761" y="83206"/>
                  <a:pt x="8835" y="73922"/>
                  <a:pt x="17670" y="69332"/>
                </a:cubicBezTo>
                <a:cubicBezTo>
                  <a:pt x="15219" y="65191"/>
                  <a:pt x="13804" y="60360"/>
                  <a:pt x="13804" y="55217"/>
                </a:cubicBezTo>
                <a:cubicBezTo>
                  <a:pt x="13804" y="39964"/>
                  <a:pt x="26159" y="27609"/>
                  <a:pt x="41413" y="27609"/>
                </a:cubicBezTo>
                <a:lnTo>
                  <a:pt x="41413" y="19326"/>
                </a:lnTo>
                <a:close/>
                <a:moveTo>
                  <a:pt x="135283" y="19326"/>
                </a:moveTo>
                <a:lnTo>
                  <a:pt x="135283" y="27609"/>
                </a:lnTo>
                <a:cubicBezTo>
                  <a:pt x="150536" y="27609"/>
                  <a:pt x="162891" y="39964"/>
                  <a:pt x="162891" y="55217"/>
                </a:cubicBezTo>
                <a:cubicBezTo>
                  <a:pt x="162891" y="60394"/>
                  <a:pt x="161476" y="65226"/>
                  <a:pt x="159026" y="69332"/>
                </a:cubicBezTo>
                <a:cubicBezTo>
                  <a:pt x="167895" y="73922"/>
                  <a:pt x="173935" y="83171"/>
                  <a:pt x="173935" y="93870"/>
                </a:cubicBezTo>
                <a:cubicBezTo>
                  <a:pt x="173935" y="102911"/>
                  <a:pt x="169586" y="110918"/>
                  <a:pt x="162891" y="115957"/>
                </a:cubicBezTo>
                <a:cubicBezTo>
                  <a:pt x="166342" y="120581"/>
                  <a:pt x="168413" y="126310"/>
                  <a:pt x="168413" y="132522"/>
                </a:cubicBezTo>
                <a:cubicBezTo>
                  <a:pt x="168413" y="147776"/>
                  <a:pt x="156058" y="160130"/>
                  <a:pt x="140804" y="160130"/>
                </a:cubicBezTo>
                <a:cubicBezTo>
                  <a:pt x="140563" y="160130"/>
                  <a:pt x="140356" y="160130"/>
                  <a:pt x="140114" y="160130"/>
                </a:cubicBezTo>
                <a:cubicBezTo>
                  <a:pt x="137664" y="169655"/>
                  <a:pt x="129002" y="176696"/>
                  <a:pt x="118717" y="176696"/>
                </a:cubicBezTo>
                <a:lnTo>
                  <a:pt x="107674" y="176696"/>
                </a:lnTo>
                <a:cubicBezTo>
                  <a:pt x="101565" y="176696"/>
                  <a:pt x="96630" y="171761"/>
                  <a:pt x="96630" y="165652"/>
                </a:cubicBezTo>
                <a:lnTo>
                  <a:pt x="96630" y="11043"/>
                </a:lnTo>
                <a:cubicBezTo>
                  <a:pt x="96630" y="4935"/>
                  <a:pt x="101565" y="0"/>
                  <a:pt x="107674" y="0"/>
                </a:cubicBezTo>
                <a:lnTo>
                  <a:pt x="115957" y="0"/>
                </a:lnTo>
                <a:cubicBezTo>
                  <a:pt x="126620" y="0"/>
                  <a:pt x="135283" y="8662"/>
                  <a:pt x="135283" y="19326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00124" y="4664765"/>
            <a:ext cx="6329546" cy="247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1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YOLO Works (Simplified)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30087" y="5018157"/>
            <a:ext cx="282713" cy="282713"/>
          </a:xfrm>
          <a:custGeom>
            <a:avLst/>
            <a:gdLst/>
            <a:ahLst/>
            <a:cxnLst/>
            <a:rect l="l" t="t" r="r" b="b"/>
            <a:pathLst>
              <a:path w="282713" h="282713">
                <a:moveTo>
                  <a:pt x="141357" y="0"/>
                </a:moveTo>
                <a:lnTo>
                  <a:pt x="141357" y="0"/>
                </a:lnTo>
                <a:cubicBezTo>
                  <a:pt x="219373" y="0"/>
                  <a:pt x="282713" y="63340"/>
                  <a:pt x="282713" y="141357"/>
                </a:cubicBezTo>
                <a:lnTo>
                  <a:pt x="282713" y="141357"/>
                </a:lnTo>
                <a:cubicBezTo>
                  <a:pt x="282713" y="219373"/>
                  <a:pt x="219373" y="282713"/>
                  <a:pt x="141357" y="282713"/>
                </a:cubicBezTo>
                <a:lnTo>
                  <a:pt x="141357" y="282713"/>
                </a:lnTo>
                <a:cubicBezTo>
                  <a:pt x="63340" y="282713"/>
                  <a:pt x="0" y="219373"/>
                  <a:pt x="0" y="141357"/>
                </a:cubicBezTo>
                <a:lnTo>
                  <a:pt x="0" y="141357"/>
                </a:lnTo>
                <a:cubicBezTo>
                  <a:pt x="0" y="63340"/>
                  <a:pt x="63340" y="0"/>
                  <a:pt x="141357" y="0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94748" y="5018157"/>
            <a:ext cx="353391" cy="282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13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18817" y="5018157"/>
            <a:ext cx="2252870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b="1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Divide</a:t>
            </a:r>
            <a:r>
              <a:rPr lang="en-US" sz="1113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image into S×S grid (e.g., 7×7)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30087" y="5371548"/>
            <a:ext cx="282713" cy="282713"/>
          </a:xfrm>
          <a:custGeom>
            <a:avLst/>
            <a:gdLst/>
            <a:ahLst/>
            <a:cxnLst/>
            <a:rect l="l" t="t" r="r" b="b"/>
            <a:pathLst>
              <a:path w="282713" h="282713">
                <a:moveTo>
                  <a:pt x="141357" y="0"/>
                </a:moveTo>
                <a:lnTo>
                  <a:pt x="141357" y="0"/>
                </a:lnTo>
                <a:cubicBezTo>
                  <a:pt x="219373" y="0"/>
                  <a:pt x="282713" y="63340"/>
                  <a:pt x="282713" y="141357"/>
                </a:cubicBezTo>
                <a:lnTo>
                  <a:pt x="282713" y="141357"/>
                </a:lnTo>
                <a:cubicBezTo>
                  <a:pt x="282713" y="219373"/>
                  <a:pt x="219373" y="282713"/>
                  <a:pt x="141357" y="282713"/>
                </a:cubicBezTo>
                <a:lnTo>
                  <a:pt x="141357" y="282713"/>
                </a:lnTo>
                <a:cubicBezTo>
                  <a:pt x="63340" y="282713"/>
                  <a:pt x="0" y="219373"/>
                  <a:pt x="0" y="141357"/>
                </a:cubicBezTo>
                <a:lnTo>
                  <a:pt x="0" y="141357"/>
                </a:lnTo>
                <a:cubicBezTo>
                  <a:pt x="0" y="63340"/>
                  <a:pt x="63340" y="0"/>
                  <a:pt x="141357" y="0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94748" y="5371548"/>
            <a:ext cx="353391" cy="282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13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18817" y="5371548"/>
            <a:ext cx="2500243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b="1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Process</a:t>
            </a:r>
            <a:r>
              <a:rPr lang="en-US" sz="1113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entire image through CNN once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30087" y="5724939"/>
            <a:ext cx="282713" cy="282713"/>
          </a:xfrm>
          <a:custGeom>
            <a:avLst/>
            <a:gdLst/>
            <a:ahLst/>
            <a:cxnLst/>
            <a:rect l="l" t="t" r="r" b="b"/>
            <a:pathLst>
              <a:path w="282713" h="282713">
                <a:moveTo>
                  <a:pt x="141357" y="0"/>
                </a:moveTo>
                <a:lnTo>
                  <a:pt x="141357" y="0"/>
                </a:lnTo>
                <a:cubicBezTo>
                  <a:pt x="219373" y="0"/>
                  <a:pt x="282713" y="63340"/>
                  <a:pt x="282713" y="141357"/>
                </a:cubicBezTo>
                <a:lnTo>
                  <a:pt x="282713" y="141357"/>
                </a:lnTo>
                <a:cubicBezTo>
                  <a:pt x="282713" y="219373"/>
                  <a:pt x="219373" y="282713"/>
                  <a:pt x="141357" y="282713"/>
                </a:cubicBezTo>
                <a:lnTo>
                  <a:pt x="141357" y="282713"/>
                </a:lnTo>
                <a:cubicBezTo>
                  <a:pt x="63340" y="282713"/>
                  <a:pt x="0" y="219373"/>
                  <a:pt x="0" y="141357"/>
                </a:cubicBezTo>
                <a:lnTo>
                  <a:pt x="0" y="141357"/>
                </a:lnTo>
                <a:cubicBezTo>
                  <a:pt x="0" y="63340"/>
                  <a:pt x="63340" y="0"/>
                  <a:pt x="141357" y="0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94748" y="5724939"/>
            <a:ext cx="353391" cy="282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13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918817" y="5724939"/>
            <a:ext cx="3790122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b="1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Predict</a:t>
            </a:r>
            <a:r>
              <a:rPr lang="en-US" sz="1113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bounding boxes + class probabilities for each grid cell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30087" y="6078330"/>
            <a:ext cx="282713" cy="282713"/>
          </a:xfrm>
          <a:custGeom>
            <a:avLst/>
            <a:gdLst/>
            <a:ahLst/>
            <a:cxnLst/>
            <a:rect l="l" t="t" r="r" b="b"/>
            <a:pathLst>
              <a:path w="282713" h="282713">
                <a:moveTo>
                  <a:pt x="141357" y="0"/>
                </a:moveTo>
                <a:lnTo>
                  <a:pt x="141357" y="0"/>
                </a:lnTo>
                <a:cubicBezTo>
                  <a:pt x="219373" y="0"/>
                  <a:pt x="282713" y="63340"/>
                  <a:pt x="282713" y="141357"/>
                </a:cubicBezTo>
                <a:lnTo>
                  <a:pt x="282713" y="141357"/>
                </a:lnTo>
                <a:cubicBezTo>
                  <a:pt x="282713" y="219373"/>
                  <a:pt x="219373" y="282713"/>
                  <a:pt x="141357" y="282713"/>
                </a:cubicBezTo>
                <a:lnTo>
                  <a:pt x="141357" y="282713"/>
                </a:lnTo>
                <a:cubicBezTo>
                  <a:pt x="63340" y="282713"/>
                  <a:pt x="0" y="219373"/>
                  <a:pt x="0" y="141357"/>
                </a:cubicBezTo>
                <a:lnTo>
                  <a:pt x="0" y="141357"/>
                </a:lnTo>
                <a:cubicBezTo>
                  <a:pt x="0" y="63340"/>
                  <a:pt x="63340" y="0"/>
                  <a:pt x="141357" y="0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94748" y="6078330"/>
            <a:ext cx="353391" cy="282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13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918817" y="6078330"/>
            <a:ext cx="3162852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b="1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Apply</a:t>
            </a:r>
            <a:r>
              <a:rPr lang="en-US" sz="1113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thresholding and NMS to get final detections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326906" y="1148522"/>
            <a:ext cx="4505739" cy="3657600"/>
          </a:xfrm>
          <a:custGeom>
            <a:avLst/>
            <a:gdLst/>
            <a:ahLst/>
            <a:cxnLst/>
            <a:rect l="l" t="t" r="r" b="b"/>
            <a:pathLst>
              <a:path w="4505739" h="3657600">
                <a:moveTo>
                  <a:pt x="35339" y="0"/>
                </a:moveTo>
                <a:lnTo>
                  <a:pt x="4470400" y="0"/>
                </a:lnTo>
                <a:cubicBezTo>
                  <a:pt x="4489917" y="0"/>
                  <a:pt x="4505739" y="15822"/>
                  <a:pt x="4505739" y="35339"/>
                </a:cubicBezTo>
                <a:lnTo>
                  <a:pt x="4505739" y="3551566"/>
                </a:lnTo>
                <a:cubicBezTo>
                  <a:pt x="4505739" y="3610088"/>
                  <a:pt x="4458227" y="3657600"/>
                  <a:pt x="4399705" y="3657600"/>
                </a:cubicBezTo>
                <a:lnTo>
                  <a:pt x="106034" y="3657600"/>
                </a:lnTo>
                <a:cubicBezTo>
                  <a:pt x="47473" y="3657600"/>
                  <a:pt x="0" y="3610127"/>
                  <a:pt x="0" y="3551566"/>
                </a:cubicBezTo>
                <a:lnTo>
                  <a:pt x="0" y="35339"/>
                </a:lnTo>
                <a:cubicBezTo>
                  <a:pt x="0" y="15822"/>
                  <a:pt x="15822" y="0"/>
                  <a:pt x="35339" y="0"/>
                </a:cubicBezTo>
                <a:close/>
              </a:path>
            </a:pathLst>
          </a:custGeom>
          <a:solidFill>
            <a:srgbClr val="263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7326906" y="1148522"/>
            <a:ext cx="4505739" cy="35339"/>
          </a:xfrm>
          <a:custGeom>
            <a:avLst/>
            <a:gdLst/>
            <a:ahLst/>
            <a:cxnLst/>
            <a:rect l="l" t="t" r="r" b="b"/>
            <a:pathLst>
              <a:path w="4505739" h="35339">
                <a:moveTo>
                  <a:pt x="35339" y="0"/>
                </a:moveTo>
                <a:lnTo>
                  <a:pt x="4470400" y="0"/>
                </a:lnTo>
                <a:cubicBezTo>
                  <a:pt x="4489917" y="0"/>
                  <a:pt x="4505739" y="15822"/>
                  <a:pt x="4505739" y="35339"/>
                </a:cubicBezTo>
                <a:lnTo>
                  <a:pt x="4505739" y="35339"/>
                </a:lnTo>
                <a:lnTo>
                  <a:pt x="0" y="35339"/>
                </a:lnTo>
                <a:lnTo>
                  <a:pt x="0" y="35339"/>
                </a:lnTo>
                <a:cubicBezTo>
                  <a:pt x="0" y="15835"/>
                  <a:pt x="15835" y="0"/>
                  <a:pt x="35339" y="0"/>
                </a:cubicBezTo>
                <a:close/>
              </a:path>
            </a:pathLst>
          </a:custGeom>
          <a:solidFill>
            <a:srgbClr val="FFD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7490350" y="1335819"/>
            <a:ext cx="176696" cy="176696"/>
          </a:xfrm>
          <a:custGeom>
            <a:avLst/>
            <a:gdLst/>
            <a:ahLst/>
            <a:cxnLst/>
            <a:rect l="l" t="t" r="r" b="b"/>
            <a:pathLst>
              <a:path w="176696" h="176696">
                <a:moveTo>
                  <a:pt x="115957" y="121478"/>
                </a:moveTo>
                <a:cubicBezTo>
                  <a:pt x="149501" y="121478"/>
                  <a:pt x="176696" y="94284"/>
                  <a:pt x="176696" y="60739"/>
                </a:cubicBezTo>
                <a:cubicBezTo>
                  <a:pt x="176696" y="27195"/>
                  <a:pt x="149501" y="0"/>
                  <a:pt x="115957" y="0"/>
                </a:cubicBezTo>
                <a:cubicBezTo>
                  <a:pt x="82412" y="0"/>
                  <a:pt x="55217" y="27195"/>
                  <a:pt x="55217" y="60739"/>
                </a:cubicBezTo>
                <a:cubicBezTo>
                  <a:pt x="55217" y="67193"/>
                  <a:pt x="56218" y="73439"/>
                  <a:pt x="58082" y="79271"/>
                </a:cubicBezTo>
                <a:lnTo>
                  <a:pt x="2416" y="134938"/>
                </a:lnTo>
                <a:cubicBezTo>
                  <a:pt x="863" y="136490"/>
                  <a:pt x="0" y="138596"/>
                  <a:pt x="0" y="140804"/>
                </a:cubicBezTo>
                <a:lnTo>
                  <a:pt x="0" y="168413"/>
                </a:lnTo>
                <a:cubicBezTo>
                  <a:pt x="0" y="173003"/>
                  <a:pt x="3693" y="176696"/>
                  <a:pt x="8283" y="176696"/>
                </a:cubicBezTo>
                <a:lnTo>
                  <a:pt x="35891" y="176696"/>
                </a:lnTo>
                <a:cubicBezTo>
                  <a:pt x="40481" y="176696"/>
                  <a:pt x="44174" y="173003"/>
                  <a:pt x="44174" y="168413"/>
                </a:cubicBezTo>
                <a:lnTo>
                  <a:pt x="44174" y="154609"/>
                </a:lnTo>
                <a:lnTo>
                  <a:pt x="57978" y="154609"/>
                </a:lnTo>
                <a:cubicBezTo>
                  <a:pt x="62568" y="154609"/>
                  <a:pt x="66261" y="150916"/>
                  <a:pt x="66261" y="146326"/>
                </a:cubicBezTo>
                <a:lnTo>
                  <a:pt x="66261" y="132522"/>
                </a:lnTo>
                <a:lnTo>
                  <a:pt x="80065" y="132522"/>
                </a:lnTo>
                <a:cubicBezTo>
                  <a:pt x="82274" y="132522"/>
                  <a:pt x="84379" y="131659"/>
                  <a:pt x="85932" y="130106"/>
                </a:cubicBezTo>
                <a:lnTo>
                  <a:pt x="97424" y="118614"/>
                </a:lnTo>
                <a:cubicBezTo>
                  <a:pt x="103257" y="120477"/>
                  <a:pt x="109503" y="121478"/>
                  <a:pt x="115957" y="121478"/>
                </a:cubicBezTo>
                <a:close/>
                <a:moveTo>
                  <a:pt x="129761" y="33130"/>
                </a:moveTo>
                <a:cubicBezTo>
                  <a:pt x="137380" y="33130"/>
                  <a:pt x="143565" y="39316"/>
                  <a:pt x="143565" y="46935"/>
                </a:cubicBezTo>
                <a:cubicBezTo>
                  <a:pt x="143565" y="54554"/>
                  <a:pt x="137380" y="60739"/>
                  <a:pt x="129761" y="60739"/>
                </a:cubicBezTo>
                <a:cubicBezTo>
                  <a:pt x="122142" y="60739"/>
                  <a:pt x="115957" y="54554"/>
                  <a:pt x="115957" y="46935"/>
                </a:cubicBezTo>
                <a:cubicBezTo>
                  <a:pt x="115957" y="39316"/>
                  <a:pt x="122142" y="33130"/>
                  <a:pt x="129761" y="33130"/>
                </a:cubicBezTo>
                <a:close/>
              </a:path>
            </a:pathLst>
          </a:custGeom>
          <a:solidFill>
            <a:srgbClr val="FFD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7738300" y="1307548"/>
            <a:ext cx="4041337" cy="247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1" b="1" dirty="0">
                <a:solidFill>
                  <a:srgbClr val="FFD5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Advantages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7468263" y="1660939"/>
            <a:ext cx="4223026" cy="671443"/>
          </a:xfrm>
          <a:custGeom>
            <a:avLst/>
            <a:gdLst/>
            <a:ahLst/>
            <a:cxnLst/>
            <a:rect l="l" t="t" r="r" b="b"/>
            <a:pathLst>
              <a:path w="4223026" h="671443">
                <a:moveTo>
                  <a:pt x="70676" y="0"/>
                </a:moveTo>
                <a:lnTo>
                  <a:pt x="4152350" y="0"/>
                </a:lnTo>
                <a:cubicBezTo>
                  <a:pt x="4191383" y="0"/>
                  <a:pt x="4223026" y="31643"/>
                  <a:pt x="4223026" y="70676"/>
                </a:cubicBezTo>
                <a:lnTo>
                  <a:pt x="4223026" y="600767"/>
                </a:lnTo>
                <a:cubicBezTo>
                  <a:pt x="4223026" y="639801"/>
                  <a:pt x="4191383" y="671443"/>
                  <a:pt x="4152350" y="671443"/>
                </a:cubicBezTo>
                <a:lnTo>
                  <a:pt x="70676" y="671443"/>
                </a:lnTo>
                <a:cubicBezTo>
                  <a:pt x="31643" y="671443"/>
                  <a:pt x="0" y="639801"/>
                  <a:pt x="0" y="600767"/>
                </a:cubicBezTo>
                <a:lnTo>
                  <a:pt x="0" y="70676"/>
                </a:lnTo>
                <a:cubicBezTo>
                  <a:pt x="0" y="31669"/>
                  <a:pt x="31669" y="0"/>
                  <a:pt x="70676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7600784" y="1802296"/>
            <a:ext cx="123687" cy="141357"/>
          </a:xfrm>
          <a:custGeom>
            <a:avLst/>
            <a:gdLst/>
            <a:ahLst/>
            <a:cxnLst/>
            <a:rect l="l" t="t" r="r" b="b"/>
            <a:pathLst>
              <a:path w="123687" h="141357">
                <a:moveTo>
                  <a:pt x="93538" y="-2733"/>
                </a:moveTo>
                <a:cubicBezTo>
                  <a:pt x="96824" y="-359"/>
                  <a:pt x="98038" y="3948"/>
                  <a:pt x="96548" y="7703"/>
                </a:cubicBezTo>
                <a:lnTo>
                  <a:pt x="74902" y="61843"/>
                </a:lnTo>
                <a:lnTo>
                  <a:pt x="114852" y="61843"/>
                </a:lnTo>
                <a:cubicBezTo>
                  <a:pt x="118579" y="61843"/>
                  <a:pt x="121892" y="64163"/>
                  <a:pt x="123162" y="67669"/>
                </a:cubicBezTo>
                <a:cubicBezTo>
                  <a:pt x="124432" y="71175"/>
                  <a:pt x="123356" y="75096"/>
                  <a:pt x="120512" y="77470"/>
                </a:cubicBezTo>
                <a:lnTo>
                  <a:pt x="40999" y="143731"/>
                </a:lnTo>
                <a:cubicBezTo>
                  <a:pt x="37879" y="146326"/>
                  <a:pt x="33434" y="146464"/>
                  <a:pt x="30149" y="144090"/>
                </a:cubicBezTo>
                <a:cubicBezTo>
                  <a:pt x="26863" y="141715"/>
                  <a:pt x="25648" y="137408"/>
                  <a:pt x="27139" y="133654"/>
                </a:cubicBezTo>
                <a:lnTo>
                  <a:pt x="48785" y="79513"/>
                </a:lnTo>
                <a:lnTo>
                  <a:pt x="8835" y="79513"/>
                </a:lnTo>
                <a:cubicBezTo>
                  <a:pt x="5108" y="79513"/>
                  <a:pt x="1795" y="77194"/>
                  <a:pt x="525" y="73688"/>
                </a:cubicBezTo>
                <a:cubicBezTo>
                  <a:pt x="-745" y="70181"/>
                  <a:pt x="331" y="66261"/>
                  <a:pt x="3175" y="63887"/>
                </a:cubicBezTo>
                <a:lnTo>
                  <a:pt x="82688" y="-2374"/>
                </a:lnTo>
                <a:cubicBezTo>
                  <a:pt x="85808" y="-4970"/>
                  <a:pt x="90253" y="-5108"/>
                  <a:pt x="93538" y="-2733"/>
                </a:cubicBezTo>
                <a:close/>
              </a:path>
            </a:pathLst>
          </a:custGeom>
          <a:solidFill>
            <a:srgbClr val="FFD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7821654" y="1766957"/>
            <a:ext cx="468243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Speed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7574280" y="2014330"/>
            <a:ext cx="4081670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One forward pass = real-time detection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7468263" y="2438400"/>
            <a:ext cx="4223026" cy="671443"/>
          </a:xfrm>
          <a:custGeom>
            <a:avLst/>
            <a:gdLst/>
            <a:ahLst/>
            <a:cxnLst/>
            <a:rect l="l" t="t" r="r" b="b"/>
            <a:pathLst>
              <a:path w="4223026" h="671443">
                <a:moveTo>
                  <a:pt x="70676" y="0"/>
                </a:moveTo>
                <a:lnTo>
                  <a:pt x="4152350" y="0"/>
                </a:lnTo>
                <a:cubicBezTo>
                  <a:pt x="4191383" y="0"/>
                  <a:pt x="4223026" y="31643"/>
                  <a:pt x="4223026" y="70676"/>
                </a:cubicBezTo>
                <a:lnTo>
                  <a:pt x="4223026" y="600767"/>
                </a:lnTo>
                <a:cubicBezTo>
                  <a:pt x="4223026" y="639801"/>
                  <a:pt x="4191383" y="671443"/>
                  <a:pt x="4152350" y="671443"/>
                </a:cubicBezTo>
                <a:lnTo>
                  <a:pt x="70676" y="671443"/>
                </a:lnTo>
                <a:cubicBezTo>
                  <a:pt x="31643" y="671443"/>
                  <a:pt x="0" y="639801"/>
                  <a:pt x="0" y="600767"/>
                </a:cubicBezTo>
                <a:lnTo>
                  <a:pt x="0" y="70676"/>
                </a:lnTo>
                <a:cubicBezTo>
                  <a:pt x="0" y="31669"/>
                  <a:pt x="31669" y="0"/>
                  <a:pt x="70676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7591950" y="2579757"/>
            <a:ext cx="141357" cy="141357"/>
          </a:xfrm>
          <a:custGeom>
            <a:avLst/>
            <a:gdLst/>
            <a:ahLst/>
            <a:cxnLst/>
            <a:rect l="l" t="t" r="r" b="b"/>
            <a:pathLst>
              <a:path w="141357" h="141357">
                <a:moveTo>
                  <a:pt x="97155" y="77304"/>
                </a:moveTo>
                <a:lnTo>
                  <a:pt x="44450" y="77304"/>
                </a:lnTo>
                <a:cubicBezTo>
                  <a:pt x="45251" y="95112"/>
                  <a:pt x="49199" y="111512"/>
                  <a:pt x="54803" y="123521"/>
                </a:cubicBezTo>
                <a:cubicBezTo>
                  <a:pt x="57951" y="130285"/>
                  <a:pt x="61347" y="135062"/>
                  <a:pt x="64494" y="137988"/>
                </a:cubicBezTo>
                <a:cubicBezTo>
                  <a:pt x="67586" y="140887"/>
                  <a:pt x="69712" y="141357"/>
                  <a:pt x="70816" y="141357"/>
                </a:cubicBezTo>
                <a:cubicBezTo>
                  <a:pt x="71921" y="141357"/>
                  <a:pt x="74047" y="140887"/>
                  <a:pt x="77139" y="137988"/>
                </a:cubicBezTo>
                <a:cubicBezTo>
                  <a:pt x="80286" y="135062"/>
                  <a:pt x="83682" y="130258"/>
                  <a:pt x="86829" y="123521"/>
                </a:cubicBezTo>
                <a:cubicBezTo>
                  <a:pt x="92434" y="111512"/>
                  <a:pt x="96382" y="95112"/>
                  <a:pt x="97183" y="77304"/>
                </a:cubicBezTo>
                <a:close/>
                <a:moveTo>
                  <a:pt x="44422" y="64052"/>
                </a:moveTo>
                <a:lnTo>
                  <a:pt x="97127" y="64052"/>
                </a:lnTo>
                <a:cubicBezTo>
                  <a:pt x="96354" y="46245"/>
                  <a:pt x="92406" y="29845"/>
                  <a:pt x="86802" y="17835"/>
                </a:cubicBezTo>
                <a:cubicBezTo>
                  <a:pt x="83654" y="11099"/>
                  <a:pt x="80258" y="6295"/>
                  <a:pt x="77111" y="3368"/>
                </a:cubicBezTo>
                <a:cubicBezTo>
                  <a:pt x="74019" y="469"/>
                  <a:pt x="71893" y="0"/>
                  <a:pt x="70789" y="0"/>
                </a:cubicBezTo>
                <a:cubicBezTo>
                  <a:pt x="69684" y="0"/>
                  <a:pt x="67558" y="469"/>
                  <a:pt x="64466" y="3368"/>
                </a:cubicBezTo>
                <a:cubicBezTo>
                  <a:pt x="61319" y="6295"/>
                  <a:pt x="57923" y="11099"/>
                  <a:pt x="54776" y="17835"/>
                </a:cubicBezTo>
                <a:cubicBezTo>
                  <a:pt x="49171" y="29845"/>
                  <a:pt x="45223" y="46245"/>
                  <a:pt x="44422" y="64052"/>
                </a:cubicBezTo>
                <a:close/>
                <a:moveTo>
                  <a:pt x="31170" y="64052"/>
                </a:moveTo>
                <a:cubicBezTo>
                  <a:pt x="32137" y="40419"/>
                  <a:pt x="38238" y="18470"/>
                  <a:pt x="47156" y="4058"/>
                </a:cubicBezTo>
                <a:cubicBezTo>
                  <a:pt x="21728" y="13059"/>
                  <a:pt x="3009" y="36223"/>
                  <a:pt x="414" y="64052"/>
                </a:cubicBezTo>
                <a:lnTo>
                  <a:pt x="31170" y="64052"/>
                </a:lnTo>
                <a:close/>
                <a:moveTo>
                  <a:pt x="414" y="77304"/>
                </a:moveTo>
                <a:cubicBezTo>
                  <a:pt x="3009" y="105134"/>
                  <a:pt x="21728" y="128298"/>
                  <a:pt x="47156" y="137298"/>
                </a:cubicBezTo>
                <a:cubicBezTo>
                  <a:pt x="38238" y="122886"/>
                  <a:pt x="32137" y="100937"/>
                  <a:pt x="31170" y="77304"/>
                </a:cubicBezTo>
                <a:lnTo>
                  <a:pt x="414" y="77304"/>
                </a:lnTo>
                <a:close/>
                <a:moveTo>
                  <a:pt x="110407" y="77304"/>
                </a:moveTo>
                <a:cubicBezTo>
                  <a:pt x="109441" y="100937"/>
                  <a:pt x="103339" y="122886"/>
                  <a:pt x="94422" y="137298"/>
                </a:cubicBezTo>
                <a:cubicBezTo>
                  <a:pt x="119849" y="128270"/>
                  <a:pt x="138568" y="105134"/>
                  <a:pt x="141163" y="77304"/>
                </a:cubicBezTo>
                <a:lnTo>
                  <a:pt x="110407" y="77304"/>
                </a:lnTo>
                <a:close/>
                <a:moveTo>
                  <a:pt x="141163" y="64052"/>
                </a:moveTo>
                <a:cubicBezTo>
                  <a:pt x="138568" y="36223"/>
                  <a:pt x="119849" y="13059"/>
                  <a:pt x="94422" y="4058"/>
                </a:cubicBezTo>
                <a:cubicBezTo>
                  <a:pt x="103339" y="18470"/>
                  <a:pt x="109441" y="40419"/>
                  <a:pt x="110407" y="64052"/>
                </a:cubicBezTo>
                <a:lnTo>
                  <a:pt x="141163" y="64052"/>
                </a:lnTo>
                <a:close/>
              </a:path>
            </a:pathLst>
          </a:custGeom>
          <a:solidFill>
            <a:srgbClr val="FFD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7821654" y="2544417"/>
            <a:ext cx="989496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Global Context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7574280" y="2791791"/>
            <a:ext cx="4081670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Sees entire image, reduces background errors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7468263" y="3215861"/>
            <a:ext cx="4223026" cy="671443"/>
          </a:xfrm>
          <a:custGeom>
            <a:avLst/>
            <a:gdLst/>
            <a:ahLst/>
            <a:cxnLst/>
            <a:rect l="l" t="t" r="r" b="b"/>
            <a:pathLst>
              <a:path w="4223026" h="671443">
                <a:moveTo>
                  <a:pt x="70676" y="0"/>
                </a:moveTo>
                <a:lnTo>
                  <a:pt x="4152350" y="0"/>
                </a:lnTo>
                <a:cubicBezTo>
                  <a:pt x="4191383" y="0"/>
                  <a:pt x="4223026" y="31643"/>
                  <a:pt x="4223026" y="70676"/>
                </a:cubicBezTo>
                <a:lnTo>
                  <a:pt x="4223026" y="600767"/>
                </a:lnTo>
                <a:cubicBezTo>
                  <a:pt x="4223026" y="639801"/>
                  <a:pt x="4191383" y="671443"/>
                  <a:pt x="4152350" y="671443"/>
                </a:cubicBezTo>
                <a:lnTo>
                  <a:pt x="70676" y="671443"/>
                </a:lnTo>
                <a:cubicBezTo>
                  <a:pt x="31643" y="671443"/>
                  <a:pt x="0" y="639801"/>
                  <a:pt x="0" y="600767"/>
                </a:cubicBezTo>
                <a:lnTo>
                  <a:pt x="0" y="70676"/>
                </a:lnTo>
                <a:cubicBezTo>
                  <a:pt x="0" y="31669"/>
                  <a:pt x="31669" y="0"/>
                  <a:pt x="70676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7583115" y="3357217"/>
            <a:ext cx="159026" cy="141357"/>
          </a:xfrm>
          <a:custGeom>
            <a:avLst/>
            <a:gdLst/>
            <a:ahLst/>
            <a:cxnLst/>
            <a:rect l="l" t="t" r="r" b="b"/>
            <a:pathLst>
              <a:path w="159026" h="141357">
                <a:moveTo>
                  <a:pt x="99612" y="331"/>
                </a:moveTo>
                <a:cubicBezTo>
                  <a:pt x="94919" y="-1022"/>
                  <a:pt x="90032" y="1712"/>
                  <a:pt x="88679" y="6405"/>
                </a:cubicBezTo>
                <a:lnTo>
                  <a:pt x="53340" y="130092"/>
                </a:lnTo>
                <a:cubicBezTo>
                  <a:pt x="51987" y="134786"/>
                  <a:pt x="54720" y="139672"/>
                  <a:pt x="59414" y="141025"/>
                </a:cubicBezTo>
                <a:cubicBezTo>
                  <a:pt x="64107" y="142378"/>
                  <a:pt x="68994" y="139645"/>
                  <a:pt x="70347" y="134951"/>
                </a:cubicBezTo>
                <a:lnTo>
                  <a:pt x="105686" y="11264"/>
                </a:lnTo>
                <a:cubicBezTo>
                  <a:pt x="107039" y="6571"/>
                  <a:pt x="104306" y="1684"/>
                  <a:pt x="99612" y="331"/>
                </a:cubicBezTo>
                <a:close/>
                <a:moveTo>
                  <a:pt x="117447" y="37907"/>
                </a:moveTo>
                <a:cubicBezTo>
                  <a:pt x="113996" y="41358"/>
                  <a:pt x="113996" y="46962"/>
                  <a:pt x="117447" y="50413"/>
                </a:cubicBezTo>
                <a:lnTo>
                  <a:pt x="137712" y="70678"/>
                </a:lnTo>
                <a:lnTo>
                  <a:pt x="117447" y="90943"/>
                </a:lnTo>
                <a:cubicBezTo>
                  <a:pt x="113996" y="94394"/>
                  <a:pt x="113996" y="99999"/>
                  <a:pt x="117447" y="103450"/>
                </a:cubicBezTo>
                <a:cubicBezTo>
                  <a:pt x="120898" y="106901"/>
                  <a:pt x="126503" y="106901"/>
                  <a:pt x="129954" y="103450"/>
                </a:cubicBezTo>
                <a:lnTo>
                  <a:pt x="156458" y="76945"/>
                </a:lnTo>
                <a:cubicBezTo>
                  <a:pt x="159910" y="73494"/>
                  <a:pt x="159910" y="67890"/>
                  <a:pt x="156458" y="64439"/>
                </a:cubicBezTo>
                <a:lnTo>
                  <a:pt x="129954" y="37934"/>
                </a:lnTo>
                <a:cubicBezTo>
                  <a:pt x="126503" y="34483"/>
                  <a:pt x="120898" y="34483"/>
                  <a:pt x="117447" y="37934"/>
                </a:cubicBezTo>
                <a:close/>
                <a:moveTo>
                  <a:pt x="41606" y="37907"/>
                </a:moveTo>
                <a:cubicBezTo>
                  <a:pt x="38155" y="34456"/>
                  <a:pt x="32551" y="34456"/>
                  <a:pt x="29100" y="37907"/>
                </a:cubicBezTo>
                <a:lnTo>
                  <a:pt x="2595" y="64411"/>
                </a:lnTo>
                <a:cubicBezTo>
                  <a:pt x="-856" y="67862"/>
                  <a:pt x="-856" y="73467"/>
                  <a:pt x="2595" y="76918"/>
                </a:cubicBezTo>
                <a:lnTo>
                  <a:pt x="29100" y="103422"/>
                </a:lnTo>
                <a:cubicBezTo>
                  <a:pt x="32551" y="106873"/>
                  <a:pt x="38155" y="106873"/>
                  <a:pt x="41606" y="103422"/>
                </a:cubicBezTo>
                <a:cubicBezTo>
                  <a:pt x="45057" y="99971"/>
                  <a:pt x="45057" y="94367"/>
                  <a:pt x="41606" y="90915"/>
                </a:cubicBezTo>
                <a:lnTo>
                  <a:pt x="21342" y="70678"/>
                </a:lnTo>
                <a:lnTo>
                  <a:pt x="41579" y="50413"/>
                </a:lnTo>
                <a:cubicBezTo>
                  <a:pt x="45030" y="46962"/>
                  <a:pt x="45030" y="41358"/>
                  <a:pt x="41579" y="37907"/>
                </a:cubicBezTo>
                <a:close/>
              </a:path>
            </a:pathLst>
          </a:custGeom>
          <a:solidFill>
            <a:srgbClr val="FFD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7821654" y="3321878"/>
            <a:ext cx="795130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End-to-End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7574280" y="3569252"/>
            <a:ext cx="4081670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Joint training, no complex pipeline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7468263" y="3993322"/>
            <a:ext cx="4223026" cy="671443"/>
          </a:xfrm>
          <a:custGeom>
            <a:avLst/>
            <a:gdLst/>
            <a:ahLst/>
            <a:cxnLst/>
            <a:rect l="l" t="t" r="r" b="b"/>
            <a:pathLst>
              <a:path w="4223026" h="671443">
                <a:moveTo>
                  <a:pt x="70676" y="0"/>
                </a:moveTo>
                <a:lnTo>
                  <a:pt x="4152350" y="0"/>
                </a:lnTo>
                <a:cubicBezTo>
                  <a:pt x="4191383" y="0"/>
                  <a:pt x="4223026" y="31643"/>
                  <a:pt x="4223026" y="70676"/>
                </a:cubicBezTo>
                <a:lnTo>
                  <a:pt x="4223026" y="600767"/>
                </a:lnTo>
                <a:cubicBezTo>
                  <a:pt x="4223026" y="639801"/>
                  <a:pt x="4191383" y="671443"/>
                  <a:pt x="4152350" y="671443"/>
                </a:cubicBezTo>
                <a:lnTo>
                  <a:pt x="70676" y="671443"/>
                </a:lnTo>
                <a:cubicBezTo>
                  <a:pt x="31643" y="671443"/>
                  <a:pt x="0" y="639801"/>
                  <a:pt x="0" y="600767"/>
                </a:cubicBezTo>
                <a:lnTo>
                  <a:pt x="0" y="70676"/>
                </a:lnTo>
                <a:cubicBezTo>
                  <a:pt x="0" y="31669"/>
                  <a:pt x="31669" y="0"/>
                  <a:pt x="70676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7591950" y="4134678"/>
            <a:ext cx="141357" cy="141357"/>
          </a:xfrm>
          <a:custGeom>
            <a:avLst/>
            <a:gdLst/>
            <a:ahLst/>
            <a:cxnLst/>
            <a:rect l="l" t="t" r="r" b="b"/>
            <a:pathLst>
              <a:path w="141357" h="141357">
                <a:moveTo>
                  <a:pt x="35339" y="88348"/>
                </a:moveTo>
                <a:lnTo>
                  <a:pt x="6764" y="88348"/>
                </a:lnTo>
                <a:cubicBezTo>
                  <a:pt x="-110" y="88348"/>
                  <a:pt x="-4335" y="80866"/>
                  <a:pt x="-801" y="74958"/>
                </a:cubicBezTo>
                <a:lnTo>
                  <a:pt x="13804" y="50607"/>
                </a:lnTo>
                <a:cubicBezTo>
                  <a:pt x="16206" y="46603"/>
                  <a:pt x="20513" y="44174"/>
                  <a:pt x="25179" y="44174"/>
                </a:cubicBezTo>
                <a:lnTo>
                  <a:pt x="51407" y="44174"/>
                </a:lnTo>
                <a:cubicBezTo>
                  <a:pt x="72418" y="8586"/>
                  <a:pt x="103753" y="6792"/>
                  <a:pt x="124708" y="9856"/>
                </a:cubicBezTo>
                <a:cubicBezTo>
                  <a:pt x="128242" y="10381"/>
                  <a:pt x="131003" y="13142"/>
                  <a:pt x="131500" y="16648"/>
                </a:cubicBezTo>
                <a:cubicBezTo>
                  <a:pt x="134565" y="37603"/>
                  <a:pt x="132770" y="68939"/>
                  <a:pt x="97183" y="89949"/>
                </a:cubicBezTo>
                <a:lnTo>
                  <a:pt x="97183" y="116177"/>
                </a:lnTo>
                <a:cubicBezTo>
                  <a:pt x="97183" y="120843"/>
                  <a:pt x="94753" y="125150"/>
                  <a:pt x="90750" y="127552"/>
                </a:cubicBezTo>
                <a:lnTo>
                  <a:pt x="66399" y="142157"/>
                </a:lnTo>
                <a:cubicBezTo>
                  <a:pt x="60518" y="145691"/>
                  <a:pt x="53009" y="141439"/>
                  <a:pt x="53009" y="134592"/>
                </a:cubicBezTo>
                <a:lnTo>
                  <a:pt x="53009" y="106017"/>
                </a:lnTo>
                <a:cubicBezTo>
                  <a:pt x="53009" y="96272"/>
                  <a:pt x="45085" y="88348"/>
                  <a:pt x="35339" y="88348"/>
                </a:cubicBezTo>
                <a:lnTo>
                  <a:pt x="35312" y="88348"/>
                </a:lnTo>
                <a:close/>
                <a:moveTo>
                  <a:pt x="110435" y="44174"/>
                </a:moveTo>
                <a:cubicBezTo>
                  <a:pt x="110435" y="36860"/>
                  <a:pt x="104497" y="30922"/>
                  <a:pt x="97183" y="30922"/>
                </a:cubicBezTo>
                <a:cubicBezTo>
                  <a:pt x="89869" y="30922"/>
                  <a:pt x="83930" y="36860"/>
                  <a:pt x="83930" y="44174"/>
                </a:cubicBezTo>
                <a:cubicBezTo>
                  <a:pt x="83930" y="51488"/>
                  <a:pt x="89869" y="57426"/>
                  <a:pt x="97183" y="57426"/>
                </a:cubicBezTo>
                <a:cubicBezTo>
                  <a:pt x="104497" y="57426"/>
                  <a:pt x="110435" y="51488"/>
                  <a:pt x="110435" y="44174"/>
                </a:cubicBezTo>
                <a:close/>
              </a:path>
            </a:pathLst>
          </a:custGeom>
          <a:solidFill>
            <a:srgbClr val="FFD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7821654" y="4099339"/>
            <a:ext cx="909983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Generalizable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7574280" y="4346713"/>
            <a:ext cx="4081670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Learns representations transferable to new domains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7330440" y="4951012"/>
            <a:ext cx="4503972" cy="1243937"/>
          </a:xfrm>
          <a:custGeom>
            <a:avLst/>
            <a:gdLst/>
            <a:ahLst/>
            <a:cxnLst/>
            <a:rect l="l" t="t" r="r" b="b"/>
            <a:pathLst>
              <a:path w="4503972" h="1243937">
                <a:moveTo>
                  <a:pt x="106021" y="0"/>
                </a:moveTo>
                <a:lnTo>
                  <a:pt x="4397951" y="0"/>
                </a:lnTo>
                <a:cubicBezTo>
                  <a:pt x="4456505" y="0"/>
                  <a:pt x="4503972" y="47467"/>
                  <a:pt x="4503972" y="106021"/>
                </a:cubicBezTo>
                <a:lnTo>
                  <a:pt x="4503972" y="1137917"/>
                </a:lnTo>
                <a:cubicBezTo>
                  <a:pt x="4503972" y="1196470"/>
                  <a:pt x="4456505" y="1243937"/>
                  <a:pt x="4397951" y="1243937"/>
                </a:cubicBezTo>
                <a:lnTo>
                  <a:pt x="106021" y="1243937"/>
                </a:lnTo>
                <a:cubicBezTo>
                  <a:pt x="47467" y="1243937"/>
                  <a:pt x="0" y="1196470"/>
                  <a:pt x="0" y="1137917"/>
                </a:cubicBezTo>
                <a:lnTo>
                  <a:pt x="0" y="106021"/>
                </a:lnTo>
                <a:cubicBezTo>
                  <a:pt x="0" y="47506"/>
                  <a:pt x="47506" y="0"/>
                  <a:pt x="106021" y="0"/>
                </a:cubicBezTo>
                <a:close/>
              </a:path>
            </a:pathLst>
          </a:custGeom>
          <a:solidFill>
            <a:srgbClr val="4DB6AC">
              <a:alpha val="10196"/>
            </a:srgbClr>
          </a:solidFill>
          <a:ln w="10160">
            <a:solidFill>
              <a:srgbClr val="4DB6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7507357" y="5138310"/>
            <a:ext cx="139148" cy="159026"/>
          </a:xfrm>
          <a:custGeom>
            <a:avLst/>
            <a:gdLst/>
            <a:ahLst/>
            <a:cxnLst/>
            <a:rect l="l" t="t" r="r" b="b"/>
            <a:pathLst>
              <a:path w="139148" h="159026">
                <a:moveTo>
                  <a:pt x="0" y="67089"/>
                </a:moveTo>
                <a:cubicBezTo>
                  <a:pt x="0" y="46496"/>
                  <a:pt x="16679" y="29817"/>
                  <a:pt x="37272" y="29817"/>
                </a:cubicBezTo>
                <a:lnTo>
                  <a:pt x="39757" y="29817"/>
                </a:lnTo>
                <a:cubicBezTo>
                  <a:pt x="45254" y="29817"/>
                  <a:pt x="49696" y="34259"/>
                  <a:pt x="49696" y="39757"/>
                </a:cubicBezTo>
                <a:cubicBezTo>
                  <a:pt x="49696" y="45254"/>
                  <a:pt x="45254" y="49696"/>
                  <a:pt x="39757" y="49696"/>
                </a:cubicBezTo>
                <a:lnTo>
                  <a:pt x="37272" y="49696"/>
                </a:lnTo>
                <a:cubicBezTo>
                  <a:pt x="27674" y="49696"/>
                  <a:pt x="19878" y="57492"/>
                  <a:pt x="19878" y="67089"/>
                </a:cubicBezTo>
                <a:lnTo>
                  <a:pt x="19878" y="69574"/>
                </a:lnTo>
                <a:lnTo>
                  <a:pt x="39757" y="69574"/>
                </a:lnTo>
                <a:cubicBezTo>
                  <a:pt x="50721" y="69574"/>
                  <a:pt x="59635" y="78488"/>
                  <a:pt x="59635" y="89452"/>
                </a:cubicBezTo>
                <a:lnTo>
                  <a:pt x="59635" y="109330"/>
                </a:lnTo>
                <a:cubicBezTo>
                  <a:pt x="59635" y="120295"/>
                  <a:pt x="50721" y="129209"/>
                  <a:pt x="39757" y="129209"/>
                </a:cubicBezTo>
                <a:lnTo>
                  <a:pt x="19878" y="129209"/>
                </a:lnTo>
                <a:cubicBezTo>
                  <a:pt x="8914" y="129209"/>
                  <a:pt x="0" y="120295"/>
                  <a:pt x="0" y="109330"/>
                </a:cubicBezTo>
                <a:lnTo>
                  <a:pt x="0" y="67089"/>
                </a:lnTo>
                <a:close/>
                <a:moveTo>
                  <a:pt x="79513" y="67089"/>
                </a:moveTo>
                <a:cubicBezTo>
                  <a:pt x="79513" y="46496"/>
                  <a:pt x="96192" y="29817"/>
                  <a:pt x="116785" y="29817"/>
                </a:cubicBezTo>
                <a:lnTo>
                  <a:pt x="119270" y="29817"/>
                </a:lnTo>
                <a:cubicBezTo>
                  <a:pt x="124767" y="29817"/>
                  <a:pt x="129209" y="34259"/>
                  <a:pt x="129209" y="39757"/>
                </a:cubicBezTo>
                <a:cubicBezTo>
                  <a:pt x="129209" y="45254"/>
                  <a:pt x="124767" y="49696"/>
                  <a:pt x="119270" y="49696"/>
                </a:cubicBezTo>
                <a:lnTo>
                  <a:pt x="116785" y="49696"/>
                </a:lnTo>
                <a:cubicBezTo>
                  <a:pt x="107187" y="49696"/>
                  <a:pt x="99391" y="57492"/>
                  <a:pt x="99391" y="67089"/>
                </a:cubicBezTo>
                <a:lnTo>
                  <a:pt x="99391" y="69574"/>
                </a:lnTo>
                <a:lnTo>
                  <a:pt x="119270" y="69574"/>
                </a:lnTo>
                <a:cubicBezTo>
                  <a:pt x="130234" y="69574"/>
                  <a:pt x="139148" y="78488"/>
                  <a:pt x="139148" y="89452"/>
                </a:cubicBezTo>
                <a:lnTo>
                  <a:pt x="139148" y="109330"/>
                </a:lnTo>
                <a:cubicBezTo>
                  <a:pt x="139148" y="120295"/>
                  <a:pt x="130234" y="129209"/>
                  <a:pt x="119270" y="129209"/>
                </a:cubicBezTo>
                <a:lnTo>
                  <a:pt x="99391" y="129209"/>
                </a:lnTo>
                <a:cubicBezTo>
                  <a:pt x="88427" y="129209"/>
                  <a:pt x="79513" y="120295"/>
                  <a:pt x="79513" y="109330"/>
                </a:cubicBezTo>
                <a:lnTo>
                  <a:pt x="79513" y="67089"/>
                </a:ln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7727698" y="5095903"/>
            <a:ext cx="4041337" cy="247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2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"You Only Look Once"?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7475330" y="5413955"/>
            <a:ext cx="4284870" cy="636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Because unlike other detectors that examine regions multiple times, YOLO processes the </a:t>
            </a:r>
            <a:r>
              <a:rPr lang="en-US" sz="1113" b="1" dirty="0">
                <a:solidFill>
                  <a:srgbClr val="FFD5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entire image just once</a:t>
            </a:r>
            <a:r>
              <a:rPr lang="en-US" sz="1113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through a single neural network!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50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MECHANISM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Grid Cells &amp; Bounding Boxes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33375" y="1016000"/>
            <a:ext cx="5699125" cy="2238375"/>
          </a:xfrm>
          <a:custGeom>
            <a:avLst/>
            <a:gdLst/>
            <a:ahLst/>
            <a:cxnLst/>
            <a:rect l="l" t="t" r="r" b="b"/>
            <a:pathLst>
              <a:path w="5699125" h="2238375">
                <a:moveTo>
                  <a:pt x="31750" y="0"/>
                </a:moveTo>
                <a:lnTo>
                  <a:pt x="5603882" y="0"/>
                </a:lnTo>
                <a:cubicBezTo>
                  <a:pt x="5656448" y="0"/>
                  <a:pt x="5699125" y="42677"/>
                  <a:pt x="5699125" y="95243"/>
                </a:cubicBezTo>
                <a:lnTo>
                  <a:pt x="5699125" y="2143132"/>
                </a:lnTo>
                <a:cubicBezTo>
                  <a:pt x="5699125" y="2195733"/>
                  <a:pt x="5656483" y="2238375"/>
                  <a:pt x="5603882" y="2238375"/>
                </a:cubicBezTo>
                <a:lnTo>
                  <a:pt x="31750" y="2238375"/>
                </a:lnTo>
                <a:cubicBezTo>
                  <a:pt x="14227" y="2238375"/>
                  <a:pt x="0" y="2224148"/>
                  <a:pt x="0" y="22066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63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33375" y="1016000"/>
            <a:ext cx="31750" cy="2238375"/>
          </a:xfrm>
          <a:custGeom>
            <a:avLst/>
            <a:gdLst/>
            <a:ahLst/>
            <a:cxnLst/>
            <a:rect l="l" t="t" r="r" b="b"/>
            <a:pathLst>
              <a:path w="31750" h="2238375">
                <a:moveTo>
                  <a:pt x="31750" y="0"/>
                </a:moveTo>
                <a:lnTo>
                  <a:pt x="31750" y="0"/>
                </a:lnTo>
                <a:lnTo>
                  <a:pt x="31750" y="2238375"/>
                </a:lnTo>
                <a:lnTo>
                  <a:pt x="31750" y="2238375"/>
                </a:lnTo>
                <a:cubicBezTo>
                  <a:pt x="14227" y="2238375"/>
                  <a:pt x="0" y="2224148"/>
                  <a:pt x="0" y="22066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6016" y="1168400"/>
            <a:ext cx="138906" cy="158750"/>
          </a:xfrm>
          <a:custGeom>
            <a:avLst/>
            <a:gdLst/>
            <a:ahLst/>
            <a:cxnLst/>
            <a:rect l="l" t="t" r="r" b="b"/>
            <a:pathLst>
              <a:path w="138906" h="158750">
                <a:moveTo>
                  <a:pt x="119062" y="29766"/>
                </a:moveTo>
                <a:lnTo>
                  <a:pt x="119062" y="49609"/>
                </a:lnTo>
                <a:lnTo>
                  <a:pt x="99219" y="49609"/>
                </a:lnTo>
                <a:lnTo>
                  <a:pt x="99219" y="29766"/>
                </a:lnTo>
                <a:lnTo>
                  <a:pt x="119062" y="29766"/>
                </a:lnTo>
                <a:close/>
                <a:moveTo>
                  <a:pt x="119062" y="69453"/>
                </a:moveTo>
                <a:lnTo>
                  <a:pt x="119062" y="89297"/>
                </a:lnTo>
                <a:lnTo>
                  <a:pt x="99219" y="89297"/>
                </a:lnTo>
                <a:lnTo>
                  <a:pt x="99219" y="69453"/>
                </a:lnTo>
                <a:lnTo>
                  <a:pt x="119062" y="69453"/>
                </a:lnTo>
                <a:close/>
                <a:moveTo>
                  <a:pt x="119062" y="109141"/>
                </a:moveTo>
                <a:lnTo>
                  <a:pt x="119062" y="128984"/>
                </a:lnTo>
                <a:lnTo>
                  <a:pt x="99219" y="128984"/>
                </a:lnTo>
                <a:lnTo>
                  <a:pt x="99219" y="109141"/>
                </a:lnTo>
                <a:lnTo>
                  <a:pt x="119062" y="109141"/>
                </a:lnTo>
                <a:close/>
                <a:moveTo>
                  <a:pt x="79375" y="89297"/>
                </a:moveTo>
                <a:lnTo>
                  <a:pt x="59531" y="89297"/>
                </a:lnTo>
                <a:lnTo>
                  <a:pt x="59531" y="69453"/>
                </a:lnTo>
                <a:lnTo>
                  <a:pt x="79375" y="69453"/>
                </a:lnTo>
                <a:lnTo>
                  <a:pt x="79375" y="89297"/>
                </a:lnTo>
                <a:close/>
                <a:moveTo>
                  <a:pt x="59531" y="109141"/>
                </a:moveTo>
                <a:lnTo>
                  <a:pt x="79375" y="109141"/>
                </a:lnTo>
                <a:lnTo>
                  <a:pt x="79375" y="128984"/>
                </a:lnTo>
                <a:lnTo>
                  <a:pt x="59531" y="128984"/>
                </a:lnTo>
                <a:lnTo>
                  <a:pt x="59531" y="109141"/>
                </a:lnTo>
                <a:close/>
                <a:moveTo>
                  <a:pt x="39688" y="89297"/>
                </a:moveTo>
                <a:lnTo>
                  <a:pt x="19844" y="89297"/>
                </a:lnTo>
                <a:lnTo>
                  <a:pt x="19844" y="69453"/>
                </a:lnTo>
                <a:lnTo>
                  <a:pt x="39688" y="69453"/>
                </a:lnTo>
                <a:lnTo>
                  <a:pt x="39688" y="89297"/>
                </a:lnTo>
                <a:close/>
                <a:moveTo>
                  <a:pt x="19844" y="109141"/>
                </a:moveTo>
                <a:lnTo>
                  <a:pt x="39688" y="109141"/>
                </a:lnTo>
                <a:lnTo>
                  <a:pt x="39688" y="128984"/>
                </a:lnTo>
                <a:lnTo>
                  <a:pt x="19844" y="128984"/>
                </a:lnTo>
                <a:lnTo>
                  <a:pt x="19844" y="109141"/>
                </a:lnTo>
                <a:close/>
                <a:moveTo>
                  <a:pt x="19844" y="49609"/>
                </a:moveTo>
                <a:lnTo>
                  <a:pt x="19844" y="29766"/>
                </a:lnTo>
                <a:lnTo>
                  <a:pt x="39688" y="29766"/>
                </a:lnTo>
                <a:lnTo>
                  <a:pt x="39688" y="49609"/>
                </a:lnTo>
                <a:lnTo>
                  <a:pt x="19844" y="49609"/>
                </a:lnTo>
                <a:close/>
                <a:moveTo>
                  <a:pt x="59531" y="49609"/>
                </a:moveTo>
                <a:lnTo>
                  <a:pt x="59531" y="29766"/>
                </a:lnTo>
                <a:lnTo>
                  <a:pt x="79375" y="29766"/>
                </a:lnTo>
                <a:lnTo>
                  <a:pt x="79375" y="49609"/>
                </a:lnTo>
                <a:lnTo>
                  <a:pt x="59531" y="49609"/>
                </a:lnTo>
                <a:close/>
                <a:moveTo>
                  <a:pt x="19844" y="9922"/>
                </a:moveTo>
                <a:cubicBezTo>
                  <a:pt x="8899" y="9922"/>
                  <a:pt x="0" y="18821"/>
                  <a:pt x="0" y="29766"/>
                </a:cubicBezTo>
                <a:lnTo>
                  <a:pt x="0" y="128984"/>
                </a:lnTo>
                <a:cubicBezTo>
                  <a:pt x="0" y="139929"/>
                  <a:pt x="8899" y="148828"/>
                  <a:pt x="19844" y="148828"/>
                </a:cubicBezTo>
                <a:lnTo>
                  <a:pt x="119062" y="148828"/>
                </a:lnTo>
                <a:cubicBezTo>
                  <a:pt x="130008" y="148828"/>
                  <a:pt x="138906" y="139929"/>
                  <a:pt x="138906" y="128984"/>
                </a:cubicBezTo>
                <a:lnTo>
                  <a:pt x="138906" y="29766"/>
                </a:lnTo>
                <a:cubicBezTo>
                  <a:pt x="138906" y="18821"/>
                  <a:pt x="130008" y="9922"/>
                  <a:pt x="119062" y="9922"/>
                </a:cubicBezTo>
                <a:lnTo>
                  <a:pt x="19844" y="9922"/>
                </a:ln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14375" y="1143000"/>
            <a:ext cx="52705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Grid System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76250" y="1460500"/>
            <a:ext cx="549275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YOLO divides the input image into an </a:t>
            </a:r>
            <a:r>
              <a:rPr lang="en-US" sz="1000" b="1" dirty="0">
                <a:solidFill>
                  <a:srgbClr val="FFD5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S×S grid</a:t>
            </a:r>
            <a:r>
              <a:rPr lang="en-US" sz="1000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Each grid cell is responsible for detecting objects whose </a:t>
            </a:r>
            <a:r>
              <a:rPr lang="en-US" sz="1000" b="1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center falls within that cell</a:t>
            </a:r>
            <a:r>
              <a:rPr lang="en-US" sz="1000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76250" y="1968500"/>
            <a:ext cx="2667000" cy="666750"/>
          </a:xfrm>
          <a:custGeom>
            <a:avLst/>
            <a:gdLst/>
            <a:ahLst/>
            <a:cxnLst/>
            <a:rect l="l" t="t" r="r" b="b"/>
            <a:pathLst>
              <a:path w="2667000" h="666750">
                <a:moveTo>
                  <a:pt x="63501" y="0"/>
                </a:moveTo>
                <a:lnTo>
                  <a:pt x="2603499" y="0"/>
                </a:lnTo>
                <a:cubicBezTo>
                  <a:pt x="2638570" y="0"/>
                  <a:pt x="2667000" y="28430"/>
                  <a:pt x="2667000" y="63501"/>
                </a:cubicBezTo>
                <a:lnTo>
                  <a:pt x="2667000" y="603249"/>
                </a:lnTo>
                <a:cubicBezTo>
                  <a:pt x="2667000" y="638320"/>
                  <a:pt x="2638570" y="666750"/>
                  <a:pt x="2603499" y="666750"/>
                </a:cubicBezTo>
                <a:lnTo>
                  <a:pt x="63501" y="666750"/>
                </a:lnTo>
                <a:cubicBezTo>
                  <a:pt x="28430" y="666750"/>
                  <a:pt x="0" y="638320"/>
                  <a:pt x="0" y="60324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11969" y="2063750"/>
            <a:ext cx="259556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75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7×7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39750" y="2349500"/>
            <a:ext cx="254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YOLOv1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238500" y="1968500"/>
            <a:ext cx="2667000" cy="666750"/>
          </a:xfrm>
          <a:custGeom>
            <a:avLst/>
            <a:gdLst/>
            <a:ahLst/>
            <a:cxnLst/>
            <a:rect l="l" t="t" r="r" b="b"/>
            <a:pathLst>
              <a:path w="2667000" h="666750">
                <a:moveTo>
                  <a:pt x="63501" y="0"/>
                </a:moveTo>
                <a:lnTo>
                  <a:pt x="2603499" y="0"/>
                </a:lnTo>
                <a:cubicBezTo>
                  <a:pt x="2638570" y="0"/>
                  <a:pt x="2667000" y="28430"/>
                  <a:pt x="2667000" y="63501"/>
                </a:cubicBezTo>
                <a:lnTo>
                  <a:pt x="2667000" y="603249"/>
                </a:lnTo>
                <a:cubicBezTo>
                  <a:pt x="2667000" y="638320"/>
                  <a:pt x="2638570" y="666750"/>
                  <a:pt x="2603499" y="666750"/>
                </a:cubicBezTo>
                <a:lnTo>
                  <a:pt x="63501" y="666750"/>
                </a:lnTo>
                <a:cubicBezTo>
                  <a:pt x="28430" y="666750"/>
                  <a:pt x="0" y="638320"/>
                  <a:pt x="0" y="60324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74219" y="2063750"/>
            <a:ext cx="259556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75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19×19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302000" y="2349500"/>
            <a:ext cx="254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YOLOv3+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79425" y="2733675"/>
            <a:ext cx="5419725" cy="387350"/>
          </a:xfrm>
          <a:custGeom>
            <a:avLst/>
            <a:gdLst/>
            <a:ahLst/>
            <a:cxnLst/>
            <a:rect l="l" t="t" r="r" b="b"/>
            <a:pathLst>
              <a:path w="5419725" h="387350">
                <a:moveTo>
                  <a:pt x="63498" y="0"/>
                </a:moveTo>
                <a:lnTo>
                  <a:pt x="5356227" y="0"/>
                </a:lnTo>
                <a:cubicBezTo>
                  <a:pt x="5391272" y="0"/>
                  <a:pt x="5419725" y="28453"/>
                  <a:pt x="5419725" y="63498"/>
                </a:cubicBezTo>
                <a:lnTo>
                  <a:pt x="5419725" y="323852"/>
                </a:lnTo>
                <a:cubicBezTo>
                  <a:pt x="5419725" y="358897"/>
                  <a:pt x="5391272" y="387350"/>
                  <a:pt x="5356227" y="387350"/>
                </a:cubicBezTo>
                <a:lnTo>
                  <a:pt x="63498" y="387350"/>
                </a:lnTo>
                <a:cubicBezTo>
                  <a:pt x="28453" y="387350"/>
                  <a:pt x="0" y="358897"/>
                  <a:pt x="0" y="3238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FFD54F">
              <a:alpha val="10196"/>
            </a:srgbClr>
          </a:solidFill>
          <a:ln w="10160">
            <a:solidFill>
              <a:srgbClr val="FFD5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93725" y="285750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55563" y="39688"/>
                </a:moveTo>
                <a:cubicBezTo>
                  <a:pt x="55563" y="35307"/>
                  <a:pt x="59119" y="31750"/>
                  <a:pt x="63500" y="31750"/>
                </a:cubicBezTo>
                <a:cubicBezTo>
                  <a:pt x="67881" y="31750"/>
                  <a:pt x="71438" y="35307"/>
                  <a:pt x="71438" y="39688"/>
                </a:cubicBezTo>
                <a:cubicBezTo>
                  <a:pt x="71438" y="44068"/>
                  <a:pt x="67881" y="47625"/>
                  <a:pt x="63500" y="47625"/>
                </a:cubicBezTo>
                <a:cubicBezTo>
                  <a:pt x="59119" y="47625"/>
                  <a:pt x="55563" y="44068"/>
                  <a:pt x="55563" y="39688"/>
                </a:cubicBezTo>
                <a:close/>
                <a:moveTo>
                  <a:pt x="53578" y="55563"/>
                </a:moveTo>
                <a:lnTo>
                  <a:pt x="65484" y="55563"/>
                </a:lnTo>
                <a:cubicBezTo>
                  <a:pt x="68783" y="55563"/>
                  <a:pt x="71438" y="58217"/>
                  <a:pt x="71438" y="61516"/>
                </a:cubicBezTo>
                <a:lnTo>
                  <a:pt x="71438" y="83344"/>
                </a:lnTo>
                <a:lnTo>
                  <a:pt x="73422" y="83344"/>
                </a:lnTo>
                <a:cubicBezTo>
                  <a:pt x="76721" y="83344"/>
                  <a:pt x="79375" y="85998"/>
                  <a:pt x="79375" y="89297"/>
                </a:cubicBezTo>
                <a:cubicBezTo>
                  <a:pt x="79375" y="92596"/>
                  <a:pt x="76721" y="95250"/>
                  <a:pt x="73422" y="95250"/>
                </a:cubicBezTo>
                <a:lnTo>
                  <a:pt x="53578" y="95250"/>
                </a:lnTo>
                <a:cubicBezTo>
                  <a:pt x="50279" y="95250"/>
                  <a:pt x="47625" y="92596"/>
                  <a:pt x="47625" y="89297"/>
                </a:cubicBezTo>
                <a:cubicBezTo>
                  <a:pt x="47625" y="85998"/>
                  <a:pt x="50279" y="83344"/>
                  <a:pt x="53578" y="83344"/>
                </a:cubicBezTo>
                <a:lnTo>
                  <a:pt x="59531" y="83344"/>
                </a:lnTo>
                <a:lnTo>
                  <a:pt x="59531" y="67469"/>
                </a:lnTo>
                <a:lnTo>
                  <a:pt x="53578" y="67469"/>
                </a:lnTo>
                <a:cubicBezTo>
                  <a:pt x="50279" y="67469"/>
                  <a:pt x="47625" y="64815"/>
                  <a:pt x="47625" y="61516"/>
                </a:cubicBezTo>
                <a:cubicBezTo>
                  <a:pt x="47625" y="58217"/>
                  <a:pt x="50279" y="55563"/>
                  <a:pt x="53578" y="55563"/>
                </a:cubicBezTo>
                <a:close/>
              </a:path>
            </a:pathLst>
          </a:custGeom>
          <a:solidFill>
            <a:srgbClr val="FFD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76288" y="2832102"/>
            <a:ext cx="5087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Rule:</a:t>
            </a:r>
            <a:r>
              <a:rPr lang="en-US" sz="1000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If an object's center is in a cell, that cell predicts the object.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17500" y="3346451"/>
            <a:ext cx="5699125" cy="3511549"/>
          </a:xfrm>
          <a:custGeom>
            <a:avLst/>
            <a:gdLst/>
            <a:ahLst/>
            <a:cxnLst/>
            <a:rect l="l" t="t" r="r" b="b"/>
            <a:pathLst>
              <a:path w="5699125" h="3511549">
                <a:moveTo>
                  <a:pt x="31750" y="0"/>
                </a:moveTo>
                <a:lnTo>
                  <a:pt x="5603875" y="0"/>
                </a:lnTo>
                <a:cubicBezTo>
                  <a:pt x="5656445" y="0"/>
                  <a:pt x="5699125" y="37763"/>
                  <a:pt x="5699125" y="84277"/>
                </a:cubicBezTo>
                <a:lnTo>
                  <a:pt x="5699125" y="3427272"/>
                </a:lnTo>
                <a:cubicBezTo>
                  <a:pt x="5699125" y="3473786"/>
                  <a:pt x="5656445" y="3511549"/>
                  <a:pt x="5603875" y="3511549"/>
                </a:cubicBezTo>
                <a:lnTo>
                  <a:pt x="31750" y="3511549"/>
                </a:lnTo>
                <a:cubicBezTo>
                  <a:pt x="14227" y="3511549"/>
                  <a:pt x="0" y="3498961"/>
                  <a:pt x="0" y="3483457"/>
                </a:cubicBezTo>
                <a:lnTo>
                  <a:pt x="0" y="28092"/>
                </a:lnTo>
                <a:cubicBezTo>
                  <a:pt x="0" y="12588"/>
                  <a:pt x="14227" y="0"/>
                  <a:pt x="31750" y="0"/>
                </a:cubicBezTo>
                <a:close/>
              </a:path>
            </a:pathLst>
          </a:custGeom>
          <a:solidFill>
            <a:srgbClr val="263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96094" y="3498852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20433" y="70848"/>
                </a:moveTo>
                <a:cubicBezTo>
                  <a:pt x="24557" y="42013"/>
                  <a:pt x="49392" y="19844"/>
                  <a:pt x="79375" y="19844"/>
                </a:cubicBezTo>
                <a:cubicBezTo>
                  <a:pt x="95808" y="19844"/>
                  <a:pt x="110691" y="26510"/>
                  <a:pt x="121481" y="37269"/>
                </a:cubicBezTo>
                <a:cubicBezTo>
                  <a:pt x="121543" y="37331"/>
                  <a:pt x="121605" y="37393"/>
                  <a:pt x="121667" y="37455"/>
                </a:cubicBezTo>
                <a:lnTo>
                  <a:pt x="124023" y="39688"/>
                </a:lnTo>
                <a:lnTo>
                  <a:pt x="109172" y="39688"/>
                </a:lnTo>
                <a:cubicBezTo>
                  <a:pt x="103684" y="39688"/>
                  <a:pt x="99250" y="44121"/>
                  <a:pt x="99250" y="49609"/>
                </a:cubicBezTo>
                <a:cubicBezTo>
                  <a:pt x="99250" y="55097"/>
                  <a:pt x="103684" y="59531"/>
                  <a:pt x="109172" y="59531"/>
                </a:cubicBezTo>
                <a:lnTo>
                  <a:pt x="148859" y="59531"/>
                </a:lnTo>
                <a:cubicBezTo>
                  <a:pt x="154347" y="59531"/>
                  <a:pt x="158781" y="55097"/>
                  <a:pt x="158781" y="49609"/>
                </a:cubicBezTo>
                <a:lnTo>
                  <a:pt x="158781" y="9922"/>
                </a:lnTo>
                <a:cubicBezTo>
                  <a:pt x="158781" y="4434"/>
                  <a:pt x="154347" y="0"/>
                  <a:pt x="148859" y="0"/>
                </a:cubicBezTo>
                <a:cubicBezTo>
                  <a:pt x="143371" y="0"/>
                  <a:pt x="138937" y="4434"/>
                  <a:pt x="138937" y="9922"/>
                </a:cubicBezTo>
                <a:lnTo>
                  <a:pt x="138937" y="26479"/>
                </a:lnTo>
                <a:lnTo>
                  <a:pt x="135434" y="23161"/>
                </a:lnTo>
                <a:cubicBezTo>
                  <a:pt x="121078" y="8868"/>
                  <a:pt x="101234" y="0"/>
                  <a:pt x="79375" y="0"/>
                </a:cubicBezTo>
                <a:cubicBezTo>
                  <a:pt x="39377" y="0"/>
                  <a:pt x="6294" y="29580"/>
                  <a:pt x="806" y="68058"/>
                </a:cubicBezTo>
                <a:cubicBezTo>
                  <a:pt x="31" y="73484"/>
                  <a:pt x="3783" y="78507"/>
                  <a:pt x="9209" y="79282"/>
                </a:cubicBezTo>
                <a:cubicBezTo>
                  <a:pt x="14635" y="80057"/>
                  <a:pt x="19658" y="76274"/>
                  <a:pt x="20433" y="70879"/>
                </a:cubicBezTo>
                <a:close/>
                <a:moveTo>
                  <a:pt x="157944" y="90692"/>
                </a:moveTo>
                <a:cubicBezTo>
                  <a:pt x="158719" y="85266"/>
                  <a:pt x="154936" y="80243"/>
                  <a:pt x="149541" y="79468"/>
                </a:cubicBezTo>
                <a:cubicBezTo>
                  <a:pt x="144146" y="78693"/>
                  <a:pt x="139092" y="82476"/>
                  <a:pt x="138317" y="87871"/>
                </a:cubicBezTo>
                <a:cubicBezTo>
                  <a:pt x="134193" y="116706"/>
                  <a:pt x="109358" y="138875"/>
                  <a:pt x="79375" y="138875"/>
                </a:cubicBezTo>
                <a:cubicBezTo>
                  <a:pt x="62942" y="138875"/>
                  <a:pt x="48059" y="132209"/>
                  <a:pt x="37269" y="121450"/>
                </a:cubicBezTo>
                <a:cubicBezTo>
                  <a:pt x="37207" y="121388"/>
                  <a:pt x="37145" y="121326"/>
                  <a:pt x="37083" y="121264"/>
                </a:cubicBezTo>
                <a:lnTo>
                  <a:pt x="34727" y="119031"/>
                </a:lnTo>
                <a:lnTo>
                  <a:pt x="49578" y="119031"/>
                </a:lnTo>
                <a:cubicBezTo>
                  <a:pt x="55066" y="119031"/>
                  <a:pt x="59500" y="114598"/>
                  <a:pt x="59500" y="109110"/>
                </a:cubicBezTo>
                <a:cubicBezTo>
                  <a:pt x="59500" y="103622"/>
                  <a:pt x="55066" y="99188"/>
                  <a:pt x="49578" y="99188"/>
                </a:cubicBezTo>
                <a:lnTo>
                  <a:pt x="9922" y="99219"/>
                </a:lnTo>
                <a:cubicBezTo>
                  <a:pt x="7286" y="99219"/>
                  <a:pt x="4744" y="100273"/>
                  <a:pt x="2884" y="102164"/>
                </a:cubicBezTo>
                <a:cubicBezTo>
                  <a:pt x="1023" y="104056"/>
                  <a:pt x="-31" y="106567"/>
                  <a:pt x="0" y="109234"/>
                </a:cubicBezTo>
                <a:lnTo>
                  <a:pt x="310" y="148611"/>
                </a:lnTo>
                <a:cubicBezTo>
                  <a:pt x="341" y="154099"/>
                  <a:pt x="4837" y="158502"/>
                  <a:pt x="10325" y="158440"/>
                </a:cubicBezTo>
                <a:cubicBezTo>
                  <a:pt x="15813" y="158378"/>
                  <a:pt x="20216" y="153913"/>
                  <a:pt x="20154" y="148425"/>
                </a:cubicBezTo>
                <a:lnTo>
                  <a:pt x="20030" y="132457"/>
                </a:lnTo>
                <a:lnTo>
                  <a:pt x="23347" y="135589"/>
                </a:lnTo>
                <a:cubicBezTo>
                  <a:pt x="37703" y="149882"/>
                  <a:pt x="57516" y="158750"/>
                  <a:pt x="79375" y="158750"/>
                </a:cubicBezTo>
                <a:cubicBezTo>
                  <a:pt x="119373" y="158750"/>
                  <a:pt x="152456" y="129170"/>
                  <a:pt x="157944" y="90692"/>
                </a:cubicBezTo>
                <a:close/>
              </a:path>
            </a:pathLst>
          </a:custGeom>
          <a:solidFill>
            <a:srgbClr val="FFD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62000" y="3387727"/>
            <a:ext cx="52705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D5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Bounding Box Parameters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39750" y="3657602"/>
            <a:ext cx="5492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Each grid cell predicts </a:t>
            </a:r>
            <a:r>
              <a:rPr lang="en-US" sz="1000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 bounding boxes</a:t>
            </a:r>
            <a:r>
              <a:rPr lang="en-US" sz="1000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5 values each: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68312" y="3917951"/>
            <a:ext cx="5429250" cy="514252"/>
          </a:xfrm>
          <a:custGeom>
            <a:avLst/>
            <a:gdLst/>
            <a:ahLst/>
            <a:cxnLst/>
            <a:rect l="l" t="t" r="r" b="b"/>
            <a:pathLst>
              <a:path w="5429250" h="514252">
                <a:moveTo>
                  <a:pt x="63499" y="0"/>
                </a:moveTo>
                <a:lnTo>
                  <a:pt x="5365751" y="0"/>
                </a:lnTo>
                <a:cubicBezTo>
                  <a:pt x="5400820" y="0"/>
                  <a:pt x="5429250" y="25582"/>
                  <a:pt x="5429250" y="57138"/>
                </a:cubicBezTo>
                <a:lnTo>
                  <a:pt x="5429250" y="457113"/>
                </a:lnTo>
                <a:cubicBezTo>
                  <a:pt x="5429250" y="488670"/>
                  <a:pt x="5400820" y="514252"/>
                  <a:pt x="5365751" y="514252"/>
                </a:cubicBezTo>
                <a:lnTo>
                  <a:pt x="63499" y="514252"/>
                </a:lnTo>
                <a:cubicBezTo>
                  <a:pt x="28430" y="514252"/>
                  <a:pt x="0" y="488670"/>
                  <a:pt x="0" y="457113"/>
                </a:cubicBezTo>
                <a:lnTo>
                  <a:pt x="0" y="57138"/>
                </a:lnTo>
                <a:cubicBezTo>
                  <a:pt x="0" y="25603"/>
                  <a:pt x="28453" y="0"/>
                  <a:pt x="63499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75469" y="4044951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06016" y="3917951"/>
            <a:ext cx="381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Pc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16000" y="3917951"/>
            <a:ext cx="2063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Confidence Score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43781" y="4108451"/>
            <a:ext cx="2063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Probability that an object exists (0-1)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68312" y="4530824"/>
            <a:ext cx="5429250" cy="466627"/>
          </a:xfrm>
          <a:custGeom>
            <a:avLst/>
            <a:gdLst/>
            <a:ahLst/>
            <a:cxnLst/>
            <a:rect l="l" t="t" r="r" b="b"/>
            <a:pathLst>
              <a:path w="5429250" h="466627">
                <a:moveTo>
                  <a:pt x="63499" y="0"/>
                </a:moveTo>
                <a:lnTo>
                  <a:pt x="5365751" y="0"/>
                </a:lnTo>
                <a:cubicBezTo>
                  <a:pt x="5400820" y="0"/>
                  <a:pt x="5429250" y="23213"/>
                  <a:pt x="5429250" y="51847"/>
                </a:cubicBezTo>
                <a:lnTo>
                  <a:pt x="5429250" y="414780"/>
                </a:lnTo>
                <a:cubicBezTo>
                  <a:pt x="5429250" y="443414"/>
                  <a:pt x="5400820" y="466627"/>
                  <a:pt x="5365751" y="466627"/>
                </a:cubicBezTo>
                <a:lnTo>
                  <a:pt x="63499" y="466627"/>
                </a:lnTo>
                <a:cubicBezTo>
                  <a:pt x="28430" y="466627"/>
                  <a:pt x="0" y="443414"/>
                  <a:pt x="0" y="414780"/>
                </a:cubicBezTo>
                <a:lnTo>
                  <a:pt x="0" y="51847"/>
                </a:lnTo>
                <a:cubicBezTo>
                  <a:pt x="0" y="23232"/>
                  <a:pt x="28453" y="0"/>
                  <a:pt x="63499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506016" y="4605387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FFD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06016" y="4530824"/>
            <a:ext cx="381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bx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000125" y="4552951"/>
            <a:ext cx="1619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 Coordinate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000125" y="4743451"/>
            <a:ext cx="1619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Center x relative to cell (0-1)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68312" y="5060951"/>
            <a:ext cx="5429250" cy="509489"/>
          </a:xfrm>
          <a:custGeom>
            <a:avLst/>
            <a:gdLst/>
            <a:ahLst/>
            <a:cxnLst/>
            <a:rect l="l" t="t" r="r" b="b"/>
            <a:pathLst>
              <a:path w="5429250" h="509489">
                <a:moveTo>
                  <a:pt x="63499" y="0"/>
                </a:moveTo>
                <a:lnTo>
                  <a:pt x="5365751" y="0"/>
                </a:lnTo>
                <a:cubicBezTo>
                  <a:pt x="5400820" y="0"/>
                  <a:pt x="5429250" y="25345"/>
                  <a:pt x="5429250" y="56609"/>
                </a:cubicBezTo>
                <a:lnTo>
                  <a:pt x="5429250" y="452880"/>
                </a:lnTo>
                <a:cubicBezTo>
                  <a:pt x="5429250" y="484144"/>
                  <a:pt x="5400820" y="509489"/>
                  <a:pt x="5365751" y="509489"/>
                </a:cubicBezTo>
                <a:lnTo>
                  <a:pt x="63499" y="509489"/>
                </a:lnTo>
                <a:cubicBezTo>
                  <a:pt x="28430" y="509489"/>
                  <a:pt x="0" y="484144"/>
                  <a:pt x="0" y="452880"/>
                </a:cubicBezTo>
                <a:lnTo>
                  <a:pt x="0" y="56609"/>
                </a:lnTo>
                <a:cubicBezTo>
                  <a:pt x="0" y="25366"/>
                  <a:pt x="28453" y="0"/>
                  <a:pt x="63499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506016" y="5114827"/>
            <a:ext cx="317500" cy="263623"/>
          </a:xfrm>
          <a:custGeom>
            <a:avLst/>
            <a:gdLst/>
            <a:ahLst/>
            <a:cxnLst/>
            <a:rect l="l" t="t" r="r" b="b"/>
            <a:pathLst>
              <a:path w="317500" h="263623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3625"/>
                  <a:pt x="317500" y="52725"/>
                </a:cubicBezTo>
                <a:lnTo>
                  <a:pt x="317500" y="210899"/>
                </a:lnTo>
                <a:cubicBezTo>
                  <a:pt x="317500" y="239998"/>
                  <a:pt x="289047" y="263623"/>
                  <a:pt x="254000" y="263623"/>
                </a:cubicBezTo>
                <a:lnTo>
                  <a:pt x="63500" y="263623"/>
                </a:lnTo>
                <a:cubicBezTo>
                  <a:pt x="28453" y="263623"/>
                  <a:pt x="0" y="239998"/>
                  <a:pt x="0" y="210899"/>
                </a:cubicBezTo>
                <a:lnTo>
                  <a:pt x="0" y="52725"/>
                </a:lnTo>
                <a:cubicBezTo>
                  <a:pt x="0" y="23625"/>
                  <a:pt x="28453" y="0"/>
                  <a:pt x="63500" y="0"/>
                </a:cubicBezTo>
                <a:close/>
              </a:path>
            </a:pathLst>
          </a:custGeom>
          <a:solidFill>
            <a:srgbClr val="FFD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06016" y="4922887"/>
            <a:ext cx="381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by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000125" y="5060951"/>
            <a:ext cx="1619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 Coordinate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000125" y="5235576"/>
            <a:ext cx="1619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Center y relative to cell (0-1)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68313" y="5695951"/>
            <a:ext cx="5429250" cy="485677"/>
          </a:xfrm>
          <a:custGeom>
            <a:avLst/>
            <a:gdLst/>
            <a:ahLst/>
            <a:cxnLst/>
            <a:rect l="l" t="t" r="r" b="b"/>
            <a:pathLst>
              <a:path w="5429250" h="485677">
                <a:moveTo>
                  <a:pt x="63499" y="0"/>
                </a:moveTo>
                <a:lnTo>
                  <a:pt x="5365751" y="0"/>
                </a:lnTo>
                <a:cubicBezTo>
                  <a:pt x="5400820" y="0"/>
                  <a:pt x="5429250" y="24160"/>
                  <a:pt x="5429250" y="53964"/>
                </a:cubicBezTo>
                <a:lnTo>
                  <a:pt x="5429250" y="431713"/>
                </a:lnTo>
                <a:cubicBezTo>
                  <a:pt x="5429250" y="461516"/>
                  <a:pt x="5400820" y="485677"/>
                  <a:pt x="5365751" y="485677"/>
                </a:cubicBezTo>
                <a:lnTo>
                  <a:pt x="63499" y="485677"/>
                </a:lnTo>
                <a:cubicBezTo>
                  <a:pt x="28430" y="485677"/>
                  <a:pt x="0" y="461516"/>
                  <a:pt x="0" y="431713"/>
                </a:cubicBezTo>
                <a:lnTo>
                  <a:pt x="0" y="53964"/>
                </a:lnTo>
                <a:cubicBezTo>
                  <a:pt x="0" y="24180"/>
                  <a:pt x="28453" y="0"/>
                  <a:pt x="63499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506016" y="5780039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06016" y="5780039"/>
            <a:ext cx="381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bw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016000" y="5748289"/>
            <a:ext cx="1873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Width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016000" y="5938789"/>
            <a:ext cx="1873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Box width (can be &gt;1, spans cells)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468312" y="6235701"/>
            <a:ext cx="5429250" cy="508000"/>
          </a:xfrm>
          <a:custGeom>
            <a:avLst/>
            <a:gdLst/>
            <a:ahLst/>
            <a:cxnLst/>
            <a:rect l="l" t="t" r="r" b="b"/>
            <a:pathLst>
              <a:path w="5429250" h="508000">
                <a:moveTo>
                  <a:pt x="63499" y="0"/>
                </a:moveTo>
                <a:lnTo>
                  <a:pt x="5365751" y="0"/>
                </a:lnTo>
                <a:cubicBezTo>
                  <a:pt x="5400820" y="0"/>
                  <a:pt x="5429250" y="25271"/>
                  <a:pt x="5429250" y="56444"/>
                </a:cubicBezTo>
                <a:lnTo>
                  <a:pt x="5429250" y="451556"/>
                </a:lnTo>
                <a:cubicBezTo>
                  <a:pt x="5429250" y="482729"/>
                  <a:pt x="5400820" y="508000"/>
                  <a:pt x="5365751" y="508000"/>
                </a:cubicBezTo>
                <a:lnTo>
                  <a:pt x="63499" y="508000"/>
                </a:lnTo>
                <a:cubicBezTo>
                  <a:pt x="28430" y="508000"/>
                  <a:pt x="0" y="482729"/>
                  <a:pt x="0" y="451556"/>
                </a:cubicBezTo>
                <a:lnTo>
                  <a:pt x="0" y="56444"/>
                </a:lnTo>
                <a:cubicBezTo>
                  <a:pt x="0" y="25292"/>
                  <a:pt x="28453" y="0"/>
                  <a:pt x="63499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506016" y="6330951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06016" y="6330951"/>
            <a:ext cx="381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bh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016000" y="6299201"/>
            <a:ext cx="1897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Height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016000" y="6489701"/>
            <a:ext cx="1897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Box height (can be &gt;1, spans cells)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159500" y="1031875"/>
            <a:ext cx="5715000" cy="2825750"/>
          </a:xfrm>
          <a:custGeom>
            <a:avLst/>
            <a:gdLst/>
            <a:ahLst/>
            <a:cxnLst/>
            <a:rect l="l" t="t" r="r" b="b"/>
            <a:pathLst>
              <a:path w="5715000" h="2825750">
                <a:moveTo>
                  <a:pt x="31750" y="0"/>
                </a:moveTo>
                <a:lnTo>
                  <a:pt x="5683250" y="0"/>
                </a:lnTo>
                <a:cubicBezTo>
                  <a:pt x="5700773" y="0"/>
                  <a:pt x="5715000" y="14227"/>
                  <a:pt x="5715000" y="31750"/>
                </a:cubicBezTo>
                <a:lnTo>
                  <a:pt x="5715000" y="2730494"/>
                </a:lnTo>
                <a:cubicBezTo>
                  <a:pt x="5715000" y="2783102"/>
                  <a:pt x="5672352" y="2825750"/>
                  <a:pt x="5619744" y="2825750"/>
                </a:cubicBezTo>
                <a:lnTo>
                  <a:pt x="95256" y="2825750"/>
                </a:lnTo>
                <a:cubicBezTo>
                  <a:pt x="42648" y="2825750"/>
                  <a:pt x="0" y="2783102"/>
                  <a:pt x="0" y="2730494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63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6159500" y="1031875"/>
            <a:ext cx="5715000" cy="31750"/>
          </a:xfrm>
          <a:custGeom>
            <a:avLst/>
            <a:gdLst/>
            <a:ahLst/>
            <a:cxnLst/>
            <a:rect l="l" t="t" r="r" b="b"/>
            <a:pathLst>
              <a:path w="5715000" h="31750">
                <a:moveTo>
                  <a:pt x="31750" y="0"/>
                </a:moveTo>
                <a:lnTo>
                  <a:pt x="5683250" y="0"/>
                </a:lnTo>
                <a:cubicBezTo>
                  <a:pt x="5700773" y="0"/>
                  <a:pt x="5715000" y="14227"/>
                  <a:pt x="5715000" y="31750"/>
                </a:cubicBezTo>
                <a:lnTo>
                  <a:pt x="5715000" y="31750"/>
                </a:lnTo>
                <a:lnTo>
                  <a:pt x="0" y="31750"/>
                </a:ln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6326188" y="1200150"/>
            <a:ext cx="119063" cy="158750"/>
          </a:xfrm>
          <a:custGeom>
            <a:avLst/>
            <a:gdLst/>
            <a:ahLst/>
            <a:cxnLst/>
            <a:rect l="l" t="t" r="r" b="b"/>
            <a:pathLst>
              <a:path w="119063" h="158750">
                <a:moveTo>
                  <a:pt x="19844" y="0"/>
                </a:moveTo>
                <a:cubicBezTo>
                  <a:pt x="8899" y="0"/>
                  <a:pt x="0" y="8899"/>
                  <a:pt x="0" y="19844"/>
                </a:cubicBezTo>
                <a:lnTo>
                  <a:pt x="0" y="138906"/>
                </a:lnTo>
                <a:cubicBezTo>
                  <a:pt x="0" y="149851"/>
                  <a:pt x="8899" y="158750"/>
                  <a:pt x="19844" y="158750"/>
                </a:cubicBezTo>
                <a:lnTo>
                  <a:pt x="99219" y="158750"/>
                </a:lnTo>
                <a:cubicBezTo>
                  <a:pt x="110164" y="158750"/>
                  <a:pt x="119062" y="149851"/>
                  <a:pt x="119062" y="138906"/>
                </a:cubicBezTo>
                <a:lnTo>
                  <a:pt x="119062" y="19844"/>
                </a:lnTo>
                <a:cubicBezTo>
                  <a:pt x="119062" y="8899"/>
                  <a:pt x="110164" y="0"/>
                  <a:pt x="99219" y="0"/>
                </a:cubicBezTo>
                <a:lnTo>
                  <a:pt x="19844" y="0"/>
                </a:lnTo>
                <a:close/>
                <a:moveTo>
                  <a:pt x="29766" y="19844"/>
                </a:moveTo>
                <a:lnTo>
                  <a:pt x="89297" y="19844"/>
                </a:lnTo>
                <a:cubicBezTo>
                  <a:pt x="94785" y="19844"/>
                  <a:pt x="99219" y="24278"/>
                  <a:pt x="99219" y="29766"/>
                </a:cubicBezTo>
                <a:lnTo>
                  <a:pt x="99219" y="39688"/>
                </a:lnTo>
                <a:cubicBezTo>
                  <a:pt x="99219" y="45176"/>
                  <a:pt x="94785" y="49609"/>
                  <a:pt x="89297" y="49609"/>
                </a:cubicBezTo>
                <a:lnTo>
                  <a:pt x="29766" y="49609"/>
                </a:lnTo>
                <a:cubicBezTo>
                  <a:pt x="24278" y="49609"/>
                  <a:pt x="19844" y="45176"/>
                  <a:pt x="19844" y="39688"/>
                </a:cubicBezTo>
                <a:lnTo>
                  <a:pt x="19844" y="29766"/>
                </a:lnTo>
                <a:cubicBezTo>
                  <a:pt x="19844" y="24278"/>
                  <a:pt x="24278" y="19844"/>
                  <a:pt x="29766" y="19844"/>
                </a:cubicBezTo>
                <a:close/>
                <a:moveTo>
                  <a:pt x="34727" y="71934"/>
                </a:moveTo>
                <a:cubicBezTo>
                  <a:pt x="34727" y="76041"/>
                  <a:pt x="31392" y="79375"/>
                  <a:pt x="27285" y="79375"/>
                </a:cubicBezTo>
                <a:cubicBezTo>
                  <a:pt x="23178" y="79375"/>
                  <a:pt x="19844" y="76041"/>
                  <a:pt x="19844" y="71934"/>
                </a:cubicBezTo>
                <a:cubicBezTo>
                  <a:pt x="19844" y="67827"/>
                  <a:pt x="23178" y="64492"/>
                  <a:pt x="27285" y="64492"/>
                </a:cubicBezTo>
                <a:cubicBezTo>
                  <a:pt x="31392" y="64492"/>
                  <a:pt x="34727" y="67827"/>
                  <a:pt x="34727" y="71934"/>
                </a:cubicBezTo>
                <a:close/>
                <a:moveTo>
                  <a:pt x="59531" y="79375"/>
                </a:moveTo>
                <a:cubicBezTo>
                  <a:pt x="55424" y="79375"/>
                  <a:pt x="52090" y="76041"/>
                  <a:pt x="52090" y="71934"/>
                </a:cubicBezTo>
                <a:cubicBezTo>
                  <a:pt x="52090" y="67827"/>
                  <a:pt x="55424" y="64492"/>
                  <a:pt x="59531" y="64492"/>
                </a:cubicBezTo>
                <a:cubicBezTo>
                  <a:pt x="63638" y="64492"/>
                  <a:pt x="66973" y="67827"/>
                  <a:pt x="66973" y="71934"/>
                </a:cubicBezTo>
                <a:cubicBezTo>
                  <a:pt x="66973" y="76041"/>
                  <a:pt x="63638" y="79375"/>
                  <a:pt x="59531" y="79375"/>
                </a:cubicBezTo>
                <a:close/>
                <a:moveTo>
                  <a:pt x="99219" y="71934"/>
                </a:moveTo>
                <a:cubicBezTo>
                  <a:pt x="99219" y="76041"/>
                  <a:pt x="95884" y="79375"/>
                  <a:pt x="91777" y="79375"/>
                </a:cubicBezTo>
                <a:cubicBezTo>
                  <a:pt x="87670" y="79375"/>
                  <a:pt x="84336" y="76041"/>
                  <a:pt x="84336" y="71934"/>
                </a:cubicBezTo>
                <a:cubicBezTo>
                  <a:pt x="84336" y="67827"/>
                  <a:pt x="87670" y="64492"/>
                  <a:pt x="91777" y="64492"/>
                </a:cubicBezTo>
                <a:cubicBezTo>
                  <a:pt x="95884" y="64492"/>
                  <a:pt x="99219" y="67827"/>
                  <a:pt x="99219" y="71934"/>
                </a:cubicBezTo>
                <a:close/>
                <a:moveTo>
                  <a:pt x="27285" y="109141"/>
                </a:moveTo>
                <a:cubicBezTo>
                  <a:pt x="23178" y="109141"/>
                  <a:pt x="19844" y="105806"/>
                  <a:pt x="19844" y="101699"/>
                </a:cubicBezTo>
                <a:cubicBezTo>
                  <a:pt x="19844" y="97592"/>
                  <a:pt x="23178" y="94258"/>
                  <a:pt x="27285" y="94258"/>
                </a:cubicBezTo>
                <a:cubicBezTo>
                  <a:pt x="31392" y="94258"/>
                  <a:pt x="34727" y="97592"/>
                  <a:pt x="34727" y="101699"/>
                </a:cubicBezTo>
                <a:cubicBezTo>
                  <a:pt x="34727" y="105806"/>
                  <a:pt x="31392" y="109141"/>
                  <a:pt x="27285" y="109141"/>
                </a:cubicBezTo>
                <a:close/>
                <a:moveTo>
                  <a:pt x="66973" y="101699"/>
                </a:moveTo>
                <a:cubicBezTo>
                  <a:pt x="66973" y="105806"/>
                  <a:pt x="63638" y="109141"/>
                  <a:pt x="59531" y="109141"/>
                </a:cubicBezTo>
                <a:cubicBezTo>
                  <a:pt x="55424" y="109141"/>
                  <a:pt x="52090" y="105806"/>
                  <a:pt x="52090" y="101699"/>
                </a:cubicBezTo>
                <a:cubicBezTo>
                  <a:pt x="52090" y="97592"/>
                  <a:pt x="55424" y="94258"/>
                  <a:pt x="59531" y="94258"/>
                </a:cubicBezTo>
                <a:cubicBezTo>
                  <a:pt x="63638" y="94258"/>
                  <a:pt x="66973" y="97592"/>
                  <a:pt x="66973" y="101699"/>
                </a:cubicBezTo>
                <a:close/>
                <a:moveTo>
                  <a:pt x="91777" y="109141"/>
                </a:moveTo>
                <a:cubicBezTo>
                  <a:pt x="87670" y="109141"/>
                  <a:pt x="84336" y="105806"/>
                  <a:pt x="84336" y="101699"/>
                </a:cubicBezTo>
                <a:cubicBezTo>
                  <a:pt x="84336" y="97592"/>
                  <a:pt x="87670" y="94258"/>
                  <a:pt x="91777" y="94258"/>
                </a:cubicBezTo>
                <a:cubicBezTo>
                  <a:pt x="95884" y="94258"/>
                  <a:pt x="99219" y="97592"/>
                  <a:pt x="99219" y="101699"/>
                </a:cubicBezTo>
                <a:cubicBezTo>
                  <a:pt x="99219" y="105806"/>
                  <a:pt x="95884" y="109141"/>
                  <a:pt x="91777" y="109141"/>
                </a:cubicBezTo>
                <a:close/>
                <a:moveTo>
                  <a:pt x="19844" y="131465"/>
                </a:moveTo>
                <a:cubicBezTo>
                  <a:pt x="19844" y="127341"/>
                  <a:pt x="23161" y="124023"/>
                  <a:pt x="27285" y="124023"/>
                </a:cubicBezTo>
                <a:lnTo>
                  <a:pt x="62012" y="124023"/>
                </a:lnTo>
                <a:cubicBezTo>
                  <a:pt x="66135" y="124023"/>
                  <a:pt x="69453" y="127341"/>
                  <a:pt x="69453" y="131465"/>
                </a:cubicBezTo>
                <a:cubicBezTo>
                  <a:pt x="69453" y="135589"/>
                  <a:pt x="66135" y="138906"/>
                  <a:pt x="62012" y="138906"/>
                </a:cubicBezTo>
                <a:lnTo>
                  <a:pt x="27285" y="138906"/>
                </a:lnTo>
                <a:cubicBezTo>
                  <a:pt x="23161" y="138906"/>
                  <a:pt x="19844" y="135589"/>
                  <a:pt x="19844" y="131465"/>
                </a:cubicBezTo>
                <a:close/>
                <a:moveTo>
                  <a:pt x="91777" y="124023"/>
                </a:moveTo>
                <a:cubicBezTo>
                  <a:pt x="95901" y="124023"/>
                  <a:pt x="99219" y="127341"/>
                  <a:pt x="99219" y="131465"/>
                </a:cubicBezTo>
                <a:cubicBezTo>
                  <a:pt x="99219" y="135589"/>
                  <a:pt x="95901" y="138906"/>
                  <a:pt x="91777" y="138906"/>
                </a:cubicBezTo>
                <a:cubicBezTo>
                  <a:pt x="87654" y="138906"/>
                  <a:pt x="84336" y="135589"/>
                  <a:pt x="84336" y="131465"/>
                </a:cubicBezTo>
                <a:cubicBezTo>
                  <a:pt x="84336" y="127341"/>
                  <a:pt x="87654" y="124023"/>
                  <a:pt x="91777" y="124023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524625" y="1174750"/>
            <a:ext cx="5302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Output Tensor Shape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286500" y="1492250"/>
            <a:ext cx="5461000" cy="1500188"/>
          </a:xfrm>
          <a:custGeom>
            <a:avLst/>
            <a:gdLst/>
            <a:ahLst/>
            <a:cxnLst/>
            <a:rect l="l" t="t" r="r" b="b"/>
            <a:pathLst>
              <a:path w="5461000" h="1500188">
                <a:moveTo>
                  <a:pt x="63503" y="0"/>
                </a:moveTo>
                <a:lnTo>
                  <a:pt x="5397497" y="0"/>
                </a:lnTo>
                <a:cubicBezTo>
                  <a:pt x="5432569" y="0"/>
                  <a:pt x="5461000" y="28431"/>
                  <a:pt x="5461000" y="63503"/>
                </a:cubicBezTo>
                <a:lnTo>
                  <a:pt x="5461000" y="1436685"/>
                </a:lnTo>
                <a:cubicBezTo>
                  <a:pt x="5461000" y="1471756"/>
                  <a:pt x="5432569" y="1500188"/>
                  <a:pt x="5397497" y="1500187"/>
                </a:cubicBezTo>
                <a:lnTo>
                  <a:pt x="63503" y="1500188"/>
                </a:lnTo>
                <a:cubicBezTo>
                  <a:pt x="28431" y="1500187"/>
                  <a:pt x="0" y="1471756"/>
                  <a:pt x="0" y="1436685"/>
                </a:cubicBezTo>
                <a:lnTo>
                  <a:pt x="0" y="63503"/>
                </a:lnTo>
                <a:cubicBezTo>
                  <a:pt x="0" y="28455"/>
                  <a:pt x="28455" y="0"/>
                  <a:pt x="63503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6365875" y="1619250"/>
            <a:ext cx="53022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FFD5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 × S × (B × 5 + C)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413500" y="1939828"/>
            <a:ext cx="5207000" cy="6350"/>
          </a:xfrm>
          <a:custGeom>
            <a:avLst/>
            <a:gdLst/>
            <a:ahLst/>
            <a:cxnLst/>
            <a:rect l="l" t="t" r="r" b="b"/>
            <a:pathLst>
              <a:path w="5207000" h="6350">
                <a:moveTo>
                  <a:pt x="0" y="0"/>
                </a:moveTo>
                <a:lnTo>
                  <a:pt x="5207000" y="0"/>
                </a:lnTo>
                <a:lnTo>
                  <a:pt x="5207000" y="6350"/>
                </a:lnTo>
                <a:lnTo>
                  <a:pt x="0" y="6350"/>
                </a:lnTo>
                <a:lnTo>
                  <a:pt x="0" y="0"/>
                </a:lnTo>
                <a:close/>
              </a:path>
            </a:pathLst>
          </a:custGeom>
          <a:solidFill>
            <a:srgbClr val="7890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6413500" y="2006502"/>
            <a:ext cx="527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S×S</a:t>
            </a:r>
            <a:r>
              <a:rPr lang="en-US" sz="1000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Grid dimensions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413500" y="2228752"/>
            <a:ext cx="527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</a:t>
            </a:r>
            <a:r>
              <a:rPr lang="en-US" sz="1000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Boxes per cell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6413500" y="2451002"/>
            <a:ext cx="527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r>
              <a:rPr lang="en-US" sz="1000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[Pc, bx, by, bw, bh]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6413500" y="2673252"/>
            <a:ext cx="527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</a:t>
            </a:r>
            <a:r>
              <a:rPr lang="en-US" sz="1000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Number of classes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289675" y="3089177"/>
            <a:ext cx="5451475" cy="641350"/>
          </a:xfrm>
          <a:custGeom>
            <a:avLst/>
            <a:gdLst/>
            <a:ahLst/>
            <a:cxnLst/>
            <a:rect l="l" t="t" r="r" b="b"/>
            <a:pathLst>
              <a:path w="5451475" h="641350">
                <a:moveTo>
                  <a:pt x="63500" y="0"/>
                </a:moveTo>
                <a:lnTo>
                  <a:pt x="5387975" y="0"/>
                </a:lnTo>
                <a:cubicBezTo>
                  <a:pt x="5423045" y="0"/>
                  <a:pt x="5451475" y="28430"/>
                  <a:pt x="5451475" y="63500"/>
                </a:cubicBezTo>
                <a:lnTo>
                  <a:pt x="5451475" y="577850"/>
                </a:lnTo>
                <a:cubicBezTo>
                  <a:pt x="5451475" y="612920"/>
                  <a:pt x="5423045" y="641350"/>
                  <a:pt x="5387975" y="641350"/>
                </a:cubicBezTo>
                <a:lnTo>
                  <a:pt x="63500" y="641350"/>
                </a:lnTo>
                <a:cubicBezTo>
                  <a:pt x="28430" y="641350"/>
                  <a:pt x="0" y="612920"/>
                  <a:pt x="0" y="577850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close/>
              </a:path>
            </a:pathLst>
          </a:custGeom>
          <a:solidFill>
            <a:srgbClr val="4DB6AC">
              <a:alpha val="10196"/>
            </a:srgbClr>
          </a:solidFill>
          <a:ln w="10160">
            <a:solidFill>
              <a:srgbClr val="4DB6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6388100" y="3187600"/>
            <a:ext cx="5318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D5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Example:</a:t>
            </a:r>
            <a:r>
              <a:rPr lang="en-US" sz="1000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7×7 grid, 2 boxes/cell, 3 classes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6388100" y="3409850"/>
            <a:ext cx="5334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 × 7 × (2×5 + 3) = 7×7×13 = 637 values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6159500" y="3971827"/>
            <a:ext cx="5715000" cy="2111375"/>
          </a:xfrm>
          <a:custGeom>
            <a:avLst/>
            <a:gdLst/>
            <a:ahLst/>
            <a:cxnLst/>
            <a:rect l="l" t="t" r="r" b="b"/>
            <a:pathLst>
              <a:path w="5715000" h="2111375">
                <a:moveTo>
                  <a:pt x="31750" y="0"/>
                </a:moveTo>
                <a:lnTo>
                  <a:pt x="5683250" y="0"/>
                </a:lnTo>
                <a:cubicBezTo>
                  <a:pt x="5700785" y="0"/>
                  <a:pt x="5715000" y="14215"/>
                  <a:pt x="5715000" y="31750"/>
                </a:cubicBezTo>
                <a:lnTo>
                  <a:pt x="5715000" y="2016131"/>
                </a:lnTo>
                <a:cubicBezTo>
                  <a:pt x="5715000" y="2068733"/>
                  <a:pt x="5672358" y="2111375"/>
                  <a:pt x="5619756" y="2111375"/>
                </a:cubicBezTo>
                <a:lnTo>
                  <a:pt x="95244" y="2111375"/>
                </a:lnTo>
                <a:cubicBezTo>
                  <a:pt x="42642" y="2111375"/>
                  <a:pt x="0" y="2068733"/>
                  <a:pt x="0" y="2016131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63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6159500" y="3971827"/>
            <a:ext cx="5715000" cy="31750"/>
          </a:xfrm>
          <a:custGeom>
            <a:avLst/>
            <a:gdLst/>
            <a:ahLst/>
            <a:cxnLst/>
            <a:rect l="l" t="t" r="r" b="b"/>
            <a:pathLst>
              <a:path w="5715000" h="31750">
                <a:moveTo>
                  <a:pt x="31750" y="0"/>
                </a:moveTo>
                <a:lnTo>
                  <a:pt x="5683250" y="0"/>
                </a:lnTo>
                <a:cubicBezTo>
                  <a:pt x="5700773" y="0"/>
                  <a:pt x="5715000" y="14227"/>
                  <a:pt x="5715000" y="31750"/>
                </a:cubicBezTo>
                <a:lnTo>
                  <a:pt x="5715000" y="31750"/>
                </a:lnTo>
                <a:lnTo>
                  <a:pt x="0" y="31750"/>
                </a:ln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D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6286500" y="4140100"/>
            <a:ext cx="198438" cy="158750"/>
          </a:xfrm>
          <a:custGeom>
            <a:avLst/>
            <a:gdLst/>
            <a:ahLst/>
            <a:cxnLst/>
            <a:rect l="l" t="t" r="r" b="b"/>
            <a:pathLst>
              <a:path w="198438" h="158750">
                <a:moveTo>
                  <a:pt x="178594" y="14883"/>
                </a:moveTo>
                <a:cubicBezTo>
                  <a:pt x="178594" y="11441"/>
                  <a:pt x="176826" y="8248"/>
                  <a:pt x="173881" y="6449"/>
                </a:cubicBezTo>
                <a:cubicBezTo>
                  <a:pt x="170935" y="4651"/>
                  <a:pt x="167308" y="4465"/>
                  <a:pt x="164238" y="6015"/>
                </a:cubicBezTo>
                <a:lnTo>
                  <a:pt x="128209" y="24030"/>
                </a:lnTo>
                <a:lnTo>
                  <a:pt x="72585" y="5457"/>
                </a:lnTo>
                <a:cubicBezTo>
                  <a:pt x="70073" y="4620"/>
                  <a:pt x="67376" y="4806"/>
                  <a:pt x="65019" y="5984"/>
                </a:cubicBezTo>
                <a:lnTo>
                  <a:pt x="25332" y="25828"/>
                </a:lnTo>
                <a:cubicBezTo>
                  <a:pt x="21952" y="27533"/>
                  <a:pt x="19844" y="30975"/>
                  <a:pt x="19844" y="34727"/>
                </a:cubicBezTo>
                <a:lnTo>
                  <a:pt x="19844" y="143867"/>
                </a:lnTo>
                <a:cubicBezTo>
                  <a:pt x="19844" y="147309"/>
                  <a:pt x="21611" y="150502"/>
                  <a:pt x="24557" y="152301"/>
                </a:cubicBezTo>
                <a:cubicBezTo>
                  <a:pt x="27502" y="154099"/>
                  <a:pt x="31130" y="154285"/>
                  <a:pt x="34199" y="152735"/>
                </a:cubicBezTo>
                <a:lnTo>
                  <a:pt x="70197" y="134720"/>
                </a:lnTo>
                <a:lnTo>
                  <a:pt x="123930" y="152642"/>
                </a:lnTo>
                <a:cubicBezTo>
                  <a:pt x="122597" y="150657"/>
                  <a:pt x="121295" y="148580"/>
                  <a:pt x="120024" y="146472"/>
                </a:cubicBezTo>
                <a:cubicBezTo>
                  <a:pt x="116613" y="140798"/>
                  <a:pt x="113233" y="134286"/>
                  <a:pt x="110722" y="127310"/>
                </a:cubicBezTo>
                <a:lnTo>
                  <a:pt x="79344" y="116861"/>
                </a:lnTo>
                <a:lnTo>
                  <a:pt x="79344" y="28649"/>
                </a:lnTo>
                <a:lnTo>
                  <a:pt x="119031" y="41889"/>
                </a:lnTo>
                <a:lnTo>
                  <a:pt x="119031" y="72678"/>
                </a:lnTo>
                <a:cubicBezTo>
                  <a:pt x="128643" y="61578"/>
                  <a:pt x="142906" y="54570"/>
                  <a:pt x="158719" y="54570"/>
                </a:cubicBezTo>
                <a:cubicBezTo>
                  <a:pt x="165726" y="54570"/>
                  <a:pt x="172424" y="55935"/>
                  <a:pt x="178563" y="58446"/>
                </a:cubicBezTo>
                <a:lnTo>
                  <a:pt x="178594" y="14883"/>
                </a:lnTo>
                <a:close/>
                <a:moveTo>
                  <a:pt x="158750" y="69453"/>
                </a:moveTo>
                <a:cubicBezTo>
                  <a:pt x="138193" y="69453"/>
                  <a:pt x="121543" y="85824"/>
                  <a:pt x="121543" y="106009"/>
                </a:cubicBezTo>
                <a:cubicBezTo>
                  <a:pt x="121543" y="127372"/>
                  <a:pt x="141418" y="152642"/>
                  <a:pt x="152115" y="164703"/>
                </a:cubicBezTo>
                <a:cubicBezTo>
                  <a:pt x="155711" y="168734"/>
                  <a:pt x="161820" y="168734"/>
                  <a:pt x="165416" y="164703"/>
                </a:cubicBezTo>
                <a:cubicBezTo>
                  <a:pt x="176113" y="152642"/>
                  <a:pt x="195988" y="127372"/>
                  <a:pt x="195988" y="106009"/>
                </a:cubicBezTo>
                <a:cubicBezTo>
                  <a:pt x="195988" y="85824"/>
                  <a:pt x="179338" y="69453"/>
                  <a:pt x="158781" y="69453"/>
                </a:cubicBezTo>
                <a:close/>
                <a:moveTo>
                  <a:pt x="146348" y="106660"/>
                </a:moveTo>
                <a:cubicBezTo>
                  <a:pt x="146348" y="99815"/>
                  <a:pt x="151905" y="94258"/>
                  <a:pt x="158750" y="94258"/>
                </a:cubicBezTo>
                <a:cubicBezTo>
                  <a:pt x="165595" y="94258"/>
                  <a:pt x="171152" y="99815"/>
                  <a:pt x="171152" y="106660"/>
                </a:cubicBezTo>
                <a:cubicBezTo>
                  <a:pt x="171152" y="113505"/>
                  <a:pt x="165595" y="119062"/>
                  <a:pt x="158750" y="119062"/>
                </a:cubicBezTo>
                <a:cubicBezTo>
                  <a:pt x="151905" y="119062"/>
                  <a:pt x="146348" y="113505"/>
                  <a:pt x="146348" y="106660"/>
                </a:cubicBezTo>
                <a:close/>
              </a:path>
            </a:pathLst>
          </a:custGeom>
          <a:solidFill>
            <a:srgbClr val="FFD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6524625" y="4114702"/>
            <a:ext cx="5302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D5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Coordinate System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6286500" y="4432202"/>
            <a:ext cx="5461000" cy="1524000"/>
          </a:xfrm>
          <a:custGeom>
            <a:avLst/>
            <a:gdLst/>
            <a:ahLst/>
            <a:cxnLst/>
            <a:rect l="l" t="t" r="r" b="b"/>
            <a:pathLst>
              <a:path w="5461000" h="1524000">
                <a:moveTo>
                  <a:pt x="63505" y="0"/>
                </a:moveTo>
                <a:lnTo>
                  <a:pt x="5397495" y="0"/>
                </a:lnTo>
                <a:cubicBezTo>
                  <a:pt x="5432568" y="0"/>
                  <a:pt x="5461000" y="28432"/>
                  <a:pt x="5461000" y="63505"/>
                </a:cubicBezTo>
                <a:lnTo>
                  <a:pt x="5461000" y="1460495"/>
                </a:lnTo>
                <a:cubicBezTo>
                  <a:pt x="5461000" y="1495568"/>
                  <a:pt x="5432568" y="1524000"/>
                  <a:pt x="5397495" y="1524000"/>
                </a:cubicBezTo>
                <a:lnTo>
                  <a:pt x="63505" y="1524000"/>
                </a:lnTo>
                <a:cubicBezTo>
                  <a:pt x="28432" y="1524000"/>
                  <a:pt x="0" y="1495568"/>
                  <a:pt x="0" y="1460495"/>
                </a:cubicBezTo>
                <a:lnTo>
                  <a:pt x="0" y="63505"/>
                </a:lnTo>
                <a:cubicBezTo>
                  <a:pt x="0" y="28456"/>
                  <a:pt x="28456" y="0"/>
                  <a:pt x="63505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6419850" y="4565552"/>
            <a:ext cx="5195887" cy="1004887"/>
          </a:xfrm>
          <a:custGeom>
            <a:avLst/>
            <a:gdLst/>
            <a:ahLst/>
            <a:cxnLst/>
            <a:rect l="l" t="t" r="r" b="b"/>
            <a:pathLst>
              <a:path w="5195887" h="1004887">
                <a:moveTo>
                  <a:pt x="31754" y="0"/>
                </a:moveTo>
                <a:lnTo>
                  <a:pt x="5164133" y="0"/>
                </a:lnTo>
                <a:cubicBezTo>
                  <a:pt x="5181671" y="0"/>
                  <a:pt x="5195887" y="14217"/>
                  <a:pt x="5195887" y="31754"/>
                </a:cubicBezTo>
                <a:lnTo>
                  <a:pt x="5195887" y="973133"/>
                </a:lnTo>
                <a:cubicBezTo>
                  <a:pt x="5195887" y="990671"/>
                  <a:pt x="5181671" y="1004888"/>
                  <a:pt x="5164133" y="1004887"/>
                </a:cubicBezTo>
                <a:lnTo>
                  <a:pt x="31754" y="1004887"/>
                </a:lnTo>
                <a:cubicBezTo>
                  <a:pt x="14217" y="1004887"/>
                  <a:pt x="0" y="990671"/>
                  <a:pt x="0" y="973133"/>
                </a:cubicBezTo>
                <a:lnTo>
                  <a:pt x="0" y="31754"/>
                </a:lnTo>
                <a:cubicBezTo>
                  <a:pt x="0" y="14217"/>
                  <a:pt x="14217" y="0"/>
                  <a:pt x="31754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0320">
            <a:solidFill>
              <a:srgbClr val="4DB6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6457950" y="4603653"/>
            <a:ext cx="341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(0,0)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11385649" y="5340252"/>
            <a:ext cx="25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(1,1)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8969375" y="5019577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47625" y="0"/>
                </a:moveTo>
                <a:lnTo>
                  <a:pt x="47625" y="0"/>
                </a:lnTo>
                <a:cubicBezTo>
                  <a:pt x="73910" y="0"/>
                  <a:pt x="95250" y="21340"/>
                  <a:pt x="95250" y="47625"/>
                </a:cubicBezTo>
                <a:lnTo>
                  <a:pt x="95250" y="47625"/>
                </a:lnTo>
                <a:cubicBezTo>
                  <a:pt x="95250" y="73910"/>
                  <a:pt x="73910" y="95250"/>
                  <a:pt x="47625" y="95250"/>
                </a:cubicBezTo>
                <a:lnTo>
                  <a:pt x="47625" y="95250"/>
                </a:lnTo>
                <a:cubicBezTo>
                  <a:pt x="21340" y="95250"/>
                  <a:pt x="0" y="73910"/>
                  <a:pt x="0" y="47625"/>
                </a:cubicBezTo>
                <a:lnTo>
                  <a:pt x="0" y="47625"/>
                </a:lnTo>
                <a:cubicBezTo>
                  <a:pt x="0" y="21340"/>
                  <a:pt x="21340" y="0"/>
                  <a:pt x="47625" y="0"/>
                </a:cubicBezTo>
                <a:close/>
              </a:path>
            </a:pathLst>
          </a:custGeom>
          <a:solidFill>
            <a:srgbClr val="FFD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8833396" y="5098952"/>
            <a:ext cx="428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FD5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Center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6381750" y="5638702"/>
            <a:ext cx="527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coordinates normalized to 0-1 range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6162675" y="6181627"/>
            <a:ext cx="5705475" cy="577850"/>
          </a:xfrm>
          <a:custGeom>
            <a:avLst/>
            <a:gdLst/>
            <a:ahLst/>
            <a:cxnLst/>
            <a:rect l="l" t="t" r="r" b="b"/>
            <a:pathLst>
              <a:path w="5705475" h="577850">
                <a:moveTo>
                  <a:pt x="95253" y="0"/>
                </a:moveTo>
                <a:lnTo>
                  <a:pt x="5610222" y="0"/>
                </a:lnTo>
                <a:cubicBezTo>
                  <a:pt x="5662829" y="0"/>
                  <a:pt x="5705475" y="42646"/>
                  <a:pt x="5705475" y="95253"/>
                </a:cubicBezTo>
                <a:lnTo>
                  <a:pt x="5705475" y="482597"/>
                </a:lnTo>
                <a:cubicBezTo>
                  <a:pt x="5705475" y="535204"/>
                  <a:pt x="5662829" y="577850"/>
                  <a:pt x="5610222" y="577850"/>
                </a:cubicBezTo>
                <a:lnTo>
                  <a:pt x="95253" y="577850"/>
                </a:lnTo>
                <a:cubicBezTo>
                  <a:pt x="42646" y="577850"/>
                  <a:pt x="0" y="535204"/>
                  <a:pt x="0" y="482597"/>
                </a:cubicBezTo>
                <a:lnTo>
                  <a:pt x="0" y="95253"/>
                </a:lnTo>
                <a:cubicBezTo>
                  <a:pt x="0" y="42681"/>
                  <a:pt x="42681" y="0"/>
                  <a:pt x="95253" y="0"/>
                </a:cubicBezTo>
                <a:close/>
              </a:path>
            </a:pathLst>
          </a:custGeom>
          <a:solidFill>
            <a:srgbClr val="FFD54F">
              <a:alpha val="10196"/>
            </a:srgbClr>
          </a:solidFill>
          <a:ln w="10160">
            <a:solidFill>
              <a:srgbClr val="FFD5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6276975" y="6305452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0"/>
                </a:moveTo>
                <a:cubicBezTo>
                  <a:pt x="67146" y="0"/>
                  <a:pt x="70495" y="2009"/>
                  <a:pt x="72231" y="5209"/>
                </a:cubicBezTo>
                <a:lnTo>
                  <a:pt x="125809" y="104428"/>
                </a:lnTo>
                <a:cubicBezTo>
                  <a:pt x="127471" y="107504"/>
                  <a:pt x="127397" y="111224"/>
                  <a:pt x="125611" y="114226"/>
                </a:cubicBezTo>
                <a:cubicBezTo>
                  <a:pt x="123825" y="117227"/>
                  <a:pt x="120576" y="119063"/>
                  <a:pt x="117078" y="119063"/>
                </a:cubicBezTo>
                <a:lnTo>
                  <a:pt x="9922" y="119063"/>
                </a:lnTo>
                <a:cubicBezTo>
                  <a:pt x="6424" y="119063"/>
                  <a:pt x="3200" y="117227"/>
                  <a:pt x="1389" y="114226"/>
                </a:cubicBezTo>
                <a:cubicBezTo>
                  <a:pt x="-422" y="111224"/>
                  <a:pt x="-471" y="107504"/>
                  <a:pt x="1191" y="104428"/>
                </a:cubicBezTo>
                <a:lnTo>
                  <a:pt x="54769" y="5209"/>
                </a:lnTo>
                <a:cubicBezTo>
                  <a:pt x="56505" y="2009"/>
                  <a:pt x="59854" y="0"/>
                  <a:pt x="63500" y="0"/>
                </a:cubicBezTo>
                <a:close/>
                <a:moveTo>
                  <a:pt x="63500" y="41672"/>
                </a:moveTo>
                <a:cubicBezTo>
                  <a:pt x="60201" y="41672"/>
                  <a:pt x="57547" y="44326"/>
                  <a:pt x="57547" y="47625"/>
                </a:cubicBezTo>
                <a:lnTo>
                  <a:pt x="57547" y="75406"/>
                </a:lnTo>
                <a:cubicBezTo>
                  <a:pt x="57547" y="78705"/>
                  <a:pt x="60201" y="81359"/>
                  <a:pt x="63500" y="81359"/>
                </a:cubicBezTo>
                <a:cubicBezTo>
                  <a:pt x="66799" y="81359"/>
                  <a:pt x="69453" y="78705"/>
                  <a:pt x="69453" y="75406"/>
                </a:cubicBezTo>
                <a:lnTo>
                  <a:pt x="69453" y="47625"/>
                </a:lnTo>
                <a:cubicBezTo>
                  <a:pt x="69453" y="44326"/>
                  <a:pt x="66799" y="41672"/>
                  <a:pt x="63500" y="41672"/>
                </a:cubicBezTo>
                <a:close/>
                <a:moveTo>
                  <a:pt x="70123" y="95250"/>
                </a:moveTo>
                <a:cubicBezTo>
                  <a:pt x="70274" y="92792"/>
                  <a:pt x="69048" y="90453"/>
                  <a:pt x="66940" y="89178"/>
                </a:cubicBezTo>
                <a:cubicBezTo>
                  <a:pt x="64833" y="87903"/>
                  <a:pt x="62192" y="87903"/>
                  <a:pt x="60085" y="89178"/>
                </a:cubicBezTo>
                <a:cubicBezTo>
                  <a:pt x="57977" y="90453"/>
                  <a:pt x="56751" y="92792"/>
                  <a:pt x="56902" y="95250"/>
                </a:cubicBezTo>
                <a:cubicBezTo>
                  <a:pt x="56751" y="97708"/>
                  <a:pt x="57977" y="100047"/>
                  <a:pt x="60085" y="101322"/>
                </a:cubicBezTo>
                <a:cubicBezTo>
                  <a:pt x="62192" y="102597"/>
                  <a:pt x="64833" y="102597"/>
                  <a:pt x="66940" y="101322"/>
                </a:cubicBezTo>
                <a:cubicBezTo>
                  <a:pt x="69048" y="100047"/>
                  <a:pt x="70274" y="97708"/>
                  <a:pt x="70123" y="95250"/>
                </a:cubicBezTo>
                <a:close/>
              </a:path>
            </a:pathLst>
          </a:custGeom>
          <a:solidFill>
            <a:srgbClr val="FFD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6459537" y="6280051"/>
            <a:ext cx="537368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D5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Important:</a:t>
            </a:r>
            <a:r>
              <a:rPr lang="en-US" sz="1000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bx, by are always 0-1 (within cell), but bw, bh can exceed 1 (box spans multiple cells).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50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ACCURACY METRIC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Intersection Over Union (IoU)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33375" y="1016000"/>
            <a:ext cx="5699125" cy="2293938"/>
          </a:xfrm>
          <a:custGeom>
            <a:avLst/>
            <a:gdLst/>
            <a:ahLst/>
            <a:cxnLst/>
            <a:rect l="l" t="t" r="r" b="b"/>
            <a:pathLst>
              <a:path w="5699125" h="2293938">
                <a:moveTo>
                  <a:pt x="31750" y="0"/>
                </a:moveTo>
                <a:lnTo>
                  <a:pt x="5603881" y="0"/>
                </a:lnTo>
                <a:cubicBezTo>
                  <a:pt x="5656447" y="0"/>
                  <a:pt x="5699125" y="42678"/>
                  <a:pt x="5699125" y="95244"/>
                </a:cubicBezTo>
                <a:lnTo>
                  <a:pt x="5699125" y="2198693"/>
                </a:lnTo>
                <a:cubicBezTo>
                  <a:pt x="5699125" y="2251295"/>
                  <a:pt x="5656483" y="2293938"/>
                  <a:pt x="5603881" y="2293938"/>
                </a:cubicBezTo>
                <a:lnTo>
                  <a:pt x="31750" y="2293938"/>
                </a:lnTo>
                <a:cubicBezTo>
                  <a:pt x="14227" y="2293938"/>
                  <a:pt x="0" y="2279711"/>
                  <a:pt x="0" y="2262188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63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33375" y="1016000"/>
            <a:ext cx="31750" cy="2293938"/>
          </a:xfrm>
          <a:custGeom>
            <a:avLst/>
            <a:gdLst/>
            <a:ahLst/>
            <a:cxnLst/>
            <a:rect l="l" t="t" r="r" b="b"/>
            <a:pathLst>
              <a:path w="31750" h="2293938">
                <a:moveTo>
                  <a:pt x="31750" y="0"/>
                </a:moveTo>
                <a:lnTo>
                  <a:pt x="31750" y="0"/>
                </a:lnTo>
                <a:lnTo>
                  <a:pt x="31750" y="2293938"/>
                </a:lnTo>
                <a:lnTo>
                  <a:pt x="31750" y="2293938"/>
                </a:lnTo>
                <a:cubicBezTo>
                  <a:pt x="14227" y="2293938"/>
                  <a:pt x="0" y="2279711"/>
                  <a:pt x="0" y="2262188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96094" y="1168402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375" y="158750"/>
                </a:moveTo>
                <a:cubicBezTo>
                  <a:pt x="123183" y="158750"/>
                  <a:pt x="158750" y="123183"/>
                  <a:pt x="158750" y="79375"/>
                </a:cubicBezTo>
                <a:cubicBezTo>
                  <a:pt x="158750" y="35567"/>
                  <a:pt x="123183" y="0"/>
                  <a:pt x="79375" y="0"/>
                </a:cubicBezTo>
                <a:cubicBezTo>
                  <a:pt x="35567" y="0"/>
                  <a:pt x="0" y="35567"/>
                  <a:pt x="0" y="79375"/>
                </a:cubicBezTo>
                <a:cubicBezTo>
                  <a:pt x="0" y="123183"/>
                  <a:pt x="35567" y="158750"/>
                  <a:pt x="79375" y="158750"/>
                </a:cubicBezTo>
                <a:close/>
                <a:moveTo>
                  <a:pt x="79375" y="54570"/>
                </a:moveTo>
                <a:cubicBezTo>
                  <a:pt x="73887" y="54570"/>
                  <a:pt x="69453" y="59004"/>
                  <a:pt x="69453" y="64492"/>
                </a:cubicBezTo>
                <a:cubicBezTo>
                  <a:pt x="69453" y="68616"/>
                  <a:pt x="66135" y="71934"/>
                  <a:pt x="62012" y="71934"/>
                </a:cubicBezTo>
                <a:cubicBezTo>
                  <a:pt x="57888" y="71934"/>
                  <a:pt x="54570" y="68616"/>
                  <a:pt x="54570" y="64492"/>
                </a:cubicBezTo>
                <a:cubicBezTo>
                  <a:pt x="54570" y="50788"/>
                  <a:pt x="65670" y="39688"/>
                  <a:pt x="79375" y="39688"/>
                </a:cubicBezTo>
                <a:cubicBezTo>
                  <a:pt x="93080" y="39688"/>
                  <a:pt x="104180" y="50788"/>
                  <a:pt x="104180" y="64492"/>
                </a:cubicBezTo>
                <a:cubicBezTo>
                  <a:pt x="104180" y="79127"/>
                  <a:pt x="93018" y="85328"/>
                  <a:pt x="86816" y="87592"/>
                </a:cubicBezTo>
                <a:lnTo>
                  <a:pt x="86816" y="88770"/>
                </a:lnTo>
                <a:cubicBezTo>
                  <a:pt x="86816" y="92894"/>
                  <a:pt x="83499" y="96211"/>
                  <a:pt x="79375" y="96211"/>
                </a:cubicBezTo>
                <a:cubicBezTo>
                  <a:pt x="75251" y="96211"/>
                  <a:pt x="71934" y="92894"/>
                  <a:pt x="71934" y="88770"/>
                </a:cubicBezTo>
                <a:lnTo>
                  <a:pt x="71934" y="86258"/>
                </a:lnTo>
                <a:cubicBezTo>
                  <a:pt x="71934" y="79902"/>
                  <a:pt x="76522" y="75344"/>
                  <a:pt x="81266" y="73794"/>
                </a:cubicBezTo>
                <a:cubicBezTo>
                  <a:pt x="83251" y="73143"/>
                  <a:pt x="85359" y="72089"/>
                  <a:pt x="86909" y="70600"/>
                </a:cubicBezTo>
                <a:cubicBezTo>
                  <a:pt x="88243" y="69298"/>
                  <a:pt x="89297" y="67500"/>
                  <a:pt x="89297" y="64523"/>
                </a:cubicBezTo>
                <a:cubicBezTo>
                  <a:pt x="89297" y="59035"/>
                  <a:pt x="84863" y="54601"/>
                  <a:pt x="79375" y="54601"/>
                </a:cubicBezTo>
                <a:close/>
                <a:moveTo>
                  <a:pt x="69453" y="114102"/>
                </a:moveTo>
                <a:cubicBezTo>
                  <a:pt x="69453" y="108626"/>
                  <a:pt x="73899" y="104180"/>
                  <a:pt x="79375" y="104180"/>
                </a:cubicBezTo>
                <a:cubicBezTo>
                  <a:pt x="84851" y="104180"/>
                  <a:pt x="89297" y="108626"/>
                  <a:pt x="89297" y="114102"/>
                </a:cubicBezTo>
                <a:cubicBezTo>
                  <a:pt x="89297" y="119578"/>
                  <a:pt x="84851" y="124023"/>
                  <a:pt x="79375" y="124023"/>
                </a:cubicBezTo>
                <a:cubicBezTo>
                  <a:pt x="73899" y="124023"/>
                  <a:pt x="69453" y="119578"/>
                  <a:pt x="69453" y="114102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14375" y="1143000"/>
            <a:ext cx="52705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IoU?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76250" y="1460500"/>
            <a:ext cx="549275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IoU measures the </a:t>
            </a:r>
            <a:r>
              <a:rPr lang="en-US" sz="1000" b="1" dirty="0">
                <a:solidFill>
                  <a:srgbClr val="FFD5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overlap accuracy</a:t>
            </a:r>
            <a:r>
              <a:rPr lang="en-US" sz="1000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between a predicted bounding box and the ground truth (actual) box.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76250" y="1968500"/>
            <a:ext cx="5429250" cy="1214438"/>
          </a:xfrm>
          <a:custGeom>
            <a:avLst/>
            <a:gdLst/>
            <a:ahLst/>
            <a:cxnLst/>
            <a:rect l="l" t="t" r="r" b="b"/>
            <a:pathLst>
              <a:path w="5429250" h="1214438">
                <a:moveTo>
                  <a:pt x="63503" y="0"/>
                </a:moveTo>
                <a:lnTo>
                  <a:pt x="5365747" y="0"/>
                </a:lnTo>
                <a:cubicBezTo>
                  <a:pt x="5400819" y="0"/>
                  <a:pt x="5429250" y="28431"/>
                  <a:pt x="5429250" y="63503"/>
                </a:cubicBezTo>
                <a:lnTo>
                  <a:pt x="5429250" y="1150935"/>
                </a:lnTo>
                <a:cubicBezTo>
                  <a:pt x="5429250" y="1186006"/>
                  <a:pt x="5400819" y="1214438"/>
                  <a:pt x="5365747" y="1214437"/>
                </a:cubicBezTo>
                <a:lnTo>
                  <a:pt x="63503" y="1214438"/>
                </a:lnTo>
                <a:cubicBezTo>
                  <a:pt x="28431" y="1214437"/>
                  <a:pt x="0" y="1186006"/>
                  <a:pt x="0" y="1150935"/>
                </a:cubicBezTo>
                <a:lnTo>
                  <a:pt x="0" y="63503"/>
                </a:lnTo>
                <a:cubicBezTo>
                  <a:pt x="0" y="28455"/>
                  <a:pt x="28455" y="0"/>
                  <a:pt x="63503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55625" y="2095500"/>
            <a:ext cx="5270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FFD5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IoU = Area of Intersection / Area of Union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03250" y="2416078"/>
            <a:ext cx="5175250" cy="6350"/>
          </a:xfrm>
          <a:custGeom>
            <a:avLst/>
            <a:gdLst/>
            <a:ahLst/>
            <a:cxnLst/>
            <a:rect l="l" t="t" r="r" b="b"/>
            <a:pathLst>
              <a:path w="5175250" h="6350">
                <a:moveTo>
                  <a:pt x="0" y="0"/>
                </a:moveTo>
                <a:lnTo>
                  <a:pt x="5175250" y="0"/>
                </a:lnTo>
                <a:lnTo>
                  <a:pt x="5175250" y="6350"/>
                </a:lnTo>
                <a:lnTo>
                  <a:pt x="0" y="6350"/>
                </a:lnTo>
                <a:lnTo>
                  <a:pt x="0" y="0"/>
                </a:lnTo>
                <a:close/>
              </a:path>
            </a:pathLst>
          </a:custGeom>
          <a:solidFill>
            <a:srgbClr val="7890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03250" y="2482752"/>
            <a:ext cx="2540000" cy="571500"/>
          </a:xfrm>
          <a:custGeom>
            <a:avLst/>
            <a:gdLst/>
            <a:ahLst/>
            <a:cxnLst/>
            <a:rect l="l" t="t" r="r" b="b"/>
            <a:pathLst>
              <a:path w="2540000" h="571500">
                <a:moveTo>
                  <a:pt x="31753" y="0"/>
                </a:moveTo>
                <a:lnTo>
                  <a:pt x="2508247" y="0"/>
                </a:lnTo>
                <a:cubicBezTo>
                  <a:pt x="2525784" y="0"/>
                  <a:pt x="2540000" y="14216"/>
                  <a:pt x="2540000" y="31753"/>
                </a:cubicBezTo>
                <a:lnTo>
                  <a:pt x="2540000" y="539747"/>
                </a:lnTo>
                <a:cubicBezTo>
                  <a:pt x="2540000" y="557284"/>
                  <a:pt x="2525784" y="571500"/>
                  <a:pt x="2508247" y="571500"/>
                </a:cubicBezTo>
                <a:lnTo>
                  <a:pt x="31753" y="571500"/>
                </a:lnTo>
                <a:cubicBezTo>
                  <a:pt x="14216" y="571500"/>
                  <a:pt x="0" y="557284"/>
                  <a:pt x="0" y="539747"/>
                </a:cubicBezTo>
                <a:lnTo>
                  <a:pt x="0" y="31753"/>
                </a:lnTo>
                <a:cubicBezTo>
                  <a:pt x="0" y="14228"/>
                  <a:pt x="14228" y="0"/>
                  <a:pt x="31753" y="0"/>
                </a:cubicBezTo>
                <a:close/>
              </a:path>
            </a:pathLst>
          </a:custGeom>
          <a:solidFill>
            <a:srgbClr val="263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66750" y="2578002"/>
            <a:ext cx="2413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Numerator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66750" y="2768502"/>
            <a:ext cx="2413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Overlap region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238500" y="2482752"/>
            <a:ext cx="2540000" cy="571500"/>
          </a:xfrm>
          <a:custGeom>
            <a:avLst/>
            <a:gdLst/>
            <a:ahLst/>
            <a:cxnLst/>
            <a:rect l="l" t="t" r="r" b="b"/>
            <a:pathLst>
              <a:path w="2540000" h="571500">
                <a:moveTo>
                  <a:pt x="31753" y="0"/>
                </a:moveTo>
                <a:lnTo>
                  <a:pt x="2508247" y="0"/>
                </a:lnTo>
                <a:cubicBezTo>
                  <a:pt x="2525784" y="0"/>
                  <a:pt x="2540000" y="14216"/>
                  <a:pt x="2540000" y="31753"/>
                </a:cubicBezTo>
                <a:lnTo>
                  <a:pt x="2540000" y="539747"/>
                </a:lnTo>
                <a:cubicBezTo>
                  <a:pt x="2540000" y="557284"/>
                  <a:pt x="2525784" y="571500"/>
                  <a:pt x="2508247" y="571500"/>
                </a:cubicBezTo>
                <a:lnTo>
                  <a:pt x="31753" y="571500"/>
                </a:lnTo>
                <a:cubicBezTo>
                  <a:pt x="14216" y="571500"/>
                  <a:pt x="0" y="557284"/>
                  <a:pt x="0" y="539747"/>
                </a:cubicBezTo>
                <a:lnTo>
                  <a:pt x="0" y="31753"/>
                </a:lnTo>
                <a:cubicBezTo>
                  <a:pt x="0" y="14228"/>
                  <a:pt x="14228" y="0"/>
                  <a:pt x="31753" y="0"/>
                </a:cubicBezTo>
                <a:close/>
              </a:path>
            </a:pathLst>
          </a:custGeom>
          <a:solidFill>
            <a:srgbClr val="263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302000" y="2578002"/>
            <a:ext cx="2413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Denominator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302000" y="2768502"/>
            <a:ext cx="2413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combined area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33375" y="3435252"/>
            <a:ext cx="5699125" cy="2794000"/>
          </a:xfrm>
          <a:custGeom>
            <a:avLst/>
            <a:gdLst/>
            <a:ahLst/>
            <a:cxnLst/>
            <a:rect l="l" t="t" r="r" b="b"/>
            <a:pathLst>
              <a:path w="5699125" h="2794000">
                <a:moveTo>
                  <a:pt x="31750" y="0"/>
                </a:moveTo>
                <a:lnTo>
                  <a:pt x="5603878" y="0"/>
                </a:lnTo>
                <a:cubicBezTo>
                  <a:pt x="5656481" y="0"/>
                  <a:pt x="5699125" y="42644"/>
                  <a:pt x="5699125" y="95247"/>
                </a:cubicBezTo>
                <a:lnTo>
                  <a:pt x="5699125" y="2698753"/>
                </a:lnTo>
                <a:cubicBezTo>
                  <a:pt x="5699125" y="2751356"/>
                  <a:pt x="5656481" y="2794000"/>
                  <a:pt x="5603878" y="2794000"/>
                </a:cubicBezTo>
                <a:lnTo>
                  <a:pt x="31750" y="2794000"/>
                </a:lnTo>
                <a:cubicBezTo>
                  <a:pt x="14215" y="2794000"/>
                  <a:pt x="0" y="2779785"/>
                  <a:pt x="0" y="2762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63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33375" y="3435252"/>
            <a:ext cx="31750" cy="2794000"/>
          </a:xfrm>
          <a:custGeom>
            <a:avLst/>
            <a:gdLst/>
            <a:ahLst/>
            <a:cxnLst/>
            <a:rect l="l" t="t" r="r" b="b"/>
            <a:pathLst>
              <a:path w="31750" h="2794000">
                <a:moveTo>
                  <a:pt x="31750" y="0"/>
                </a:moveTo>
                <a:lnTo>
                  <a:pt x="31750" y="0"/>
                </a:lnTo>
                <a:lnTo>
                  <a:pt x="31750" y="2794000"/>
                </a:lnTo>
                <a:lnTo>
                  <a:pt x="31750" y="2794000"/>
                </a:lnTo>
                <a:cubicBezTo>
                  <a:pt x="14227" y="2794000"/>
                  <a:pt x="0" y="2779773"/>
                  <a:pt x="0" y="2762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D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96094" y="3587653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19844" y="19844"/>
                </a:moveTo>
                <a:cubicBezTo>
                  <a:pt x="19844" y="14356"/>
                  <a:pt x="15410" y="9922"/>
                  <a:pt x="9922" y="9922"/>
                </a:cubicBezTo>
                <a:cubicBezTo>
                  <a:pt x="4434" y="9922"/>
                  <a:pt x="0" y="14356"/>
                  <a:pt x="0" y="19844"/>
                </a:cubicBezTo>
                <a:lnTo>
                  <a:pt x="0" y="124023"/>
                </a:lnTo>
                <a:cubicBezTo>
                  <a:pt x="0" y="137728"/>
                  <a:pt x="11100" y="148828"/>
                  <a:pt x="24805" y="148828"/>
                </a:cubicBezTo>
                <a:lnTo>
                  <a:pt x="148828" y="148828"/>
                </a:lnTo>
                <a:cubicBezTo>
                  <a:pt x="154316" y="148828"/>
                  <a:pt x="158750" y="144394"/>
                  <a:pt x="158750" y="138906"/>
                </a:cubicBezTo>
                <a:cubicBezTo>
                  <a:pt x="158750" y="133418"/>
                  <a:pt x="154316" y="128984"/>
                  <a:pt x="148828" y="128984"/>
                </a:cubicBezTo>
                <a:lnTo>
                  <a:pt x="24805" y="128984"/>
                </a:lnTo>
                <a:cubicBezTo>
                  <a:pt x="22076" y="128984"/>
                  <a:pt x="19844" y="126752"/>
                  <a:pt x="19844" y="124023"/>
                </a:cubicBezTo>
                <a:lnTo>
                  <a:pt x="19844" y="19844"/>
                </a:lnTo>
                <a:close/>
                <a:moveTo>
                  <a:pt x="145914" y="46695"/>
                </a:moveTo>
                <a:cubicBezTo>
                  <a:pt x="149789" y="42819"/>
                  <a:pt x="149789" y="36525"/>
                  <a:pt x="145914" y="32649"/>
                </a:cubicBezTo>
                <a:cubicBezTo>
                  <a:pt x="142038" y="28773"/>
                  <a:pt x="135744" y="28773"/>
                  <a:pt x="131868" y="32649"/>
                </a:cubicBezTo>
                <a:lnTo>
                  <a:pt x="99219" y="65329"/>
                </a:lnTo>
                <a:lnTo>
                  <a:pt x="81421" y="47563"/>
                </a:lnTo>
                <a:cubicBezTo>
                  <a:pt x="77546" y="43687"/>
                  <a:pt x="71251" y="43687"/>
                  <a:pt x="67376" y="47563"/>
                </a:cubicBezTo>
                <a:lnTo>
                  <a:pt x="37610" y="77329"/>
                </a:lnTo>
                <a:cubicBezTo>
                  <a:pt x="33734" y="81204"/>
                  <a:pt x="33734" y="87499"/>
                  <a:pt x="37610" y="91374"/>
                </a:cubicBezTo>
                <a:cubicBezTo>
                  <a:pt x="41486" y="95250"/>
                  <a:pt x="47780" y="95250"/>
                  <a:pt x="51656" y="91374"/>
                </a:cubicBezTo>
                <a:lnTo>
                  <a:pt x="74414" y="68616"/>
                </a:lnTo>
                <a:lnTo>
                  <a:pt x="92211" y="86413"/>
                </a:lnTo>
                <a:cubicBezTo>
                  <a:pt x="96087" y="90289"/>
                  <a:pt x="102381" y="90289"/>
                  <a:pt x="106257" y="86413"/>
                </a:cubicBezTo>
                <a:lnTo>
                  <a:pt x="145945" y="46726"/>
                </a:lnTo>
                <a:close/>
              </a:path>
            </a:pathLst>
          </a:custGeom>
          <a:solidFill>
            <a:srgbClr val="FFD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14375" y="3562252"/>
            <a:ext cx="52705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D5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IoU Interpretation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76250" y="3879752"/>
            <a:ext cx="5429250" cy="698500"/>
          </a:xfrm>
          <a:custGeom>
            <a:avLst/>
            <a:gdLst/>
            <a:ahLst/>
            <a:cxnLst/>
            <a:rect l="l" t="t" r="r" b="b"/>
            <a:pathLst>
              <a:path w="5429250" h="698500">
                <a:moveTo>
                  <a:pt x="63501" y="0"/>
                </a:moveTo>
                <a:lnTo>
                  <a:pt x="5365749" y="0"/>
                </a:lnTo>
                <a:cubicBezTo>
                  <a:pt x="5400820" y="0"/>
                  <a:pt x="5429250" y="28430"/>
                  <a:pt x="5429250" y="63501"/>
                </a:cubicBezTo>
                <a:lnTo>
                  <a:pt x="5429250" y="634999"/>
                </a:lnTo>
                <a:cubicBezTo>
                  <a:pt x="5429250" y="670070"/>
                  <a:pt x="5400820" y="698500"/>
                  <a:pt x="5365749" y="698500"/>
                </a:cubicBezTo>
                <a:lnTo>
                  <a:pt x="63501" y="698500"/>
                </a:lnTo>
                <a:cubicBezTo>
                  <a:pt x="28430" y="698500"/>
                  <a:pt x="0" y="670070"/>
                  <a:pt x="0" y="634999"/>
                </a:cubicBezTo>
                <a:lnTo>
                  <a:pt x="0" y="63501"/>
                </a:lnTo>
                <a:cubicBezTo>
                  <a:pt x="0" y="28430"/>
                  <a:pt x="28430" y="0"/>
                  <a:pt x="63501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71500" y="3975002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31750" y="0"/>
                </a:moveTo>
                <a:lnTo>
                  <a:pt x="476250" y="0"/>
                </a:lnTo>
                <a:cubicBezTo>
                  <a:pt x="493773" y="0"/>
                  <a:pt x="508000" y="14227"/>
                  <a:pt x="508000" y="31750"/>
                </a:cubicBezTo>
                <a:lnTo>
                  <a:pt x="508000" y="476250"/>
                </a:lnTo>
                <a:cubicBezTo>
                  <a:pt x="508000" y="493773"/>
                  <a:pt x="493773" y="508000"/>
                  <a:pt x="476250" y="508000"/>
                </a:cubicBezTo>
                <a:lnTo>
                  <a:pt x="31750" y="508000"/>
                </a:lnTo>
                <a:cubicBezTo>
                  <a:pt x="14227" y="508000"/>
                  <a:pt x="0" y="493773"/>
                  <a:pt x="0" y="476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31813" y="3975002"/>
            <a:ext cx="58737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1.0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74750" y="4038502"/>
            <a:ext cx="1484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Perfect Match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74750" y="4229002"/>
            <a:ext cx="1484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Boxes completely overlap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595938" y="4133752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76250" y="4641752"/>
            <a:ext cx="5429250" cy="698500"/>
          </a:xfrm>
          <a:custGeom>
            <a:avLst/>
            <a:gdLst/>
            <a:ahLst/>
            <a:cxnLst/>
            <a:rect l="l" t="t" r="r" b="b"/>
            <a:pathLst>
              <a:path w="5429250" h="698500">
                <a:moveTo>
                  <a:pt x="63501" y="0"/>
                </a:moveTo>
                <a:lnTo>
                  <a:pt x="5365749" y="0"/>
                </a:lnTo>
                <a:cubicBezTo>
                  <a:pt x="5400820" y="0"/>
                  <a:pt x="5429250" y="28430"/>
                  <a:pt x="5429250" y="63501"/>
                </a:cubicBezTo>
                <a:lnTo>
                  <a:pt x="5429250" y="634999"/>
                </a:lnTo>
                <a:cubicBezTo>
                  <a:pt x="5429250" y="670070"/>
                  <a:pt x="5400820" y="698500"/>
                  <a:pt x="5365749" y="698500"/>
                </a:cubicBezTo>
                <a:lnTo>
                  <a:pt x="63501" y="698500"/>
                </a:lnTo>
                <a:cubicBezTo>
                  <a:pt x="28430" y="698500"/>
                  <a:pt x="0" y="670070"/>
                  <a:pt x="0" y="634999"/>
                </a:cubicBezTo>
                <a:lnTo>
                  <a:pt x="0" y="63501"/>
                </a:lnTo>
                <a:cubicBezTo>
                  <a:pt x="0" y="28430"/>
                  <a:pt x="28430" y="0"/>
                  <a:pt x="63501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71500" y="4737002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31750" y="0"/>
                </a:moveTo>
                <a:lnTo>
                  <a:pt x="476250" y="0"/>
                </a:lnTo>
                <a:cubicBezTo>
                  <a:pt x="493773" y="0"/>
                  <a:pt x="508000" y="14227"/>
                  <a:pt x="508000" y="31750"/>
                </a:cubicBezTo>
                <a:lnTo>
                  <a:pt x="508000" y="476250"/>
                </a:lnTo>
                <a:cubicBezTo>
                  <a:pt x="508000" y="493773"/>
                  <a:pt x="493773" y="508000"/>
                  <a:pt x="476250" y="508000"/>
                </a:cubicBezTo>
                <a:lnTo>
                  <a:pt x="31750" y="508000"/>
                </a:lnTo>
                <a:cubicBezTo>
                  <a:pt x="14227" y="508000"/>
                  <a:pt x="0" y="493773"/>
                  <a:pt x="0" y="476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D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31813" y="4737002"/>
            <a:ext cx="58737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≥0.5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174750" y="4800502"/>
            <a:ext cx="1111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Correct Detection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174750" y="4991002"/>
            <a:ext cx="1111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Standard threshold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595938" y="4895752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76250" y="5403752"/>
            <a:ext cx="5429250" cy="698500"/>
          </a:xfrm>
          <a:custGeom>
            <a:avLst/>
            <a:gdLst/>
            <a:ahLst/>
            <a:cxnLst/>
            <a:rect l="l" t="t" r="r" b="b"/>
            <a:pathLst>
              <a:path w="5429250" h="698500">
                <a:moveTo>
                  <a:pt x="63501" y="0"/>
                </a:moveTo>
                <a:lnTo>
                  <a:pt x="5365749" y="0"/>
                </a:lnTo>
                <a:cubicBezTo>
                  <a:pt x="5400820" y="0"/>
                  <a:pt x="5429250" y="28430"/>
                  <a:pt x="5429250" y="63501"/>
                </a:cubicBezTo>
                <a:lnTo>
                  <a:pt x="5429250" y="634999"/>
                </a:lnTo>
                <a:cubicBezTo>
                  <a:pt x="5429250" y="670070"/>
                  <a:pt x="5400820" y="698500"/>
                  <a:pt x="5365749" y="698500"/>
                </a:cubicBezTo>
                <a:lnTo>
                  <a:pt x="63501" y="698500"/>
                </a:lnTo>
                <a:cubicBezTo>
                  <a:pt x="28430" y="698500"/>
                  <a:pt x="0" y="670070"/>
                  <a:pt x="0" y="634999"/>
                </a:cubicBezTo>
                <a:lnTo>
                  <a:pt x="0" y="63501"/>
                </a:lnTo>
                <a:cubicBezTo>
                  <a:pt x="0" y="28430"/>
                  <a:pt x="28430" y="0"/>
                  <a:pt x="63501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571500" y="5499002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31750" y="0"/>
                </a:moveTo>
                <a:lnTo>
                  <a:pt x="476250" y="0"/>
                </a:lnTo>
                <a:cubicBezTo>
                  <a:pt x="493773" y="0"/>
                  <a:pt x="508000" y="14227"/>
                  <a:pt x="508000" y="31750"/>
                </a:cubicBezTo>
                <a:lnTo>
                  <a:pt x="508000" y="476250"/>
                </a:lnTo>
                <a:cubicBezTo>
                  <a:pt x="508000" y="493773"/>
                  <a:pt x="493773" y="508000"/>
                  <a:pt x="476250" y="508000"/>
                </a:cubicBezTo>
                <a:lnTo>
                  <a:pt x="31750" y="508000"/>
                </a:lnTo>
                <a:cubicBezTo>
                  <a:pt x="14227" y="508000"/>
                  <a:pt x="0" y="493773"/>
                  <a:pt x="0" y="476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7890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31813" y="5499002"/>
            <a:ext cx="58737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0.0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174750" y="5562502"/>
            <a:ext cx="1047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Overlap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174750" y="5753002"/>
            <a:ext cx="1047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Boxes don't touch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595938" y="5657752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62136" y="62136"/>
                </a:moveTo>
                <a:cubicBezTo>
                  <a:pt x="65633" y="58638"/>
                  <a:pt x="71289" y="58638"/>
                  <a:pt x="74749" y="62136"/>
                </a:cubicBezTo>
                <a:lnTo>
                  <a:pt x="95213" y="82600"/>
                </a:lnTo>
                <a:lnTo>
                  <a:pt x="115677" y="62136"/>
                </a:lnTo>
                <a:cubicBezTo>
                  <a:pt x="119174" y="58638"/>
                  <a:pt x="124830" y="58638"/>
                  <a:pt x="128290" y="62136"/>
                </a:cubicBezTo>
                <a:cubicBezTo>
                  <a:pt x="131750" y="65633"/>
                  <a:pt x="131787" y="71289"/>
                  <a:pt x="128290" y="74749"/>
                </a:cubicBezTo>
                <a:lnTo>
                  <a:pt x="107826" y="95213"/>
                </a:lnTo>
                <a:lnTo>
                  <a:pt x="128290" y="115677"/>
                </a:lnTo>
                <a:cubicBezTo>
                  <a:pt x="131787" y="119174"/>
                  <a:pt x="131787" y="124830"/>
                  <a:pt x="128290" y="128290"/>
                </a:cubicBezTo>
                <a:cubicBezTo>
                  <a:pt x="124792" y="131750"/>
                  <a:pt x="119137" y="131787"/>
                  <a:pt x="115677" y="128290"/>
                </a:cubicBezTo>
                <a:lnTo>
                  <a:pt x="95213" y="107826"/>
                </a:lnTo>
                <a:lnTo>
                  <a:pt x="74749" y="128290"/>
                </a:lnTo>
                <a:cubicBezTo>
                  <a:pt x="71251" y="131787"/>
                  <a:pt x="65596" y="131787"/>
                  <a:pt x="62136" y="128290"/>
                </a:cubicBezTo>
                <a:cubicBezTo>
                  <a:pt x="58675" y="124792"/>
                  <a:pt x="58638" y="119137"/>
                  <a:pt x="62136" y="115677"/>
                </a:cubicBezTo>
                <a:lnTo>
                  <a:pt x="82600" y="95213"/>
                </a:lnTo>
                <a:lnTo>
                  <a:pt x="62136" y="74749"/>
                </a:lnTo>
                <a:cubicBezTo>
                  <a:pt x="58638" y="71251"/>
                  <a:pt x="58638" y="65596"/>
                  <a:pt x="62136" y="62136"/>
                </a:cubicBezTo>
                <a:close/>
              </a:path>
            </a:pathLst>
          </a:custGeom>
          <a:solidFill>
            <a:srgbClr val="FFD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6159500" y="1031875"/>
            <a:ext cx="5715000" cy="2301875"/>
          </a:xfrm>
          <a:custGeom>
            <a:avLst/>
            <a:gdLst/>
            <a:ahLst/>
            <a:cxnLst/>
            <a:rect l="l" t="t" r="r" b="b"/>
            <a:pathLst>
              <a:path w="5715000" h="2301875">
                <a:moveTo>
                  <a:pt x="31750" y="0"/>
                </a:moveTo>
                <a:lnTo>
                  <a:pt x="5683250" y="0"/>
                </a:lnTo>
                <a:cubicBezTo>
                  <a:pt x="5700773" y="0"/>
                  <a:pt x="5715000" y="14227"/>
                  <a:pt x="5715000" y="31750"/>
                </a:cubicBezTo>
                <a:lnTo>
                  <a:pt x="5715000" y="2206623"/>
                </a:lnTo>
                <a:cubicBezTo>
                  <a:pt x="5715000" y="2259229"/>
                  <a:pt x="5672354" y="2301875"/>
                  <a:pt x="5619748" y="2301875"/>
                </a:cubicBezTo>
                <a:lnTo>
                  <a:pt x="95252" y="2301875"/>
                </a:lnTo>
                <a:cubicBezTo>
                  <a:pt x="42646" y="2301875"/>
                  <a:pt x="0" y="2259229"/>
                  <a:pt x="0" y="220662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63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6159500" y="1031875"/>
            <a:ext cx="5715000" cy="31750"/>
          </a:xfrm>
          <a:custGeom>
            <a:avLst/>
            <a:gdLst/>
            <a:ahLst/>
            <a:cxnLst/>
            <a:rect l="l" t="t" r="r" b="b"/>
            <a:pathLst>
              <a:path w="5715000" h="31750">
                <a:moveTo>
                  <a:pt x="31750" y="0"/>
                </a:moveTo>
                <a:lnTo>
                  <a:pt x="5683250" y="0"/>
                </a:lnTo>
                <a:cubicBezTo>
                  <a:pt x="5700773" y="0"/>
                  <a:pt x="5715000" y="14227"/>
                  <a:pt x="5715000" y="31750"/>
                </a:cubicBezTo>
                <a:lnTo>
                  <a:pt x="5715000" y="31750"/>
                </a:lnTo>
                <a:lnTo>
                  <a:pt x="0" y="31750"/>
                </a:ln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6296422" y="1200152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29766" y="29766"/>
                </a:moveTo>
                <a:cubicBezTo>
                  <a:pt x="29766" y="18821"/>
                  <a:pt x="38664" y="9922"/>
                  <a:pt x="49609" y="9922"/>
                </a:cubicBezTo>
                <a:lnTo>
                  <a:pt x="148828" y="9922"/>
                </a:lnTo>
                <a:cubicBezTo>
                  <a:pt x="159773" y="9922"/>
                  <a:pt x="168672" y="18821"/>
                  <a:pt x="168672" y="29766"/>
                </a:cubicBezTo>
                <a:lnTo>
                  <a:pt x="168672" y="109141"/>
                </a:lnTo>
                <a:cubicBezTo>
                  <a:pt x="168672" y="120086"/>
                  <a:pt x="159773" y="128984"/>
                  <a:pt x="148828" y="128984"/>
                </a:cubicBezTo>
                <a:lnTo>
                  <a:pt x="49609" y="128984"/>
                </a:lnTo>
                <a:cubicBezTo>
                  <a:pt x="38664" y="128984"/>
                  <a:pt x="29766" y="120086"/>
                  <a:pt x="29766" y="109141"/>
                </a:cubicBezTo>
                <a:lnTo>
                  <a:pt x="29766" y="29766"/>
                </a:lnTo>
                <a:close/>
                <a:moveTo>
                  <a:pt x="7441" y="39688"/>
                </a:moveTo>
                <a:cubicBezTo>
                  <a:pt x="11565" y="39688"/>
                  <a:pt x="14883" y="43005"/>
                  <a:pt x="14883" y="47129"/>
                </a:cubicBezTo>
                <a:lnTo>
                  <a:pt x="14883" y="138906"/>
                </a:lnTo>
                <a:cubicBezTo>
                  <a:pt x="14883" y="141635"/>
                  <a:pt x="17115" y="143867"/>
                  <a:pt x="19844" y="143867"/>
                </a:cubicBezTo>
                <a:lnTo>
                  <a:pt x="131465" y="143867"/>
                </a:lnTo>
                <a:cubicBezTo>
                  <a:pt x="135589" y="143867"/>
                  <a:pt x="138906" y="147185"/>
                  <a:pt x="138906" y="151309"/>
                </a:cubicBezTo>
                <a:cubicBezTo>
                  <a:pt x="138906" y="155432"/>
                  <a:pt x="135589" y="158750"/>
                  <a:pt x="131465" y="158750"/>
                </a:cubicBezTo>
                <a:lnTo>
                  <a:pt x="19844" y="158750"/>
                </a:lnTo>
                <a:cubicBezTo>
                  <a:pt x="8899" y="158750"/>
                  <a:pt x="0" y="149851"/>
                  <a:pt x="0" y="138906"/>
                </a:cubicBezTo>
                <a:lnTo>
                  <a:pt x="0" y="47129"/>
                </a:lnTo>
                <a:cubicBezTo>
                  <a:pt x="0" y="43005"/>
                  <a:pt x="3318" y="39688"/>
                  <a:pt x="7441" y="39688"/>
                </a:cubicBezTo>
                <a:close/>
                <a:moveTo>
                  <a:pt x="59531" y="49609"/>
                </a:moveTo>
                <a:cubicBezTo>
                  <a:pt x="65007" y="49609"/>
                  <a:pt x="69453" y="45164"/>
                  <a:pt x="69453" y="39688"/>
                </a:cubicBezTo>
                <a:cubicBezTo>
                  <a:pt x="69453" y="34211"/>
                  <a:pt x="65007" y="29766"/>
                  <a:pt x="59531" y="29766"/>
                </a:cubicBezTo>
                <a:cubicBezTo>
                  <a:pt x="54055" y="29766"/>
                  <a:pt x="49609" y="34211"/>
                  <a:pt x="49609" y="39688"/>
                </a:cubicBezTo>
                <a:cubicBezTo>
                  <a:pt x="49609" y="45164"/>
                  <a:pt x="54055" y="49609"/>
                  <a:pt x="59531" y="49609"/>
                </a:cubicBezTo>
                <a:close/>
                <a:moveTo>
                  <a:pt x="120458" y="53175"/>
                </a:moveTo>
                <a:cubicBezTo>
                  <a:pt x="119094" y="50974"/>
                  <a:pt x="116706" y="49609"/>
                  <a:pt x="114102" y="49609"/>
                </a:cubicBezTo>
                <a:cubicBezTo>
                  <a:pt x="111497" y="49609"/>
                  <a:pt x="109110" y="50974"/>
                  <a:pt x="107745" y="53175"/>
                </a:cubicBezTo>
                <a:lnTo>
                  <a:pt x="90289" y="81731"/>
                </a:lnTo>
                <a:lnTo>
                  <a:pt x="82693" y="72244"/>
                </a:lnTo>
                <a:cubicBezTo>
                  <a:pt x="81266" y="70476"/>
                  <a:pt x="79158" y="69453"/>
                  <a:pt x="76895" y="69453"/>
                </a:cubicBezTo>
                <a:cubicBezTo>
                  <a:pt x="74631" y="69453"/>
                  <a:pt x="72492" y="70476"/>
                  <a:pt x="71096" y="72244"/>
                </a:cubicBezTo>
                <a:lnTo>
                  <a:pt x="51253" y="97048"/>
                </a:lnTo>
                <a:cubicBezTo>
                  <a:pt x="49454" y="99281"/>
                  <a:pt x="49113" y="102350"/>
                  <a:pt x="50354" y="104924"/>
                </a:cubicBezTo>
                <a:cubicBezTo>
                  <a:pt x="51594" y="107497"/>
                  <a:pt x="54198" y="109141"/>
                  <a:pt x="57051" y="109141"/>
                </a:cubicBezTo>
                <a:lnTo>
                  <a:pt x="141387" y="109141"/>
                </a:lnTo>
                <a:cubicBezTo>
                  <a:pt x="144084" y="109141"/>
                  <a:pt x="146565" y="107683"/>
                  <a:pt x="147867" y="105327"/>
                </a:cubicBezTo>
                <a:cubicBezTo>
                  <a:pt x="149169" y="102970"/>
                  <a:pt x="149138" y="100118"/>
                  <a:pt x="147712" y="97792"/>
                </a:cubicBezTo>
                <a:lnTo>
                  <a:pt x="120427" y="53144"/>
                </a:ln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524625" y="1174750"/>
            <a:ext cx="5302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 Examples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286500" y="1492250"/>
            <a:ext cx="5461000" cy="1714500"/>
          </a:xfrm>
          <a:custGeom>
            <a:avLst/>
            <a:gdLst/>
            <a:ahLst/>
            <a:cxnLst/>
            <a:rect l="l" t="t" r="r" b="b"/>
            <a:pathLst>
              <a:path w="5461000" h="1714500">
                <a:moveTo>
                  <a:pt x="63505" y="0"/>
                </a:moveTo>
                <a:lnTo>
                  <a:pt x="5397495" y="0"/>
                </a:lnTo>
                <a:cubicBezTo>
                  <a:pt x="5432568" y="0"/>
                  <a:pt x="5461000" y="28432"/>
                  <a:pt x="5461000" y="63505"/>
                </a:cubicBezTo>
                <a:lnTo>
                  <a:pt x="5461000" y="1650995"/>
                </a:lnTo>
                <a:cubicBezTo>
                  <a:pt x="5461000" y="1686068"/>
                  <a:pt x="5432568" y="1714500"/>
                  <a:pt x="5397495" y="1714500"/>
                </a:cubicBezTo>
                <a:lnTo>
                  <a:pt x="63505" y="1714500"/>
                </a:lnTo>
                <a:cubicBezTo>
                  <a:pt x="28432" y="1714500"/>
                  <a:pt x="0" y="1686068"/>
                  <a:pt x="0" y="1650995"/>
                </a:cubicBezTo>
                <a:lnTo>
                  <a:pt x="0" y="63505"/>
                </a:lnTo>
                <a:cubicBezTo>
                  <a:pt x="0" y="28456"/>
                  <a:pt x="28456" y="0"/>
                  <a:pt x="63505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5" name="Image 0" descr="https://kimi-web-img.moonshot.cn/img/b2633864.smushcdn.com/064000544f46b057d6464fde3955b11fcabcdb01.png"/>
          <p:cNvPicPr>
            <a:picLocks noChangeAspect="1"/>
          </p:cNvPicPr>
          <p:nvPr/>
        </p:nvPicPr>
        <p:blipFill>
          <a:blip r:embed="rId3"/>
          <a:srcRect l="-80258" t="168" b="-5254"/>
          <a:stretch>
            <a:fillRect/>
          </a:stretch>
        </p:blipFill>
        <p:spPr>
          <a:xfrm>
            <a:off x="4554508" y="1539875"/>
            <a:ext cx="6124922" cy="1475885"/>
          </a:xfrm>
          <a:prstGeom prst="roundRect">
            <a:avLst>
              <a:gd name="adj" fmla="val 2500"/>
            </a:avLst>
          </a:prstGeom>
        </p:spPr>
      </p:pic>
      <p:sp>
        <p:nvSpPr>
          <p:cNvPr id="46" name="Text 43"/>
          <p:cNvSpPr/>
          <p:nvPr/>
        </p:nvSpPr>
        <p:spPr>
          <a:xfrm>
            <a:off x="6350000" y="2921000"/>
            <a:ext cx="533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Different IoU values showing prediction quality</a:t>
            </a:r>
            <a:endParaRPr lang="en-US" sz="1600" dirty="0"/>
          </a:p>
        </p:txBody>
      </p:sp>
      <p:sp>
        <p:nvSpPr>
          <p:cNvPr id="47" name="Shape 44"/>
          <p:cNvSpPr/>
          <p:nvPr/>
        </p:nvSpPr>
        <p:spPr>
          <a:xfrm>
            <a:off x="6159500" y="3476625"/>
            <a:ext cx="5715000" cy="2301875"/>
          </a:xfrm>
          <a:custGeom>
            <a:avLst/>
            <a:gdLst/>
            <a:ahLst/>
            <a:cxnLst/>
            <a:rect l="l" t="t" r="r" b="b"/>
            <a:pathLst>
              <a:path w="5715000" h="2301875">
                <a:moveTo>
                  <a:pt x="31750" y="0"/>
                </a:moveTo>
                <a:lnTo>
                  <a:pt x="5683250" y="0"/>
                </a:lnTo>
                <a:cubicBezTo>
                  <a:pt x="5700773" y="0"/>
                  <a:pt x="5715000" y="14227"/>
                  <a:pt x="5715000" y="31750"/>
                </a:cubicBezTo>
                <a:lnTo>
                  <a:pt x="5715000" y="2206623"/>
                </a:lnTo>
                <a:cubicBezTo>
                  <a:pt x="5715000" y="2259229"/>
                  <a:pt x="5672354" y="2301875"/>
                  <a:pt x="5619748" y="2301875"/>
                </a:cubicBezTo>
                <a:lnTo>
                  <a:pt x="95252" y="2301875"/>
                </a:lnTo>
                <a:cubicBezTo>
                  <a:pt x="42646" y="2301875"/>
                  <a:pt x="0" y="2259229"/>
                  <a:pt x="0" y="220662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63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5"/>
          <p:cNvSpPr/>
          <p:nvPr/>
        </p:nvSpPr>
        <p:spPr>
          <a:xfrm>
            <a:off x="6159500" y="3476625"/>
            <a:ext cx="5715000" cy="31750"/>
          </a:xfrm>
          <a:custGeom>
            <a:avLst/>
            <a:gdLst/>
            <a:ahLst/>
            <a:cxnLst/>
            <a:rect l="l" t="t" r="r" b="b"/>
            <a:pathLst>
              <a:path w="5715000" h="31750">
                <a:moveTo>
                  <a:pt x="31750" y="0"/>
                </a:moveTo>
                <a:lnTo>
                  <a:pt x="5683250" y="0"/>
                </a:lnTo>
                <a:cubicBezTo>
                  <a:pt x="5700773" y="0"/>
                  <a:pt x="5715000" y="14227"/>
                  <a:pt x="5715000" y="31750"/>
                </a:cubicBezTo>
                <a:lnTo>
                  <a:pt x="5715000" y="31750"/>
                </a:lnTo>
                <a:lnTo>
                  <a:pt x="0" y="31750"/>
                </a:ln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D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6"/>
          <p:cNvSpPr/>
          <p:nvPr/>
        </p:nvSpPr>
        <p:spPr>
          <a:xfrm>
            <a:off x="6296422" y="3644902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111869" y="372"/>
                </a:moveTo>
                <a:cubicBezTo>
                  <a:pt x="106598" y="-1147"/>
                  <a:pt x="101110" y="1922"/>
                  <a:pt x="99591" y="7193"/>
                </a:cubicBezTo>
                <a:lnTo>
                  <a:pt x="59903" y="146100"/>
                </a:lnTo>
                <a:cubicBezTo>
                  <a:pt x="58384" y="151371"/>
                  <a:pt x="61454" y="156859"/>
                  <a:pt x="66725" y="158378"/>
                </a:cubicBezTo>
                <a:cubicBezTo>
                  <a:pt x="71996" y="159897"/>
                  <a:pt x="77484" y="156828"/>
                  <a:pt x="79003" y="151557"/>
                </a:cubicBezTo>
                <a:lnTo>
                  <a:pt x="118690" y="12650"/>
                </a:lnTo>
                <a:cubicBezTo>
                  <a:pt x="120210" y="7379"/>
                  <a:pt x="117140" y="1891"/>
                  <a:pt x="111869" y="372"/>
                </a:cubicBezTo>
                <a:close/>
                <a:moveTo>
                  <a:pt x="131899" y="42571"/>
                </a:moveTo>
                <a:cubicBezTo>
                  <a:pt x="128023" y="46447"/>
                  <a:pt x="128023" y="52741"/>
                  <a:pt x="131899" y="56617"/>
                </a:cubicBezTo>
                <a:lnTo>
                  <a:pt x="154657" y="79375"/>
                </a:lnTo>
                <a:lnTo>
                  <a:pt x="131899" y="102133"/>
                </a:lnTo>
                <a:cubicBezTo>
                  <a:pt x="128023" y="106009"/>
                  <a:pt x="128023" y="112303"/>
                  <a:pt x="131899" y="116179"/>
                </a:cubicBezTo>
                <a:cubicBezTo>
                  <a:pt x="135775" y="120055"/>
                  <a:pt x="142069" y="120055"/>
                  <a:pt x="145945" y="116179"/>
                </a:cubicBezTo>
                <a:lnTo>
                  <a:pt x="175710" y="86413"/>
                </a:lnTo>
                <a:cubicBezTo>
                  <a:pt x="179586" y="82538"/>
                  <a:pt x="179586" y="76243"/>
                  <a:pt x="175710" y="72368"/>
                </a:cubicBezTo>
                <a:lnTo>
                  <a:pt x="145945" y="42602"/>
                </a:lnTo>
                <a:cubicBezTo>
                  <a:pt x="142069" y="38726"/>
                  <a:pt x="135775" y="38726"/>
                  <a:pt x="131899" y="42602"/>
                </a:cubicBezTo>
                <a:close/>
                <a:moveTo>
                  <a:pt x="46726" y="42571"/>
                </a:moveTo>
                <a:cubicBezTo>
                  <a:pt x="42850" y="38695"/>
                  <a:pt x="36556" y="38695"/>
                  <a:pt x="32680" y="42571"/>
                </a:cubicBezTo>
                <a:lnTo>
                  <a:pt x="2915" y="72337"/>
                </a:lnTo>
                <a:cubicBezTo>
                  <a:pt x="-961" y="76212"/>
                  <a:pt x="-961" y="82507"/>
                  <a:pt x="2915" y="86382"/>
                </a:cubicBezTo>
                <a:lnTo>
                  <a:pt x="32680" y="116148"/>
                </a:lnTo>
                <a:cubicBezTo>
                  <a:pt x="36556" y="120024"/>
                  <a:pt x="42850" y="120024"/>
                  <a:pt x="46726" y="116148"/>
                </a:cubicBezTo>
                <a:cubicBezTo>
                  <a:pt x="50602" y="112272"/>
                  <a:pt x="50602" y="105978"/>
                  <a:pt x="46726" y="102102"/>
                </a:cubicBezTo>
                <a:lnTo>
                  <a:pt x="23968" y="79375"/>
                </a:lnTo>
                <a:lnTo>
                  <a:pt x="46695" y="56617"/>
                </a:lnTo>
                <a:cubicBezTo>
                  <a:pt x="50571" y="52741"/>
                  <a:pt x="50571" y="46447"/>
                  <a:pt x="46695" y="42571"/>
                </a:cubicBezTo>
                <a:close/>
              </a:path>
            </a:pathLst>
          </a:custGeom>
          <a:solidFill>
            <a:srgbClr val="FFD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7"/>
          <p:cNvSpPr/>
          <p:nvPr/>
        </p:nvSpPr>
        <p:spPr>
          <a:xfrm>
            <a:off x="6524625" y="3619500"/>
            <a:ext cx="5302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D5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IoU Formula Visualization</a:t>
            </a:r>
            <a:endParaRPr lang="en-US" sz="1600" dirty="0"/>
          </a:p>
        </p:txBody>
      </p:sp>
      <p:sp>
        <p:nvSpPr>
          <p:cNvPr id="51" name="Shape 48"/>
          <p:cNvSpPr/>
          <p:nvPr/>
        </p:nvSpPr>
        <p:spPr>
          <a:xfrm>
            <a:off x="6286500" y="3937000"/>
            <a:ext cx="5461000" cy="1714500"/>
          </a:xfrm>
          <a:custGeom>
            <a:avLst/>
            <a:gdLst/>
            <a:ahLst/>
            <a:cxnLst/>
            <a:rect l="l" t="t" r="r" b="b"/>
            <a:pathLst>
              <a:path w="5461000" h="1714500">
                <a:moveTo>
                  <a:pt x="63505" y="0"/>
                </a:moveTo>
                <a:lnTo>
                  <a:pt x="5397495" y="0"/>
                </a:lnTo>
                <a:cubicBezTo>
                  <a:pt x="5432568" y="0"/>
                  <a:pt x="5461000" y="28432"/>
                  <a:pt x="5461000" y="63505"/>
                </a:cubicBezTo>
                <a:lnTo>
                  <a:pt x="5461000" y="1650995"/>
                </a:lnTo>
                <a:cubicBezTo>
                  <a:pt x="5461000" y="1686068"/>
                  <a:pt x="5432568" y="1714500"/>
                  <a:pt x="5397495" y="1714500"/>
                </a:cubicBezTo>
                <a:lnTo>
                  <a:pt x="63505" y="1714500"/>
                </a:lnTo>
                <a:cubicBezTo>
                  <a:pt x="28432" y="1714500"/>
                  <a:pt x="0" y="1686068"/>
                  <a:pt x="0" y="1650995"/>
                </a:cubicBezTo>
                <a:lnTo>
                  <a:pt x="0" y="63505"/>
                </a:lnTo>
                <a:cubicBezTo>
                  <a:pt x="0" y="28456"/>
                  <a:pt x="28456" y="0"/>
                  <a:pt x="63505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2" name="Image 1" descr="https://kimi-web-img.moonshot.cn/img/b2633864.smushcdn.com/45c5e80b8f21180726d7a8c7cdd12763bbd75b1e.png"/>
          <p:cNvPicPr>
            <a:picLocks noChangeAspect="1"/>
          </p:cNvPicPr>
          <p:nvPr/>
        </p:nvPicPr>
        <p:blipFill>
          <a:blip r:embed="rId4"/>
          <a:srcRect l="-103309" t="422" r="-122339" b="-1021"/>
          <a:stretch>
            <a:fillRect/>
          </a:stretch>
        </p:blipFill>
        <p:spPr>
          <a:xfrm>
            <a:off x="6381750" y="4032250"/>
            <a:ext cx="5270500" cy="1270000"/>
          </a:xfrm>
          <a:prstGeom prst="roundRect">
            <a:avLst>
              <a:gd name="adj" fmla="val 2500"/>
            </a:avLst>
          </a:prstGeom>
        </p:spPr>
      </p:pic>
      <p:sp>
        <p:nvSpPr>
          <p:cNvPr id="53" name="Text 49"/>
          <p:cNvSpPr/>
          <p:nvPr/>
        </p:nvSpPr>
        <p:spPr>
          <a:xfrm>
            <a:off x="6350000" y="5365750"/>
            <a:ext cx="533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Intersection area divided by Union area</a:t>
            </a:r>
            <a:endParaRPr lang="en-US" sz="1600" dirty="0"/>
          </a:p>
        </p:txBody>
      </p:sp>
      <p:sp>
        <p:nvSpPr>
          <p:cNvPr id="54" name="Shape 50"/>
          <p:cNvSpPr/>
          <p:nvPr/>
        </p:nvSpPr>
        <p:spPr>
          <a:xfrm>
            <a:off x="6171882" y="6007001"/>
            <a:ext cx="5664200" cy="811311"/>
          </a:xfrm>
          <a:custGeom>
            <a:avLst/>
            <a:gdLst/>
            <a:ahLst/>
            <a:cxnLst/>
            <a:rect l="l" t="t" r="r" b="b"/>
            <a:pathLst>
              <a:path w="5664200" h="949325">
                <a:moveTo>
                  <a:pt x="94556" y="0"/>
                </a:moveTo>
                <a:lnTo>
                  <a:pt x="5569644" y="0"/>
                </a:lnTo>
                <a:cubicBezTo>
                  <a:pt x="5621866" y="0"/>
                  <a:pt x="5664200" y="28847"/>
                  <a:pt x="5664200" y="64431"/>
                </a:cubicBezTo>
                <a:lnTo>
                  <a:pt x="5664200" y="884894"/>
                </a:lnTo>
                <a:cubicBezTo>
                  <a:pt x="5664200" y="920478"/>
                  <a:pt x="5621866" y="949325"/>
                  <a:pt x="5569644" y="949325"/>
                </a:cubicBezTo>
                <a:lnTo>
                  <a:pt x="94556" y="949325"/>
                </a:lnTo>
                <a:cubicBezTo>
                  <a:pt x="42334" y="949325"/>
                  <a:pt x="0" y="920478"/>
                  <a:pt x="0" y="884894"/>
                </a:cubicBezTo>
                <a:lnTo>
                  <a:pt x="0" y="64431"/>
                </a:lnTo>
                <a:cubicBezTo>
                  <a:pt x="0" y="28870"/>
                  <a:pt x="42369" y="0"/>
                  <a:pt x="94556" y="0"/>
                </a:cubicBezTo>
                <a:close/>
              </a:path>
            </a:pathLst>
          </a:custGeom>
          <a:solidFill>
            <a:srgbClr val="4DB6AC">
              <a:alpha val="10196"/>
            </a:srgbClr>
          </a:solidFill>
          <a:ln w="10160">
            <a:solidFill>
              <a:srgbClr val="4DB6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1"/>
          <p:cNvSpPr/>
          <p:nvPr/>
        </p:nvSpPr>
        <p:spPr>
          <a:xfrm>
            <a:off x="6330553" y="6076951"/>
            <a:ext cx="107156" cy="142875"/>
          </a:xfrm>
          <a:custGeom>
            <a:avLst/>
            <a:gdLst/>
            <a:ahLst/>
            <a:cxnLst/>
            <a:rect l="l" t="t" r="r" b="b"/>
            <a:pathLst>
              <a:path w="107156" h="142875">
                <a:moveTo>
                  <a:pt x="81735" y="107156"/>
                </a:moveTo>
                <a:cubicBezTo>
                  <a:pt x="83772" y="100933"/>
                  <a:pt x="87846" y="95297"/>
                  <a:pt x="92450" y="90441"/>
                </a:cubicBezTo>
                <a:cubicBezTo>
                  <a:pt x="101575" y="80842"/>
                  <a:pt x="107156" y="67866"/>
                  <a:pt x="107156" y="53578"/>
                </a:cubicBezTo>
                <a:cubicBezTo>
                  <a:pt x="107156" y="23999"/>
                  <a:pt x="83158" y="0"/>
                  <a:pt x="53578" y="0"/>
                </a:cubicBezTo>
                <a:cubicBezTo>
                  <a:pt x="23999" y="0"/>
                  <a:pt x="0" y="23999"/>
                  <a:pt x="0" y="53578"/>
                </a:cubicBezTo>
                <a:cubicBezTo>
                  <a:pt x="0" y="67866"/>
                  <a:pt x="5581" y="80842"/>
                  <a:pt x="14706" y="90441"/>
                </a:cubicBezTo>
                <a:cubicBezTo>
                  <a:pt x="19310" y="95297"/>
                  <a:pt x="23413" y="100933"/>
                  <a:pt x="25422" y="107156"/>
                </a:cubicBezTo>
                <a:lnTo>
                  <a:pt x="81707" y="107156"/>
                </a:lnTo>
                <a:close/>
                <a:moveTo>
                  <a:pt x="80367" y="120551"/>
                </a:moveTo>
                <a:lnTo>
                  <a:pt x="26789" y="120551"/>
                </a:lnTo>
                <a:lnTo>
                  <a:pt x="26789" y="125016"/>
                </a:lnTo>
                <a:cubicBezTo>
                  <a:pt x="26789" y="137350"/>
                  <a:pt x="36779" y="147340"/>
                  <a:pt x="49113" y="147340"/>
                </a:cubicBezTo>
                <a:lnTo>
                  <a:pt x="58043" y="147340"/>
                </a:lnTo>
                <a:cubicBezTo>
                  <a:pt x="70377" y="147340"/>
                  <a:pt x="80367" y="137350"/>
                  <a:pt x="80367" y="125016"/>
                </a:cubicBezTo>
                <a:lnTo>
                  <a:pt x="80367" y="120551"/>
                </a:lnTo>
                <a:close/>
                <a:moveTo>
                  <a:pt x="51346" y="31254"/>
                </a:moveTo>
                <a:cubicBezTo>
                  <a:pt x="40239" y="31254"/>
                  <a:pt x="31254" y="40239"/>
                  <a:pt x="31254" y="51346"/>
                </a:cubicBezTo>
                <a:cubicBezTo>
                  <a:pt x="31254" y="55057"/>
                  <a:pt x="28268" y="58043"/>
                  <a:pt x="24557" y="58043"/>
                </a:cubicBezTo>
                <a:cubicBezTo>
                  <a:pt x="20845" y="58043"/>
                  <a:pt x="17859" y="55057"/>
                  <a:pt x="17859" y="51346"/>
                </a:cubicBezTo>
                <a:cubicBezTo>
                  <a:pt x="17859" y="32845"/>
                  <a:pt x="32845" y="17859"/>
                  <a:pt x="51346" y="17859"/>
                </a:cubicBezTo>
                <a:cubicBezTo>
                  <a:pt x="55057" y="17859"/>
                  <a:pt x="58043" y="20845"/>
                  <a:pt x="58043" y="24557"/>
                </a:cubicBezTo>
                <a:cubicBezTo>
                  <a:pt x="58043" y="28268"/>
                  <a:pt x="55057" y="31254"/>
                  <a:pt x="51346" y="31254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2"/>
          <p:cNvSpPr/>
          <p:nvPr/>
        </p:nvSpPr>
        <p:spPr>
          <a:xfrm>
            <a:off x="6515100" y="6038852"/>
            <a:ext cx="52943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IoU Matters</a:t>
            </a:r>
            <a:endParaRPr lang="en-US" sz="1600" dirty="0"/>
          </a:p>
        </p:txBody>
      </p:sp>
      <p:sp>
        <p:nvSpPr>
          <p:cNvPr id="58" name="Text 54"/>
          <p:cNvSpPr/>
          <p:nvPr/>
        </p:nvSpPr>
        <p:spPr>
          <a:xfrm>
            <a:off x="6497638" y="6238498"/>
            <a:ext cx="2365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Evaluates bounding box prediction quality</a:t>
            </a:r>
            <a:endParaRPr lang="en-US" sz="1600" dirty="0"/>
          </a:p>
        </p:txBody>
      </p:sp>
      <p:sp>
        <p:nvSpPr>
          <p:cNvPr id="60" name="Text 56"/>
          <p:cNvSpPr/>
          <p:nvPr/>
        </p:nvSpPr>
        <p:spPr>
          <a:xfrm>
            <a:off x="6515100" y="6438144"/>
            <a:ext cx="2119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Used in Non-Max Suppression (NMS)</a:t>
            </a:r>
            <a:endParaRPr lang="en-US" sz="1600" dirty="0"/>
          </a:p>
        </p:txBody>
      </p:sp>
      <p:sp>
        <p:nvSpPr>
          <p:cNvPr id="61" name="Text 57"/>
          <p:cNvSpPr/>
          <p:nvPr/>
        </p:nvSpPr>
        <p:spPr>
          <a:xfrm>
            <a:off x="6487318" y="6627812"/>
            <a:ext cx="2420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Determines true positives vs false positives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50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POST-PROCESSING TECHNIQUE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Non-Max Suppression (NMS)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33375" y="1016000"/>
            <a:ext cx="6865938" cy="1714500"/>
          </a:xfrm>
          <a:custGeom>
            <a:avLst/>
            <a:gdLst/>
            <a:ahLst/>
            <a:cxnLst/>
            <a:rect l="l" t="t" r="r" b="b"/>
            <a:pathLst>
              <a:path w="6865938" h="1714500">
                <a:moveTo>
                  <a:pt x="31750" y="0"/>
                </a:moveTo>
                <a:lnTo>
                  <a:pt x="6770680" y="0"/>
                </a:lnTo>
                <a:cubicBezTo>
                  <a:pt x="6823289" y="0"/>
                  <a:pt x="6865938" y="42648"/>
                  <a:pt x="6865938" y="95258"/>
                </a:cubicBezTo>
                <a:lnTo>
                  <a:pt x="6865938" y="1619242"/>
                </a:lnTo>
                <a:cubicBezTo>
                  <a:pt x="6865938" y="1671852"/>
                  <a:pt x="6823289" y="1714500"/>
                  <a:pt x="6770680" y="1714500"/>
                </a:cubicBezTo>
                <a:lnTo>
                  <a:pt x="31750" y="1714500"/>
                </a:lnTo>
                <a:cubicBezTo>
                  <a:pt x="14215" y="1714500"/>
                  <a:pt x="0" y="1700285"/>
                  <a:pt x="0" y="1682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63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33375" y="1016000"/>
            <a:ext cx="31750" cy="1714500"/>
          </a:xfrm>
          <a:custGeom>
            <a:avLst/>
            <a:gdLst/>
            <a:ahLst/>
            <a:cxnLst/>
            <a:rect l="l" t="t" r="r" b="b"/>
            <a:pathLst>
              <a:path w="31750" h="1714500">
                <a:moveTo>
                  <a:pt x="31750" y="0"/>
                </a:moveTo>
                <a:lnTo>
                  <a:pt x="31750" y="0"/>
                </a:lnTo>
                <a:lnTo>
                  <a:pt x="31750" y="1714500"/>
                </a:lnTo>
                <a:lnTo>
                  <a:pt x="31750" y="1714500"/>
                </a:lnTo>
                <a:cubicBezTo>
                  <a:pt x="14227" y="1714500"/>
                  <a:pt x="0" y="1700273"/>
                  <a:pt x="0" y="1682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96094" y="1168402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375" y="0"/>
                </a:moveTo>
                <a:cubicBezTo>
                  <a:pt x="83933" y="0"/>
                  <a:pt x="88119" y="2511"/>
                  <a:pt x="90289" y="6511"/>
                </a:cubicBezTo>
                <a:lnTo>
                  <a:pt x="157262" y="130535"/>
                </a:lnTo>
                <a:cubicBezTo>
                  <a:pt x="159339" y="134379"/>
                  <a:pt x="159246" y="139030"/>
                  <a:pt x="157014" y="142782"/>
                </a:cubicBezTo>
                <a:cubicBezTo>
                  <a:pt x="154781" y="146534"/>
                  <a:pt x="150719" y="148828"/>
                  <a:pt x="146348" y="148828"/>
                </a:cubicBezTo>
                <a:lnTo>
                  <a:pt x="12402" y="148828"/>
                </a:lnTo>
                <a:cubicBezTo>
                  <a:pt x="8031" y="148828"/>
                  <a:pt x="4000" y="146534"/>
                  <a:pt x="1736" y="142782"/>
                </a:cubicBezTo>
                <a:cubicBezTo>
                  <a:pt x="-527" y="139030"/>
                  <a:pt x="-589" y="134379"/>
                  <a:pt x="1488" y="130535"/>
                </a:cubicBezTo>
                <a:lnTo>
                  <a:pt x="68461" y="6511"/>
                </a:lnTo>
                <a:cubicBezTo>
                  <a:pt x="70631" y="2511"/>
                  <a:pt x="74817" y="0"/>
                  <a:pt x="79375" y="0"/>
                </a:cubicBezTo>
                <a:close/>
                <a:moveTo>
                  <a:pt x="79375" y="52090"/>
                </a:moveTo>
                <a:cubicBezTo>
                  <a:pt x="75251" y="52090"/>
                  <a:pt x="71934" y="55407"/>
                  <a:pt x="71934" y="59531"/>
                </a:cubicBezTo>
                <a:lnTo>
                  <a:pt x="71934" y="94258"/>
                </a:lnTo>
                <a:cubicBezTo>
                  <a:pt x="71934" y="98382"/>
                  <a:pt x="75251" y="101699"/>
                  <a:pt x="79375" y="101699"/>
                </a:cubicBezTo>
                <a:cubicBezTo>
                  <a:pt x="83499" y="101699"/>
                  <a:pt x="86816" y="98382"/>
                  <a:pt x="86816" y="94258"/>
                </a:cubicBezTo>
                <a:lnTo>
                  <a:pt x="86816" y="59531"/>
                </a:lnTo>
                <a:cubicBezTo>
                  <a:pt x="86816" y="55407"/>
                  <a:pt x="83499" y="52090"/>
                  <a:pt x="79375" y="52090"/>
                </a:cubicBezTo>
                <a:close/>
                <a:moveTo>
                  <a:pt x="87654" y="119062"/>
                </a:moveTo>
                <a:cubicBezTo>
                  <a:pt x="87842" y="115990"/>
                  <a:pt x="86309" y="113066"/>
                  <a:pt x="83675" y="111473"/>
                </a:cubicBezTo>
                <a:cubicBezTo>
                  <a:pt x="81041" y="109879"/>
                  <a:pt x="77740" y="109879"/>
                  <a:pt x="75106" y="111473"/>
                </a:cubicBezTo>
                <a:cubicBezTo>
                  <a:pt x="72472" y="113066"/>
                  <a:pt x="70939" y="115990"/>
                  <a:pt x="71127" y="119062"/>
                </a:cubicBezTo>
                <a:cubicBezTo>
                  <a:pt x="70939" y="122135"/>
                  <a:pt x="72472" y="125059"/>
                  <a:pt x="75106" y="126652"/>
                </a:cubicBezTo>
                <a:cubicBezTo>
                  <a:pt x="77740" y="128246"/>
                  <a:pt x="81041" y="128246"/>
                  <a:pt x="83675" y="126652"/>
                </a:cubicBezTo>
                <a:cubicBezTo>
                  <a:pt x="86309" y="125059"/>
                  <a:pt x="87842" y="122135"/>
                  <a:pt x="87654" y="119062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14375" y="1143000"/>
            <a:ext cx="64373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76250" y="1460500"/>
            <a:ext cx="6659563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YOLO can predict </a:t>
            </a:r>
            <a:r>
              <a:rPr lang="en-US" sz="1000" b="1" dirty="0">
                <a:solidFill>
                  <a:srgbClr val="FFD5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multiple overlapping bounding boxes</a:t>
            </a:r>
            <a:r>
              <a:rPr lang="en-US" sz="1000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the same object, especially when using many grid cells. Each cell might claim to detect the same object with high confidence.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76250" y="1968500"/>
            <a:ext cx="6596063" cy="635000"/>
          </a:xfrm>
          <a:custGeom>
            <a:avLst/>
            <a:gdLst/>
            <a:ahLst/>
            <a:cxnLst/>
            <a:rect l="l" t="t" r="r" b="b"/>
            <a:pathLst>
              <a:path w="6596063" h="635000">
                <a:moveTo>
                  <a:pt x="63500" y="0"/>
                </a:moveTo>
                <a:lnTo>
                  <a:pt x="6532563" y="0"/>
                </a:lnTo>
                <a:cubicBezTo>
                  <a:pt x="6567609" y="0"/>
                  <a:pt x="6596063" y="28453"/>
                  <a:pt x="6596063" y="63500"/>
                </a:cubicBezTo>
                <a:lnTo>
                  <a:pt x="6596063" y="571500"/>
                </a:lnTo>
                <a:cubicBezTo>
                  <a:pt x="6596063" y="606547"/>
                  <a:pt x="6567609" y="635000"/>
                  <a:pt x="6532563" y="635000"/>
                </a:cubicBezTo>
                <a:lnTo>
                  <a:pt x="63500" y="635000"/>
                </a:lnTo>
                <a:cubicBezTo>
                  <a:pt x="28453" y="635000"/>
                  <a:pt x="0" y="606547"/>
                  <a:pt x="0" y="571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71500" y="2089152"/>
            <a:ext cx="1075531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 Scenario: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71500" y="2317750"/>
            <a:ext cx="6469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single dog in an image might generate 10+ overlapping boxes from nearby grid cells, all claiming to detect the dog.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33375" y="2825750"/>
            <a:ext cx="6865938" cy="3683000"/>
          </a:xfrm>
          <a:custGeom>
            <a:avLst/>
            <a:gdLst/>
            <a:ahLst/>
            <a:cxnLst/>
            <a:rect l="l" t="t" r="r" b="b"/>
            <a:pathLst>
              <a:path w="6865938" h="3683000">
                <a:moveTo>
                  <a:pt x="31750" y="0"/>
                </a:moveTo>
                <a:lnTo>
                  <a:pt x="6770695" y="0"/>
                </a:lnTo>
                <a:cubicBezTo>
                  <a:pt x="6823296" y="0"/>
                  <a:pt x="6865938" y="42641"/>
                  <a:pt x="6865938" y="95242"/>
                </a:cubicBezTo>
                <a:lnTo>
                  <a:pt x="6865938" y="3587758"/>
                </a:lnTo>
                <a:cubicBezTo>
                  <a:pt x="6865938" y="3640359"/>
                  <a:pt x="6823296" y="3683000"/>
                  <a:pt x="6770695" y="3683000"/>
                </a:cubicBezTo>
                <a:lnTo>
                  <a:pt x="31750" y="3683000"/>
                </a:lnTo>
                <a:cubicBezTo>
                  <a:pt x="14227" y="3683000"/>
                  <a:pt x="0" y="3668773"/>
                  <a:pt x="0" y="3651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63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33375" y="2825750"/>
            <a:ext cx="31750" cy="3683000"/>
          </a:xfrm>
          <a:custGeom>
            <a:avLst/>
            <a:gdLst/>
            <a:ahLst/>
            <a:cxnLst/>
            <a:rect l="l" t="t" r="r" b="b"/>
            <a:pathLst>
              <a:path w="31750" h="3683000">
                <a:moveTo>
                  <a:pt x="31750" y="0"/>
                </a:moveTo>
                <a:lnTo>
                  <a:pt x="31750" y="0"/>
                </a:lnTo>
                <a:lnTo>
                  <a:pt x="31750" y="3683000"/>
                </a:lnTo>
                <a:lnTo>
                  <a:pt x="31750" y="3683000"/>
                </a:lnTo>
                <a:cubicBezTo>
                  <a:pt x="14227" y="3683000"/>
                  <a:pt x="0" y="3668773"/>
                  <a:pt x="0" y="3651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D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96094" y="2978152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123558" y="3783"/>
                </a:moveTo>
                <a:lnTo>
                  <a:pt x="96211" y="31130"/>
                </a:lnTo>
                <a:lnTo>
                  <a:pt x="127620" y="62539"/>
                </a:lnTo>
                <a:lnTo>
                  <a:pt x="154967" y="35192"/>
                </a:lnTo>
                <a:cubicBezTo>
                  <a:pt x="157386" y="32742"/>
                  <a:pt x="158750" y="29456"/>
                  <a:pt x="158750" y="26045"/>
                </a:cubicBezTo>
                <a:cubicBezTo>
                  <a:pt x="158750" y="22634"/>
                  <a:pt x="157386" y="19348"/>
                  <a:pt x="154967" y="16898"/>
                </a:cubicBezTo>
                <a:lnTo>
                  <a:pt x="141852" y="3783"/>
                </a:lnTo>
                <a:cubicBezTo>
                  <a:pt x="139402" y="1364"/>
                  <a:pt x="136116" y="0"/>
                  <a:pt x="132705" y="0"/>
                </a:cubicBezTo>
                <a:cubicBezTo>
                  <a:pt x="129294" y="0"/>
                  <a:pt x="126008" y="1364"/>
                  <a:pt x="123558" y="3783"/>
                </a:cubicBezTo>
                <a:close/>
                <a:moveTo>
                  <a:pt x="85700" y="41641"/>
                </a:moveTo>
                <a:lnTo>
                  <a:pt x="3783" y="123558"/>
                </a:lnTo>
                <a:cubicBezTo>
                  <a:pt x="1364" y="126008"/>
                  <a:pt x="0" y="129294"/>
                  <a:pt x="0" y="132705"/>
                </a:cubicBezTo>
                <a:cubicBezTo>
                  <a:pt x="0" y="136116"/>
                  <a:pt x="1364" y="139402"/>
                  <a:pt x="3783" y="141852"/>
                </a:cubicBezTo>
                <a:lnTo>
                  <a:pt x="16898" y="154967"/>
                </a:lnTo>
                <a:cubicBezTo>
                  <a:pt x="19348" y="157386"/>
                  <a:pt x="22634" y="158750"/>
                  <a:pt x="26045" y="158750"/>
                </a:cubicBezTo>
                <a:cubicBezTo>
                  <a:pt x="29456" y="158750"/>
                  <a:pt x="32742" y="157386"/>
                  <a:pt x="35192" y="154967"/>
                </a:cubicBezTo>
                <a:lnTo>
                  <a:pt x="117109" y="73050"/>
                </a:lnTo>
                <a:lnTo>
                  <a:pt x="85700" y="41641"/>
                </a:lnTo>
                <a:close/>
              </a:path>
            </a:pathLst>
          </a:custGeom>
          <a:solidFill>
            <a:srgbClr val="FFD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14375" y="2952750"/>
            <a:ext cx="64373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D5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NMS Algorithm (Step-by-Step)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76250" y="3270250"/>
            <a:ext cx="6596063" cy="571500"/>
          </a:xfrm>
          <a:custGeom>
            <a:avLst/>
            <a:gdLst/>
            <a:ahLst/>
            <a:cxnLst/>
            <a:rect l="l" t="t" r="r" b="b"/>
            <a:pathLst>
              <a:path w="6596063" h="571500">
                <a:moveTo>
                  <a:pt x="63499" y="0"/>
                </a:moveTo>
                <a:lnTo>
                  <a:pt x="6532563" y="0"/>
                </a:lnTo>
                <a:cubicBezTo>
                  <a:pt x="6567633" y="0"/>
                  <a:pt x="6596063" y="28430"/>
                  <a:pt x="6596063" y="63499"/>
                </a:cubicBezTo>
                <a:lnTo>
                  <a:pt x="6596063" y="508001"/>
                </a:lnTo>
                <a:cubicBezTo>
                  <a:pt x="6596063" y="543070"/>
                  <a:pt x="6567633" y="571500"/>
                  <a:pt x="6532563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71500" y="33655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39750" y="3365500"/>
            <a:ext cx="317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20750" y="3365500"/>
            <a:ext cx="2365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Filter Low Confidence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20750" y="3556000"/>
            <a:ext cx="2365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Discard all boxes with Pc &lt; 0.6 (threshold)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76250" y="3905250"/>
            <a:ext cx="6596063" cy="571500"/>
          </a:xfrm>
          <a:custGeom>
            <a:avLst/>
            <a:gdLst/>
            <a:ahLst/>
            <a:cxnLst/>
            <a:rect l="l" t="t" r="r" b="b"/>
            <a:pathLst>
              <a:path w="6596063" h="571500">
                <a:moveTo>
                  <a:pt x="63499" y="0"/>
                </a:moveTo>
                <a:lnTo>
                  <a:pt x="6532563" y="0"/>
                </a:lnTo>
                <a:cubicBezTo>
                  <a:pt x="6567633" y="0"/>
                  <a:pt x="6596063" y="28430"/>
                  <a:pt x="6596063" y="63499"/>
                </a:cubicBezTo>
                <a:lnTo>
                  <a:pt x="6596063" y="508001"/>
                </a:lnTo>
                <a:cubicBezTo>
                  <a:pt x="6596063" y="543070"/>
                  <a:pt x="6567633" y="571500"/>
                  <a:pt x="6532563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71500" y="40005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39750" y="4000500"/>
            <a:ext cx="317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20750" y="4000500"/>
            <a:ext cx="2301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Sort by Confidence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20750" y="4191000"/>
            <a:ext cx="2301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Sort remaining boxes by Pc (highest first)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76250" y="4540250"/>
            <a:ext cx="6596063" cy="571500"/>
          </a:xfrm>
          <a:custGeom>
            <a:avLst/>
            <a:gdLst/>
            <a:ahLst/>
            <a:cxnLst/>
            <a:rect l="l" t="t" r="r" b="b"/>
            <a:pathLst>
              <a:path w="6596063" h="571500">
                <a:moveTo>
                  <a:pt x="63499" y="0"/>
                </a:moveTo>
                <a:lnTo>
                  <a:pt x="6532563" y="0"/>
                </a:lnTo>
                <a:cubicBezTo>
                  <a:pt x="6567633" y="0"/>
                  <a:pt x="6596063" y="28430"/>
                  <a:pt x="6596063" y="63499"/>
                </a:cubicBezTo>
                <a:lnTo>
                  <a:pt x="6596063" y="508001"/>
                </a:lnTo>
                <a:cubicBezTo>
                  <a:pt x="6596063" y="543070"/>
                  <a:pt x="6567633" y="571500"/>
                  <a:pt x="6532563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71500" y="46355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39750" y="4635500"/>
            <a:ext cx="317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20750" y="4635500"/>
            <a:ext cx="2381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Select Best Box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20750" y="4826000"/>
            <a:ext cx="2381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Pick the box with highest Pc as a detection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76250" y="5175250"/>
            <a:ext cx="6596063" cy="571500"/>
          </a:xfrm>
          <a:custGeom>
            <a:avLst/>
            <a:gdLst/>
            <a:ahLst/>
            <a:cxnLst/>
            <a:rect l="l" t="t" r="r" b="b"/>
            <a:pathLst>
              <a:path w="6596063" h="571500">
                <a:moveTo>
                  <a:pt x="63499" y="0"/>
                </a:moveTo>
                <a:lnTo>
                  <a:pt x="6532563" y="0"/>
                </a:lnTo>
                <a:cubicBezTo>
                  <a:pt x="6567633" y="0"/>
                  <a:pt x="6596063" y="28430"/>
                  <a:pt x="6596063" y="63499"/>
                </a:cubicBezTo>
                <a:lnTo>
                  <a:pt x="6596063" y="508001"/>
                </a:lnTo>
                <a:cubicBezTo>
                  <a:pt x="6596063" y="543070"/>
                  <a:pt x="6567633" y="571500"/>
                  <a:pt x="6532563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571500" y="52705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39750" y="5270500"/>
            <a:ext cx="317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20750" y="5270500"/>
            <a:ext cx="2817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Remove Overlaps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20750" y="5461000"/>
            <a:ext cx="2817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Discard all boxes with IoU ≥ 0.5 with selected box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76250" y="5810250"/>
            <a:ext cx="6596063" cy="571500"/>
          </a:xfrm>
          <a:custGeom>
            <a:avLst/>
            <a:gdLst/>
            <a:ahLst/>
            <a:cxnLst/>
            <a:rect l="l" t="t" r="r" b="b"/>
            <a:pathLst>
              <a:path w="6596063" h="571500">
                <a:moveTo>
                  <a:pt x="63499" y="0"/>
                </a:moveTo>
                <a:lnTo>
                  <a:pt x="6532563" y="0"/>
                </a:lnTo>
                <a:cubicBezTo>
                  <a:pt x="6567633" y="0"/>
                  <a:pt x="6596063" y="28430"/>
                  <a:pt x="6596063" y="63499"/>
                </a:cubicBezTo>
                <a:lnTo>
                  <a:pt x="6596063" y="508001"/>
                </a:lnTo>
                <a:cubicBezTo>
                  <a:pt x="6596063" y="543070"/>
                  <a:pt x="6567633" y="571500"/>
                  <a:pt x="6532563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571500" y="59055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39750" y="5905500"/>
            <a:ext cx="317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920750" y="5905500"/>
            <a:ext cx="1944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Repeat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920750" y="6096000"/>
            <a:ext cx="1944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 to step 3 until no boxes remain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7327900" y="1031875"/>
            <a:ext cx="4548188" cy="2301875"/>
          </a:xfrm>
          <a:custGeom>
            <a:avLst/>
            <a:gdLst/>
            <a:ahLst/>
            <a:cxnLst/>
            <a:rect l="l" t="t" r="r" b="b"/>
            <a:pathLst>
              <a:path w="4548188" h="2301875">
                <a:moveTo>
                  <a:pt x="31750" y="0"/>
                </a:moveTo>
                <a:lnTo>
                  <a:pt x="4516438" y="0"/>
                </a:lnTo>
                <a:cubicBezTo>
                  <a:pt x="4533961" y="0"/>
                  <a:pt x="4548188" y="14227"/>
                  <a:pt x="4548188" y="31750"/>
                </a:cubicBezTo>
                <a:lnTo>
                  <a:pt x="4548188" y="2206623"/>
                </a:lnTo>
                <a:cubicBezTo>
                  <a:pt x="4548188" y="2259229"/>
                  <a:pt x="4505542" y="2301875"/>
                  <a:pt x="4452936" y="2301875"/>
                </a:cubicBezTo>
                <a:lnTo>
                  <a:pt x="95252" y="2301875"/>
                </a:lnTo>
                <a:cubicBezTo>
                  <a:pt x="42646" y="2301875"/>
                  <a:pt x="0" y="2259229"/>
                  <a:pt x="0" y="220662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63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7327900" y="1031875"/>
            <a:ext cx="4548188" cy="31750"/>
          </a:xfrm>
          <a:custGeom>
            <a:avLst/>
            <a:gdLst/>
            <a:ahLst/>
            <a:cxnLst/>
            <a:rect l="l" t="t" r="r" b="b"/>
            <a:pathLst>
              <a:path w="4548188" h="31750">
                <a:moveTo>
                  <a:pt x="31750" y="0"/>
                </a:moveTo>
                <a:lnTo>
                  <a:pt x="4516438" y="0"/>
                </a:lnTo>
                <a:cubicBezTo>
                  <a:pt x="4533961" y="0"/>
                  <a:pt x="4548188" y="14227"/>
                  <a:pt x="4548188" y="31750"/>
                </a:cubicBezTo>
                <a:lnTo>
                  <a:pt x="4548188" y="31750"/>
                </a:lnTo>
                <a:lnTo>
                  <a:pt x="0" y="31750"/>
                </a:ln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7464822" y="1200152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29766" y="29766"/>
                </a:moveTo>
                <a:cubicBezTo>
                  <a:pt x="29766" y="18821"/>
                  <a:pt x="38664" y="9922"/>
                  <a:pt x="49609" y="9922"/>
                </a:cubicBezTo>
                <a:lnTo>
                  <a:pt x="148828" y="9922"/>
                </a:lnTo>
                <a:cubicBezTo>
                  <a:pt x="159773" y="9922"/>
                  <a:pt x="168672" y="18821"/>
                  <a:pt x="168672" y="29766"/>
                </a:cubicBezTo>
                <a:lnTo>
                  <a:pt x="168672" y="109141"/>
                </a:lnTo>
                <a:cubicBezTo>
                  <a:pt x="168672" y="120086"/>
                  <a:pt x="159773" y="128984"/>
                  <a:pt x="148828" y="128984"/>
                </a:cubicBezTo>
                <a:lnTo>
                  <a:pt x="49609" y="128984"/>
                </a:lnTo>
                <a:cubicBezTo>
                  <a:pt x="38664" y="128984"/>
                  <a:pt x="29766" y="120086"/>
                  <a:pt x="29766" y="109141"/>
                </a:cubicBezTo>
                <a:lnTo>
                  <a:pt x="29766" y="29766"/>
                </a:lnTo>
                <a:close/>
                <a:moveTo>
                  <a:pt x="7441" y="39688"/>
                </a:moveTo>
                <a:cubicBezTo>
                  <a:pt x="11565" y="39688"/>
                  <a:pt x="14883" y="43005"/>
                  <a:pt x="14883" y="47129"/>
                </a:cubicBezTo>
                <a:lnTo>
                  <a:pt x="14883" y="138906"/>
                </a:lnTo>
                <a:cubicBezTo>
                  <a:pt x="14883" y="141635"/>
                  <a:pt x="17115" y="143867"/>
                  <a:pt x="19844" y="143867"/>
                </a:cubicBezTo>
                <a:lnTo>
                  <a:pt x="131465" y="143867"/>
                </a:lnTo>
                <a:cubicBezTo>
                  <a:pt x="135589" y="143867"/>
                  <a:pt x="138906" y="147185"/>
                  <a:pt x="138906" y="151309"/>
                </a:cubicBezTo>
                <a:cubicBezTo>
                  <a:pt x="138906" y="155432"/>
                  <a:pt x="135589" y="158750"/>
                  <a:pt x="131465" y="158750"/>
                </a:cubicBezTo>
                <a:lnTo>
                  <a:pt x="19844" y="158750"/>
                </a:lnTo>
                <a:cubicBezTo>
                  <a:pt x="8899" y="158750"/>
                  <a:pt x="0" y="149851"/>
                  <a:pt x="0" y="138906"/>
                </a:cubicBezTo>
                <a:lnTo>
                  <a:pt x="0" y="47129"/>
                </a:lnTo>
                <a:cubicBezTo>
                  <a:pt x="0" y="43005"/>
                  <a:pt x="3318" y="39688"/>
                  <a:pt x="7441" y="39688"/>
                </a:cubicBezTo>
                <a:close/>
                <a:moveTo>
                  <a:pt x="59531" y="49609"/>
                </a:moveTo>
                <a:cubicBezTo>
                  <a:pt x="65007" y="49609"/>
                  <a:pt x="69453" y="45164"/>
                  <a:pt x="69453" y="39688"/>
                </a:cubicBezTo>
                <a:cubicBezTo>
                  <a:pt x="69453" y="34211"/>
                  <a:pt x="65007" y="29766"/>
                  <a:pt x="59531" y="29766"/>
                </a:cubicBezTo>
                <a:cubicBezTo>
                  <a:pt x="54055" y="29766"/>
                  <a:pt x="49609" y="34211"/>
                  <a:pt x="49609" y="39688"/>
                </a:cubicBezTo>
                <a:cubicBezTo>
                  <a:pt x="49609" y="45164"/>
                  <a:pt x="54055" y="49609"/>
                  <a:pt x="59531" y="49609"/>
                </a:cubicBezTo>
                <a:close/>
                <a:moveTo>
                  <a:pt x="120458" y="53175"/>
                </a:moveTo>
                <a:cubicBezTo>
                  <a:pt x="119094" y="50974"/>
                  <a:pt x="116706" y="49609"/>
                  <a:pt x="114102" y="49609"/>
                </a:cubicBezTo>
                <a:cubicBezTo>
                  <a:pt x="111497" y="49609"/>
                  <a:pt x="109110" y="50974"/>
                  <a:pt x="107745" y="53175"/>
                </a:cubicBezTo>
                <a:lnTo>
                  <a:pt x="90289" y="81731"/>
                </a:lnTo>
                <a:lnTo>
                  <a:pt x="82693" y="72244"/>
                </a:lnTo>
                <a:cubicBezTo>
                  <a:pt x="81266" y="70476"/>
                  <a:pt x="79158" y="69453"/>
                  <a:pt x="76895" y="69453"/>
                </a:cubicBezTo>
                <a:cubicBezTo>
                  <a:pt x="74631" y="69453"/>
                  <a:pt x="72492" y="70476"/>
                  <a:pt x="71096" y="72244"/>
                </a:cubicBezTo>
                <a:lnTo>
                  <a:pt x="51253" y="97048"/>
                </a:lnTo>
                <a:cubicBezTo>
                  <a:pt x="49454" y="99281"/>
                  <a:pt x="49113" y="102350"/>
                  <a:pt x="50354" y="104924"/>
                </a:cubicBezTo>
                <a:cubicBezTo>
                  <a:pt x="51594" y="107497"/>
                  <a:pt x="54198" y="109141"/>
                  <a:pt x="57051" y="109141"/>
                </a:cubicBezTo>
                <a:lnTo>
                  <a:pt x="141387" y="109141"/>
                </a:lnTo>
                <a:cubicBezTo>
                  <a:pt x="144084" y="109141"/>
                  <a:pt x="146565" y="107683"/>
                  <a:pt x="147867" y="105327"/>
                </a:cubicBezTo>
                <a:cubicBezTo>
                  <a:pt x="149169" y="102970"/>
                  <a:pt x="149138" y="100118"/>
                  <a:pt x="147712" y="97792"/>
                </a:cubicBezTo>
                <a:lnTo>
                  <a:pt x="120427" y="53144"/>
                </a:ln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7693025" y="1174750"/>
            <a:ext cx="41354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NMS in Action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7454900" y="1492250"/>
            <a:ext cx="4294188" cy="1714500"/>
          </a:xfrm>
          <a:custGeom>
            <a:avLst/>
            <a:gdLst/>
            <a:ahLst/>
            <a:cxnLst/>
            <a:rect l="l" t="t" r="r" b="b"/>
            <a:pathLst>
              <a:path w="4294188" h="1714500">
                <a:moveTo>
                  <a:pt x="63505" y="0"/>
                </a:moveTo>
                <a:lnTo>
                  <a:pt x="4230682" y="0"/>
                </a:lnTo>
                <a:cubicBezTo>
                  <a:pt x="4265755" y="0"/>
                  <a:pt x="4294188" y="28432"/>
                  <a:pt x="4294188" y="63505"/>
                </a:cubicBezTo>
                <a:lnTo>
                  <a:pt x="4294188" y="1650995"/>
                </a:lnTo>
                <a:cubicBezTo>
                  <a:pt x="4294188" y="1686068"/>
                  <a:pt x="4265755" y="1714500"/>
                  <a:pt x="4230682" y="1714500"/>
                </a:cubicBezTo>
                <a:lnTo>
                  <a:pt x="63505" y="1714500"/>
                </a:lnTo>
                <a:cubicBezTo>
                  <a:pt x="28432" y="1714500"/>
                  <a:pt x="0" y="1686068"/>
                  <a:pt x="0" y="1650995"/>
                </a:cubicBezTo>
                <a:lnTo>
                  <a:pt x="0" y="63505"/>
                </a:lnTo>
                <a:cubicBezTo>
                  <a:pt x="0" y="28456"/>
                  <a:pt x="28456" y="0"/>
                  <a:pt x="63505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6" name="Image 0" descr="https://kimi-web-img.moonshot.cn/img/camo.githubusercontent.com/f286acedecb795fdded15fbd06dd9af6dcc15c81"/>
          <p:cNvPicPr>
            <a:picLocks noChangeAspect="1"/>
          </p:cNvPicPr>
          <p:nvPr/>
        </p:nvPicPr>
        <p:blipFill>
          <a:blip r:embed="rId3"/>
          <a:srcRect l="-22041" t="98" r="-42200" b="3334"/>
          <a:stretch>
            <a:fillRect/>
          </a:stretch>
        </p:blipFill>
        <p:spPr>
          <a:xfrm>
            <a:off x="7550150" y="1520825"/>
            <a:ext cx="4832092" cy="1495425"/>
          </a:xfrm>
          <a:prstGeom prst="roundRect">
            <a:avLst>
              <a:gd name="adj" fmla="val 2500"/>
            </a:avLst>
          </a:prstGeom>
        </p:spPr>
      </p:pic>
      <p:sp>
        <p:nvSpPr>
          <p:cNvPr id="47" name="Text 44"/>
          <p:cNvSpPr/>
          <p:nvPr/>
        </p:nvSpPr>
        <p:spPr>
          <a:xfrm>
            <a:off x="7518400" y="2993067"/>
            <a:ext cx="4167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Before: Multiple boxes → After: Single box per object</a:t>
            </a:r>
            <a:endParaRPr lang="en-US" sz="1600" dirty="0"/>
          </a:p>
        </p:txBody>
      </p:sp>
      <p:sp>
        <p:nvSpPr>
          <p:cNvPr id="48" name="Shape 45"/>
          <p:cNvSpPr/>
          <p:nvPr/>
        </p:nvSpPr>
        <p:spPr>
          <a:xfrm>
            <a:off x="7327900" y="3444875"/>
            <a:ext cx="4548188" cy="1857375"/>
          </a:xfrm>
          <a:custGeom>
            <a:avLst/>
            <a:gdLst/>
            <a:ahLst/>
            <a:cxnLst/>
            <a:rect l="l" t="t" r="r" b="b"/>
            <a:pathLst>
              <a:path w="4548188" h="1857375">
                <a:moveTo>
                  <a:pt x="31750" y="0"/>
                </a:moveTo>
                <a:lnTo>
                  <a:pt x="4516438" y="0"/>
                </a:lnTo>
                <a:cubicBezTo>
                  <a:pt x="4533961" y="0"/>
                  <a:pt x="4548188" y="14227"/>
                  <a:pt x="4548188" y="31750"/>
                </a:cubicBezTo>
                <a:lnTo>
                  <a:pt x="4548188" y="1762129"/>
                </a:lnTo>
                <a:cubicBezTo>
                  <a:pt x="4548188" y="1814732"/>
                  <a:pt x="4505544" y="1857375"/>
                  <a:pt x="4452941" y="1857375"/>
                </a:cubicBezTo>
                <a:lnTo>
                  <a:pt x="95246" y="1857375"/>
                </a:lnTo>
                <a:cubicBezTo>
                  <a:pt x="42643" y="1857375"/>
                  <a:pt x="0" y="1814732"/>
                  <a:pt x="0" y="1762129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63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6"/>
          <p:cNvSpPr/>
          <p:nvPr/>
        </p:nvSpPr>
        <p:spPr>
          <a:xfrm>
            <a:off x="7327900" y="3444875"/>
            <a:ext cx="4548188" cy="31750"/>
          </a:xfrm>
          <a:custGeom>
            <a:avLst/>
            <a:gdLst/>
            <a:ahLst/>
            <a:cxnLst/>
            <a:rect l="l" t="t" r="r" b="b"/>
            <a:pathLst>
              <a:path w="4548188" h="31750">
                <a:moveTo>
                  <a:pt x="31750" y="0"/>
                </a:moveTo>
                <a:lnTo>
                  <a:pt x="4516438" y="0"/>
                </a:lnTo>
                <a:cubicBezTo>
                  <a:pt x="4533961" y="0"/>
                  <a:pt x="4548188" y="14227"/>
                  <a:pt x="4548188" y="31750"/>
                </a:cubicBezTo>
                <a:lnTo>
                  <a:pt x="4548188" y="31750"/>
                </a:lnTo>
                <a:lnTo>
                  <a:pt x="0" y="31750"/>
                </a:ln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D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7"/>
          <p:cNvSpPr/>
          <p:nvPr/>
        </p:nvSpPr>
        <p:spPr>
          <a:xfrm>
            <a:off x="7474744" y="3613152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9922" y="19844"/>
                </a:moveTo>
                <a:cubicBezTo>
                  <a:pt x="4434" y="19844"/>
                  <a:pt x="0" y="24278"/>
                  <a:pt x="0" y="29766"/>
                </a:cubicBezTo>
                <a:cubicBezTo>
                  <a:pt x="0" y="35254"/>
                  <a:pt x="4434" y="39688"/>
                  <a:pt x="9922" y="39688"/>
                </a:cubicBezTo>
                <a:lnTo>
                  <a:pt x="36804" y="39688"/>
                </a:lnTo>
                <a:cubicBezTo>
                  <a:pt x="40618" y="48462"/>
                  <a:pt x="49361" y="54570"/>
                  <a:pt x="59531" y="54570"/>
                </a:cubicBezTo>
                <a:cubicBezTo>
                  <a:pt x="69701" y="54570"/>
                  <a:pt x="78445" y="48462"/>
                  <a:pt x="82259" y="39688"/>
                </a:cubicBezTo>
                <a:lnTo>
                  <a:pt x="148828" y="39688"/>
                </a:lnTo>
                <a:cubicBezTo>
                  <a:pt x="154316" y="39688"/>
                  <a:pt x="158750" y="35254"/>
                  <a:pt x="158750" y="29766"/>
                </a:cubicBezTo>
                <a:cubicBezTo>
                  <a:pt x="158750" y="24278"/>
                  <a:pt x="154316" y="19844"/>
                  <a:pt x="148828" y="19844"/>
                </a:cubicBezTo>
                <a:lnTo>
                  <a:pt x="82259" y="19844"/>
                </a:lnTo>
                <a:cubicBezTo>
                  <a:pt x="78445" y="11069"/>
                  <a:pt x="69701" y="4961"/>
                  <a:pt x="59531" y="4961"/>
                </a:cubicBezTo>
                <a:cubicBezTo>
                  <a:pt x="49361" y="4961"/>
                  <a:pt x="40618" y="11069"/>
                  <a:pt x="36804" y="19844"/>
                </a:cubicBezTo>
                <a:lnTo>
                  <a:pt x="9922" y="19844"/>
                </a:lnTo>
                <a:close/>
                <a:moveTo>
                  <a:pt x="9922" y="69453"/>
                </a:moveTo>
                <a:cubicBezTo>
                  <a:pt x="4434" y="69453"/>
                  <a:pt x="0" y="73887"/>
                  <a:pt x="0" y="79375"/>
                </a:cubicBezTo>
                <a:cubicBezTo>
                  <a:pt x="0" y="84863"/>
                  <a:pt x="4434" y="89297"/>
                  <a:pt x="9922" y="89297"/>
                </a:cubicBezTo>
                <a:lnTo>
                  <a:pt x="86413" y="89297"/>
                </a:lnTo>
                <a:cubicBezTo>
                  <a:pt x="90227" y="98072"/>
                  <a:pt x="98971" y="104180"/>
                  <a:pt x="109141" y="104180"/>
                </a:cubicBezTo>
                <a:cubicBezTo>
                  <a:pt x="119311" y="104180"/>
                  <a:pt x="128054" y="98072"/>
                  <a:pt x="131868" y="89297"/>
                </a:cubicBezTo>
                <a:lnTo>
                  <a:pt x="148828" y="89297"/>
                </a:lnTo>
                <a:cubicBezTo>
                  <a:pt x="154316" y="89297"/>
                  <a:pt x="158750" y="84863"/>
                  <a:pt x="158750" y="79375"/>
                </a:cubicBezTo>
                <a:cubicBezTo>
                  <a:pt x="158750" y="73887"/>
                  <a:pt x="154316" y="69453"/>
                  <a:pt x="148828" y="69453"/>
                </a:cubicBezTo>
                <a:lnTo>
                  <a:pt x="131868" y="69453"/>
                </a:lnTo>
                <a:cubicBezTo>
                  <a:pt x="128054" y="60678"/>
                  <a:pt x="119311" y="54570"/>
                  <a:pt x="109141" y="54570"/>
                </a:cubicBezTo>
                <a:cubicBezTo>
                  <a:pt x="98971" y="54570"/>
                  <a:pt x="90227" y="60678"/>
                  <a:pt x="86413" y="69453"/>
                </a:cubicBezTo>
                <a:lnTo>
                  <a:pt x="9922" y="69453"/>
                </a:lnTo>
                <a:close/>
                <a:moveTo>
                  <a:pt x="9922" y="119062"/>
                </a:moveTo>
                <a:cubicBezTo>
                  <a:pt x="4434" y="119062"/>
                  <a:pt x="0" y="123496"/>
                  <a:pt x="0" y="128984"/>
                </a:cubicBezTo>
                <a:cubicBezTo>
                  <a:pt x="0" y="134472"/>
                  <a:pt x="4434" y="138906"/>
                  <a:pt x="9922" y="138906"/>
                </a:cubicBezTo>
                <a:lnTo>
                  <a:pt x="26882" y="138906"/>
                </a:lnTo>
                <a:cubicBezTo>
                  <a:pt x="30696" y="147681"/>
                  <a:pt x="39439" y="153789"/>
                  <a:pt x="49609" y="153789"/>
                </a:cubicBezTo>
                <a:cubicBezTo>
                  <a:pt x="59779" y="153789"/>
                  <a:pt x="68523" y="147681"/>
                  <a:pt x="72337" y="138906"/>
                </a:cubicBezTo>
                <a:lnTo>
                  <a:pt x="148828" y="138906"/>
                </a:lnTo>
                <a:cubicBezTo>
                  <a:pt x="154316" y="138906"/>
                  <a:pt x="158750" y="134472"/>
                  <a:pt x="158750" y="128984"/>
                </a:cubicBezTo>
                <a:cubicBezTo>
                  <a:pt x="158750" y="123496"/>
                  <a:pt x="154316" y="119062"/>
                  <a:pt x="148828" y="119062"/>
                </a:cubicBezTo>
                <a:lnTo>
                  <a:pt x="72337" y="119062"/>
                </a:lnTo>
                <a:cubicBezTo>
                  <a:pt x="68523" y="110288"/>
                  <a:pt x="59779" y="104180"/>
                  <a:pt x="49609" y="104180"/>
                </a:cubicBezTo>
                <a:cubicBezTo>
                  <a:pt x="39439" y="104180"/>
                  <a:pt x="30696" y="110288"/>
                  <a:pt x="26882" y="119062"/>
                </a:cubicBezTo>
                <a:lnTo>
                  <a:pt x="9922" y="119062"/>
                </a:lnTo>
                <a:close/>
              </a:path>
            </a:pathLst>
          </a:custGeom>
          <a:solidFill>
            <a:srgbClr val="FFD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8"/>
          <p:cNvSpPr/>
          <p:nvPr/>
        </p:nvSpPr>
        <p:spPr>
          <a:xfrm>
            <a:off x="7693025" y="3587750"/>
            <a:ext cx="41354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D5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Parameters</a:t>
            </a:r>
            <a:endParaRPr lang="en-US" sz="1600" dirty="0"/>
          </a:p>
        </p:txBody>
      </p:sp>
      <p:sp>
        <p:nvSpPr>
          <p:cNvPr id="52" name="Shape 49"/>
          <p:cNvSpPr/>
          <p:nvPr/>
        </p:nvSpPr>
        <p:spPr>
          <a:xfrm>
            <a:off x="7454900" y="3905250"/>
            <a:ext cx="4294188" cy="603250"/>
          </a:xfrm>
          <a:custGeom>
            <a:avLst/>
            <a:gdLst/>
            <a:ahLst/>
            <a:cxnLst/>
            <a:rect l="l" t="t" r="r" b="b"/>
            <a:pathLst>
              <a:path w="4294188" h="603250">
                <a:moveTo>
                  <a:pt x="63498" y="0"/>
                </a:moveTo>
                <a:lnTo>
                  <a:pt x="4230689" y="0"/>
                </a:lnTo>
                <a:cubicBezTo>
                  <a:pt x="4265758" y="0"/>
                  <a:pt x="4294188" y="28429"/>
                  <a:pt x="4294188" y="63498"/>
                </a:cubicBezTo>
                <a:lnTo>
                  <a:pt x="4294188" y="539752"/>
                </a:lnTo>
                <a:cubicBezTo>
                  <a:pt x="4294188" y="574821"/>
                  <a:pt x="4265758" y="603250"/>
                  <a:pt x="4230689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0"/>
          <p:cNvSpPr/>
          <p:nvPr/>
        </p:nvSpPr>
        <p:spPr>
          <a:xfrm>
            <a:off x="7550150" y="4000500"/>
            <a:ext cx="4167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Confidence Threshold</a:t>
            </a:r>
            <a:endParaRPr lang="en-US" sz="1600" dirty="0"/>
          </a:p>
        </p:txBody>
      </p:sp>
      <p:sp>
        <p:nvSpPr>
          <p:cNvPr id="54" name="Text 51"/>
          <p:cNvSpPr/>
          <p:nvPr/>
        </p:nvSpPr>
        <p:spPr>
          <a:xfrm>
            <a:off x="7550150" y="4222750"/>
            <a:ext cx="4167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Typically </a:t>
            </a:r>
            <a:r>
              <a:rPr lang="en-US" sz="1000" b="1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0.6</a:t>
            </a:r>
            <a:r>
              <a:rPr lang="en-US" sz="1000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removes weak predictions</a:t>
            </a:r>
            <a:endParaRPr lang="en-US" sz="1600" dirty="0"/>
          </a:p>
        </p:txBody>
      </p:sp>
      <p:sp>
        <p:nvSpPr>
          <p:cNvPr id="55" name="Shape 52"/>
          <p:cNvSpPr/>
          <p:nvPr/>
        </p:nvSpPr>
        <p:spPr>
          <a:xfrm>
            <a:off x="7454900" y="4572000"/>
            <a:ext cx="4294188" cy="603250"/>
          </a:xfrm>
          <a:custGeom>
            <a:avLst/>
            <a:gdLst/>
            <a:ahLst/>
            <a:cxnLst/>
            <a:rect l="l" t="t" r="r" b="b"/>
            <a:pathLst>
              <a:path w="4294188" h="603250">
                <a:moveTo>
                  <a:pt x="63498" y="0"/>
                </a:moveTo>
                <a:lnTo>
                  <a:pt x="4230689" y="0"/>
                </a:lnTo>
                <a:cubicBezTo>
                  <a:pt x="4265758" y="0"/>
                  <a:pt x="4294188" y="28429"/>
                  <a:pt x="4294188" y="63498"/>
                </a:cubicBezTo>
                <a:lnTo>
                  <a:pt x="4294188" y="539752"/>
                </a:lnTo>
                <a:cubicBezTo>
                  <a:pt x="4294188" y="574821"/>
                  <a:pt x="4265758" y="603250"/>
                  <a:pt x="4230689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3"/>
          <p:cNvSpPr/>
          <p:nvPr/>
        </p:nvSpPr>
        <p:spPr>
          <a:xfrm>
            <a:off x="7550150" y="4667250"/>
            <a:ext cx="4167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IoU Threshold</a:t>
            </a:r>
            <a:endParaRPr lang="en-US" sz="1600" dirty="0"/>
          </a:p>
        </p:txBody>
      </p:sp>
      <p:sp>
        <p:nvSpPr>
          <p:cNvPr id="57" name="Text 54"/>
          <p:cNvSpPr/>
          <p:nvPr/>
        </p:nvSpPr>
        <p:spPr>
          <a:xfrm>
            <a:off x="7550150" y="4889500"/>
            <a:ext cx="4167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Typically </a:t>
            </a:r>
            <a:r>
              <a:rPr lang="en-US" sz="1000" b="1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0.5</a:t>
            </a:r>
            <a:r>
              <a:rPr lang="en-US" sz="1000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defines "same object"</a:t>
            </a:r>
            <a:endParaRPr lang="en-US" sz="1600" dirty="0"/>
          </a:p>
        </p:txBody>
      </p:sp>
      <p:sp>
        <p:nvSpPr>
          <p:cNvPr id="58" name="Shape 55"/>
          <p:cNvSpPr/>
          <p:nvPr/>
        </p:nvSpPr>
        <p:spPr>
          <a:xfrm>
            <a:off x="7331075" y="5400675"/>
            <a:ext cx="4538663" cy="387350"/>
          </a:xfrm>
          <a:custGeom>
            <a:avLst/>
            <a:gdLst/>
            <a:ahLst/>
            <a:cxnLst/>
            <a:rect l="l" t="t" r="r" b="b"/>
            <a:pathLst>
              <a:path w="4538663" h="387350">
                <a:moveTo>
                  <a:pt x="95249" y="0"/>
                </a:moveTo>
                <a:lnTo>
                  <a:pt x="4443413" y="0"/>
                </a:lnTo>
                <a:cubicBezTo>
                  <a:pt x="4496018" y="0"/>
                  <a:pt x="4538663" y="42645"/>
                  <a:pt x="4538663" y="95249"/>
                </a:cubicBezTo>
                <a:lnTo>
                  <a:pt x="4538663" y="292101"/>
                </a:lnTo>
                <a:cubicBezTo>
                  <a:pt x="4538663" y="344705"/>
                  <a:pt x="4496018" y="387350"/>
                  <a:pt x="4443413" y="387350"/>
                </a:cubicBezTo>
                <a:lnTo>
                  <a:pt x="95249" y="387350"/>
                </a:lnTo>
                <a:cubicBezTo>
                  <a:pt x="42645" y="387350"/>
                  <a:pt x="0" y="344705"/>
                  <a:pt x="0" y="292101"/>
                </a:cubicBezTo>
                <a:lnTo>
                  <a:pt x="0" y="95249"/>
                </a:lnTo>
                <a:cubicBezTo>
                  <a:pt x="0" y="42645"/>
                  <a:pt x="42645" y="0"/>
                  <a:pt x="95249" y="0"/>
                </a:cubicBezTo>
                <a:close/>
              </a:path>
            </a:pathLst>
          </a:custGeom>
          <a:solidFill>
            <a:srgbClr val="4DB6AC">
              <a:alpha val="10196"/>
            </a:srgbClr>
          </a:solidFill>
          <a:ln w="10160">
            <a:solidFill>
              <a:srgbClr val="4DB6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6"/>
          <p:cNvSpPr/>
          <p:nvPr/>
        </p:nvSpPr>
        <p:spPr>
          <a:xfrm>
            <a:off x="7461250" y="5524500"/>
            <a:ext cx="95250" cy="127000"/>
          </a:xfrm>
          <a:custGeom>
            <a:avLst/>
            <a:gdLst/>
            <a:ahLst/>
            <a:cxnLst/>
            <a:rect l="l" t="t" r="r" b="b"/>
            <a:pathLst>
              <a:path w="95250" h="127000">
                <a:moveTo>
                  <a:pt x="72653" y="95250"/>
                </a:moveTo>
                <a:cubicBezTo>
                  <a:pt x="74464" y="89719"/>
                  <a:pt x="78085" y="84708"/>
                  <a:pt x="82178" y="80392"/>
                </a:cubicBezTo>
                <a:cubicBezTo>
                  <a:pt x="90289" y="71859"/>
                  <a:pt x="95250" y="60325"/>
                  <a:pt x="95250" y="47625"/>
                </a:cubicBezTo>
                <a:cubicBezTo>
                  <a:pt x="95250" y="21332"/>
                  <a:pt x="73918" y="0"/>
                  <a:pt x="47625" y="0"/>
                </a:cubicBezTo>
                <a:cubicBezTo>
                  <a:pt x="21332" y="0"/>
                  <a:pt x="0" y="21332"/>
                  <a:pt x="0" y="47625"/>
                </a:cubicBezTo>
                <a:cubicBezTo>
                  <a:pt x="0" y="60325"/>
                  <a:pt x="4961" y="71859"/>
                  <a:pt x="13072" y="80392"/>
                </a:cubicBezTo>
                <a:cubicBezTo>
                  <a:pt x="17165" y="84708"/>
                  <a:pt x="20811" y="89719"/>
                  <a:pt x="22597" y="95250"/>
                </a:cubicBezTo>
                <a:lnTo>
                  <a:pt x="72628" y="95250"/>
                </a:lnTo>
                <a:close/>
                <a:moveTo>
                  <a:pt x="71438" y="107156"/>
                </a:moveTo>
                <a:lnTo>
                  <a:pt x="23812" y="107156"/>
                </a:lnTo>
                <a:lnTo>
                  <a:pt x="23812" y="111125"/>
                </a:lnTo>
                <a:cubicBezTo>
                  <a:pt x="23812" y="122089"/>
                  <a:pt x="32693" y="130969"/>
                  <a:pt x="43656" y="130969"/>
                </a:cubicBezTo>
                <a:lnTo>
                  <a:pt x="51594" y="130969"/>
                </a:lnTo>
                <a:cubicBezTo>
                  <a:pt x="62557" y="130969"/>
                  <a:pt x="71438" y="122089"/>
                  <a:pt x="71438" y="111125"/>
                </a:cubicBezTo>
                <a:lnTo>
                  <a:pt x="71438" y="107156"/>
                </a:lnTo>
                <a:close/>
                <a:moveTo>
                  <a:pt x="45641" y="27781"/>
                </a:moveTo>
                <a:cubicBezTo>
                  <a:pt x="35768" y="27781"/>
                  <a:pt x="27781" y="35768"/>
                  <a:pt x="27781" y="45641"/>
                </a:cubicBezTo>
                <a:cubicBezTo>
                  <a:pt x="27781" y="48940"/>
                  <a:pt x="25127" y="51594"/>
                  <a:pt x="21828" y="51594"/>
                </a:cubicBezTo>
                <a:cubicBezTo>
                  <a:pt x="18529" y="51594"/>
                  <a:pt x="15875" y="48940"/>
                  <a:pt x="15875" y="45641"/>
                </a:cubicBezTo>
                <a:cubicBezTo>
                  <a:pt x="15875" y="29195"/>
                  <a:pt x="29195" y="15875"/>
                  <a:pt x="45641" y="15875"/>
                </a:cubicBezTo>
                <a:cubicBezTo>
                  <a:pt x="48940" y="15875"/>
                  <a:pt x="51594" y="18529"/>
                  <a:pt x="51594" y="21828"/>
                </a:cubicBezTo>
                <a:cubicBezTo>
                  <a:pt x="51594" y="25127"/>
                  <a:pt x="48940" y="27781"/>
                  <a:pt x="45641" y="27781"/>
                </a:cubicBezTo>
                <a:close/>
              </a:path>
            </a:pathLst>
          </a:custGeom>
          <a:solidFill>
            <a:srgbClr val="FFD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7"/>
          <p:cNvSpPr/>
          <p:nvPr/>
        </p:nvSpPr>
        <p:spPr>
          <a:xfrm>
            <a:off x="7627938" y="5499102"/>
            <a:ext cx="4206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D5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Point:</a:t>
            </a:r>
            <a:r>
              <a:rPr lang="en-US" sz="1000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NMS runs </a:t>
            </a:r>
            <a:r>
              <a:rPr lang="en-US" sz="1000" b="1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independently for each class</a:t>
            </a:r>
            <a:r>
              <a:rPr lang="en-US" sz="1000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multi-class detection!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50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HANDLING MULTIPLE OBJECTS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Anchor Boxes: The Solution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33375" y="1016000"/>
            <a:ext cx="5699125" cy="2159000"/>
          </a:xfrm>
          <a:custGeom>
            <a:avLst/>
            <a:gdLst/>
            <a:ahLst/>
            <a:cxnLst/>
            <a:rect l="l" t="t" r="r" b="b"/>
            <a:pathLst>
              <a:path w="5699125" h="2159000">
                <a:moveTo>
                  <a:pt x="31750" y="0"/>
                </a:moveTo>
                <a:lnTo>
                  <a:pt x="5603870" y="0"/>
                </a:lnTo>
                <a:cubicBezTo>
                  <a:pt x="5656478" y="0"/>
                  <a:pt x="5699125" y="42647"/>
                  <a:pt x="5699125" y="95255"/>
                </a:cubicBezTo>
                <a:lnTo>
                  <a:pt x="5699125" y="2063745"/>
                </a:lnTo>
                <a:cubicBezTo>
                  <a:pt x="5699125" y="2116353"/>
                  <a:pt x="5656478" y="2159000"/>
                  <a:pt x="5603870" y="2159000"/>
                </a:cubicBezTo>
                <a:lnTo>
                  <a:pt x="31750" y="2159000"/>
                </a:lnTo>
                <a:cubicBezTo>
                  <a:pt x="14227" y="2159000"/>
                  <a:pt x="0" y="2144773"/>
                  <a:pt x="0" y="2127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63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33375" y="1016000"/>
            <a:ext cx="31750" cy="2159000"/>
          </a:xfrm>
          <a:custGeom>
            <a:avLst/>
            <a:gdLst/>
            <a:ahLst/>
            <a:cxnLst/>
            <a:rect l="l" t="t" r="r" b="b"/>
            <a:pathLst>
              <a:path w="31750" h="2159000">
                <a:moveTo>
                  <a:pt x="31750" y="0"/>
                </a:moveTo>
                <a:lnTo>
                  <a:pt x="31750" y="0"/>
                </a:lnTo>
                <a:lnTo>
                  <a:pt x="31750" y="2159000"/>
                </a:lnTo>
                <a:lnTo>
                  <a:pt x="31750" y="2159000"/>
                </a:lnTo>
                <a:cubicBezTo>
                  <a:pt x="14227" y="2159000"/>
                  <a:pt x="0" y="2144773"/>
                  <a:pt x="0" y="2127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96094" y="1168402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375" y="158750"/>
                </a:moveTo>
                <a:cubicBezTo>
                  <a:pt x="123183" y="158750"/>
                  <a:pt x="158750" y="123183"/>
                  <a:pt x="158750" y="79375"/>
                </a:cubicBezTo>
                <a:cubicBezTo>
                  <a:pt x="158750" y="35567"/>
                  <a:pt x="123183" y="0"/>
                  <a:pt x="79375" y="0"/>
                </a:cubicBezTo>
                <a:cubicBezTo>
                  <a:pt x="35567" y="0"/>
                  <a:pt x="0" y="35567"/>
                  <a:pt x="0" y="79375"/>
                </a:cubicBezTo>
                <a:cubicBezTo>
                  <a:pt x="0" y="123183"/>
                  <a:pt x="35567" y="158750"/>
                  <a:pt x="79375" y="158750"/>
                </a:cubicBezTo>
                <a:close/>
                <a:moveTo>
                  <a:pt x="79375" y="42168"/>
                </a:moveTo>
                <a:cubicBezTo>
                  <a:pt x="83499" y="42168"/>
                  <a:pt x="86816" y="45486"/>
                  <a:pt x="86816" y="49609"/>
                </a:cubicBezTo>
                <a:lnTo>
                  <a:pt x="86816" y="84336"/>
                </a:lnTo>
                <a:cubicBezTo>
                  <a:pt x="86816" y="88460"/>
                  <a:pt x="83499" y="91777"/>
                  <a:pt x="79375" y="91777"/>
                </a:cubicBezTo>
                <a:cubicBezTo>
                  <a:pt x="75251" y="91777"/>
                  <a:pt x="71934" y="88460"/>
                  <a:pt x="71934" y="84336"/>
                </a:cubicBezTo>
                <a:lnTo>
                  <a:pt x="71934" y="49609"/>
                </a:lnTo>
                <a:cubicBezTo>
                  <a:pt x="71934" y="45486"/>
                  <a:pt x="75251" y="42168"/>
                  <a:pt x="79375" y="42168"/>
                </a:cubicBezTo>
                <a:close/>
                <a:moveTo>
                  <a:pt x="71096" y="109141"/>
                </a:moveTo>
                <a:cubicBezTo>
                  <a:pt x="70908" y="106068"/>
                  <a:pt x="72441" y="103144"/>
                  <a:pt x="75075" y="101551"/>
                </a:cubicBezTo>
                <a:cubicBezTo>
                  <a:pt x="77709" y="99957"/>
                  <a:pt x="81010" y="99957"/>
                  <a:pt x="83644" y="101551"/>
                </a:cubicBezTo>
                <a:cubicBezTo>
                  <a:pt x="86278" y="103144"/>
                  <a:pt x="87811" y="106068"/>
                  <a:pt x="87623" y="109141"/>
                </a:cubicBezTo>
                <a:cubicBezTo>
                  <a:pt x="87811" y="112214"/>
                  <a:pt x="86278" y="115137"/>
                  <a:pt x="83644" y="116731"/>
                </a:cubicBezTo>
                <a:cubicBezTo>
                  <a:pt x="81010" y="118324"/>
                  <a:pt x="77709" y="118324"/>
                  <a:pt x="75075" y="116731"/>
                </a:cubicBezTo>
                <a:cubicBezTo>
                  <a:pt x="72441" y="115137"/>
                  <a:pt x="70908" y="112214"/>
                  <a:pt x="71096" y="109141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14375" y="1143000"/>
            <a:ext cx="52705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Limitation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76250" y="1460500"/>
            <a:ext cx="549275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Without anchor boxes, each grid cell can only detect </a:t>
            </a:r>
            <a:r>
              <a:rPr lang="en-US" sz="1000" b="1" dirty="0">
                <a:solidFill>
                  <a:srgbClr val="FFD5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ONE object</a:t>
            </a:r>
            <a:r>
              <a:rPr lang="en-US" sz="1000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What if multiple objects with different shapes are in the same cell?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76250" y="1968500"/>
            <a:ext cx="5429250" cy="1079500"/>
          </a:xfrm>
          <a:custGeom>
            <a:avLst/>
            <a:gdLst/>
            <a:ahLst/>
            <a:cxnLst/>
            <a:rect l="l" t="t" r="r" b="b"/>
            <a:pathLst>
              <a:path w="5429250" h="1079500">
                <a:moveTo>
                  <a:pt x="63496" y="0"/>
                </a:moveTo>
                <a:lnTo>
                  <a:pt x="5365754" y="0"/>
                </a:lnTo>
                <a:cubicBezTo>
                  <a:pt x="5400822" y="0"/>
                  <a:pt x="5429250" y="28428"/>
                  <a:pt x="5429250" y="63496"/>
                </a:cubicBezTo>
                <a:lnTo>
                  <a:pt x="5429250" y="1016004"/>
                </a:lnTo>
                <a:cubicBezTo>
                  <a:pt x="5429250" y="1051072"/>
                  <a:pt x="5400822" y="1079500"/>
                  <a:pt x="5365754" y="1079500"/>
                </a:cubicBezTo>
                <a:lnTo>
                  <a:pt x="63496" y="1079500"/>
                </a:lnTo>
                <a:cubicBezTo>
                  <a:pt x="28428" y="1079500"/>
                  <a:pt x="0" y="1051072"/>
                  <a:pt x="0" y="1016004"/>
                </a:cubicBezTo>
                <a:lnTo>
                  <a:pt x="0" y="63496"/>
                </a:lnTo>
                <a:cubicBezTo>
                  <a:pt x="0" y="28452"/>
                  <a:pt x="28452" y="0"/>
                  <a:pt x="63496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71500" y="2089152"/>
            <a:ext cx="112008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Problem Scenarios: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03250" y="2349500"/>
            <a:ext cx="95250" cy="127000"/>
          </a:xfrm>
          <a:custGeom>
            <a:avLst/>
            <a:gdLst/>
            <a:ahLst/>
            <a:cxnLst/>
            <a:rect l="l" t="t" r="r" b="b"/>
            <a:pathLst>
              <a:path w="95250" h="127000">
                <a:moveTo>
                  <a:pt x="13667" y="18207"/>
                </a:moveTo>
                <a:cubicBezTo>
                  <a:pt x="10567" y="15106"/>
                  <a:pt x="5531" y="15106"/>
                  <a:pt x="2431" y="18207"/>
                </a:cubicBezTo>
                <a:cubicBezTo>
                  <a:pt x="-670" y="21307"/>
                  <a:pt x="-670" y="26343"/>
                  <a:pt x="2431" y="29443"/>
                </a:cubicBezTo>
                <a:lnTo>
                  <a:pt x="36513" y="63500"/>
                </a:lnTo>
                <a:lnTo>
                  <a:pt x="2456" y="97582"/>
                </a:lnTo>
                <a:cubicBezTo>
                  <a:pt x="-645" y="100682"/>
                  <a:pt x="-645" y="105718"/>
                  <a:pt x="2456" y="108818"/>
                </a:cubicBezTo>
                <a:cubicBezTo>
                  <a:pt x="5556" y="111919"/>
                  <a:pt x="10592" y="111919"/>
                  <a:pt x="13692" y="108818"/>
                </a:cubicBezTo>
                <a:lnTo>
                  <a:pt x="47749" y="74737"/>
                </a:lnTo>
                <a:lnTo>
                  <a:pt x="81831" y="108793"/>
                </a:lnTo>
                <a:cubicBezTo>
                  <a:pt x="84931" y="111894"/>
                  <a:pt x="89967" y="111894"/>
                  <a:pt x="93067" y="108793"/>
                </a:cubicBezTo>
                <a:cubicBezTo>
                  <a:pt x="96168" y="105693"/>
                  <a:pt x="96168" y="100657"/>
                  <a:pt x="93067" y="97557"/>
                </a:cubicBezTo>
                <a:lnTo>
                  <a:pt x="58986" y="63500"/>
                </a:lnTo>
                <a:lnTo>
                  <a:pt x="93042" y="29418"/>
                </a:lnTo>
                <a:cubicBezTo>
                  <a:pt x="96143" y="26318"/>
                  <a:pt x="96143" y="21282"/>
                  <a:pt x="93042" y="18182"/>
                </a:cubicBezTo>
                <a:cubicBezTo>
                  <a:pt x="89942" y="15081"/>
                  <a:pt x="84906" y="15081"/>
                  <a:pt x="81806" y="18182"/>
                </a:cubicBezTo>
                <a:lnTo>
                  <a:pt x="47749" y="52263"/>
                </a:lnTo>
                <a:lnTo>
                  <a:pt x="13667" y="18207"/>
                </a:lnTo>
                <a:close/>
              </a:path>
            </a:pathLst>
          </a:custGeom>
          <a:solidFill>
            <a:srgbClr val="FFD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93750" y="2317750"/>
            <a:ext cx="1293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2+ objects in same cell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03250" y="2571750"/>
            <a:ext cx="95250" cy="127000"/>
          </a:xfrm>
          <a:custGeom>
            <a:avLst/>
            <a:gdLst/>
            <a:ahLst/>
            <a:cxnLst/>
            <a:rect l="l" t="t" r="r" b="b"/>
            <a:pathLst>
              <a:path w="95250" h="127000">
                <a:moveTo>
                  <a:pt x="13667" y="18207"/>
                </a:moveTo>
                <a:cubicBezTo>
                  <a:pt x="10567" y="15106"/>
                  <a:pt x="5531" y="15106"/>
                  <a:pt x="2431" y="18207"/>
                </a:cubicBezTo>
                <a:cubicBezTo>
                  <a:pt x="-670" y="21307"/>
                  <a:pt x="-670" y="26343"/>
                  <a:pt x="2431" y="29443"/>
                </a:cubicBezTo>
                <a:lnTo>
                  <a:pt x="36513" y="63500"/>
                </a:lnTo>
                <a:lnTo>
                  <a:pt x="2456" y="97582"/>
                </a:lnTo>
                <a:cubicBezTo>
                  <a:pt x="-645" y="100682"/>
                  <a:pt x="-645" y="105718"/>
                  <a:pt x="2456" y="108818"/>
                </a:cubicBezTo>
                <a:cubicBezTo>
                  <a:pt x="5556" y="111919"/>
                  <a:pt x="10592" y="111919"/>
                  <a:pt x="13692" y="108818"/>
                </a:cubicBezTo>
                <a:lnTo>
                  <a:pt x="47749" y="74737"/>
                </a:lnTo>
                <a:lnTo>
                  <a:pt x="81831" y="108793"/>
                </a:lnTo>
                <a:cubicBezTo>
                  <a:pt x="84931" y="111894"/>
                  <a:pt x="89967" y="111894"/>
                  <a:pt x="93067" y="108793"/>
                </a:cubicBezTo>
                <a:cubicBezTo>
                  <a:pt x="96168" y="105693"/>
                  <a:pt x="96168" y="100657"/>
                  <a:pt x="93067" y="97557"/>
                </a:cubicBezTo>
                <a:lnTo>
                  <a:pt x="58986" y="63500"/>
                </a:lnTo>
                <a:lnTo>
                  <a:pt x="93042" y="29418"/>
                </a:lnTo>
                <a:cubicBezTo>
                  <a:pt x="96143" y="26318"/>
                  <a:pt x="96143" y="21282"/>
                  <a:pt x="93042" y="18182"/>
                </a:cubicBezTo>
                <a:cubicBezTo>
                  <a:pt x="89942" y="15081"/>
                  <a:pt x="84906" y="15081"/>
                  <a:pt x="81806" y="18182"/>
                </a:cubicBezTo>
                <a:lnTo>
                  <a:pt x="47749" y="52263"/>
                </a:lnTo>
                <a:lnTo>
                  <a:pt x="13667" y="18207"/>
                </a:lnTo>
                <a:close/>
              </a:path>
            </a:pathLst>
          </a:custGeom>
          <a:solidFill>
            <a:srgbClr val="FFD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93750" y="2540000"/>
            <a:ext cx="1984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Objects with different aspect ratios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03250" y="2794000"/>
            <a:ext cx="95250" cy="127000"/>
          </a:xfrm>
          <a:custGeom>
            <a:avLst/>
            <a:gdLst/>
            <a:ahLst/>
            <a:cxnLst/>
            <a:rect l="l" t="t" r="r" b="b"/>
            <a:pathLst>
              <a:path w="95250" h="127000">
                <a:moveTo>
                  <a:pt x="13667" y="18207"/>
                </a:moveTo>
                <a:cubicBezTo>
                  <a:pt x="10567" y="15106"/>
                  <a:pt x="5531" y="15106"/>
                  <a:pt x="2431" y="18207"/>
                </a:cubicBezTo>
                <a:cubicBezTo>
                  <a:pt x="-670" y="21307"/>
                  <a:pt x="-670" y="26343"/>
                  <a:pt x="2431" y="29443"/>
                </a:cubicBezTo>
                <a:lnTo>
                  <a:pt x="36513" y="63500"/>
                </a:lnTo>
                <a:lnTo>
                  <a:pt x="2456" y="97582"/>
                </a:lnTo>
                <a:cubicBezTo>
                  <a:pt x="-645" y="100682"/>
                  <a:pt x="-645" y="105718"/>
                  <a:pt x="2456" y="108818"/>
                </a:cubicBezTo>
                <a:cubicBezTo>
                  <a:pt x="5556" y="111919"/>
                  <a:pt x="10592" y="111919"/>
                  <a:pt x="13692" y="108818"/>
                </a:cubicBezTo>
                <a:lnTo>
                  <a:pt x="47749" y="74737"/>
                </a:lnTo>
                <a:lnTo>
                  <a:pt x="81831" y="108793"/>
                </a:lnTo>
                <a:cubicBezTo>
                  <a:pt x="84931" y="111894"/>
                  <a:pt x="89967" y="111894"/>
                  <a:pt x="93067" y="108793"/>
                </a:cubicBezTo>
                <a:cubicBezTo>
                  <a:pt x="96168" y="105693"/>
                  <a:pt x="96168" y="100657"/>
                  <a:pt x="93067" y="97557"/>
                </a:cubicBezTo>
                <a:lnTo>
                  <a:pt x="58986" y="63500"/>
                </a:lnTo>
                <a:lnTo>
                  <a:pt x="93042" y="29418"/>
                </a:lnTo>
                <a:cubicBezTo>
                  <a:pt x="96143" y="26318"/>
                  <a:pt x="96143" y="21282"/>
                  <a:pt x="93042" y="18182"/>
                </a:cubicBezTo>
                <a:cubicBezTo>
                  <a:pt x="89942" y="15081"/>
                  <a:pt x="84906" y="15081"/>
                  <a:pt x="81806" y="18182"/>
                </a:cubicBezTo>
                <a:lnTo>
                  <a:pt x="47749" y="52263"/>
                </a:lnTo>
                <a:lnTo>
                  <a:pt x="13667" y="18207"/>
                </a:lnTo>
                <a:close/>
              </a:path>
            </a:pathLst>
          </a:custGeom>
          <a:solidFill>
            <a:srgbClr val="FFD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93750" y="2762250"/>
            <a:ext cx="222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Overlapping objects of different classes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33375" y="3270250"/>
            <a:ext cx="5699125" cy="2444750"/>
          </a:xfrm>
          <a:custGeom>
            <a:avLst/>
            <a:gdLst/>
            <a:ahLst/>
            <a:cxnLst/>
            <a:rect l="l" t="t" r="r" b="b"/>
            <a:pathLst>
              <a:path w="5699125" h="2444750">
                <a:moveTo>
                  <a:pt x="31750" y="0"/>
                </a:moveTo>
                <a:lnTo>
                  <a:pt x="5603878" y="0"/>
                </a:lnTo>
                <a:cubicBezTo>
                  <a:pt x="5656481" y="0"/>
                  <a:pt x="5699125" y="42644"/>
                  <a:pt x="5699125" y="95247"/>
                </a:cubicBezTo>
                <a:lnTo>
                  <a:pt x="5699125" y="2349503"/>
                </a:lnTo>
                <a:cubicBezTo>
                  <a:pt x="5699125" y="2402106"/>
                  <a:pt x="5656481" y="2444750"/>
                  <a:pt x="5603878" y="2444750"/>
                </a:cubicBezTo>
                <a:lnTo>
                  <a:pt x="31750" y="2444750"/>
                </a:lnTo>
                <a:cubicBezTo>
                  <a:pt x="14215" y="2444750"/>
                  <a:pt x="0" y="2430535"/>
                  <a:pt x="0" y="2413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63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33375" y="3270250"/>
            <a:ext cx="31750" cy="2444750"/>
          </a:xfrm>
          <a:custGeom>
            <a:avLst/>
            <a:gdLst/>
            <a:ahLst/>
            <a:cxnLst/>
            <a:rect l="l" t="t" r="r" b="b"/>
            <a:pathLst>
              <a:path w="31750" h="2444750">
                <a:moveTo>
                  <a:pt x="31750" y="0"/>
                </a:moveTo>
                <a:lnTo>
                  <a:pt x="31750" y="0"/>
                </a:lnTo>
                <a:lnTo>
                  <a:pt x="31750" y="2444750"/>
                </a:lnTo>
                <a:lnTo>
                  <a:pt x="31750" y="2444750"/>
                </a:lnTo>
                <a:cubicBezTo>
                  <a:pt x="14227" y="2444750"/>
                  <a:pt x="0" y="2430523"/>
                  <a:pt x="0" y="2413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D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15938" y="3422652"/>
            <a:ext cx="119063" cy="158750"/>
          </a:xfrm>
          <a:custGeom>
            <a:avLst/>
            <a:gdLst/>
            <a:ahLst/>
            <a:cxnLst/>
            <a:rect l="l" t="t" r="r" b="b"/>
            <a:pathLst>
              <a:path w="119063" h="158750">
                <a:moveTo>
                  <a:pt x="90816" y="119062"/>
                </a:moveTo>
                <a:cubicBezTo>
                  <a:pt x="93080" y="112148"/>
                  <a:pt x="97606" y="105885"/>
                  <a:pt x="102722" y="100490"/>
                </a:cubicBezTo>
                <a:cubicBezTo>
                  <a:pt x="112861" y="89824"/>
                  <a:pt x="119062" y="75406"/>
                  <a:pt x="119062" y="59531"/>
                </a:cubicBezTo>
                <a:cubicBezTo>
                  <a:pt x="119062" y="26665"/>
                  <a:pt x="92397" y="0"/>
                  <a:pt x="59531" y="0"/>
                </a:cubicBezTo>
                <a:cubicBezTo>
                  <a:pt x="26665" y="0"/>
                  <a:pt x="0" y="26665"/>
                  <a:pt x="0" y="59531"/>
                </a:cubicBezTo>
                <a:cubicBezTo>
                  <a:pt x="0" y="75406"/>
                  <a:pt x="6201" y="89824"/>
                  <a:pt x="16340" y="100490"/>
                </a:cubicBezTo>
                <a:cubicBezTo>
                  <a:pt x="21456" y="105885"/>
                  <a:pt x="26014" y="112148"/>
                  <a:pt x="28246" y="119062"/>
                </a:cubicBezTo>
                <a:lnTo>
                  <a:pt x="90785" y="119062"/>
                </a:lnTo>
                <a:close/>
                <a:moveTo>
                  <a:pt x="89297" y="133945"/>
                </a:moveTo>
                <a:lnTo>
                  <a:pt x="29766" y="133945"/>
                </a:lnTo>
                <a:lnTo>
                  <a:pt x="29766" y="138906"/>
                </a:lnTo>
                <a:cubicBezTo>
                  <a:pt x="29766" y="152611"/>
                  <a:pt x="40866" y="163711"/>
                  <a:pt x="54570" y="163711"/>
                </a:cubicBezTo>
                <a:lnTo>
                  <a:pt x="64492" y="163711"/>
                </a:lnTo>
                <a:cubicBezTo>
                  <a:pt x="78197" y="163711"/>
                  <a:pt x="89297" y="152611"/>
                  <a:pt x="89297" y="138906"/>
                </a:cubicBezTo>
                <a:lnTo>
                  <a:pt x="89297" y="133945"/>
                </a:lnTo>
                <a:close/>
                <a:moveTo>
                  <a:pt x="57051" y="34727"/>
                </a:moveTo>
                <a:cubicBezTo>
                  <a:pt x="44710" y="34727"/>
                  <a:pt x="34727" y="44710"/>
                  <a:pt x="34727" y="57051"/>
                </a:cubicBezTo>
                <a:cubicBezTo>
                  <a:pt x="34727" y="61175"/>
                  <a:pt x="31409" y="64492"/>
                  <a:pt x="27285" y="64492"/>
                </a:cubicBezTo>
                <a:cubicBezTo>
                  <a:pt x="23161" y="64492"/>
                  <a:pt x="19844" y="61175"/>
                  <a:pt x="19844" y="57051"/>
                </a:cubicBezTo>
                <a:cubicBezTo>
                  <a:pt x="19844" y="36494"/>
                  <a:pt x="36494" y="19844"/>
                  <a:pt x="57051" y="19844"/>
                </a:cubicBezTo>
                <a:cubicBezTo>
                  <a:pt x="61175" y="19844"/>
                  <a:pt x="64492" y="23161"/>
                  <a:pt x="64492" y="27285"/>
                </a:cubicBezTo>
                <a:cubicBezTo>
                  <a:pt x="64492" y="31409"/>
                  <a:pt x="61175" y="34727"/>
                  <a:pt x="57051" y="34727"/>
                </a:cubicBezTo>
                <a:close/>
              </a:path>
            </a:pathLst>
          </a:custGeom>
          <a:solidFill>
            <a:srgbClr val="FFD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14375" y="3397250"/>
            <a:ext cx="52705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D5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are Anchor Boxes?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76250" y="3714750"/>
            <a:ext cx="549275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Anchor boxes are </a:t>
            </a:r>
            <a:r>
              <a:rPr lang="en-US" sz="1000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pre-defined bounding box shapes</a:t>
            </a:r>
            <a:r>
              <a:rPr lang="en-US" sz="1000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based on common object aspect ratios in the dataset.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76250" y="4222750"/>
            <a:ext cx="5429250" cy="1365250"/>
          </a:xfrm>
          <a:custGeom>
            <a:avLst/>
            <a:gdLst/>
            <a:ahLst/>
            <a:cxnLst/>
            <a:rect l="l" t="t" r="r" b="b"/>
            <a:pathLst>
              <a:path w="5429250" h="1365250">
                <a:moveTo>
                  <a:pt x="63498" y="0"/>
                </a:moveTo>
                <a:lnTo>
                  <a:pt x="5365752" y="0"/>
                </a:lnTo>
                <a:cubicBezTo>
                  <a:pt x="5400821" y="0"/>
                  <a:pt x="5429250" y="28429"/>
                  <a:pt x="5429250" y="63498"/>
                </a:cubicBezTo>
                <a:lnTo>
                  <a:pt x="5429250" y="1301752"/>
                </a:lnTo>
                <a:cubicBezTo>
                  <a:pt x="5429250" y="1336821"/>
                  <a:pt x="5400821" y="1365250"/>
                  <a:pt x="5365752" y="1365250"/>
                </a:cubicBezTo>
                <a:lnTo>
                  <a:pt x="63498" y="1365250"/>
                </a:lnTo>
                <a:cubicBezTo>
                  <a:pt x="28429" y="1365250"/>
                  <a:pt x="0" y="1336821"/>
                  <a:pt x="0" y="1301752"/>
                </a:cubicBezTo>
                <a:lnTo>
                  <a:pt x="0" y="63498"/>
                </a:lnTo>
                <a:cubicBezTo>
                  <a:pt x="0" y="28452"/>
                  <a:pt x="28452" y="0"/>
                  <a:pt x="63498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71500" y="4343402"/>
            <a:ext cx="1359297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 Anchor Boxes: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71500" y="4572000"/>
            <a:ext cx="1706563" cy="920750"/>
          </a:xfrm>
          <a:custGeom>
            <a:avLst/>
            <a:gdLst/>
            <a:ahLst/>
            <a:cxnLst/>
            <a:rect l="l" t="t" r="r" b="b"/>
            <a:pathLst>
              <a:path w="1706563" h="920750">
                <a:moveTo>
                  <a:pt x="31747" y="0"/>
                </a:moveTo>
                <a:lnTo>
                  <a:pt x="1674815" y="0"/>
                </a:lnTo>
                <a:cubicBezTo>
                  <a:pt x="1692349" y="0"/>
                  <a:pt x="1706563" y="14214"/>
                  <a:pt x="1706563" y="31747"/>
                </a:cubicBezTo>
                <a:lnTo>
                  <a:pt x="1706563" y="889003"/>
                </a:lnTo>
                <a:cubicBezTo>
                  <a:pt x="1706563" y="906536"/>
                  <a:pt x="1692349" y="920750"/>
                  <a:pt x="1674815" y="920750"/>
                </a:cubicBezTo>
                <a:lnTo>
                  <a:pt x="31747" y="920750"/>
                </a:lnTo>
                <a:cubicBezTo>
                  <a:pt x="14214" y="920750"/>
                  <a:pt x="0" y="906536"/>
                  <a:pt x="0" y="889003"/>
                </a:cubicBezTo>
                <a:lnTo>
                  <a:pt x="0" y="31747"/>
                </a:lnTo>
                <a:cubicBezTo>
                  <a:pt x="0" y="14226"/>
                  <a:pt x="14226" y="0"/>
                  <a:pt x="31747" y="0"/>
                </a:cubicBezTo>
                <a:close/>
              </a:path>
            </a:pathLst>
          </a:custGeom>
          <a:solidFill>
            <a:srgbClr val="263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296392" y="4635500"/>
            <a:ext cx="254000" cy="381000"/>
          </a:xfrm>
          <a:custGeom>
            <a:avLst/>
            <a:gdLst/>
            <a:ahLst/>
            <a:cxnLst/>
            <a:rect l="l" t="t" r="r" b="b"/>
            <a:pathLst>
              <a:path w="254000" h="381000">
                <a:moveTo>
                  <a:pt x="31750" y="0"/>
                </a:moveTo>
                <a:lnTo>
                  <a:pt x="222250" y="0"/>
                </a:lnTo>
                <a:cubicBezTo>
                  <a:pt x="239773" y="0"/>
                  <a:pt x="254000" y="14227"/>
                  <a:pt x="254000" y="31750"/>
                </a:cubicBezTo>
                <a:lnTo>
                  <a:pt x="254000" y="349250"/>
                </a:lnTo>
                <a:cubicBezTo>
                  <a:pt x="254000" y="366773"/>
                  <a:pt x="239773" y="381000"/>
                  <a:pt x="222250" y="381000"/>
                </a:cubicBezTo>
                <a:lnTo>
                  <a:pt x="31750" y="381000"/>
                </a:lnTo>
                <a:cubicBezTo>
                  <a:pt x="14227" y="381000"/>
                  <a:pt x="0" y="366773"/>
                  <a:pt x="0" y="349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03250" y="5048250"/>
            <a:ext cx="1643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Tall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03250" y="5238750"/>
            <a:ext cx="1643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1:2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2338884" y="4572000"/>
            <a:ext cx="1706563" cy="920750"/>
          </a:xfrm>
          <a:custGeom>
            <a:avLst/>
            <a:gdLst/>
            <a:ahLst/>
            <a:cxnLst/>
            <a:rect l="l" t="t" r="r" b="b"/>
            <a:pathLst>
              <a:path w="1706563" h="920750">
                <a:moveTo>
                  <a:pt x="31747" y="0"/>
                </a:moveTo>
                <a:lnTo>
                  <a:pt x="1674815" y="0"/>
                </a:lnTo>
                <a:cubicBezTo>
                  <a:pt x="1692349" y="0"/>
                  <a:pt x="1706563" y="14214"/>
                  <a:pt x="1706563" y="31747"/>
                </a:cubicBezTo>
                <a:lnTo>
                  <a:pt x="1706563" y="889003"/>
                </a:lnTo>
                <a:cubicBezTo>
                  <a:pt x="1706563" y="906536"/>
                  <a:pt x="1692349" y="920750"/>
                  <a:pt x="1674815" y="920750"/>
                </a:cubicBezTo>
                <a:lnTo>
                  <a:pt x="31747" y="920750"/>
                </a:lnTo>
                <a:cubicBezTo>
                  <a:pt x="14214" y="920750"/>
                  <a:pt x="0" y="906536"/>
                  <a:pt x="0" y="889003"/>
                </a:cubicBezTo>
                <a:lnTo>
                  <a:pt x="0" y="31747"/>
                </a:lnTo>
                <a:cubicBezTo>
                  <a:pt x="0" y="14226"/>
                  <a:pt x="14226" y="0"/>
                  <a:pt x="31747" y="0"/>
                </a:cubicBezTo>
                <a:close/>
              </a:path>
            </a:pathLst>
          </a:custGeom>
          <a:solidFill>
            <a:srgbClr val="263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000276" y="4635500"/>
            <a:ext cx="381000" cy="254000"/>
          </a:xfrm>
          <a:custGeom>
            <a:avLst/>
            <a:gdLst/>
            <a:ahLst/>
            <a:cxnLst/>
            <a:rect l="l" t="t" r="r" b="b"/>
            <a:pathLst>
              <a:path w="381000" h="254000">
                <a:moveTo>
                  <a:pt x="31750" y="0"/>
                </a:moveTo>
                <a:lnTo>
                  <a:pt x="349250" y="0"/>
                </a:lnTo>
                <a:cubicBezTo>
                  <a:pt x="366773" y="0"/>
                  <a:pt x="381000" y="14227"/>
                  <a:pt x="381000" y="31750"/>
                </a:cubicBezTo>
                <a:lnTo>
                  <a:pt x="381000" y="222250"/>
                </a:lnTo>
                <a:cubicBezTo>
                  <a:pt x="381000" y="239773"/>
                  <a:pt x="366773" y="254000"/>
                  <a:pt x="349250" y="254000"/>
                </a:cubicBezTo>
                <a:lnTo>
                  <a:pt x="31750" y="254000"/>
                </a:lnTo>
                <a:cubicBezTo>
                  <a:pt x="14227" y="254000"/>
                  <a:pt x="0" y="239773"/>
                  <a:pt x="0" y="222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D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370634" y="4921250"/>
            <a:ext cx="1643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Wide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2370634" y="5111750"/>
            <a:ext cx="1643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2:1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106267" y="4572000"/>
            <a:ext cx="1706563" cy="920750"/>
          </a:xfrm>
          <a:custGeom>
            <a:avLst/>
            <a:gdLst/>
            <a:ahLst/>
            <a:cxnLst/>
            <a:rect l="l" t="t" r="r" b="b"/>
            <a:pathLst>
              <a:path w="1706563" h="920750">
                <a:moveTo>
                  <a:pt x="31747" y="0"/>
                </a:moveTo>
                <a:lnTo>
                  <a:pt x="1674815" y="0"/>
                </a:lnTo>
                <a:cubicBezTo>
                  <a:pt x="1692349" y="0"/>
                  <a:pt x="1706563" y="14214"/>
                  <a:pt x="1706563" y="31747"/>
                </a:cubicBezTo>
                <a:lnTo>
                  <a:pt x="1706563" y="889003"/>
                </a:lnTo>
                <a:cubicBezTo>
                  <a:pt x="1706563" y="906536"/>
                  <a:pt x="1692349" y="920750"/>
                  <a:pt x="1674815" y="920750"/>
                </a:cubicBezTo>
                <a:lnTo>
                  <a:pt x="31747" y="920750"/>
                </a:lnTo>
                <a:cubicBezTo>
                  <a:pt x="14214" y="920750"/>
                  <a:pt x="0" y="906536"/>
                  <a:pt x="0" y="889003"/>
                </a:cubicBezTo>
                <a:lnTo>
                  <a:pt x="0" y="31747"/>
                </a:lnTo>
                <a:cubicBezTo>
                  <a:pt x="0" y="14226"/>
                  <a:pt x="14226" y="0"/>
                  <a:pt x="31747" y="0"/>
                </a:cubicBezTo>
                <a:close/>
              </a:path>
            </a:pathLst>
          </a:custGeom>
          <a:solidFill>
            <a:srgbClr val="263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799509" y="463550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31750" y="0"/>
                </a:moveTo>
                <a:lnTo>
                  <a:pt x="285750" y="0"/>
                </a:lnTo>
                <a:cubicBezTo>
                  <a:pt x="303273" y="0"/>
                  <a:pt x="317500" y="14227"/>
                  <a:pt x="317500" y="31750"/>
                </a:cubicBezTo>
                <a:lnTo>
                  <a:pt x="317500" y="285750"/>
                </a:lnTo>
                <a:cubicBezTo>
                  <a:pt x="317500" y="303273"/>
                  <a:pt x="303273" y="317500"/>
                  <a:pt x="285750" y="317500"/>
                </a:cubicBezTo>
                <a:lnTo>
                  <a:pt x="31750" y="317500"/>
                </a:lnTo>
                <a:cubicBezTo>
                  <a:pt x="14227" y="317500"/>
                  <a:pt x="0" y="303273"/>
                  <a:pt x="0" y="285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138017" y="4984750"/>
            <a:ext cx="1643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Square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138017" y="5175250"/>
            <a:ext cx="1643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1:1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20675" y="5813425"/>
            <a:ext cx="5705475" cy="577850"/>
          </a:xfrm>
          <a:custGeom>
            <a:avLst/>
            <a:gdLst/>
            <a:ahLst/>
            <a:cxnLst/>
            <a:rect l="l" t="t" r="r" b="b"/>
            <a:pathLst>
              <a:path w="5705475" h="577850">
                <a:moveTo>
                  <a:pt x="95253" y="0"/>
                </a:moveTo>
                <a:lnTo>
                  <a:pt x="5610222" y="0"/>
                </a:lnTo>
                <a:cubicBezTo>
                  <a:pt x="5662829" y="0"/>
                  <a:pt x="5705475" y="42646"/>
                  <a:pt x="5705475" y="95253"/>
                </a:cubicBezTo>
                <a:lnTo>
                  <a:pt x="5705475" y="482597"/>
                </a:lnTo>
                <a:cubicBezTo>
                  <a:pt x="5705475" y="535204"/>
                  <a:pt x="5662829" y="577850"/>
                  <a:pt x="5610222" y="577850"/>
                </a:cubicBezTo>
                <a:lnTo>
                  <a:pt x="95253" y="577850"/>
                </a:lnTo>
                <a:cubicBezTo>
                  <a:pt x="42646" y="577850"/>
                  <a:pt x="0" y="535204"/>
                  <a:pt x="0" y="482597"/>
                </a:cubicBezTo>
                <a:lnTo>
                  <a:pt x="0" y="95253"/>
                </a:lnTo>
                <a:cubicBezTo>
                  <a:pt x="0" y="42681"/>
                  <a:pt x="42681" y="0"/>
                  <a:pt x="95253" y="0"/>
                </a:cubicBezTo>
                <a:close/>
              </a:path>
            </a:pathLst>
          </a:custGeom>
          <a:solidFill>
            <a:srgbClr val="4DB6AC">
              <a:alpha val="10196"/>
            </a:srgbClr>
          </a:solidFill>
          <a:ln w="10160">
            <a:solidFill>
              <a:srgbClr val="4DB6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34975" y="593725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55563" y="39688"/>
                </a:moveTo>
                <a:cubicBezTo>
                  <a:pt x="55563" y="35307"/>
                  <a:pt x="59119" y="31750"/>
                  <a:pt x="63500" y="31750"/>
                </a:cubicBezTo>
                <a:cubicBezTo>
                  <a:pt x="67881" y="31750"/>
                  <a:pt x="71438" y="35307"/>
                  <a:pt x="71438" y="39688"/>
                </a:cubicBezTo>
                <a:cubicBezTo>
                  <a:pt x="71438" y="44068"/>
                  <a:pt x="67881" y="47625"/>
                  <a:pt x="63500" y="47625"/>
                </a:cubicBezTo>
                <a:cubicBezTo>
                  <a:pt x="59119" y="47625"/>
                  <a:pt x="55563" y="44068"/>
                  <a:pt x="55563" y="39688"/>
                </a:cubicBezTo>
                <a:close/>
                <a:moveTo>
                  <a:pt x="53578" y="55563"/>
                </a:moveTo>
                <a:lnTo>
                  <a:pt x="65484" y="55563"/>
                </a:lnTo>
                <a:cubicBezTo>
                  <a:pt x="68783" y="55563"/>
                  <a:pt x="71438" y="58217"/>
                  <a:pt x="71438" y="61516"/>
                </a:cubicBezTo>
                <a:lnTo>
                  <a:pt x="71438" y="83344"/>
                </a:lnTo>
                <a:lnTo>
                  <a:pt x="73422" y="83344"/>
                </a:lnTo>
                <a:cubicBezTo>
                  <a:pt x="76721" y="83344"/>
                  <a:pt x="79375" y="85998"/>
                  <a:pt x="79375" y="89297"/>
                </a:cubicBezTo>
                <a:cubicBezTo>
                  <a:pt x="79375" y="92596"/>
                  <a:pt x="76721" y="95250"/>
                  <a:pt x="73422" y="95250"/>
                </a:cubicBezTo>
                <a:lnTo>
                  <a:pt x="53578" y="95250"/>
                </a:lnTo>
                <a:cubicBezTo>
                  <a:pt x="50279" y="95250"/>
                  <a:pt x="47625" y="92596"/>
                  <a:pt x="47625" y="89297"/>
                </a:cubicBezTo>
                <a:cubicBezTo>
                  <a:pt x="47625" y="85998"/>
                  <a:pt x="50279" y="83344"/>
                  <a:pt x="53578" y="83344"/>
                </a:cubicBezTo>
                <a:lnTo>
                  <a:pt x="59531" y="83344"/>
                </a:lnTo>
                <a:lnTo>
                  <a:pt x="59531" y="67469"/>
                </a:lnTo>
                <a:lnTo>
                  <a:pt x="53578" y="67469"/>
                </a:lnTo>
                <a:cubicBezTo>
                  <a:pt x="50279" y="67469"/>
                  <a:pt x="47625" y="64815"/>
                  <a:pt x="47625" y="61516"/>
                </a:cubicBezTo>
                <a:cubicBezTo>
                  <a:pt x="47625" y="58217"/>
                  <a:pt x="50279" y="55563"/>
                  <a:pt x="53578" y="55563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17537" y="5911852"/>
            <a:ext cx="537368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Intuition:</a:t>
            </a:r>
            <a:r>
              <a:rPr lang="en-US" sz="1000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Humans are tall, cars are wide, signs are square. Different shapes need different anchors!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159500" y="1031875"/>
            <a:ext cx="5715000" cy="2524125"/>
          </a:xfrm>
          <a:custGeom>
            <a:avLst/>
            <a:gdLst/>
            <a:ahLst/>
            <a:cxnLst/>
            <a:rect l="l" t="t" r="r" b="b"/>
            <a:pathLst>
              <a:path w="5715000" h="2524125">
                <a:moveTo>
                  <a:pt x="31750" y="0"/>
                </a:moveTo>
                <a:lnTo>
                  <a:pt x="5683250" y="0"/>
                </a:lnTo>
                <a:cubicBezTo>
                  <a:pt x="5700785" y="0"/>
                  <a:pt x="5715000" y="14215"/>
                  <a:pt x="5715000" y="31750"/>
                </a:cubicBezTo>
                <a:lnTo>
                  <a:pt x="5715000" y="2428865"/>
                </a:lnTo>
                <a:cubicBezTo>
                  <a:pt x="5715000" y="2481475"/>
                  <a:pt x="5672350" y="2524125"/>
                  <a:pt x="5619740" y="2524125"/>
                </a:cubicBezTo>
                <a:lnTo>
                  <a:pt x="95260" y="2524125"/>
                </a:lnTo>
                <a:cubicBezTo>
                  <a:pt x="42650" y="2524125"/>
                  <a:pt x="0" y="2481475"/>
                  <a:pt x="0" y="242886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63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6159500" y="1031875"/>
            <a:ext cx="5715000" cy="31750"/>
          </a:xfrm>
          <a:custGeom>
            <a:avLst/>
            <a:gdLst/>
            <a:ahLst/>
            <a:cxnLst/>
            <a:rect l="l" t="t" r="r" b="b"/>
            <a:pathLst>
              <a:path w="5715000" h="31750">
                <a:moveTo>
                  <a:pt x="31750" y="0"/>
                </a:moveTo>
                <a:lnTo>
                  <a:pt x="5683250" y="0"/>
                </a:lnTo>
                <a:cubicBezTo>
                  <a:pt x="5700773" y="0"/>
                  <a:pt x="5715000" y="14227"/>
                  <a:pt x="5715000" y="31750"/>
                </a:cubicBezTo>
                <a:lnTo>
                  <a:pt x="5715000" y="31750"/>
                </a:lnTo>
                <a:lnTo>
                  <a:pt x="0" y="31750"/>
                </a:ln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6286500" y="1200152"/>
            <a:ext cx="198438" cy="158750"/>
          </a:xfrm>
          <a:custGeom>
            <a:avLst/>
            <a:gdLst/>
            <a:ahLst/>
            <a:cxnLst/>
            <a:rect l="l" t="t" r="r" b="b"/>
            <a:pathLst>
              <a:path w="198438" h="158750">
                <a:moveTo>
                  <a:pt x="128953" y="65267"/>
                </a:moveTo>
                <a:cubicBezTo>
                  <a:pt x="132736" y="64244"/>
                  <a:pt x="136705" y="66042"/>
                  <a:pt x="138410" y="69546"/>
                </a:cubicBezTo>
                <a:lnTo>
                  <a:pt x="144177" y="81204"/>
                </a:lnTo>
                <a:cubicBezTo>
                  <a:pt x="147371" y="81638"/>
                  <a:pt x="150502" y="82507"/>
                  <a:pt x="153448" y="83716"/>
                </a:cubicBezTo>
                <a:lnTo>
                  <a:pt x="164300" y="76491"/>
                </a:lnTo>
                <a:cubicBezTo>
                  <a:pt x="167556" y="74321"/>
                  <a:pt x="171865" y="74755"/>
                  <a:pt x="174625" y="77515"/>
                </a:cubicBezTo>
                <a:lnTo>
                  <a:pt x="180578" y="83468"/>
                </a:lnTo>
                <a:cubicBezTo>
                  <a:pt x="183338" y="86227"/>
                  <a:pt x="183772" y="90568"/>
                  <a:pt x="181601" y="93793"/>
                </a:cubicBezTo>
                <a:lnTo>
                  <a:pt x="174377" y="104614"/>
                </a:lnTo>
                <a:cubicBezTo>
                  <a:pt x="174966" y="106071"/>
                  <a:pt x="175493" y="107590"/>
                  <a:pt x="175927" y="109172"/>
                </a:cubicBezTo>
                <a:cubicBezTo>
                  <a:pt x="176361" y="110753"/>
                  <a:pt x="176640" y="112303"/>
                  <a:pt x="176857" y="113885"/>
                </a:cubicBezTo>
                <a:lnTo>
                  <a:pt x="188547" y="119652"/>
                </a:lnTo>
                <a:cubicBezTo>
                  <a:pt x="192050" y="121388"/>
                  <a:pt x="193849" y="125357"/>
                  <a:pt x="192825" y="129108"/>
                </a:cubicBezTo>
                <a:lnTo>
                  <a:pt x="190655" y="137232"/>
                </a:lnTo>
                <a:cubicBezTo>
                  <a:pt x="189632" y="140984"/>
                  <a:pt x="186128" y="143526"/>
                  <a:pt x="182221" y="143278"/>
                </a:cubicBezTo>
                <a:lnTo>
                  <a:pt x="169199" y="142441"/>
                </a:lnTo>
                <a:cubicBezTo>
                  <a:pt x="167246" y="144952"/>
                  <a:pt x="164982" y="147278"/>
                  <a:pt x="162409" y="149262"/>
                </a:cubicBezTo>
                <a:lnTo>
                  <a:pt x="163246" y="162254"/>
                </a:lnTo>
                <a:cubicBezTo>
                  <a:pt x="163494" y="166160"/>
                  <a:pt x="160951" y="169695"/>
                  <a:pt x="157200" y="170687"/>
                </a:cubicBezTo>
                <a:lnTo>
                  <a:pt x="149076" y="172858"/>
                </a:lnTo>
                <a:cubicBezTo>
                  <a:pt x="145293" y="173881"/>
                  <a:pt x="141356" y="172083"/>
                  <a:pt x="139619" y="168579"/>
                </a:cubicBezTo>
                <a:lnTo>
                  <a:pt x="133852" y="156921"/>
                </a:lnTo>
                <a:cubicBezTo>
                  <a:pt x="130659" y="156487"/>
                  <a:pt x="127527" y="155618"/>
                  <a:pt x="124582" y="154409"/>
                </a:cubicBezTo>
                <a:lnTo>
                  <a:pt x="113729" y="161634"/>
                </a:lnTo>
                <a:cubicBezTo>
                  <a:pt x="110474" y="163804"/>
                  <a:pt x="106164" y="163370"/>
                  <a:pt x="103405" y="160610"/>
                </a:cubicBezTo>
                <a:lnTo>
                  <a:pt x="97451" y="154657"/>
                </a:lnTo>
                <a:cubicBezTo>
                  <a:pt x="94692" y="151898"/>
                  <a:pt x="94258" y="147588"/>
                  <a:pt x="96428" y="144332"/>
                </a:cubicBezTo>
                <a:lnTo>
                  <a:pt x="103653" y="133480"/>
                </a:lnTo>
                <a:cubicBezTo>
                  <a:pt x="103063" y="132023"/>
                  <a:pt x="102536" y="130504"/>
                  <a:pt x="102102" y="128922"/>
                </a:cubicBezTo>
                <a:cubicBezTo>
                  <a:pt x="101668" y="127341"/>
                  <a:pt x="101389" y="125760"/>
                  <a:pt x="101172" y="124209"/>
                </a:cubicBezTo>
                <a:lnTo>
                  <a:pt x="89483" y="118442"/>
                </a:lnTo>
                <a:cubicBezTo>
                  <a:pt x="85979" y="116706"/>
                  <a:pt x="84212" y="112737"/>
                  <a:pt x="85204" y="108986"/>
                </a:cubicBezTo>
                <a:lnTo>
                  <a:pt x="87375" y="100862"/>
                </a:lnTo>
                <a:cubicBezTo>
                  <a:pt x="88398" y="97110"/>
                  <a:pt x="91901" y="94568"/>
                  <a:pt x="95808" y="94816"/>
                </a:cubicBezTo>
                <a:lnTo>
                  <a:pt x="108800" y="95653"/>
                </a:lnTo>
                <a:cubicBezTo>
                  <a:pt x="110753" y="93142"/>
                  <a:pt x="113016" y="90816"/>
                  <a:pt x="115590" y="88832"/>
                </a:cubicBezTo>
                <a:lnTo>
                  <a:pt x="114753" y="75871"/>
                </a:lnTo>
                <a:cubicBezTo>
                  <a:pt x="114505" y="71965"/>
                  <a:pt x="117047" y="68430"/>
                  <a:pt x="120799" y="67438"/>
                </a:cubicBezTo>
                <a:lnTo>
                  <a:pt x="128922" y="65267"/>
                </a:lnTo>
                <a:close/>
                <a:moveTo>
                  <a:pt x="139030" y="105420"/>
                </a:moveTo>
                <a:cubicBezTo>
                  <a:pt x="131501" y="105428"/>
                  <a:pt x="125395" y="111548"/>
                  <a:pt x="125403" y="119078"/>
                </a:cubicBezTo>
                <a:cubicBezTo>
                  <a:pt x="125412" y="126608"/>
                  <a:pt x="131532" y="132714"/>
                  <a:pt x="139061" y="132705"/>
                </a:cubicBezTo>
                <a:cubicBezTo>
                  <a:pt x="146591" y="132697"/>
                  <a:pt x="152697" y="126577"/>
                  <a:pt x="152688" y="119047"/>
                </a:cubicBezTo>
                <a:cubicBezTo>
                  <a:pt x="152680" y="111517"/>
                  <a:pt x="146560" y="105411"/>
                  <a:pt x="139030" y="105420"/>
                </a:cubicBezTo>
                <a:close/>
                <a:moveTo>
                  <a:pt x="69732" y="-14108"/>
                </a:moveTo>
                <a:lnTo>
                  <a:pt x="77856" y="-11937"/>
                </a:lnTo>
                <a:cubicBezTo>
                  <a:pt x="81607" y="-10914"/>
                  <a:pt x="84150" y="-7379"/>
                  <a:pt x="83902" y="-3504"/>
                </a:cubicBezTo>
                <a:lnTo>
                  <a:pt x="83065" y="9457"/>
                </a:lnTo>
                <a:cubicBezTo>
                  <a:pt x="85638" y="11441"/>
                  <a:pt x="87902" y="13736"/>
                  <a:pt x="89855" y="16278"/>
                </a:cubicBezTo>
                <a:lnTo>
                  <a:pt x="102877" y="15441"/>
                </a:lnTo>
                <a:cubicBezTo>
                  <a:pt x="106753" y="15193"/>
                  <a:pt x="110288" y="17735"/>
                  <a:pt x="111311" y="21487"/>
                </a:cubicBezTo>
                <a:lnTo>
                  <a:pt x="113481" y="29611"/>
                </a:lnTo>
                <a:cubicBezTo>
                  <a:pt x="114474" y="33362"/>
                  <a:pt x="112706" y="37331"/>
                  <a:pt x="109203" y="39067"/>
                </a:cubicBezTo>
                <a:lnTo>
                  <a:pt x="97513" y="44834"/>
                </a:lnTo>
                <a:cubicBezTo>
                  <a:pt x="97296" y="46416"/>
                  <a:pt x="96986" y="47997"/>
                  <a:pt x="96583" y="49547"/>
                </a:cubicBezTo>
                <a:cubicBezTo>
                  <a:pt x="96180" y="51098"/>
                  <a:pt x="95622" y="52648"/>
                  <a:pt x="95033" y="54105"/>
                </a:cubicBezTo>
                <a:lnTo>
                  <a:pt x="102257" y="64957"/>
                </a:lnTo>
                <a:cubicBezTo>
                  <a:pt x="104428" y="68213"/>
                  <a:pt x="103994" y="72523"/>
                  <a:pt x="101234" y="75282"/>
                </a:cubicBezTo>
                <a:lnTo>
                  <a:pt x="95281" y="81235"/>
                </a:lnTo>
                <a:cubicBezTo>
                  <a:pt x="92521" y="83995"/>
                  <a:pt x="88212" y="84429"/>
                  <a:pt x="84956" y="82259"/>
                </a:cubicBezTo>
                <a:lnTo>
                  <a:pt x="74104" y="75034"/>
                </a:lnTo>
                <a:cubicBezTo>
                  <a:pt x="71158" y="76243"/>
                  <a:pt x="68027" y="77112"/>
                  <a:pt x="64833" y="77546"/>
                </a:cubicBezTo>
                <a:lnTo>
                  <a:pt x="59066" y="89204"/>
                </a:lnTo>
                <a:cubicBezTo>
                  <a:pt x="57330" y="92708"/>
                  <a:pt x="53361" y="94475"/>
                  <a:pt x="49609" y="93483"/>
                </a:cubicBezTo>
                <a:lnTo>
                  <a:pt x="41486" y="91312"/>
                </a:lnTo>
                <a:cubicBezTo>
                  <a:pt x="37703" y="90289"/>
                  <a:pt x="35192" y="86754"/>
                  <a:pt x="35440" y="82879"/>
                </a:cubicBezTo>
                <a:lnTo>
                  <a:pt x="36277" y="69887"/>
                </a:lnTo>
                <a:cubicBezTo>
                  <a:pt x="33703" y="67903"/>
                  <a:pt x="31440" y="65608"/>
                  <a:pt x="29487" y="63066"/>
                </a:cubicBezTo>
                <a:lnTo>
                  <a:pt x="16464" y="63903"/>
                </a:lnTo>
                <a:cubicBezTo>
                  <a:pt x="12588" y="64151"/>
                  <a:pt x="9054" y="61609"/>
                  <a:pt x="8031" y="57857"/>
                </a:cubicBezTo>
                <a:lnTo>
                  <a:pt x="5860" y="49733"/>
                </a:lnTo>
                <a:cubicBezTo>
                  <a:pt x="4868" y="45982"/>
                  <a:pt x="6635" y="42013"/>
                  <a:pt x="10139" y="40277"/>
                </a:cubicBezTo>
                <a:lnTo>
                  <a:pt x="21828" y="34510"/>
                </a:lnTo>
                <a:cubicBezTo>
                  <a:pt x="22045" y="32928"/>
                  <a:pt x="22355" y="31378"/>
                  <a:pt x="22758" y="29797"/>
                </a:cubicBezTo>
                <a:cubicBezTo>
                  <a:pt x="23192" y="28215"/>
                  <a:pt x="23688" y="26696"/>
                  <a:pt x="24309" y="25239"/>
                </a:cubicBezTo>
                <a:lnTo>
                  <a:pt x="17084" y="14418"/>
                </a:lnTo>
                <a:cubicBezTo>
                  <a:pt x="14914" y="11162"/>
                  <a:pt x="15348" y="6852"/>
                  <a:pt x="18107" y="4093"/>
                </a:cubicBezTo>
                <a:lnTo>
                  <a:pt x="24061" y="-1860"/>
                </a:lnTo>
                <a:cubicBezTo>
                  <a:pt x="26820" y="-4620"/>
                  <a:pt x="31130" y="-5054"/>
                  <a:pt x="34385" y="-2884"/>
                </a:cubicBezTo>
                <a:lnTo>
                  <a:pt x="45238" y="4341"/>
                </a:lnTo>
                <a:cubicBezTo>
                  <a:pt x="48183" y="3132"/>
                  <a:pt x="51315" y="2263"/>
                  <a:pt x="54508" y="1829"/>
                </a:cubicBezTo>
                <a:lnTo>
                  <a:pt x="60275" y="-9829"/>
                </a:lnTo>
                <a:cubicBezTo>
                  <a:pt x="62012" y="-13333"/>
                  <a:pt x="65949" y="-15100"/>
                  <a:pt x="69732" y="-14108"/>
                </a:cubicBezTo>
                <a:close/>
                <a:moveTo>
                  <a:pt x="59655" y="26045"/>
                </a:moveTo>
                <a:cubicBezTo>
                  <a:pt x="52126" y="26045"/>
                  <a:pt x="46013" y="32158"/>
                  <a:pt x="46013" y="39688"/>
                </a:cubicBezTo>
                <a:cubicBezTo>
                  <a:pt x="46013" y="47217"/>
                  <a:pt x="52126" y="53330"/>
                  <a:pt x="59655" y="53330"/>
                </a:cubicBezTo>
                <a:cubicBezTo>
                  <a:pt x="67185" y="53330"/>
                  <a:pt x="73298" y="47217"/>
                  <a:pt x="73298" y="39688"/>
                </a:cubicBezTo>
                <a:cubicBezTo>
                  <a:pt x="73298" y="32158"/>
                  <a:pt x="67185" y="26045"/>
                  <a:pt x="59655" y="26045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524625" y="1174750"/>
            <a:ext cx="5302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Anchor Boxes Work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286500" y="1492250"/>
            <a:ext cx="5461000" cy="603250"/>
          </a:xfrm>
          <a:custGeom>
            <a:avLst/>
            <a:gdLst/>
            <a:ahLst/>
            <a:cxnLst/>
            <a:rect l="l" t="t" r="r" b="b"/>
            <a:pathLst>
              <a:path w="5461000" h="603250">
                <a:moveTo>
                  <a:pt x="63498" y="0"/>
                </a:moveTo>
                <a:lnTo>
                  <a:pt x="5397502" y="0"/>
                </a:lnTo>
                <a:cubicBezTo>
                  <a:pt x="5432571" y="0"/>
                  <a:pt x="5461000" y="28429"/>
                  <a:pt x="5461000" y="63498"/>
                </a:cubicBezTo>
                <a:lnTo>
                  <a:pt x="5461000" y="539752"/>
                </a:lnTo>
                <a:cubicBezTo>
                  <a:pt x="5461000" y="574821"/>
                  <a:pt x="5432571" y="603250"/>
                  <a:pt x="5397502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381750" y="1587500"/>
            <a:ext cx="533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D5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 Pre-defined Shapes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381750" y="1809750"/>
            <a:ext cx="533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Select 5-10 common aspect ratios (e.g., using K-means clustering on dataset)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286500" y="2159000"/>
            <a:ext cx="5461000" cy="603250"/>
          </a:xfrm>
          <a:custGeom>
            <a:avLst/>
            <a:gdLst/>
            <a:ahLst/>
            <a:cxnLst/>
            <a:rect l="l" t="t" r="r" b="b"/>
            <a:pathLst>
              <a:path w="5461000" h="603250">
                <a:moveTo>
                  <a:pt x="63498" y="0"/>
                </a:moveTo>
                <a:lnTo>
                  <a:pt x="5397502" y="0"/>
                </a:lnTo>
                <a:cubicBezTo>
                  <a:pt x="5432571" y="0"/>
                  <a:pt x="5461000" y="28429"/>
                  <a:pt x="5461000" y="63498"/>
                </a:cubicBezTo>
                <a:lnTo>
                  <a:pt x="5461000" y="539752"/>
                </a:lnTo>
                <a:cubicBezTo>
                  <a:pt x="5461000" y="574821"/>
                  <a:pt x="5432571" y="603250"/>
                  <a:pt x="5397502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381750" y="2254250"/>
            <a:ext cx="533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D5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 Assignment Rule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381750" y="2476500"/>
            <a:ext cx="533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Object assigned to grid cell + anchor box with highest IoU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286500" y="2825750"/>
            <a:ext cx="5461000" cy="603250"/>
          </a:xfrm>
          <a:custGeom>
            <a:avLst/>
            <a:gdLst/>
            <a:ahLst/>
            <a:cxnLst/>
            <a:rect l="l" t="t" r="r" b="b"/>
            <a:pathLst>
              <a:path w="5461000" h="603250">
                <a:moveTo>
                  <a:pt x="63498" y="0"/>
                </a:moveTo>
                <a:lnTo>
                  <a:pt x="5397502" y="0"/>
                </a:lnTo>
                <a:cubicBezTo>
                  <a:pt x="5432571" y="0"/>
                  <a:pt x="5461000" y="28429"/>
                  <a:pt x="5461000" y="63498"/>
                </a:cubicBezTo>
                <a:lnTo>
                  <a:pt x="5461000" y="539752"/>
                </a:lnTo>
                <a:cubicBezTo>
                  <a:pt x="5461000" y="574821"/>
                  <a:pt x="5432571" y="603250"/>
                  <a:pt x="5397502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381750" y="2921000"/>
            <a:ext cx="533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D5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 Multiple Predictions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381750" y="3143250"/>
            <a:ext cx="533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Each cell now predicts B×(5+C) values per anchor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159500" y="3667125"/>
            <a:ext cx="5715000" cy="2540000"/>
          </a:xfrm>
          <a:custGeom>
            <a:avLst/>
            <a:gdLst/>
            <a:ahLst/>
            <a:cxnLst/>
            <a:rect l="l" t="t" r="r" b="b"/>
            <a:pathLst>
              <a:path w="5715000" h="2540000">
                <a:moveTo>
                  <a:pt x="31750" y="0"/>
                </a:moveTo>
                <a:lnTo>
                  <a:pt x="5683250" y="0"/>
                </a:lnTo>
                <a:cubicBezTo>
                  <a:pt x="5700773" y="0"/>
                  <a:pt x="5715000" y="14227"/>
                  <a:pt x="5715000" y="31750"/>
                </a:cubicBezTo>
                <a:lnTo>
                  <a:pt x="5715000" y="2444750"/>
                </a:lnTo>
                <a:cubicBezTo>
                  <a:pt x="5715000" y="2497320"/>
                  <a:pt x="5672320" y="2540000"/>
                  <a:pt x="5619750" y="2540000"/>
                </a:cubicBezTo>
                <a:lnTo>
                  <a:pt x="95250" y="2540000"/>
                </a:lnTo>
                <a:cubicBezTo>
                  <a:pt x="42680" y="2540000"/>
                  <a:pt x="0" y="2497320"/>
                  <a:pt x="0" y="2444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63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6159500" y="3667125"/>
            <a:ext cx="5715000" cy="31750"/>
          </a:xfrm>
          <a:custGeom>
            <a:avLst/>
            <a:gdLst/>
            <a:ahLst/>
            <a:cxnLst/>
            <a:rect l="l" t="t" r="r" b="b"/>
            <a:pathLst>
              <a:path w="5715000" h="31750">
                <a:moveTo>
                  <a:pt x="31750" y="0"/>
                </a:moveTo>
                <a:lnTo>
                  <a:pt x="5683250" y="0"/>
                </a:lnTo>
                <a:cubicBezTo>
                  <a:pt x="5700773" y="0"/>
                  <a:pt x="5715000" y="14227"/>
                  <a:pt x="5715000" y="31750"/>
                </a:cubicBezTo>
                <a:lnTo>
                  <a:pt x="5715000" y="31750"/>
                </a:lnTo>
                <a:lnTo>
                  <a:pt x="0" y="31750"/>
                </a:ln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D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6326188" y="3835402"/>
            <a:ext cx="119063" cy="158750"/>
          </a:xfrm>
          <a:custGeom>
            <a:avLst/>
            <a:gdLst/>
            <a:ahLst/>
            <a:cxnLst/>
            <a:rect l="l" t="t" r="r" b="b"/>
            <a:pathLst>
              <a:path w="119063" h="158750">
                <a:moveTo>
                  <a:pt x="19844" y="0"/>
                </a:moveTo>
                <a:cubicBezTo>
                  <a:pt x="8899" y="0"/>
                  <a:pt x="0" y="8899"/>
                  <a:pt x="0" y="19844"/>
                </a:cubicBezTo>
                <a:lnTo>
                  <a:pt x="0" y="138906"/>
                </a:lnTo>
                <a:cubicBezTo>
                  <a:pt x="0" y="149851"/>
                  <a:pt x="8899" y="158750"/>
                  <a:pt x="19844" y="158750"/>
                </a:cubicBezTo>
                <a:lnTo>
                  <a:pt x="99219" y="158750"/>
                </a:lnTo>
                <a:cubicBezTo>
                  <a:pt x="110164" y="158750"/>
                  <a:pt x="119062" y="149851"/>
                  <a:pt x="119062" y="138906"/>
                </a:cubicBezTo>
                <a:lnTo>
                  <a:pt x="119062" y="19844"/>
                </a:lnTo>
                <a:cubicBezTo>
                  <a:pt x="119062" y="8899"/>
                  <a:pt x="110164" y="0"/>
                  <a:pt x="99219" y="0"/>
                </a:cubicBezTo>
                <a:lnTo>
                  <a:pt x="19844" y="0"/>
                </a:lnTo>
                <a:close/>
                <a:moveTo>
                  <a:pt x="29766" y="19844"/>
                </a:moveTo>
                <a:lnTo>
                  <a:pt x="89297" y="19844"/>
                </a:lnTo>
                <a:cubicBezTo>
                  <a:pt x="94785" y="19844"/>
                  <a:pt x="99219" y="24278"/>
                  <a:pt x="99219" y="29766"/>
                </a:cubicBezTo>
                <a:lnTo>
                  <a:pt x="99219" y="39688"/>
                </a:lnTo>
                <a:cubicBezTo>
                  <a:pt x="99219" y="45176"/>
                  <a:pt x="94785" y="49609"/>
                  <a:pt x="89297" y="49609"/>
                </a:cubicBezTo>
                <a:lnTo>
                  <a:pt x="29766" y="49609"/>
                </a:lnTo>
                <a:cubicBezTo>
                  <a:pt x="24278" y="49609"/>
                  <a:pt x="19844" y="45176"/>
                  <a:pt x="19844" y="39688"/>
                </a:cubicBezTo>
                <a:lnTo>
                  <a:pt x="19844" y="29766"/>
                </a:lnTo>
                <a:cubicBezTo>
                  <a:pt x="19844" y="24278"/>
                  <a:pt x="24278" y="19844"/>
                  <a:pt x="29766" y="19844"/>
                </a:cubicBezTo>
                <a:close/>
                <a:moveTo>
                  <a:pt x="34727" y="71934"/>
                </a:moveTo>
                <a:cubicBezTo>
                  <a:pt x="34727" y="76041"/>
                  <a:pt x="31392" y="79375"/>
                  <a:pt x="27285" y="79375"/>
                </a:cubicBezTo>
                <a:cubicBezTo>
                  <a:pt x="23178" y="79375"/>
                  <a:pt x="19844" y="76041"/>
                  <a:pt x="19844" y="71934"/>
                </a:cubicBezTo>
                <a:cubicBezTo>
                  <a:pt x="19844" y="67827"/>
                  <a:pt x="23178" y="64492"/>
                  <a:pt x="27285" y="64492"/>
                </a:cubicBezTo>
                <a:cubicBezTo>
                  <a:pt x="31392" y="64492"/>
                  <a:pt x="34727" y="67827"/>
                  <a:pt x="34727" y="71934"/>
                </a:cubicBezTo>
                <a:close/>
                <a:moveTo>
                  <a:pt x="59531" y="79375"/>
                </a:moveTo>
                <a:cubicBezTo>
                  <a:pt x="55424" y="79375"/>
                  <a:pt x="52090" y="76041"/>
                  <a:pt x="52090" y="71934"/>
                </a:cubicBezTo>
                <a:cubicBezTo>
                  <a:pt x="52090" y="67827"/>
                  <a:pt x="55424" y="64492"/>
                  <a:pt x="59531" y="64492"/>
                </a:cubicBezTo>
                <a:cubicBezTo>
                  <a:pt x="63638" y="64492"/>
                  <a:pt x="66973" y="67827"/>
                  <a:pt x="66973" y="71934"/>
                </a:cubicBezTo>
                <a:cubicBezTo>
                  <a:pt x="66973" y="76041"/>
                  <a:pt x="63638" y="79375"/>
                  <a:pt x="59531" y="79375"/>
                </a:cubicBezTo>
                <a:close/>
                <a:moveTo>
                  <a:pt x="99219" y="71934"/>
                </a:moveTo>
                <a:cubicBezTo>
                  <a:pt x="99219" y="76041"/>
                  <a:pt x="95884" y="79375"/>
                  <a:pt x="91777" y="79375"/>
                </a:cubicBezTo>
                <a:cubicBezTo>
                  <a:pt x="87670" y="79375"/>
                  <a:pt x="84336" y="76041"/>
                  <a:pt x="84336" y="71934"/>
                </a:cubicBezTo>
                <a:cubicBezTo>
                  <a:pt x="84336" y="67827"/>
                  <a:pt x="87670" y="64492"/>
                  <a:pt x="91777" y="64492"/>
                </a:cubicBezTo>
                <a:cubicBezTo>
                  <a:pt x="95884" y="64492"/>
                  <a:pt x="99219" y="67827"/>
                  <a:pt x="99219" y="71934"/>
                </a:cubicBezTo>
                <a:close/>
                <a:moveTo>
                  <a:pt x="27285" y="109141"/>
                </a:moveTo>
                <a:cubicBezTo>
                  <a:pt x="23178" y="109141"/>
                  <a:pt x="19844" y="105806"/>
                  <a:pt x="19844" y="101699"/>
                </a:cubicBezTo>
                <a:cubicBezTo>
                  <a:pt x="19844" y="97592"/>
                  <a:pt x="23178" y="94258"/>
                  <a:pt x="27285" y="94258"/>
                </a:cubicBezTo>
                <a:cubicBezTo>
                  <a:pt x="31392" y="94258"/>
                  <a:pt x="34727" y="97592"/>
                  <a:pt x="34727" y="101699"/>
                </a:cubicBezTo>
                <a:cubicBezTo>
                  <a:pt x="34727" y="105806"/>
                  <a:pt x="31392" y="109141"/>
                  <a:pt x="27285" y="109141"/>
                </a:cubicBezTo>
                <a:close/>
                <a:moveTo>
                  <a:pt x="66973" y="101699"/>
                </a:moveTo>
                <a:cubicBezTo>
                  <a:pt x="66973" y="105806"/>
                  <a:pt x="63638" y="109141"/>
                  <a:pt x="59531" y="109141"/>
                </a:cubicBezTo>
                <a:cubicBezTo>
                  <a:pt x="55424" y="109141"/>
                  <a:pt x="52090" y="105806"/>
                  <a:pt x="52090" y="101699"/>
                </a:cubicBezTo>
                <a:cubicBezTo>
                  <a:pt x="52090" y="97592"/>
                  <a:pt x="55424" y="94258"/>
                  <a:pt x="59531" y="94258"/>
                </a:cubicBezTo>
                <a:cubicBezTo>
                  <a:pt x="63638" y="94258"/>
                  <a:pt x="66973" y="97592"/>
                  <a:pt x="66973" y="101699"/>
                </a:cubicBezTo>
                <a:close/>
                <a:moveTo>
                  <a:pt x="91777" y="109141"/>
                </a:moveTo>
                <a:cubicBezTo>
                  <a:pt x="87670" y="109141"/>
                  <a:pt x="84336" y="105806"/>
                  <a:pt x="84336" y="101699"/>
                </a:cubicBezTo>
                <a:cubicBezTo>
                  <a:pt x="84336" y="97592"/>
                  <a:pt x="87670" y="94258"/>
                  <a:pt x="91777" y="94258"/>
                </a:cubicBezTo>
                <a:cubicBezTo>
                  <a:pt x="95884" y="94258"/>
                  <a:pt x="99219" y="97592"/>
                  <a:pt x="99219" y="101699"/>
                </a:cubicBezTo>
                <a:cubicBezTo>
                  <a:pt x="99219" y="105806"/>
                  <a:pt x="95884" y="109141"/>
                  <a:pt x="91777" y="109141"/>
                </a:cubicBezTo>
                <a:close/>
                <a:moveTo>
                  <a:pt x="19844" y="131465"/>
                </a:moveTo>
                <a:cubicBezTo>
                  <a:pt x="19844" y="127341"/>
                  <a:pt x="23161" y="124023"/>
                  <a:pt x="27285" y="124023"/>
                </a:cubicBezTo>
                <a:lnTo>
                  <a:pt x="62012" y="124023"/>
                </a:lnTo>
                <a:cubicBezTo>
                  <a:pt x="66135" y="124023"/>
                  <a:pt x="69453" y="127341"/>
                  <a:pt x="69453" y="131465"/>
                </a:cubicBezTo>
                <a:cubicBezTo>
                  <a:pt x="69453" y="135589"/>
                  <a:pt x="66135" y="138906"/>
                  <a:pt x="62012" y="138906"/>
                </a:cubicBezTo>
                <a:lnTo>
                  <a:pt x="27285" y="138906"/>
                </a:lnTo>
                <a:cubicBezTo>
                  <a:pt x="23161" y="138906"/>
                  <a:pt x="19844" y="135589"/>
                  <a:pt x="19844" y="131465"/>
                </a:cubicBezTo>
                <a:close/>
                <a:moveTo>
                  <a:pt x="91777" y="124023"/>
                </a:moveTo>
                <a:cubicBezTo>
                  <a:pt x="95901" y="124023"/>
                  <a:pt x="99219" y="127341"/>
                  <a:pt x="99219" y="131465"/>
                </a:cubicBezTo>
                <a:cubicBezTo>
                  <a:pt x="99219" y="135589"/>
                  <a:pt x="95901" y="138906"/>
                  <a:pt x="91777" y="138906"/>
                </a:cubicBezTo>
                <a:cubicBezTo>
                  <a:pt x="87654" y="138906"/>
                  <a:pt x="84336" y="135589"/>
                  <a:pt x="84336" y="131465"/>
                </a:cubicBezTo>
                <a:cubicBezTo>
                  <a:pt x="84336" y="127341"/>
                  <a:pt x="87654" y="124023"/>
                  <a:pt x="91777" y="124023"/>
                </a:cubicBezTo>
                <a:close/>
              </a:path>
            </a:pathLst>
          </a:custGeom>
          <a:solidFill>
            <a:srgbClr val="FFD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6524625" y="3810000"/>
            <a:ext cx="5302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D5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Updated Output Shape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286500" y="4127500"/>
            <a:ext cx="5461000" cy="1952625"/>
          </a:xfrm>
          <a:custGeom>
            <a:avLst/>
            <a:gdLst/>
            <a:ahLst/>
            <a:cxnLst/>
            <a:rect l="l" t="t" r="r" b="b"/>
            <a:pathLst>
              <a:path w="5461000" h="1952625">
                <a:moveTo>
                  <a:pt x="63499" y="0"/>
                </a:moveTo>
                <a:lnTo>
                  <a:pt x="5397501" y="0"/>
                </a:lnTo>
                <a:cubicBezTo>
                  <a:pt x="5432570" y="0"/>
                  <a:pt x="5461000" y="28430"/>
                  <a:pt x="5461000" y="63499"/>
                </a:cubicBezTo>
                <a:lnTo>
                  <a:pt x="5461000" y="1889126"/>
                </a:lnTo>
                <a:cubicBezTo>
                  <a:pt x="5461000" y="1924195"/>
                  <a:pt x="5432570" y="1952625"/>
                  <a:pt x="5397501" y="1952625"/>
                </a:cubicBezTo>
                <a:lnTo>
                  <a:pt x="63499" y="1952625"/>
                </a:lnTo>
                <a:cubicBezTo>
                  <a:pt x="28430" y="1952625"/>
                  <a:pt x="0" y="1924195"/>
                  <a:pt x="0" y="1889126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6365875" y="4254500"/>
            <a:ext cx="53022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 × S × A × (5 + C)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413500" y="4575078"/>
            <a:ext cx="5207000" cy="6350"/>
          </a:xfrm>
          <a:custGeom>
            <a:avLst/>
            <a:gdLst/>
            <a:ahLst/>
            <a:cxnLst/>
            <a:rect l="l" t="t" r="r" b="b"/>
            <a:pathLst>
              <a:path w="5207000" h="6350">
                <a:moveTo>
                  <a:pt x="0" y="0"/>
                </a:moveTo>
                <a:lnTo>
                  <a:pt x="5207000" y="0"/>
                </a:lnTo>
                <a:lnTo>
                  <a:pt x="5207000" y="6350"/>
                </a:lnTo>
                <a:lnTo>
                  <a:pt x="0" y="6350"/>
                </a:lnTo>
                <a:lnTo>
                  <a:pt x="0" y="0"/>
                </a:lnTo>
                <a:close/>
              </a:path>
            </a:pathLst>
          </a:custGeom>
          <a:solidFill>
            <a:srgbClr val="7890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6413500" y="4641752"/>
            <a:ext cx="527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</a:t>
            </a:r>
            <a:r>
              <a:rPr lang="en-US" sz="1000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Number of anchor boxes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6413500" y="4864002"/>
            <a:ext cx="527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r>
              <a:rPr lang="en-US" sz="1000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[Pc, bx, by, bw, bh]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6413500" y="5086252"/>
            <a:ext cx="527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</a:t>
            </a:r>
            <a:r>
              <a:rPr lang="en-US" sz="1000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Number of classes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6416675" y="5375177"/>
            <a:ext cx="5197475" cy="577850"/>
          </a:xfrm>
          <a:custGeom>
            <a:avLst/>
            <a:gdLst/>
            <a:ahLst/>
            <a:cxnLst/>
            <a:rect l="l" t="t" r="r" b="b"/>
            <a:pathLst>
              <a:path w="5197475" h="577850">
                <a:moveTo>
                  <a:pt x="31753" y="0"/>
                </a:moveTo>
                <a:lnTo>
                  <a:pt x="5165722" y="0"/>
                </a:lnTo>
                <a:cubicBezTo>
                  <a:pt x="5183247" y="0"/>
                  <a:pt x="5197475" y="14228"/>
                  <a:pt x="5197475" y="31753"/>
                </a:cubicBezTo>
                <a:lnTo>
                  <a:pt x="5197475" y="546097"/>
                </a:lnTo>
                <a:cubicBezTo>
                  <a:pt x="5197475" y="563622"/>
                  <a:pt x="5183247" y="577850"/>
                  <a:pt x="5165722" y="577850"/>
                </a:cubicBezTo>
                <a:lnTo>
                  <a:pt x="31753" y="577850"/>
                </a:lnTo>
                <a:cubicBezTo>
                  <a:pt x="14228" y="577850"/>
                  <a:pt x="0" y="563622"/>
                  <a:pt x="0" y="546097"/>
                </a:cubicBezTo>
                <a:lnTo>
                  <a:pt x="0" y="31753"/>
                </a:lnTo>
                <a:cubicBezTo>
                  <a:pt x="0" y="14228"/>
                  <a:pt x="14228" y="0"/>
                  <a:pt x="31753" y="0"/>
                </a:cubicBezTo>
                <a:close/>
              </a:path>
            </a:pathLst>
          </a:custGeom>
          <a:solidFill>
            <a:srgbClr val="4DB6AC">
              <a:alpha val="10196"/>
            </a:srgbClr>
          </a:solidFill>
          <a:ln w="10160">
            <a:solidFill>
              <a:srgbClr val="4DB6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6483350" y="5441850"/>
            <a:ext cx="5127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D5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Example:</a:t>
            </a:r>
            <a:r>
              <a:rPr lang="en-US" sz="1000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7×7 grid, 2 anchors, 3 classes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6483350" y="5664100"/>
            <a:ext cx="51435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 × 7 × 2 × (5+3) = 784 values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6128702" y="6224538"/>
            <a:ext cx="5705475" cy="577850"/>
          </a:xfrm>
          <a:custGeom>
            <a:avLst/>
            <a:gdLst/>
            <a:ahLst/>
            <a:cxnLst/>
            <a:rect l="l" t="t" r="r" b="b"/>
            <a:pathLst>
              <a:path w="5705475" h="895350">
                <a:moveTo>
                  <a:pt x="95247" y="0"/>
                </a:moveTo>
                <a:lnTo>
                  <a:pt x="5610228" y="0"/>
                </a:lnTo>
                <a:cubicBezTo>
                  <a:pt x="5662831" y="0"/>
                  <a:pt x="5705475" y="42644"/>
                  <a:pt x="5705475" y="95247"/>
                </a:cubicBezTo>
                <a:lnTo>
                  <a:pt x="5705475" y="800103"/>
                </a:lnTo>
                <a:cubicBezTo>
                  <a:pt x="5705475" y="852706"/>
                  <a:pt x="5662831" y="895350"/>
                  <a:pt x="5610228" y="895350"/>
                </a:cubicBezTo>
                <a:lnTo>
                  <a:pt x="95247" y="895350"/>
                </a:lnTo>
                <a:cubicBezTo>
                  <a:pt x="42644" y="895350"/>
                  <a:pt x="0" y="852706"/>
                  <a:pt x="0" y="800103"/>
                </a:cubicBezTo>
                <a:lnTo>
                  <a:pt x="0" y="95247"/>
                </a:lnTo>
                <a:cubicBezTo>
                  <a:pt x="0" y="42644"/>
                  <a:pt x="42644" y="0"/>
                  <a:pt x="95247" y="0"/>
                </a:cubicBezTo>
                <a:close/>
              </a:path>
            </a:pathLst>
          </a:custGeom>
          <a:solidFill>
            <a:srgbClr val="FFD54F">
              <a:alpha val="10196"/>
            </a:srgbClr>
          </a:solidFill>
          <a:ln w="10160">
            <a:solidFill>
              <a:srgbClr val="FFD5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6453584" y="6265544"/>
            <a:ext cx="53578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FD5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6430804" y="6445250"/>
            <a:ext cx="2651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Can't detect more objects than anchors per cell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6430804" y="6624956"/>
            <a:ext cx="2532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Similar-shaped objects in same cell = conflict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50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NETWORK STRUCTURE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YOLO Architecture Explained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17500" y="1031875"/>
            <a:ext cx="3770313" cy="3771057"/>
          </a:xfrm>
          <a:custGeom>
            <a:avLst/>
            <a:gdLst/>
            <a:ahLst/>
            <a:cxnLst/>
            <a:rect l="l" t="t" r="r" b="b"/>
            <a:pathLst>
              <a:path w="3770313" h="3771057">
                <a:moveTo>
                  <a:pt x="31750" y="0"/>
                </a:moveTo>
                <a:lnTo>
                  <a:pt x="3738563" y="0"/>
                </a:lnTo>
                <a:cubicBezTo>
                  <a:pt x="3756098" y="0"/>
                  <a:pt x="3770313" y="16313"/>
                  <a:pt x="3770313" y="36435"/>
                </a:cubicBezTo>
                <a:lnTo>
                  <a:pt x="3770313" y="3661734"/>
                </a:lnTo>
                <a:cubicBezTo>
                  <a:pt x="3770313" y="3722111"/>
                  <a:pt x="3727661" y="3771057"/>
                  <a:pt x="3675048" y="3771057"/>
                </a:cubicBezTo>
                <a:lnTo>
                  <a:pt x="95265" y="3771057"/>
                </a:lnTo>
                <a:cubicBezTo>
                  <a:pt x="42651" y="3771057"/>
                  <a:pt x="0" y="3722111"/>
                  <a:pt x="0" y="3661734"/>
                </a:cubicBezTo>
                <a:lnTo>
                  <a:pt x="0" y="36435"/>
                </a:lnTo>
                <a:cubicBezTo>
                  <a:pt x="0" y="16326"/>
                  <a:pt x="14227" y="0"/>
                  <a:pt x="31750" y="0"/>
                </a:cubicBezTo>
                <a:close/>
              </a:path>
            </a:pathLst>
          </a:custGeom>
          <a:solidFill>
            <a:srgbClr val="263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17500" y="1031875"/>
            <a:ext cx="3770313" cy="31750"/>
          </a:xfrm>
          <a:custGeom>
            <a:avLst/>
            <a:gdLst/>
            <a:ahLst/>
            <a:cxnLst/>
            <a:rect l="l" t="t" r="r" b="b"/>
            <a:pathLst>
              <a:path w="3770313" h="31750">
                <a:moveTo>
                  <a:pt x="31750" y="0"/>
                </a:moveTo>
                <a:lnTo>
                  <a:pt x="3738563" y="0"/>
                </a:lnTo>
                <a:cubicBezTo>
                  <a:pt x="3756086" y="0"/>
                  <a:pt x="3770313" y="14227"/>
                  <a:pt x="3770313" y="31750"/>
                </a:cubicBezTo>
                <a:lnTo>
                  <a:pt x="3770313" y="31750"/>
                </a:lnTo>
                <a:lnTo>
                  <a:pt x="0" y="31750"/>
                </a:ln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44500" y="1174750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95252" y="0"/>
                </a:moveTo>
                <a:lnTo>
                  <a:pt x="349248" y="0"/>
                </a:lnTo>
                <a:cubicBezTo>
                  <a:pt x="401819" y="0"/>
                  <a:pt x="444500" y="42681"/>
                  <a:pt x="444500" y="95252"/>
                </a:cubicBezTo>
                <a:lnTo>
                  <a:pt x="444500" y="349248"/>
                </a:lnTo>
                <a:cubicBezTo>
                  <a:pt x="444500" y="401854"/>
                  <a:pt x="401854" y="444500"/>
                  <a:pt x="349248" y="444500"/>
                </a:cubicBezTo>
                <a:lnTo>
                  <a:pt x="95252" y="444500"/>
                </a:lnTo>
                <a:cubicBezTo>
                  <a:pt x="42681" y="444500"/>
                  <a:pt x="0" y="401819"/>
                  <a:pt x="0" y="349248"/>
                </a:cubicBezTo>
                <a:lnTo>
                  <a:pt x="0" y="95252"/>
                </a:lnTo>
                <a:cubicBezTo>
                  <a:pt x="0" y="42646"/>
                  <a:pt x="42646" y="0"/>
                  <a:pt x="95252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9672" y="1277938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89297" y="29766"/>
                </a:moveTo>
                <a:cubicBezTo>
                  <a:pt x="89297" y="21534"/>
                  <a:pt x="95948" y="14883"/>
                  <a:pt x="104180" y="14883"/>
                </a:cubicBezTo>
                <a:lnTo>
                  <a:pt x="133945" y="14883"/>
                </a:lnTo>
                <a:cubicBezTo>
                  <a:pt x="142177" y="14883"/>
                  <a:pt x="148828" y="21534"/>
                  <a:pt x="148828" y="29766"/>
                </a:cubicBezTo>
                <a:lnTo>
                  <a:pt x="148828" y="59531"/>
                </a:lnTo>
                <a:cubicBezTo>
                  <a:pt x="148828" y="67763"/>
                  <a:pt x="142177" y="74414"/>
                  <a:pt x="133945" y="74414"/>
                </a:cubicBezTo>
                <a:lnTo>
                  <a:pt x="130225" y="74414"/>
                </a:lnTo>
                <a:lnTo>
                  <a:pt x="130225" y="104180"/>
                </a:lnTo>
                <a:lnTo>
                  <a:pt x="186035" y="104180"/>
                </a:lnTo>
                <a:cubicBezTo>
                  <a:pt x="204546" y="104180"/>
                  <a:pt x="219521" y="119156"/>
                  <a:pt x="219521" y="137666"/>
                </a:cubicBezTo>
                <a:lnTo>
                  <a:pt x="219521" y="163711"/>
                </a:lnTo>
                <a:lnTo>
                  <a:pt x="223242" y="163711"/>
                </a:lnTo>
                <a:cubicBezTo>
                  <a:pt x="231474" y="163711"/>
                  <a:pt x="238125" y="170362"/>
                  <a:pt x="238125" y="178594"/>
                </a:cubicBezTo>
                <a:lnTo>
                  <a:pt x="238125" y="208359"/>
                </a:lnTo>
                <a:cubicBezTo>
                  <a:pt x="238125" y="216591"/>
                  <a:pt x="231474" y="223242"/>
                  <a:pt x="223242" y="223242"/>
                </a:cubicBezTo>
                <a:lnTo>
                  <a:pt x="193477" y="223242"/>
                </a:lnTo>
                <a:cubicBezTo>
                  <a:pt x="185245" y="223242"/>
                  <a:pt x="178594" y="216591"/>
                  <a:pt x="178594" y="208359"/>
                </a:cubicBezTo>
                <a:lnTo>
                  <a:pt x="178594" y="178594"/>
                </a:lnTo>
                <a:cubicBezTo>
                  <a:pt x="178594" y="170362"/>
                  <a:pt x="185245" y="163711"/>
                  <a:pt x="193477" y="163711"/>
                </a:cubicBezTo>
                <a:lnTo>
                  <a:pt x="197197" y="163711"/>
                </a:lnTo>
                <a:lnTo>
                  <a:pt x="197197" y="137666"/>
                </a:lnTo>
                <a:cubicBezTo>
                  <a:pt x="197197" y="131480"/>
                  <a:pt x="192221" y="126504"/>
                  <a:pt x="186035" y="126504"/>
                </a:cubicBezTo>
                <a:lnTo>
                  <a:pt x="130225" y="126504"/>
                </a:lnTo>
                <a:lnTo>
                  <a:pt x="130225" y="163711"/>
                </a:lnTo>
                <a:lnTo>
                  <a:pt x="133945" y="163711"/>
                </a:lnTo>
                <a:cubicBezTo>
                  <a:pt x="142177" y="163711"/>
                  <a:pt x="148828" y="170362"/>
                  <a:pt x="148828" y="178594"/>
                </a:cubicBezTo>
                <a:lnTo>
                  <a:pt x="148828" y="208359"/>
                </a:lnTo>
                <a:cubicBezTo>
                  <a:pt x="148828" y="216591"/>
                  <a:pt x="142177" y="223242"/>
                  <a:pt x="133945" y="223242"/>
                </a:cubicBezTo>
                <a:lnTo>
                  <a:pt x="104180" y="223242"/>
                </a:lnTo>
                <a:cubicBezTo>
                  <a:pt x="95948" y="223242"/>
                  <a:pt x="89297" y="216591"/>
                  <a:pt x="89297" y="208359"/>
                </a:cubicBezTo>
                <a:lnTo>
                  <a:pt x="89297" y="178594"/>
                </a:lnTo>
                <a:cubicBezTo>
                  <a:pt x="89297" y="170362"/>
                  <a:pt x="95948" y="163711"/>
                  <a:pt x="104180" y="163711"/>
                </a:cubicBezTo>
                <a:lnTo>
                  <a:pt x="107900" y="163711"/>
                </a:lnTo>
                <a:lnTo>
                  <a:pt x="107900" y="126504"/>
                </a:lnTo>
                <a:lnTo>
                  <a:pt x="52090" y="126504"/>
                </a:lnTo>
                <a:cubicBezTo>
                  <a:pt x="45904" y="126504"/>
                  <a:pt x="40928" y="131480"/>
                  <a:pt x="40928" y="137666"/>
                </a:cubicBezTo>
                <a:lnTo>
                  <a:pt x="40928" y="163711"/>
                </a:lnTo>
                <a:lnTo>
                  <a:pt x="44648" y="163711"/>
                </a:lnTo>
                <a:cubicBezTo>
                  <a:pt x="52880" y="163711"/>
                  <a:pt x="59531" y="170362"/>
                  <a:pt x="59531" y="178594"/>
                </a:cubicBezTo>
                <a:lnTo>
                  <a:pt x="59531" y="208359"/>
                </a:lnTo>
                <a:cubicBezTo>
                  <a:pt x="59531" y="216591"/>
                  <a:pt x="52880" y="223242"/>
                  <a:pt x="44648" y="223242"/>
                </a:cubicBezTo>
                <a:lnTo>
                  <a:pt x="14883" y="223242"/>
                </a:lnTo>
                <a:cubicBezTo>
                  <a:pt x="6651" y="223242"/>
                  <a:pt x="0" y="216591"/>
                  <a:pt x="0" y="208359"/>
                </a:cubicBezTo>
                <a:lnTo>
                  <a:pt x="0" y="178594"/>
                </a:lnTo>
                <a:cubicBezTo>
                  <a:pt x="0" y="170362"/>
                  <a:pt x="6651" y="163711"/>
                  <a:pt x="14883" y="163711"/>
                </a:cubicBezTo>
                <a:lnTo>
                  <a:pt x="18604" y="163711"/>
                </a:lnTo>
                <a:lnTo>
                  <a:pt x="18604" y="137666"/>
                </a:lnTo>
                <a:cubicBezTo>
                  <a:pt x="18604" y="119156"/>
                  <a:pt x="33579" y="104180"/>
                  <a:pt x="52090" y="104180"/>
                </a:cubicBezTo>
                <a:lnTo>
                  <a:pt x="107900" y="104180"/>
                </a:lnTo>
                <a:lnTo>
                  <a:pt x="107900" y="74414"/>
                </a:lnTo>
                <a:lnTo>
                  <a:pt x="104180" y="74414"/>
                </a:lnTo>
                <a:cubicBezTo>
                  <a:pt x="95948" y="74414"/>
                  <a:pt x="89297" y="67763"/>
                  <a:pt x="89297" y="59531"/>
                </a:cubicBezTo>
                <a:lnTo>
                  <a:pt x="89297" y="29766"/>
                </a:ln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84250" y="1270000"/>
            <a:ext cx="92868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Backbone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44500" y="1714500"/>
            <a:ext cx="3579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D5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Feature Extraction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44500" y="1968500"/>
            <a:ext cx="3579813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CNN that extracts hierarchical features from the input image.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44500" y="2270125"/>
            <a:ext cx="3516313" cy="1047750"/>
          </a:xfrm>
          <a:custGeom>
            <a:avLst/>
            <a:gdLst/>
            <a:ahLst/>
            <a:cxnLst/>
            <a:rect l="l" t="t" r="r" b="b"/>
            <a:pathLst>
              <a:path w="3516313" h="1047750">
                <a:moveTo>
                  <a:pt x="63504" y="0"/>
                </a:moveTo>
                <a:lnTo>
                  <a:pt x="3452808" y="0"/>
                </a:lnTo>
                <a:cubicBezTo>
                  <a:pt x="3487881" y="0"/>
                  <a:pt x="3516313" y="28432"/>
                  <a:pt x="3516313" y="63504"/>
                </a:cubicBezTo>
                <a:lnTo>
                  <a:pt x="3516313" y="984246"/>
                </a:lnTo>
                <a:cubicBezTo>
                  <a:pt x="3516313" y="1019318"/>
                  <a:pt x="3487881" y="1047750"/>
                  <a:pt x="3452808" y="1047750"/>
                </a:cubicBezTo>
                <a:lnTo>
                  <a:pt x="63504" y="1047750"/>
                </a:lnTo>
                <a:cubicBezTo>
                  <a:pt x="28432" y="1047750"/>
                  <a:pt x="0" y="1019318"/>
                  <a:pt x="0" y="984246"/>
                </a:cubicBezTo>
                <a:lnTo>
                  <a:pt x="0" y="63504"/>
                </a:lnTo>
                <a:cubicBezTo>
                  <a:pt x="0" y="28432"/>
                  <a:pt x="28432" y="0"/>
                  <a:pt x="63504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55625" y="2390777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33189" y="9004"/>
                </a:moveTo>
                <a:cubicBezTo>
                  <a:pt x="35892" y="10889"/>
                  <a:pt x="36537" y="14610"/>
                  <a:pt x="34652" y="17289"/>
                </a:cubicBezTo>
                <a:lnTo>
                  <a:pt x="20762" y="37133"/>
                </a:lnTo>
                <a:cubicBezTo>
                  <a:pt x="19745" y="38571"/>
                  <a:pt x="18157" y="39489"/>
                  <a:pt x="16396" y="39638"/>
                </a:cubicBezTo>
                <a:cubicBezTo>
                  <a:pt x="14635" y="39787"/>
                  <a:pt x="12898" y="39191"/>
                  <a:pt x="11658" y="37951"/>
                </a:cubicBezTo>
                <a:lnTo>
                  <a:pt x="1736" y="28029"/>
                </a:lnTo>
                <a:cubicBezTo>
                  <a:pt x="-571" y="25698"/>
                  <a:pt x="-571" y="21927"/>
                  <a:pt x="1736" y="19596"/>
                </a:cubicBezTo>
                <a:cubicBezTo>
                  <a:pt x="4043" y="17264"/>
                  <a:pt x="7838" y="17289"/>
                  <a:pt x="10170" y="19596"/>
                </a:cubicBezTo>
                <a:lnTo>
                  <a:pt x="15081" y="24507"/>
                </a:lnTo>
                <a:lnTo>
                  <a:pt x="24904" y="10468"/>
                </a:lnTo>
                <a:cubicBezTo>
                  <a:pt x="26789" y="7764"/>
                  <a:pt x="30510" y="7119"/>
                  <a:pt x="33189" y="9004"/>
                </a:cubicBezTo>
                <a:close/>
                <a:moveTo>
                  <a:pt x="33189" y="48692"/>
                </a:moveTo>
                <a:cubicBezTo>
                  <a:pt x="35892" y="50577"/>
                  <a:pt x="36537" y="54297"/>
                  <a:pt x="34652" y="56976"/>
                </a:cubicBezTo>
                <a:lnTo>
                  <a:pt x="20762" y="76820"/>
                </a:lnTo>
                <a:cubicBezTo>
                  <a:pt x="19745" y="78259"/>
                  <a:pt x="18157" y="79177"/>
                  <a:pt x="16396" y="79325"/>
                </a:cubicBezTo>
                <a:cubicBezTo>
                  <a:pt x="14635" y="79474"/>
                  <a:pt x="12898" y="78879"/>
                  <a:pt x="11658" y="77639"/>
                </a:cubicBezTo>
                <a:lnTo>
                  <a:pt x="1736" y="67717"/>
                </a:lnTo>
                <a:cubicBezTo>
                  <a:pt x="-595" y="65385"/>
                  <a:pt x="-595" y="61615"/>
                  <a:pt x="1736" y="59308"/>
                </a:cubicBezTo>
                <a:cubicBezTo>
                  <a:pt x="4068" y="57001"/>
                  <a:pt x="7838" y="56976"/>
                  <a:pt x="10145" y="59308"/>
                </a:cubicBezTo>
                <a:lnTo>
                  <a:pt x="15056" y="64219"/>
                </a:lnTo>
                <a:lnTo>
                  <a:pt x="24879" y="50180"/>
                </a:lnTo>
                <a:cubicBezTo>
                  <a:pt x="26764" y="47476"/>
                  <a:pt x="30485" y="46831"/>
                  <a:pt x="33164" y="48716"/>
                </a:cubicBezTo>
                <a:close/>
                <a:moveTo>
                  <a:pt x="55563" y="23812"/>
                </a:moveTo>
                <a:cubicBezTo>
                  <a:pt x="55563" y="19422"/>
                  <a:pt x="59110" y="15875"/>
                  <a:pt x="63500" y="15875"/>
                </a:cubicBezTo>
                <a:lnTo>
                  <a:pt x="119063" y="15875"/>
                </a:lnTo>
                <a:cubicBezTo>
                  <a:pt x="123453" y="15875"/>
                  <a:pt x="127000" y="19422"/>
                  <a:pt x="127000" y="23812"/>
                </a:cubicBezTo>
                <a:cubicBezTo>
                  <a:pt x="127000" y="28203"/>
                  <a:pt x="123453" y="31750"/>
                  <a:pt x="119063" y="31750"/>
                </a:cubicBezTo>
                <a:lnTo>
                  <a:pt x="63500" y="31750"/>
                </a:lnTo>
                <a:cubicBezTo>
                  <a:pt x="59110" y="31750"/>
                  <a:pt x="55563" y="28203"/>
                  <a:pt x="55563" y="23812"/>
                </a:cubicBezTo>
                <a:close/>
                <a:moveTo>
                  <a:pt x="55563" y="63500"/>
                </a:moveTo>
                <a:cubicBezTo>
                  <a:pt x="55563" y="59110"/>
                  <a:pt x="59110" y="55563"/>
                  <a:pt x="63500" y="55563"/>
                </a:cubicBezTo>
                <a:lnTo>
                  <a:pt x="119063" y="55563"/>
                </a:lnTo>
                <a:cubicBezTo>
                  <a:pt x="123453" y="55563"/>
                  <a:pt x="127000" y="59110"/>
                  <a:pt x="127000" y="63500"/>
                </a:cubicBezTo>
                <a:cubicBezTo>
                  <a:pt x="127000" y="67890"/>
                  <a:pt x="123453" y="71438"/>
                  <a:pt x="119063" y="71438"/>
                </a:cubicBezTo>
                <a:lnTo>
                  <a:pt x="63500" y="71438"/>
                </a:lnTo>
                <a:cubicBezTo>
                  <a:pt x="59110" y="71438"/>
                  <a:pt x="55563" y="67890"/>
                  <a:pt x="55563" y="63500"/>
                </a:cubicBezTo>
                <a:close/>
                <a:moveTo>
                  <a:pt x="39688" y="103188"/>
                </a:moveTo>
                <a:cubicBezTo>
                  <a:pt x="39688" y="98797"/>
                  <a:pt x="43235" y="95250"/>
                  <a:pt x="47625" y="95250"/>
                </a:cubicBezTo>
                <a:lnTo>
                  <a:pt x="119063" y="95250"/>
                </a:lnTo>
                <a:cubicBezTo>
                  <a:pt x="123453" y="95250"/>
                  <a:pt x="127000" y="98797"/>
                  <a:pt x="127000" y="103188"/>
                </a:cubicBezTo>
                <a:cubicBezTo>
                  <a:pt x="127000" y="107578"/>
                  <a:pt x="123453" y="111125"/>
                  <a:pt x="119063" y="111125"/>
                </a:cubicBezTo>
                <a:lnTo>
                  <a:pt x="47625" y="111125"/>
                </a:lnTo>
                <a:cubicBezTo>
                  <a:pt x="43235" y="111125"/>
                  <a:pt x="39688" y="107578"/>
                  <a:pt x="39688" y="103188"/>
                </a:cubicBezTo>
                <a:close/>
                <a:moveTo>
                  <a:pt x="15875" y="93266"/>
                </a:moveTo>
                <a:cubicBezTo>
                  <a:pt x="21351" y="93266"/>
                  <a:pt x="25797" y="97711"/>
                  <a:pt x="25797" y="103188"/>
                </a:cubicBezTo>
                <a:cubicBezTo>
                  <a:pt x="25797" y="108664"/>
                  <a:pt x="21351" y="113109"/>
                  <a:pt x="15875" y="113109"/>
                </a:cubicBezTo>
                <a:cubicBezTo>
                  <a:pt x="10399" y="113109"/>
                  <a:pt x="5953" y="108664"/>
                  <a:pt x="5953" y="103188"/>
                </a:cubicBezTo>
                <a:cubicBezTo>
                  <a:pt x="5953" y="97711"/>
                  <a:pt x="10399" y="93266"/>
                  <a:pt x="15875" y="93266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38188" y="2365375"/>
            <a:ext cx="3190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Functions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87375" y="2619375"/>
            <a:ext cx="63500" cy="127000"/>
          </a:xfrm>
          <a:custGeom>
            <a:avLst/>
            <a:gdLst/>
            <a:ahLst/>
            <a:cxnLst/>
            <a:rect l="l" t="t" r="r" b="b"/>
            <a:pathLst>
              <a:path w="63500" h="127000">
                <a:moveTo>
                  <a:pt x="61292" y="57894"/>
                </a:moveTo>
                <a:cubicBezTo>
                  <a:pt x="64393" y="60995"/>
                  <a:pt x="64393" y="66030"/>
                  <a:pt x="61292" y="69131"/>
                </a:cubicBezTo>
                <a:lnTo>
                  <a:pt x="21605" y="108818"/>
                </a:lnTo>
                <a:cubicBezTo>
                  <a:pt x="18504" y="111919"/>
                  <a:pt x="13469" y="111919"/>
                  <a:pt x="10368" y="108818"/>
                </a:cubicBezTo>
                <a:cubicBezTo>
                  <a:pt x="7268" y="105718"/>
                  <a:pt x="7268" y="100682"/>
                  <a:pt x="10368" y="97582"/>
                </a:cubicBezTo>
                <a:lnTo>
                  <a:pt x="44450" y="63500"/>
                </a:lnTo>
                <a:lnTo>
                  <a:pt x="10393" y="29418"/>
                </a:lnTo>
                <a:cubicBezTo>
                  <a:pt x="7293" y="26318"/>
                  <a:pt x="7293" y="21282"/>
                  <a:pt x="10393" y="18182"/>
                </a:cubicBezTo>
                <a:cubicBezTo>
                  <a:pt x="13494" y="15081"/>
                  <a:pt x="18529" y="15081"/>
                  <a:pt x="21630" y="18182"/>
                </a:cubicBezTo>
                <a:lnTo>
                  <a:pt x="61317" y="57869"/>
                </a:ln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62000" y="2587625"/>
            <a:ext cx="2159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Captures edges, textures (early layers)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87375" y="2841625"/>
            <a:ext cx="63500" cy="127000"/>
          </a:xfrm>
          <a:custGeom>
            <a:avLst/>
            <a:gdLst/>
            <a:ahLst/>
            <a:cxnLst/>
            <a:rect l="l" t="t" r="r" b="b"/>
            <a:pathLst>
              <a:path w="63500" h="127000">
                <a:moveTo>
                  <a:pt x="61292" y="57894"/>
                </a:moveTo>
                <a:cubicBezTo>
                  <a:pt x="64393" y="60995"/>
                  <a:pt x="64393" y="66030"/>
                  <a:pt x="61292" y="69131"/>
                </a:cubicBezTo>
                <a:lnTo>
                  <a:pt x="21605" y="108818"/>
                </a:lnTo>
                <a:cubicBezTo>
                  <a:pt x="18504" y="111919"/>
                  <a:pt x="13469" y="111919"/>
                  <a:pt x="10368" y="108818"/>
                </a:cubicBezTo>
                <a:cubicBezTo>
                  <a:pt x="7268" y="105718"/>
                  <a:pt x="7268" y="100682"/>
                  <a:pt x="10368" y="97582"/>
                </a:cubicBezTo>
                <a:lnTo>
                  <a:pt x="44450" y="63500"/>
                </a:lnTo>
                <a:lnTo>
                  <a:pt x="10393" y="29418"/>
                </a:lnTo>
                <a:cubicBezTo>
                  <a:pt x="7293" y="26318"/>
                  <a:pt x="7293" y="21282"/>
                  <a:pt x="10393" y="18182"/>
                </a:cubicBezTo>
                <a:cubicBezTo>
                  <a:pt x="13494" y="15081"/>
                  <a:pt x="18529" y="15081"/>
                  <a:pt x="21630" y="18182"/>
                </a:cubicBezTo>
                <a:lnTo>
                  <a:pt x="61317" y="57869"/>
                </a:ln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62000" y="2809875"/>
            <a:ext cx="1785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Complex patterns (deep layers)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87375" y="3063875"/>
            <a:ext cx="63500" cy="127000"/>
          </a:xfrm>
          <a:custGeom>
            <a:avLst/>
            <a:gdLst/>
            <a:ahLst/>
            <a:cxnLst/>
            <a:rect l="l" t="t" r="r" b="b"/>
            <a:pathLst>
              <a:path w="63500" h="127000">
                <a:moveTo>
                  <a:pt x="61292" y="57894"/>
                </a:moveTo>
                <a:cubicBezTo>
                  <a:pt x="64393" y="60995"/>
                  <a:pt x="64393" y="66030"/>
                  <a:pt x="61292" y="69131"/>
                </a:cubicBezTo>
                <a:lnTo>
                  <a:pt x="21605" y="108818"/>
                </a:lnTo>
                <a:cubicBezTo>
                  <a:pt x="18504" y="111919"/>
                  <a:pt x="13469" y="111919"/>
                  <a:pt x="10368" y="108818"/>
                </a:cubicBezTo>
                <a:cubicBezTo>
                  <a:pt x="7268" y="105718"/>
                  <a:pt x="7268" y="100682"/>
                  <a:pt x="10368" y="97582"/>
                </a:cubicBezTo>
                <a:lnTo>
                  <a:pt x="44450" y="63500"/>
                </a:lnTo>
                <a:lnTo>
                  <a:pt x="10393" y="29418"/>
                </a:lnTo>
                <a:cubicBezTo>
                  <a:pt x="7293" y="26318"/>
                  <a:pt x="7293" y="21282"/>
                  <a:pt x="10393" y="18182"/>
                </a:cubicBezTo>
                <a:cubicBezTo>
                  <a:pt x="13494" y="15081"/>
                  <a:pt x="18529" y="15081"/>
                  <a:pt x="21630" y="18182"/>
                </a:cubicBezTo>
                <a:lnTo>
                  <a:pt x="61317" y="57869"/>
                </a:ln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62000" y="3032125"/>
            <a:ext cx="1563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Multi-scale representations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44500" y="3381375"/>
            <a:ext cx="3516313" cy="603250"/>
          </a:xfrm>
          <a:custGeom>
            <a:avLst/>
            <a:gdLst/>
            <a:ahLst/>
            <a:cxnLst/>
            <a:rect l="l" t="t" r="r" b="b"/>
            <a:pathLst>
              <a:path w="3516313" h="603250">
                <a:moveTo>
                  <a:pt x="63498" y="0"/>
                </a:moveTo>
                <a:lnTo>
                  <a:pt x="3452814" y="0"/>
                </a:lnTo>
                <a:cubicBezTo>
                  <a:pt x="3487883" y="0"/>
                  <a:pt x="3516313" y="28429"/>
                  <a:pt x="3516313" y="63498"/>
                </a:cubicBezTo>
                <a:lnTo>
                  <a:pt x="3516313" y="539752"/>
                </a:lnTo>
                <a:cubicBezTo>
                  <a:pt x="3516313" y="574821"/>
                  <a:pt x="3487883" y="603250"/>
                  <a:pt x="3452814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47688" y="3502027"/>
            <a:ext cx="142875" cy="127000"/>
          </a:xfrm>
          <a:custGeom>
            <a:avLst/>
            <a:gdLst/>
            <a:ahLst/>
            <a:cxnLst/>
            <a:rect l="l" t="t" r="r" b="b"/>
            <a:pathLst>
              <a:path w="142875" h="127000">
                <a:moveTo>
                  <a:pt x="89495" y="298"/>
                </a:moveTo>
                <a:cubicBezTo>
                  <a:pt x="85279" y="-918"/>
                  <a:pt x="80888" y="1538"/>
                  <a:pt x="79673" y="5755"/>
                </a:cubicBezTo>
                <a:lnTo>
                  <a:pt x="47923" y="116880"/>
                </a:lnTo>
                <a:cubicBezTo>
                  <a:pt x="46707" y="121096"/>
                  <a:pt x="49163" y="125487"/>
                  <a:pt x="53380" y="126702"/>
                </a:cubicBezTo>
                <a:cubicBezTo>
                  <a:pt x="57596" y="127918"/>
                  <a:pt x="61987" y="125462"/>
                  <a:pt x="63202" y="121245"/>
                </a:cubicBezTo>
                <a:lnTo>
                  <a:pt x="94952" y="10120"/>
                </a:lnTo>
                <a:cubicBezTo>
                  <a:pt x="96168" y="5904"/>
                  <a:pt x="93712" y="1513"/>
                  <a:pt x="89495" y="298"/>
                </a:cubicBezTo>
                <a:close/>
                <a:moveTo>
                  <a:pt x="105519" y="34057"/>
                </a:moveTo>
                <a:cubicBezTo>
                  <a:pt x="102419" y="37157"/>
                  <a:pt x="102419" y="42193"/>
                  <a:pt x="105519" y="45293"/>
                </a:cubicBezTo>
                <a:lnTo>
                  <a:pt x="123726" y="63500"/>
                </a:lnTo>
                <a:lnTo>
                  <a:pt x="105519" y="81707"/>
                </a:lnTo>
                <a:cubicBezTo>
                  <a:pt x="102419" y="84807"/>
                  <a:pt x="102419" y="89843"/>
                  <a:pt x="105519" y="92943"/>
                </a:cubicBezTo>
                <a:cubicBezTo>
                  <a:pt x="108620" y="96044"/>
                  <a:pt x="113655" y="96044"/>
                  <a:pt x="116756" y="92943"/>
                </a:cubicBezTo>
                <a:lnTo>
                  <a:pt x="140568" y="69131"/>
                </a:lnTo>
                <a:cubicBezTo>
                  <a:pt x="143669" y="66030"/>
                  <a:pt x="143669" y="60995"/>
                  <a:pt x="140568" y="57894"/>
                </a:cubicBezTo>
                <a:lnTo>
                  <a:pt x="116756" y="34082"/>
                </a:lnTo>
                <a:cubicBezTo>
                  <a:pt x="113655" y="30981"/>
                  <a:pt x="108620" y="30981"/>
                  <a:pt x="105519" y="34082"/>
                </a:cubicBezTo>
                <a:close/>
                <a:moveTo>
                  <a:pt x="37381" y="34057"/>
                </a:moveTo>
                <a:cubicBezTo>
                  <a:pt x="34280" y="30956"/>
                  <a:pt x="29245" y="30956"/>
                  <a:pt x="26144" y="34057"/>
                </a:cubicBezTo>
                <a:lnTo>
                  <a:pt x="2332" y="57869"/>
                </a:lnTo>
                <a:cubicBezTo>
                  <a:pt x="-769" y="60970"/>
                  <a:pt x="-769" y="66005"/>
                  <a:pt x="2332" y="69106"/>
                </a:cubicBezTo>
                <a:lnTo>
                  <a:pt x="26144" y="92918"/>
                </a:lnTo>
                <a:cubicBezTo>
                  <a:pt x="29245" y="96019"/>
                  <a:pt x="34280" y="96019"/>
                  <a:pt x="37381" y="92918"/>
                </a:cubicBezTo>
                <a:cubicBezTo>
                  <a:pt x="40481" y="89818"/>
                  <a:pt x="40481" y="84782"/>
                  <a:pt x="37381" y="81682"/>
                </a:cubicBezTo>
                <a:lnTo>
                  <a:pt x="19174" y="63500"/>
                </a:lnTo>
                <a:lnTo>
                  <a:pt x="37356" y="45293"/>
                </a:lnTo>
                <a:cubicBezTo>
                  <a:pt x="40456" y="42193"/>
                  <a:pt x="40456" y="37157"/>
                  <a:pt x="37356" y="34057"/>
                </a:cubicBezTo>
                <a:close/>
              </a:path>
            </a:pathLst>
          </a:custGeom>
          <a:solidFill>
            <a:srgbClr val="FFD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38188" y="3476625"/>
            <a:ext cx="3190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D5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39750" y="3698875"/>
            <a:ext cx="3389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Darknet-53, ResNet, CSPDarknet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212134" y="1031875"/>
            <a:ext cx="3770313" cy="3701781"/>
          </a:xfrm>
          <a:custGeom>
            <a:avLst/>
            <a:gdLst/>
            <a:ahLst/>
            <a:cxnLst/>
            <a:rect l="l" t="t" r="r" b="b"/>
            <a:pathLst>
              <a:path w="3770313" h="3701781">
                <a:moveTo>
                  <a:pt x="31750" y="0"/>
                </a:moveTo>
                <a:lnTo>
                  <a:pt x="3738563" y="0"/>
                </a:lnTo>
                <a:cubicBezTo>
                  <a:pt x="3756098" y="0"/>
                  <a:pt x="3770313" y="16013"/>
                  <a:pt x="3770313" y="35766"/>
                </a:cubicBezTo>
                <a:lnTo>
                  <a:pt x="3770313" y="3594466"/>
                </a:lnTo>
                <a:cubicBezTo>
                  <a:pt x="3770313" y="3653734"/>
                  <a:pt x="3727661" y="3701781"/>
                  <a:pt x="3675048" y="3701781"/>
                </a:cubicBezTo>
                <a:lnTo>
                  <a:pt x="95265" y="3701781"/>
                </a:lnTo>
                <a:cubicBezTo>
                  <a:pt x="42651" y="3701781"/>
                  <a:pt x="0" y="3653734"/>
                  <a:pt x="0" y="3594466"/>
                </a:cubicBezTo>
                <a:lnTo>
                  <a:pt x="0" y="35766"/>
                </a:lnTo>
                <a:cubicBezTo>
                  <a:pt x="0" y="16026"/>
                  <a:pt x="14227" y="0"/>
                  <a:pt x="31750" y="0"/>
                </a:cubicBezTo>
                <a:close/>
              </a:path>
            </a:pathLst>
          </a:custGeom>
          <a:solidFill>
            <a:srgbClr val="263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212134" y="1031875"/>
            <a:ext cx="3770313" cy="31750"/>
          </a:xfrm>
          <a:custGeom>
            <a:avLst/>
            <a:gdLst/>
            <a:ahLst/>
            <a:cxnLst/>
            <a:rect l="l" t="t" r="r" b="b"/>
            <a:pathLst>
              <a:path w="3770313" h="31750">
                <a:moveTo>
                  <a:pt x="31750" y="0"/>
                </a:moveTo>
                <a:lnTo>
                  <a:pt x="3738563" y="0"/>
                </a:lnTo>
                <a:cubicBezTo>
                  <a:pt x="3756086" y="0"/>
                  <a:pt x="3770313" y="14227"/>
                  <a:pt x="3770313" y="31750"/>
                </a:cubicBezTo>
                <a:lnTo>
                  <a:pt x="3770313" y="31750"/>
                </a:lnTo>
                <a:lnTo>
                  <a:pt x="0" y="31750"/>
                </a:ln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D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339134" y="1174750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95252" y="0"/>
                </a:moveTo>
                <a:lnTo>
                  <a:pt x="349248" y="0"/>
                </a:lnTo>
                <a:cubicBezTo>
                  <a:pt x="401819" y="0"/>
                  <a:pt x="444500" y="42681"/>
                  <a:pt x="444500" y="95252"/>
                </a:cubicBezTo>
                <a:lnTo>
                  <a:pt x="444500" y="349248"/>
                </a:lnTo>
                <a:cubicBezTo>
                  <a:pt x="444500" y="401854"/>
                  <a:pt x="401854" y="444500"/>
                  <a:pt x="349248" y="444500"/>
                </a:cubicBezTo>
                <a:lnTo>
                  <a:pt x="95252" y="444500"/>
                </a:lnTo>
                <a:cubicBezTo>
                  <a:pt x="42681" y="444500"/>
                  <a:pt x="0" y="401819"/>
                  <a:pt x="0" y="349248"/>
                </a:cubicBezTo>
                <a:lnTo>
                  <a:pt x="0" y="95252"/>
                </a:lnTo>
                <a:cubicBezTo>
                  <a:pt x="0" y="42646"/>
                  <a:pt x="42646" y="0"/>
                  <a:pt x="95252" y="0"/>
                </a:cubicBezTo>
                <a:close/>
              </a:path>
            </a:pathLst>
          </a:custGeom>
          <a:solidFill>
            <a:srgbClr val="FFD54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444306" y="1277938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0" y="37207"/>
                </a:moveTo>
                <a:cubicBezTo>
                  <a:pt x="0" y="24882"/>
                  <a:pt x="9999" y="14883"/>
                  <a:pt x="22324" y="14883"/>
                </a:cubicBezTo>
                <a:lnTo>
                  <a:pt x="66973" y="14883"/>
                </a:lnTo>
                <a:cubicBezTo>
                  <a:pt x="79297" y="14883"/>
                  <a:pt x="89297" y="24882"/>
                  <a:pt x="89297" y="37207"/>
                </a:cubicBezTo>
                <a:lnTo>
                  <a:pt x="89297" y="44648"/>
                </a:lnTo>
                <a:lnTo>
                  <a:pt x="148828" y="44648"/>
                </a:lnTo>
                <a:lnTo>
                  <a:pt x="148828" y="37207"/>
                </a:lnTo>
                <a:cubicBezTo>
                  <a:pt x="148828" y="24882"/>
                  <a:pt x="158828" y="14883"/>
                  <a:pt x="171152" y="14883"/>
                </a:cubicBezTo>
                <a:lnTo>
                  <a:pt x="215801" y="14883"/>
                </a:lnTo>
                <a:cubicBezTo>
                  <a:pt x="228126" y="14883"/>
                  <a:pt x="238125" y="24882"/>
                  <a:pt x="238125" y="37207"/>
                </a:cubicBezTo>
                <a:lnTo>
                  <a:pt x="238125" y="81855"/>
                </a:lnTo>
                <a:cubicBezTo>
                  <a:pt x="238125" y="94180"/>
                  <a:pt x="228126" y="104180"/>
                  <a:pt x="215801" y="104180"/>
                </a:cubicBezTo>
                <a:lnTo>
                  <a:pt x="171152" y="104180"/>
                </a:lnTo>
                <a:cubicBezTo>
                  <a:pt x="158828" y="104180"/>
                  <a:pt x="148828" y="94180"/>
                  <a:pt x="148828" y="81855"/>
                </a:cubicBezTo>
                <a:lnTo>
                  <a:pt x="148828" y="74414"/>
                </a:lnTo>
                <a:lnTo>
                  <a:pt x="89297" y="74414"/>
                </a:lnTo>
                <a:lnTo>
                  <a:pt x="89297" y="81855"/>
                </a:lnTo>
                <a:cubicBezTo>
                  <a:pt x="89297" y="85251"/>
                  <a:pt x="88506" y="88506"/>
                  <a:pt x="87157" y="91390"/>
                </a:cubicBezTo>
                <a:lnTo>
                  <a:pt x="119062" y="133945"/>
                </a:lnTo>
                <a:lnTo>
                  <a:pt x="156270" y="133945"/>
                </a:lnTo>
                <a:cubicBezTo>
                  <a:pt x="168594" y="133945"/>
                  <a:pt x="178594" y="143945"/>
                  <a:pt x="178594" y="156270"/>
                </a:cubicBezTo>
                <a:lnTo>
                  <a:pt x="178594" y="200918"/>
                </a:lnTo>
                <a:cubicBezTo>
                  <a:pt x="178594" y="213243"/>
                  <a:pt x="168594" y="223242"/>
                  <a:pt x="156270" y="223242"/>
                </a:cubicBezTo>
                <a:lnTo>
                  <a:pt x="111621" y="223242"/>
                </a:lnTo>
                <a:cubicBezTo>
                  <a:pt x="99296" y="223242"/>
                  <a:pt x="89297" y="213243"/>
                  <a:pt x="89297" y="200918"/>
                </a:cubicBezTo>
                <a:lnTo>
                  <a:pt x="89297" y="156270"/>
                </a:lnTo>
                <a:cubicBezTo>
                  <a:pt x="89297" y="152874"/>
                  <a:pt x="90088" y="149619"/>
                  <a:pt x="91436" y="146735"/>
                </a:cubicBezTo>
                <a:lnTo>
                  <a:pt x="59531" y="104180"/>
                </a:lnTo>
                <a:lnTo>
                  <a:pt x="22324" y="104180"/>
                </a:lnTo>
                <a:cubicBezTo>
                  <a:pt x="9999" y="104180"/>
                  <a:pt x="0" y="94180"/>
                  <a:pt x="0" y="81855"/>
                </a:cubicBezTo>
                <a:lnTo>
                  <a:pt x="0" y="37207"/>
                </a:lnTo>
                <a:close/>
              </a:path>
            </a:pathLst>
          </a:custGeom>
          <a:solidFill>
            <a:srgbClr val="FFD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878884" y="1270000"/>
            <a:ext cx="5318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Neck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339134" y="1714500"/>
            <a:ext cx="3579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D5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Feature Fusion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339134" y="1968500"/>
            <a:ext cx="3579813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Bridge between backbone and head. Aggregates features from different scales.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39134" y="2476500"/>
            <a:ext cx="3516313" cy="1047750"/>
          </a:xfrm>
          <a:custGeom>
            <a:avLst/>
            <a:gdLst/>
            <a:ahLst/>
            <a:cxnLst/>
            <a:rect l="l" t="t" r="r" b="b"/>
            <a:pathLst>
              <a:path w="3516313" h="1047750">
                <a:moveTo>
                  <a:pt x="63504" y="0"/>
                </a:moveTo>
                <a:lnTo>
                  <a:pt x="3452808" y="0"/>
                </a:lnTo>
                <a:cubicBezTo>
                  <a:pt x="3487881" y="0"/>
                  <a:pt x="3516313" y="28432"/>
                  <a:pt x="3516313" y="63504"/>
                </a:cubicBezTo>
                <a:lnTo>
                  <a:pt x="3516313" y="984246"/>
                </a:lnTo>
                <a:cubicBezTo>
                  <a:pt x="3516313" y="1019318"/>
                  <a:pt x="3487881" y="1047750"/>
                  <a:pt x="3452808" y="1047750"/>
                </a:cubicBezTo>
                <a:lnTo>
                  <a:pt x="63504" y="1047750"/>
                </a:lnTo>
                <a:cubicBezTo>
                  <a:pt x="28432" y="1047750"/>
                  <a:pt x="0" y="1019318"/>
                  <a:pt x="0" y="984246"/>
                </a:cubicBezTo>
                <a:lnTo>
                  <a:pt x="0" y="63504"/>
                </a:lnTo>
                <a:cubicBezTo>
                  <a:pt x="0" y="28432"/>
                  <a:pt x="28432" y="0"/>
                  <a:pt x="63504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450259" y="2597152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33189" y="9004"/>
                </a:moveTo>
                <a:cubicBezTo>
                  <a:pt x="35892" y="10889"/>
                  <a:pt x="36537" y="14610"/>
                  <a:pt x="34652" y="17289"/>
                </a:cubicBezTo>
                <a:lnTo>
                  <a:pt x="20762" y="37133"/>
                </a:lnTo>
                <a:cubicBezTo>
                  <a:pt x="19745" y="38571"/>
                  <a:pt x="18157" y="39489"/>
                  <a:pt x="16396" y="39638"/>
                </a:cubicBezTo>
                <a:cubicBezTo>
                  <a:pt x="14635" y="39787"/>
                  <a:pt x="12898" y="39191"/>
                  <a:pt x="11658" y="37951"/>
                </a:cubicBezTo>
                <a:lnTo>
                  <a:pt x="1736" y="28029"/>
                </a:lnTo>
                <a:cubicBezTo>
                  <a:pt x="-571" y="25698"/>
                  <a:pt x="-571" y="21927"/>
                  <a:pt x="1736" y="19596"/>
                </a:cubicBezTo>
                <a:cubicBezTo>
                  <a:pt x="4043" y="17264"/>
                  <a:pt x="7838" y="17289"/>
                  <a:pt x="10170" y="19596"/>
                </a:cubicBezTo>
                <a:lnTo>
                  <a:pt x="15081" y="24507"/>
                </a:lnTo>
                <a:lnTo>
                  <a:pt x="24904" y="10468"/>
                </a:lnTo>
                <a:cubicBezTo>
                  <a:pt x="26789" y="7764"/>
                  <a:pt x="30510" y="7119"/>
                  <a:pt x="33189" y="9004"/>
                </a:cubicBezTo>
                <a:close/>
                <a:moveTo>
                  <a:pt x="33189" y="48692"/>
                </a:moveTo>
                <a:cubicBezTo>
                  <a:pt x="35892" y="50577"/>
                  <a:pt x="36537" y="54297"/>
                  <a:pt x="34652" y="56976"/>
                </a:cubicBezTo>
                <a:lnTo>
                  <a:pt x="20762" y="76820"/>
                </a:lnTo>
                <a:cubicBezTo>
                  <a:pt x="19745" y="78259"/>
                  <a:pt x="18157" y="79177"/>
                  <a:pt x="16396" y="79325"/>
                </a:cubicBezTo>
                <a:cubicBezTo>
                  <a:pt x="14635" y="79474"/>
                  <a:pt x="12898" y="78879"/>
                  <a:pt x="11658" y="77639"/>
                </a:cubicBezTo>
                <a:lnTo>
                  <a:pt x="1736" y="67717"/>
                </a:lnTo>
                <a:cubicBezTo>
                  <a:pt x="-595" y="65385"/>
                  <a:pt x="-595" y="61615"/>
                  <a:pt x="1736" y="59308"/>
                </a:cubicBezTo>
                <a:cubicBezTo>
                  <a:pt x="4068" y="57001"/>
                  <a:pt x="7838" y="56976"/>
                  <a:pt x="10145" y="59308"/>
                </a:cubicBezTo>
                <a:lnTo>
                  <a:pt x="15056" y="64219"/>
                </a:lnTo>
                <a:lnTo>
                  <a:pt x="24879" y="50180"/>
                </a:lnTo>
                <a:cubicBezTo>
                  <a:pt x="26764" y="47476"/>
                  <a:pt x="30485" y="46831"/>
                  <a:pt x="33164" y="48716"/>
                </a:cubicBezTo>
                <a:close/>
                <a:moveTo>
                  <a:pt x="55563" y="23812"/>
                </a:moveTo>
                <a:cubicBezTo>
                  <a:pt x="55563" y="19422"/>
                  <a:pt x="59110" y="15875"/>
                  <a:pt x="63500" y="15875"/>
                </a:cubicBezTo>
                <a:lnTo>
                  <a:pt x="119063" y="15875"/>
                </a:lnTo>
                <a:cubicBezTo>
                  <a:pt x="123453" y="15875"/>
                  <a:pt x="127000" y="19422"/>
                  <a:pt x="127000" y="23812"/>
                </a:cubicBezTo>
                <a:cubicBezTo>
                  <a:pt x="127000" y="28203"/>
                  <a:pt x="123453" y="31750"/>
                  <a:pt x="119063" y="31750"/>
                </a:cubicBezTo>
                <a:lnTo>
                  <a:pt x="63500" y="31750"/>
                </a:lnTo>
                <a:cubicBezTo>
                  <a:pt x="59110" y="31750"/>
                  <a:pt x="55563" y="28203"/>
                  <a:pt x="55563" y="23812"/>
                </a:cubicBezTo>
                <a:close/>
                <a:moveTo>
                  <a:pt x="55563" y="63500"/>
                </a:moveTo>
                <a:cubicBezTo>
                  <a:pt x="55563" y="59110"/>
                  <a:pt x="59110" y="55563"/>
                  <a:pt x="63500" y="55563"/>
                </a:cubicBezTo>
                <a:lnTo>
                  <a:pt x="119063" y="55563"/>
                </a:lnTo>
                <a:cubicBezTo>
                  <a:pt x="123453" y="55563"/>
                  <a:pt x="127000" y="59110"/>
                  <a:pt x="127000" y="63500"/>
                </a:cubicBezTo>
                <a:cubicBezTo>
                  <a:pt x="127000" y="67890"/>
                  <a:pt x="123453" y="71438"/>
                  <a:pt x="119063" y="71438"/>
                </a:cubicBezTo>
                <a:lnTo>
                  <a:pt x="63500" y="71438"/>
                </a:lnTo>
                <a:cubicBezTo>
                  <a:pt x="59110" y="71438"/>
                  <a:pt x="55563" y="67890"/>
                  <a:pt x="55563" y="63500"/>
                </a:cubicBezTo>
                <a:close/>
                <a:moveTo>
                  <a:pt x="39688" y="103188"/>
                </a:moveTo>
                <a:cubicBezTo>
                  <a:pt x="39688" y="98797"/>
                  <a:pt x="43235" y="95250"/>
                  <a:pt x="47625" y="95250"/>
                </a:cubicBezTo>
                <a:lnTo>
                  <a:pt x="119063" y="95250"/>
                </a:lnTo>
                <a:cubicBezTo>
                  <a:pt x="123453" y="95250"/>
                  <a:pt x="127000" y="98797"/>
                  <a:pt x="127000" y="103188"/>
                </a:cubicBezTo>
                <a:cubicBezTo>
                  <a:pt x="127000" y="107578"/>
                  <a:pt x="123453" y="111125"/>
                  <a:pt x="119063" y="111125"/>
                </a:cubicBezTo>
                <a:lnTo>
                  <a:pt x="47625" y="111125"/>
                </a:lnTo>
                <a:cubicBezTo>
                  <a:pt x="43235" y="111125"/>
                  <a:pt x="39688" y="107578"/>
                  <a:pt x="39688" y="103188"/>
                </a:cubicBezTo>
                <a:close/>
                <a:moveTo>
                  <a:pt x="15875" y="93266"/>
                </a:moveTo>
                <a:cubicBezTo>
                  <a:pt x="21351" y="93266"/>
                  <a:pt x="25797" y="97711"/>
                  <a:pt x="25797" y="103188"/>
                </a:cubicBezTo>
                <a:cubicBezTo>
                  <a:pt x="25797" y="108664"/>
                  <a:pt x="21351" y="113109"/>
                  <a:pt x="15875" y="113109"/>
                </a:cubicBezTo>
                <a:cubicBezTo>
                  <a:pt x="10399" y="113109"/>
                  <a:pt x="5953" y="108664"/>
                  <a:pt x="5953" y="103188"/>
                </a:cubicBezTo>
                <a:cubicBezTo>
                  <a:pt x="5953" y="97711"/>
                  <a:pt x="10399" y="93266"/>
                  <a:pt x="15875" y="93266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632821" y="2571750"/>
            <a:ext cx="3190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Functions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482009" y="2825750"/>
            <a:ext cx="63500" cy="127000"/>
          </a:xfrm>
          <a:custGeom>
            <a:avLst/>
            <a:gdLst/>
            <a:ahLst/>
            <a:cxnLst/>
            <a:rect l="l" t="t" r="r" b="b"/>
            <a:pathLst>
              <a:path w="63500" h="127000">
                <a:moveTo>
                  <a:pt x="61292" y="57894"/>
                </a:moveTo>
                <a:cubicBezTo>
                  <a:pt x="64393" y="60995"/>
                  <a:pt x="64393" y="66030"/>
                  <a:pt x="61292" y="69131"/>
                </a:cubicBezTo>
                <a:lnTo>
                  <a:pt x="21605" y="108818"/>
                </a:lnTo>
                <a:cubicBezTo>
                  <a:pt x="18504" y="111919"/>
                  <a:pt x="13469" y="111919"/>
                  <a:pt x="10368" y="108818"/>
                </a:cubicBezTo>
                <a:cubicBezTo>
                  <a:pt x="7268" y="105718"/>
                  <a:pt x="7268" y="100682"/>
                  <a:pt x="10368" y="97582"/>
                </a:cubicBezTo>
                <a:lnTo>
                  <a:pt x="44450" y="63500"/>
                </a:lnTo>
                <a:lnTo>
                  <a:pt x="10393" y="29418"/>
                </a:lnTo>
                <a:cubicBezTo>
                  <a:pt x="7293" y="26318"/>
                  <a:pt x="7293" y="21282"/>
                  <a:pt x="10393" y="18182"/>
                </a:cubicBezTo>
                <a:cubicBezTo>
                  <a:pt x="13494" y="15081"/>
                  <a:pt x="18529" y="15081"/>
                  <a:pt x="21630" y="18182"/>
                </a:cubicBezTo>
                <a:lnTo>
                  <a:pt x="61317" y="57869"/>
                </a:lnTo>
                <a:close/>
              </a:path>
            </a:pathLst>
          </a:custGeom>
          <a:solidFill>
            <a:srgbClr val="FFD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656634" y="2794000"/>
            <a:ext cx="1936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Concatenates multi-scale features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482009" y="3048000"/>
            <a:ext cx="63500" cy="127000"/>
          </a:xfrm>
          <a:custGeom>
            <a:avLst/>
            <a:gdLst/>
            <a:ahLst/>
            <a:cxnLst/>
            <a:rect l="l" t="t" r="r" b="b"/>
            <a:pathLst>
              <a:path w="63500" h="127000">
                <a:moveTo>
                  <a:pt x="61292" y="57894"/>
                </a:moveTo>
                <a:cubicBezTo>
                  <a:pt x="64393" y="60995"/>
                  <a:pt x="64393" y="66030"/>
                  <a:pt x="61292" y="69131"/>
                </a:cubicBezTo>
                <a:lnTo>
                  <a:pt x="21605" y="108818"/>
                </a:lnTo>
                <a:cubicBezTo>
                  <a:pt x="18504" y="111919"/>
                  <a:pt x="13469" y="111919"/>
                  <a:pt x="10368" y="108818"/>
                </a:cubicBezTo>
                <a:cubicBezTo>
                  <a:pt x="7268" y="105718"/>
                  <a:pt x="7268" y="100682"/>
                  <a:pt x="10368" y="97582"/>
                </a:cubicBezTo>
                <a:lnTo>
                  <a:pt x="44450" y="63500"/>
                </a:lnTo>
                <a:lnTo>
                  <a:pt x="10393" y="29418"/>
                </a:lnTo>
                <a:cubicBezTo>
                  <a:pt x="7293" y="26318"/>
                  <a:pt x="7293" y="21282"/>
                  <a:pt x="10393" y="18182"/>
                </a:cubicBezTo>
                <a:cubicBezTo>
                  <a:pt x="13494" y="15081"/>
                  <a:pt x="18529" y="15081"/>
                  <a:pt x="21630" y="18182"/>
                </a:cubicBezTo>
                <a:lnTo>
                  <a:pt x="61317" y="57869"/>
                </a:lnTo>
                <a:close/>
              </a:path>
            </a:pathLst>
          </a:custGeom>
          <a:solidFill>
            <a:srgbClr val="FFD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656634" y="3016250"/>
            <a:ext cx="1658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Upsampling + downsampling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482009" y="3270250"/>
            <a:ext cx="63500" cy="127000"/>
          </a:xfrm>
          <a:custGeom>
            <a:avLst/>
            <a:gdLst/>
            <a:ahLst/>
            <a:cxnLst/>
            <a:rect l="l" t="t" r="r" b="b"/>
            <a:pathLst>
              <a:path w="63500" h="127000">
                <a:moveTo>
                  <a:pt x="61292" y="57894"/>
                </a:moveTo>
                <a:cubicBezTo>
                  <a:pt x="64393" y="60995"/>
                  <a:pt x="64393" y="66030"/>
                  <a:pt x="61292" y="69131"/>
                </a:cubicBezTo>
                <a:lnTo>
                  <a:pt x="21605" y="108818"/>
                </a:lnTo>
                <a:cubicBezTo>
                  <a:pt x="18504" y="111919"/>
                  <a:pt x="13469" y="111919"/>
                  <a:pt x="10368" y="108818"/>
                </a:cubicBezTo>
                <a:cubicBezTo>
                  <a:pt x="7268" y="105718"/>
                  <a:pt x="7268" y="100682"/>
                  <a:pt x="10368" y="97582"/>
                </a:cubicBezTo>
                <a:lnTo>
                  <a:pt x="44450" y="63500"/>
                </a:lnTo>
                <a:lnTo>
                  <a:pt x="10393" y="29418"/>
                </a:lnTo>
                <a:cubicBezTo>
                  <a:pt x="7293" y="26318"/>
                  <a:pt x="7293" y="21282"/>
                  <a:pt x="10393" y="18182"/>
                </a:cubicBezTo>
                <a:cubicBezTo>
                  <a:pt x="13494" y="15081"/>
                  <a:pt x="18529" y="15081"/>
                  <a:pt x="21630" y="18182"/>
                </a:cubicBezTo>
                <a:lnTo>
                  <a:pt x="61317" y="57869"/>
                </a:lnTo>
                <a:close/>
              </a:path>
            </a:pathLst>
          </a:custGeom>
          <a:solidFill>
            <a:srgbClr val="FFD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656634" y="3238500"/>
            <a:ext cx="1452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Integrates contextual info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4339134" y="3587750"/>
            <a:ext cx="3516313" cy="603250"/>
          </a:xfrm>
          <a:custGeom>
            <a:avLst/>
            <a:gdLst/>
            <a:ahLst/>
            <a:cxnLst/>
            <a:rect l="l" t="t" r="r" b="b"/>
            <a:pathLst>
              <a:path w="3516313" h="603250">
                <a:moveTo>
                  <a:pt x="63498" y="0"/>
                </a:moveTo>
                <a:lnTo>
                  <a:pt x="3452814" y="0"/>
                </a:lnTo>
                <a:cubicBezTo>
                  <a:pt x="3487883" y="0"/>
                  <a:pt x="3516313" y="28429"/>
                  <a:pt x="3516313" y="63498"/>
                </a:cubicBezTo>
                <a:lnTo>
                  <a:pt x="3516313" y="539752"/>
                </a:lnTo>
                <a:cubicBezTo>
                  <a:pt x="3516313" y="574821"/>
                  <a:pt x="3487883" y="603250"/>
                  <a:pt x="3452814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4442321" y="3708402"/>
            <a:ext cx="142875" cy="127000"/>
          </a:xfrm>
          <a:custGeom>
            <a:avLst/>
            <a:gdLst/>
            <a:ahLst/>
            <a:cxnLst/>
            <a:rect l="l" t="t" r="r" b="b"/>
            <a:pathLst>
              <a:path w="142875" h="127000">
                <a:moveTo>
                  <a:pt x="89495" y="298"/>
                </a:moveTo>
                <a:cubicBezTo>
                  <a:pt x="85279" y="-918"/>
                  <a:pt x="80888" y="1538"/>
                  <a:pt x="79673" y="5755"/>
                </a:cubicBezTo>
                <a:lnTo>
                  <a:pt x="47923" y="116880"/>
                </a:lnTo>
                <a:cubicBezTo>
                  <a:pt x="46707" y="121096"/>
                  <a:pt x="49163" y="125487"/>
                  <a:pt x="53380" y="126702"/>
                </a:cubicBezTo>
                <a:cubicBezTo>
                  <a:pt x="57596" y="127918"/>
                  <a:pt x="61987" y="125462"/>
                  <a:pt x="63202" y="121245"/>
                </a:cubicBezTo>
                <a:lnTo>
                  <a:pt x="94952" y="10120"/>
                </a:lnTo>
                <a:cubicBezTo>
                  <a:pt x="96168" y="5904"/>
                  <a:pt x="93712" y="1513"/>
                  <a:pt x="89495" y="298"/>
                </a:cubicBezTo>
                <a:close/>
                <a:moveTo>
                  <a:pt x="105519" y="34057"/>
                </a:moveTo>
                <a:cubicBezTo>
                  <a:pt x="102419" y="37157"/>
                  <a:pt x="102419" y="42193"/>
                  <a:pt x="105519" y="45293"/>
                </a:cubicBezTo>
                <a:lnTo>
                  <a:pt x="123726" y="63500"/>
                </a:lnTo>
                <a:lnTo>
                  <a:pt x="105519" y="81707"/>
                </a:lnTo>
                <a:cubicBezTo>
                  <a:pt x="102419" y="84807"/>
                  <a:pt x="102419" y="89843"/>
                  <a:pt x="105519" y="92943"/>
                </a:cubicBezTo>
                <a:cubicBezTo>
                  <a:pt x="108620" y="96044"/>
                  <a:pt x="113655" y="96044"/>
                  <a:pt x="116756" y="92943"/>
                </a:cubicBezTo>
                <a:lnTo>
                  <a:pt x="140568" y="69131"/>
                </a:lnTo>
                <a:cubicBezTo>
                  <a:pt x="143669" y="66030"/>
                  <a:pt x="143669" y="60995"/>
                  <a:pt x="140568" y="57894"/>
                </a:cubicBezTo>
                <a:lnTo>
                  <a:pt x="116756" y="34082"/>
                </a:lnTo>
                <a:cubicBezTo>
                  <a:pt x="113655" y="30981"/>
                  <a:pt x="108620" y="30981"/>
                  <a:pt x="105519" y="34082"/>
                </a:cubicBezTo>
                <a:close/>
                <a:moveTo>
                  <a:pt x="37381" y="34057"/>
                </a:moveTo>
                <a:cubicBezTo>
                  <a:pt x="34280" y="30956"/>
                  <a:pt x="29245" y="30956"/>
                  <a:pt x="26144" y="34057"/>
                </a:cubicBezTo>
                <a:lnTo>
                  <a:pt x="2332" y="57869"/>
                </a:lnTo>
                <a:cubicBezTo>
                  <a:pt x="-769" y="60970"/>
                  <a:pt x="-769" y="66005"/>
                  <a:pt x="2332" y="69106"/>
                </a:cubicBezTo>
                <a:lnTo>
                  <a:pt x="26144" y="92918"/>
                </a:lnTo>
                <a:cubicBezTo>
                  <a:pt x="29245" y="96019"/>
                  <a:pt x="34280" y="96019"/>
                  <a:pt x="37381" y="92918"/>
                </a:cubicBezTo>
                <a:cubicBezTo>
                  <a:pt x="40481" y="89818"/>
                  <a:pt x="40481" y="84782"/>
                  <a:pt x="37381" y="81682"/>
                </a:cubicBezTo>
                <a:lnTo>
                  <a:pt x="19174" y="63500"/>
                </a:lnTo>
                <a:lnTo>
                  <a:pt x="37356" y="45293"/>
                </a:lnTo>
                <a:cubicBezTo>
                  <a:pt x="40456" y="42193"/>
                  <a:pt x="40456" y="37157"/>
                  <a:pt x="37356" y="34057"/>
                </a:cubicBezTo>
                <a:close/>
              </a:path>
            </a:pathLst>
          </a:custGeom>
          <a:solidFill>
            <a:srgbClr val="FFD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632821" y="3683000"/>
            <a:ext cx="3190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D5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Examples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4434384" y="3905250"/>
            <a:ext cx="3389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FPN, PANet, BiFPN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106767" y="1031875"/>
            <a:ext cx="3770313" cy="3701781"/>
          </a:xfrm>
          <a:custGeom>
            <a:avLst/>
            <a:gdLst/>
            <a:ahLst/>
            <a:cxnLst/>
            <a:rect l="l" t="t" r="r" b="b"/>
            <a:pathLst>
              <a:path w="3770313" h="3701781">
                <a:moveTo>
                  <a:pt x="31750" y="0"/>
                </a:moveTo>
                <a:lnTo>
                  <a:pt x="3738563" y="0"/>
                </a:lnTo>
                <a:cubicBezTo>
                  <a:pt x="3756098" y="0"/>
                  <a:pt x="3770313" y="16013"/>
                  <a:pt x="3770313" y="35766"/>
                </a:cubicBezTo>
                <a:lnTo>
                  <a:pt x="3770313" y="3594466"/>
                </a:lnTo>
                <a:cubicBezTo>
                  <a:pt x="3770313" y="3653734"/>
                  <a:pt x="3727661" y="3701781"/>
                  <a:pt x="3675048" y="3701781"/>
                </a:cubicBezTo>
                <a:lnTo>
                  <a:pt x="95265" y="3701781"/>
                </a:lnTo>
                <a:cubicBezTo>
                  <a:pt x="42651" y="3701781"/>
                  <a:pt x="0" y="3653734"/>
                  <a:pt x="0" y="3594466"/>
                </a:cubicBezTo>
                <a:lnTo>
                  <a:pt x="0" y="35766"/>
                </a:lnTo>
                <a:cubicBezTo>
                  <a:pt x="0" y="16026"/>
                  <a:pt x="14227" y="0"/>
                  <a:pt x="31750" y="0"/>
                </a:cubicBezTo>
                <a:close/>
              </a:path>
            </a:pathLst>
          </a:custGeom>
          <a:solidFill>
            <a:srgbClr val="263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8106767" y="1031875"/>
            <a:ext cx="3770313" cy="31750"/>
          </a:xfrm>
          <a:custGeom>
            <a:avLst/>
            <a:gdLst/>
            <a:ahLst/>
            <a:cxnLst/>
            <a:rect l="l" t="t" r="r" b="b"/>
            <a:pathLst>
              <a:path w="3770313" h="31750">
                <a:moveTo>
                  <a:pt x="31750" y="0"/>
                </a:moveTo>
                <a:lnTo>
                  <a:pt x="3738563" y="0"/>
                </a:lnTo>
                <a:cubicBezTo>
                  <a:pt x="3756086" y="0"/>
                  <a:pt x="3770313" y="14227"/>
                  <a:pt x="3770313" y="31750"/>
                </a:cubicBezTo>
                <a:lnTo>
                  <a:pt x="3770313" y="31750"/>
                </a:lnTo>
                <a:lnTo>
                  <a:pt x="0" y="31750"/>
                </a:ln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8233768" y="1174750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95252" y="0"/>
                </a:moveTo>
                <a:lnTo>
                  <a:pt x="349248" y="0"/>
                </a:lnTo>
                <a:cubicBezTo>
                  <a:pt x="401819" y="0"/>
                  <a:pt x="444500" y="42681"/>
                  <a:pt x="444500" y="95252"/>
                </a:cubicBezTo>
                <a:lnTo>
                  <a:pt x="444500" y="349248"/>
                </a:lnTo>
                <a:cubicBezTo>
                  <a:pt x="444500" y="401854"/>
                  <a:pt x="401854" y="444500"/>
                  <a:pt x="349248" y="444500"/>
                </a:cubicBezTo>
                <a:lnTo>
                  <a:pt x="95252" y="444500"/>
                </a:lnTo>
                <a:cubicBezTo>
                  <a:pt x="42681" y="444500"/>
                  <a:pt x="0" y="401819"/>
                  <a:pt x="0" y="349248"/>
                </a:cubicBezTo>
                <a:lnTo>
                  <a:pt x="0" y="95252"/>
                </a:lnTo>
                <a:cubicBezTo>
                  <a:pt x="0" y="42646"/>
                  <a:pt x="42646" y="0"/>
                  <a:pt x="95252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8338940" y="1277938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208359" y="119062"/>
                </a:moveTo>
                <a:cubicBezTo>
                  <a:pt x="208359" y="69778"/>
                  <a:pt x="168347" y="29766"/>
                  <a:pt x="119062" y="29766"/>
                </a:cubicBezTo>
                <a:cubicBezTo>
                  <a:pt x="69778" y="29766"/>
                  <a:pt x="29766" y="69778"/>
                  <a:pt x="29766" y="119062"/>
                </a:cubicBezTo>
                <a:cubicBezTo>
                  <a:pt x="29766" y="168347"/>
                  <a:pt x="69778" y="208359"/>
                  <a:pt x="119062" y="208359"/>
                </a:cubicBezTo>
                <a:cubicBezTo>
                  <a:pt x="168347" y="208359"/>
                  <a:pt x="208359" y="168347"/>
                  <a:pt x="208359" y="119063"/>
                </a:cubicBezTo>
                <a:close/>
                <a:moveTo>
                  <a:pt x="0" y="119062"/>
                </a:moveTo>
                <a:cubicBezTo>
                  <a:pt x="0" y="53350"/>
                  <a:pt x="53350" y="0"/>
                  <a:pt x="119062" y="0"/>
                </a:cubicBezTo>
                <a:cubicBezTo>
                  <a:pt x="184775" y="0"/>
                  <a:pt x="238125" y="53350"/>
                  <a:pt x="238125" y="119062"/>
                </a:cubicBezTo>
                <a:cubicBezTo>
                  <a:pt x="238125" y="184775"/>
                  <a:pt x="184775" y="238125"/>
                  <a:pt x="119062" y="238125"/>
                </a:cubicBezTo>
                <a:cubicBezTo>
                  <a:pt x="53350" y="238125"/>
                  <a:pt x="0" y="184775"/>
                  <a:pt x="0" y="119062"/>
                </a:cubicBezTo>
                <a:close/>
                <a:moveTo>
                  <a:pt x="119062" y="156270"/>
                </a:moveTo>
                <a:cubicBezTo>
                  <a:pt x="139598" y="156270"/>
                  <a:pt x="156270" y="139598"/>
                  <a:pt x="156270" y="119062"/>
                </a:cubicBezTo>
                <a:cubicBezTo>
                  <a:pt x="156270" y="98527"/>
                  <a:pt x="139598" y="81855"/>
                  <a:pt x="119062" y="81855"/>
                </a:cubicBezTo>
                <a:cubicBezTo>
                  <a:pt x="98527" y="81855"/>
                  <a:pt x="81855" y="98527"/>
                  <a:pt x="81855" y="119062"/>
                </a:cubicBezTo>
                <a:cubicBezTo>
                  <a:pt x="81855" y="139598"/>
                  <a:pt x="98527" y="156270"/>
                  <a:pt x="119062" y="156270"/>
                </a:cubicBezTo>
                <a:close/>
                <a:moveTo>
                  <a:pt x="119062" y="52090"/>
                </a:moveTo>
                <a:cubicBezTo>
                  <a:pt x="156026" y="52090"/>
                  <a:pt x="186035" y="82099"/>
                  <a:pt x="186035" y="119062"/>
                </a:cubicBezTo>
                <a:cubicBezTo>
                  <a:pt x="186035" y="156026"/>
                  <a:pt x="156026" y="186035"/>
                  <a:pt x="119062" y="186035"/>
                </a:cubicBezTo>
                <a:cubicBezTo>
                  <a:pt x="82099" y="186035"/>
                  <a:pt x="52090" y="156026"/>
                  <a:pt x="52090" y="119062"/>
                </a:cubicBezTo>
                <a:cubicBezTo>
                  <a:pt x="52090" y="82099"/>
                  <a:pt x="82099" y="52090"/>
                  <a:pt x="119062" y="52090"/>
                </a:cubicBezTo>
                <a:close/>
                <a:moveTo>
                  <a:pt x="104180" y="119062"/>
                </a:moveTo>
                <a:cubicBezTo>
                  <a:pt x="104180" y="110848"/>
                  <a:pt x="110848" y="104180"/>
                  <a:pt x="119062" y="104180"/>
                </a:cubicBezTo>
                <a:cubicBezTo>
                  <a:pt x="127277" y="104180"/>
                  <a:pt x="133945" y="110848"/>
                  <a:pt x="133945" y="119062"/>
                </a:cubicBezTo>
                <a:cubicBezTo>
                  <a:pt x="133945" y="127277"/>
                  <a:pt x="127277" y="133945"/>
                  <a:pt x="119062" y="133945"/>
                </a:cubicBezTo>
                <a:cubicBezTo>
                  <a:pt x="110848" y="133945"/>
                  <a:pt x="104180" y="127277"/>
                  <a:pt x="104180" y="119062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8773518" y="1270000"/>
            <a:ext cx="54768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Head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233768" y="1714500"/>
            <a:ext cx="3579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D5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Detection Output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8233768" y="1968500"/>
            <a:ext cx="3579813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Final layer that produces predictions: bounding boxes + class probabilities.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8233768" y="2476500"/>
            <a:ext cx="3516313" cy="1047750"/>
          </a:xfrm>
          <a:custGeom>
            <a:avLst/>
            <a:gdLst/>
            <a:ahLst/>
            <a:cxnLst/>
            <a:rect l="l" t="t" r="r" b="b"/>
            <a:pathLst>
              <a:path w="3516313" h="1047750">
                <a:moveTo>
                  <a:pt x="63504" y="0"/>
                </a:moveTo>
                <a:lnTo>
                  <a:pt x="3452808" y="0"/>
                </a:lnTo>
                <a:cubicBezTo>
                  <a:pt x="3487881" y="0"/>
                  <a:pt x="3516313" y="28432"/>
                  <a:pt x="3516313" y="63504"/>
                </a:cubicBezTo>
                <a:lnTo>
                  <a:pt x="3516313" y="984246"/>
                </a:lnTo>
                <a:cubicBezTo>
                  <a:pt x="3516313" y="1019318"/>
                  <a:pt x="3487881" y="1047750"/>
                  <a:pt x="3452808" y="1047750"/>
                </a:cubicBezTo>
                <a:lnTo>
                  <a:pt x="63504" y="1047750"/>
                </a:lnTo>
                <a:cubicBezTo>
                  <a:pt x="28432" y="1047750"/>
                  <a:pt x="0" y="1019318"/>
                  <a:pt x="0" y="984246"/>
                </a:cubicBezTo>
                <a:lnTo>
                  <a:pt x="0" y="63504"/>
                </a:lnTo>
                <a:cubicBezTo>
                  <a:pt x="0" y="28432"/>
                  <a:pt x="28432" y="0"/>
                  <a:pt x="63504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8344893" y="2597152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33189" y="9004"/>
                </a:moveTo>
                <a:cubicBezTo>
                  <a:pt x="35892" y="10889"/>
                  <a:pt x="36537" y="14610"/>
                  <a:pt x="34652" y="17289"/>
                </a:cubicBezTo>
                <a:lnTo>
                  <a:pt x="20762" y="37133"/>
                </a:lnTo>
                <a:cubicBezTo>
                  <a:pt x="19745" y="38571"/>
                  <a:pt x="18157" y="39489"/>
                  <a:pt x="16396" y="39638"/>
                </a:cubicBezTo>
                <a:cubicBezTo>
                  <a:pt x="14635" y="39787"/>
                  <a:pt x="12898" y="39191"/>
                  <a:pt x="11658" y="37951"/>
                </a:cubicBezTo>
                <a:lnTo>
                  <a:pt x="1736" y="28029"/>
                </a:lnTo>
                <a:cubicBezTo>
                  <a:pt x="-571" y="25698"/>
                  <a:pt x="-571" y="21927"/>
                  <a:pt x="1736" y="19596"/>
                </a:cubicBezTo>
                <a:cubicBezTo>
                  <a:pt x="4043" y="17264"/>
                  <a:pt x="7838" y="17289"/>
                  <a:pt x="10170" y="19596"/>
                </a:cubicBezTo>
                <a:lnTo>
                  <a:pt x="15081" y="24507"/>
                </a:lnTo>
                <a:lnTo>
                  <a:pt x="24904" y="10468"/>
                </a:lnTo>
                <a:cubicBezTo>
                  <a:pt x="26789" y="7764"/>
                  <a:pt x="30510" y="7119"/>
                  <a:pt x="33189" y="9004"/>
                </a:cubicBezTo>
                <a:close/>
                <a:moveTo>
                  <a:pt x="33189" y="48692"/>
                </a:moveTo>
                <a:cubicBezTo>
                  <a:pt x="35892" y="50577"/>
                  <a:pt x="36537" y="54297"/>
                  <a:pt x="34652" y="56976"/>
                </a:cubicBezTo>
                <a:lnTo>
                  <a:pt x="20762" y="76820"/>
                </a:lnTo>
                <a:cubicBezTo>
                  <a:pt x="19745" y="78259"/>
                  <a:pt x="18157" y="79177"/>
                  <a:pt x="16396" y="79325"/>
                </a:cubicBezTo>
                <a:cubicBezTo>
                  <a:pt x="14635" y="79474"/>
                  <a:pt x="12898" y="78879"/>
                  <a:pt x="11658" y="77639"/>
                </a:cubicBezTo>
                <a:lnTo>
                  <a:pt x="1736" y="67717"/>
                </a:lnTo>
                <a:cubicBezTo>
                  <a:pt x="-595" y="65385"/>
                  <a:pt x="-595" y="61615"/>
                  <a:pt x="1736" y="59308"/>
                </a:cubicBezTo>
                <a:cubicBezTo>
                  <a:pt x="4068" y="57001"/>
                  <a:pt x="7838" y="56976"/>
                  <a:pt x="10145" y="59308"/>
                </a:cubicBezTo>
                <a:lnTo>
                  <a:pt x="15056" y="64219"/>
                </a:lnTo>
                <a:lnTo>
                  <a:pt x="24879" y="50180"/>
                </a:lnTo>
                <a:cubicBezTo>
                  <a:pt x="26764" y="47476"/>
                  <a:pt x="30485" y="46831"/>
                  <a:pt x="33164" y="48716"/>
                </a:cubicBezTo>
                <a:close/>
                <a:moveTo>
                  <a:pt x="55563" y="23812"/>
                </a:moveTo>
                <a:cubicBezTo>
                  <a:pt x="55563" y="19422"/>
                  <a:pt x="59110" y="15875"/>
                  <a:pt x="63500" y="15875"/>
                </a:cubicBezTo>
                <a:lnTo>
                  <a:pt x="119063" y="15875"/>
                </a:lnTo>
                <a:cubicBezTo>
                  <a:pt x="123453" y="15875"/>
                  <a:pt x="127000" y="19422"/>
                  <a:pt x="127000" y="23812"/>
                </a:cubicBezTo>
                <a:cubicBezTo>
                  <a:pt x="127000" y="28203"/>
                  <a:pt x="123453" y="31750"/>
                  <a:pt x="119063" y="31750"/>
                </a:cubicBezTo>
                <a:lnTo>
                  <a:pt x="63500" y="31750"/>
                </a:lnTo>
                <a:cubicBezTo>
                  <a:pt x="59110" y="31750"/>
                  <a:pt x="55563" y="28203"/>
                  <a:pt x="55563" y="23812"/>
                </a:cubicBezTo>
                <a:close/>
                <a:moveTo>
                  <a:pt x="55563" y="63500"/>
                </a:moveTo>
                <a:cubicBezTo>
                  <a:pt x="55563" y="59110"/>
                  <a:pt x="59110" y="55563"/>
                  <a:pt x="63500" y="55563"/>
                </a:cubicBezTo>
                <a:lnTo>
                  <a:pt x="119063" y="55563"/>
                </a:lnTo>
                <a:cubicBezTo>
                  <a:pt x="123453" y="55563"/>
                  <a:pt x="127000" y="59110"/>
                  <a:pt x="127000" y="63500"/>
                </a:cubicBezTo>
                <a:cubicBezTo>
                  <a:pt x="127000" y="67890"/>
                  <a:pt x="123453" y="71438"/>
                  <a:pt x="119063" y="71438"/>
                </a:cubicBezTo>
                <a:lnTo>
                  <a:pt x="63500" y="71438"/>
                </a:lnTo>
                <a:cubicBezTo>
                  <a:pt x="59110" y="71438"/>
                  <a:pt x="55563" y="67890"/>
                  <a:pt x="55563" y="63500"/>
                </a:cubicBezTo>
                <a:close/>
                <a:moveTo>
                  <a:pt x="39688" y="103188"/>
                </a:moveTo>
                <a:cubicBezTo>
                  <a:pt x="39688" y="98797"/>
                  <a:pt x="43235" y="95250"/>
                  <a:pt x="47625" y="95250"/>
                </a:cubicBezTo>
                <a:lnTo>
                  <a:pt x="119063" y="95250"/>
                </a:lnTo>
                <a:cubicBezTo>
                  <a:pt x="123453" y="95250"/>
                  <a:pt x="127000" y="98797"/>
                  <a:pt x="127000" y="103188"/>
                </a:cubicBezTo>
                <a:cubicBezTo>
                  <a:pt x="127000" y="107578"/>
                  <a:pt x="123453" y="111125"/>
                  <a:pt x="119063" y="111125"/>
                </a:cubicBezTo>
                <a:lnTo>
                  <a:pt x="47625" y="111125"/>
                </a:lnTo>
                <a:cubicBezTo>
                  <a:pt x="43235" y="111125"/>
                  <a:pt x="39688" y="107578"/>
                  <a:pt x="39688" y="103188"/>
                </a:cubicBezTo>
                <a:close/>
                <a:moveTo>
                  <a:pt x="15875" y="93266"/>
                </a:moveTo>
                <a:cubicBezTo>
                  <a:pt x="21351" y="93266"/>
                  <a:pt x="25797" y="97711"/>
                  <a:pt x="25797" y="103188"/>
                </a:cubicBezTo>
                <a:cubicBezTo>
                  <a:pt x="25797" y="108664"/>
                  <a:pt x="21351" y="113109"/>
                  <a:pt x="15875" y="113109"/>
                </a:cubicBezTo>
                <a:cubicBezTo>
                  <a:pt x="10399" y="113109"/>
                  <a:pt x="5953" y="108664"/>
                  <a:pt x="5953" y="103188"/>
                </a:cubicBezTo>
                <a:cubicBezTo>
                  <a:pt x="5953" y="97711"/>
                  <a:pt x="10399" y="93266"/>
                  <a:pt x="15875" y="93266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8527455" y="2571750"/>
            <a:ext cx="3190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Functions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8376643" y="2825750"/>
            <a:ext cx="63500" cy="127000"/>
          </a:xfrm>
          <a:custGeom>
            <a:avLst/>
            <a:gdLst/>
            <a:ahLst/>
            <a:cxnLst/>
            <a:rect l="l" t="t" r="r" b="b"/>
            <a:pathLst>
              <a:path w="63500" h="127000">
                <a:moveTo>
                  <a:pt x="61292" y="57894"/>
                </a:moveTo>
                <a:cubicBezTo>
                  <a:pt x="64393" y="60995"/>
                  <a:pt x="64393" y="66030"/>
                  <a:pt x="61292" y="69131"/>
                </a:cubicBezTo>
                <a:lnTo>
                  <a:pt x="21605" y="108818"/>
                </a:lnTo>
                <a:cubicBezTo>
                  <a:pt x="18504" y="111919"/>
                  <a:pt x="13469" y="111919"/>
                  <a:pt x="10368" y="108818"/>
                </a:cubicBezTo>
                <a:cubicBezTo>
                  <a:pt x="7268" y="105718"/>
                  <a:pt x="7268" y="100682"/>
                  <a:pt x="10368" y="97582"/>
                </a:cubicBezTo>
                <a:lnTo>
                  <a:pt x="44450" y="63500"/>
                </a:lnTo>
                <a:lnTo>
                  <a:pt x="10393" y="29418"/>
                </a:lnTo>
                <a:cubicBezTo>
                  <a:pt x="7293" y="26318"/>
                  <a:pt x="7293" y="21282"/>
                  <a:pt x="10393" y="18182"/>
                </a:cubicBezTo>
                <a:cubicBezTo>
                  <a:pt x="13494" y="15081"/>
                  <a:pt x="18529" y="15081"/>
                  <a:pt x="21630" y="18182"/>
                </a:cubicBezTo>
                <a:lnTo>
                  <a:pt x="61317" y="57869"/>
                </a:ln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8551268" y="2794000"/>
            <a:ext cx="1531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Generates bounding boxes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8376643" y="3048000"/>
            <a:ext cx="63500" cy="127000"/>
          </a:xfrm>
          <a:custGeom>
            <a:avLst/>
            <a:gdLst/>
            <a:ahLst/>
            <a:cxnLst/>
            <a:rect l="l" t="t" r="r" b="b"/>
            <a:pathLst>
              <a:path w="63500" h="127000">
                <a:moveTo>
                  <a:pt x="61292" y="57894"/>
                </a:moveTo>
                <a:cubicBezTo>
                  <a:pt x="64393" y="60995"/>
                  <a:pt x="64393" y="66030"/>
                  <a:pt x="61292" y="69131"/>
                </a:cubicBezTo>
                <a:lnTo>
                  <a:pt x="21605" y="108818"/>
                </a:lnTo>
                <a:cubicBezTo>
                  <a:pt x="18504" y="111919"/>
                  <a:pt x="13469" y="111919"/>
                  <a:pt x="10368" y="108818"/>
                </a:cubicBezTo>
                <a:cubicBezTo>
                  <a:pt x="7268" y="105718"/>
                  <a:pt x="7268" y="100682"/>
                  <a:pt x="10368" y="97582"/>
                </a:cubicBezTo>
                <a:lnTo>
                  <a:pt x="44450" y="63500"/>
                </a:lnTo>
                <a:lnTo>
                  <a:pt x="10393" y="29418"/>
                </a:lnTo>
                <a:cubicBezTo>
                  <a:pt x="7293" y="26318"/>
                  <a:pt x="7293" y="21282"/>
                  <a:pt x="10393" y="18182"/>
                </a:cubicBezTo>
                <a:cubicBezTo>
                  <a:pt x="13494" y="15081"/>
                  <a:pt x="18529" y="15081"/>
                  <a:pt x="21630" y="18182"/>
                </a:cubicBezTo>
                <a:lnTo>
                  <a:pt x="61317" y="57869"/>
                </a:ln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8551268" y="3016250"/>
            <a:ext cx="1500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Assigns confidence scores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8376643" y="3270250"/>
            <a:ext cx="63500" cy="127000"/>
          </a:xfrm>
          <a:custGeom>
            <a:avLst/>
            <a:gdLst/>
            <a:ahLst/>
            <a:cxnLst/>
            <a:rect l="l" t="t" r="r" b="b"/>
            <a:pathLst>
              <a:path w="63500" h="127000">
                <a:moveTo>
                  <a:pt x="61292" y="57894"/>
                </a:moveTo>
                <a:cubicBezTo>
                  <a:pt x="64393" y="60995"/>
                  <a:pt x="64393" y="66030"/>
                  <a:pt x="61292" y="69131"/>
                </a:cubicBezTo>
                <a:lnTo>
                  <a:pt x="21605" y="108818"/>
                </a:lnTo>
                <a:cubicBezTo>
                  <a:pt x="18504" y="111919"/>
                  <a:pt x="13469" y="111919"/>
                  <a:pt x="10368" y="108818"/>
                </a:cubicBezTo>
                <a:cubicBezTo>
                  <a:pt x="7268" y="105718"/>
                  <a:pt x="7268" y="100682"/>
                  <a:pt x="10368" y="97582"/>
                </a:cubicBezTo>
                <a:lnTo>
                  <a:pt x="44450" y="63500"/>
                </a:lnTo>
                <a:lnTo>
                  <a:pt x="10393" y="29418"/>
                </a:lnTo>
                <a:cubicBezTo>
                  <a:pt x="7293" y="26318"/>
                  <a:pt x="7293" y="21282"/>
                  <a:pt x="10393" y="18182"/>
                </a:cubicBezTo>
                <a:cubicBezTo>
                  <a:pt x="13494" y="15081"/>
                  <a:pt x="18529" y="15081"/>
                  <a:pt x="21630" y="18182"/>
                </a:cubicBezTo>
                <a:lnTo>
                  <a:pt x="61317" y="57869"/>
                </a:ln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8551268" y="3238500"/>
            <a:ext cx="1000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Classifies objects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8233768" y="3587750"/>
            <a:ext cx="3516313" cy="603250"/>
          </a:xfrm>
          <a:custGeom>
            <a:avLst/>
            <a:gdLst/>
            <a:ahLst/>
            <a:cxnLst/>
            <a:rect l="l" t="t" r="r" b="b"/>
            <a:pathLst>
              <a:path w="3516313" h="603250">
                <a:moveTo>
                  <a:pt x="63498" y="0"/>
                </a:moveTo>
                <a:lnTo>
                  <a:pt x="3452814" y="0"/>
                </a:lnTo>
                <a:cubicBezTo>
                  <a:pt x="3487883" y="0"/>
                  <a:pt x="3516313" y="28429"/>
                  <a:pt x="3516313" y="63498"/>
                </a:cubicBezTo>
                <a:lnTo>
                  <a:pt x="3516313" y="539752"/>
                </a:lnTo>
                <a:cubicBezTo>
                  <a:pt x="3516313" y="574821"/>
                  <a:pt x="3487883" y="603250"/>
                  <a:pt x="3452814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8336955" y="3708402"/>
            <a:ext cx="142875" cy="127000"/>
          </a:xfrm>
          <a:custGeom>
            <a:avLst/>
            <a:gdLst/>
            <a:ahLst/>
            <a:cxnLst/>
            <a:rect l="l" t="t" r="r" b="b"/>
            <a:pathLst>
              <a:path w="142875" h="127000">
                <a:moveTo>
                  <a:pt x="89495" y="298"/>
                </a:moveTo>
                <a:cubicBezTo>
                  <a:pt x="85279" y="-918"/>
                  <a:pt x="80888" y="1538"/>
                  <a:pt x="79673" y="5755"/>
                </a:cubicBezTo>
                <a:lnTo>
                  <a:pt x="47923" y="116880"/>
                </a:lnTo>
                <a:cubicBezTo>
                  <a:pt x="46707" y="121096"/>
                  <a:pt x="49163" y="125487"/>
                  <a:pt x="53380" y="126702"/>
                </a:cubicBezTo>
                <a:cubicBezTo>
                  <a:pt x="57596" y="127918"/>
                  <a:pt x="61987" y="125462"/>
                  <a:pt x="63202" y="121245"/>
                </a:cubicBezTo>
                <a:lnTo>
                  <a:pt x="94952" y="10120"/>
                </a:lnTo>
                <a:cubicBezTo>
                  <a:pt x="96168" y="5904"/>
                  <a:pt x="93712" y="1513"/>
                  <a:pt x="89495" y="298"/>
                </a:cubicBezTo>
                <a:close/>
                <a:moveTo>
                  <a:pt x="105519" y="34057"/>
                </a:moveTo>
                <a:cubicBezTo>
                  <a:pt x="102419" y="37157"/>
                  <a:pt x="102419" y="42193"/>
                  <a:pt x="105519" y="45293"/>
                </a:cubicBezTo>
                <a:lnTo>
                  <a:pt x="123726" y="63500"/>
                </a:lnTo>
                <a:lnTo>
                  <a:pt x="105519" y="81707"/>
                </a:lnTo>
                <a:cubicBezTo>
                  <a:pt x="102419" y="84807"/>
                  <a:pt x="102419" y="89843"/>
                  <a:pt x="105519" y="92943"/>
                </a:cubicBezTo>
                <a:cubicBezTo>
                  <a:pt x="108620" y="96044"/>
                  <a:pt x="113655" y="96044"/>
                  <a:pt x="116756" y="92943"/>
                </a:cubicBezTo>
                <a:lnTo>
                  <a:pt x="140568" y="69131"/>
                </a:lnTo>
                <a:cubicBezTo>
                  <a:pt x="143669" y="66030"/>
                  <a:pt x="143669" y="60995"/>
                  <a:pt x="140568" y="57894"/>
                </a:cubicBezTo>
                <a:lnTo>
                  <a:pt x="116756" y="34082"/>
                </a:lnTo>
                <a:cubicBezTo>
                  <a:pt x="113655" y="30981"/>
                  <a:pt x="108620" y="30981"/>
                  <a:pt x="105519" y="34082"/>
                </a:cubicBezTo>
                <a:close/>
                <a:moveTo>
                  <a:pt x="37381" y="34057"/>
                </a:moveTo>
                <a:cubicBezTo>
                  <a:pt x="34280" y="30956"/>
                  <a:pt x="29245" y="30956"/>
                  <a:pt x="26144" y="34057"/>
                </a:cubicBezTo>
                <a:lnTo>
                  <a:pt x="2332" y="57869"/>
                </a:lnTo>
                <a:cubicBezTo>
                  <a:pt x="-769" y="60970"/>
                  <a:pt x="-769" y="66005"/>
                  <a:pt x="2332" y="69106"/>
                </a:cubicBezTo>
                <a:lnTo>
                  <a:pt x="26144" y="92918"/>
                </a:lnTo>
                <a:cubicBezTo>
                  <a:pt x="29245" y="96019"/>
                  <a:pt x="34280" y="96019"/>
                  <a:pt x="37381" y="92918"/>
                </a:cubicBezTo>
                <a:cubicBezTo>
                  <a:pt x="40481" y="89818"/>
                  <a:pt x="40481" y="84782"/>
                  <a:pt x="37381" y="81682"/>
                </a:cubicBezTo>
                <a:lnTo>
                  <a:pt x="19174" y="63500"/>
                </a:lnTo>
                <a:lnTo>
                  <a:pt x="37356" y="45293"/>
                </a:lnTo>
                <a:cubicBezTo>
                  <a:pt x="40456" y="42193"/>
                  <a:pt x="40456" y="37157"/>
                  <a:pt x="37356" y="34057"/>
                </a:cubicBezTo>
                <a:close/>
              </a:path>
            </a:pathLst>
          </a:custGeom>
          <a:solidFill>
            <a:srgbClr val="FFD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8527455" y="3683000"/>
            <a:ext cx="3190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D5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Output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8329018" y="3905250"/>
            <a:ext cx="3389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S×S×A×(5+C) tensor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50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NETWORK STRUCTURE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YOLO Architecture Explained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4500" y="2270125"/>
            <a:ext cx="3516313" cy="1047750"/>
          </a:xfrm>
          <a:custGeom>
            <a:avLst/>
            <a:gdLst/>
            <a:ahLst/>
            <a:cxnLst/>
            <a:rect l="l" t="t" r="r" b="b"/>
            <a:pathLst>
              <a:path w="3516313" h="1047750">
                <a:moveTo>
                  <a:pt x="63504" y="0"/>
                </a:moveTo>
                <a:lnTo>
                  <a:pt x="3452808" y="0"/>
                </a:lnTo>
                <a:cubicBezTo>
                  <a:pt x="3487881" y="0"/>
                  <a:pt x="3516313" y="28432"/>
                  <a:pt x="3516313" y="63504"/>
                </a:cubicBezTo>
                <a:lnTo>
                  <a:pt x="3516313" y="984246"/>
                </a:lnTo>
                <a:cubicBezTo>
                  <a:pt x="3516313" y="1019318"/>
                  <a:pt x="3487881" y="1047750"/>
                  <a:pt x="3452808" y="1047750"/>
                </a:cubicBezTo>
                <a:lnTo>
                  <a:pt x="63504" y="1047750"/>
                </a:lnTo>
                <a:cubicBezTo>
                  <a:pt x="28432" y="1047750"/>
                  <a:pt x="0" y="1019318"/>
                  <a:pt x="0" y="984246"/>
                </a:cubicBezTo>
                <a:lnTo>
                  <a:pt x="0" y="63504"/>
                </a:lnTo>
                <a:cubicBezTo>
                  <a:pt x="0" y="28432"/>
                  <a:pt x="28432" y="0"/>
                  <a:pt x="63504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339134" y="3587750"/>
            <a:ext cx="3516313" cy="603250"/>
          </a:xfrm>
          <a:custGeom>
            <a:avLst/>
            <a:gdLst/>
            <a:ahLst/>
            <a:cxnLst/>
            <a:rect l="l" t="t" r="r" b="b"/>
            <a:pathLst>
              <a:path w="3516313" h="603250">
                <a:moveTo>
                  <a:pt x="63498" y="0"/>
                </a:moveTo>
                <a:lnTo>
                  <a:pt x="3452814" y="0"/>
                </a:lnTo>
                <a:cubicBezTo>
                  <a:pt x="3487883" y="0"/>
                  <a:pt x="3516313" y="28429"/>
                  <a:pt x="3516313" y="63498"/>
                </a:cubicBezTo>
                <a:lnTo>
                  <a:pt x="3516313" y="539752"/>
                </a:lnTo>
                <a:cubicBezTo>
                  <a:pt x="3516313" y="574821"/>
                  <a:pt x="3487883" y="603250"/>
                  <a:pt x="3452814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233768" y="3587750"/>
            <a:ext cx="3516313" cy="603250"/>
          </a:xfrm>
          <a:custGeom>
            <a:avLst/>
            <a:gdLst/>
            <a:ahLst/>
            <a:cxnLst/>
            <a:rect l="l" t="t" r="r" b="b"/>
            <a:pathLst>
              <a:path w="3516313" h="603250">
                <a:moveTo>
                  <a:pt x="63498" y="0"/>
                </a:moveTo>
                <a:lnTo>
                  <a:pt x="3452814" y="0"/>
                </a:lnTo>
                <a:cubicBezTo>
                  <a:pt x="3487883" y="0"/>
                  <a:pt x="3516313" y="28429"/>
                  <a:pt x="3516313" y="63498"/>
                </a:cubicBezTo>
                <a:lnTo>
                  <a:pt x="3516313" y="539752"/>
                </a:lnTo>
                <a:cubicBezTo>
                  <a:pt x="3516313" y="574821"/>
                  <a:pt x="3487883" y="603250"/>
                  <a:pt x="3452814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17500" y="1112852"/>
            <a:ext cx="11557000" cy="5451448"/>
          </a:xfrm>
          <a:custGeom>
            <a:avLst/>
            <a:gdLst/>
            <a:ahLst/>
            <a:cxnLst/>
            <a:rect l="l" t="t" r="r" b="b"/>
            <a:pathLst>
              <a:path w="11557000" h="5451448">
                <a:moveTo>
                  <a:pt x="31750" y="0"/>
                </a:moveTo>
                <a:lnTo>
                  <a:pt x="11525250" y="0"/>
                </a:lnTo>
                <a:cubicBezTo>
                  <a:pt x="11542773" y="0"/>
                  <a:pt x="11557000" y="35660"/>
                  <a:pt x="11557000" y="79583"/>
                </a:cubicBezTo>
                <a:lnTo>
                  <a:pt x="11557000" y="5212674"/>
                </a:lnTo>
                <a:cubicBezTo>
                  <a:pt x="11557000" y="5344545"/>
                  <a:pt x="11514351" y="5451448"/>
                  <a:pt x="11461740" y="5451448"/>
                </a:cubicBezTo>
                <a:lnTo>
                  <a:pt x="95260" y="5451448"/>
                </a:lnTo>
                <a:cubicBezTo>
                  <a:pt x="42649" y="5451448"/>
                  <a:pt x="0" y="5344545"/>
                  <a:pt x="0" y="5212674"/>
                </a:cubicBezTo>
                <a:lnTo>
                  <a:pt x="0" y="79583"/>
                </a:lnTo>
                <a:cubicBezTo>
                  <a:pt x="0" y="35660"/>
                  <a:pt x="14227" y="0"/>
                  <a:pt x="31750" y="0"/>
                </a:cubicBezTo>
                <a:close/>
              </a:path>
            </a:pathLst>
          </a:custGeom>
          <a:solidFill>
            <a:srgbClr val="263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81000" y="1112852"/>
            <a:ext cx="11557000" cy="31750"/>
          </a:xfrm>
          <a:custGeom>
            <a:avLst/>
            <a:gdLst/>
            <a:ahLst/>
            <a:cxnLst/>
            <a:rect l="l" t="t" r="r" b="b"/>
            <a:pathLst>
              <a:path w="11557000" h="31750">
                <a:moveTo>
                  <a:pt x="31750" y="0"/>
                </a:moveTo>
                <a:lnTo>
                  <a:pt x="11525250" y="0"/>
                </a:lnTo>
                <a:cubicBezTo>
                  <a:pt x="11542773" y="0"/>
                  <a:pt x="11557000" y="14227"/>
                  <a:pt x="11557000" y="31750"/>
                </a:cubicBezTo>
                <a:lnTo>
                  <a:pt x="11557000" y="31750"/>
                </a:lnTo>
                <a:lnTo>
                  <a:pt x="0" y="31750"/>
                </a:ln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D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44500" y="1289080"/>
            <a:ext cx="11303000" cy="4978372"/>
          </a:xfrm>
          <a:custGeom>
            <a:avLst/>
            <a:gdLst/>
            <a:ahLst/>
            <a:cxnLst/>
            <a:rect l="l" t="t" r="r" b="b"/>
            <a:pathLst>
              <a:path w="11303000" h="4978372">
                <a:moveTo>
                  <a:pt x="63500" y="0"/>
                </a:moveTo>
                <a:lnTo>
                  <a:pt x="11239500" y="0"/>
                </a:lnTo>
                <a:cubicBezTo>
                  <a:pt x="11274547" y="0"/>
                  <a:pt x="11303000" y="89229"/>
                  <a:pt x="11303000" y="199135"/>
                </a:cubicBezTo>
                <a:lnTo>
                  <a:pt x="11303000" y="4779237"/>
                </a:lnTo>
                <a:cubicBezTo>
                  <a:pt x="11303000" y="4889142"/>
                  <a:pt x="11274547" y="4978372"/>
                  <a:pt x="11239500" y="4978372"/>
                </a:cubicBezTo>
                <a:lnTo>
                  <a:pt x="63500" y="4978372"/>
                </a:lnTo>
                <a:cubicBezTo>
                  <a:pt x="28453" y="4978372"/>
                  <a:pt x="0" y="4889142"/>
                  <a:pt x="0" y="4779237"/>
                </a:cubicBezTo>
                <a:lnTo>
                  <a:pt x="0" y="199135"/>
                </a:lnTo>
                <a:cubicBezTo>
                  <a:pt x="0" y="89229"/>
                  <a:pt x="28453" y="0"/>
                  <a:pt x="63500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0" descr="https://kimi-web-img.moonshot.cn/img/velog.velcdn.com/fef6c5e0beff9c8ef67811937eacb432a5820780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44500" y="1400385"/>
            <a:ext cx="11239500" cy="4242162"/>
          </a:xfrm>
          <a:prstGeom prst="roundRect">
            <a:avLst>
              <a:gd name="adj" fmla="val 2778"/>
            </a:avLst>
          </a:prstGeom>
        </p:spPr>
      </p:pic>
      <p:sp>
        <p:nvSpPr>
          <p:cNvPr id="11" name="Text 8"/>
          <p:cNvSpPr/>
          <p:nvPr/>
        </p:nvSpPr>
        <p:spPr>
          <a:xfrm>
            <a:off x="317500" y="5892803"/>
            <a:ext cx="11176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Backbone → Neck (Feature Pyramid) → Head (Detection)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50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TRAINING OBJECTIVE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YOLO Loss Function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33375" y="1016000"/>
            <a:ext cx="5699125" cy="1881187"/>
          </a:xfrm>
          <a:custGeom>
            <a:avLst/>
            <a:gdLst/>
            <a:ahLst/>
            <a:cxnLst/>
            <a:rect l="l" t="t" r="r" b="b"/>
            <a:pathLst>
              <a:path w="5699125" h="1881187">
                <a:moveTo>
                  <a:pt x="31750" y="0"/>
                </a:moveTo>
                <a:lnTo>
                  <a:pt x="5603880" y="0"/>
                </a:lnTo>
                <a:cubicBezTo>
                  <a:pt x="5656483" y="0"/>
                  <a:pt x="5699125" y="42642"/>
                  <a:pt x="5699125" y="95245"/>
                </a:cubicBezTo>
                <a:lnTo>
                  <a:pt x="5699125" y="1785943"/>
                </a:lnTo>
                <a:cubicBezTo>
                  <a:pt x="5699125" y="1838545"/>
                  <a:pt x="5656483" y="1881187"/>
                  <a:pt x="5603880" y="1881188"/>
                </a:cubicBezTo>
                <a:lnTo>
                  <a:pt x="31750" y="1881187"/>
                </a:lnTo>
                <a:cubicBezTo>
                  <a:pt x="14215" y="1881187"/>
                  <a:pt x="0" y="1866973"/>
                  <a:pt x="0" y="1849438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63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33375" y="1016000"/>
            <a:ext cx="31750" cy="1881187"/>
          </a:xfrm>
          <a:custGeom>
            <a:avLst/>
            <a:gdLst/>
            <a:ahLst/>
            <a:cxnLst/>
            <a:rect l="l" t="t" r="r" b="b"/>
            <a:pathLst>
              <a:path w="31750" h="1881187">
                <a:moveTo>
                  <a:pt x="31750" y="0"/>
                </a:moveTo>
                <a:lnTo>
                  <a:pt x="31750" y="0"/>
                </a:lnTo>
                <a:lnTo>
                  <a:pt x="31750" y="1881187"/>
                </a:lnTo>
                <a:lnTo>
                  <a:pt x="31750" y="1881187"/>
                </a:lnTo>
                <a:cubicBezTo>
                  <a:pt x="14227" y="1881187"/>
                  <a:pt x="0" y="1866961"/>
                  <a:pt x="0" y="1849438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96094" y="1168402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20433" y="70848"/>
                </a:moveTo>
                <a:cubicBezTo>
                  <a:pt x="24557" y="42013"/>
                  <a:pt x="49392" y="19844"/>
                  <a:pt x="79375" y="19844"/>
                </a:cubicBezTo>
                <a:cubicBezTo>
                  <a:pt x="95808" y="19844"/>
                  <a:pt x="110691" y="26510"/>
                  <a:pt x="121481" y="37269"/>
                </a:cubicBezTo>
                <a:cubicBezTo>
                  <a:pt x="121543" y="37331"/>
                  <a:pt x="121605" y="37393"/>
                  <a:pt x="121667" y="37455"/>
                </a:cubicBezTo>
                <a:lnTo>
                  <a:pt x="124023" y="39688"/>
                </a:lnTo>
                <a:lnTo>
                  <a:pt x="109172" y="39688"/>
                </a:lnTo>
                <a:cubicBezTo>
                  <a:pt x="103684" y="39688"/>
                  <a:pt x="99250" y="44121"/>
                  <a:pt x="99250" y="49609"/>
                </a:cubicBezTo>
                <a:cubicBezTo>
                  <a:pt x="99250" y="55097"/>
                  <a:pt x="103684" y="59531"/>
                  <a:pt x="109172" y="59531"/>
                </a:cubicBezTo>
                <a:lnTo>
                  <a:pt x="148859" y="59531"/>
                </a:lnTo>
                <a:cubicBezTo>
                  <a:pt x="154347" y="59531"/>
                  <a:pt x="158781" y="55097"/>
                  <a:pt x="158781" y="49609"/>
                </a:cubicBezTo>
                <a:lnTo>
                  <a:pt x="158781" y="9922"/>
                </a:lnTo>
                <a:cubicBezTo>
                  <a:pt x="158781" y="4434"/>
                  <a:pt x="154347" y="0"/>
                  <a:pt x="148859" y="0"/>
                </a:cubicBezTo>
                <a:cubicBezTo>
                  <a:pt x="143371" y="0"/>
                  <a:pt x="138937" y="4434"/>
                  <a:pt x="138937" y="9922"/>
                </a:cubicBezTo>
                <a:lnTo>
                  <a:pt x="138937" y="26479"/>
                </a:lnTo>
                <a:lnTo>
                  <a:pt x="135434" y="23161"/>
                </a:lnTo>
                <a:cubicBezTo>
                  <a:pt x="121078" y="8868"/>
                  <a:pt x="101234" y="0"/>
                  <a:pt x="79375" y="0"/>
                </a:cubicBezTo>
                <a:cubicBezTo>
                  <a:pt x="39377" y="0"/>
                  <a:pt x="6294" y="29580"/>
                  <a:pt x="806" y="68058"/>
                </a:cubicBezTo>
                <a:cubicBezTo>
                  <a:pt x="31" y="73484"/>
                  <a:pt x="3783" y="78507"/>
                  <a:pt x="9209" y="79282"/>
                </a:cubicBezTo>
                <a:cubicBezTo>
                  <a:pt x="14635" y="80057"/>
                  <a:pt x="19658" y="76274"/>
                  <a:pt x="20433" y="70879"/>
                </a:cubicBezTo>
                <a:close/>
                <a:moveTo>
                  <a:pt x="157944" y="90692"/>
                </a:moveTo>
                <a:cubicBezTo>
                  <a:pt x="158719" y="85266"/>
                  <a:pt x="154936" y="80243"/>
                  <a:pt x="149541" y="79468"/>
                </a:cubicBezTo>
                <a:cubicBezTo>
                  <a:pt x="144146" y="78693"/>
                  <a:pt x="139092" y="82476"/>
                  <a:pt x="138317" y="87871"/>
                </a:cubicBezTo>
                <a:cubicBezTo>
                  <a:pt x="134193" y="116706"/>
                  <a:pt x="109358" y="138875"/>
                  <a:pt x="79375" y="138875"/>
                </a:cubicBezTo>
                <a:cubicBezTo>
                  <a:pt x="62942" y="138875"/>
                  <a:pt x="48059" y="132209"/>
                  <a:pt x="37269" y="121450"/>
                </a:cubicBezTo>
                <a:cubicBezTo>
                  <a:pt x="37207" y="121388"/>
                  <a:pt x="37145" y="121326"/>
                  <a:pt x="37083" y="121264"/>
                </a:cubicBezTo>
                <a:lnTo>
                  <a:pt x="34727" y="119031"/>
                </a:lnTo>
                <a:lnTo>
                  <a:pt x="49578" y="119031"/>
                </a:lnTo>
                <a:cubicBezTo>
                  <a:pt x="55066" y="119031"/>
                  <a:pt x="59500" y="114598"/>
                  <a:pt x="59500" y="109110"/>
                </a:cubicBezTo>
                <a:cubicBezTo>
                  <a:pt x="59500" y="103622"/>
                  <a:pt x="55066" y="99188"/>
                  <a:pt x="49578" y="99188"/>
                </a:cubicBezTo>
                <a:lnTo>
                  <a:pt x="9922" y="99219"/>
                </a:lnTo>
                <a:cubicBezTo>
                  <a:pt x="7286" y="99219"/>
                  <a:pt x="4744" y="100273"/>
                  <a:pt x="2884" y="102164"/>
                </a:cubicBezTo>
                <a:cubicBezTo>
                  <a:pt x="1023" y="104056"/>
                  <a:pt x="-31" y="106567"/>
                  <a:pt x="0" y="109234"/>
                </a:cubicBezTo>
                <a:lnTo>
                  <a:pt x="310" y="148611"/>
                </a:lnTo>
                <a:cubicBezTo>
                  <a:pt x="341" y="154099"/>
                  <a:pt x="4837" y="158502"/>
                  <a:pt x="10325" y="158440"/>
                </a:cubicBezTo>
                <a:cubicBezTo>
                  <a:pt x="15813" y="158378"/>
                  <a:pt x="20216" y="153913"/>
                  <a:pt x="20154" y="148425"/>
                </a:cubicBezTo>
                <a:lnTo>
                  <a:pt x="20030" y="132457"/>
                </a:lnTo>
                <a:lnTo>
                  <a:pt x="23347" y="135589"/>
                </a:lnTo>
                <a:cubicBezTo>
                  <a:pt x="37703" y="149882"/>
                  <a:pt x="57516" y="158750"/>
                  <a:pt x="79375" y="158750"/>
                </a:cubicBezTo>
                <a:cubicBezTo>
                  <a:pt x="119373" y="158750"/>
                  <a:pt x="152456" y="129170"/>
                  <a:pt x="157944" y="90692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14375" y="1143000"/>
            <a:ext cx="52705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Multi-Part Loss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76250" y="1460500"/>
            <a:ext cx="549275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YOLO uses a </a:t>
            </a:r>
            <a:r>
              <a:rPr lang="en-US" sz="1000" b="1" dirty="0">
                <a:solidFill>
                  <a:srgbClr val="FFD5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combined loss function</a:t>
            </a:r>
            <a:r>
              <a:rPr lang="en-US" sz="1000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three components, each weighted differently to balance their importance.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76250" y="1968500"/>
            <a:ext cx="5429250" cy="801688"/>
          </a:xfrm>
          <a:custGeom>
            <a:avLst/>
            <a:gdLst/>
            <a:ahLst/>
            <a:cxnLst/>
            <a:rect l="l" t="t" r="r" b="b"/>
            <a:pathLst>
              <a:path w="5429250" h="801688">
                <a:moveTo>
                  <a:pt x="63502" y="0"/>
                </a:moveTo>
                <a:lnTo>
                  <a:pt x="5365748" y="0"/>
                </a:lnTo>
                <a:cubicBezTo>
                  <a:pt x="5400819" y="0"/>
                  <a:pt x="5429250" y="28431"/>
                  <a:pt x="5429250" y="63502"/>
                </a:cubicBezTo>
                <a:lnTo>
                  <a:pt x="5429250" y="738186"/>
                </a:lnTo>
                <a:cubicBezTo>
                  <a:pt x="5429250" y="773257"/>
                  <a:pt x="5400819" y="801687"/>
                  <a:pt x="5365748" y="801688"/>
                </a:cubicBezTo>
                <a:lnTo>
                  <a:pt x="63502" y="801688"/>
                </a:lnTo>
                <a:cubicBezTo>
                  <a:pt x="28431" y="801688"/>
                  <a:pt x="0" y="773257"/>
                  <a:pt x="0" y="738186"/>
                </a:cubicBezTo>
                <a:lnTo>
                  <a:pt x="0" y="63502"/>
                </a:lnTo>
                <a:cubicBezTo>
                  <a:pt x="0" y="28431"/>
                  <a:pt x="28431" y="0"/>
                  <a:pt x="63502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63563" y="2095500"/>
            <a:ext cx="52546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FFD5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Loss = λ₁Lcoord + λ₂Lconf + λ₃Lclass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03250" y="2384425"/>
            <a:ext cx="5175250" cy="6350"/>
          </a:xfrm>
          <a:custGeom>
            <a:avLst/>
            <a:gdLst/>
            <a:ahLst/>
            <a:cxnLst/>
            <a:rect l="l" t="t" r="r" b="b"/>
            <a:pathLst>
              <a:path w="5175250" h="6350">
                <a:moveTo>
                  <a:pt x="0" y="0"/>
                </a:moveTo>
                <a:lnTo>
                  <a:pt x="5175250" y="0"/>
                </a:lnTo>
                <a:lnTo>
                  <a:pt x="5175250" y="6350"/>
                </a:lnTo>
                <a:lnTo>
                  <a:pt x="0" y="6350"/>
                </a:lnTo>
                <a:lnTo>
                  <a:pt x="0" y="0"/>
                </a:lnTo>
                <a:close/>
              </a:path>
            </a:pathLst>
          </a:custGeom>
          <a:solidFill>
            <a:srgbClr val="7890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71500" y="2451098"/>
            <a:ext cx="5238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Jointly trained using backpropagation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33375" y="2990848"/>
            <a:ext cx="5699125" cy="1825625"/>
          </a:xfrm>
          <a:custGeom>
            <a:avLst/>
            <a:gdLst/>
            <a:ahLst/>
            <a:cxnLst/>
            <a:rect l="l" t="t" r="r" b="b"/>
            <a:pathLst>
              <a:path w="5699125" h="1825625">
                <a:moveTo>
                  <a:pt x="31750" y="0"/>
                </a:moveTo>
                <a:lnTo>
                  <a:pt x="5603882" y="0"/>
                </a:lnTo>
                <a:cubicBezTo>
                  <a:pt x="5656448" y="0"/>
                  <a:pt x="5699125" y="42677"/>
                  <a:pt x="5699125" y="95243"/>
                </a:cubicBezTo>
                <a:lnTo>
                  <a:pt x="5699125" y="1730382"/>
                </a:lnTo>
                <a:cubicBezTo>
                  <a:pt x="5699125" y="1782983"/>
                  <a:pt x="5656483" y="1825625"/>
                  <a:pt x="5603882" y="1825625"/>
                </a:cubicBezTo>
                <a:lnTo>
                  <a:pt x="31750" y="1825625"/>
                </a:lnTo>
                <a:cubicBezTo>
                  <a:pt x="14227" y="1825625"/>
                  <a:pt x="0" y="1811398"/>
                  <a:pt x="0" y="179387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63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33375" y="2990848"/>
            <a:ext cx="31750" cy="1825625"/>
          </a:xfrm>
          <a:custGeom>
            <a:avLst/>
            <a:gdLst/>
            <a:ahLst/>
            <a:cxnLst/>
            <a:rect l="l" t="t" r="r" b="b"/>
            <a:pathLst>
              <a:path w="31750" h="1825625">
                <a:moveTo>
                  <a:pt x="31750" y="0"/>
                </a:moveTo>
                <a:lnTo>
                  <a:pt x="31750" y="0"/>
                </a:lnTo>
                <a:lnTo>
                  <a:pt x="31750" y="1825625"/>
                </a:lnTo>
                <a:lnTo>
                  <a:pt x="31750" y="1825625"/>
                </a:lnTo>
                <a:cubicBezTo>
                  <a:pt x="14227" y="1825625"/>
                  <a:pt x="0" y="1811398"/>
                  <a:pt x="0" y="179387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D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96094" y="3143250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86382" y="2915"/>
                </a:moveTo>
                <a:cubicBezTo>
                  <a:pt x="82507" y="-961"/>
                  <a:pt x="76212" y="-961"/>
                  <a:pt x="72337" y="2915"/>
                </a:cubicBezTo>
                <a:lnTo>
                  <a:pt x="52493" y="22758"/>
                </a:lnTo>
                <a:cubicBezTo>
                  <a:pt x="49640" y="25611"/>
                  <a:pt x="48803" y="29859"/>
                  <a:pt x="50354" y="33579"/>
                </a:cubicBezTo>
                <a:cubicBezTo>
                  <a:pt x="51904" y="37300"/>
                  <a:pt x="55531" y="39688"/>
                  <a:pt x="59531" y="39688"/>
                </a:cubicBezTo>
                <a:lnTo>
                  <a:pt x="69453" y="39688"/>
                </a:lnTo>
                <a:lnTo>
                  <a:pt x="69453" y="69453"/>
                </a:lnTo>
                <a:lnTo>
                  <a:pt x="39688" y="69453"/>
                </a:lnTo>
                <a:lnTo>
                  <a:pt x="39688" y="59531"/>
                </a:lnTo>
                <a:cubicBezTo>
                  <a:pt x="39688" y="55531"/>
                  <a:pt x="37269" y="51904"/>
                  <a:pt x="33548" y="50354"/>
                </a:cubicBezTo>
                <a:cubicBezTo>
                  <a:pt x="29828" y="48803"/>
                  <a:pt x="25580" y="49671"/>
                  <a:pt x="22727" y="52493"/>
                </a:cubicBezTo>
                <a:lnTo>
                  <a:pt x="2884" y="72337"/>
                </a:lnTo>
                <a:cubicBezTo>
                  <a:pt x="-992" y="76212"/>
                  <a:pt x="-992" y="82507"/>
                  <a:pt x="2884" y="86382"/>
                </a:cubicBezTo>
                <a:lnTo>
                  <a:pt x="22727" y="106226"/>
                </a:lnTo>
                <a:cubicBezTo>
                  <a:pt x="25580" y="109079"/>
                  <a:pt x="29828" y="109916"/>
                  <a:pt x="33548" y="108365"/>
                </a:cubicBezTo>
                <a:cubicBezTo>
                  <a:pt x="37269" y="106815"/>
                  <a:pt x="39688" y="103219"/>
                  <a:pt x="39688" y="99219"/>
                </a:cubicBezTo>
                <a:lnTo>
                  <a:pt x="39688" y="89297"/>
                </a:lnTo>
                <a:lnTo>
                  <a:pt x="69453" y="89297"/>
                </a:lnTo>
                <a:lnTo>
                  <a:pt x="69453" y="119062"/>
                </a:lnTo>
                <a:lnTo>
                  <a:pt x="59531" y="119062"/>
                </a:lnTo>
                <a:cubicBezTo>
                  <a:pt x="55531" y="119062"/>
                  <a:pt x="51904" y="121481"/>
                  <a:pt x="50354" y="125202"/>
                </a:cubicBezTo>
                <a:cubicBezTo>
                  <a:pt x="48803" y="128922"/>
                  <a:pt x="49671" y="133170"/>
                  <a:pt x="52493" y="136023"/>
                </a:cubicBezTo>
                <a:lnTo>
                  <a:pt x="72337" y="155866"/>
                </a:lnTo>
                <a:cubicBezTo>
                  <a:pt x="76212" y="159742"/>
                  <a:pt x="82507" y="159742"/>
                  <a:pt x="86382" y="155866"/>
                </a:cubicBezTo>
                <a:lnTo>
                  <a:pt x="106226" y="136023"/>
                </a:lnTo>
                <a:cubicBezTo>
                  <a:pt x="109079" y="133170"/>
                  <a:pt x="109916" y="128922"/>
                  <a:pt x="108365" y="125202"/>
                </a:cubicBezTo>
                <a:cubicBezTo>
                  <a:pt x="106815" y="121481"/>
                  <a:pt x="103219" y="119062"/>
                  <a:pt x="99219" y="119062"/>
                </a:cubicBezTo>
                <a:lnTo>
                  <a:pt x="89297" y="119062"/>
                </a:lnTo>
                <a:lnTo>
                  <a:pt x="89297" y="89297"/>
                </a:lnTo>
                <a:lnTo>
                  <a:pt x="119062" y="89297"/>
                </a:lnTo>
                <a:lnTo>
                  <a:pt x="119062" y="99219"/>
                </a:lnTo>
                <a:cubicBezTo>
                  <a:pt x="119062" y="103219"/>
                  <a:pt x="121481" y="106846"/>
                  <a:pt x="125202" y="108396"/>
                </a:cubicBezTo>
                <a:cubicBezTo>
                  <a:pt x="128922" y="109947"/>
                  <a:pt x="133170" y="109079"/>
                  <a:pt x="136023" y="106257"/>
                </a:cubicBezTo>
                <a:lnTo>
                  <a:pt x="155866" y="86413"/>
                </a:lnTo>
                <a:cubicBezTo>
                  <a:pt x="159742" y="82538"/>
                  <a:pt x="159742" y="76243"/>
                  <a:pt x="155866" y="72368"/>
                </a:cubicBezTo>
                <a:lnTo>
                  <a:pt x="136023" y="52524"/>
                </a:lnTo>
                <a:cubicBezTo>
                  <a:pt x="133170" y="49671"/>
                  <a:pt x="128922" y="48834"/>
                  <a:pt x="125202" y="50385"/>
                </a:cubicBezTo>
                <a:cubicBezTo>
                  <a:pt x="121481" y="51935"/>
                  <a:pt x="119062" y="55531"/>
                  <a:pt x="119062" y="59531"/>
                </a:cubicBezTo>
                <a:lnTo>
                  <a:pt x="119062" y="69453"/>
                </a:lnTo>
                <a:lnTo>
                  <a:pt x="89297" y="69453"/>
                </a:lnTo>
                <a:lnTo>
                  <a:pt x="89297" y="39688"/>
                </a:lnTo>
                <a:lnTo>
                  <a:pt x="99219" y="39688"/>
                </a:lnTo>
                <a:cubicBezTo>
                  <a:pt x="103219" y="39688"/>
                  <a:pt x="106846" y="37269"/>
                  <a:pt x="108396" y="33548"/>
                </a:cubicBezTo>
                <a:cubicBezTo>
                  <a:pt x="109947" y="29828"/>
                  <a:pt x="109079" y="25580"/>
                  <a:pt x="106257" y="22727"/>
                </a:cubicBezTo>
                <a:lnTo>
                  <a:pt x="86413" y="2884"/>
                </a:lnTo>
                <a:close/>
              </a:path>
            </a:pathLst>
          </a:custGeom>
          <a:solidFill>
            <a:srgbClr val="FFD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14375" y="3117848"/>
            <a:ext cx="52705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D5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 Coordinate Loss (Lcoord)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76250" y="3435348"/>
            <a:ext cx="5492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Penalizes errors in bounding box coordinates (center and dimensions).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76250" y="3689348"/>
            <a:ext cx="5429250" cy="603250"/>
          </a:xfrm>
          <a:custGeom>
            <a:avLst/>
            <a:gdLst/>
            <a:ahLst/>
            <a:cxnLst/>
            <a:rect l="l" t="t" r="r" b="b"/>
            <a:pathLst>
              <a:path w="5429250" h="603250">
                <a:moveTo>
                  <a:pt x="63498" y="0"/>
                </a:moveTo>
                <a:lnTo>
                  <a:pt x="5365752" y="0"/>
                </a:lnTo>
                <a:cubicBezTo>
                  <a:pt x="5400821" y="0"/>
                  <a:pt x="5429250" y="28429"/>
                  <a:pt x="5429250" y="63498"/>
                </a:cubicBezTo>
                <a:lnTo>
                  <a:pt x="5429250" y="539752"/>
                </a:lnTo>
                <a:cubicBezTo>
                  <a:pt x="5429250" y="574821"/>
                  <a:pt x="5400821" y="603250"/>
                  <a:pt x="5365752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71500" y="3784598"/>
            <a:ext cx="5302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Formula: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71500" y="4006848"/>
            <a:ext cx="5302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MSE between predicted and ground truth [bx, by, bw, bh]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79425" y="4359273"/>
            <a:ext cx="5419725" cy="323850"/>
          </a:xfrm>
          <a:custGeom>
            <a:avLst/>
            <a:gdLst/>
            <a:ahLst/>
            <a:cxnLst/>
            <a:rect l="l" t="t" r="r" b="b"/>
            <a:pathLst>
              <a:path w="5419725" h="323850">
                <a:moveTo>
                  <a:pt x="63501" y="0"/>
                </a:moveTo>
                <a:lnTo>
                  <a:pt x="5356224" y="0"/>
                </a:lnTo>
                <a:cubicBezTo>
                  <a:pt x="5391295" y="0"/>
                  <a:pt x="5419725" y="28430"/>
                  <a:pt x="5419725" y="63501"/>
                </a:cubicBezTo>
                <a:lnTo>
                  <a:pt x="5419725" y="260349"/>
                </a:lnTo>
                <a:cubicBezTo>
                  <a:pt x="5419725" y="295420"/>
                  <a:pt x="5391295" y="323850"/>
                  <a:pt x="5356224" y="323850"/>
                </a:cubicBezTo>
                <a:lnTo>
                  <a:pt x="63501" y="323850"/>
                </a:lnTo>
                <a:cubicBezTo>
                  <a:pt x="28430" y="323850"/>
                  <a:pt x="0" y="295420"/>
                  <a:pt x="0" y="260349"/>
                </a:cubicBezTo>
                <a:lnTo>
                  <a:pt x="0" y="63501"/>
                </a:lnTo>
                <a:cubicBezTo>
                  <a:pt x="0" y="28430"/>
                  <a:pt x="28430" y="0"/>
                  <a:pt x="63501" y="0"/>
                </a:cubicBezTo>
                <a:close/>
              </a:path>
            </a:pathLst>
          </a:custGeom>
          <a:solidFill>
            <a:srgbClr val="4DB6AC">
              <a:alpha val="10196"/>
            </a:srgbClr>
          </a:solidFill>
          <a:ln w="10160">
            <a:solidFill>
              <a:srgbClr val="4DB6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46100" y="4425955"/>
            <a:ext cx="5349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Weight:</a:t>
            </a:r>
            <a:r>
              <a:rPr lang="en-US" sz="1000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Higher λ (e.g., 5) because precise localization matters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33375" y="4908553"/>
            <a:ext cx="5699125" cy="1914525"/>
          </a:xfrm>
          <a:custGeom>
            <a:avLst/>
            <a:gdLst/>
            <a:ahLst/>
            <a:cxnLst/>
            <a:rect l="l" t="t" r="r" b="b"/>
            <a:pathLst>
              <a:path w="5699125" h="1914525">
                <a:moveTo>
                  <a:pt x="31750" y="0"/>
                </a:moveTo>
                <a:lnTo>
                  <a:pt x="5603878" y="0"/>
                </a:lnTo>
                <a:cubicBezTo>
                  <a:pt x="5656482" y="0"/>
                  <a:pt x="5699125" y="39867"/>
                  <a:pt x="5699125" y="89045"/>
                </a:cubicBezTo>
                <a:lnTo>
                  <a:pt x="5699125" y="1825480"/>
                </a:lnTo>
                <a:cubicBezTo>
                  <a:pt x="5699125" y="1874658"/>
                  <a:pt x="5656482" y="1914525"/>
                  <a:pt x="5603878" y="1914525"/>
                </a:cubicBezTo>
                <a:lnTo>
                  <a:pt x="31750" y="1914525"/>
                </a:lnTo>
                <a:cubicBezTo>
                  <a:pt x="14227" y="1914525"/>
                  <a:pt x="0" y="1901225"/>
                  <a:pt x="0" y="1884842"/>
                </a:cubicBezTo>
                <a:lnTo>
                  <a:pt x="0" y="29683"/>
                </a:lnTo>
                <a:cubicBezTo>
                  <a:pt x="0" y="13300"/>
                  <a:pt x="14227" y="0"/>
                  <a:pt x="31750" y="0"/>
                </a:cubicBezTo>
                <a:close/>
              </a:path>
            </a:pathLst>
          </a:custGeom>
          <a:solidFill>
            <a:srgbClr val="263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33374" y="4908553"/>
            <a:ext cx="45719" cy="1825625"/>
          </a:xfrm>
          <a:custGeom>
            <a:avLst/>
            <a:gdLst/>
            <a:ahLst/>
            <a:cxnLst/>
            <a:rect l="l" t="t" r="r" b="b"/>
            <a:pathLst>
              <a:path w="31750" h="2047875">
                <a:moveTo>
                  <a:pt x="31750" y="0"/>
                </a:moveTo>
                <a:lnTo>
                  <a:pt x="31750" y="0"/>
                </a:lnTo>
                <a:lnTo>
                  <a:pt x="31750" y="2047875"/>
                </a:lnTo>
                <a:lnTo>
                  <a:pt x="31750" y="2047875"/>
                </a:lnTo>
                <a:cubicBezTo>
                  <a:pt x="14227" y="2047875"/>
                  <a:pt x="0" y="2033648"/>
                  <a:pt x="0" y="20161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06016" y="5060955"/>
            <a:ext cx="138906" cy="158750"/>
          </a:xfrm>
          <a:custGeom>
            <a:avLst/>
            <a:gdLst/>
            <a:ahLst/>
            <a:cxnLst/>
            <a:rect l="l" t="t" r="r" b="b"/>
            <a:pathLst>
              <a:path w="138906" h="158750">
                <a:moveTo>
                  <a:pt x="59531" y="39688"/>
                </a:moveTo>
                <a:cubicBezTo>
                  <a:pt x="59531" y="23259"/>
                  <a:pt x="46194" y="9922"/>
                  <a:pt x="29766" y="9922"/>
                </a:cubicBezTo>
                <a:cubicBezTo>
                  <a:pt x="13338" y="9922"/>
                  <a:pt x="0" y="23259"/>
                  <a:pt x="0" y="39688"/>
                </a:cubicBezTo>
                <a:cubicBezTo>
                  <a:pt x="0" y="56116"/>
                  <a:pt x="13338" y="69453"/>
                  <a:pt x="29766" y="69453"/>
                </a:cubicBezTo>
                <a:cubicBezTo>
                  <a:pt x="46194" y="69453"/>
                  <a:pt x="59531" y="56116"/>
                  <a:pt x="59531" y="39688"/>
                </a:cubicBezTo>
                <a:close/>
                <a:moveTo>
                  <a:pt x="138906" y="119062"/>
                </a:moveTo>
                <a:cubicBezTo>
                  <a:pt x="138906" y="102634"/>
                  <a:pt x="125569" y="89297"/>
                  <a:pt x="109141" y="89297"/>
                </a:cubicBezTo>
                <a:cubicBezTo>
                  <a:pt x="92713" y="89297"/>
                  <a:pt x="79375" y="102634"/>
                  <a:pt x="79375" y="119062"/>
                </a:cubicBezTo>
                <a:cubicBezTo>
                  <a:pt x="79375" y="135491"/>
                  <a:pt x="92713" y="148828"/>
                  <a:pt x="109141" y="148828"/>
                </a:cubicBezTo>
                <a:cubicBezTo>
                  <a:pt x="125569" y="148828"/>
                  <a:pt x="138906" y="135491"/>
                  <a:pt x="138906" y="119062"/>
                </a:cubicBezTo>
                <a:close/>
                <a:moveTo>
                  <a:pt x="135992" y="26851"/>
                </a:moveTo>
                <a:cubicBezTo>
                  <a:pt x="139867" y="22975"/>
                  <a:pt x="139867" y="16681"/>
                  <a:pt x="135992" y="12805"/>
                </a:cubicBezTo>
                <a:cubicBezTo>
                  <a:pt x="132116" y="8930"/>
                  <a:pt x="125822" y="8930"/>
                  <a:pt x="121946" y="12805"/>
                </a:cubicBezTo>
                <a:lnTo>
                  <a:pt x="2884" y="131868"/>
                </a:lnTo>
                <a:cubicBezTo>
                  <a:pt x="-992" y="135744"/>
                  <a:pt x="-992" y="142038"/>
                  <a:pt x="2884" y="145914"/>
                </a:cubicBezTo>
                <a:cubicBezTo>
                  <a:pt x="6759" y="149789"/>
                  <a:pt x="13053" y="149789"/>
                  <a:pt x="16929" y="145914"/>
                </a:cubicBezTo>
                <a:lnTo>
                  <a:pt x="135992" y="26851"/>
                </a:ln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14375" y="5035553"/>
            <a:ext cx="52705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2. Confidence Loss (Lconf)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76250" y="5353053"/>
            <a:ext cx="5492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Penalizes errors in objectness prediction (Pc - probability of object).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76250" y="5607053"/>
            <a:ext cx="5429250" cy="825500"/>
          </a:xfrm>
          <a:custGeom>
            <a:avLst/>
            <a:gdLst/>
            <a:ahLst/>
            <a:cxnLst/>
            <a:rect l="l" t="t" r="r" b="b"/>
            <a:pathLst>
              <a:path w="5429250" h="825500">
                <a:moveTo>
                  <a:pt x="63497" y="0"/>
                </a:moveTo>
                <a:lnTo>
                  <a:pt x="5365753" y="0"/>
                </a:lnTo>
                <a:cubicBezTo>
                  <a:pt x="5400821" y="0"/>
                  <a:pt x="5429250" y="28429"/>
                  <a:pt x="5429250" y="63497"/>
                </a:cubicBezTo>
                <a:lnTo>
                  <a:pt x="5429250" y="762003"/>
                </a:lnTo>
                <a:cubicBezTo>
                  <a:pt x="5429250" y="797071"/>
                  <a:pt x="5400821" y="825500"/>
                  <a:pt x="5365753" y="825500"/>
                </a:cubicBezTo>
                <a:lnTo>
                  <a:pt x="63497" y="825500"/>
                </a:lnTo>
                <a:cubicBezTo>
                  <a:pt x="28429" y="825500"/>
                  <a:pt x="0" y="797071"/>
                  <a:pt x="0" y="762003"/>
                </a:cubicBezTo>
                <a:lnTo>
                  <a:pt x="0" y="63497"/>
                </a:lnTo>
                <a:cubicBezTo>
                  <a:pt x="0" y="28452"/>
                  <a:pt x="28452" y="0"/>
                  <a:pt x="63497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71500" y="5702303"/>
            <a:ext cx="5302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D5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Two Cases: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71500" y="5924553"/>
            <a:ext cx="5302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Object present: Pc should be 1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71500" y="6146803"/>
            <a:ext cx="5302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No object: Pc should be 0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79425" y="6429380"/>
            <a:ext cx="5419725" cy="323850"/>
          </a:xfrm>
          <a:custGeom>
            <a:avLst/>
            <a:gdLst/>
            <a:ahLst/>
            <a:cxnLst/>
            <a:rect l="l" t="t" r="r" b="b"/>
            <a:pathLst>
              <a:path w="5419725" h="323850">
                <a:moveTo>
                  <a:pt x="63501" y="0"/>
                </a:moveTo>
                <a:lnTo>
                  <a:pt x="5356224" y="0"/>
                </a:lnTo>
                <a:cubicBezTo>
                  <a:pt x="5391295" y="0"/>
                  <a:pt x="5419725" y="28430"/>
                  <a:pt x="5419725" y="63501"/>
                </a:cubicBezTo>
                <a:lnTo>
                  <a:pt x="5419725" y="260349"/>
                </a:lnTo>
                <a:cubicBezTo>
                  <a:pt x="5419725" y="295420"/>
                  <a:pt x="5391295" y="323850"/>
                  <a:pt x="5356224" y="323850"/>
                </a:cubicBezTo>
                <a:lnTo>
                  <a:pt x="63501" y="323850"/>
                </a:lnTo>
                <a:cubicBezTo>
                  <a:pt x="28430" y="323850"/>
                  <a:pt x="0" y="295420"/>
                  <a:pt x="0" y="260349"/>
                </a:cubicBezTo>
                <a:lnTo>
                  <a:pt x="0" y="63501"/>
                </a:lnTo>
                <a:cubicBezTo>
                  <a:pt x="0" y="28430"/>
                  <a:pt x="28430" y="0"/>
                  <a:pt x="63501" y="0"/>
                </a:cubicBezTo>
                <a:close/>
              </a:path>
            </a:pathLst>
          </a:custGeom>
          <a:solidFill>
            <a:srgbClr val="4DB6AC">
              <a:alpha val="10196"/>
            </a:srgbClr>
          </a:solidFill>
          <a:ln w="10160">
            <a:solidFill>
              <a:srgbClr val="4DB6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46100" y="6453512"/>
            <a:ext cx="5349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Weight:</a:t>
            </a:r>
            <a:r>
              <a:rPr lang="en-US" sz="1000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Lower λ for no-object cells (e.g., 0.5) to avoid dominating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159500" y="1031875"/>
            <a:ext cx="5715000" cy="1841500"/>
          </a:xfrm>
          <a:custGeom>
            <a:avLst/>
            <a:gdLst/>
            <a:ahLst/>
            <a:cxnLst/>
            <a:rect l="l" t="t" r="r" b="b"/>
            <a:pathLst>
              <a:path w="5715000" h="1841500">
                <a:moveTo>
                  <a:pt x="31750" y="0"/>
                </a:moveTo>
                <a:lnTo>
                  <a:pt x="5683250" y="0"/>
                </a:lnTo>
                <a:cubicBezTo>
                  <a:pt x="5700773" y="0"/>
                  <a:pt x="5715000" y="14227"/>
                  <a:pt x="5715000" y="31750"/>
                </a:cubicBezTo>
                <a:lnTo>
                  <a:pt x="5715000" y="1746258"/>
                </a:lnTo>
                <a:cubicBezTo>
                  <a:pt x="5715000" y="1798859"/>
                  <a:pt x="5672359" y="1841500"/>
                  <a:pt x="5619758" y="1841500"/>
                </a:cubicBezTo>
                <a:lnTo>
                  <a:pt x="95242" y="1841500"/>
                </a:lnTo>
                <a:cubicBezTo>
                  <a:pt x="42641" y="1841500"/>
                  <a:pt x="0" y="1798859"/>
                  <a:pt x="0" y="1746258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63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159500" y="1031875"/>
            <a:ext cx="5715000" cy="31750"/>
          </a:xfrm>
          <a:custGeom>
            <a:avLst/>
            <a:gdLst/>
            <a:ahLst/>
            <a:cxnLst/>
            <a:rect l="l" t="t" r="r" b="b"/>
            <a:pathLst>
              <a:path w="5715000" h="31750">
                <a:moveTo>
                  <a:pt x="31750" y="0"/>
                </a:moveTo>
                <a:lnTo>
                  <a:pt x="5683250" y="0"/>
                </a:lnTo>
                <a:cubicBezTo>
                  <a:pt x="5700773" y="0"/>
                  <a:pt x="5715000" y="14227"/>
                  <a:pt x="5715000" y="31750"/>
                </a:cubicBezTo>
                <a:lnTo>
                  <a:pt x="5715000" y="31750"/>
                </a:lnTo>
                <a:lnTo>
                  <a:pt x="0" y="31750"/>
                </a:ln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D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296422" y="1200152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124396" y="12123"/>
                </a:moveTo>
                <a:lnTo>
                  <a:pt x="170346" y="58725"/>
                </a:lnTo>
                <a:cubicBezTo>
                  <a:pt x="178935" y="67438"/>
                  <a:pt x="178935" y="81390"/>
                  <a:pt x="170346" y="90103"/>
                </a:cubicBezTo>
                <a:lnTo>
                  <a:pt x="121853" y="139185"/>
                </a:lnTo>
                <a:cubicBezTo>
                  <a:pt x="118969" y="142100"/>
                  <a:pt x="114257" y="142131"/>
                  <a:pt x="111342" y="139247"/>
                </a:cubicBezTo>
                <a:cubicBezTo>
                  <a:pt x="108427" y="136364"/>
                  <a:pt x="108396" y="131651"/>
                  <a:pt x="111280" y="128736"/>
                </a:cubicBezTo>
                <a:lnTo>
                  <a:pt x="159773" y="79623"/>
                </a:lnTo>
                <a:cubicBezTo>
                  <a:pt x="162626" y="76740"/>
                  <a:pt x="162626" y="72058"/>
                  <a:pt x="159773" y="69174"/>
                </a:cubicBezTo>
                <a:lnTo>
                  <a:pt x="113792" y="22603"/>
                </a:lnTo>
                <a:cubicBezTo>
                  <a:pt x="110908" y="19689"/>
                  <a:pt x="110939" y="14976"/>
                  <a:pt x="113854" y="12092"/>
                </a:cubicBezTo>
                <a:cubicBezTo>
                  <a:pt x="116768" y="9209"/>
                  <a:pt x="121481" y="9240"/>
                  <a:pt x="124365" y="12154"/>
                </a:cubicBezTo>
                <a:close/>
                <a:moveTo>
                  <a:pt x="9953" y="71158"/>
                </a:moveTo>
                <a:lnTo>
                  <a:pt x="9953" y="29766"/>
                </a:lnTo>
                <a:cubicBezTo>
                  <a:pt x="9953" y="18821"/>
                  <a:pt x="18852" y="9922"/>
                  <a:pt x="29797" y="9922"/>
                </a:cubicBezTo>
                <a:lnTo>
                  <a:pt x="71189" y="9922"/>
                </a:lnTo>
                <a:cubicBezTo>
                  <a:pt x="76460" y="9922"/>
                  <a:pt x="81514" y="11999"/>
                  <a:pt x="85235" y="15720"/>
                </a:cubicBezTo>
                <a:lnTo>
                  <a:pt x="129884" y="60368"/>
                </a:lnTo>
                <a:cubicBezTo>
                  <a:pt x="137635" y="68120"/>
                  <a:pt x="137635" y="80677"/>
                  <a:pt x="129884" y="88429"/>
                </a:cubicBezTo>
                <a:lnTo>
                  <a:pt x="88491" y="129822"/>
                </a:lnTo>
                <a:cubicBezTo>
                  <a:pt x="80739" y="137573"/>
                  <a:pt x="68182" y="137573"/>
                  <a:pt x="60430" y="129822"/>
                </a:cubicBezTo>
                <a:lnTo>
                  <a:pt x="15782" y="85173"/>
                </a:lnTo>
                <a:cubicBezTo>
                  <a:pt x="12061" y="81452"/>
                  <a:pt x="9984" y="76398"/>
                  <a:pt x="9984" y="71127"/>
                </a:cubicBezTo>
                <a:close/>
                <a:moveTo>
                  <a:pt x="54601" y="44648"/>
                </a:moveTo>
                <a:cubicBezTo>
                  <a:pt x="54601" y="39172"/>
                  <a:pt x="50155" y="34727"/>
                  <a:pt x="44679" y="34727"/>
                </a:cubicBezTo>
                <a:cubicBezTo>
                  <a:pt x="39203" y="34727"/>
                  <a:pt x="34758" y="39172"/>
                  <a:pt x="34758" y="44648"/>
                </a:cubicBezTo>
                <a:cubicBezTo>
                  <a:pt x="34758" y="50124"/>
                  <a:pt x="39203" y="54570"/>
                  <a:pt x="44679" y="54570"/>
                </a:cubicBezTo>
                <a:cubicBezTo>
                  <a:pt x="50155" y="54570"/>
                  <a:pt x="54601" y="50124"/>
                  <a:pt x="54601" y="44648"/>
                </a:cubicBezTo>
                <a:close/>
              </a:path>
            </a:pathLst>
          </a:custGeom>
          <a:solidFill>
            <a:srgbClr val="FFD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524625" y="1174750"/>
            <a:ext cx="5302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D5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 Classification Loss (Lclass)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286500" y="1492250"/>
            <a:ext cx="5524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Penalizes incorrect class predictions when an object is present.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286500" y="1746250"/>
            <a:ext cx="5461000" cy="603250"/>
          </a:xfrm>
          <a:custGeom>
            <a:avLst/>
            <a:gdLst/>
            <a:ahLst/>
            <a:cxnLst/>
            <a:rect l="l" t="t" r="r" b="b"/>
            <a:pathLst>
              <a:path w="5461000" h="603250">
                <a:moveTo>
                  <a:pt x="63498" y="0"/>
                </a:moveTo>
                <a:lnTo>
                  <a:pt x="5397502" y="0"/>
                </a:lnTo>
                <a:cubicBezTo>
                  <a:pt x="5432571" y="0"/>
                  <a:pt x="5461000" y="28429"/>
                  <a:pt x="5461000" y="63498"/>
                </a:cubicBezTo>
                <a:lnTo>
                  <a:pt x="5461000" y="539752"/>
                </a:lnTo>
                <a:cubicBezTo>
                  <a:pt x="5461000" y="574821"/>
                  <a:pt x="5432571" y="603250"/>
                  <a:pt x="5397502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381750" y="1841500"/>
            <a:ext cx="533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Formula: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381750" y="2063750"/>
            <a:ext cx="533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Cross-entropy loss between predicted and true class probabilities [C1, C2, C3, ...]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289675" y="2416175"/>
            <a:ext cx="5451475" cy="323850"/>
          </a:xfrm>
          <a:custGeom>
            <a:avLst/>
            <a:gdLst/>
            <a:ahLst/>
            <a:cxnLst/>
            <a:rect l="l" t="t" r="r" b="b"/>
            <a:pathLst>
              <a:path w="5451475" h="323850">
                <a:moveTo>
                  <a:pt x="63501" y="0"/>
                </a:moveTo>
                <a:lnTo>
                  <a:pt x="5387974" y="0"/>
                </a:lnTo>
                <a:cubicBezTo>
                  <a:pt x="5423045" y="0"/>
                  <a:pt x="5451475" y="28430"/>
                  <a:pt x="5451475" y="63501"/>
                </a:cubicBezTo>
                <a:lnTo>
                  <a:pt x="5451475" y="260349"/>
                </a:lnTo>
                <a:cubicBezTo>
                  <a:pt x="5451475" y="295420"/>
                  <a:pt x="5423045" y="323850"/>
                  <a:pt x="5387974" y="323850"/>
                </a:cubicBezTo>
                <a:lnTo>
                  <a:pt x="63501" y="323850"/>
                </a:lnTo>
                <a:cubicBezTo>
                  <a:pt x="28430" y="323850"/>
                  <a:pt x="0" y="295420"/>
                  <a:pt x="0" y="260349"/>
                </a:cubicBezTo>
                <a:lnTo>
                  <a:pt x="0" y="63501"/>
                </a:lnTo>
                <a:cubicBezTo>
                  <a:pt x="0" y="28430"/>
                  <a:pt x="28430" y="0"/>
                  <a:pt x="63501" y="0"/>
                </a:cubicBezTo>
                <a:close/>
              </a:path>
            </a:pathLst>
          </a:custGeom>
          <a:solidFill>
            <a:srgbClr val="4DB6AC">
              <a:alpha val="10196"/>
            </a:srgbClr>
          </a:solidFill>
          <a:ln w="10160">
            <a:solidFill>
              <a:srgbClr val="4DB6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356350" y="2482848"/>
            <a:ext cx="5381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Applied only</a:t>
            </a:r>
            <a:r>
              <a:rPr lang="en-US" sz="1000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when object exists in cell (Pc = 1)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159500" y="2981330"/>
            <a:ext cx="5715000" cy="2428875"/>
          </a:xfrm>
          <a:custGeom>
            <a:avLst/>
            <a:gdLst/>
            <a:ahLst/>
            <a:cxnLst/>
            <a:rect l="l" t="t" r="r" b="b"/>
            <a:pathLst>
              <a:path w="5715000" h="2428875">
                <a:moveTo>
                  <a:pt x="31750" y="0"/>
                </a:moveTo>
                <a:lnTo>
                  <a:pt x="5683250" y="0"/>
                </a:lnTo>
                <a:cubicBezTo>
                  <a:pt x="5700785" y="0"/>
                  <a:pt x="5715000" y="14215"/>
                  <a:pt x="5715000" y="31750"/>
                </a:cubicBezTo>
                <a:lnTo>
                  <a:pt x="5715000" y="2333615"/>
                </a:lnTo>
                <a:cubicBezTo>
                  <a:pt x="5715000" y="2386225"/>
                  <a:pt x="5672350" y="2428875"/>
                  <a:pt x="5619740" y="2428875"/>
                </a:cubicBezTo>
                <a:lnTo>
                  <a:pt x="95260" y="2428875"/>
                </a:lnTo>
                <a:cubicBezTo>
                  <a:pt x="42650" y="2428875"/>
                  <a:pt x="0" y="2386225"/>
                  <a:pt x="0" y="233361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63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6159500" y="2981330"/>
            <a:ext cx="5715000" cy="31750"/>
          </a:xfrm>
          <a:custGeom>
            <a:avLst/>
            <a:gdLst/>
            <a:ahLst/>
            <a:cxnLst/>
            <a:rect l="l" t="t" r="r" b="b"/>
            <a:pathLst>
              <a:path w="5715000" h="31750">
                <a:moveTo>
                  <a:pt x="31750" y="0"/>
                </a:moveTo>
                <a:lnTo>
                  <a:pt x="5683250" y="0"/>
                </a:lnTo>
                <a:cubicBezTo>
                  <a:pt x="5700773" y="0"/>
                  <a:pt x="5715000" y="14227"/>
                  <a:pt x="5715000" y="31750"/>
                </a:cubicBezTo>
                <a:lnTo>
                  <a:pt x="5715000" y="31750"/>
                </a:lnTo>
                <a:lnTo>
                  <a:pt x="0" y="31750"/>
                </a:ln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6286500" y="3149598"/>
            <a:ext cx="198438" cy="158750"/>
          </a:xfrm>
          <a:custGeom>
            <a:avLst/>
            <a:gdLst/>
            <a:ahLst/>
            <a:cxnLst/>
            <a:rect l="l" t="t" r="r" b="b"/>
            <a:pathLst>
              <a:path w="198438" h="158750">
                <a:moveTo>
                  <a:pt x="119062" y="9922"/>
                </a:moveTo>
                <a:lnTo>
                  <a:pt x="158750" y="9922"/>
                </a:lnTo>
                <a:cubicBezTo>
                  <a:pt x="164238" y="9922"/>
                  <a:pt x="168672" y="14356"/>
                  <a:pt x="168672" y="19844"/>
                </a:cubicBezTo>
                <a:cubicBezTo>
                  <a:pt x="168672" y="25332"/>
                  <a:pt x="164238" y="29766"/>
                  <a:pt x="158750" y="29766"/>
                </a:cubicBezTo>
                <a:lnTo>
                  <a:pt x="123527" y="29766"/>
                </a:lnTo>
                <a:cubicBezTo>
                  <a:pt x="121915" y="37765"/>
                  <a:pt x="116427" y="44369"/>
                  <a:pt x="109141" y="47532"/>
                </a:cubicBezTo>
                <a:lnTo>
                  <a:pt x="109141" y="138906"/>
                </a:lnTo>
                <a:lnTo>
                  <a:pt x="158750" y="138906"/>
                </a:lnTo>
                <a:cubicBezTo>
                  <a:pt x="164238" y="138906"/>
                  <a:pt x="168672" y="143340"/>
                  <a:pt x="168672" y="148828"/>
                </a:cubicBezTo>
                <a:cubicBezTo>
                  <a:pt x="168672" y="154316"/>
                  <a:pt x="164238" y="158750"/>
                  <a:pt x="158750" y="158750"/>
                </a:cubicBezTo>
                <a:lnTo>
                  <a:pt x="39688" y="158750"/>
                </a:lnTo>
                <a:cubicBezTo>
                  <a:pt x="34199" y="158750"/>
                  <a:pt x="29766" y="154316"/>
                  <a:pt x="29766" y="148828"/>
                </a:cubicBezTo>
                <a:cubicBezTo>
                  <a:pt x="29766" y="143340"/>
                  <a:pt x="34199" y="138906"/>
                  <a:pt x="39688" y="138906"/>
                </a:cubicBezTo>
                <a:lnTo>
                  <a:pt x="89297" y="138906"/>
                </a:lnTo>
                <a:lnTo>
                  <a:pt x="89297" y="47532"/>
                </a:lnTo>
                <a:cubicBezTo>
                  <a:pt x="82010" y="44338"/>
                  <a:pt x="76522" y="37734"/>
                  <a:pt x="74910" y="29766"/>
                </a:cubicBezTo>
                <a:lnTo>
                  <a:pt x="39688" y="29766"/>
                </a:lnTo>
                <a:cubicBezTo>
                  <a:pt x="34199" y="29766"/>
                  <a:pt x="29766" y="25332"/>
                  <a:pt x="29766" y="19844"/>
                </a:cubicBezTo>
                <a:cubicBezTo>
                  <a:pt x="29766" y="14356"/>
                  <a:pt x="34199" y="9922"/>
                  <a:pt x="39688" y="9922"/>
                </a:cubicBezTo>
                <a:lnTo>
                  <a:pt x="79375" y="9922"/>
                </a:lnTo>
                <a:cubicBezTo>
                  <a:pt x="83902" y="3907"/>
                  <a:pt x="91095" y="0"/>
                  <a:pt x="99219" y="0"/>
                </a:cubicBezTo>
                <a:cubicBezTo>
                  <a:pt x="107342" y="0"/>
                  <a:pt x="114536" y="3907"/>
                  <a:pt x="119062" y="9922"/>
                </a:cubicBezTo>
                <a:close/>
                <a:moveTo>
                  <a:pt x="136302" y="99219"/>
                </a:moveTo>
                <a:lnTo>
                  <a:pt x="181198" y="99219"/>
                </a:lnTo>
                <a:lnTo>
                  <a:pt x="158750" y="60709"/>
                </a:lnTo>
                <a:lnTo>
                  <a:pt x="136302" y="99219"/>
                </a:lnTo>
                <a:close/>
                <a:moveTo>
                  <a:pt x="158750" y="128984"/>
                </a:moveTo>
                <a:cubicBezTo>
                  <a:pt x="139247" y="128984"/>
                  <a:pt x="123031" y="118442"/>
                  <a:pt x="119683" y="104521"/>
                </a:cubicBezTo>
                <a:cubicBezTo>
                  <a:pt x="118876" y="101110"/>
                  <a:pt x="119993" y="97606"/>
                  <a:pt x="121760" y="94568"/>
                </a:cubicBezTo>
                <a:lnTo>
                  <a:pt x="151278" y="43966"/>
                </a:lnTo>
                <a:cubicBezTo>
                  <a:pt x="152828" y="41300"/>
                  <a:pt x="155680" y="39688"/>
                  <a:pt x="158750" y="39688"/>
                </a:cubicBezTo>
                <a:cubicBezTo>
                  <a:pt x="161820" y="39688"/>
                  <a:pt x="164672" y="41331"/>
                  <a:pt x="166222" y="43966"/>
                </a:cubicBezTo>
                <a:lnTo>
                  <a:pt x="195740" y="94568"/>
                </a:lnTo>
                <a:cubicBezTo>
                  <a:pt x="197507" y="97606"/>
                  <a:pt x="198624" y="101110"/>
                  <a:pt x="197817" y="104521"/>
                </a:cubicBezTo>
                <a:cubicBezTo>
                  <a:pt x="194469" y="118411"/>
                  <a:pt x="178253" y="128984"/>
                  <a:pt x="158750" y="128984"/>
                </a:cubicBezTo>
                <a:close/>
                <a:moveTo>
                  <a:pt x="39315" y="60709"/>
                </a:moveTo>
                <a:lnTo>
                  <a:pt x="16867" y="99219"/>
                </a:lnTo>
                <a:lnTo>
                  <a:pt x="61795" y="99219"/>
                </a:lnTo>
                <a:lnTo>
                  <a:pt x="39315" y="60709"/>
                </a:lnTo>
                <a:close/>
                <a:moveTo>
                  <a:pt x="279" y="104521"/>
                </a:moveTo>
                <a:cubicBezTo>
                  <a:pt x="-527" y="101110"/>
                  <a:pt x="589" y="97606"/>
                  <a:pt x="2356" y="94568"/>
                </a:cubicBezTo>
                <a:lnTo>
                  <a:pt x="31874" y="43966"/>
                </a:lnTo>
                <a:cubicBezTo>
                  <a:pt x="33424" y="41300"/>
                  <a:pt x="36277" y="39688"/>
                  <a:pt x="39346" y="39688"/>
                </a:cubicBezTo>
                <a:cubicBezTo>
                  <a:pt x="42416" y="39688"/>
                  <a:pt x="45269" y="41331"/>
                  <a:pt x="46819" y="43966"/>
                </a:cubicBezTo>
                <a:lnTo>
                  <a:pt x="76336" y="94568"/>
                </a:lnTo>
                <a:cubicBezTo>
                  <a:pt x="78104" y="97606"/>
                  <a:pt x="79220" y="101110"/>
                  <a:pt x="78414" y="104521"/>
                </a:cubicBezTo>
                <a:cubicBezTo>
                  <a:pt x="75065" y="118411"/>
                  <a:pt x="58849" y="128984"/>
                  <a:pt x="39346" y="128984"/>
                </a:cubicBezTo>
                <a:cubicBezTo>
                  <a:pt x="19844" y="128984"/>
                  <a:pt x="3628" y="118442"/>
                  <a:pt x="279" y="104521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524625" y="3124205"/>
            <a:ext cx="5302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Loss Component Summary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286500" y="3441705"/>
            <a:ext cx="5461000" cy="571500"/>
          </a:xfrm>
          <a:custGeom>
            <a:avLst/>
            <a:gdLst/>
            <a:ahLst/>
            <a:cxnLst/>
            <a:rect l="l" t="t" r="r" b="b"/>
            <a:pathLst>
              <a:path w="5461000" h="571500">
                <a:moveTo>
                  <a:pt x="63499" y="0"/>
                </a:moveTo>
                <a:lnTo>
                  <a:pt x="5397501" y="0"/>
                </a:lnTo>
                <a:cubicBezTo>
                  <a:pt x="5432570" y="0"/>
                  <a:pt x="5461000" y="28430"/>
                  <a:pt x="5461000" y="63499"/>
                </a:cubicBezTo>
                <a:lnTo>
                  <a:pt x="5461000" y="508001"/>
                </a:lnTo>
                <a:cubicBezTo>
                  <a:pt x="5461000" y="543070"/>
                  <a:pt x="5432570" y="571500"/>
                  <a:pt x="5397501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6381750" y="3536955"/>
            <a:ext cx="1095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Coordinate Loss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381750" y="3727455"/>
            <a:ext cx="1095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Box position &amp; size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11162903" y="3600455"/>
            <a:ext cx="492125" cy="254000"/>
          </a:xfrm>
          <a:custGeom>
            <a:avLst/>
            <a:gdLst/>
            <a:ahLst/>
            <a:cxnLst/>
            <a:rect l="l" t="t" r="r" b="b"/>
            <a:pathLst>
              <a:path w="492125" h="254000">
                <a:moveTo>
                  <a:pt x="127000" y="0"/>
                </a:moveTo>
                <a:lnTo>
                  <a:pt x="365125" y="0"/>
                </a:lnTo>
                <a:cubicBezTo>
                  <a:pt x="435218" y="0"/>
                  <a:pt x="492125" y="56907"/>
                  <a:pt x="492125" y="127000"/>
                </a:cubicBezTo>
                <a:lnTo>
                  <a:pt x="492125" y="127000"/>
                </a:lnTo>
                <a:cubicBezTo>
                  <a:pt x="492125" y="197093"/>
                  <a:pt x="435218" y="254000"/>
                  <a:pt x="365125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11162903" y="3600455"/>
            <a:ext cx="555625" cy="25400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286500" y="4076705"/>
            <a:ext cx="5461000" cy="571500"/>
          </a:xfrm>
          <a:custGeom>
            <a:avLst/>
            <a:gdLst/>
            <a:ahLst/>
            <a:cxnLst/>
            <a:rect l="l" t="t" r="r" b="b"/>
            <a:pathLst>
              <a:path w="5461000" h="571500">
                <a:moveTo>
                  <a:pt x="63499" y="0"/>
                </a:moveTo>
                <a:lnTo>
                  <a:pt x="5397501" y="0"/>
                </a:lnTo>
                <a:cubicBezTo>
                  <a:pt x="5432570" y="0"/>
                  <a:pt x="5461000" y="28430"/>
                  <a:pt x="5461000" y="63499"/>
                </a:cubicBezTo>
                <a:lnTo>
                  <a:pt x="5461000" y="508001"/>
                </a:lnTo>
                <a:cubicBezTo>
                  <a:pt x="5461000" y="543070"/>
                  <a:pt x="5432570" y="571500"/>
                  <a:pt x="5397501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6381750" y="4171955"/>
            <a:ext cx="968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Confidence Loss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381750" y="4362455"/>
            <a:ext cx="968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Object presence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10969824" y="4235455"/>
            <a:ext cx="682625" cy="254000"/>
          </a:xfrm>
          <a:custGeom>
            <a:avLst/>
            <a:gdLst/>
            <a:ahLst/>
            <a:cxnLst/>
            <a:rect l="l" t="t" r="r" b="b"/>
            <a:pathLst>
              <a:path w="682625" h="254000">
                <a:moveTo>
                  <a:pt x="127000" y="0"/>
                </a:moveTo>
                <a:lnTo>
                  <a:pt x="555625" y="0"/>
                </a:lnTo>
                <a:cubicBezTo>
                  <a:pt x="625718" y="0"/>
                  <a:pt x="682625" y="56907"/>
                  <a:pt x="682625" y="127000"/>
                </a:cubicBezTo>
                <a:lnTo>
                  <a:pt x="682625" y="127000"/>
                </a:lnTo>
                <a:cubicBezTo>
                  <a:pt x="682625" y="197093"/>
                  <a:pt x="625718" y="254000"/>
                  <a:pt x="555625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FFD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10969824" y="4235455"/>
            <a:ext cx="746125" cy="25400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MEDIUM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286500" y="4711705"/>
            <a:ext cx="5461000" cy="571500"/>
          </a:xfrm>
          <a:custGeom>
            <a:avLst/>
            <a:gdLst/>
            <a:ahLst/>
            <a:cxnLst/>
            <a:rect l="l" t="t" r="r" b="b"/>
            <a:pathLst>
              <a:path w="5461000" h="571500">
                <a:moveTo>
                  <a:pt x="63499" y="0"/>
                </a:moveTo>
                <a:lnTo>
                  <a:pt x="5397501" y="0"/>
                </a:lnTo>
                <a:cubicBezTo>
                  <a:pt x="5432570" y="0"/>
                  <a:pt x="5461000" y="28430"/>
                  <a:pt x="5461000" y="63499"/>
                </a:cubicBezTo>
                <a:lnTo>
                  <a:pt x="5461000" y="508001"/>
                </a:lnTo>
                <a:cubicBezTo>
                  <a:pt x="5461000" y="543070"/>
                  <a:pt x="5432570" y="571500"/>
                  <a:pt x="5397501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6381750" y="4806955"/>
            <a:ext cx="1055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Classification Loss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6381750" y="4997455"/>
            <a:ext cx="1055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Object category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10969824" y="4870455"/>
            <a:ext cx="682625" cy="254000"/>
          </a:xfrm>
          <a:custGeom>
            <a:avLst/>
            <a:gdLst/>
            <a:ahLst/>
            <a:cxnLst/>
            <a:rect l="l" t="t" r="r" b="b"/>
            <a:pathLst>
              <a:path w="682625" h="254000">
                <a:moveTo>
                  <a:pt x="127000" y="0"/>
                </a:moveTo>
                <a:lnTo>
                  <a:pt x="555625" y="0"/>
                </a:lnTo>
                <a:cubicBezTo>
                  <a:pt x="625718" y="0"/>
                  <a:pt x="682625" y="56907"/>
                  <a:pt x="682625" y="127000"/>
                </a:cubicBezTo>
                <a:lnTo>
                  <a:pt x="682625" y="127000"/>
                </a:lnTo>
                <a:cubicBezTo>
                  <a:pt x="682625" y="197093"/>
                  <a:pt x="625718" y="254000"/>
                  <a:pt x="555625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FFD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10969824" y="4870455"/>
            <a:ext cx="746125" cy="25400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MEDIUM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6162675" y="5508630"/>
            <a:ext cx="5705475" cy="577850"/>
          </a:xfrm>
          <a:custGeom>
            <a:avLst/>
            <a:gdLst/>
            <a:ahLst/>
            <a:cxnLst/>
            <a:rect l="l" t="t" r="r" b="b"/>
            <a:pathLst>
              <a:path w="5705475" h="577850">
                <a:moveTo>
                  <a:pt x="95253" y="0"/>
                </a:moveTo>
                <a:lnTo>
                  <a:pt x="5610222" y="0"/>
                </a:lnTo>
                <a:cubicBezTo>
                  <a:pt x="5662829" y="0"/>
                  <a:pt x="5705475" y="42646"/>
                  <a:pt x="5705475" y="95253"/>
                </a:cubicBezTo>
                <a:lnTo>
                  <a:pt x="5705475" y="482597"/>
                </a:lnTo>
                <a:cubicBezTo>
                  <a:pt x="5705475" y="535204"/>
                  <a:pt x="5662829" y="577850"/>
                  <a:pt x="5610222" y="577850"/>
                </a:cubicBezTo>
                <a:lnTo>
                  <a:pt x="95253" y="577850"/>
                </a:lnTo>
                <a:cubicBezTo>
                  <a:pt x="42646" y="577850"/>
                  <a:pt x="0" y="535204"/>
                  <a:pt x="0" y="482597"/>
                </a:cubicBezTo>
                <a:lnTo>
                  <a:pt x="0" y="95253"/>
                </a:lnTo>
                <a:cubicBezTo>
                  <a:pt x="0" y="42681"/>
                  <a:pt x="42681" y="0"/>
                  <a:pt x="95253" y="0"/>
                </a:cubicBezTo>
                <a:close/>
              </a:path>
            </a:pathLst>
          </a:custGeom>
          <a:solidFill>
            <a:srgbClr val="FFD54F">
              <a:alpha val="10196"/>
            </a:srgbClr>
          </a:solidFill>
          <a:ln w="10160">
            <a:solidFill>
              <a:srgbClr val="FFD5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6292850" y="5632455"/>
            <a:ext cx="95250" cy="127000"/>
          </a:xfrm>
          <a:custGeom>
            <a:avLst/>
            <a:gdLst/>
            <a:ahLst/>
            <a:cxnLst/>
            <a:rect l="l" t="t" r="r" b="b"/>
            <a:pathLst>
              <a:path w="95250" h="127000">
                <a:moveTo>
                  <a:pt x="72653" y="95250"/>
                </a:moveTo>
                <a:cubicBezTo>
                  <a:pt x="74464" y="89719"/>
                  <a:pt x="78085" y="84708"/>
                  <a:pt x="82178" y="80392"/>
                </a:cubicBezTo>
                <a:cubicBezTo>
                  <a:pt x="90289" y="71859"/>
                  <a:pt x="95250" y="60325"/>
                  <a:pt x="95250" y="47625"/>
                </a:cubicBezTo>
                <a:cubicBezTo>
                  <a:pt x="95250" y="21332"/>
                  <a:pt x="73918" y="0"/>
                  <a:pt x="47625" y="0"/>
                </a:cubicBezTo>
                <a:cubicBezTo>
                  <a:pt x="21332" y="0"/>
                  <a:pt x="0" y="21332"/>
                  <a:pt x="0" y="47625"/>
                </a:cubicBezTo>
                <a:cubicBezTo>
                  <a:pt x="0" y="60325"/>
                  <a:pt x="4961" y="71859"/>
                  <a:pt x="13072" y="80392"/>
                </a:cubicBezTo>
                <a:cubicBezTo>
                  <a:pt x="17165" y="84708"/>
                  <a:pt x="20811" y="89719"/>
                  <a:pt x="22597" y="95250"/>
                </a:cubicBezTo>
                <a:lnTo>
                  <a:pt x="72628" y="95250"/>
                </a:lnTo>
                <a:close/>
                <a:moveTo>
                  <a:pt x="71438" y="107156"/>
                </a:moveTo>
                <a:lnTo>
                  <a:pt x="23812" y="107156"/>
                </a:lnTo>
                <a:lnTo>
                  <a:pt x="23812" y="111125"/>
                </a:lnTo>
                <a:cubicBezTo>
                  <a:pt x="23812" y="122089"/>
                  <a:pt x="32693" y="130969"/>
                  <a:pt x="43656" y="130969"/>
                </a:cubicBezTo>
                <a:lnTo>
                  <a:pt x="51594" y="130969"/>
                </a:lnTo>
                <a:cubicBezTo>
                  <a:pt x="62557" y="130969"/>
                  <a:pt x="71438" y="122089"/>
                  <a:pt x="71438" y="111125"/>
                </a:cubicBezTo>
                <a:lnTo>
                  <a:pt x="71438" y="107156"/>
                </a:lnTo>
                <a:close/>
                <a:moveTo>
                  <a:pt x="45641" y="27781"/>
                </a:moveTo>
                <a:cubicBezTo>
                  <a:pt x="35768" y="27781"/>
                  <a:pt x="27781" y="35768"/>
                  <a:pt x="27781" y="45641"/>
                </a:cubicBezTo>
                <a:cubicBezTo>
                  <a:pt x="27781" y="48940"/>
                  <a:pt x="25127" y="51594"/>
                  <a:pt x="21828" y="51594"/>
                </a:cubicBezTo>
                <a:cubicBezTo>
                  <a:pt x="18529" y="51594"/>
                  <a:pt x="15875" y="48940"/>
                  <a:pt x="15875" y="45641"/>
                </a:cubicBezTo>
                <a:cubicBezTo>
                  <a:pt x="15875" y="29195"/>
                  <a:pt x="29195" y="15875"/>
                  <a:pt x="45641" y="15875"/>
                </a:cubicBezTo>
                <a:cubicBezTo>
                  <a:pt x="48940" y="15875"/>
                  <a:pt x="51594" y="18529"/>
                  <a:pt x="51594" y="21828"/>
                </a:cubicBezTo>
                <a:cubicBezTo>
                  <a:pt x="51594" y="25127"/>
                  <a:pt x="48940" y="27781"/>
                  <a:pt x="45641" y="27781"/>
                </a:cubicBezTo>
                <a:close/>
              </a:path>
            </a:pathLst>
          </a:custGeom>
          <a:solidFill>
            <a:srgbClr val="FFD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6459537" y="5607053"/>
            <a:ext cx="537368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D5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Insight:</a:t>
            </a:r>
            <a:r>
              <a:rPr lang="en-US" sz="1000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Different weights ensure the model doesn't prioritize one aspect over others. Localization typically gets highest weight!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8329" y="318329"/>
            <a:ext cx="11619008" cy="190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3" b="1" kern="0" spc="50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HISTORICAL PROGRESSION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8329" y="572992"/>
            <a:ext cx="11698590" cy="3183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6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Evolution of YOLO: v1 to v8+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34245" y="1018653"/>
            <a:ext cx="3772198" cy="2355634"/>
          </a:xfrm>
          <a:custGeom>
            <a:avLst/>
            <a:gdLst/>
            <a:ahLst/>
            <a:cxnLst/>
            <a:rect l="l" t="t" r="r" b="b"/>
            <a:pathLst>
              <a:path w="3772198" h="2355634">
                <a:moveTo>
                  <a:pt x="31833" y="0"/>
                </a:moveTo>
                <a:lnTo>
                  <a:pt x="3676701" y="0"/>
                </a:lnTo>
                <a:cubicBezTo>
                  <a:pt x="3729443" y="0"/>
                  <a:pt x="3772198" y="42756"/>
                  <a:pt x="3772198" y="95497"/>
                </a:cubicBezTo>
                <a:lnTo>
                  <a:pt x="3772198" y="2260137"/>
                </a:lnTo>
                <a:cubicBezTo>
                  <a:pt x="3772198" y="2312879"/>
                  <a:pt x="3729443" y="2355634"/>
                  <a:pt x="3676701" y="2355634"/>
                </a:cubicBezTo>
                <a:lnTo>
                  <a:pt x="31833" y="2355634"/>
                </a:lnTo>
                <a:cubicBezTo>
                  <a:pt x="14252" y="2355634"/>
                  <a:pt x="0" y="2341382"/>
                  <a:pt x="0" y="2323802"/>
                </a:cubicBezTo>
                <a:lnTo>
                  <a:pt x="0" y="31833"/>
                </a:lnTo>
                <a:cubicBezTo>
                  <a:pt x="0" y="14252"/>
                  <a:pt x="14252" y="0"/>
                  <a:pt x="31833" y="0"/>
                </a:cubicBezTo>
                <a:close/>
              </a:path>
            </a:pathLst>
          </a:custGeom>
          <a:solidFill>
            <a:srgbClr val="263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34245" y="1018653"/>
            <a:ext cx="31833" cy="2355634"/>
          </a:xfrm>
          <a:custGeom>
            <a:avLst/>
            <a:gdLst/>
            <a:ahLst/>
            <a:cxnLst/>
            <a:rect l="l" t="t" r="r" b="b"/>
            <a:pathLst>
              <a:path w="31833" h="2355634">
                <a:moveTo>
                  <a:pt x="31833" y="0"/>
                </a:moveTo>
                <a:lnTo>
                  <a:pt x="31833" y="0"/>
                </a:lnTo>
                <a:lnTo>
                  <a:pt x="31833" y="2355634"/>
                </a:lnTo>
                <a:lnTo>
                  <a:pt x="31833" y="2355634"/>
                </a:lnTo>
                <a:cubicBezTo>
                  <a:pt x="14252" y="2355634"/>
                  <a:pt x="0" y="2341382"/>
                  <a:pt x="0" y="2323802"/>
                </a:cubicBezTo>
                <a:lnTo>
                  <a:pt x="0" y="31833"/>
                </a:lnTo>
                <a:cubicBezTo>
                  <a:pt x="0" y="14252"/>
                  <a:pt x="14252" y="0"/>
                  <a:pt x="31833" y="0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45661" y="1161901"/>
            <a:ext cx="318329" cy="318329"/>
          </a:xfrm>
          <a:custGeom>
            <a:avLst/>
            <a:gdLst/>
            <a:ahLst/>
            <a:cxnLst/>
            <a:rect l="l" t="t" r="r" b="b"/>
            <a:pathLst>
              <a:path w="318329" h="318329">
                <a:moveTo>
                  <a:pt x="63666" y="0"/>
                </a:moveTo>
                <a:lnTo>
                  <a:pt x="254663" y="0"/>
                </a:lnTo>
                <a:cubicBezTo>
                  <a:pt x="289825" y="0"/>
                  <a:pt x="318329" y="28504"/>
                  <a:pt x="318329" y="63666"/>
                </a:cubicBezTo>
                <a:lnTo>
                  <a:pt x="318329" y="254663"/>
                </a:lnTo>
                <a:cubicBezTo>
                  <a:pt x="318329" y="289825"/>
                  <a:pt x="289825" y="318329"/>
                  <a:pt x="254663" y="318329"/>
                </a:cubicBezTo>
                <a:lnTo>
                  <a:pt x="63666" y="318329"/>
                </a:lnTo>
                <a:cubicBezTo>
                  <a:pt x="28504" y="318329"/>
                  <a:pt x="0" y="289825"/>
                  <a:pt x="0" y="254663"/>
                </a:cubicBezTo>
                <a:lnTo>
                  <a:pt x="0" y="63666"/>
                </a:lnTo>
                <a:cubicBezTo>
                  <a:pt x="0" y="28504"/>
                  <a:pt x="28504" y="0"/>
                  <a:pt x="63666" y="0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3828" y="1161901"/>
            <a:ext cx="381995" cy="3183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3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7655" y="1114151"/>
            <a:ext cx="580950" cy="222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YOLOv1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7655" y="1336982"/>
            <a:ext cx="572992" cy="190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3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2016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45661" y="1591645"/>
            <a:ext cx="3565285" cy="541159"/>
          </a:xfrm>
          <a:custGeom>
            <a:avLst/>
            <a:gdLst/>
            <a:ahLst/>
            <a:cxnLst/>
            <a:rect l="l" t="t" r="r" b="b"/>
            <a:pathLst>
              <a:path w="3565285" h="541159">
                <a:moveTo>
                  <a:pt x="31831" y="0"/>
                </a:moveTo>
                <a:lnTo>
                  <a:pt x="3533454" y="0"/>
                </a:lnTo>
                <a:cubicBezTo>
                  <a:pt x="3551033" y="0"/>
                  <a:pt x="3565285" y="14251"/>
                  <a:pt x="3565285" y="31831"/>
                </a:cubicBezTo>
                <a:lnTo>
                  <a:pt x="3565285" y="509328"/>
                </a:lnTo>
                <a:cubicBezTo>
                  <a:pt x="3565285" y="526908"/>
                  <a:pt x="3551033" y="541159"/>
                  <a:pt x="3533454" y="541159"/>
                </a:cubicBezTo>
                <a:lnTo>
                  <a:pt x="31831" y="541159"/>
                </a:lnTo>
                <a:cubicBezTo>
                  <a:pt x="14251" y="541159"/>
                  <a:pt x="0" y="526908"/>
                  <a:pt x="0" y="509328"/>
                </a:cubicBezTo>
                <a:lnTo>
                  <a:pt x="0" y="31831"/>
                </a:lnTo>
                <a:cubicBezTo>
                  <a:pt x="0" y="14263"/>
                  <a:pt x="14263" y="0"/>
                  <a:pt x="31831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9326" y="1655311"/>
            <a:ext cx="3501619" cy="190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3" b="1" dirty="0">
                <a:solidFill>
                  <a:srgbClr val="FFD5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Innovation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9326" y="1878141"/>
            <a:ext cx="3501619" cy="190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3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First unified, real-time detector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45661" y="2164637"/>
            <a:ext cx="3565285" cy="541159"/>
          </a:xfrm>
          <a:custGeom>
            <a:avLst/>
            <a:gdLst/>
            <a:ahLst/>
            <a:cxnLst/>
            <a:rect l="l" t="t" r="r" b="b"/>
            <a:pathLst>
              <a:path w="3565285" h="541159">
                <a:moveTo>
                  <a:pt x="31831" y="0"/>
                </a:moveTo>
                <a:lnTo>
                  <a:pt x="3533454" y="0"/>
                </a:lnTo>
                <a:cubicBezTo>
                  <a:pt x="3551033" y="0"/>
                  <a:pt x="3565285" y="14251"/>
                  <a:pt x="3565285" y="31831"/>
                </a:cubicBezTo>
                <a:lnTo>
                  <a:pt x="3565285" y="509328"/>
                </a:lnTo>
                <a:cubicBezTo>
                  <a:pt x="3565285" y="526908"/>
                  <a:pt x="3551033" y="541159"/>
                  <a:pt x="3533454" y="541159"/>
                </a:cubicBezTo>
                <a:lnTo>
                  <a:pt x="31831" y="541159"/>
                </a:lnTo>
                <a:cubicBezTo>
                  <a:pt x="14251" y="541159"/>
                  <a:pt x="0" y="526908"/>
                  <a:pt x="0" y="509328"/>
                </a:cubicBezTo>
                <a:lnTo>
                  <a:pt x="0" y="31831"/>
                </a:lnTo>
                <a:cubicBezTo>
                  <a:pt x="0" y="14263"/>
                  <a:pt x="14263" y="0"/>
                  <a:pt x="31831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9326" y="2228303"/>
            <a:ext cx="3501619" cy="190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3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9326" y="2451133"/>
            <a:ext cx="3501619" cy="190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3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24 conv layers + 2 FC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45661" y="2737629"/>
            <a:ext cx="3565285" cy="541159"/>
          </a:xfrm>
          <a:custGeom>
            <a:avLst/>
            <a:gdLst/>
            <a:ahLst/>
            <a:cxnLst/>
            <a:rect l="l" t="t" r="r" b="b"/>
            <a:pathLst>
              <a:path w="3565285" h="541159">
                <a:moveTo>
                  <a:pt x="31831" y="0"/>
                </a:moveTo>
                <a:lnTo>
                  <a:pt x="3533454" y="0"/>
                </a:lnTo>
                <a:cubicBezTo>
                  <a:pt x="3551033" y="0"/>
                  <a:pt x="3565285" y="14251"/>
                  <a:pt x="3565285" y="31831"/>
                </a:cubicBezTo>
                <a:lnTo>
                  <a:pt x="3565285" y="509328"/>
                </a:lnTo>
                <a:cubicBezTo>
                  <a:pt x="3565285" y="526908"/>
                  <a:pt x="3551033" y="541159"/>
                  <a:pt x="3533454" y="541159"/>
                </a:cubicBezTo>
                <a:lnTo>
                  <a:pt x="31831" y="541159"/>
                </a:lnTo>
                <a:cubicBezTo>
                  <a:pt x="14251" y="541159"/>
                  <a:pt x="0" y="526908"/>
                  <a:pt x="0" y="509328"/>
                </a:cubicBezTo>
                <a:lnTo>
                  <a:pt x="0" y="31831"/>
                </a:lnTo>
                <a:cubicBezTo>
                  <a:pt x="0" y="14263"/>
                  <a:pt x="14263" y="0"/>
                  <a:pt x="31831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9326" y="2801295"/>
            <a:ext cx="3501619" cy="190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3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Performance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09326" y="3024125"/>
            <a:ext cx="3501619" cy="190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3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45 FPS, 63.4% mAP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218953" y="1018653"/>
            <a:ext cx="3772198" cy="2355634"/>
          </a:xfrm>
          <a:custGeom>
            <a:avLst/>
            <a:gdLst/>
            <a:ahLst/>
            <a:cxnLst/>
            <a:rect l="l" t="t" r="r" b="b"/>
            <a:pathLst>
              <a:path w="3772198" h="2355634">
                <a:moveTo>
                  <a:pt x="31833" y="0"/>
                </a:moveTo>
                <a:lnTo>
                  <a:pt x="3676701" y="0"/>
                </a:lnTo>
                <a:cubicBezTo>
                  <a:pt x="3729443" y="0"/>
                  <a:pt x="3772198" y="42756"/>
                  <a:pt x="3772198" y="95497"/>
                </a:cubicBezTo>
                <a:lnTo>
                  <a:pt x="3772198" y="2260137"/>
                </a:lnTo>
                <a:cubicBezTo>
                  <a:pt x="3772198" y="2312879"/>
                  <a:pt x="3729443" y="2355634"/>
                  <a:pt x="3676701" y="2355634"/>
                </a:cubicBezTo>
                <a:lnTo>
                  <a:pt x="31833" y="2355634"/>
                </a:lnTo>
                <a:cubicBezTo>
                  <a:pt x="14252" y="2355634"/>
                  <a:pt x="0" y="2341382"/>
                  <a:pt x="0" y="2323802"/>
                </a:cubicBezTo>
                <a:lnTo>
                  <a:pt x="0" y="31833"/>
                </a:lnTo>
                <a:cubicBezTo>
                  <a:pt x="0" y="14252"/>
                  <a:pt x="14252" y="0"/>
                  <a:pt x="31833" y="0"/>
                </a:cubicBezTo>
                <a:close/>
              </a:path>
            </a:pathLst>
          </a:custGeom>
          <a:solidFill>
            <a:srgbClr val="263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218953" y="1018653"/>
            <a:ext cx="31833" cy="2355634"/>
          </a:xfrm>
          <a:custGeom>
            <a:avLst/>
            <a:gdLst/>
            <a:ahLst/>
            <a:cxnLst/>
            <a:rect l="l" t="t" r="r" b="b"/>
            <a:pathLst>
              <a:path w="31833" h="2355634">
                <a:moveTo>
                  <a:pt x="31833" y="0"/>
                </a:moveTo>
                <a:lnTo>
                  <a:pt x="31833" y="0"/>
                </a:lnTo>
                <a:lnTo>
                  <a:pt x="31833" y="2355634"/>
                </a:lnTo>
                <a:lnTo>
                  <a:pt x="31833" y="2355634"/>
                </a:lnTo>
                <a:cubicBezTo>
                  <a:pt x="14252" y="2355634"/>
                  <a:pt x="0" y="2341382"/>
                  <a:pt x="0" y="2323802"/>
                </a:cubicBezTo>
                <a:lnTo>
                  <a:pt x="0" y="31833"/>
                </a:lnTo>
                <a:cubicBezTo>
                  <a:pt x="0" y="14252"/>
                  <a:pt x="14252" y="0"/>
                  <a:pt x="31833" y="0"/>
                </a:cubicBezTo>
                <a:close/>
              </a:path>
            </a:pathLst>
          </a:custGeom>
          <a:solidFill>
            <a:srgbClr val="FFD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330369" y="1161901"/>
            <a:ext cx="318329" cy="318329"/>
          </a:xfrm>
          <a:custGeom>
            <a:avLst/>
            <a:gdLst/>
            <a:ahLst/>
            <a:cxnLst/>
            <a:rect l="l" t="t" r="r" b="b"/>
            <a:pathLst>
              <a:path w="318329" h="318329">
                <a:moveTo>
                  <a:pt x="63666" y="0"/>
                </a:moveTo>
                <a:lnTo>
                  <a:pt x="254663" y="0"/>
                </a:lnTo>
                <a:cubicBezTo>
                  <a:pt x="289825" y="0"/>
                  <a:pt x="318329" y="28504"/>
                  <a:pt x="318329" y="63666"/>
                </a:cubicBezTo>
                <a:lnTo>
                  <a:pt x="318329" y="254663"/>
                </a:lnTo>
                <a:cubicBezTo>
                  <a:pt x="318329" y="289825"/>
                  <a:pt x="289825" y="318329"/>
                  <a:pt x="254663" y="318329"/>
                </a:cubicBezTo>
                <a:lnTo>
                  <a:pt x="63666" y="318329"/>
                </a:lnTo>
                <a:cubicBezTo>
                  <a:pt x="28504" y="318329"/>
                  <a:pt x="0" y="289825"/>
                  <a:pt x="0" y="254663"/>
                </a:cubicBezTo>
                <a:lnTo>
                  <a:pt x="0" y="63666"/>
                </a:lnTo>
                <a:cubicBezTo>
                  <a:pt x="0" y="28504"/>
                  <a:pt x="28504" y="0"/>
                  <a:pt x="63666" y="0"/>
                </a:cubicBezTo>
                <a:close/>
              </a:path>
            </a:pathLst>
          </a:custGeom>
          <a:solidFill>
            <a:srgbClr val="FFD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298536" y="1161901"/>
            <a:ext cx="381995" cy="3183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3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v2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712363" y="1114151"/>
            <a:ext cx="604825" cy="222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YOLOv2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712363" y="1336982"/>
            <a:ext cx="596867" cy="190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3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2017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330369" y="1591645"/>
            <a:ext cx="3565285" cy="541159"/>
          </a:xfrm>
          <a:custGeom>
            <a:avLst/>
            <a:gdLst/>
            <a:ahLst/>
            <a:cxnLst/>
            <a:rect l="l" t="t" r="r" b="b"/>
            <a:pathLst>
              <a:path w="3565285" h="541159">
                <a:moveTo>
                  <a:pt x="31831" y="0"/>
                </a:moveTo>
                <a:lnTo>
                  <a:pt x="3533454" y="0"/>
                </a:lnTo>
                <a:cubicBezTo>
                  <a:pt x="3551033" y="0"/>
                  <a:pt x="3565285" y="14251"/>
                  <a:pt x="3565285" y="31831"/>
                </a:cubicBezTo>
                <a:lnTo>
                  <a:pt x="3565285" y="509328"/>
                </a:lnTo>
                <a:cubicBezTo>
                  <a:pt x="3565285" y="526908"/>
                  <a:pt x="3551033" y="541159"/>
                  <a:pt x="3533454" y="541159"/>
                </a:cubicBezTo>
                <a:lnTo>
                  <a:pt x="31831" y="541159"/>
                </a:lnTo>
                <a:cubicBezTo>
                  <a:pt x="14251" y="541159"/>
                  <a:pt x="0" y="526908"/>
                  <a:pt x="0" y="509328"/>
                </a:cubicBezTo>
                <a:lnTo>
                  <a:pt x="0" y="31831"/>
                </a:lnTo>
                <a:cubicBezTo>
                  <a:pt x="0" y="14263"/>
                  <a:pt x="14263" y="0"/>
                  <a:pt x="31831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394034" y="1655311"/>
            <a:ext cx="3501619" cy="190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3" b="1" dirty="0">
                <a:solidFill>
                  <a:srgbClr val="FFD5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Improvements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394034" y="1878141"/>
            <a:ext cx="3501619" cy="190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3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Batch norm, anchor boxes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30369" y="2164637"/>
            <a:ext cx="3565285" cy="541159"/>
          </a:xfrm>
          <a:custGeom>
            <a:avLst/>
            <a:gdLst/>
            <a:ahLst/>
            <a:cxnLst/>
            <a:rect l="l" t="t" r="r" b="b"/>
            <a:pathLst>
              <a:path w="3565285" h="541159">
                <a:moveTo>
                  <a:pt x="31831" y="0"/>
                </a:moveTo>
                <a:lnTo>
                  <a:pt x="3533454" y="0"/>
                </a:lnTo>
                <a:cubicBezTo>
                  <a:pt x="3551033" y="0"/>
                  <a:pt x="3565285" y="14251"/>
                  <a:pt x="3565285" y="31831"/>
                </a:cubicBezTo>
                <a:lnTo>
                  <a:pt x="3565285" y="509328"/>
                </a:lnTo>
                <a:cubicBezTo>
                  <a:pt x="3565285" y="526908"/>
                  <a:pt x="3551033" y="541159"/>
                  <a:pt x="3533454" y="541159"/>
                </a:cubicBezTo>
                <a:lnTo>
                  <a:pt x="31831" y="541159"/>
                </a:lnTo>
                <a:cubicBezTo>
                  <a:pt x="14251" y="541159"/>
                  <a:pt x="0" y="526908"/>
                  <a:pt x="0" y="509328"/>
                </a:cubicBezTo>
                <a:lnTo>
                  <a:pt x="0" y="31831"/>
                </a:lnTo>
                <a:cubicBezTo>
                  <a:pt x="0" y="14263"/>
                  <a:pt x="14263" y="0"/>
                  <a:pt x="31831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394034" y="2228303"/>
            <a:ext cx="3501619" cy="190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3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394034" y="2451133"/>
            <a:ext cx="3501619" cy="190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3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Darknet-19 backbone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30369" y="2737629"/>
            <a:ext cx="3565285" cy="541159"/>
          </a:xfrm>
          <a:custGeom>
            <a:avLst/>
            <a:gdLst/>
            <a:ahLst/>
            <a:cxnLst/>
            <a:rect l="l" t="t" r="r" b="b"/>
            <a:pathLst>
              <a:path w="3565285" h="541159">
                <a:moveTo>
                  <a:pt x="31831" y="0"/>
                </a:moveTo>
                <a:lnTo>
                  <a:pt x="3533454" y="0"/>
                </a:lnTo>
                <a:cubicBezTo>
                  <a:pt x="3551033" y="0"/>
                  <a:pt x="3565285" y="14251"/>
                  <a:pt x="3565285" y="31831"/>
                </a:cubicBezTo>
                <a:lnTo>
                  <a:pt x="3565285" y="509328"/>
                </a:lnTo>
                <a:cubicBezTo>
                  <a:pt x="3565285" y="526908"/>
                  <a:pt x="3551033" y="541159"/>
                  <a:pt x="3533454" y="541159"/>
                </a:cubicBezTo>
                <a:lnTo>
                  <a:pt x="31831" y="541159"/>
                </a:lnTo>
                <a:cubicBezTo>
                  <a:pt x="14251" y="541159"/>
                  <a:pt x="0" y="526908"/>
                  <a:pt x="0" y="509328"/>
                </a:cubicBezTo>
                <a:lnTo>
                  <a:pt x="0" y="31831"/>
                </a:lnTo>
                <a:cubicBezTo>
                  <a:pt x="0" y="14263"/>
                  <a:pt x="14263" y="0"/>
                  <a:pt x="31831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394034" y="2801295"/>
            <a:ext cx="3501619" cy="190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3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Performance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394034" y="3024125"/>
            <a:ext cx="3501619" cy="190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3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Better accuracy, multi-scale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103761" y="1018653"/>
            <a:ext cx="3772198" cy="2355634"/>
          </a:xfrm>
          <a:custGeom>
            <a:avLst/>
            <a:gdLst/>
            <a:ahLst/>
            <a:cxnLst/>
            <a:rect l="l" t="t" r="r" b="b"/>
            <a:pathLst>
              <a:path w="3772198" h="2355634">
                <a:moveTo>
                  <a:pt x="31833" y="0"/>
                </a:moveTo>
                <a:lnTo>
                  <a:pt x="3676701" y="0"/>
                </a:lnTo>
                <a:cubicBezTo>
                  <a:pt x="3729443" y="0"/>
                  <a:pt x="3772198" y="42756"/>
                  <a:pt x="3772198" y="95497"/>
                </a:cubicBezTo>
                <a:lnTo>
                  <a:pt x="3772198" y="2260137"/>
                </a:lnTo>
                <a:cubicBezTo>
                  <a:pt x="3772198" y="2312879"/>
                  <a:pt x="3729443" y="2355634"/>
                  <a:pt x="3676701" y="2355634"/>
                </a:cubicBezTo>
                <a:lnTo>
                  <a:pt x="31833" y="2355634"/>
                </a:lnTo>
                <a:cubicBezTo>
                  <a:pt x="14252" y="2355634"/>
                  <a:pt x="0" y="2341382"/>
                  <a:pt x="0" y="2323802"/>
                </a:cubicBezTo>
                <a:lnTo>
                  <a:pt x="0" y="31833"/>
                </a:lnTo>
                <a:cubicBezTo>
                  <a:pt x="0" y="14252"/>
                  <a:pt x="14252" y="0"/>
                  <a:pt x="31833" y="0"/>
                </a:cubicBezTo>
                <a:close/>
              </a:path>
            </a:pathLst>
          </a:custGeom>
          <a:solidFill>
            <a:srgbClr val="263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8103761" y="1018653"/>
            <a:ext cx="31833" cy="2355634"/>
          </a:xfrm>
          <a:custGeom>
            <a:avLst/>
            <a:gdLst/>
            <a:ahLst/>
            <a:cxnLst/>
            <a:rect l="l" t="t" r="r" b="b"/>
            <a:pathLst>
              <a:path w="31833" h="2355634">
                <a:moveTo>
                  <a:pt x="31833" y="0"/>
                </a:moveTo>
                <a:lnTo>
                  <a:pt x="31833" y="0"/>
                </a:lnTo>
                <a:lnTo>
                  <a:pt x="31833" y="2355634"/>
                </a:lnTo>
                <a:lnTo>
                  <a:pt x="31833" y="2355634"/>
                </a:lnTo>
                <a:cubicBezTo>
                  <a:pt x="14252" y="2355634"/>
                  <a:pt x="0" y="2341382"/>
                  <a:pt x="0" y="2323802"/>
                </a:cubicBezTo>
                <a:lnTo>
                  <a:pt x="0" y="31833"/>
                </a:lnTo>
                <a:cubicBezTo>
                  <a:pt x="0" y="14252"/>
                  <a:pt x="14252" y="0"/>
                  <a:pt x="31833" y="0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8215176" y="1161901"/>
            <a:ext cx="318329" cy="318329"/>
          </a:xfrm>
          <a:custGeom>
            <a:avLst/>
            <a:gdLst/>
            <a:ahLst/>
            <a:cxnLst/>
            <a:rect l="l" t="t" r="r" b="b"/>
            <a:pathLst>
              <a:path w="318329" h="318329">
                <a:moveTo>
                  <a:pt x="63666" y="0"/>
                </a:moveTo>
                <a:lnTo>
                  <a:pt x="254663" y="0"/>
                </a:lnTo>
                <a:cubicBezTo>
                  <a:pt x="289825" y="0"/>
                  <a:pt x="318329" y="28504"/>
                  <a:pt x="318329" y="63666"/>
                </a:cubicBezTo>
                <a:lnTo>
                  <a:pt x="318329" y="254663"/>
                </a:lnTo>
                <a:cubicBezTo>
                  <a:pt x="318329" y="289825"/>
                  <a:pt x="289825" y="318329"/>
                  <a:pt x="254663" y="318329"/>
                </a:cubicBezTo>
                <a:lnTo>
                  <a:pt x="63666" y="318329"/>
                </a:lnTo>
                <a:cubicBezTo>
                  <a:pt x="28504" y="318329"/>
                  <a:pt x="0" y="289825"/>
                  <a:pt x="0" y="254663"/>
                </a:cubicBezTo>
                <a:lnTo>
                  <a:pt x="0" y="63666"/>
                </a:lnTo>
                <a:cubicBezTo>
                  <a:pt x="0" y="28504"/>
                  <a:pt x="28504" y="0"/>
                  <a:pt x="63666" y="0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8183343" y="1161901"/>
            <a:ext cx="381995" cy="3183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3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v3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597170" y="1114151"/>
            <a:ext cx="604825" cy="222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YOLOv3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597170" y="1336982"/>
            <a:ext cx="596867" cy="190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3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2018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215176" y="1591645"/>
            <a:ext cx="3565285" cy="541159"/>
          </a:xfrm>
          <a:custGeom>
            <a:avLst/>
            <a:gdLst/>
            <a:ahLst/>
            <a:cxnLst/>
            <a:rect l="l" t="t" r="r" b="b"/>
            <a:pathLst>
              <a:path w="3565285" h="541159">
                <a:moveTo>
                  <a:pt x="31831" y="0"/>
                </a:moveTo>
                <a:lnTo>
                  <a:pt x="3533454" y="0"/>
                </a:lnTo>
                <a:cubicBezTo>
                  <a:pt x="3551033" y="0"/>
                  <a:pt x="3565285" y="14251"/>
                  <a:pt x="3565285" y="31831"/>
                </a:cubicBezTo>
                <a:lnTo>
                  <a:pt x="3565285" y="509328"/>
                </a:lnTo>
                <a:cubicBezTo>
                  <a:pt x="3565285" y="526908"/>
                  <a:pt x="3551033" y="541159"/>
                  <a:pt x="3533454" y="541159"/>
                </a:cubicBezTo>
                <a:lnTo>
                  <a:pt x="31831" y="541159"/>
                </a:lnTo>
                <a:cubicBezTo>
                  <a:pt x="14251" y="541159"/>
                  <a:pt x="0" y="526908"/>
                  <a:pt x="0" y="509328"/>
                </a:cubicBezTo>
                <a:lnTo>
                  <a:pt x="0" y="31831"/>
                </a:lnTo>
                <a:cubicBezTo>
                  <a:pt x="0" y="14263"/>
                  <a:pt x="14263" y="0"/>
                  <a:pt x="31831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8278841" y="1655311"/>
            <a:ext cx="3501619" cy="190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3" b="1" dirty="0">
                <a:solidFill>
                  <a:srgbClr val="FFD5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Improvements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278841" y="1878141"/>
            <a:ext cx="3501619" cy="190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3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Darknet-53, 3 scales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215176" y="2164637"/>
            <a:ext cx="3565285" cy="541159"/>
          </a:xfrm>
          <a:custGeom>
            <a:avLst/>
            <a:gdLst/>
            <a:ahLst/>
            <a:cxnLst/>
            <a:rect l="l" t="t" r="r" b="b"/>
            <a:pathLst>
              <a:path w="3565285" h="541159">
                <a:moveTo>
                  <a:pt x="31831" y="0"/>
                </a:moveTo>
                <a:lnTo>
                  <a:pt x="3533454" y="0"/>
                </a:lnTo>
                <a:cubicBezTo>
                  <a:pt x="3551033" y="0"/>
                  <a:pt x="3565285" y="14251"/>
                  <a:pt x="3565285" y="31831"/>
                </a:cubicBezTo>
                <a:lnTo>
                  <a:pt x="3565285" y="509328"/>
                </a:lnTo>
                <a:cubicBezTo>
                  <a:pt x="3565285" y="526908"/>
                  <a:pt x="3551033" y="541159"/>
                  <a:pt x="3533454" y="541159"/>
                </a:cubicBezTo>
                <a:lnTo>
                  <a:pt x="31831" y="541159"/>
                </a:lnTo>
                <a:cubicBezTo>
                  <a:pt x="14251" y="541159"/>
                  <a:pt x="0" y="526908"/>
                  <a:pt x="0" y="509328"/>
                </a:cubicBezTo>
                <a:lnTo>
                  <a:pt x="0" y="31831"/>
                </a:lnTo>
                <a:cubicBezTo>
                  <a:pt x="0" y="14263"/>
                  <a:pt x="14263" y="0"/>
                  <a:pt x="31831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8278841" y="2228303"/>
            <a:ext cx="3501619" cy="190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3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Architecture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278841" y="2451133"/>
            <a:ext cx="3501619" cy="190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3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Feature Pyramid Network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215176" y="2737629"/>
            <a:ext cx="3565285" cy="541159"/>
          </a:xfrm>
          <a:custGeom>
            <a:avLst/>
            <a:gdLst/>
            <a:ahLst/>
            <a:cxnLst/>
            <a:rect l="l" t="t" r="r" b="b"/>
            <a:pathLst>
              <a:path w="3565285" h="541159">
                <a:moveTo>
                  <a:pt x="31831" y="0"/>
                </a:moveTo>
                <a:lnTo>
                  <a:pt x="3533454" y="0"/>
                </a:lnTo>
                <a:cubicBezTo>
                  <a:pt x="3551033" y="0"/>
                  <a:pt x="3565285" y="14251"/>
                  <a:pt x="3565285" y="31831"/>
                </a:cubicBezTo>
                <a:lnTo>
                  <a:pt x="3565285" y="509328"/>
                </a:lnTo>
                <a:cubicBezTo>
                  <a:pt x="3565285" y="526908"/>
                  <a:pt x="3551033" y="541159"/>
                  <a:pt x="3533454" y="541159"/>
                </a:cubicBezTo>
                <a:lnTo>
                  <a:pt x="31831" y="541159"/>
                </a:lnTo>
                <a:cubicBezTo>
                  <a:pt x="14251" y="541159"/>
                  <a:pt x="0" y="526908"/>
                  <a:pt x="0" y="509328"/>
                </a:cubicBezTo>
                <a:lnTo>
                  <a:pt x="0" y="31831"/>
                </a:lnTo>
                <a:cubicBezTo>
                  <a:pt x="0" y="14263"/>
                  <a:pt x="14263" y="0"/>
                  <a:pt x="31831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8278841" y="2801295"/>
            <a:ext cx="3501619" cy="190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3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Performance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278841" y="3024125"/>
            <a:ext cx="3501619" cy="190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3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Better small objects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334245" y="3469786"/>
            <a:ext cx="3772198" cy="2355634"/>
          </a:xfrm>
          <a:custGeom>
            <a:avLst/>
            <a:gdLst/>
            <a:ahLst/>
            <a:cxnLst/>
            <a:rect l="l" t="t" r="r" b="b"/>
            <a:pathLst>
              <a:path w="3772198" h="2355634">
                <a:moveTo>
                  <a:pt x="31833" y="0"/>
                </a:moveTo>
                <a:lnTo>
                  <a:pt x="3676701" y="0"/>
                </a:lnTo>
                <a:cubicBezTo>
                  <a:pt x="3729443" y="0"/>
                  <a:pt x="3772198" y="42756"/>
                  <a:pt x="3772198" y="95497"/>
                </a:cubicBezTo>
                <a:lnTo>
                  <a:pt x="3772198" y="2260137"/>
                </a:lnTo>
                <a:cubicBezTo>
                  <a:pt x="3772198" y="2312879"/>
                  <a:pt x="3729443" y="2355634"/>
                  <a:pt x="3676701" y="2355634"/>
                </a:cubicBezTo>
                <a:lnTo>
                  <a:pt x="31833" y="2355634"/>
                </a:lnTo>
                <a:cubicBezTo>
                  <a:pt x="14252" y="2355634"/>
                  <a:pt x="0" y="2341382"/>
                  <a:pt x="0" y="2323802"/>
                </a:cubicBezTo>
                <a:lnTo>
                  <a:pt x="0" y="31833"/>
                </a:lnTo>
                <a:cubicBezTo>
                  <a:pt x="0" y="14252"/>
                  <a:pt x="14252" y="0"/>
                  <a:pt x="31833" y="0"/>
                </a:cubicBezTo>
                <a:close/>
              </a:path>
            </a:pathLst>
          </a:custGeom>
          <a:solidFill>
            <a:srgbClr val="263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334245" y="3469786"/>
            <a:ext cx="31833" cy="2355634"/>
          </a:xfrm>
          <a:custGeom>
            <a:avLst/>
            <a:gdLst/>
            <a:ahLst/>
            <a:cxnLst/>
            <a:rect l="l" t="t" r="r" b="b"/>
            <a:pathLst>
              <a:path w="31833" h="2355634">
                <a:moveTo>
                  <a:pt x="31833" y="0"/>
                </a:moveTo>
                <a:lnTo>
                  <a:pt x="31833" y="0"/>
                </a:lnTo>
                <a:lnTo>
                  <a:pt x="31833" y="2355634"/>
                </a:lnTo>
                <a:lnTo>
                  <a:pt x="31833" y="2355634"/>
                </a:lnTo>
                <a:cubicBezTo>
                  <a:pt x="14252" y="2355634"/>
                  <a:pt x="0" y="2341382"/>
                  <a:pt x="0" y="2323802"/>
                </a:cubicBezTo>
                <a:lnTo>
                  <a:pt x="0" y="31833"/>
                </a:lnTo>
                <a:cubicBezTo>
                  <a:pt x="0" y="14252"/>
                  <a:pt x="14252" y="0"/>
                  <a:pt x="31833" y="0"/>
                </a:cubicBezTo>
                <a:close/>
              </a:path>
            </a:pathLst>
          </a:custGeom>
          <a:solidFill>
            <a:srgbClr val="FFD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445661" y="3613034"/>
            <a:ext cx="318329" cy="318329"/>
          </a:xfrm>
          <a:custGeom>
            <a:avLst/>
            <a:gdLst/>
            <a:ahLst/>
            <a:cxnLst/>
            <a:rect l="l" t="t" r="r" b="b"/>
            <a:pathLst>
              <a:path w="318329" h="318329">
                <a:moveTo>
                  <a:pt x="63666" y="0"/>
                </a:moveTo>
                <a:lnTo>
                  <a:pt x="254663" y="0"/>
                </a:lnTo>
                <a:cubicBezTo>
                  <a:pt x="289825" y="0"/>
                  <a:pt x="318329" y="28504"/>
                  <a:pt x="318329" y="63666"/>
                </a:cubicBezTo>
                <a:lnTo>
                  <a:pt x="318329" y="254663"/>
                </a:lnTo>
                <a:cubicBezTo>
                  <a:pt x="318329" y="289825"/>
                  <a:pt x="289825" y="318329"/>
                  <a:pt x="254663" y="318329"/>
                </a:cubicBezTo>
                <a:lnTo>
                  <a:pt x="63666" y="318329"/>
                </a:lnTo>
                <a:cubicBezTo>
                  <a:pt x="28504" y="318329"/>
                  <a:pt x="0" y="289825"/>
                  <a:pt x="0" y="254663"/>
                </a:cubicBezTo>
                <a:lnTo>
                  <a:pt x="0" y="63666"/>
                </a:lnTo>
                <a:cubicBezTo>
                  <a:pt x="0" y="28504"/>
                  <a:pt x="28504" y="0"/>
                  <a:pt x="63666" y="0"/>
                </a:cubicBezTo>
                <a:close/>
              </a:path>
            </a:pathLst>
          </a:custGeom>
          <a:solidFill>
            <a:srgbClr val="FFD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413828" y="3613034"/>
            <a:ext cx="381995" cy="3183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3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v4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827655" y="3565285"/>
            <a:ext cx="604825" cy="222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YOLOv4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827655" y="3788115"/>
            <a:ext cx="596867" cy="190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3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2020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445661" y="4042778"/>
            <a:ext cx="3565285" cy="541159"/>
          </a:xfrm>
          <a:custGeom>
            <a:avLst/>
            <a:gdLst/>
            <a:ahLst/>
            <a:cxnLst/>
            <a:rect l="l" t="t" r="r" b="b"/>
            <a:pathLst>
              <a:path w="3565285" h="541159">
                <a:moveTo>
                  <a:pt x="31831" y="0"/>
                </a:moveTo>
                <a:lnTo>
                  <a:pt x="3533454" y="0"/>
                </a:lnTo>
                <a:cubicBezTo>
                  <a:pt x="3551033" y="0"/>
                  <a:pt x="3565285" y="14251"/>
                  <a:pt x="3565285" y="31831"/>
                </a:cubicBezTo>
                <a:lnTo>
                  <a:pt x="3565285" y="509328"/>
                </a:lnTo>
                <a:cubicBezTo>
                  <a:pt x="3565285" y="526908"/>
                  <a:pt x="3551033" y="541159"/>
                  <a:pt x="3533454" y="541159"/>
                </a:cubicBezTo>
                <a:lnTo>
                  <a:pt x="31831" y="541159"/>
                </a:lnTo>
                <a:cubicBezTo>
                  <a:pt x="14251" y="541159"/>
                  <a:pt x="0" y="526908"/>
                  <a:pt x="0" y="509328"/>
                </a:cubicBezTo>
                <a:lnTo>
                  <a:pt x="0" y="31831"/>
                </a:lnTo>
                <a:cubicBezTo>
                  <a:pt x="0" y="14263"/>
                  <a:pt x="14263" y="0"/>
                  <a:pt x="31831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509326" y="4106444"/>
            <a:ext cx="3501619" cy="190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3" b="1" dirty="0">
                <a:solidFill>
                  <a:srgbClr val="FFD5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Improvements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509326" y="4329274"/>
            <a:ext cx="3501619" cy="190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3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CSPDarknet, SPP, PANet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445661" y="4615770"/>
            <a:ext cx="3565285" cy="541159"/>
          </a:xfrm>
          <a:custGeom>
            <a:avLst/>
            <a:gdLst/>
            <a:ahLst/>
            <a:cxnLst/>
            <a:rect l="l" t="t" r="r" b="b"/>
            <a:pathLst>
              <a:path w="3565285" h="541159">
                <a:moveTo>
                  <a:pt x="31831" y="0"/>
                </a:moveTo>
                <a:lnTo>
                  <a:pt x="3533454" y="0"/>
                </a:lnTo>
                <a:cubicBezTo>
                  <a:pt x="3551033" y="0"/>
                  <a:pt x="3565285" y="14251"/>
                  <a:pt x="3565285" y="31831"/>
                </a:cubicBezTo>
                <a:lnTo>
                  <a:pt x="3565285" y="509328"/>
                </a:lnTo>
                <a:cubicBezTo>
                  <a:pt x="3565285" y="526908"/>
                  <a:pt x="3551033" y="541159"/>
                  <a:pt x="3533454" y="541159"/>
                </a:cubicBezTo>
                <a:lnTo>
                  <a:pt x="31831" y="541159"/>
                </a:lnTo>
                <a:cubicBezTo>
                  <a:pt x="14251" y="541159"/>
                  <a:pt x="0" y="526908"/>
                  <a:pt x="0" y="509328"/>
                </a:cubicBezTo>
                <a:lnTo>
                  <a:pt x="0" y="31831"/>
                </a:lnTo>
                <a:cubicBezTo>
                  <a:pt x="0" y="14263"/>
                  <a:pt x="14263" y="0"/>
                  <a:pt x="31831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509326" y="4679436"/>
            <a:ext cx="3501619" cy="190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3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Architecture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509326" y="4902266"/>
            <a:ext cx="3501619" cy="190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3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Bag of freebies &amp; specials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445661" y="5188762"/>
            <a:ext cx="3565285" cy="541159"/>
          </a:xfrm>
          <a:custGeom>
            <a:avLst/>
            <a:gdLst/>
            <a:ahLst/>
            <a:cxnLst/>
            <a:rect l="l" t="t" r="r" b="b"/>
            <a:pathLst>
              <a:path w="3565285" h="541159">
                <a:moveTo>
                  <a:pt x="31831" y="0"/>
                </a:moveTo>
                <a:lnTo>
                  <a:pt x="3533454" y="0"/>
                </a:lnTo>
                <a:cubicBezTo>
                  <a:pt x="3551033" y="0"/>
                  <a:pt x="3565285" y="14251"/>
                  <a:pt x="3565285" y="31831"/>
                </a:cubicBezTo>
                <a:lnTo>
                  <a:pt x="3565285" y="509328"/>
                </a:lnTo>
                <a:cubicBezTo>
                  <a:pt x="3565285" y="526908"/>
                  <a:pt x="3551033" y="541159"/>
                  <a:pt x="3533454" y="541159"/>
                </a:cubicBezTo>
                <a:lnTo>
                  <a:pt x="31831" y="541159"/>
                </a:lnTo>
                <a:cubicBezTo>
                  <a:pt x="14251" y="541159"/>
                  <a:pt x="0" y="526908"/>
                  <a:pt x="0" y="509328"/>
                </a:cubicBezTo>
                <a:lnTo>
                  <a:pt x="0" y="31831"/>
                </a:lnTo>
                <a:cubicBezTo>
                  <a:pt x="0" y="14263"/>
                  <a:pt x="14263" y="0"/>
                  <a:pt x="31831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509326" y="5252428"/>
            <a:ext cx="3501619" cy="190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3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Performance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509326" y="5475258"/>
            <a:ext cx="3501619" cy="190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3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SOTA speed-accuracy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4218953" y="3469786"/>
            <a:ext cx="3772198" cy="2355634"/>
          </a:xfrm>
          <a:custGeom>
            <a:avLst/>
            <a:gdLst/>
            <a:ahLst/>
            <a:cxnLst/>
            <a:rect l="l" t="t" r="r" b="b"/>
            <a:pathLst>
              <a:path w="3772198" h="2355634">
                <a:moveTo>
                  <a:pt x="31833" y="0"/>
                </a:moveTo>
                <a:lnTo>
                  <a:pt x="3676701" y="0"/>
                </a:lnTo>
                <a:cubicBezTo>
                  <a:pt x="3729443" y="0"/>
                  <a:pt x="3772198" y="42756"/>
                  <a:pt x="3772198" y="95497"/>
                </a:cubicBezTo>
                <a:lnTo>
                  <a:pt x="3772198" y="2260137"/>
                </a:lnTo>
                <a:cubicBezTo>
                  <a:pt x="3772198" y="2312879"/>
                  <a:pt x="3729443" y="2355634"/>
                  <a:pt x="3676701" y="2355634"/>
                </a:cubicBezTo>
                <a:lnTo>
                  <a:pt x="31833" y="2355634"/>
                </a:lnTo>
                <a:cubicBezTo>
                  <a:pt x="14252" y="2355634"/>
                  <a:pt x="0" y="2341382"/>
                  <a:pt x="0" y="2323802"/>
                </a:cubicBezTo>
                <a:lnTo>
                  <a:pt x="0" y="31833"/>
                </a:lnTo>
                <a:cubicBezTo>
                  <a:pt x="0" y="14252"/>
                  <a:pt x="14252" y="0"/>
                  <a:pt x="31833" y="0"/>
                </a:cubicBezTo>
                <a:close/>
              </a:path>
            </a:pathLst>
          </a:custGeom>
          <a:solidFill>
            <a:srgbClr val="263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4218953" y="3469786"/>
            <a:ext cx="31833" cy="2355634"/>
          </a:xfrm>
          <a:custGeom>
            <a:avLst/>
            <a:gdLst/>
            <a:ahLst/>
            <a:cxnLst/>
            <a:rect l="l" t="t" r="r" b="b"/>
            <a:pathLst>
              <a:path w="31833" h="2355634">
                <a:moveTo>
                  <a:pt x="31833" y="0"/>
                </a:moveTo>
                <a:lnTo>
                  <a:pt x="31833" y="0"/>
                </a:lnTo>
                <a:lnTo>
                  <a:pt x="31833" y="2355634"/>
                </a:lnTo>
                <a:lnTo>
                  <a:pt x="31833" y="2355634"/>
                </a:lnTo>
                <a:cubicBezTo>
                  <a:pt x="14252" y="2355634"/>
                  <a:pt x="0" y="2341382"/>
                  <a:pt x="0" y="2323802"/>
                </a:cubicBezTo>
                <a:lnTo>
                  <a:pt x="0" y="31833"/>
                </a:lnTo>
                <a:cubicBezTo>
                  <a:pt x="0" y="14252"/>
                  <a:pt x="14252" y="0"/>
                  <a:pt x="31833" y="0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4330369" y="3613034"/>
            <a:ext cx="318329" cy="318329"/>
          </a:xfrm>
          <a:custGeom>
            <a:avLst/>
            <a:gdLst/>
            <a:ahLst/>
            <a:cxnLst/>
            <a:rect l="l" t="t" r="r" b="b"/>
            <a:pathLst>
              <a:path w="318329" h="318329">
                <a:moveTo>
                  <a:pt x="63666" y="0"/>
                </a:moveTo>
                <a:lnTo>
                  <a:pt x="254663" y="0"/>
                </a:lnTo>
                <a:cubicBezTo>
                  <a:pt x="289825" y="0"/>
                  <a:pt x="318329" y="28504"/>
                  <a:pt x="318329" y="63666"/>
                </a:cubicBezTo>
                <a:lnTo>
                  <a:pt x="318329" y="254663"/>
                </a:lnTo>
                <a:cubicBezTo>
                  <a:pt x="318329" y="289825"/>
                  <a:pt x="289825" y="318329"/>
                  <a:pt x="254663" y="318329"/>
                </a:cubicBezTo>
                <a:lnTo>
                  <a:pt x="63666" y="318329"/>
                </a:lnTo>
                <a:cubicBezTo>
                  <a:pt x="28504" y="318329"/>
                  <a:pt x="0" y="289825"/>
                  <a:pt x="0" y="254663"/>
                </a:cubicBezTo>
                <a:lnTo>
                  <a:pt x="0" y="63666"/>
                </a:lnTo>
                <a:cubicBezTo>
                  <a:pt x="0" y="28504"/>
                  <a:pt x="28504" y="0"/>
                  <a:pt x="63666" y="0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4298536" y="3613034"/>
            <a:ext cx="381995" cy="3183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3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v5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4712363" y="3565285"/>
            <a:ext cx="604825" cy="222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YOLOv5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4712363" y="3788115"/>
            <a:ext cx="596867" cy="190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3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2020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4330369" y="4042778"/>
            <a:ext cx="3565285" cy="541159"/>
          </a:xfrm>
          <a:custGeom>
            <a:avLst/>
            <a:gdLst/>
            <a:ahLst/>
            <a:cxnLst/>
            <a:rect l="l" t="t" r="r" b="b"/>
            <a:pathLst>
              <a:path w="3565285" h="541159">
                <a:moveTo>
                  <a:pt x="31831" y="0"/>
                </a:moveTo>
                <a:lnTo>
                  <a:pt x="3533454" y="0"/>
                </a:lnTo>
                <a:cubicBezTo>
                  <a:pt x="3551033" y="0"/>
                  <a:pt x="3565285" y="14251"/>
                  <a:pt x="3565285" y="31831"/>
                </a:cubicBezTo>
                <a:lnTo>
                  <a:pt x="3565285" y="509328"/>
                </a:lnTo>
                <a:cubicBezTo>
                  <a:pt x="3565285" y="526908"/>
                  <a:pt x="3551033" y="541159"/>
                  <a:pt x="3533454" y="541159"/>
                </a:cubicBezTo>
                <a:lnTo>
                  <a:pt x="31831" y="541159"/>
                </a:lnTo>
                <a:cubicBezTo>
                  <a:pt x="14251" y="541159"/>
                  <a:pt x="0" y="526908"/>
                  <a:pt x="0" y="509328"/>
                </a:cubicBezTo>
                <a:lnTo>
                  <a:pt x="0" y="31831"/>
                </a:lnTo>
                <a:cubicBezTo>
                  <a:pt x="0" y="14263"/>
                  <a:pt x="14263" y="0"/>
                  <a:pt x="31831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4394034" y="4106444"/>
            <a:ext cx="3501619" cy="190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3" b="1" dirty="0">
                <a:solidFill>
                  <a:srgbClr val="FFD5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Improvements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4394034" y="4329274"/>
            <a:ext cx="3501619" cy="190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3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PyTorch, Ultralytics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4330369" y="4615770"/>
            <a:ext cx="3565285" cy="541159"/>
          </a:xfrm>
          <a:custGeom>
            <a:avLst/>
            <a:gdLst/>
            <a:ahLst/>
            <a:cxnLst/>
            <a:rect l="l" t="t" r="r" b="b"/>
            <a:pathLst>
              <a:path w="3565285" h="541159">
                <a:moveTo>
                  <a:pt x="31831" y="0"/>
                </a:moveTo>
                <a:lnTo>
                  <a:pt x="3533454" y="0"/>
                </a:lnTo>
                <a:cubicBezTo>
                  <a:pt x="3551033" y="0"/>
                  <a:pt x="3565285" y="14251"/>
                  <a:pt x="3565285" y="31831"/>
                </a:cubicBezTo>
                <a:lnTo>
                  <a:pt x="3565285" y="509328"/>
                </a:lnTo>
                <a:cubicBezTo>
                  <a:pt x="3565285" y="526908"/>
                  <a:pt x="3551033" y="541159"/>
                  <a:pt x="3533454" y="541159"/>
                </a:cubicBezTo>
                <a:lnTo>
                  <a:pt x="31831" y="541159"/>
                </a:lnTo>
                <a:cubicBezTo>
                  <a:pt x="14251" y="541159"/>
                  <a:pt x="0" y="526908"/>
                  <a:pt x="0" y="509328"/>
                </a:cubicBezTo>
                <a:lnTo>
                  <a:pt x="0" y="31831"/>
                </a:lnTo>
                <a:cubicBezTo>
                  <a:pt x="0" y="14263"/>
                  <a:pt x="14263" y="0"/>
                  <a:pt x="31831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4394034" y="4679436"/>
            <a:ext cx="3501619" cy="190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3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Architecture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4394034" y="4902266"/>
            <a:ext cx="3501619" cy="190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3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Auto-anchor, mosaic aug</a:t>
            </a:r>
            <a:endParaRPr lang="en-US" sz="1600" dirty="0"/>
          </a:p>
        </p:txBody>
      </p:sp>
      <p:sp>
        <p:nvSpPr>
          <p:cNvPr id="76" name="Shape 74"/>
          <p:cNvSpPr/>
          <p:nvPr/>
        </p:nvSpPr>
        <p:spPr>
          <a:xfrm>
            <a:off x="4330369" y="5188762"/>
            <a:ext cx="3565285" cy="541159"/>
          </a:xfrm>
          <a:custGeom>
            <a:avLst/>
            <a:gdLst/>
            <a:ahLst/>
            <a:cxnLst/>
            <a:rect l="l" t="t" r="r" b="b"/>
            <a:pathLst>
              <a:path w="3565285" h="541159">
                <a:moveTo>
                  <a:pt x="31831" y="0"/>
                </a:moveTo>
                <a:lnTo>
                  <a:pt x="3533454" y="0"/>
                </a:lnTo>
                <a:cubicBezTo>
                  <a:pt x="3551033" y="0"/>
                  <a:pt x="3565285" y="14251"/>
                  <a:pt x="3565285" y="31831"/>
                </a:cubicBezTo>
                <a:lnTo>
                  <a:pt x="3565285" y="509328"/>
                </a:lnTo>
                <a:cubicBezTo>
                  <a:pt x="3565285" y="526908"/>
                  <a:pt x="3551033" y="541159"/>
                  <a:pt x="3533454" y="541159"/>
                </a:cubicBezTo>
                <a:lnTo>
                  <a:pt x="31831" y="541159"/>
                </a:lnTo>
                <a:cubicBezTo>
                  <a:pt x="14251" y="541159"/>
                  <a:pt x="0" y="526908"/>
                  <a:pt x="0" y="509328"/>
                </a:cubicBezTo>
                <a:lnTo>
                  <a:pt x="0" y="31831"/>
                </a:lnTo>
                <a:cubicBezTo>
                  <a:pt x="0" y="14263"/>
                  <a:pt x="14263" y="0"/>
                  <a:pt x="31831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4394034" y="5252428"/>
            <a:ext cx="3501619" cy="190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3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Performance</a:t>
            </a:r>
            <a:endParaRPr lang="en-US" sz="1600" dirty="0"/>
          </a:p>
        </p:txBody>
      </p:sp>
      <p:sp>
        <p:nvSpPr>
          <p:cNvPr id="78" name="Text 76"/>
          <p:cNvSpPr/>
          <p:nvPr/>
        </p:nvSpPr>
        <p:spPr>
          <a:xfrm>
            <a:off x="4394034" y="5475258"/>
            <a:ext cx="3501619" cy="190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3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Easy deployment</a:t>
            </a:r>
            <a:endParaRPr lang="en-US" sz="1600" dirty="0"/>
          </a:p>
        </p:txBody>
      </p:sp>
      <p:sp>
        <p:nvSpPr>
          <p:cNvPr id="79" name="Shape 77"/>
          <p:cNvSpPr/>
          <p:nvPr/>
        </p:nvSpPr>
        <p:spPr>
          <a:xfrm>
            <a:off x="8103761" y="3469786"/>
            <a:ext cx="3772198" cy="2355634"/>
          </a:xfrm>
          <a:custGeom>
            <a:avLst/>
            <a:gdLst/>
            <a:ahLst/>
            <a:cxnLst/>
            <a:rect l="l" t="t" r="r" b="b"/>
            <a:pathLst>
              <a:path w="3772198" h="2355634">
                <a:moveTo>
                  <a:pt x="31833" y="0"/>
                </a:moveTo>
                <a:lnTo>
                  <a:pt x="3676701" y="0"/>
                </a:lnTo>
                <a:cubicBezTo>
                  <a:pt x="3729443" y="0"/>
                  <a:pt x="3772198" y="42756"/>
                  <a:pt x="3772198" y="95497"/>
                </a:cubicBezTo>
                <a:lnTo>
                  <a:pt x="3772198" y="2260137"/>
                </a:lnTo>
                <a:cubicBezTo>
                  <a:pt x="3772198" y="2312879"/>
                  <a:pt x="3729443" y="2355634"/>
                  <a:pt x="3676701" y="2355634"/>
                </a:cubicBezTo>
                <a:lnTo>
                  <a:pt x="31833" y="2355634"/>
                </a:lnTo>
                <a:cubicBezTo>
                  <a:pt x="14252" y="2355634"/>
                  <a:pt x="0" y="2341382"/>
                  <a:pt x="0" y="2323802"/>
                </a:cubicBezTo>
                <a:lnTo>
                  <a:pt x="0" y="31833"/>
                </a:lnTo>
                <a:cubicBezTo>
                  <a:pt x="0" y="14252"/>
                  <a:pt x="14252" y="0"/>
                  <a:pt x="31833" y="0"/>
                </a:cubicBezTo>
                <a:close/>
              </a:path>
            </a:pathLst>
          </a:custGeom>
          <a:solidFill>
            <a:srgbClr val="263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" name="Shape 78"/>
          <p:cNvSpPr/>
          <p:nvPr/>
        </p:nvSpPr>
        <p:spPr>
          <a:xfrm>
            <a:off x="8103761" y="3469786"/>
            <a:ext cx="31833" cy="2355634"/>
          </a:xfrm>
          <a:custGeom>
            <a:avLst/>
            <a:gdLst/>
            <a:ahLst/>
            <a:cxnLst/>
            <a:rect l="l" t="t" r="r" b="b"/>
            <a:pathLst>
              <a:path w="31833" h="2355634">
                <a:moveTo>
                  <a:pt x="31833" y="0"/>
                </a:moveTo>
                <a:lnTo>
                  <a:pt x="31833" y="0"/>
                </a:lnTo>
                <a:lnTo>
                  <a:pt x="31833" y="2355634"/>
                </a:lnTo>
                <a:lnTo>
                  <a:pt x="31833" y="2355634"/>
                </a:lnTo>
                <a:cubicBezTo>
                  <a:pt x="14252" y="2355634"/>
                  <a:pt x="0" y="2341382"/>
                  <a:pt x="0" y="2323802"/>
                </a:cubicBezTo>
                <a:lnTo>
                  <a:pt x="0" y="31833"/>
                </a:lnTo>
                <a:cubicBezTo>
                  <a:pt x="0" y="14252"/>
                  <a:pt x="14252" y="0"/>
                  <a:pt x="31833" y="0"/>
                </a:cubicBezTo>
                <a:close/>
              </a:path>
            </a:pathLst>
          </a:custGeom>
          <a:solidFill>
            <a:srgbClr val="FFD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1" name="Shape 79"/>
          <p:cNvSpPr/>
          <p:nvPr/>
        </p:nvSpPr>
        <p:spPr>
          <a:xfrm>
            <a:off x="8215176" y="3613034"/>
            <a:ext cx="318329" cy="318329"/>
          </a:xfrm>
          <a:custGeom>
            <a:avLst/>
            <a:gdLst/>
            <a:ahLst/>
            <a:cxnLst/>
            <a:rect l="l" t="t" r="r" b="b"/>
            <a:pathLst>
              <a:path w="318329" h="318329">
                <a:moveTo>
                  <a:pt x="63666" y="0"/>
                </a:moveTo>
                <a:lnTo>
                  <a:pt x="254663" y="0"/>
                </a:lnTo>
                <a:cubicBezTo>
                  <a:pt x="289825" y="0"/>
                  <a:pt x="318329" y="28504"/>
                  <a:pt x="318329" y="63666"/>
                </a:cubicBezTo>
                <a:lnTo>
                  <a:pt x="318329" y="254663"/>
                </a:lnTo>
                <a:cubicBezTo>
                  <a:pt x="318329" y="289825"/>
                  <a:pt x="289825" y="318329"/>
                  <a:pt x="254663" y="318329"/>
                </a:cubicBezTo>
                <a:lnTo>
                  <a:pt x="63666" y="318329"/>
                </a:lnTo>
                <a:cubicBezTo>
                  <a:pt x="28504" y="318329"/>
                  <a:pt x="0" y="289825"/>
                  <a:pt x="0" y="254663"/>
                </a:cubicBezTo>
                <a:lnTo>
                  <a:pt x="0" y="63666"/>
                </a:lnTo>
                <a:cubicBezTo>
                  <a:pt x="0" y="28504"/>
                  <a:pt x="28504" y="0"/>
                  <a:pt x="63666" y="0"/>
                </a:cubicBezTo>
                <a:close/>
              </a:path>
            </a:pathLst>
          </a:custGeom>
          <a:solidFill>
            <a:srgbClr val="FFD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8183343" y="3613034"/>
            <a:ext cx="381995" cy="3183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3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v8</a:t>
            </a:r>
            <a:endParaRPr lang="en-US" sz="1600" dirty="0"/>
          </a:p>
        </p:txBody>
      </p:sp>
      <p:sp>
        <p:nvSpPr>
          <p:cNvPr id="83" name="Text 81"/>
          <p:cNvSpPr/>
          <p:nvPr/>
        </p:nvSpPr>
        <p:spPr>
          <a:xfrm>
            <a:off x="8597170" y="3565285"/>
            <a:ext cx="612783" cy="222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YOLOv8</a:t>
            </a:r>
            <a:endParaRPr lang="en-US" sz="1600" dirty="0"/>
          </a:p>
        </p:txBody>
      </p:sp>
      <p:sp>
        <p:nvSpPr>
          <p:cNvPr id="84" name="Text 82"/>
          <p:cNvSpPr/>
          <p:nvPr/>
        </p:nvSpPr>
        <p:spPr>
          <a:xfrm>
            <a:off x="8597170" y="3788115"/>
            <a:ext cx="604825" cy="190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3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2023+</a:t>
            </a:r>
            <a:endParaRPr lang="en-US" sz="1600" dirty="0"/>
          </a:p>
        </p:txBody>
      </p:sp>
      <p:sp>
        <p:nvSpPr>
          <p:cNvPr id="85" name="Shape 83"/>
          <p:cNvSpPr/>
          <p:nvPr/>
        </p:nvSpPr>
        <p:spPr>
          <a:xfrm>
            <a:off x="8215176" y="4042778"/>
            <a:ext cx="3565285" cy="541159"/>
          </a:xfrm>
          <a:custGeom>
            <a:avLst/>
            <a:gdLst/>
            <a:ahLst/>
            <a:cxnLst/>
            <a:rect l="l" t="t" r="r" b="b"/>
            <a:pathLst>
              <a:path w="3565285" h="541159">
                <a:moveTo>
                  <a:pt x="31831" y="0"/>
                </a:moveTo>
                <a:lnTo>
                  <a:pt x="3533454" y="0"/>
                </a:lnTo>
                <a:cubicBezTo>
                  <a:pt x="3551033" y="0"/>
                  <a:pt x="3565285" y="14251"/>
                  <a:pt x="3565285" y="31831"/>
                </a:cubicBezTo>
                <a:lnTo>
                  <a:pt x="3565285" y="509328"/>
                </a:lnTo>
                <a:cubicBezTo>
                  <a:pt x="3565285" y="526908"/>
                  <a:pt x="3551033" y="541159"/>
                  <a:pt x="3533454" y="541159"/>
                </a:cubicBezTo>
                <a:lnTo>
                  <a:pt x="31831" y="541159"/>
                </a:lnTo>
                <a:cubicBezTo>
                  <a:pt x="14251" y="541159"/>
                  <a:pt x="0" y="526908"/>
                  <a:pt x="0" y="509328"/>
                </a:cubicBezTo>
                <a:lnTo>
                  <a:pt x="0" y="31831"/>
                </a:lnTo>
                <a:cubicBezTo>
                  <a:pt x="0" y="14263"/>
                  <a:pt x="14263" y="0"/>
                  <a:pt x="31831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6" name="Text 84"/>
          <p:cNvSpPr/>
          <p:nvPr/>
        </p:nvSpPr>
        <p:spPr>
          <a:xfrm>
            <a:off x="8278841" y="4106444"/>
            <a:ext cx="3501619" cy="190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3" b="1" dirty="0">
                <a:solidFill>
                  <a:srgbClr val="FFD5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Improvements</a:t>
            </a:r>
            <a:endParaRPr lang="en-US" sz="1600" dirty="0"/>
          </a:p>
        </p:txBody>
      </p:sp>
      <p:sp>
        <p:nvSpPr>
          <p:cNvPr id="87" name="Text 85"/>
          <p:cNvSpPr/>
          <p:nvPr/>
        </p:nvSpPr>
        <p:spPr>
          <a:xfrm>
            <a:off x="8278841" y="4329274"/>
            <a:ext cx="3501619" cy="190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3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Anchor-free, C2f, decoupled head</a:t>
            </a:r>
            <a:endParaRPr lang="en-US" sz="1600" dirty="0"/>
          </a:p>
        </p:txBody>
      </p:sp>
      <p:sp>
        <p:nvSpPr>
          <p:cNvPr id="88" name="Shape 86"/>
          <p:cNvSpPr/>
          <p:nvPr/>
        </p:nvSpPr>
        <p:spPr>
          <a:xfrm>
            <a:off x="8215176" y="4615770"/>
            <a:ext cx="3565285" cy="541159"/>
          </a:xfrm>
          <a:custGeom>
            <a:avLst/>
            <a:gdLst/>
            <a:ahLst/>
            <a:cxnLst/>
            <a:rect l="l" t="t" r="r" b="b"/>
            <a:pathLst>
              <a:path w="3565285" h="541159">
                <a:moveTo>
                  <a:pt x="31831" y="0"/>
                </a:moveTo>
                <a:lnTo>
                  <a:pt x="3533454" y="0"/>
                </a:lnTo>
                <a:cubicBezTo>
                  <a:pt x="3551033" y="0"/>
                  <a:pt x="3565285" y="14251"/>
                  <a:pt x="3565285" y="31831"/>
                </a:cubicBezTo>
                <a:lnTo>
                  <a:pt x="3565285" y="509328"/>
                </a:lnTo>
                <a:cubicBezTo>
                  <a:pt x="3565285" y="526908"/>
                  <a:pt x="3551033" y="541159"/>
                  <a:pt x="3533454" y="541159"/>
                </a:cubicBezTo>
                <a:lnTo>
                  <a:pt x="31831" y="541159"/>
                </a:lnTo>
                <a:cubicBezTo>
                  <a:pt x="14251" y="541159"/>
                  <a:pt x="0" y="526908"/>
                  <a:pt x="0" y="509328"/>
                </a:cubicBezTo>
                <a:lnTo>
                  <a:pt x="0" y="31831"/>
                </a:lnTo>
                <a:cubicBezTo>
                  <a:pt x="0" y="14263"/>
                  <a:pt x="14263" y="0"/>
                  <a:pt x="31831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9" name="Text 87"/>
          <p:cNvSpPr/>
          <p:nvPr/>
        </p:nvSpPr>
        <p:spPr>
          <a:xfrm>
            <a:off x="8278841" y="4679436"/>
            <a:ext cx="3501619" cy="190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3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Architecture</a:t>
            </a:r>
            <a:endParaRPr lang="en-US" sz="1600" dirty="0"/>
          </a:p>
        </p:txBody>
      </p:sp>
      <p:sp>
        <p:nvSpPr>
          <p:cNvPr id="90" name="Text 88"/>
          <p:cNvSpPr/>
          <p:nvPr/>
        </p:nvSpPr>
        <p:spPr>
          <a:xfrm>
            <a:off x="8278841" y="4902266"/>
            <a:ext cx="3501619" cy="190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3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Multi-task: det, seg, pose</a:t>
            </a:r>
            <a:endParaRPr lang="en-US" sz="1600" dirty="0"/>
          </a:p>
        </p:txBody>
      </p:sp>
      <p:sp>
        <p:nvSpPr>
          <p:cNvPr id="91" name="Shape 89"/>
          <p:cNvSpPr/>
          <p:nvPr/>
        </p:nvSpPr>
        <p:spPr>
          <a:xfrm>
            <a:off x="8215176" y="5188762"/>
            <a:ext cx="3565285" cy="541159"/>
          </a:xfrm>
          <a:custGeom>
            <a:avLst/>
            <a:gdLst/>
            <a:ahLst/>
            <a:cxnLst/>
            <a:rect l="l" t="t" r="r" b="b"/>
            <a:pathLst>
              <a:path w="3565285" h="541159">
                <a:moveTo>
                  <a:pt x="31831" y="0"/>
                </a:moveTo>
                <a:lnTo>
                  <a:pt x="3533454" y="0"/>
                </a:lnTo>
                <a:cubicBezTo>
                  <a:pt x="3551033" y="0"/>
                  <a:pt x="3565285" y="14251"/>
                  <a:pt x="3565285" y="31831"/>
                </a:cubicBezTo>
                <a:lnTo>
                  <a:pt x="3565285" y="509328"/>
                </a:lnTo>
                <a:cubicBezTo>
                  <a:pt x="3565285" y="526908"/>
                  <a:pt x="3551033" y="541159"/>
                  <a:pt x="3533454" y="541159"/>
                </a:cubicBezTo>
                <a:lnTo>
                  <a:pt x="31831" y="541159"/>
                </a:lnTo>
                <a:cubicBezTo>
                  <a:pt x="14251" y="541159"/>
                  <a:pt x="0" y="526908"/>
                  <a:pt x="0" y="509328"/>
                </a:cubicBezTo>
                <a:lnTo>
                  <a:pt x="0" y="31831"/>
                </a:lnTo>
                <a:cubicBezTo>
                  <a:pt x="0" y="14263"/>
                  <a:pt x="14263" y="0"/>
                  <a:pt x="31831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2" name="Text 90"/>
          <p:cNvSpPr/>
          <p:nvPr/>
        </p:nvSpPr>
        <p:spPr>
          <a:xfrm>
            <a:off x="8278841" y="5252428"/>
            <a:ext cx="3501619" cy="190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3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Performance</a:t>
            </a:r>
            <a:endParaRPr lang="en-US" sz="1600" dirty="0"/>
          </a:p>
        </p:txBody>
      </p:sp>
      <p:sp>
        <p:nvSpPr>
          <p:cNvPr id="93" name="Text 91"/>
          <p:cNvSpPr/>
          <p:nvPr/>
        </p:nvSpPr>
        <p:spPr>
          <a:xfrm>
            <a:off x="8278841" y="5475258"/>
            <a:ext cx="3501619" cy="190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3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52-54% mAP, 100+ FPS</a:t>
            </a:r>
            <a:endParaRPr lang="en-US" sz="1600" dirty="0"/>
          </a:p>
        </p:txBody>
      </p:sp>
      <p:sp>
        <p:nvSpPr>
          <p:cNvPr id="94" name="Shape 92"/>
          <p:cNvSpPr/>
          <p:nvPr/>
        </p:nvSpPr>
        <p:spPr>
          <a:xfrm>
            <a:off x="321512" y="5955935"/>
            <a:ext cx="11553750" cy="388361"/>
          </a:xfrm>
          <a:custGeom>
            <a:avLst/>
            <a:gdLst/>
            <a:ahLst/>
            <a:cxnLst/>
            <a:rect l="l" t="t" r="r" b="b"/>
            <a:pathLst>
              <a:path w="11553750" h="388361">
                <a:moveTo>
                  <a:pt x="95498" y="0"/>
                </a:moveTo>
                <a:lnTo>
                  <a:pt x="11458252" y="0"/>
                </a:lnTo>
                <a:cubicBezTo>
                  <a:pt x="11510994" y="0"/>
                  <a:pt x="11553750" y="42756"/>
                  <a:pt x="11553750" y="95498"/>
                </a:cubicBezTo>
                <a:lnTo>
                  <a:pt x="11553750" y="292863"/>
                </a:lnTo>
                <a:cubicBezTo>
                  <a:pt x="11553750" y="345605"/>
                  <a:pt x="11510994" y="388361"/>
                  <a:pt x="11458252" y="388361"/>
                </a:cubicBezTo>
                <a:lnTo>
                  <a:pt x="95498" y="388361"/>
                </a:lnTo>
                <a:cubicBezTo>
                  <a:pt x="42791" y="388361"/>
                  <a:pt x="0" y="345570"/>
                  <a:pt x="0" y="292863"/>
                </a:cubicBezTo>
                <a:lnTo>
                  <a:pt x="0" y="95498"/>
                </a:lnTo>
                <a:cubicBezTo>
                  <a:pt x="0" y="42756"/>
                  <a:pt x="42756" y="0"/>
                  <a:pt x="95498" y="0"/>
                </a:cubicBezTo>
                <a:close/>
              </a:path>
            </a:pathLst>
          </a:custGeom>
          <a:solidFill>
            <a:srgbClr val="4DB6AC">
              <a:alpha val="10196"/>
            </a:srgbClr>
          </a:solidFill>
          <a:ln w="10160">
            <a:solidFill>
              <a:srgbClr val="4DB6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Shape 93"/>
          <p:cNvSpPr/>
          <p:nvPr/>
        </p:nvSpPr>
        <p:spPr>
          <a:xfrm>
            <a:off x="436111" y="6080084"/>
            <a:ext cx="127332" cy="127332"/>
          </a:xfrm>
          <a:custGeom>
            <a:avLst/>
            <a:gdLst/>
            <a:ahLst/>
            <a:cxnLst/>
            <a:rect l="l" t="t" r="r" b="b"/>
            <a:pathLst>
              <a:path w="127332" h="127332">
                <a:moveTo>
                  <a:pt x="31833" y="79582"/>
                </a:moveTo>
                <a:lnTo>
                  <a:pt x="6093" y="79582"/>
                </a:lnTo>
                <a:cubicBezTo>
                  <a:pt x="-99" y="79582"/>
                  <a:pt x="-3905" y="72843"/>
                  <a:pt x="-721" y="67521"/>
                </a:cubicBezTo>
                <a:lnTo>
                  <a:pt x="12435" y="45586"/>
                </a:lnTo>
                <a:cubicBezTo>
                  <a:pt x="14598" y="41980"/>
                  <a:pt x="18478" y="39791"/>
                  <a:pt x="22681" y="39791"/>
                </a:cubicBezTo>
                <a:lnTo>
                  <a:pt x="46307" y="39791"/>
                </a:lnTo>
                <a:cubicBezTo>
                  <a:pt x="65233" y="7734"/>
                  <a:pt x="93459" y="6118"/>
                  <a:pt x="112335" y="8878"/>
                </a:cubicBezTo>
                <a:cubicBezTo>
                  <a:pt x="115519" y="9351"/>
                  <a:pt x="118006" y="11838"/>
                  <a:pt x="118453" y="14996"/>
                </a:cubicBezTo>
                <a:cubicBezTo>
                  <a:pt x="121214" y="33872"/>
                  <a:pt x="119597" y="62099"/>
                  <a:pt x="87540" y="81025"/>
                </a:cubicBezTo>
                <a:lnTo>
                  <a:pt x="87540" y="104651"/>
                </a:lnTo>
                <a:cubicBezTo>
                  <a:pt x="87540" y="108854"/>
                  <a:pt x="85352" y="112733"/>
                  <a:pt x="81746" y="114897"/>
                </a:cubicBezTo>
                <a:lnTo>
                  <a:pt x="59811" y="128053"/>
                </a:lnTo>
                <a:cubicBezTo>
                  <a:pt x="54514" y="131236"/>
                  <a:pt x="47749" y="127406"/>
                  <a:pt x="47749" y="121239"/>
                </a:cubicBezTo>
                <a:lnTo>
                  <a:pt x="47749" y="95499"/>
                </a:lnTo>
                <a:cubicBezTo>
                  <a:pt x="47749" y="86720"/>
                  <a:pt x="40612" y="79582"/>
                  <a:pt x="31833" y="79582"/>
                </a:cubicBezTo>
                <a:lnTo>
                  <a:pt x="31808" y="79582"/>
                </a:lnTo>
                <a:close/>
                <a:moveTo>
                  <a:pt x="99478" y="39791"/>
                </a:moveTo>
                <a:cubicBezTo>
                  <a:pt x="99478" y="33203"/>
                  <a:pt x="94129" y="27854"/>
                  <a:pt x="87540" y="27854"/>
                </a:cubicBezTo>
                <a:cubicBezTo>
                  <a:pt x="80952" y="27854"/>
                  <a:pt x="75603" y="33203"/>
                  <a:pt x="75603" y="39791"/>
                </a:cubicBezTo>
                <a:cubicBezTo>
                  <a:pt x="75603" y="46380"/>
                  <a:pt x="80952" y="51728"/>
                  <a:pt x="87540" y="51728"/>
                </a:cubicBezTo>
                <a:cubicBezTo>
                  <a:pt x="94129" y="51728"/>
                  <a:pt x="99478" y="46380"/>
                  <a:pt x="99478" y="39791"/>
                </a:cubicBezTo>
                <a:close/>
              </a:path>
            </a:pathLst>
          </a:custGeom>
          <a:solidFill>
            <a:srgbClr val="FFD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6" name="Text 94"/>
          <p:cNvSpPr/>
          <p:nvPr/>
        </p:nvSpPr>
        <p:spPr>
          <a:xfrm>
            <a:off x="619254" y="6054616"/>
            <a:ext cx="11220993" cy="190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3" b="1" dirty="0">
                <a:solidFill>
                  <a:srgbClr val="FFD5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Trend:</a:t>
            </a:r>
            <a:r>
              <a:rPr lang="en-US" sz="1003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Each version improves speed, accuracy, and adds features (segmentation, pose estimation). Latest versions (YOLOv9-v12) focus on efficiency and NMS-free detection!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50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PRACTICAL USE CASES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Real-World Applications of YOLO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17500" y="1031875"/>
            <a:ext cx="3770313" cy="2238375"/>
          </a:xfrm>
          <a:custGeom>
            <a:avLst/>
            <a:gdLst/>
            <a:ahLst/>
            <a:cxnLst/>
            <a:rect l="l" t="t" r="r" b="b"/>
            <a:pathLst>
              <a:path w="3770313" h="2238375">
                <a:moveTo>
                  <a:pt x="31750" y="0"/>
                </a:moveTo>
                <a:lnTo>
                  <a:pt x="3738563" y="0"/>
                </a:lnTo>
                <a:cubicBezTo>
                  <a:pt x="3756086" y="0"/>
                  <a:pt x="3770313" y="14227"/>
                  <a:pt x="3770313" y="31750"/>
                </a:cubicBezTo>
                <a:lnTo>
                  <a:pt x="3770313" y="2143132"/>
                </a:lnTo>
                <a:cubicBezTo>
                  <a:pt x="3770313" y="2195733"/>
                  <a:pt x="3727671" y="2238375"/>
                  <a:pt x="3675070" y="2238375"/>
                </a:cubicBezTo>
                <a:lnTo>
                  <a:pt x="95243" y="2238375"/>
                </a:lnTo>
                <a:cubicBezTo>
                  <a:pt x="42642" y="2238375"/>
                  <a:pt x="0" y="2195733"/>
                  <a:pt x="0" y="2143132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63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17500" y="1031875"/>
            <a:ext cx="3770313" cy="31750"/>
          </a:xfrm>
          <a:custGeom>
            <a:avLst/>
            <a:gdLst/>
            <a:ahLst/>
            <a:cxnLst/>
            <a:rect l="l" t="t" r="r" b="b"/>
            <a:pathLst>
              <a:path w="3770313" h="31750">
                <a:moveTo>
                  <a:pt x="31750" y="0"/>
                </a:moveTo>
                <a:lnTo>
                  <a:pt x="3738563" y="0"/>
                </a:lnTo>
                <a:cubicBezTo>
                  <a:pt x="3756086" y="0"/>
                  <a:pt x="3770313" y="14227"/>
                  <a:pt x="3770313" y="31750"/>
                </a:cubicBezTo>
                <a:lnTo>
                  <a:pt x="3770313" y="31750"/>
                </a:lnTo>
                <a:lnTo>
                  <a:pt x="0" y="31750"/>
                </a:ln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44500" y="11747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63501" y="0"/>
                </a:moveTo>
                <a:lnTo>
                  <a:pt x="317499" y="0"/>
                </a:lnTo>
                <a:cubicBezTo>
                  <a:pt x="352546" y="0"/>
                  <a:pt x="381000" y="28454"/>
                  <a:pt x="381000" y="63501"/>
                </a:cubicBezTo>
                <a:lnTo>
                  <a:pt x="381000" y="317499"/>
                </a:lnTo>
                <a:cubicBezTo>
                  <a:pt x="381000" y="352546"/>
                  <a:pt x="352546" y="381000"/>
                  <a:pt x="31749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39750" y="12700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50304" y="43681"/>
                </a:moveTo>
                <a:lnTo>
                  <a:pt x="40593" y="71438"/>
                </a:lnTo>
                <a:lnTo>
                  <a:pt x="149907" y="71438"/>
                </a:lnTo>
                <a:lnTo>
                  <a:pt x="140196" y="43681"/>
                </a:lnTo>
                <a:cubicBezTo>
                  <a:pt x="138522" y="38919"/>
                  <a:pt x="134020" y="35719"/>
                  <a:pt x="128960" y="35719"/>
                </a:cubicBezTo>
                <a:lnTo>
                  <a:pt x="61540" y="35719"/>
                </a:lnTo>
                <a:cubicBezTo>
                  <a:pt x="56480" y="35719"/>
                  <a:pt x="51978" y="38919"/>
                  <a:pt x="50304" y="43681"/>
                </a:cubicBezTo>
                <a:close/>
                <a:moveTo>
                  <a:pt x="14734" y="73223"/>
                </a:moveTo>
                <a:lnTo>
                  <a:pt x="27831" y="35830"/>
                </a:lnTo>
                <a:cubicBezTo>
                  <a:pt x="32854" y="21506"/>
                  <a:pt x="46360" y="11906"/>
                  <a:pt x="61540" y="11906"/>
                </a:cubicBezTo>
                <a:lnTo>
                  <a:pt x="128960" y="11906"/>
                </a:lnTo>
                <a:cubicBezTo>
                  <a:pt x="144140" y="11906"/>
                  <a:pt x="157646" y="21506"/>
                  <a:pt x="162669" y="35830"/>
                </a:cubicBezTo>
                <a:lnTo>
                  <a:pt x="175766" y="73223"/>
                </a:lnTo>
                <a:cubicBezTo>
                  <a:pt x="184398" y="76795"/>
                  <a:pt x="190500" y="85316"/>
                  <a:pt x="190500" y="95250"/>
                </a:cubicBezTo>
                <a:lnTo>
                  <a:pt x="190500" y="166688"/>
                </a:lnTo>
                <a:cubicBezTo>
                  <a:pt x="190500" y="173273"/>
                  <a:pt x="185179" y="178594"/>
                  <a:pt x="178594" y="178594"/>
                </a:cubicBezTo>
                <a:lnTo>
                  <a:pt x="166688" y="178594"/>
                </a:lnTo>
                <a:cubicBezTo>
                  <a:pt x="160102" y="178594"/>
                  <a:pt x="154781" y="173273"/>
                  <a:pt x="154781" y="166688"/>
                </a:cubicBezTo>
                <a:lnTo>
                  <a:pt x="154781" y="154781"/>
                </a:lnTo>
                <a:lnTo>
                  <a:pt x="35719" y="154781"/>
                </a:lnTo>
                <a:lnTo>
                  <a:pt x="35719" y="166688"/>
                </a:lnTo>
                <a:cubicBezTo>
                  <a:pt x="35719" y="173273"/>
                  <a:pt x="30398" y="178594"/>
                  <a:pt x="23812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lnTo>
                  <a:pt x="0" y="95250"/>
                </a:lnTo>
                <a:cubicBezTo>
                  <a:pt x="0" y="85316"/>
                  <a:pt x="6102" y="76795"/>
                  <a:pt x="14734" y="73223"/>
                </a:cubicBezTo>
                <a:close/>
                <a:moveTo>
                  <a:pt x="47625" y="113109"/>
                </a:moveTo>
                <a:cubicBezTo>
                  <a:pt x="47625" y="106538"/>
                  <a:pt x="42290" y="101203"/>
                  <a:pt x="35719" y="101203"/>
                </a:cubicBezTo>
                <a:cubicBezTo>
                  <a:pt x="29148" y="101203"/>
                  <a:pt x="23812" y="106538"/>
                  <a:pt x="23812" y="113109"/>
                </a:cubicBezTo>
                <a:cubicBezTo>
                  <a:pt x="23812" y="119681"/>
                  <a:pt x="29148" y="125016"/>
                  <a:pt x="35719" y="125016"/>
                </a:cubicBezTo>
                <a:cubicBezTo>
                  <a:pt x="42290" y="125016"/>
                  <a:pt x="47625" y="119681"/>
                  <a:pt x="47625" y="113109"/>
                </a:cubicBezTo>
                <a:close/>
                <a:moveTo>
                  <a:pt x="154781" y="125016"/>
                </a:moveTo>
                <a:cubicBezTo>
                  <a:pt x="161352" y="125016"/>
                  <a:pt x="166688" y="119681"/>
                  <a:pt x="166688" y="113109"/>
                </a:cubicBezTo>
                <a:cubicBezTo>
                  <a:pt x="166688" y="106538"/>
                  <a:pt x="161352" y="101203"/>
                  <a:pt x="154781" y="101203"/>
                </a:cubicBezTo>
                <a:cubicBezTo>
                  <a:pt x="148210" y="101203"/>
                  <a:pt x="142875" y="106538"/>
                  <a:pt x="142875" y="113109"/>
                </a:cubicBezTo>
                <a:cubicBezTo>
                  <a:pt x="142875" y="119681"/>
                  <a:pt x="148210" y="125016"/>
                  <a:pt x="154781" y="125016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20750" y="1254125"/>
            <a:ext cx="1508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Autonomous Driving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44500" y="1651000"/>
            <a:ext cx="357981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detection of pedestrians, vehicles, traffic signs, and obstacles.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44500" y="2095500"/>
            <a:ext cx="3516313" cy="1047750"/>
          </a:xfrm>
          <a:custGeom>
            <a:avLst/>
            <a:gdLst/>
            <a:ahLst/>
            <a:cxnLst/>
            <a:rect l="l" t="t" r="r" b="b"/>
            <a:pathLst>
              <a:path w="3516313" h="1047750">
                <a:moveTo>
                  <a:pt x="63504" y="0"/>
                </a:moveTo>
                <a:lnTo>
                  <a:pt x="3452808" y="0"/>
                </a:lnTo>
                <a:cubicBezTo>
                  <a:pt x="3487881" y="0"/>
                  <a:pt x="3516313" y="28432"/>
                  <a:pt x="3516313" y="63504"/>
                </a:cubicBezTo>
                <a:lnTo>
                  <a:pt x="3516313" y="984246"/>
                </a:lnTo>
                <a:cubicBezTo>
                  <a:pt x="3516313" y="1019318"/>
                  <a:pt x="3487881" y="1047750"/>
                  <a:pt x="3452808" y="1047750"/>
                </a:cubicBezTo>
                <a:lnTo>
                  <a:pt x="63504" y="1047750"/>
                </a:lnTo>
                <a:cubicBezTo>
                  <a:pt x="28432" y="1047750"/>
                  <a:pt x="0" y="1019318"/>
                  <a:pt x="0" y="984246"/>
                </a:cubicBezTo>
                <a:lnTo>
                  <a:pt x="0" y="63504"/>
                </a:lnTo>
                <a:cubicBezTo>
                  <a:pt x="0" y="28432"/>
                  <a:pt x="28432" y="0"/>
                  <a:pt x="63504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55625" y="2216152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FFD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8188" y="2190750"/>
            <a:ext cx="3190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D5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Benefits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39750" y="2413000"/>
            <a:ext cx="3389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45+ FPS for real-time decisions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39750" y="2635250"/>
            <a:ext cx="3389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Detects multiple object types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39750" y="2857500"/>
            <a:ext cx="3389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Critical for safety systems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212134" y="1031875"/>
            <a:ext cx="3770313" cy="2238375"/>
          </a:xfrm>
          <a:custGeom>
            <a:avLst/>
            <a:gdLst/>
            <a:ahLst/>
            <a:cxnLst/>
            <a:rect l="l" t="t" r="r" b="b"/>
            <a:pathLst>
              <a:path w="3770313" h="2238375">
                <a:moveTo>
                  <a:pt x="31750" y="0"/>
                </a:moveTo>
                <a:lnTo>
                  <a:pt x="3738563" y="0"/>
                </a:lnTo>
                <a:cubicBezTo>
                  <a:pt x="3756086" y="0"/>
                  <a:pt x="3770313" y="14227"/>
                  <a:pt x="3770313" y="31750"/>
                </a:cubicBezTo>
                <a:lnTo>
                  <a:pt x="3770313" y="2143132"/>
                </a:lnTo>
                <a:cubicBezTo>
                  <a:pt x="3770313" y="2195733"/>
                  <a:pt x="3727671" y="2238375"/>
                  <a:pt x="3675070" y="2238375"/>
                </a:cubicBezTo>
                <a:lnTo>
                  <a:pt x="95243" y="2238375"/>
                </a:lnTo>
                <a:cubicBezTo>
                  <a:pt x="42642" y="2238375"/>
                  <a:pt x="0" y="2195733"/>
                  <a:pt x="0" y="2143132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63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212134" y="1031875"/>
            <a:ext cx="3770313" cy="31750"/>
          </a:xfrm>
          <a:custGeom>
            <a:avLst/>
            <a:gdLst/>
            <a:ahLst/>
            <a:cxnLst/>
            <a:rect l="l" t="t" r="r" b="b"/>
            <a:pathLst>
              <a:path w="3770313" h="31750">
                <a:moveTo>
                  <a:pt x="31750" y="0"/>
                </a:moveTo>
                <a:lnTo>
                  <a:pt x="3738563" y="0"/>
                </a:lnTo>
                <a:cubicBezTo>
                  <a:pt x="3756086" y="0"/>
                  <a:pt x="3770313" y="14227"/>
                  <a:pt x="3770313" y="31750"/>
                </a:cubicBezTo>
                <a:lnTo>
                  <a:pt x="3770313" y="31750"/>
                </a:lnTo>
                <a:lnTo>
                  <a:pt x="0" y="31750"/>
                </a:ln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D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339134" y="11747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63501" y="0"/>
                </a:moveTo>
                <a:lnTo>
                  <a:pt x="317499" y="0"/>
                </a:lnTo>
                <a:cubicBezTo>
                  <a:pt x="352546" y="0"/>
                  <a:pt x="381000" y="28454"/>
                  <a:pt x="381000" y="63501"/>
                </a:cubicBezTo>
                <a:lnTo>
                  <a:pt x="381000" y="317499"/>
                </a:lnTo>
                <a:cubicBezTo>
                  <a:pt x="381000" y="352546"/>
                  <a:pt x="352546" y="381000"/>
                  <a:pt x="31749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FFD54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422478" y="127000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35719" y="23812"/>
                </a:moveTo>
                <a:cubicBezTo>
                  <a:pt x="22585" y="23812"/>
                  <a:pt x="11906" y="34491"/>
                  <a:pt x="11906" y="47625"/>
                </a:cubicBezTo>
                <a:lnTo>
                  <a:pt x="11906" y="142875"/>
                </a:lnTo>
                <a:cubicBezTo>
                  <a:pt x="11906" y="156009"/>
                  <a:pt x="22585" y="166688"/>
                  <a:pt x="35719" y="166688"/>
                </a:cubicBezTo>
                <a:lnTo>
                  <a:pt x="130969" y="166688"/>
                </a:lnTo>
                <a:cubicBezTo>
                  <a:pt x="144103" y="166688"/>
                  <a:pt x="154781" y="156009"/>
                  <a:pt x="154781" y="142875"/>
                </a:cubicBezTo>
                <a:lnTo>
                  <a:pt x="154781" y="47625"/>
                </a:lnTo>
                <a:cubicBezTo>
                  <a:pt x="154781" y="34491"/>
                  <a:pt x="144103" y="23812"/>
                  <a:pt x="130969" y="23812"/>
                </a:cubicBezTo>
                <a:lnTo>
                  <a:pt x="35719" y="23812"/>
                </a:lnTo>
                <a:close/>
                <a:moveTo>
                  <a:pt x="172641" y="125016"/>
                </a:moveTo>
                <a:lnTo>
                  <a:pt x="199988" y="146893"/>
                </a:lnTo>
                <a:cubicBezTo>
                  <a:pt x="201550" y="148158"/>
                  <a:pt x="203485" y="148828"/>
                  <a:pt x="205494" y="148828"/>
                </a:cubicBezTo>
                <a:cubicBezTo>
                  <a:pt x="210369" y="148828"/>
                  <a:pt x="214313" y="144884"/>
                  <a:pt x="214313" y="140010"/>
                </a:cubicBezTo>
                <a:lnTo>
                  <a:pt x="214313" y="50490"/>
                </a:lnTo>
                <a:cubicBezTo>
                  <a:pt x="214313" y="45616"/>
                  <a:pt x="210369" y="41672"/>
                  <a:pt x="205494" y="41672"/>
                </a:cubicBezTo>
                <a:cubicBezTo>
                  <a:pt x="203485" y="41672"/>
                  <a:pt x="201550" y="42342"/>
                  <a:pt x="199988" y="43607"/>
                </a:cubicBezTo>
                <a:lnTo>
                  <a:pt x="172641" y="65484"/>
                </a:lnTo>
                <a:lnTo>
                  <a:pt x="172641" y="125016"/>
                </a:lnTo>
                <a:close/>
              </a:path>
            </a:pathLst>
          </a:custGeom>
          <a:solidFill>
            <a:srgbClr val="FFD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15384" y="1254125"/>
            <a:ext cx="9366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Surveillance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339134" y="1651000"/>
            <a:ext cx="357981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Monitoring for suspicious activities, crowd counting, face detection.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339134" y="2095500"/>
            <a:ext cx="3516313" cy="1047750"/>
          </a:xfrm>
          <a:custGeom>
            <a:avLst/>
            <a:gdLst/>
            <a:ahLst/>
            <a:cxnLst/>
            <a:rect l="l" t="t" r="r" b="b"/>
            <a:pathLst>
              <a:path w="3516313" h="1047750">
                <a:moveTo>
                  <a:pt x="63504" y="0"/>
                </a:moveTo>
                <a:lnTo>
                  <a:pt x="3452808" y="0"/>
                </a:lnTo>
                <a:cubicBezTo>
                  <a:pt x="3487881" y="0"/>
                  <a:pt x="3516313" y="28432"/>
                  <a:pt x="3516313" y="63504"/>
                </a:cubicBezTo>
                <a:lnTo>
                  <a:pt x="3516313" y="984246"/>
                </a:lnTo>
                <a:cubicBezTo>
                  <a:pt x="3516313" y="1019318"/>
                  <a:pt x="3487881" y="1047750"/>
                  <a:pt x="3452808" y="1047750"/>
                </a:cubicBezTo>
                <a:lnTo>
                  <a:pt x="63504" y="1047750"/>
                </a:lnTo>
                <a:cubicBezTo>
                  <a:pt x="28432" y="1047750"/>
                  <a:pt x="0" y="1019318"/>
                  <a:pt x="0" y="984246"/>
                </a:cubicBezTo>
                <a:lnTo>
                  <a:pt x="0" y="63504"/>
                </a:lnTo>
                <a:cubicBezTo>
                  <a:pt x="0" y="28432"/>
                  <a:pt x="28432" y="0"/>
                  <a:pt x="63504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450259" y="2216152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FFD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632821" y="2190750"/>
            <a:ext cx="3190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D5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Benefits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434384" y="2413000"/>
            <a:ext cx="3389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24/7 real-time monitoring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434384" y="2635250"/>
            <a:ext cx="3389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Instant alerts for anomalies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434384" y="2857500"/>
            <a:ext cx="3389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PPE detection (helmets, vests)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106767" y="1031875"/>
            <a:ext cx="3770313" cy="2238375"/>
          </a:xfrm>
          <a:custGeom>
            <a:avLst/>
            <a:gdLst/>
            <a:ahLst/>
            <a:cxnLst/>
            <a:rect l="l" t="t" r="r" b="b"/>
            <a:pathLst>
              <a:path w="3770313" h="2238375">
                <a:moveTo>
                  <a:pt x="31750" y="0"/>
                </a:moveTo>
                <a:lnTo>
                  <a:pt x="3738563" y="0"/>
                </a:lnTo>
                <a:cubicBezTo>
                  <a:pt x="3756086" y="0"/>
                  <a:pt x="3770313" y="14227"/>
                  <a:pt x="3770313" y="31750"/>
                </a:cubicBezTo>
                <a:lnTo>
                  <a:pt x="3770313" y="2143132"/>
                </a:lnTo>
                <a:cubicBezTo>
                  <a:pt x="3770313" y="2195733"/>
                  <a:pt x="3727671" y="2238375"/>
                  <a:pt x="3675070" y="2238375"/>
                </a:cubicBezTo>
                <a:lnTo>
                  <a:pt x="95243" y="2238375"/>
                </a:lnTo>
                <a:cubicBezTo>
                  <a:pt x="42642" y="2238375"/>
                  <a:pt x="0" y="2195733"/>
                  <a:pt x="0" y="2143132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63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8106767" y="1031875"/>
            <a:ext cx="3770313" cy="31750"/>
          </a:xfrm>
          <a:custGeom>
            <a:avLst/>
            <a:gdLst/>
            <a:ahLst/>
            <a:cxnLst/>
            <a:rect l="l" t="t" r="r" b="b"/>
            <a:pathLst>
              <a:path w="3770313" h="31750">
                <a:moveTo>
                  <a:pt x="31750" y="0"/>
                </a:moveTo>
                <a:lnTo>
                  <a:pt x="3738563" y="0"/>
                </a:lnTo>
                <a:cubicBezTo>
                  <a:pt x="3756086" y="0"/>
                  <a:pt x="3770313" y="14227"/>
                  <a:pt x="3770313" y="31750"/>
                </a:cubicBezTo>
                <a:lnTo>
                  <a:pt x="3770313" y="31750"/>
                </a:lnTo>
                <a:lnTo>
                  <a:pt x="0" y="31750"/>
                </a:ln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233768" y="11747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63501" y="0"/>
                </a:moveTo>
                <a:lnTo>
                  <a:pt x="317499" y="0"/>
                </a:lnTo>
                <a:cubicBezTo>
                  <a:pt x="352546" y="0"/>
                  <a:pt x="381000" y="28454"/>
                  <a:pt x="381000" y="63501"/>
                </a:cubicBezTo>
                <a:lnTo>
                  <a:pt x="381000" y="317499"/>
                </a:lnTo>
                <a:cubicBezTo>
                  <a:pt x="381000" y="352546"/>
                  <a:pt x="352546" y="381000"/>
                  <a:pt x="31749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8329018" y="12700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1906" y="11906"/>
                </a:moveTo>
                <a:cubicBezTo>
                  <a:pt x="5321" y="11906"/>
                  <a:pt x="0" y="17227"/>
                  <a:pt x="0" y="23812"/>
                </a:cubicBezTo>
                <a:lnTo>
                  <a:pt x="0" y="160734"/>
                </a:lnTo>
                <a:cubicBezTo>
                  <a:pt x="0" y="170594"/>
                  <a:pt x="8000" y="178594"/>
                  <a:pt x="17859" y="178594"/>
                </a:cubicBezTo>
                <a:lnTo>
                  <a:pt x="172641" y="178594"/>
                </a:lnTo>
                <a:cubicBezTo>
                  <a:pt x="182500" y="178594"/>
                  <a:pt x="190500" y="170594"/>
                  <a:pt x="190500" y="160734"/>
                </a:cubicBezTo>
                <a:lnTo>
                  <a:pt x="190500" y="56629"/>
                </a:lnTo>
                <a:cubicBezTo>
                  <a:pt x="190500" y="49857"/>
                  <a:pt x="183282" y="45579"/>
                  <a:pt x="177329" y="48778"/>
                </a:cubicBezTo>
                <a:lnTo>
                  <a:pt x="119063" y="80144"/>
                </a:lnTo>
                <a:lnTo>
                  <a:pt x="119063" y="56629"/>
                </a:lnTo>
                <a:cubicBezTo>
                  <a:pt x="119063" y="49857"/>
                  <a:pt x="111844" y="45579"/>
                  <a:pt x="105891" y="48778"/>
                </a:cubicBezTo>
                <a:lnTo>
                  <a:pt x="47625" y="80144"/>
                </a:lnTo>
                <a:lnTo>
                  <a:pt x="47625" y="23812"/>
                </a:lnTo>
                <a:cubicBezTo>
                  <a:pt x="47625" y="17227"/>
                  <a:pt x="42304" y="11906"/>
                  <a:pt x="35719" y="11906"/>
                </a:cubicBezTo>
                <a:lnTo>
                  <a:pt x="11906" y="11906"/>
                </a:ln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710018" y="1254125"/>
            <a:ext cx="1381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Industrial Robotics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233768" y="1651000"/>
            <a:ext cx="3579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Quality control, defect detection, assembly line automation.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233768" y="1905000"/>
            <a:ext cx="3516313" cy="1047750"/>
          </a:xfrm>
          <a:custGeom>
            <a:avLst/>
            <a:gdLst/>
            <a:ahLst/>
            <a:cxnLst/>
            <a:rect l="l" t="t" r="r" b="b"/>
            <a:pathLst>
              <a:path w="3516313" h="1047750">
                <a:moveTo>
                  <a:pt x="63504" y="0"/>
                </a:moveTo>
                <a:lnTo>
                  <a:pt x="3452808" y="0"/>
                </a:lnTo>
                <a:cubicBezTo>
                  <a:pt x="3487881" y="0"/>
                  <a:pt x="3516313" y="28432"/>
                  <a:pt x="3516313" y="63504"/>
                </a:cubicBezTo>
                <a:lnTo>
                  <a:pt x="3516313" y="984246"/>
                </a:lnTo>
                <a:cubicBezTo>
                  <a:pt x="3516313" y="1019318"/>
                  <a:pt x="3487881" y="1047750"/>
                  <a:pt x="3452808" y="1047750"/>
                </a:cubicBezTo>
                <a:lnTo>
                  <a:pt x="63504" y="1047750"/>
                </a:lnTo>
                <a:cubicBezTo>
                  <a:pt x="28432" y="1047750"/>
                  <a:pt x="0" y="1019318"/>
                  <a:pt x="0" y="984246"/>
                </a:cubicBezTo>
                <a:lnTo>
                  <a:pt x="0" y="63504"/>
                </a:lnTo>
                <a:cubicBezTo>
                  <a:pt x="0" y="28432"/>
                  <a:pt x="28432" y="0"/>
                  <a:pt x="63504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8344893" y="2025652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FFD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8527455" y="2000250"/>
            <a:ext cx="3190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D5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Benefits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329018" y="2222500"/>
            <a:ext cx="3389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High-speed inspection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329018" y="2444750"/>
            <a:ext cx="3389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Consistent quality control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329018" y="2667000"/>
            <a:ext cx="3389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Pick and place operations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317500" y="3413125"/>
            <a:ext cx="3770313" cy="2047875"/>
          </a:xfrm>
          <a:custGeom>
            <a:avLst/>
            <a:gdLst/>
            <a:ahLst/>
            <a:cxnLst/>
            <a:rect l="l" t="t" r="r" b="b"/>
            <a:pathLst>
              <a:path w="3770313" h="2047875">
                <a:moveTo>
                  <a:pt x="31750" y="0"/>
                </a:moveTo>
                <a:lnTo>
                  <a:pt x="3738563" y="0"/>
                </a:lnTo>
                <a:cubicBezTo>
                  <a:pt x="3756086" y="0"/>
                  <a:pt x="3770313" y="14227"/>
                  <a:pt x="3770313" y="31750"/>
                </a:cubicBezTo>
                <a:lnTo>
                  <a:pt x="3770313" y="1952628"/>
                </a:lnTo>
                <a:cubicBezTo>
                  <a:pt x="3770312" y="2005232"/>
                  <a:pt x="3727669" y="2047875"/>
                  <a:pt x="3675066" y="2047875"/>
                </a:cubicBezTo>
                <a:lnTo>
                  <a:pt x="95247" y="2047875"/>
                </a:lnTo>
                <a:cubicBezTo>
                  <a:pt x="42643" y="2047875"/>
                  <a:pt x="0" y="2005232"/>
                  <a:pt x="0" y="1952628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63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317500" y="3413125"/>
            <a:ext cx="3770313" cy="31750"/>
          </a:xfrm>
          <a:custGeom>
            <a:avLst/>
            <a:gdLst/>
            <a:ahLst/>
            <a:cxnLst/>
            <a:rect l="l" t="t" r="r" b="b"/>
            <a:pathLst>
              <a:path w="3770313" h="31750">
                <a:moveTo>
                  <a:pt x="31750" y="0"/>
                </a:moveTo>
                <a:lnTo>
                  <a:pt x="3738563" y="0"/>
                </a:lnTo>
                <a:cubicBezTo>
                  <a:pt x="3756086" y="0"/>
                  <a:pt x="3770313" y="14227"/>
                  <a:pt x="3770313" y="31750"/>
                </a:cubicBezTo>
                <a:lnTo>
                  <a:pt x="3770313" y="31750"/>
                </a:lnTo>
                <a:lnTo>
                  <a:pt x="0" y="31750"/>
                </a:ln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D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444500" y="3556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63501" y="0"/>
                </a:moveTo>
                <a:lnTo>
                  <a:pt x="317499" y="0"/>
                </a:lnTo>
                <a:cubicBezTo>
                  <a:pt x="352546" y="0"/>
                  <a:pt x="381000" y="28454"/>
                  <a:pt x="381000" y="63501"/>
                </a:cubicBezTo>
                <a:lnTo>
                  <a:pt x="381000" y="317499"/>
                </a:lnTo>
                <a:cubicBezTo>
                  <a:pt x="381000" y="352546"/>
                  <a:pt x="352546" y="381000"/>
                  <a:pt x="31749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FFD54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551656" y="36512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95436" y="-11906"/>
                </a:moveTo>
                <a:cubicBezTo>
                  <a:pt x="106936" y="-11906"/>
                  <a:pt x="116272" y="-2570"/>
                  <a:pt x="116272" y="8930"/>
                </a:cubicBezTo>
                <a:cubicBezTo>
                  <a:pt x="116272" y="20429"/>
                  <a:pt x="106936" y="29766"/>
                  <a:pt x="95436" y="29766"/>
                </a:cubicBezTo>
                <a:cubicBezTo>
                  <a:pt x="83936" y="29766"/>
                  <a:pt x="74600" y="20429"/>
                  <a:pt x="74600" y="8930"/>
                </a:cubicBezTo>
                <a:cubicBezTo>
                  <a:pt x="74600" y="-2570"/>
                  <a:pt x="83936" y="-11906"/>
                  <a:pt x="95436" y="-11906"/>
                </a:cubicBezTo>
                <a:close/>
                <a:moveTo>
                  <a:pt x="45988" y="65484"/>
                </a:moveTo>
                <a:cubicBezTo>
                  <a:pt x="44760" y="65484"/>
                  <a:pt x="43681" y="66229"/>
                  <a:pt x="43235" y="67345"/>
                </a:cubicBezTo>
                <a:lnTo>
                  <a:pt x="35049" y="87771"/>
                </a:lnTo>
                <a:cubicBezTo>
                  <a:pt x="32593" y="93873"/>
                  <a:pt x="25673" y="96850"/>
                  <a:pt x="19571" y="94394"/>
                </a:cubicBezTo>
                <a:cubicBezTo>
                  <a:pt x="13469" y="91939"/>
                  <a:pt x="10492" y="85018"/>
                  <a:pt x="12948" y="78916"/>
                </a:cubicBezTo>
                <a:lnTo>
                  <a:pt x="21096" y="58489"/>
                </a:lnTo>
                <a:cubicBezTo>
                  <a:pt x="25189" y="48332"/>
                  <a:pt x="35012" y="41672"/>
                  <a:pt x="45988" y="41672"/>
                </a:cubicBezTo>
                <a:lnTo>
                  <a:pt x="82190" y="41672"/>
                </a:lnTo>
                <a:cubicBezTo>
                  <a:pt x="92794" y="41672"/>
                  <a:pt x="102580" y="47290"/>
                  <a:pt x="107900" y="56443"/>
                </a:cubicBezTo>
                <a:lnTo>
                  <a:pt x="120104" y="77391"/>
                </a:lnTo>
                <a:lnTo>
                  <a:pt x="143024" y="77391"/>
                </a:lnTo>
                <a:cubicBezTo>
                  <a:pt x="149609" y="77391"/>
                  <a:pt x="154930" y="82711"/>
                  <a:pt x="154930" y="89297"/>
                </a:cubicBezTo>
                <a:cubicBezTo>
                  <a:pt x="154930" y="95883"/>
                  <a:pt x="149609" y="101203"/>
                  <a:pt x="143024" y="101203"/>
                </a:cubicBezTo>
                <a:lnTo>
                  <a:pt x="120104" y="101203"/>
                </a:lnTo>
                <a:cubicBezTo>
                  <a:pt x="111621" y="101203"/>
                  <a:pt x="103808" y="96701"/>
                  <a:pt x="99529" y="89371"/>
                </a:cubicBezTo>
                <a:lnTo>
                  <a:pt x="95808" y="83009"/>
                </a:lnTo>
                <a:lnTo>
                  <a:pt x="88106" y="109203"/>
                </a:lnTo>
                <a:lnTo>
                  <a:pt x="116160" y="117611"/>
                </a:lnTo>
                <a:cubicBezTo>
                  <a:pt x="126467" y="120700"/>
                  <a:pt x="131713" y="132122"/>
                  <a:pt x="127360" y="141982"/>
                </a:cubicBezTo>
                <a:lnTo>
                  <a:pt x="106300" y="189384"/>
                </a:lnTo>
                <a:cubicBezTo>
                  <a:pt x="103622" y="195411"/>
                  <a:pt x="96589" y="198090"/>
                  <a:pt x="90599" y="195411"/>
                </a:cubicBezTo>
                <a:cubicBezTo>
                  <a:pt x="84609" y="192732"/>
                  <a:pt x="81893" y="185700"/>
                  <a:pt x="84572" y="179710"/>
                </a:cubicBezTo>
                <a:lnTo>
                  <a:pt x="102877" y="138485"/>
                </a:lnTo>
                <a:lnTo>
                  <a:pt x="67196" y="127769"/>
                </a:lnTo>
                <a:cubicBezTo>
                  <a:pt x="55029" y="124123"/>
                  <a:pt x="47848" y="111509"/>
                  <a:pt x="50936" y="99194"/>
                </a:cubicBezTo>
                <a:lnTo>
                  <a:pt x="59382" y="65484"/>
                </a:lnTo>
                <a:lnTo>
                  <a:pt x="46025" y="65484"/>
                </a:lnTo>
                <a:close/>
                <a:moveTo>
                  <a:pt x="43011" y="132829"/>
                </a:moveTo>
                <a:cubicBezTo>
                  <a:pt x="47960" y="138373"/>
                  <a:pt x="54434" y="142615"/>
                  <a:pt x="62061" y="144884"/>
                </a:cubicBezTo>
                <a:lnTo>
                  <a:pt x="63810" y="145405"/>
                </a:lnTo>
                <a:lnTo>
                  <a:pt x="61243" y="152586"/>
                </a:lnTo>
                <a:cubicBezTo>
                  <a:pt x="59085" y="158651"/>
                  <a:pt x="55290" y="164046"/>
                  <a:pt x="50341" y="168139"/>
                </a:cubicBezTo>
                <a:lnTo>
                  <a:pt x="19683" y="193402"/>
                </a:lnTo>
                <a:cubicBezTo>
                  <a:pt x="14622" y="197569"/>
                  <a:pt x="7107" y="196862"/>
                  <a:pt x="2939" y="191802"/>
                </a:cubicBezTo>
                <a:cubicBezTo>
                  <a:pt x="-1228" y="186742"/>
                  <a:pt x="-521" y="179226"/>
                  <a:pt x="4539" y="175059"/>
                </a:cubicBezTo>
                <a:lnTo>
                  <a:pt x="35198" y="149796"/>
                </a:lnTo>
                <a:cubicBezTo>
                  <a:pt x="36872" y="148419"/>
                  <a:pt x="38100" y="146633"/>
                  <a:pt x="38844" y="144624"/>
                </a:cubicBezTo>
                <a:lnTo>
                  <a:pt x="43011" y="132829"/>
                </a:lnTo>
                <a:close/>
              </a:path>
            </a:pathLst>
          </a:custGeom>
          <a:solidFill>
            <a:srgbClr val="FFD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920750" y="3635375"/>
            <a:ext cx="1158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Sports Analysis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444500" y="4032250"/>
            <a:ext cx="3579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Player tracking, ball detection, performance analytics.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444500" y="4286250"/>
            <a:ext cx="3516313" cy="1047750"/>
          </a:xfrm>
          <a:custGeom>
            <a:avLst/>
            <a:gdLst/>
            <a:ahLst/>
            <a:cxnLst/>
            <a:rect l="l" t="t" r="r" b="b"/>
            <a:pathLst>
              <a:path w="3516313" h="1047750">
                <a:moveTo>
                  <a:pt x="63504" y="0"/>
                </a:moveTo>
                <a:lnTo>
                  <a:pt x="3452808" y="0"/>
                </a:lnTo>
                <a:cubicBezTo>
                  <a:pt x="3487881" y="0"/>
                  <a:pt x="3516313" y="28432"/>
                  <a:pt x="3516313" y="63504"/>
                </a:cubicBezTo>
                <a:lnTo>
                  <a:pt x="3516313" y="984246"/>
                </a:lnTo>
                <a:cubicBezTo>
                  <a:pt x="3516313" y="1019318"/>
                  <a:pt x="3487881" y="1047750"/>
                  <a:pt x="3452808" y="1047750"/>
                </a:cubicBezTo>
                <a:lnTo>
                  <a:pt x="63504" y="1047750"/>
                </a:lnTo>
                <a:cubicBezTo>
                  <a:pt x="28432" y="1047750"/>
                  <a:pt x="0" y="1019318"/>
                  <a:pt x="0" y="984246"/>
                </a:cubicBezTo>
                <a:lnTo>
                  <a:pt x="0" y="63504"/>
                </a:lnTo>
                <a:cubicBezTo>
                  <a:pt x="0" y="28432"/>
                  <a:pt x="28432" y="0"/>
                  <a:pt x="63504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555625" y="4406902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FFD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738188" y="4381500"/>
            <a:ext cx="3190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D5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Benefits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539750" y="4603750"/>
            <a:ext cx="3389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Track fast-moving objects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539750" y="4826000"/>
            <a:ext cx="3389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Tactical analysis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539750" y="5048250"/>
            <a:ext cx="3389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Broadcast enhancement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4212134" y="3413125"/>
            <a:ext cx="3770313" cy="2047875"/>
          </a:xfrm>
          <a:custGeom>
            <a:avLst/>
            <a:gdLst/>
            <a:ahLst/>
            <a:cxnLst/>
            <a:rect l="l" t="t" r="r" b="b"/>
            <a:pathLst>
              <a:path w="3770313" h="2047875">
                <a:moveTo>
                  <a:pt x="31750" y="0"/>
                </a:moveTo>
                <a:lnTo>
                  <a:pt x="3738563" y="0"/>
                </a:lnTo>
                <a:cubicBezTo>
                  <a:pt x="3756086" y="0"/>
                  <a:pt x="3770313" y="14227"/>
                  <a:pt x="3770313" y="31750"/>
                </a:cubicBezTo>
                <a:lnTo>
                  <a:pt x="3770313" y="1952628"/>
                </a:lnTo>
                <a:cubicBezTo>
                  <a:pt x="3770312" y="2005232"/>
                  <a:pt x="3727669" y="2047875"/>
                  <a:pt x="3675066" y="2047875"/>
                </a:cubicBezTo>
                <a:lnTo>
                  <a:pt x="95247" y="2047875"/>
                </a:lnTo>
                <a:cubicBezTo>
                  <a:pt x="42643" y="2047875"/>
                  <a:pt x="0" y="2005232"/>
                  <a:pt x="0" y="1952628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63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4212134" y="3413125"/>
            <a:ext cx="3770313" cy="31750"/>
          </a:xfrm>
          <a:custGeom>
            <a:avLst/>
            <a:gdLst/>
            <a:ahLst/>
            <a:cxnLst/>
            <a:rect l="l" t="t" r="r" b="b"/>
            <a:pathLst>
              <a:path w="3770313" h="31750">
                <a:moveTo>
                  <a:pt x="31750" y="0"/>
                </a:moveTo>
                <a:lnTo>
                  <a:pt x="3738563" y="0"/>
                </a:lnTo>
                <a:cubicBezTo>
                  <a:pt x="3756086" y="0"/>
                  <a:pt x="3770313" y="14227"/>
                  <a:pt x="3770313" y="31750"/>
                </a:cubicBezTo>
                <a:lnTo>
                  <a:pt x="3770313" y="31750"/>
                </a:lnTo>
                <a:lnTo>
                  <a:pt x="0" y="31750"/>
                </a:ln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4339134" y="3556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63501" y="0"/>
                </a:moveTo>
                <a:lnTo>
                  <a:pt x="317499" y="0"/>
                </a:lnTo>
                <a:cubicBezTo>
                  <a:pt x="352546" y="0"/>
                  <a:pt x="381000" y="28454"/>
                  <a:pt x="381000" y="63501"/>
                </a:cubicBezTo>
                <a:lnTo>
                  <a:pt x="381000" y="317499"/>
                </a:lnTo>
                <a:cubicBezTo>
                  <a:pt x="381000" y="352546"/>
                  <a:pt x="352546" y="381000"/>
                  <a:pt x="31749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4434384" y="36512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40146"/>
                </a:moveTo>
                <a:lnTo>
                  <a:pt x="89669" y="32407"/>
                </a:lnTo>
                <a:cubicBezTo>
                  <a:pt x="80367" y="19534"/>
                  <a:pt x="65447" y="11906"/>
                  <a:pt x="49523" y="11906"/>
                </a:cubicBezTo>
                <a:cubicBezTo>
                  <a:pt x="22175" y="11906"/>
                  <a:pt x="0" y="34082"/>
                  <a:pt x="0" y="61429"/>
                </a:cubicBezTo>
                <a:lnTo>
                  <a:pt x="0" y="62396"/>
                </a:lnTo>
                <a:cubicBezTo>
                  <a:pt x="0" y="71177"/>
                  <a:pt x="2307" y="80256"/>
                  <a:pt x="6176" y="89297"/>
                </a:cubicBezTo>
                <a:lnTo>
                  <a:pt x="45616" y="89297"/>
                </a:lnTo>
                <a:cubicBezTo>
                  <a:pt x="46806" y="89297"/>
                  <a:pt x="47885" y="88590"/>
                  <a:pt x="48369" y="87474"/>
                </a:cubicBezTo>
                <a:lnTo>
                  <a:pt x="60201" y="59085"/>
                </a:lnTo>
                <a:cubicBezTo>
                  <a:pt x="61578" y="55811"/>
                  <a:pt x="64777" y="53653"/>
                  <a:pt x="68312" y="53578"/>
                </a:cubicBezTo>
                <a:cubicBezTo>
                  <a:pt x="71847" y="53504"/>
                  <a:pt x="75121" y="55587"/>
                  <a:pt x="76572" y="58824"/>
                </a:cubicBezTo>
                <a:lnTo>
                  <a:pt x="95659" y="101203"/>
                </a:lnTo>
                <a:lnTo>
                  <a:pt x="111063" y="70396"/>
                </a:lnTo>
                <a:cubicBezTo>
                  <a:pt x="112588" y="67382"/>
                  <a:pt x="115677" y="65447"/>
                  <a:pt x="119063" y="65447"/>
                </a:cubicBezTo>
                <a:cubicBezTo>
                  <a:pt x="122448" y="65447"/>
                  <a:pt x="125537" y="67345"/>
                  <a:pt x="127062" y="70396"/>
                </a:cubicBezTo>
                <a:lnTo>
                  <a:pt x="135694" y="87623"/>
                </a:lnTo>
                <a:cubicBezTo>
                  <a:pt x="136215" y="88627"/>
                  <a:pt x="137220" y="89260"/>
                  <a:pt x="138373" y="89260"/>
                </a:cubicBezTo>
                <a:lnTo>
                  <a:pt x="184361" y="89260"/>
                </a:lnTo>
                <a:cubicBezTo>
                  <a:pt x="188268" y="80218"/>
                  <a:pt x="190537" y="71140"/>
                  <a:pt x="190537" y="62359"/>
                </a:cubicBezTo>
                <a:lnTo>
                  <a:pt x="190537" y="61392"/>
                </a:lnTo>
                <a:cubicBezTo>
                  <a:pt x="190500" y="34082"/>
                  <a:pt x="168325" y="11906"/>
                  <a:pt x="140977" y="11906"/>
                </a:cubicBezTo>
                <a:cubicBezTo>
                  <a:pt x="125090" y="11906"/>
                  <a:pt x="110133" y="19534"/>
                  <a:pt x="100831" y="32407"/>
                </a:cubicBezTo>
                <a:lnTo>
                  <a:pt x="95250" y="40109"/>
                </a:lnTo>
                <a:close/>
                <a:moveTo>
                  <a:pt x="174724" y="107156"/>
                </a:moveTo>
                <a:lnTo>
                  <a:pt x="138336" y="107156"/>
                </a:lnTo>
                <a:cubicBezTo>
                  <a:pt x="130448" y="107156"/>
                  <a:pt x="123230" y="102691"/>
                  <a:pt x="119695" y="95622"/>
                </a:cubicBezTo>
                <a:lnTo>
                  <a:pt x="119063" y="94357"/>
                </a:lnTo>
                <a:lnTo>
                  <a:pt x="103250" y="126020"/>
                </a:lnTo>
                <a:cubicBezTo>
                  <a:pt x="101724" y="129108"/>
                  <a:pt x="98524" y="131043"/>
                  <a:pt x="95064" y="130969"/>
                </a:cubicBezTo>
                <a:cubicBezTo>
                  <a:pt x="91604" y="130894"/>
                  <a:pt x="88516" y="128848"/>
                  <a:pt x="87102" y="125723"/>
                </a:cubicBezTo>
                <a:lnTo>
                  <a:pt x="68759" y="84981"/>
                </a:lnTo>
                <a:lnTo>
                  <a:pt x="64852" y="94357"/>
                </a:lnTo>
                <a:cubicBezTo>
                  <a:pt x="61615" y="102133"/>
                  <a:pt x="54025" y="107193"/>
                  <a:pt x="45616" y="107193"/>
                </a:cubicBezTo>
                <a:lnTo>
                  <a:pt x="15776" y="107193"/>
                </a:lnTo>
                <a:cubicBezTo>
                  <a:pt x="33338" y="134652"/>
                  <a:pt x="61540" y="159916"/>
                  <a:pt x="79177" y="173385"/>
                </a:cubicBezTo>
                <a:cubicBezTo>
                  <a:pt x="83790" y="176882"/>
                  <a:pt x="89446" y="178631"/>
                  <a:pt x="95213" y="178631"/>
                </a:cubicBezTo>
                <a:cubicBezTo>
                  <a:pt x="100980" y="178631"/>
                  <a:pt x="106673" y="176919"/>
                  <a:pt x="111249" y="173385"/>
                </a:cubicBezTo>
                <a:cubicBezTo>
                  <a:pt x="128960" y="159879"/>
                  <a:pt x="157163" y="134615"/>
                  <a:pt x="174724" y="107156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4815384" y="3635375"/>
            <a:ext cx="841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Healthcare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4339134" y="4032250"/>
            <a:ext cx="3579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Medical imaging, tumor detection, anomaly identification.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4339134" y="4286250"/>
            <a:ext cx="3516313" cy="1047750"/>
          </a:xfrm>
          <a:custGeom>
            <a:avLst/>
            <a:gdLst/>
            <a:ahLst/>
            <a:cxnLst/>
            <a:rect l="l" t="t" r="r" b="b"/>
            <a:pathLst>
              <a:path w="3516313" h="1047750">
                <a:moveTo>
                  <a:pt x="63504" y="0"/>
                </a:moveTo>
                <a:lnTo>
                  <a:pt x="3452808" y="0"/>
                </a:lnTo>
                <a:cubicBezTo>
                  <a:pt x="3487881" y="0"/>
                  <a:pt x="3516313" y="28432"/>
                  <a:pt x="3516313" y="63504"/>
                </a:cubicBezTo>
                <a:lnTo>
                  <a:pt x="3516313" y="984246"/>
                </a:lnTo>
                <a:cubicBezTo>
                  <a:pt x="3516313" y="1019318"/>
                  <a:pt x="3487881" y="1047750"/>
                  <a:pt x="3452808" y="1047750"/>
                </a:cubicBezTo>
                <a:lnTo>
                  <a:pt x="63504" y="1047750"/>
                </a:lnTo>
                <a:cubicBezTo>
                  <a:pt x="28432" y="1047750"/>
                  <a:pt x="0" y="1019318"/>
                  <a:pt x="0" y="984246"/>
                </a:cubicBezTo>
                <a:lnTo>
                  <a:pt x="0" y="63504"/>
                </a:lnTo>
                <a:cubicBezTo>
                  <a:pt x="0" y="28432"/>
                  <a:pt x="28432" y="0"/>
                  <a:pt x="63504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4450259" y="4406902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FFD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4632821" y="4381500"/>
            <a:ext cx="3190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D5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Benefits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4434384" y="4603750"/>
            <a:ext cx="3389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Real-time diagnostics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4434384" y="4826000"/>
            <a:ext cx="3389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Assists doctors in surgery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4434384" y="5048250"/>
            <a:ext cx="3389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Early disease detection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8106767" y="3413125"/>
            <a:ext cx="3770313" cy="2047875"/>
          </a:xfrm>
          <a:custGeom>
            <a:avLst/>
            <a:gdLst/>
            <a:ahLst/>
            <a:cxnLst/>
            <a:rect l="l" t="t" r="r" b="b"/>
            <a:pathLst>
              <a:path w="3770313" h="2047875">
                <a:moveTo>
                  <a:pt x="31750" y="0"/>
                </a:moveTo>
                <a:lnTo>
                  <a:pt x="3738563" y="0"/>
                </a:lnTo>
                <a:cubicBezTo>
                  <a:pt x="3756086" y="0"/>
                  <a:pt x="3770313" y="14227"/>
                  <a:pt x="3770313" y="31750"/>
                </a:cubicBezTo>
                <a:lnTo>
                  <a:pt x="3770313" y="1952628"/>
                </a:lnTo>
                <a:cubicBezTo>
                  <a:pt x="3770312" y="2005232"/>
                  <a:pt x="3727669" y="2047875"/>
                  <a:pt x="3675066" y="2047875"/>
                </a:cubicBezTo>
                <a:lnTo>
                  <a:pt x="95247" y="2047875"/>
                </a:lnTo>
                <a:cubicBezTo>
                  <a:pt x="42643" y="2047875"/>
                  <a:pt x="0" y="2005232"/>
                  <a:pt x="0" y="1952628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63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8106767" y="3413125"/>
            <a:ext cx="3770313" cy="31750"/>
          </a:xfrm>
          <a:custGeom>
            <a:avLst/>
            <a:gdLst/>
            <a:ahLst/>
            <a:cxnLst/>
            <a:rect l="l" t="t" r="r" b="b"/>
            <a:pathLst>
              <a:path w="3770313" h="31750">
                <a:moveTo>
                  <a:pt x="31750" y="0"/>
                </a:moveTo>
                <a:lnTo>
                  <a:pt x="3738563" y="0"/>
                </a:lnTo>
                <a:cubicBezTo>
                  <a:pt x="3756086" y="0"/>
                  <a:pt x="3770313" y="14227"/>
                  <a:pt x="3770313" y="31750"/>
                </a:cubicBezTo>
                <a:lnTo>
                  <a:pt x="3770313" y="31750"/>
                </a:lnTo>
                <a:lnTo>
                  <a:pt x="0" y="31750"/>
                </a:ln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D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8233768" y="3556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63501" y="0"/>
                </a:moveTo>
                <a:lnTo>
                  <a:pt x="317499" y="0"/>
                </a:lnTo>
                <a:cubicBezTo>
                  <a:pt x="352546" y="0"/>
                  <a:pt x="381000" y="28454"/>
                  <a:pt x="381000" y="63501"/>
                </a:cubicBezTo>
                <a:lnTo>
                  <a:pt x="381000" y="317499"/>
                </a:lnTo>
                <a:cubicBezTo>
                  <a:pt x="381000" y="352546"/>
                  <a:pt x="352546" y="381000"/>
                  <a:pt x="31749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FFD54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8329018" y="36512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03361" y="3200"/>
                </a:moveTo>
                <a:cubicBezTo>
                  <a:pt x="98785" y="-1042"/>
                  <a:pt x="91715" y="-1042"/>
                  <a:pt x="87176" y="3200"/>
                </a:cubicBezTo>
                <a:lnTo>
                  <a:pt x="3832" y="80590"/>
                </a:lnTo>
                <a:cubicBezTo>
                  <a:pt x="260" y="83939"/>
                  <a:pt x="-930" y="89111"/>
                  <a:pt x="856" y="93650"/>
                </a:cubicBezTo>
                <a:cubicBezTo>
                  <a:pt x="2642" y="98189"/>
                  <a:pt x="6995" y="101203"/>
                  <a:pt x="11906" y="101203"/>
                </a:cubicBezTo>
                <a:lnTo>
                  <a:pt x="17859" y="101203"/>
                </a:lnTo>
                <a:lnTo>
                  <a:pt x="17859" y="166688"/>
                </a:lnTo>
                <a:cubicBezTo>
                  <a:pt x="17859" y="179822"/>
                  <a:pt x="28538" y="190500"/>
                  <a:pt x="41672" y="190500"/>
                </a:cubicBezTo>
                <a:lnTo>
                  <a:pt x="148828" y="190500"/>
                </a:lnTo>
                <a:cubicBezTo>
                  <a:pt x="161962" y="190500"/>
                  <a:pt x="172641" y="179822"/>
                  <a:pt x="172641" y="166688"/>
                </a:cubicBezTo>
                <a:lnTo>
                  <a:pt x="172641" y="101203"/>
                </a:lnTo>
                <a:lnTo>
                  <a:pt x="178594" y="101203"/>
                </a:lnTo>
                <a:cubicBezTo>
                  <a:pt x="183505" y="101203"/>
                  <a:pt x="187896" y="98189"/>
                  <a:pt x="189681" y="93650"/>
                </a:cubicBezTo>
                <a:cubicBezTo>
                  <a:pt x="191467" y="89111"/>
                  <a:pt x="190277" y="83902"/>
                  <a:pt x="186705" y="80590"/>
                </a:cubicBezTo>
                <a:lnTo>
                  <a:pt x="103361" y="3200"/>
                </a:lnTo>
                <a:close/>
                <a:moveTo>
                  <a:pt x="89297" y="119063"/>
                </a:moveTo>
                <a:lnTo>
                  <a:pt x="101203" y="119063"/>
                </a:lnTo>
                <a:cubicBezTo>
                  <a:pt x="111063" y="119063"/>
                  <a:pt x="119063" y="127062"/>
                  <a:pt x="119063" y="136922"/>
                </a:cubicBezTo>
                <a:lnTo>
                  <a:pt x="119063" y="172641"/>
                </a:lnTo>
                <a:lnTo>
                  <a:pt x="71438" y="172641"/>
                </a:lnTo>
                <a:lnTo>
                  <a:pt x="71438" y="136922"/>
                </a:lnTo>
                <a:cubicBezTo>
                  <a:pt x="71438" y="127062"/>
                  <a:pt x="79437" y="119063"/>
                  <a:pt x="89297" y="119063"/>
                </a:cubicBezTo>
                <a:close/>
              </a:path>
            </a:pathLst>
          </a:custGeom>
          <a:solidFill>
            <a:srgbClr val="FFD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8710018" y="3635375"/>
            <a:ext cx="9604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Smart Home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8233768" y="4032250"/>
            <a:ext cx="3579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Security cameras, interactive assistants, object recognition.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8233768" y="4286250"/>
            <a:ext cx="3516313" cy="1047750"/>
          </a:xfrm>
          <a:custGeom>
            <a:avLst/>
            <a:gdLst/>
            <a:ahLst/>
            <a:cxnLst/>
            <a:rect l="l" t="t" r="r" b="b"/>
            <a:pathLst>
              <a:path w="3516313" h="1047750">
                <a:moveTo>
                  <a:pt x="63504" y="0"/>
                </a:moveTo>
                <a:lnTo>
                  <a:pt x="3452808" y="0"/>
                </a:lnTo>
                <a:cubicBezTo>
                  <a:pt x="3487881" y="0"/>
                  <a:pt x="3516313" y="28432"/>
                  <a:pt x="3516313" y="63504"/>
                </a:cubicBezTo>
                <a:lnTo>
                  <a:pt x="3516313" y="984246"/>
                </a:lnTo>
                <a:cubicBezTo>
                  <a:pt x="3516313" y="1019318"/>
                  <a:pt x="3487881" y="1047750"/>
                  <a:pt x="3452808" y="1047750"/>
                </a:cubicBezTo>
                <a:lnTo>
                  <a:pt x="63504" y="1047750"/>
                </a:lnTo>
                <a:cubicBezTo>
                  <a:pt x="28432" y="1047750"/>
                  <a:pt x="0" y="1019318"/>
                  <a:pt x="0" y="984246"/>
                </a:cubicBezTo>
                <a:lnTo>
                  <a:pt x="0" y="63504"/>
                </a:lnTo>
                <a:cubicBezTo>
                  <a:pt x="0" y="28432"/>
                  <a:pt x="28432" y="0"/>
                  <a:pt x="63504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8344893" y="4406902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FFD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8527455" y="4381500"/>
            <a:ext cx="3190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D5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Benefits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8329018" y="4603750"/>
            <a:ext cx="3389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Edge device deployment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8329018" y="4826000"/>
            <a:ext cx="3389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Privacy-preserving (local)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8329018" y="5048250"/>
            <a:ext cx="3389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Low latency response</a:t>
            </a:r>
            <a:endParaRPr lang="en-US" sz="1600" dirty="0"/>
          </a:p>
        </p:txBody>
      </p:sp>
      <p:sp>
        <p:nvSpPr>
          <p:cNvPr id="76" name="Shape 74"/>
          <p:cNvSpPr/>
          <p:nvPr/>
        </p:nvSpPr>
        <p:spPr>
          <a:xfrm>
            <a:off x="317500" y="5603875"/>
            <a:ext cx="11557000" cy="904875"/>
          </a:xfrm>
          <a:custGeom>
            <a:avLst/>
            <a:gdLst/>
            <a:ahLst/>
            <a:cxnLst/>
            <a:rect l="l" t="t" r="r" b="b"/>
            <a:pathLst>
              <a:path w="11557000" h="904875">
                <a:moveTo>
                  <a:pt x="31750" y="0"/>
                </a:moveTo>
                <a:lnTo>
                  <a:pt x="11525250" y="0"/>
                </a:lnTo>
                <a:cubicBezTo>
                  <a:pt x="11542785" y="0"/>
                  <a:pt x="11557000" y="14215"/>
                  <a:pt x="11557000" y="31750"/>
                </a:cubicBezTo>
                <a:lnTo>
                  <a:pt x="11557000" y="809628"/>
                </a:lnTo>
                <a:cubicBezTo>
                  <a:pt x="11557000" y="862231"/>
                  <a:pt x="11514356" y="904875"/>
                  <a:pt x="11461753" y="904875"/>
                </a:cubicBezTo>
                <a:lnTo>
                  <a:pt x="95247" y="904875"/>
                </a:lnTo>
                <a:cubicBezTo>
                  <a:pt x="42644" y="904875"/>
                  <a:pt x="0" y="862231"/>
                  <a:pt x="0" y="809628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63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317500" y="5603875"/>
            <a:ext cx="11557000" cy="31750"/>
          </a:xfrm>
          <a:custGeom>
            <a:avLst/>
            <a:gdLst/>
            <a:ahLst/>
            <a:cxnLst/>
            <a:rect l="l" t="t" r="r" b="b"/>
            <a:pathLst>
              <a:path w="11557000" h="31750">
                <a:moveTo>
                  <a:pt x="31750" y="0"/>
                </a:moveTo>
                <a:lnTo>
                  <a:pt x="11525250" y="0"/>
                </a:lnTo>
                <a:cubicBezTo>
                  <a:pt x="11542773" y="0"/>
                  <a:pt x="11557000" y="14227"/>
                  <a:pt x="11557000" y="31750"/>
                </a:cubicBezTo>
                <a:lnTo>
                  <a:pt x="11557000" y="31750"/>
                </a:lnTo>
                <a:lnTo>
                  <a:pt x="0" y="31750"/>
                </a:ln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8" name="Image 0" descr="https://kimi-web-img.moonshot.cn/img/miro.medium.com/3baaa7da99a4f2f6e2d431b5ecdc55b0d5024ae2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500" y="5746750"/>
            <a:ext cx="1016000" cy="635000"/>
          </a:xfrm>
          <a:prstGeom prst="roundRect">
            <a:avLst>
              <a:gd name="adj" fmla="val 10000"/>
            </a:avLst>
          </a:prstGeom>
        </p:spPr>
      </p:pic>
      <p:sp>
        <p:nvSpPr>
          <p:cNvPr id="79" name="Shape 76"/>
          <p:cNvSpPr/>
          <p:nvPr/>
        </p:nvSpPr>
        <p:spPr>
          <a:xfrm>
            <a:off x="1619250" y="5899152"/>
            <a:ext cx="95250" cy="127000"/>
          </a:xfrm>
          <a:custGeom>
            <a:avLst/>
            <a:gdLst/>
            <a:ahLst/>
            <a:cxnLst/>
            <a:rect l="l" t="t" r="r" b="b"/>
            <a:pathLst>
              <a:path w="95250" h="127000">
                <a:moveTo>
                  <a:pt x="72653" y="95250"/>
                </a:moveTo>
                <a:cubicBezTo>
                  <a:pt x="74464" y="89719"/>
                  <a:pt x="78085" y="84708"/>
                  <a:pt x="82178" y="80392"/>
                </a:cubicBezTo>
                <a:cubicBezTo>
                  <a:pt x="90289" y="71859"/>
                  <a:pt x="95250" y="60325"/>
                  <a:pt x="95250" y="47625"/>
                </a:cubicBezTo>
                <a:cubicBezTo>
                  <a:pt x="95250" y="21332"/>
                  <a:pt x="73918" y="0"/>
                  <a:pt x="47625" y="0"/>
                </a:cubicBezTo>
                <a:cubicBezTo>
                  <a:pt x="21332" y="0"/>
                  <a:pt x="0" y="21332"/>
                  <a:pt x="0" y="47625"/>
                </a:cubicBezTo>
                <a:cubicBezTo>
                  <a:pt x="0" y="60325"/>
                  <a:pt x="4961" y="71859"/>
                  <a:pt x="13072" y="80392"/>
                </a:cubicBezTo>
                <a:cubicBezTo>
                  <a:pt x="17165" y="84708"/>
                  <a:pt x="20811" y="89719"/>
                  <a:pt x="22597" y="95250"/>
                </a:cubicBezTo>
                <a:lnTo>
                  <a:pt x="72628" y="95250"/>
                </a:lnTo>
                <a:close/>
                <a:moveTo>
                  <a:pt x="71438" y="107156"/>
                </a:moveTo>
                <a:lnTo>
                  <a:pt x="23812" y="107156"/>
                </a:lnTo>
                <a:lnTo>
                  <a:pt x="23812" y="111125"/>
                </a:lnTo>
                <a:cubicBezTo>
                  <a:pt x="23812" y="122089"/>
                  <a:pt x="32693" y="130969"/>
                  <a:pt x="43656" y="130969"/>
                </a:cubicBezTo>
                <a:lnTo>
                  <a:pt x="51594" y="130969"/>
                </a:lnTo>
                <a:cubicBezTo>
                  <a:pt x="62557" y="130969"/>
                  <a:pt x="71438" y="122089"/>
                  <a:pt x="71438" y="111125"/>
                </a:cubicBezTo>
                <a:lnTo>
                  <a:pt x="71438" y="107156"/>
                </a:lnTo>
                <a:close/>
                <a:moveTo>
                  <a:pt x="45641" y="27781"/>
                </a:moveTo>
                <a:cubicBezTo>
                  <a:pt x="35768" y="27781"/>
                  <a:pt x="27781" y="35768"/>
                  <a:pt x="27781" y="45641"/>
                </a:cubicBezTo>
                <a:cubicBezTo>
                  <a:pt x="27781" y="48940"/>
                  <a:pt x="25127" y="51594"/>
                  <a:pt x="21828" y="51594"/>
                </a:cubicBezTo>
                <a:cubicBezTo>
                  <a:pt x="18529" y="51594"/>
                  <a:pt x="15875" y="48940"/>
                  <a:pt x="15875" y="45641"/>
                </a:cubicBezTo>
                <a:cubicBezTo>
                  <a:pt x="15875" y="29195"/>
                  <a:pt x="29195" y="15875"/>
                  <a:pt x="45641" y="15875"/>
                </a:cubicBezTo>
                <a:cubicBezTo>
                  <a:pt x="48940" y="15875"/>
                  <a:pt x="51594" y="18529"/>
                  <a:pt x="51594" y="21828"/>
                </a:cubicBezTo>
                <a:cubicBezTo>
                  <a:pt x="51594" y="25127"/>
                  <a:pt x="48940" y="27781"/>
                  <a:pt x="45641" y="27781"/>
                </a:cubicBezTo>
                <a:close/>
              </a:path>
            </a:pathLst>
          </a:custGeom>
          <a:solidFill>
            <a:srgbClr val="FFD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" name="Text 77"/>
          <p:cNvSpPr/>
          <p:nvPr/>
        </p:nvSpPr>
        <p:spPr>
          <a:xfrm>
            <a:off x="1785938" y="5873750"/>
            <a:ext cx="1002506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D5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Why YOLO for these applications?</a:t>
            </a:r>
            <a:r>
              <a:rPr lang="en-US" sz="1000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Its real-time speed (45-500+ FPS) combined with good accuracy makes it ideal for time-critical tasks where decisions must be made in milliseconds!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50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TEST YOUR KNOWLEDGE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 &amp; Interview Questions: Part 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17500" y="952500"/>
            <a:ext cx="116284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Basic to Intermediate Level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33375" y="1301750"/>
            <a:ext cx="5699125" cy="1587500"/>
          </a:xfrm>
          <a:custGeom>
            <a:avLst/>
            <a:gdLst/>
            <a:ahLst/>
            <a:cxnLst/>
            <a:rect l="l" t="t" r="r" b="b"/>
            <a:pathLst>
              <a:path w="5699125" h="1587500">
                <a:moveTo>
                  <a:pt x="31750" y="0"/>
                </a:moveTo>
                <a:lnTo>
                  <a:pt x="5603875" y="0"/>
                </a:lnTo>
                <a:cubicBezTo>
                  <a:pt x="5656445" y="0"/>
                  <a:pt x="5699125" y="42680"/>
                  <a:pt x="5699125" y="95250"/>
                </a:cubicBezTo>
                <a:lnTo>
                  <a:pt x="5699125" y="1492250"/>
                </a:lnTo>
                <a:cubicBezTo>
                  <a:pt x="5699125" y="1544820"/>
                  <a:pt x="5656445" y="1587500"/>
                  <a:pt x="5603875" y="1587500"/>
                </a:cubicBezTo>
                <a:lnTo>
                  <a:pt x="31750" y="1587500"/>
                </a:lnTo>
                <a:cubicBezTo>
                  <a:pt x="14227" y="1587500"/>
                  <a:pt x="0" y="1573273"/>
                  <a:pt x="0" y="1555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63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33375" y="1301750"/>
            <a:ext cx="31750" cy="1587500"/>
          </a:xfrm>
          <a:custGeom>
            <a:avLst/>
            <a:gdLst/>
            <a:ahLst/>
            <a:cxnLst/>
            <a:rect l="l" t="t" r="r" b="b"/>
            <a:pathLst>
              <a:path w="31750" h="1587500">
                <a:moveTo>
                  <a:pt x="31750" y="0"/>
                </a:moveTo>
                <a:lnTo>
                  <a:pt x="31750" y="0"/>
                </a:lnTo>
                <a:lnTo>
                  <a:pt x="31750" y="1587500"/>
                </a:lnTo>
                <a:lnTo>
                  <a:pt x="31750" y="1587500"/>
                </a:lnTo>
                <a:cubicBezTo>
                  <a:pt x="14227" y="1587500"/>
                  <a:pt x="0" y="1573273"/>
                  <a:pt x="0" y="1555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76250" y="142875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44500" y="1428750"/>
            <a:ext cx="381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89000" y="1428750"/>
            <a:ext cx="5087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 is the difference between classification, localization, and object detection?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89000" y="1714500"/>
            <a:ext cx="5016500" cy="1047750"/>
          </a:xfrm>
          <a:custGeom>
            <a:avLst/>
            <a:gdLst/>
            <a:ahLst/>
            <a:cxnLst/>
            <a:rect l="l" t="t" r="r" b="b"/>
            <a:pathLst>
              <a:path w="5016500" h="1047750">
                <a:moveTo>
                  <a:pt x="63504" y="0"/>
                </a:moveTo>
                <a:lnTo>
                  <a:pt x="4952996" y="0"/>
                </a:lnTo>
                <a:cubicBezTo>
                  <a:pt x="4988068" y="0"/>
                  <a:pt x="5016500" y="28432"/>
                  <a:pt x="5016500" y="63504"/>
                </a:cubicBezTo>
                <a:lnTo>
                  <a:pt x="5016500" y="984246"/>
                </a:lnTo>
                <a:cubicBezTo>
                  <a:pt x="5016500" y="1019318"/>
                  <a:pt x="4988068" y="1047750"/>
                  <a:pt x="4952996" y="1047750"/>
                </a:cubicBezTo>
                <a:lnTo>
                  <a:pt x="63504" y="1047750"/>
                </a:lnTo>
                <a:cubicBezTo>
                  <a:pt x="28432" y="1047750"/>
                  <a:pt x="0" y="1019318"/>
                  <a:pt x="0" y="984246"/>
                </a:cubicBezTo>
                <a:lnTo>
                  <a:pt x="0" y="63504"/>
                </a:lnTo>
                <a:cubicBezTo>
                  <a:pt x="0" y="28432"/>
                  <a:pt x="28432" y="0"/>
                  <a:pt x="63504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016000" y="1835152"/>
            <a:ext cx="95250" cy="127000"/>
          </a:xfrm>
          <a:custGeom>
            <a:avLst/>
            <a:gdLst/>
            <a:ahLst/>
            <a:cxnLst/>
            <a:rect l="l" t="t" r="r" b="b"/>
            <a:pathLst>
              <a:path w="95250" h="127000">
                <a:moveTo>
                  <a:pt x="72653" y="95250"/>
                </a:moveTo>
                <a:cubicBezTo>
                  <a:pt x="74464" y="89719"/>
                  <a:pt x="78085" y="84708"/>
                  <a:pt x="82178" y="80392"/>
                </a:cubicBezTo>
                <a:cubicBezTo>
                  <a:pt x="90289" y="71859"/>
                  <a:pt x="95250" y="60325"/>
                  <a:pt x="95250" y="47625"/>
                </a:cubicBezTo>
                <a:cubicBezTo>
                  <a:pt x="95250" y="21332"/>
                  <a:pt x="73918" y="0"/>
                  <a:pt x="47625" y="0"/>
                </a:cubicBezTo>
                <a:cubicBezTo>
                  <a:pt x="21332" y="0"/>
                  <a:pt x="0" y="21332"/>
                  <a:pt x="0" y="47625"/>
                </a:cubicBezTo>
                <a:cubicBezTo>
                  <a:pt x="0" y="60325"/>
                  <a:pt x="4961" y="71859"/>
                  <a:pt x="13072" y="80392"/>
                </a:cubicBezTo>
                <a:cubicBezTo>
                  <a:pt x="17165" y="84708"/>
                  <a:pt x="20811" y="89719"/>
                  <a:pt x="22597" y="95250"/>
                </a:cubicBezTo>
                <a:lnTo>
                  <a:pt x="72628" y="95250"/>
                </a:lnTo>
                <a:close/>
                <a:moveTo>
                  <a:pt x="71438" y="107156"/>
                </a:moveTo>
                <a:lnTo>
                  <a:pt x="23812" y="107156"/>
                </a:lnTo>
                <a:lnTo>
                  <a:pt x="23812" y="111125"/>
                </a:lnTo>
                <a:cubicBezTo>
                  <a:pt x="23812" y="122089"/>
                  <a:pt x="32693" y="130969"/>
                  <a:pt x="43656" y="130969"/>
                </a:cubicBezTo>
                <a:lnTo>
                  <a:pt x="51594" y="130969"/>
                </a:lnTo>
                <a:cubicBezTo>
                  <a:pt x="62557" y="130969"/>
                  <a:pt x="71438" y="122089"/>
                  <a:pt x="71438" y="111125"/>
                </a:cubicBezTo>
                <a:lnTo>
                  <a:pt x="71438" y="107156"/>
                </a:lnTo>
                <a:close/>
                <a:moveTo>
                  <a:pt x="45641" y="27781"/>
                </a:moveTo>
                <a:cubicBezTo>
                  <a:pt x="35768" y="27781"/>
                  <a:pt x="27781" y="35768"/>
                  <a:pt x="27781" y="45641"/>
                </a:cubicBezTo>
                <a:cubicBezTo>
                  <a:pt x="27781" y="48940"/>
                  <a:pt x="25127" y="51594"/>
                  <a:pt x="21828" y="51594"/>
                </a:cubicBezTo>
                <a:cubicBezTo>
                  <a:pt x="18529" y="51594"/>
                  <a:pt x="15875" y="48940"/>
                  <a:pt x="15875" y="45641"/>
                </a:cubicBezTo>
                <a:cubicBezTo>
                  <a:pt x="15875" y="29195"/>
                  <a:pt x="29195" y="15875"/>
                  <a:pt x="45641" y="15875"/>
                </a:cubicBezTo>
                <a:cubicBezTo>
                  <a:pt x="48940" y="15875"/>
                  <a:pt x="51594" y="18529"/>
                  <a:pt x="51594" y="21828"/>
                </a:cubicBezTo>
                <a:cubicBezTo>
                  <a:pt x="51594" y="25127"/>
                  <a:pt x="48940" y="27781"/>
                  <a:pt x="45641" y="27781"/>
                </a:cubicBezTo>
                <a:close/>
              </a:path>
            </a:pathLst>
          </a:custGeom>
          <a:solidFill>
            <a:srgbClr val="FFD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82688" y="1809750"/>
            <a:ext cx="4691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D5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Answer: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84250" y="2032000"/>
            <a:ext cx="4889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Classification:</a:t>
            </a:r>
            <a:r>
              <a:rPr lang="en-US" sz="1000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Identifies what object is in the image (label only)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84250" y="2254250"/>
            <a:ext cx="4889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Localization:</a:t>
            </a:r>
            <a:r>
              <a:rPr lang="en-US" sz="1000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Finds location of single object (box coordinates)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84250" y="2476500"/>
            <a:ext cx="4889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Detection:</a:t>
            </a:r>
            <a:r>
              <a:rPr lang="en-US" sz="1000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Combines both for multiple objects (boxes + labels)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33375" y="2984500"/>
            <a:ext cx="5699125" cy="1714500"/>
          </a:xfrm>
          <a:custGeom>
            <a:avLst/>
            <a:gdLst/>
            <a:ahLst/>
            <a:cxnLst/>
            <a:rect l="l" t="t" r="r" b="b"/>
            <a:pathLst>
              <a:path w="5699125" h="1714500">
                <a:moveTo>
                  <a:pt x="31750" y="0"/>
                </a:moveTo>
                <a:lnTo>
                  <a:pt x="5603867" y="0"/>
                </a:lnTo>
                <a:cubicBezTo>
                  <a:pt x="5656477" y="0"/>
                  <a:pt x="5699125" y="42648"/>
                  <a:pt x="5699125" y="95258"/>
                </a:cubicBezTo>
                <a:lnTo>
                  <a:pt x="5699125" y="1619242"/>
                </a:lnTo>
                <a:cubicBezTo>
                  <a:pt x="5699125" y="1671852"/>
                  <a:pt x="5656477" y="1714500"/>
                  <a:pt x="5603867" y="1714500"/>
                </a:cubicBezTo>
                <a:lnTo>
                  <a:pt x="31750" y="1714500"/>
                </a:lnTo>
                <a:cubicBezTo>
                  <a:pt x="14215" y="1714500"/>
                  <a:pt x="0" y="1700285"/>
                  <a:pt x="0" y="1682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63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33375" y="2984500"/>
            <a:ext cx="31750" cy="1714500"/>
          </a:xfrm>
          <a:custGeom>
            <a:avLst/>
            <a:gdLst/>
            <a:ahLst/>
            <a:cxnLst/>
            <a:rect l="l" t="t" r="r" b="b"/>
            <a:pathLst>
              <a:path w="31750" h="1714500">
                <a:moveTo>
                  <a:pt x="31750" y="0"/>
                </a:moveTo>
                <a:lnTo>
                  <a:pt x="31750" y="0"/>
                </a:lnTo>
                <a:lnTo>
                  <a:pt x="31750" y="1714500"/>
                </a:lnTo>
                <a:lnTo>
                  <a:pt x="31750" y="1714500"/>
                </a:lnTo>
                <a:cubicBezTo>
                  <a:pt x="14227" y="1714500"/>
                  <a:pt x="0" y="1700273"/>
                  <a:pt x="0" y="1682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D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76250" y="311150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FFD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44500" y="3111500"/>
            <a:ext cx="381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Q2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89000" y="3111500"/>
            <a:ext cx="5087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Why is YOLO called "You Only Look Once"?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89000" y="3397250"/>
            <a:ext cx="5016500" cy="1174750"/>
          </a:xfrm>
          <a:custGeom>
            <a:avLst/>
            <a:gdLst/>
            <a:ahLst/>
            <a:cxnLst/>
            <a:rect l="l" t="t" r="r" b="b"/>
            <a:pathLst>
              <a:path w="5016500" h="1174750">
                <a:moveTo>
                  <a:pt x="63495" y="0"/>
                </a:moveTo>
                <a:lnTo>
                  <a:pt x="4953005" y="0"/>
                </a:lnTo>
                <a:cubicBezTo>
                  <a:pt x="4988072" y="0"/>
                  <a:pt x="5016500" y="28428"/>
                  <a:pt x="5016500" y="63495"/>
                </a:cubicBezTo>
                <a:lnTo>
                  <a:pt x="5016500" y="1111255"/>
                </a:lnTo>
                <a:cubicBezTo>
                  <a:pt x="5016500" y="1146322"/>
                  <a:pt x="4988072" y="1174750"/>
                  <a:pt x="4953005" y="1174750"/>
                </a:cubicBezTo>
                <a:lnTo>
                  <a:pt x="63495" y="1174750"/>
                </a:lnTo>
                <a:cubicBezTo>
                  <a:pt x="28428" y="1174750"/>
                  <a:pt x="0" y="1146322"/>
                  <a:pt x="0" y="1111255"/>
                </a:cubicBezTo>
                <a:lnTo>
                  <a:pt x="0" y="63495"/>
                </a:lnTo>
                <a:cubicBezTo>
                  <a:pt x="0" y="28428"/>
                  <a:pt x="28428" y="0"/>
                  <a:pt x="63495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016000" y="3517902"/>
            <a:ext cx="95250" cy="127000"/>
          </a:xfrm>
          <a:custGeom>
            <a:avLst/>
            <a:gdLst/>
            <a:ahLst/>
            <a:cxnLst/>
            <a:rect l="l" t="t" r="r" b="b"/>
            <a:pathLst>
              <a:path w="95250" h="127000">
                <a:moveTo>
                  <a:pt x="72653" y="95250"/>
                </a:moveTo>
                <a:cubicBezTo>
                  <a:pt x="74464" y="89719"/>
                  <a:pt x="78085" y="84708"/>
                  <a:pt x="82178" y="80392"/>
                </a:cubicBezTo>
                <a:cubicBezTo>
                  <a:pt x="90289" y="71859"/>
                  <a:pt x="95250" y="60325"/>
                  <a:pt x="95250" y="47625"/>
                </a:cubicBezTo>
                <a:cubicBezTo>
                  <a:pt x="95250" y="21332"/>
                  <a:pt x="73918" y="0"/>
                  <a:pt x="47625" y="0"/>
                </a:cubicBezTo>
                <a:cubicBezTo>
                  <a:pt x="21332" y="0"/>
                  <a:pt x="0" y="21332"/>
                  <a:pt x="0" y="47625"/>
                </a:cubicBezTo>
                <a:cubicBezTo>
                  <a:pt x="0" y="60325"/>
                  <a:pt x="4961" y="71859"/>
                  <a:pt x="13072" y="80392"/>
                </a:cubicBezTo>
                <a:cubicBezTo>
                  <a:pt x="17165" y="84708"/>
                  <a:pt x="20811" y="89719"/>
                  <a:pt x="22597" y="95250"/>
                </a:cubicBezTo>
                <a:lnTo>
                  <a:pt x="72628" y="95250"/>
                </a:lnTo>
                <a:close/>
                <a:moveTo>
                  <a:pt x="71438" y="107156"/>
                </a:moveTo>
                <a:lnTo>
                  <a:pt x="23812" y="107156"/>
                </a:lnTo>
                <a:lnTo>
                  <a:pt x="23812" y="111125"/>
                </a:lnTo>
                <a:cubicBezTo>
                  <a:pt x="23812" y="122089"/>
                  <a:pt x="32693" y="130969"/>
                  <a:pt x="43656" y="130969"/>
                </a:cubicBezTo>
                <a:lnTo>
                  <a:pt x="51594" y="130969"/>
                </a:lnTo>
                <a:cubicBezTo>
                  <a:pt x="62557" y="130969"/>
                  <a:pt x="71438" y="122089"/>
                  <a:pt x="71438" y="111125"/>
                </a:cubicBezTo>
                <a:lnTo>
                  <a:pt x="71438" y="107156"/>
                </a:lnTo>
                <a:close/>
                <a:moveTo>
                  <a:pt x="45641" y="27781"/>
                </a:moveTo>
                <a:cubicBezTo>
                  <a:pt x="35768" y="27781"/>
                  <a:pt x="27781" y="35768"/>
                  <a:pt x="27781" y="45641"/>
                </a:cubicBezTo>
                <a:cubicBezTo>
                  <a:pt x="27781" y="48940"/>
                  <a:pt x="25127" y="51594"/>
                  <a:pt x="21828" y="51594"/>
                </a:cubicBezTo>
                <a:cubicBezTo>
                  <a:pt x="18529" y="51594"/>
                  <a:pt x="15875" y="48940"/>
                  <a:pt x="15875" y="45641"/>
                </a:cubicBezTo>
                <a:cubicBezTo>
                  <a:pt x="15875" y="29195"/>
                  <a:pt x="29195" y="15875"/>
                  <a:pt x="45641" y="15875"/>
                </a:cubicBezTo>
                <a:cubicBezTo>
                  <a:pt x="48940" y="15875"/>
                  <a:pt x="51594" y="18529"/>
                  <a:pt x="51594" y="21828"/>
                </a:cubicBezTo>
                <a:cubicBezTo>
                  <a:pt x="51594" y="25127"/>
                  <a:pt x="48940" y="27781"/>
                  <a:pt x="45641" y="27781"/>
                </a:cubicBezTo>
                <a:close/>
              </a:path>
            </a:pathLst>
          </a:custGeom>
          <a:solidFill>
            <a:srgbClr val="FFD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182688" y="3492500"/>
            <a:ext cx="4691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D5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Answer: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84250" y="3714750"/>
            <a:ext cx="4889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Unlike two-stage detectors (R-CNN) that first generate region proposals and then classify each region separately, YOLO processes the </a:t>
            </a:r>
            <a:r>
              <a:rPr lang="en-US" sz="1000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entire image in a single forward pass</a:t>
            </a:r>
            <a:r>
              <a:rPr lang="en-US" sz="1000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through one CNN, directly predicting bounding boxes and class probabilities simultaneously.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33375" y="4794250"/>
            <a:ext cx="5699125" cy="1936750"/>
          </a:xfrm>
          <a:custGeom>
            <a:avLst/>
            <a:gdLst/>
            <a:ahLst/>
            <a:cxnLst/>
            <a:rect l="l" t="t" r="r" b="b"/>
            <a:pathLst>
              <a:path w="5699125" h="2032000">
                <a:moveTo>
                  <a:pt x="31750" y="0"/>
                </a:moveTo>
                <a:lnTo>
                  <a:pt x="5603870" y="0"/>
                </a:lnTo>
                <a:cubicBezTo>
                  <a:pt x="5656478" y="0"/>
                  <a:pt x="5699125" y="40138"/>
                  <a:pt x="5699125" y="89652"/>
                </a:cubicBezTo>
                <a:lnTo>
                  <a:pt x="5699125" y="1942348"/>
                </a:lnTo>
                <a:cubicBezTo>
                  <a:pt x="5699125" y="1991862"/>
                  <a:pt x="5656478" y="2032000"/>
                  <a:pt x="5603870" y="2032000"/>
                </a:cubicBezTo>
                <a:lnTo>
                  <a:pt x="31750" y="2032000"/>
                </a:lnTo>
                <a:cubicBezTo>
                  <a:pt x="14227" y="2032000"/>
                  <a:pt x="0" y="2018610"/>
                  <a:pt x="0" y="2002118"/>
                </a:cubicBezTo>
                <a:lnTo>
                  <a:pt x="0" y="29882"/>
                </a:lnTo>
                <a:cubicBezTo>
                  <a:pt x="0" y="13390"/>
                  <a:pt x="14227" y="0"/>
                  <a:pt x="31750" y="0"/>
                </a:cubicBezTo>
                <a:close/>
              </a:path>
            </a:pathLst>
          </a:custGeom>
          <a:solidFill>
            <a:srgbClr val="263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33374" y="4794250"/>
            <a:ext cx="45719" cy="1855932"/>
          </a:xfrm>
          <a:custGeom>
            <a:avLst/>
            <a:gdLst/>
            <a:ahLst/>
            <a:cxnLst/>
            <a:rect l="l" t="t" r="r" b="b"/>
            <a:pathLst>
              <a:path w="31750" h="2159000">
                <a:moveTo>
                  <a:pt x="31750" y="0"/>
                </a:moveTo>
                <a:lnTo>
                  <a:pt x="31750" y="0"/>
                </a:lnTo>
                <a:lnTo>
                  <a:pt x="31750" y="2159000"/>
                </a:lnTo>
                <a:lnTo>
                  <a:pt x="31750" y="2159000"/>
                </a:lnTo>
                <a:cubicBezTo>
                  <a:pt x="14227" y="2159000"/>
                  <a:pt x="0" y="2144773"/>
                  <a:pt x="0" y="2127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76250" y="492125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44500" y="4921250"/>
            <a:ext cx="381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Q3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89000" y="4921250"/>
            <a:ext cx="5087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 is IoU and why is it important?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89000" y="5207000"/>
            <a:ext cx="5016500" cy="1619250"/>
          </a:xfrm>
          <a:custGeom>
            <a:avLst/>
            <a:gdLst/>
            <a:ahLst/>
            <a:cxnLst/>
            <a:rect l="l" t="t" r="r" b="b"/>
            <a:pathLst>
              <a:path w="5016500" h="1619250">
                <a:moveTo>
                  <a:pt x="63507" y="0"/>
                </a:moveTo>
                <a:lnTo>
                  <a:pt x="4952993" y="0"/>
                </a:lnTo>
                <a:cubicBezTo>
                  <a:pt x="4988067" y="0"/>
                  <a:pt x="5016500" y="28433"/>
                  <a:pt x="5016500" y="63507"/>
                </a:cubicBezTo>
                <a:lnTo>
                  <a:pt x="5016500" y="1555743"/>
                </a:lnTo>
                <a:cubicBezTo>
                  <a:pt x="5016500" y="1590817"/>
                  <a:pt x="4988067" y="1619250"/>
                  <a:pt x="4952993" y="1619250"/>
                </a:cubicBezTo>
                <a:lnTo>
                  <a:pt x="63507" y="1619250"/>
                </a:lnTo>
                <a:cubicBezTo>
                  <a:pt x="28433" y="1619250"/>
                  <a:pt x="0" y="1590817"/>
                  <a:pt x="0" y="1555743"/>
                </a:cubicBezTo>
                <a:lnTo>
                  <a:pt x="0" y="63507"/>
                </a:lnTo>
                <a:cubicBezTo>
                  <a:pt x="0" y="28457"/>
                  <a:pt x="28457" y="0"/>
                  <a:pt x="63507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1016000" y="5327652"/>
            <a:ext cx="95250" cy="127000"/>
          </a:xfrm>
          <a:custGeom>
            <a:avLst/>
            <a:gdLst/>
            <a:ahLst/>
            <a:cxnLst/>
            <a:rect l="l" t="t" r="r" b="b"/>
            <a:pathLst>
              <a:path w="95250" h="127000">
                <a:moveTo>
                  <a:pt x="72653" y="95250"/>
                </a:moveTo>
                <a:cubicBezTo>
                  <a:pt x="74464" y="89719"/>
                  <a:pt x="78085" y="84708"/>
                  <a:pt x="82178" y="80392"/>
                </a:cubicBezTo>
                <a:cubicBezTo>
                  <a:pt x="90289" y="71859"/>
                  <a:pt x="95250" y="60325"/>
                  <a:pt x="95250" y="47625"/>
                </a:cubicBezTo>
                <a:cubicBezTo>
                  <a:pt x="95250" y="21332"/>
                  <a:pt x="73918" y="0"/>
                  <a:pt x="47625" y="0"/>
                </a:cubicBezTo>
                <a:cubicBezTo>
                  <a:pt x="21332" y="0"/>
                  <a:pt x="0" y="21332"/>
                  <a:pt x="0" y="47625"/>
                </a:cubicBezTo>
                <a:cubicBezTo>
                  <a:pt x="0" y="60325"/>
                  <a:pt x="4961" y="71859"/>
                  <a:pt x="13072" y="80392"/>
                </a:cubicBezTo>
                <a:cubicBezTo>
                  <a:pt x="17165" y="84708"/>
                  <a:pt x="20811" y="89719"/>
                  <a:pt x="22597" y="95250"/>
                </a:cubicBezTo>
                <a:lnTo>
                  <a:pt x="72628" y="95250"/>
                </a:lnTo>
                <a:close/>
                <a:moveTo>
                  <a:pt x="71438" y="107156"/>
                </a:moveTo>
                <a:lnTo>
                  <a:pt x="23812" y="107156"/>
                </a:lnTo>
                <a:lnTo>
                  <a:pt x="23812" y="111125"/>
                </a:lnTo>
                <a:cubicBezTo>
                  <a:pt x="23812" y="122089"/>
                  <a:pt x="32693" y="130969"/>
                  <a:pt x="43656" y="130969"/>
                </a:cubicBezTo>
                <a:lnTo>
                  <a:pt x="51594" y="130969"/>
                </a:lnTo>
                <a:cubicBezTo>
                  <a:pt x="62557" y="130969"/>
                  <a:pt x="71438" y="122089"/>
                  <a:pt x="71438" y="111125"/>
                </a:cubicBezTo>
                <a:lnTo>
                  <a:pt x="71438" y="107156"/>
                </a:lnTo>
                <a:close/>
                <a:moveTo>
                  <a:pt x="45641" y="27781"/>
                </a:moveTo>
                <a:cubicBezTo>
                  <a:pt x="35768" y="27781"/>
                  <a:pt x="27781" y="35768"/>
                  <a:pt x="27781" y="45641"/>
                </a:cubicBezTo>
                <a:cubicBezTo>
                  <a:pt x="27781" y="48940"/>
                  <a:pt x="25127" y="51594"/>
                  <a:pt x="21828" y="51594"/>
                </a:cubicBezTo>
                <a:cubicBezTo>
                  <a:pt x="18529" y="51594"/>
                  <a:pt x="15875" y="48940"/>
                  <a:pt x="15875" y="45641"/>
                </a:cubicBezTo>
                <a:cubicBezTo>
                  <a:pt x="15875" y="29195"/>
                  <a:pt x="29195" y="15875"/>
                  <a:pt x="45641" y="15875"/>
                </a:cubicBezTo>
                <a:cubicBezTo>
                  <a:pt x="48940" y="15875"/>
                  <a:pt x="51594" y="18529"/>
                  <a:pt x="51594" y="21828"/>
                </a:cubicBezTo>
                <a:cubicBezTo>
                  <a:pt x="51594" y="25127"/>
                  <a:pt x="48940" y="27781"/>
                  <a:pt x="45641" y="27781"/>
                </a:cubicBezTo>
                <a:close/>
              </a:path>
            </a:pathLst>
          </a:custGeom>
          <a:solidFill>
            <a:srgbClr val="FFD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182688" y="5302250"/>
            <a:ext cx="4691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D5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Answer: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84250" y="5524500"/>
            <a:ext cx="4889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IoU (Intersection over Union)</a:t>
            </a:r>
            <a:r>
              <a:rPr lang="en-US" sz="1000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measures the overlap between predicted and ground-truth bounding boxes: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984250" y="5969000"/>
            <a:ext cx="4826000" cy="317500"/>
          </a:xfrm>
          <a:custGeom>
            <a:avLst/>
            <a:gdLst/>
            <a:ahLst/>
            <a:cxnLst/>
            <a:rect l="l" t="t" r="r" b="b"/>
            <a:pathLst>
              <a:path w="4826000" h="317500">
                <a:moveTo>
                  <a:pt x="31750" y="0"/>
                </a:moveTo>
                <a:lnTo>
                  <a:pt x="4794250" y="0"/>
                </a:lnTo>
                <a:cubicBezTo>
                  <a:pt x="4811773" y="0"/>
                  <a:pt x="4826000" y="14227"/>
                  <a:pt x="4826000" y="31750"/>
                </a:cubicBezTo>
                <a:lnTo>
                  <a:pt x="4826000" y="285750"/>
                </a:lnTo>
                <a:cubicBezTo>
                  <a:pt x="4826000" y="303273"/>
                  <a:pt x="4811773" y="317500"/>
                  <a:pt x="4794250" y="317500"/>
                </a:cubicBezTo>
                <a:lnTo>
                  <a:pt x="31750" y="317500"/>
                </a:lnTo>
                <a:cubicBezTo>
                  <a:pt x="14227" y="317500"/>
                  <a:pt x="0" y="303273"/>
                  <a:pt x="0" y="285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63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952500" y="5969000"/>
            <a:ext cx="4889500" cy="3175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IoU = Area of Intersection / Area of Union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984250" y="6350000"/>
            <a:ext cx="4889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Importance:</a:t>
            </a:r>
            <a:r>
              <a:rPr lang="en-US" sz="1000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Used to evaluate prediction quality, in NMS, and for calculating mAP. IoU ≥ 0.5 typically means correct detection.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175375" y="1301750"/>
            <a:ext cx="5699125" cy="1778000"/>
          </a:xfrm>
          <a:custGeom>
            <a:avLst/>
            <a:gdLst/>
            <a:ahLst/>
            <a:cxnLst/>
            <a:rect l="l" t="t" r="r" b="b"/>
            <a:pathLst>
              <a:path w="5699125" h="1778000">
                <a:moveTo>
                  <a:pt x="31750" y="0"/>
                </a:moveTo>
                <a:lnTo>
                  <a:pt x="5603878" y="0"/>
                </a:lnTo>
                <a:cubicBezTo>
                  <a:pt x="5656481" y="0"/>
                  <a:pt x="5699125" y="42644"/>
                  <a:pt x="5699125" y="95247"/>
                </a:cubicBezTo>
                <a:lnTo>
                  <a:pt x="5699125" y="1682753"/>
                </a:lnTo>
                <a:cubicBezTo>
                  <a:pt x="5699125" y="1735356"/>
                  <a:pt x="5656481" y="1778000"/>
                  <a:pt x="5603878" y="1778000"/>
                </a:cubicBezTo>
                <a:lnTo>
                  <a:pt x="31750" y="1778000"/>
                </a:lnTo>
                <a:cubicBezTo>
                  <a:pt x="14215" y="1778000"/>
                  <a:pt x="0" y="1763785"/>
                  <a:pt x="0" y="1746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63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175375" y="1301750"/>
            <a:ext cx="31750" cy="1778000"/>
          </a:xfrm>
          <a:custGeom>
            <a:avLst/>
            <a:gdLst/>
            <a:ahLst/>
            <a:cxnLst/>
            <a:rect l="l" t="t" r="r" b="b"/>
            <a:pathLst>
              <a:path w="31750" h="1778000">
                <a:moveTo>
                  <a:pt x="31750" y="0"/>
                </a:moveTo>
                <a:lnTo>
                  <a:pt x="31750" y="0"/>
                </a:lnTo>
                <a:lnTo>
                  <a:pt x="31750" y="1778000"/>
                </a:lnTo>
                <a:lnTo>
                  <a:pt x="31750" y="1778000"/>
                </a:lnTo>
                <a:cubicBezTo>
                  <a:pt x="14227" y="1778000"/>
                  <a:pt x="0" y="1763773"/>
                  <a:pt x="0" y="1746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D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6318250" y="142875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FFD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286500" y="1428750"/>
            <a:ext cx="381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Q4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731000" y="1428750"/>
            <a:ext cx="5087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Explain the sliding window problem and how YOLO solves it.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731000" y="1714500"/>
            <a:ext cx="5016500" cy="1238250"/>
          </a:xfrm>
          <a:custGeom>
            <a:avLst/>
            <a:gdLst/>
            <a:ahLst/>
            <a:cxnLst/>
            <a:rect l="l" t="t" r="r" b="b"/>
            <a:pathLst>
              <a:path w="5016500" h="1238250">
                <a:moveTo>
                  <a:pt x="63497" y="0"/>
                </a:moveTo>
                <a:lnTo>
                  <a:pt x="4953003" y="0"/>
                </a:lnTo>
                <a:cubicBezTo>
                  <a:pt x="4988071" y="0"/>
                  <a:pt x="5016500" y="28429"/>
                  <a:pt x="5016500" y="63497"/>
                </a:cubicBezTo>
                <a:lnTo>
                  <a:pt x="5016500" y="1174753"/>
                </a:lnTo>
                <a:cubicBezTo>
                  <a:pt x="5016500" y="1209821"/>
                  <a:pt x="4988071" y="1238250"/>
                  <a:pt x="4953003" y="1238250"/>
                </a:cubicBezTo>
                <a:lnTo>
                  <a:pt x="63497" y="1238250"/>
                </a:lnTo>
                <a:cubicBezTo>
                  <a:pt x="28429" y="1238250"/>
                  <a:pt x="0" y="1209821"/>
                  <a:pt x="0" y="1174753"/>
                </a:cubicBezTo>
                <a:lnTo>
                  <a:pt x="0" y="63497"/>
                </a:lnTo>
                <a:cubicBezTo>
                  <a:pt x="0" y="28452"/>
                  <a:pt x="28452" y="0"/>
                  <a:pt x="63497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6858000" y="1835152"/>
            <a:ext cx="95250" cy="127000"/>
          </a:xfrm>
          <a:custGeom>
            <a:avLst/>
            <a:gdLst/>
            <a:ahLst/>
            <a:cxnLst/>
            <a:rect l="l" t="t" r="r" b="b"/>
            <a:pathLst>
              <a:path w="95250" h="127000">
                <a:moveTo>
                  <a:pt x="72653" y="95250"/>
                </a:moveTo>
                <a:cubicBezTo>
                  <a:pt x="74464" y="89719"/>
                  <a:pt x="78085" y="84708"/>
                  <a:pt x="82178" y="80392"/>
                </a:cubicBezTo>
                <a:cubicBezTo>
                  <a:pt x="90289" y="71859"/>
                  <a:pt x="95250" y="60325"/>
                  <a:pt x="95250" y="47625"/>
                </a:cubicBezTo>
                <a:cubicBezTo>
                  <a:pt x="95250" y="21332"/>
                  <a:pt x="73918" y="0"/>
                  <a:pt x="47625" y="0"/>
                </a:cubicBezTo>
                <a:cubicBezTo>
                  <a:pt x="21332" y="0"/>
                  <a:pt x="0" y="21332"/>
                  <a:pt x="0" y="47625"/>
                </a:cubicBezTo>
                <a:cubicBezTo>
                  <a:pt x="0" y="60325"/>
                  <a:pt x="4961" y="71859"/>
                  <a:pt x="13072" y="80392"/>
                </a:cubicBezTo>
                <a:cubicBezTo>
                  <a:pt x="17165" y="84708"/>
                  <a:pt x="20811" y="89719"/>
                  <a:pt x="22597" y="95250"/>
                </a:cubicBezTo>
                <a:lnTo>
                  <a:pt x="72628" y="95250"/>
                </a:lnTo>
                <a:close/>
                <a:moveTo>
                  <a:pt x="71438" y="107156"/>
                </a:moveTo>
                <a:lnTo>
                  <a:pt x="23812" y="107156"/>
                </a:lnTo>
                <a:lnTo>
                  <a:pt x="23812" y="111125"/>
                </a:lnTo>
                <a:cubicBezTo>
                  <a:pt x="23812" y="122089"/>
                  <a:pt x="32693" y="130969"/>
                  <a:pt x="43656" y="130969"/>
                </a:cubicBezTo>
                <a:lnTo>
                  <a:pt x="51594" y="130969"/>
                </a:lnTo>
                <a:cubicBezTo>
                  <a:pt x="62557" y="130969"/>
                  <a:pt x="71438" y="122089"/>
                  <a:pt x="71438" y="111125"/>
                </a:cubicBezTo>
                <a:lnTo>
                  <a:pt x="71438" y="107156"/>
                </a:lnTo>
                <a:close/>
                <a:moveTo>
                  <a:pt x="45641" y="27781"/>
                </a:moveTo>
                <a:cubicBezTo>
                  <a:pt x="35768" y="27781"/>
                  <a:pt x="27781" y="35768"/>
                  <a:pt x="27781" y="45641"/>
                </a:cubicBezTo>
                <a:cubicBezTo>
                  <a:pt x="27781" y="48940"/>
                  <a:pt x="25127" y="51594"/>
                  <a:pt x="21828" y="51594"/>
                </a:cubicBezTo>
                <a:cubicBezTo>
                  <a:pt x="18529" y="51594"/>
                  <a:pt x="15875" y="48940"/>
                  <a:pt x="15875" y="45641"/>
                </a:cubicBezTo>
                <a:cubicBezTo>
                  <a:pt x="15875" y="29195"/>
                  <a:pt x="29195" y="15875"/>
                  <a:pt x="45641" y="15875"/>
                </a:cubicBezTo>
                <a:cubicBezTo>
                  <a:pt x="48940" y="15875"/>
                  <a:pt x="51594" y="18529"/>
                  <a:pt x="51594" y="21828"/>
                </a:cubicBezTo>
                <a:cubicBezTo>
                  <a:pt x="51594" y="25127"/>
                  <a:pt x="48940" y="27781"/>
                  <a:pt x="45641" y="27781"/>
                </a:cubicBezTo>
                <a:close/>
              </a:path>
            </a:pathLst>
          </a:custGeom>
          <a:solidFill>
            <a:srgbClr val="FFD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7024688" y="1809750"/>
            <a:ext cx="4691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D5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Answer: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826250" y="2032000"/>
            <a:ext cx="4889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D5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Problem:</a:t>
            </a:r>
            <a:r>
              <a:rPr lang="en-US" sz="1000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Sliding window requires running CNN thousands of times at different locations and scales - extremely slow!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826250" y="2476500"/>
            <a:ext cx="4889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YOLO Solution:</a:t>
            </a:r>
            <a:r>
              <a:rPr lang="en-US" sz="1000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Divides image into grid, runs CNN once, and each grid cell directly predicts bounding boxes. This converts thousands of forward passes into just one!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175375" y="3175000"/>
            <a:ext cx="5699125" cy="1968500"/>
          </a:xfrm>
          <a:custGeom>
            <a:avLst/>
            <a:gdLst/>
            <a:ahLst/>
            <a:cxnLst/>
            <a:rect l="l" t="t" r="r" b="b"/>
            <a:pathLst>
              <a:path w="5699125" h="1968500">
                <a:moveTo>
                  <a:pt x="31750" y="0"/>
                </a:moveTo>
                <a:lnTo>
                  <a:pt x="5603869" y="0"/>
                </a:lnTo>
                <a:cubicBezTo>
                  <a:pt x="5656442" y="0"/>
                  <a:pt x="5699125" y="42683"/>
                  <a:pt x="5699125" y="95256"/>
                </a:cubicBezTo>
                <a:lnTo>
                  <a:pt x="5699125" y="1873244"/>
                </a:lnTo>
                <a:cubicBezTo>
                  <a:pt x="5699125" y="1925853"/>
                  <a:pt x="5656478" y="1968500"/>
                  <a:pt x="5603869" y="1968500"/>
                </a:cubicBezTo>
                <a:lnTo>
                  <a:pt x="31750" y="1968500"/>
                </a:lnTo>
                <a:cubicBezTo>
                  <a:pt x="14215" y="1968500"/>
                  <a:pt x="0" y="1954285"/>
                  <a:pt x="0" y="1936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63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6175375" y="3175000"/>
            <a:ext cx="31750" cy="1968500"/>
          </a:xfrm>
          <a:custGeom>
            <a:avLst/>
            <a:gdLst/>
            <a:ahLst/>
            <a:cxnLst/>
            <a:rect l="l" t="t" r="r" b="b"/>
            <a:pathLst>
              <a:path w="31750" h="1968500">
                <a:moveTo>
                  <a:pt x="31750" y="0"/>
                </a:moveTo>
                <a:lnTo>
                  <a:pt x="31750" y="0"/>
                </a:lnTo>
                <a:lnTo>
                  <a:pt x="31750" y="1968500"/>
                </a:lnTo>
                <a:lnTo>
                  <a:pt x="31750" y="1968500"/>
                </a:lnTo>
                <a:cubicBezTo>
                  <a:pt x="14227" y="1968500"/>
                  <a:pt x="0" y="1954273"/>
                  <a:pt x="0" y="1936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6318250" y="330200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286500" y="3302000"/>
            <a:ext cx="381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Q5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731000" y="3302000"/>
            <a:ext cx="5087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 is Non-Max Suppression and why do we need it?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731000" y="3587750"/>
            <a:ext cx="5016500" cy="1428750"/>
          </a:xfrm>
          <a:custGeom>
            <a:avLst/>
            <a:gdLst/>
            <a:ahLst/>
            <a:cxnLst/>
            <a:rect l="l" t="t" r="r" b="b"/>
            <a:pathLst>
              <a:path w="5016500" h="1428750">
                <a:moveTo>
                  <a:pt x="63494" y="0"/>
                </a:moveTo>
                <a:lnTo>
                  <a:pt x="4953006" y="0"/>
                </a:lnTo>
                <a:cubicBezTo>
                  <a:pt x="4988073" y="0"/>
                  <a:pt x="5016500" y="28427"/>
                  <a:pt x="5016500" y="63494"/>
                </a:cubicBezTo>
                <a:lnTo>
                  <a:pt x="5016500" y="1365256"/>
                </a:lnTo>
                <a:cubicBezTo>
                  <a:pt x="5016500" y="1400323"/>
                  <a:pt x="4988073" y="1428750"/>
                  <a:pt x="4953006" y="1428750"/>
                </a:cubicBezTo>
                <a:lnTo>
                  <a:pt x="63494" y="1428750"/>
                </a:lnTo>
                <a:cubicBezTo>
                  <a:pt x="28427" y="1428750"/>
                  <a:pt x="0" y="1400323"/>
                  <a:pt x="0" y="1365256"/>
                </a:cubicBezTo>
                <a:lnTo>
                  <a:pt x="0" y="63494"/>
                </a:lnTo>
                <a:cubicBezTo>
                  <a:pt x="0" y="28451"/>
                  <a:pt x="28451" y="0"/>
                  <a:pt x="63494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6858000" y="3708402"/>
            <a:ext cx="95250" cy="127000"/>
          </a:xfrm>
          <a:custGeom>
            <a:avLst/>
            <a:gdLst/>
            <a:ahLst/>
            <a:cxnLst/>
            <a:rect l="l" t="t" r="r" b="b"/>
            <a:pathLst>
              <a:path w="95250" h="127000">
                <a:moveTo>
                  <a:pt x="72653" y="95250"/>
                </a:moveTo>
                <a:cubicBezTo>
                  <a:pt x="74464" y="89719"/>
                  <a:pt x="78085" y="84708"/>
                  <a:pt x="82178" y="80392"/>
                </a:cubicBezTo>
                <a:cubicBezTo>
                  <a:pt x="90289" y="71859"/>
                  <a:pt x="95250" y="60325"/>
                  <a:pt x="95250" y="47625"/>
                </a:cubicBezTo>
                <a:cubicBezTo>
                  <a:pt x="95250" y="21332"/>
                  <a:pt x="73918" y="0"/>
                  <a:pt x="47625" y="0"/>
                </a:cubicBezTo>
                <a:cubicBezTo>
                  <a:pt x="21332" y="0"/>
                  <a:pt x="0" y="21332"/>
                  <a:pt x="0" y="47625"/>
                </a:cubicBezTo>
                <a:cubicBezTo>
                  <a:pt x="0" y="60325"/>
                  <a:pt x="4961" y="71859"/>
                  <a:pt x="13072" y="80392"/>
                </a:cubicBezTo>
                <a:cubicBezTo>
                  <a:pt x="17165" y="84708"/>
                  <a:pt x="20811" y="89719"/>
                  <a:pt x="22597" y="95250"/>
                </a:cubicBezTo>
                <a:lnTo>
                  <a:pt x="72628" y="95250"/>
                </a:lnTo>
                <a:close/>
                <a:moveTo>
                  <a:pt x="71438" y="107156"/>
                </a:moveTo>
                <a:lnTo>
                  <a:pt x="23812" y="107156"/>
                </a:lnTo>
                <a:lnTo>
                  <a:pt x="23812" y="111125"/>
                </a:lnTo>
                <a:cubicBezTo>
                  <a:pt x="23812" y="122089"/>
                  <a:pt x="32693" y="130969"/>
                  <a:pt x="43656" y="130969"/>
                </a:cubicBezTo>
                <a:lnTo>
                  <a:pt x="51594" y="130969"/>
                </a:lnTo>
                <a:cubicBezTo>
                  <a:pt x="62557" y="130969"/>
                  <a:pt x="71438" y="122089"/>
                  <a:pt x="71438" y="111125"/>
                </a:cubicBezTo>
                <a:lnTo>
                  <a:pt x="71438" y="107156"/>
                </a:lnTo>
                <a:close/>
                <a:moveTo>
                  <a:pt x="45641" y="27781"/>
                </a:moveTo>
                <a:cubicBezTo>
                  <a:pt x="35768" y="27781"/>
                  <a:pt x="27781" y="35768"/>
                  <a:pt x="27781" y="45641"/>
                </a:cubicBezTo>
                <a:cubicBezTo>
                  <a:pt x="27781" y="48940"/>
                  <a:pt x="25127" y="51594"/>
                  <a:pt x="21828" y="51594"/>
                </a:cubicBezTo>
                <a:cubicBezTo>
                  <a:pt x="18529" y="51594"/>
                  <a:pt x="15875" y="48940"/>
                  <a:pt x="15875" y="45641"/>
                </a:cubicBezTo>
                <a:cubicBezTo>
                  <a:pt x="15875" y="29195"/>
                  <a:pt x="29195" y="15875"/>
                  <a:pt x="45641" y="15875"/>
                </a:cubicBezTo>
                <a:cubicBezTo>
                  <a:pt x="48940" y="15875"/>
                  <a:pt x="51594" y="18529"/>
                  <a:pt x="51594" y="21828"/>
                </a:cubicBezTo>
                <a:cubicBezTo>
                  <a:pt x="51594" y="25127"/>
                  <a:pt x="48940" y="27781"/>
                  <a:pt x="45641" y="27781"/>
                </a:cubicBezTo>
                <a:close/>
              </a:path>
            </a:pathLst>
          </a:custGeom>
          <a:solidFill>
            <a:srgbClr val="FFD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7024688" y="3683000"/>
            <a:ext cx="4691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D5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Answer: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826250" y="3905250"/>
            <a:ext cx="4889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NMS</a:t>
            </a:r>
            <a:r>
              <a:rPr lang="en-US" sz="1000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a post-processing algorithm that removes duplicate bounding boxes for the same object.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6826250" y="4349750"/>
            <a:ext cx="4889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D5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Need:</a:t>
            </a:r>
            <a:r>
              <a:rPr lang="en-US" sz="1000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YOLO can predict multiple overlapping boxes for the same object (from nearby grid cells). NMS keeps only the best prediction by selecting highest confidence box and removing others with IoU ≥ threshold (typically 0.5).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162675" y="5241925"/>
            <a:ext cx="5705475" cy="641350"/>
          </a:xfrm>
          <a:custGeom>
            <a:avLst/>
            <a:gdLst/>
            <a:ahLst/>
            <a:cxnLst/>
            <a:rect l="l" t="t" r="r" b="b"/>
            <a:pathLst>
              <a:path w="5705475" h="641350">
                <a:moveTo>
                  <a:pt x="95247" y="0"/>
                </a:moveTo>
                <a:lnTo>
                  <a:pt x="5610228" y="0"/>
                </a:lnTo>
                <a:cubicBezTo>
                  <a:pt x="5662832" y="0"/>
                  <a:pt x="5705475" y="42643"/>
                  <a:pt x="5705475" y="95247"/>
                </a:cubicBezTo>
                <a:lnTo>
                  <a:pt x="5705475" y="546103"/>
                </a:lnTo>
                <a:cubicBezTo>
                  <a:pt x="5705475" y="598707"/>
                  <a:pt x="5662832" y="641350"/>
                  <a:pt x="5610228" y="641350"/>
                </a:cubicBezTo>
                <a:lnTo>
                  <a:pt x="95247" y="641350"/>
                </a:lnTo>
                <a:cubicBezTo>
                  <a:pt x="42679" y="641350"/>
                  <a:pt x="0" y="598671"/>
                  <a:pt x="0" y="546103"/>
                </a:cubicBezTo>
                <a:lnTo>
                  <a:pt x="0" y="95247"/>
                </a:lnTo>
                <a:cubicBezTo>
                  <a:pt x="0" y="42679"/>
                  <a:pt x="42679" y="0"/>
                  <a:pt x="95247" y="0"/>
                </a:cubicBezTo>
                <a:close/>
              </a:path>
            </a:pathLst>
          </a:custGeom>
          <a:solidFill>
            <a:srgbClr val="4DB6AC">
              <a:alpha val="10196"/>
            </a:srgbClr>
          </a:solidFill>
          <a:ln w="10160">
            <a:solidFill>
              <a:srgbClr val="4DB6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6300787" y="5397500"/>
            <a:ext cx="142875" cy="127000"/>
          </a:xfrm>
          <a:custGeom>
            <a:avLst/>
            <a:gdLst/>
            <a:ahLst/>
            <a:cxnLst/>
            <a:rect l="l" t="t" r="r" b="b"/>
            <a:pathLst>
              <a:path w="142875" h="127000">
                <a:moveTo>
                  <a:pt x="11906" y="48568"/>
                </a:moveTo>
                <a:lnTo>
                  <a:pt x="63798" y="69924"/>
                </a:lnTo>
                <a:cubicBezTo>
                  <a:pt x="66229" y="70917"/>
                  <a:pt x="68808" y="71438"/>
                  <a:pt x="71438" y="71438"/>
                </a:cubicBezTo>
                <a:cubicBezTo>
                  <a:pt x="74067" y="71438"/>
                  <a:pt x="76646" y="70917"/>
                  <a:pt x="79077" y="69924"/>
                </a:cubicBezTo>
                <a:lnTo>
                  <a:pt x="139204" y="45169"/>
                </a:lnTo>
                <a:cubicBezTo>
                  <a:pt x="141436" y="44252"/>
                  <a:pt x="142875" y="42094"/>
                  <a:pt x="142875" y="39687"/>
                </a:cubicBezTo>
                <a:cubicBezTo>
                  <a:pt x="142875" y="37281"/>
                  <a:pt x="141436" y="35123"/>
                  <a:pt x="139204" y="34206"/>
                </a:cubicBezTo>
                <a:lnTo>
                  <a:pt x="79077" y="9451"/>
                </a:lnTo>
                <a:cubicBezTo>
                  <a:pt x="76646" y="8458"/>
                  <a:pt x="74067" y="7938"/>
                  <a:pt x="71438" y="7938"/>
                </a:cubicBezTo>
                <a:cubicBezTo>
                  <a:pt x="68808" y="7938"/>
                  <a:pt x="66229" y="8458"/>
                  <a:pt x="63798" y="9451"/>
                </a:cubicBezTo>
                <a:lnTo>
                  <a:pt x="3671" y="34206"/>
                </a:lnTo>
                <a:cubicBezTo>
                  <a:pt x="1439" y="35123"/>
                  <a:pt x="0" y="37281"/>
                  <a:pt x="0" y="39688"/>
                </a:cubicBezTo>
                <a:lnTo>
                  <a:pt x="0" y="113109"/>
                </a:lnTo>
                <a:cubicBezTo>
                  <a:pt x="0" y="116408"/>
                  <a:pt x="2654" y="119063"/>
                  <a:pt x="5953" y="119063"/>
                </a:cubicBezTo>
                <a:cubicBezTo>
                  <a:pt x="9252" y="119063"/>
                  <a:pt x="11906" y="116408"/>
                  <a:pt x="11906" y="113109"/>
                </a:cubicBezTo>
                <a:lnTo>
                  <a:pt x="11906" y="48568"/>
                </a:lnTo>
                <a:close/>
                <a:moveTo>
                  <a:pt x="23812" y="66353"/>
                </a:moveTo>
                <a:lnTo>
                  <a:pt x="23812" y="95250"/>
                </a:lnTo>
                <a:cubicBezTo>
                  <a:pt x="23812" y="108396"/>
                  <a:pt x="45145" y="119063"/>
                  <a:pt x="71438" y="119063"/>
                </a:cubicBezTo>
                <a:cubicBezTo>
                  <a:pt x="97730" y="119063"/>
                  <a:pt x="119063" y="108396"/>
                  <a:pt x="119063" y="95250"/>
                </a:cubicBezTo>
                <a:lnTo>
                  <a:pt x="119063" y="66328"/>
                </a:lnTo>
                <a:lnTo>
                  <a:pt x="83617" y="80938"/>
                </a:lnTo>
                <a:cubicBezTo>
                  <a:pt x="79747" y="82525"/>
                  <a:pt x="75629" y="83344"/>
                  <a:pt x="71438" y="83344"/>
                </a:cubicBezTo>
                <a:cubicBezTo>
                  <a:pt x="67246" y="83344"/>
                  <a:pt x="63128" y="82525"/>
                  <a:pt x="59258" y="80938"/>
                </a:cubicBezTo>
                <a:lnTo>
                  <a:pt x="23812" y="66328"/>
                </a:lnTo>
                <a:close/>
              </a:path>
            </a:pathLst>
          </a:custGeom>
          <a:solidFill>
            <a:srgbClr val="FFD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6491287" y="5372098"/>
            <a:ext cx="531018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D5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Study Tip:</a:t>
            </a:r>
            <a:r>
              <a:rPr lang="en-US" sz="1000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Practice explaining these concepts in your own words. Interviewers value clear, intuitive explanations over memorized definitions!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50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TEST YOUR KNOWLEDGE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 &amp; Interview Questions: Part 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17500" y="952500"/>
            <a:ext cx="116284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Advanced Level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33375" y="1301750"/>
            <a:ext cx="5699125" cy="2254250"/>
          </a:xfrm>
          <a:custGeom>
            <a:avLst/>
            <a:gdLst/>
            <a:ahLst/>
            <a:cxnLst/>
            <a:rect l="l" t="t" r="r" b="b"/>
            <a:pathLst>
              <a:path w="5699125" h="2254250">
                <a:moveTo>
                  <a:pt x="31750" y="0"/>
                </a:moveTo>
                <a:lnTo>
                  <a:pt x="5603883" y="0"/>
                </a:lnTo>
                <a:cubicBezTo>
                  <a:pt x="5656484" y="0"/>
                  <a:pt x="5699125" y="42641"/>
                  <a:pt x="5699125" y="95242"/>
                </a:cubicBezTo>
                <a:lnTo>
                  <a:pt x="5699125" y="2159008"/>
                </a:lnTo>
                <a:cubicBezTo>
                  <a:pt x="5699125" y="2211609"/>
                  <a:pt x="5656484" y="2254250"/>
                  <a:pt x="5603883" y="2254250"/>
                </a:cubicBezTo>
                <a:lnTo>
                  <a:pt x="31750" y="2254250"/>
                </a:lnTo>
                <a:cubicBezTo>
                  <a:pt x="14227" y="2254250"/>
                  <a:pt x="0" y="2240023"/>
                  <a:pt x="0" y="2222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63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33375" y="1301750"/>
            <a:ext cx="31750" cy="2254250"/>
          </a:xfrm>
          <a:custGeom>
            <a:avLst/>
            <a:gdLst/>
            <a:ahLst/>
            <a:cxnLst/>
            <a:rect l="l" t="t" r="r" b="b"/>
            <a:pathLst>
              <a:path w="31750" h="2254250">
                <a:moveTo>
                  <a:pt x="31750" y="0"/>
                </a:moveTo>
                <a:lnTo>
                  <a:pt x="31750" y="0"/>
                </a:lnTo>
                <a:lnTo>
                  <a:pt x="31750" y="2254250"/>
                </a:lnTo>
                <a:lnTo>
                  <a:pt x="31750" y="2254250"/>
                </a:lnTo>
                <a:cubicBezTo>
                  <a:pt x="14227" y="2254250"/>
                  <a:pt x="0" y="2240023"/>
                  <a:pt x="0" y="2222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76250" y="142875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44500" y="1428750"/>
            <a:ext cx="381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Q6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89000" y="1428750"/>
            <a:ext cx="5087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Explain anchor boxes and their limitations.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89000" y="1714500"/>
            <a:ext cx="5016500" cy="1714500"/>
          </a:xfrm>
          <a:custGeom>
            <a:avLst/>
            <a:gdLst/>
            <a:ahLst/>
            <a:cxnLst/>
            <a:rect l="l" t="t" r="r" b="b"/>
            <a:pathLst>
              <a:path w="5016500" h="1714500">
                <a:moveTo>
                  <a:pt x="63505" y="0"/>
                </a:moveTo>
                <a:lnTo>
                  <a:pt x="4952995" y="0"/>
                </a:lnTo>
                <a:cubicBezTo>
                  <a:pt x="4988068" y="0"/>
                  <a:pt x="5016500" y="28432"/>
                  <a:pt x="5016500" y="63505"/>
                </a:cubicBezTo>
                <a:lnTo>
                  <a:pt x="5016500" y="1650995"/>
                </a:lnTo>
                <a:cubicBezTo>
                  <a:pt x="5016500" y="1686068"/>
                  <a:pt x="4988068" y="1714500"/>
                  <a:pt x="4952995" y="1714500"/>
                </a:cubicBezTo>
                <a:lnTo>
                  <a:pt x="63505" y="1714500"/>
                </a:lnTo>
                <a:cubicBezTo>
                  <a:pt x="28432" y="1714500"/>
                  <a:pt x="0" y="1686068"/>
                  <a:pt x="0" y="1650995"/>
                </a:cubicBezTo>
                <a:lnTo>
                  <a:pt x="0" y="63505"/>
                </a:lnTo>
                <a:cubicBezTo>
                  <a:pt x="0" y="28456"/>
                  <a:pt x="28456" y="0"/>
                  <a:pt x="63505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016000" y="1835152"/>
            <a:ext cx="95250" cy="127000"/>
          </a:xfrm>
          <a:custGeom>
            <a:avLst/>
            <a:gdLst/>
            <a:ahLst/>
            <a:cxnLst/>
            <a:rect l="l" t="t" r="r" b="b"/>
            <a:pathLst>
              <a:path w="95250" h="127000">
                <a:moveTo>
                  <a:pt x="72653" y="95250"/>
                </a:moveTo>
                <a:cubicBezTo>
                  <a:pt x="74464" y="89719"/>
                  <a:pt x="78085" y="84708"/>
                  <a:pt x="82178" y="80392"/>
                </a:cubicBezTo>
                <a:cubicBezTo>
                  <a:pt x="90289" y="71859"/>
                  <a:pt x="95250" y="60325"/>
                  <a:pt x="95250" y="47625"/>
                </a:cubicBezTo>
                <a:cubicBezTo>
                  <a:pt x="95250" y="21332"/>
                  <a:pt x="73918" y="0"/>
                  <a:pt x="47625" y="0"/>
                </a:cubicBezTo>
                <a:cubicBezTo>
                  <a:pt x="21332" y="0"/>
                  <a:pt x="0" y="21332"/>
                  <a:pt x="0" y="47625"/>
                </a:cubicBezTo>
                <a:cubicBezTo>
                  <a:pt x="0" y="60325"/>
                  <a:pt x="4961" y="71859"/>
                  <a:pt x="13072" y="80392"/>
                </a:cubicBezTo>
                <a:cubicBezTo>
                  <a:pt x="17165" y="84708"/>
                  <a:pt x="20811" y="89719"/>
                  <a:pt x="22597" y="95250"/>
                </a:cubicBezTo>
                <a:lnTo>
                  <a:pt x="72628" y="95250"/>
                </a:lnTo>
                <a:close/>
                <a:moveTo>
                  <a:pt x="71438" y="107156"/>
                </a:moveTo>
                <a:lnTo>
                  <a:pt x="23812" y="107156"/>
                </a:lnTo>
                <a:lnTo>
                  <a:pt x="23812" y="111125"/>
                </a:lnTo>
                <a:cubicBezTo>
                  <a:pt x="23812" y="122089"/>
                  <a:pt x="32693" y="130969"/>
                  <a:pt x="43656" y="130969"/>
                </a:cubicBezTo>
                <a:lnTo>
                  <a:pt x="51594" y="130969"/>
                </a:lnTo>
                <a:cubicBezTo>
                  <a:pt x="62557" y="130969"/>
                  <a:pt x="71438" y="122089"/>
                  <a:pt x="71438" y="111125"/>
                </a:cubicBezTo>
                <a:lnTo>
                  <a:pt x="71438" y="107156"/>
                </a:lnTo>
                <a:close/>
                <a:moveTo>
                  <a:pt x="45641" y="27781"/>
                </a:moveTo>
                <a:cubicBezTo>
                  <a:pt x="35768" y="27781"/>
                  <a:pt x="27781" y="35768"/>
                  <a:pt x="27781" y="45641"/>
                </a:cubicBezTo>
                <a:cubicBezTo>
                  <a:pt x="27781" y="48940"/>
                  <a:pt x="25127" y="51594"/>
                  <a:pt x="21828" y="51594"/>
                </a:cubicBezTo>
                <a:cubicBezTo>
                  <a:pt x="18529" y="51594"/>
                  <a:pt x="15875" y="48940"/>
                  <a:pt x="15875" y="45641"/>
                </a:cubicBezTo>
                <a:cubicBezTo>
                  <a:pt x="15875" y="29195"/>
                  <a:pt x="29195" y="15875"/>
                  <a:pt x="45641" y="15875"/>
                </a:cubicBezTo>
                <a:cubicBezTo>
                  <a:pt x="48940" y="15875"/>
                  <a:pt x="51594" y="18529"/>
                  <a:pt x="51594" y="21828"/>
                </a:cubicBezTo>
                <a:cubicBezTo>
                  <a:pt x="51594" y="25127"/>
                  <a:pt x="48940" y="27781"/>
                  <a:pt x="45641" y="27781"/>
                </a:cubicBezTo>
                <a:close/>
              </a:path>
            </a:pathLst>
          </a:custGeom>
          <a:solidFill>
            <a:srgbClr val="FFD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82688" y="1809750"/>
            <a:ext cx="4691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D5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Answer: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84250" y="2032000"/>
            <a:ext cx="4889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Anchor boxes</a:t>
            </a:r>
            <a:r>
              <a:rPr lang="en-US" sz="1000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are pre-defined bounding box shapes (based on dataset object ratios) that allow each grid cell to detect multiple objects.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84250" y="2501902"/>
            <a:ext cx="690463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D5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Limitations: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84250" y="2698750"/>
            <a:ext cx="4889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Can only detect as many objects as anchor boxes per cell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84250" y="2921000"/>
            <a:ext cx="4889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Struggles when similar-shaped objects overlap in same cell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84250" y="3143250"/>
            <a:ext cx="4889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Requires careful selection of anchor sizes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33375" y="3651250"/>
            <a:ext cx="5699125" cy="1524000"/>
          </a:xfrm>
          <a:custGeom>
            <a:avLst/>
            <a:gdLst/>
            <a:ahLst/>
            <a:cxnLst/>
            <a:rect l="l" t="t" r="r" b="b"/>
            <a:pathLst>
              <a:path w="5699125" h="1524000">
                <a:moveTo>
                  <a:pt x="31750" y="0"/>
                </a:moveTo>
                <a:lnTo>
                  <a:pt x="5603875" y="0"/>
                </a:lnTo>
                <a:cubicBezTo>
                  <a:pt x="5656445" y="0"/>
                  <a:pt x="5699125" y="42680"/>
                  <a:pt x="5699125" y="95250"/>
                </a:cubicBezTo>
                <a:lnTo>
                  <a:pt x="5699125" y="1428750"/>
                </a:lnTo>
                <a:cubicBezTo>
                  <a:pt x="5699125" y="1481320"/>
                  <a:pt x="5656445" y="1524000"/>
                  <a:pt x="5603875" y="1524000"/>
                </a:cubicBezTo>
                <a:lnTo>
                  <a:pt x="31750" y="1524000"/>
                </a:lnTo>
                <a:cubicBezTo>
                  <a:pt x="14215" y="1524000"/>
                  <a:pt x="0" y="1509785"/>
                  <a:pt x="0" y="1492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63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33375" y="3651250"/>
            <a:ext cx="31750" cy="1524000"/>
          </a:xfrm>
          <a:custGeom>
            <a:avLst/>
            <a:gdLst/>
            <a:ahLst/>
            <a:cxnLst/>
            <a:rect l="l" t="t" r="r" b="b"/>
            <a:pathLst>
              <a:path w="31750" h="1524000">
                <a:moveTo>
                  <a:pt x="31750" y="0"/>
                </a:moveTo>
                <a:lnTo>
                  <a:pt x="31750" y="0"/>
                </a:lnTo>
                <a:lnTo>
                  <a:pt x="31750" y="1524000"/>
                </a:lnTo>
                <a:lnTo>
                  <a:pt x="31750" y="1524000"/>
                </a:lnTo>
                <a:cubicBezTo>
                  <a:pt x="14227" y="1524000"/>
                  <a:pt x="0" y="1509773"/>
                  <a:pt x="0" y="1492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D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76250" y="377825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FFD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44500" y="3778250"/>
            <a:ext cx="381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Q7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89000" y="3778250"/>
            <a:ext cx="5087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How does YOLO assign objects to grid cells?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89000" y="4064000"/>
            <a:ext cx="5016500" cy="984250"/>
          </a:xfrm>
          <a:custGeom>
            <a:avLst/>
            <a:gdLst/>
            <a:ahLst/>
            <a:cxnLst/>
            <a:rect l="l" t="t" r="r" b="b"/>
            <a:pathLst>
              <a:path w="5016500" h="984250">
                <a:moveTo>
                  <a:pt x="63504" y="0"/>
                </a:moveTo>
                <a:lnTo>
                  <a:pt x="4952996" y="0"/>
                </a:lnTo>
                <a:cubicBezTo>
                  <a:pt x="4988068" y="0"/>
                  <a:pt x="5016500" y="28432"/>
                  <a:pt x="5016500" y="63504"/>
                </a:cubicBezTo>
                <a:lnTo>
                  <a:pt x="5016500" y="920746"/>
                </a:lnTo>
                <a:cubicBezTo>
                  <a:pt x="5016500" y="955818"/>
                  <a:pt x="4988068" y="984250"/>
                  <a:pt x="4952996" y="984250"/>
                </a:cubicBezTo>
                <a:lnTo>
                  <a:pt x="63504" y="984250"/>
                </a:lnTo>
                <a:cubicBezTo>
                  <a:pt x="28432" y="984250"/>
                  <a:pt x="0" y="955818"/>
                  <a:pt x="0" y="920746"/>
                </a:cubicBezTo>
                <a:lnTo>
                  <a:pt x="0" y="63504"/>
                </a:lnTo>
                <a:cubicBezTo>
                  <a:pt x="0" y="28455"/>
                  <a:pt x="28455" y="0"/>
                  <a:pt x="63504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016000" y="4184652"/>
            <a:ext cx="95250" cy="127000"/>
          </a:xfrm>
          <a:custGeom>
            <a:avLst/>
            <a:gdLst/>
            <a:ahLst/>
            <a:cxnLst/>
            <a:rect l="l" t="t" r="r" b="b"/>
            <a:pathLst>
              <a:path w="95250" h="127000">
                <a:moveTo>
                  <a:pt x="72653" y="95250"/>
                </a:moveTo>
                <a:cubicBezTo>
                  <a:pt x="74464" y="89719"/>
                  <a:pt x="78085" y="84708"/>
                  <a:pt x="82178" y="80392"/>
                </a:cubicBezTo>
                <a:cubicBezTo>
                  <a:pt x="90289" y="71859"/>
                  <a:pt x="95250" y="60325"/>
                  <a:pt x="95250" y="47625"/>
                </a:cubicBezTo>
                <a:cubicBezTo>
                  <a:pt x="95250" y="21332"/>
                  <a:pt x="73918" y="0"/>
                  <a:pt x="47625" y="0"/>
                </a:cubicBezTo>
                <a:cubicBezTo>
                  <a:pt x="21332" y="0"/>
                  <a:pt x="0" y="21332"/>
                  <a:pt x="0" y="47625"/>
                </a:cubicBezTo>
                <a:cubicBezTo>
                  <a:pt x="0" y="60325"/>
                  <a:pt x="4961" y="71859"/>
                  <a:pt x="13072" y="80392"/>
                </a:cubicBezTo>
                <a:cubicBezTo>
                  <a:pt x="17165" y="84708"/>
                  <a:pt x="20811" y="89719"/>
                  <a:pt x="22597" y="95250"/>
                </a:cubicBezTo>
                <a:lnTo>
                  <a:pt x="72628" y="95250"/>
                </a:lnTo>
                <a:close/>
                <a:moveTo>
                  <a:pt x="71438" y="107156"/>
                </a:moveTo>
                <a:lnTo>
                  <a:pt x="23812" y="107156"/>
                </a:lnTo>
                <a:lnTo>
                  <a:pt x="23812" y="111125"/>
                </a:lnTo>
                <a:cubicBezTo>
                  <a:pt x="23812" y="122089"/>
                  <a:pt x="32693" y="130969"/>
                  <a:pt x="43656" y="130969"/>
                </a:cubicBezTo>
                <a:lnTo>
                  <a:pt x="51594" y="130969"/>
                </a:lnTo>
                <a:cubicBezTo>
                  <a:pt x="62557" y="130969"/>
                  <a:pt x="71438" y="122089"/>
                  <a:pt x="71438" y="111125"/>
                </a:cubicBezTo>
                <a:lnTo>
                  <a:pt x="71438" y="107156"/>
                </a:lnTo>
                <a:close/>
                <a:moveTo>
                  <a:pt x="45641" y="27781"/>
                </a:moveTo>
                <a:cubicBezTo>
                  <a:pt x="35768" y="27781"/>
                  <a:pt x="27781" y="35768"/>
                  <a:pt x="27781" y="45641"/>
                </a:cubicBezTo>
                <a:cubicBezTo>
                  <a:pt x="27781" y="48940"/>
                  <a:pt x="25127" y="51594"/>
                  <a:pt x="21828" y="51594"/>
                </a:cubicBezTo>
                <a:cubicBezTo>
                  <a:pt x="18529" y="51594"/>
                  <a:pt x="15875" y="48940"/>
                  <a:pt x="15875" y="45641"/>
                </a:cubicBezTo>
                <a:cubicBezTo>
                  <a:pt x="15875" y="29195"/>
                  <a:pt x="29195" y="15875"/>
                  <a:pt x="45641" y="15875"/>
                </a:cubicBezTo>
                <a:cubicBezTo>
                  <a:pt x="48940" y="15875"/>
                  <a:pt x="51594" y="18529"/>
                  <a:pt x="51594" y="21828"/>
                </a:cubicBezTo>
                <a:cubicBezTo>
                  <a:pt x="51594" y="25127"/>
                  <a:pt x="48940" y="27781"/>
                  <a:pt x="45641" y="27781"/>
                </a:cubicBezTo>
                <a:close/>
              </a:path>
            </a:pathLst>
          </a:custGeom>
          <a:solidFill>
            <a:srgbClr val="FFD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182688" y="4159250"/>
            <a:ext cx="4691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D5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Answer: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84250" y="4381500"/>
            <a:ext cx="4889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 object is assigned to the </a:t>
            </a:r>
            <a:r>
              <a:rPr lang="en-US" sz="1000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grid cell that contains its center point</a:t>
            </a:r>
            <a:r>
              <a:rPr lang="en-US" sz="1000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With anchor boxes, it's assigned to the cell + anchor box pair with the </a:t>
            </a:r>
            <a:r>
              <a:rPr lang="en-US" sz="1000" b="1" dirty="0">
                <a:solidFill>
                  <a:srgbClr val="FFD5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highest IoU</a:t>
            </a:r>
            <a:r>
              <a:rPr lang="en-US" sz="1000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The target output tensor has Pc=1 for that cell/anchor and Pc=0 for others.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33375" y="5270500"/>
            <a:ext cx="5699125" cy="1524000"/>
          </a:xfrm>
          <a:custGeom>
            <a:avLst/>
            <a:gdLst/>
            <a:ahLst/>
            <a:cxnLst/>
            <a:rect l="l" t="t" r="r" b="b"/>
            <a:pathLst>
              <a:path w="5699125" h="1524000">
                <a:moveTo>
                  <a:pt x="31750" y="0"/>
                </a:moveTo>
                <a:lnTo>
                  <a:pt x="5603879" y="0"/>
                </a:lnTo>
                <a:cubicBezTo>
                  <a:pt x="5656482" y="0"/>
                  <a:pt x="5699125" y="39363"/>
                  <a:pt x="5699125" y="87920"/>
                </a:cubicBezTo>
                <a:lnTo>
                  <a:pt x="5699125" y="1436080"/>
                </a:lnTo>
                <a:cubicBezTo>
                  <a:pt x="5699125" y="1484637"/>
                  <a:pt x="5656482" y="1524000"/>
                  <a:pt x="5603879" y="1524000"/>
                </a:cubicBezTo>
                <a:lnTo>
                  <a:pt x="31750" y="1524000"/>
                </a:lnTo>
                <a:cubicBezTo>
                  <a:pt x="14227" y="1524000"/>
                  <a:pt x="0" y="1510868"/>
                  <a:pt x="0" y="1494692"/>
                </a:cubicBezTo>
                <a:lnTo>
                  <a:pt x="0" y="29308"/>
                </a:lnTo>
                <a:cubicBezTo>
                  <a:pt x="0" y="13132"/>
                  <a:pt x="14227" y="0"/>
                  <a:pt x="31750" y="0"/>
                </a:cubicBezTo>
                <a:close/>
              </a:path>
            </a:pathLst>
          </a:custGeom>
          <a:solidFill>
            <a:srgbClr val="263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33374" y="5270500"/>
            <a:ext cx="45719" cy="1524000"/>
          </a:xfrm>
          <a:custGeom>
            <a:avLst/>
            <a:gdLst/>
            <a:ahLst/>
            <a:cxnLst/>
            <a:rect l="l" t="t" r="r" b="b"/>
            <a:pathLst>
              <a:path w="31750" h="1651000">
                <a:moveTo>
                  <a:pt x="31750" y="0"/>
                </a:moveTo>
                <a:lnTo>
                  <a:pt x="31750" y="0"/>
                </a:lnTo>
                <a:lnTo>
                  <a:pt x="31750" y="1651000"/>
                </a:lnTo>
                <a:lnTo>
                  <a:pt x="31750" y="1651000"/>
                </a:lnTo>
                <a:cubicBezTo>
                  <a:pt x="14227" y="1651000"/>
                  <a:pt x="0" y="1636773"/>
                  <a:pt x="0" y="1619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76250" y="539750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44500" y="5397500"/>
            <a:ext cx="381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Q8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89000" y="5397500"/>
            <a:ext cx="5087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Compare two-stage (R-CNN) vs one-stage (YOLO) detectors.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89000" y="5683250"/>
            <a:ext cx="5016500" cy="1111250"/>
          </a:xfrm>
          <a:custGeom>
            <a:avLst/>
            <a:gdLst/>
            <a:ahLst/>
            <a:cxnLst/>
            <a:rect l="l" t="t" r="r" b="b"/>
            <a:pathLst>
              <a:path w="5016500" h="1111250">
                <a:moveTo>
                  <a:pt x="63497" y="0"/>
                </a:moveTo>
                <a:lnTo>
                  <a:pt x="4953003" y="0"/>
                </a:lnTo>
                <a:cubicBezTo>
                  <a:pt x="4988072" y="0"/>
                  <a:pt x="5016500" y="28428"/>
                  <a:pt x="5016500" y="63497"/>
                </a:cubicBezTo>
                <a:lnTo>
                  <a:pt x="5016500" y="1047753"/>
                </a:lnTo>
                <a:cubicBezTo>
                  <a:pt x="5016500" y="1082822"/>
                  <a:pt x="4988072" y="1111250"/>
                  <a:pt x="4953003" y="1111250"/>
                </a:cubicBezTo>
                <a:lnTo>
                  <a:pt x="63497" y="1111250"/>
                </a:lnTo>
                <a:cubicBezTo>
                  <a:pt x="28428" y="1111250"/>
                  <a:pt x="0" y="1082822"/>
                  <a:pt x="0" y="1047753"/>
                </a:cubicBezTo>
                <a:lnTo>
                  <a:pt x="0" y="63497"/>
                </a:lnTo>
                <a:cubicBezTo>
                  <a:pt x="0" y="28428"/>
                  <a:pt x="28428" y="0"/>
                  <a:pt x="63497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1016000" y="5803902"/>
            <a:ext cx="95250" cy="127000"/>
          </a:xfrm>
          <a:custGeom>
            <a:avLst/>
            <a:gdLst/>
            <a:ahLst/>
            <a:cxnLst/>
            <a:rect l="l" t="t" r="r" b="b"/>
            <a:pathLst>
              <a:path w="95250" h="127000">
                <a:moveTo>
                  <a:pt x="72653" y="95250"/>
                </a:moveTo>
                <a:cubicBezTo>
                  <a:pt x="74464" y="89719"/>
                  <a:pt x="78085" y="84708"/>
                  <a:pt x="82178" y="80392"/>
                </a:cubicBezTo>
                <a:cubicBezTo>
                  <a:pt x="90289" y="71859"/>
                  <a:pt x="95250" y="60325"/>
                  <a:pt x="95250" y="47625"/>
                </a:cubicBezTo>
                <a:cubicBezTo>
                  <a:pt x="95250" y="21332"/>
                  <a:pt x="73918" y="0"/>
                  <a:pt x="47625" y="0"/>
                </a:cubicBezTo>
                <a:cubicBezTo>
                  <a:pt x="21332" y="0"/>
                  <a:pt x="0" y="21332"/>
                  <a:pt x="0" y="47625"/>
                </a:cubicBezTo>
                <a:cubicBezTo>
                  <a:pt x="0" y="60325"/>
                  <a:pt x="4961" y="71859"/>
                  <a:pt x="13072" y="80392"/>
                </a:cubicBezTo>
                <a:cubicBezTo>
                  <a:pt x="17165" y="84708"/>
                  <a:pt x="20811" y="89719"/>
                  <a:pt x="22597" y="95250"/>
                </a:cubicBezTo>
                <a:lnTo>
                  <a:pt x="72628" y="95250"/>
                </a:lnTo>
                <a:close/>
                <a:moveTo>
                  <a:pt x="71438" y="107156"/>
                </a:moveTo>
                <a:lnTo>
                  <a:pt x="23812" y="107156"/>
                </a:lnTo>
                <a:lnTo>
                  <a:pt x="23812" y="111125"/>
                </a:lnTo>
                <a:cubicBezTo>
                  <a:pt x="23812" y="122089"/>
                  <a:pt x="32693" y="130969"/>
                  <a:pt x="43656" y="130969"/>
                </a:cubicBezTo>
                <a:lnTo>
                  <a:pt x="51594" y="130969"/>
                </a:lnTo>
                <a:cubicBezTo>
                  <a:pt x="62557" y="130969"/>
                  <a:pt x="71438" y="122089"/>
                  <a:pt x="71438" y="111125"/>
                </a:cubicBezTo>
                <a:lnTo>
                  <a:pt x="71438" y="107156"/>
                </a:lnTo>
                <a:close/>
                <a:moveTo>
                  <a:pt x="45641" y="27781"/>
                </a:moveTo>
                <a:cubicBezTo>
                  <a:pt x="35768" y="27781"/>
                  <a:pt x="27781" y="35768"/>
                  <a:pt x="27781" y="45641"/>
                </a:cubicBezTo>
                <a:cubicBezTo>
                  <a:pt x="27781" y="48940"/>
                  <a:pt x="25127" y="51594"/>
                  <a:pt x="21828" y="51594"/>
                </a:cubicBezTo>
                <a:cubicBezTo>
                  <a:pt x="18529" y="51594"/>
                  <a:pt x="15875" y="48940"/>
                  <a:pt x="15875" y="45641"/>
                </a:cubicBezTo>
                <a:cubicBezTo>
                  <a:pt x="15875" y="29195"/>
                  <a:pt x="29195" y="15875"/>
                  <a:pt x="45641" y="15875"/>
                </a:cubicBezTo>
                <a:cubicBezTo>
                  <a:pt x="48940" y="15875"/>
                  <a:pt x="51594" y="18529"/>
                  <a:pt x="51594" y="21828"/>
                </a:cubicBezTo>
                <a:cubicBezTo>
                  <a:pt x="51594" y="25127"/>
                  <a:pt x="48940" y="27781"/>
                  <a:pt x="45641" y="27781"/>
                </a:cubicBezTo>
                <a:close/>
              </a:path>
            </a:pathLst>
          </a:custGeom>
          <a:solidFill>
            <a:srgbClr val="FFD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1182688" y="5778500"/>
            <a:ext cx="4691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D5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Answer: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984250" y="6000750"/>
            <a:ext cx="2381250" cy="698500"/>
          </a:xfrm>
          <a:custGeom>
            <a:avLst/>
            <a:gdLst/>
            <a:ahLst/>
            <a:cxnLst/>
            <a:rect l="l" t="t" r="r" b="b"/>
            <a:pathLst>
              <a:path w="2381250" h="698500">
                <a:moveTo>
                  <a:pt x="31747" y="0"/>
                </a:moveTo>
                <a:lnTo>
                  <a:pt x="2349503" y="0"/>
                </a:lnTo>
                <a:cubicBezTo>
                  <a:pt x="2367036" y="0"/>
                  <a:pt x="2381250" y="14214"/>
                  <a:pt x="2381250" y="31747"/>
                </a:cubicBezTo>
                <a:lnTo>
                  <a:pt x="2381250" y="666753"/>
                </a:lnTo>
                <a:cubicBezTo>
                  <a:pt x="2381250" y="684286"/>
                  <a:pt x="2367036" y="698500"/>
                  <a:pt x="2349503" y="698500"/>
                </a:cubicBezTo>
                <a:lnTo>
                  <a:pt x="31747" y="698500"/>
                </a:lnTo>
                <a:cubicBezTo>
                  <a:pt x="14214" y="698500"/>
                  <a:pt x="0" y="684286"/>
                  <a:pt x="0" y="666753"/>
                </a:cubicBezTo>
                <a:lnTo>
                  <a:pt x="0" y="31747"/>
                </a:lnTo>
                <a:cubicBezTo>
                  <a:pt x="0" y="14225"/>
                  <a:pt x="14225" y="0"/>
                  <a:pt x="31747" y="0"/>
                </a:cubicBezTo>
                <a:close/>
              </a:path>
            </a:pathLst>
          </a:custGeom>
          <a:solidFill>
            <a:srgbClr val="263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1047750" y="6064250"/>
            <a:ext cx="2317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Two-Stage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047750" y="6254750"/>
            <a:ext cx="2317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Higher accuracy, slower (5-20 FPS), better for small objects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3429000" y="6000750"/>
            <a:ext cx="2381250" cy="698500"/>
          </a:xfrm>
          <a:custGeom>
            <a:avLst/>
            <a:gdLst/>
            <a:ahLst/>
            <a:cxnLst/>
            <a:rect l="l" t="t" r="r" b="b"/>
            <a:pathLst>
              <a:path w="2381250" h="698500">
                <a:moveTo>
                  <a:pt x="31747" y="0"/>
                </a:moveTo>
                <a:lnTo>
                  <a:pt x="2349503" y="0"/>
                </a:lnTo>
                <a:cubicBezTo>
                  <a:pt x="2367036" y="0"/>
                  <a:pt x="2381250" y="14214"/>
                  <a:pt x="2381250" y="31747"/>
                </a:cubicBezTo>
                <a:lnTo>
                  <a:pt x="2381250" y="666753"/>
                </a:lnTo>
                <a:cubicBezTo>
                  <a:pt x="2381250" y="684286"/>
                  <a:pt x="2367036" y="698500"/>
                  <a:pt x="2349503" y="698500"/>
                </a:cubicBezTo>
                <a:lnTo>
                  <a:pt x="31747" y="698500"/>
                </a:lnTo>
                <a:cubicBezTo>
                  <a:pt x="14214" y="698500"/>
                  <a:pt x="0" y="684286"/>
                  <a:pt x="0" y="666753"/>
                </a:cubicBezTo>
                <a:lnTo>
                  <a:pt x="0" y="31747"/>
                </a:lnTo>
                <a:cubicBezTo>
                  <a:pt x="0" y="14225"/>
                  <a:pt x="14225" y="0"/>
                  <a:pt x="31747" y="0"/>
                </a:cubicBezTo>
                <a:close/>
              </a:path>
            </a:pathLst>
          </a:custGeom>
          <a:solidFill>
            <a:srgbClr val="263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492500" y="6064250"/>
            <a:ext cx="2317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D5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One-Stage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3492500" y="6254750"/>
            <a:ext cx="2317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Faster (45+ FPS), simpler, good for real-time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175375" y="1301750"/>
            <a:ext cx="5699125" cy="1587500"/>
          </a:xfrm>
          <a:custGeom>
            <a:avLst/>
            <a:gdLst/>
            <a:ahLst/>
            <a:cxnLst/>
            <a:rect l="l" t="t" r="r" b="b"/>
            <a:pathLst>
              <a:path w="5699125" h="1587500">
                <a:moveTo>
                  <a:pt x="31750" y="0"/>
                </a:moveTo>
                <a:lnTo>
                  <a:pt x="5603875" y="0"/>
                </a:lnTo>
                <a:cubicBezTo>
                  <a:pt x="5656445" y="0"/>
                  <a:pt x="5699125" y="42680"/>
                  <a:pt x="5699125" y="95250"/>
                </a:cubicBezTo>
                <a:lnTo>
                  <a:pt x="5699125" y="1492250"/>
                </a:lnTo>
                <a:cubicBezTo>
                  <a:pt x="5699125" y="1544820"/>
                  <a:pt x="5656445" y="1587500"/>
                  <a:pt x="5603875" y="1587500"/>
                </a:cubicBezTo>
                <a:lnTo>
                  <a:pt x="31750" y="1587500"/>
                </a:lnTo>
                <a:cubicBezTo>
                  <a:pt x="14227" y="1587500"/>
                  <a:pt x="0" y="1573273"/>
                  <a:pt x="0" y="1555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63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6175375" y="1301750"/>
            <a:ext cx="31750" cy="1587500"/>
          </a:xfrm>
          <a:custGeom>
            <a:avLst/>
            <a:gdLst/>
            <a:ahLst/>
            <a:cxnLst/>
            <a:rect l="l" t="t" r="r" b="b"/>
            <a:pathLst>
              <a:path w="31750" h="1587500">
                <a:moveTo>
                  <a:pt x="31750" y="0"/>
                </a:moveTo>
                <a:lnTo>
                  <a:pt x="31750" y="0"/>
                </a:lnTo>
                <a:lnTo>
                  <a:pt x="31750" y="1587500"/>
                </a:lnTo>
                <a:lnTo>
                  <a:pt x="31750" y="1587500"/>
                </a:lnTo>
                <a:cubicBezTo>
                  <a:pt x="14227" y="1587500"/>
                  <a:pt x="0" y="1573273"/>
                  <a:pt x="0" y="1555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D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6318250" y="142875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FFD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286500" y="1428750"/>
            <a:ext cx="381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Q9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731000" y="1428750"/>
            <a:ext cx="5087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 are the three components of YOLO loss function?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731000" y="1714500"/>
            <a:ext cx="5016500" cy="1047750"/>
          </a:xfrm>
          <a:custGeom>
            <a:avLst/>
            <a:gdLst/>
            <a:ahLst/>
            <a:cxnLst/>
            <a:rect l="l" t="t" r="r" b="b"/>
            <a:pathLst>
              <a:path w="5016500" h="1047750">
                <a:moveTo>
                  <a:pt x="63504" y="0"/>
                </a:moveTo>
                <a:lnTo>
                  <a:pt x="4952996" y="0"/>
                </a:lnTo>
                <a:cubicBezTo>
                  <a:pt x="4988068" y="0"/>
                  <a:pt x="5016500" y="28432"/>
                  <a:pt x="5016500" y="63504"/>
                </a:cubicBezTo>
                <a:lnTo>
                  <a:pt x="5016500" y="984246"/>
                </a:lnTo>
                <a:cubicBezTo>
                  <a:pt x="5016500" y="1019318"/>
                  <a:pt x="4988068" y="1047750"/>
                  <a:pt x="4952996" y="1047750"/>
                </a:cubicBezTo>
                <a:lnTo>
                  <a:pt x="63504" y="1047750"/>
                </a:lnTo>
                <a:cubicBezTo>
                  <a:pt x="28432" y="1047750"/>
                  <a:pt x="0" y="1019318"/>
                  <a:pt x="0" y="984246"/>
                </a:cubicBezTo>
                <a:lnTo>
                  <a:pt x="0" y="63504"/>
                </a:lnTo>
                <a:cubicBezTo>
                  <a:pt x="0" y="28432"/>
                  <a:pt x="28432" y="0"/>
                  <a:pt x="63504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6858000" y="1835152"/>
            <a:ext cx="95250" cy="127000"/>
          </a:xfrm>
          <a:custGeom>
            <a:avLst/>
            <a:gdLst/>
            <a:ahLst/>
            <a:cxnLst/>
            <a:rect l="l" t="t" r="r" b="b"/>
            <a:pathLst>
              <a:path w="95250" h="127000">
                <a:moveTo>
                  <a:pt x="72653" y="95250"/>
                </a:moveTo>
                <a:cubicBezTo>
                  <a:pt x="74464" y="89719"/>
                  <a:pt x="78085" y="84708"/>
                  <a:pt x="82178" y="80392"/>
                </a:cubicBezTo>
                <a:cubicBezTo>
                  <a:pt x="90289" y="71859"/>
                  <a:pt x="95250" y="60325"/>
                  <a:pt x="95250" y="47625"/>
                </a:cubicBezTo>
                <a:cubicBezTo>
                  <a:pt x="95250" y="21332"/>
                  <a:pt x="73918" y="0"/>
                  <a:pt x="47625" y="0"/>
                </a:cubicBezTo>
                <a:cubicBezTo>
                  <a:pt x="21332" y="0"/>
                  <a:pt x="0" y="21332"/>
                  <a:pt x="0" y="47625"/>
                </a:cubicBezTo>
                <a:cubicBezTo>
                  <a:pt x="0" y="60325"/>
                  <a:pt x="4961" y="71859"/>
                  <a:pt x="13072" y="80392"/>
                </a:cubicBezTo>
                <a:cubicBezTo>
                  <a:pt x="17165" y="84708"/>
                  <a:pt x="20811" y="89719"/>
                  <a:pt x="22597" y="95250"/>
                </a:cubicBezTo>
                <a:lnTo>
                  <a:pt x="72628" y="95250"/>
                </a:lnTo>
                <a:close/>
                <a:moveTo>
                  <a:pt x="71438" y="107156"/>
                </a:moveTo>
                <a:lnTo>
                  <a:pt x="23812" y="107156"/>
                </a:lnTo>
                <a:lnTo>
                  <a:pt x="23812" y="111125"/>
                </a:lnTo>
                <a:cubicBezTo>
                  <a:pt x="23812" y="122089"/>
                  <a:pt x="32693" y="130969"/>
                  <a:pt x="43656" y="130969"/>
                </a:cubicBezTo>
                <a:lnTo>
                  <a:pt x="51594" y="130969"/>
                </a:lnTo>
                <a:cubicBezTo>
                  <a:pt x="62557" y="130969"/>
                  <a:pt x="71438" y="122089"/>
                  <a:pt x="71438" y="111125"/>
                </a:cubicBezTo>
                <a:lnTo>
                  <a:pt x="71438" y="107156"/>
                </a:lnTo>
                <a:close/>
                <a:moveTo>
                  <a:pt x="45641" y="27781"/>
                </a:moveTo>
                <a:cubicBezTo>
                  <a:pt x="35768" y="27781"/>
                  <a:pt x="27781" y="35768"/>
                  <a:pt x="27781" y="45641"/>
                </a:cubicBezTo>
                <a:cubicBezTo>
                  <a:pt x="27781" y="48940"/>
                  <a:pt x="25127" y="51594"/>
                  <a:pt x="21828" y="51594"/>
                </a:cubicBezTo>
                <a:cubicBezTo>
                  <a:pt x="18529" y="51594"/>
                  <a:pt x="15875" y="48940"/>
                  <a:pt x="15875" y="45641"/>
                </a:cubicBezTo>
                <a:cubicBezTo>
                  <a:pt x="15875" y="29195"/>
                  <a:pt x="29195" y="15875"/>
                  <a:pt x="45641" y="15875"/>
                </a:cubicBezTo>
                <a:cubicBezTo>
                  <a:pt x="48940" y="15875"/>
                  <a:pt x="51594" y="18529"/>
                  <a:pt x="51594" y="21828"/>
                </a:cubicBezTo>
                <a:cubicBezTo>
                  <a:pt x="51594" y="25127"/>
                  <a:pt x="48940" y="27781"/>
                  <a:pt x="45641" y="27781"/>
                </a:cubicBezTo>
                <a:close/>
              </a:path>
            </a:pathLst>
          </a:custGeom>
          <a:solidFill>
            <a:srgbClr val="FFD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7024688" y="1809750"/>
            <a:ext cx="4691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D5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Answer: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826250" y="2032000"/>
            <a:ext cx="4889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 Coordinate Loss:</a:t>
            </a:r>
            <a:r>
              <a:rPr lang="en-US" sz="1000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MSE for bounding box coordinates (bx, by, bw, bh)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826250" y="2254250"/>
            <a:ext cx="4889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 Confidence Loss:</a:t>
            </a:r>
            <a:r>
              <a:rPr lang="en-US" sz="1000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objectness prediction (Pc)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826250" y="2476500"/>
            <a:ext cx="4889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 Classification Loss:</a:t>
            </a:r>
            <a:r>
              <a:rPr lang="en-US" sz="1000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Cross-entropy for class probabilities (C1, C2, C3...)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175375" y="2984500"/>
            <a:ext cx="5699125" cy="1587500"/>
          </a:xfrm>
          <a:custGeom>
            <a:avLst/>
            <a:gdLst/>
            <a:ahLst/>
            <a:cxnLst/>
            <a:rect l="l" t="t" r="r" b="b"/>
            <a:pathLst>
              <a:path w="5699125" h="1587500">
                <a:moveTo>
                  <a:pt x="31750" y="0"/>
                </a:moveTo>
                <a:lnTo>
                  <a:pt x="5603875" y="0"/>
                </a:lnTo>
                <a:cubicBezTo>
                  <a:pt x="5656445" y="0"/>
                  <a:pt x="5699125" y="42680"/>
                  <a:pt x="5699125" y="95250"/>
                </a:cubicBezTo>
                <a:lnTo>
                  <a:pt x="5699125" y="1492250"/>
                </a:lnTo>
                <a:cubicBezTo>
                  <a:pt x="5699125" y="1544820"/>
                  <a:pt x="5656445" y="1587500"/>
                  <a:pt x="5603875" y="1587500"/>
                </a:cubicBezTo>
                <a:lnTo>
                  <a:pt x="31750" y="1587500"/>
                </a:lnTo>
                <a:cubicBezTo>
                  <a:pt x="14227" y="1587500"/>
                  <a:pt x="0" y="1573273"/>
                  <a:pt x="0" y="1555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63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6175375" y="2984500"/>
            <a:ext cx="31750" cy="1587500"/>
          </a:xfrm>
          <a:custGeom>
            <a:avLst/>
            <a:gdLst/>
            <a:ahLst/>
            <a:cxnLst/>
            <a:rect l="l" t="t" r="r" b="b"/>
            <a:pathLst>
              <a:path w="31750" h="1587500">
                <a:moveTo>
                  <a:pt x="31750" y="0"/>
                </a:moveTo>
                <a:lnTo>
                  <a:pt x="31750" y="0"/>
                </a:lnTo>
                <a:lnTo>
                  <a:pt x="31750" y="1587500"/>
                </a:lnTo>
                <a:lnTo>
                  <a:pt x="31750" y="1587500"/>
                </a:lnTo>
                <a:cubicBezTo>
                  <a:pt x="14227" y="1587500"/>
                  <a:pt x="0" y="1573273"/>
                  <a:pt x="0" y="1555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6318250" y="311150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6286500" y="3111500"/>
            <a:ext cx="381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Q10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6731000" y="3111500"/>
            <a:ext cx="5087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Explain YOLO architecture: Backbone, Neck, and Head.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731000" y="3397250"/>
            <a:ext cx="5016500" cy="1047750"/>
          </a:xfrm>
          <a:custGeom>
            <a:avLst/>
            <a:gdLst/>
            <a:ahLst/>
            <a:cxnLst/>
            <a:rect l="l" t="t" r="r" b="b"/>
            <a:pathLst>
              <a:path w="5016500" h="1047750">
                <a:moveTo>
                  <a:pt x="63504" y="0"/>
                </a:moveTo>
                <a:lnTo>
                  <a:pt x="4952996" y="0"/>
                </a:lnTo>
                <a:cubicBezTo>
                  <a:pt x="4988068" y="0"/>
                  <a:pt x="5016500" y="28432"/>
                  <a:pt x="5016500" y="63504"/>
                </a:cubicBezTo>
                <a:lnTo>
                  <a:pt x="5016500" y="984246"/>
                </a:lnTo>
                <a:cubicBezTo>
                  <a:pt x="5016500" y="1019318"/>
                  <a:pt x="4988068" y="1047750"/>
                  <a:pt x="4952996" y="1047750"/>
                </a:cubicBezTo>
                <a:lnTo>
                  <a:pt x="63504" y="1047750"/>
                </a:lnTo>
                <a:cubicBezTo>
                  <a:pt x="28432" y="1047750"/>
                  <a:pt x="0" y="1019318"/>
                  <a:pt x="0" y="984246"/>
                </a:cubicBezTo>
                <a:lnTo>
                  <a:pt x="0" y="63504"/>
                </a:lnTo>
                <a:cubicBezTo>
                  <a:pt x="0" y="28432"/>
                  <a:pt x="28432" y="0"/>
                  <a:pt x="63504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6858000" y="3517902"/>
            <a:ext cx="95250" cy="127000"/>
          </a:xfrm>
          <a:custGeom>
            <a:avLst/>
            <a:gdLst/>
            <a:ahLst/>
            <a:cxnLst/>
            <a:rect l="l" t="t" r="r" b="b"/>
            <a:pathLst>
              <a:path w="95250" h="127000">
                <a:moveTo>
                  <a:pt x="72653" y="95250"/>
                </a:moveTo>
                <a:cubicBezTo>
                  <a:pt x="74464" y="89719"/>
                  <a:pt x="78085" y="84708"/>
                  <a:pt x="82178" y="80392"/>
                </a:cubicBezTo>
                <a:cubicBezTo>
                  <a:pt x="90289" y="71859"/>
                  <a:pt x="95250" y="60325"/>
                  <a:pt x="95250" y="47625"/>
                </a:cubicBezTo>
                <a:cubicBezTo>
                  <a:pt x="95250" y="21332"/>
                  <a:pt x="73918" y="0"/>
                  <a:pt x="47625" y="0"/>
                </a:cubicBezTo>
                <a:cubicBezTo>
                  <a:pt x="21332" y="0"/>
                  <a:pt x="0" y="21332"/>
                  <a:pt x="0" y="47625"/>
                </a:cubicBezTo>
                <a:cubicBezTo>
                  <a:pt x="0" y="60325"/>
                  <a:pt x="4961" y="71859"/>
                  <a:pt x="13072" y="80392"/>
                </a:cubicBezTo>
                <a:cubicBezTo>
                  <a:pt x="17165" y="84708"/>
                  <a:pt x="20811" y="89719"/>
                  <a:pt x="22597" y="95250"/>
                </a:cubicBezTo>
                <a:lnTo>
                  <a:pt x="72628" y="95250"/>
                </a:lnTo>
                <a:close/>
                <a:moveTo>
                  <a:pt x="71438" y="107156"/>
                </a:moveTo>
                <a:lnTo>
                  <a:pt x="23812" y="107156"/>
                </a:lnTo>
                <a:lnTo>
                  <a:pt x="23812" y="111125"/>
                </a:lnTo>
                <a:cubicBezTo>
                  <a:pt x="23812" y="122089"/>
                  <a:pt x="32693" y="130969"/>
                  <a:pt x="43656" y="130969"/>
                </a:cubicBezTo>
                <a:lnTo>
                  <a:pt x="51594" y="130969"/>
                </a:lnTo>
                <a:cubicBezTo>
                  <a:pt x="62557" y="130969"/>
                  <a:pt x="71438" y="122089"/>
                  <a:pt x="71438" y="111125"/>
                </a:cubicBezTo>
                <a:lnTo>
                  <a:pt x="71438" y="107156"/>
                </a:lnTo>
                <a:close/>
                <a:moveTo>
                  <a:pt x="45641" y="27781"/>
                </a:moveTo>
                <a:cubicBezTo>
                  <a:pt x="35768" y="27781"/>
                  <a:pt x="27781" y="35768"/>
                  <a:pt x="27781" y="45641"/>
                </a:cubicBezTo>
                <a:cubicBezTo>
                  <a:pt x="27781" y="48940"/>
                  <a:pt x="25127" y="51594"/>
                  <a:pt x="21828" y="51594"/>
                </a:cubicBezTo>
                <a:cubicBezTo>
                  <a:pt x="18529" y="51594"/>
                  <a:pt x="15875" y="48940"/>
                  <a:pt x="15875" y="45641"/>
                </a:cubicBezTo>
                <a:cubicBezTo>
                  <a:pt x="15875" y="29195"/>
                  <a:pt x="29195" y="15875"/>
                  <a:pt x="45641" y="15875"/>
                </a:cubicBezTo>
                <a:cubicBezTo>
                  <a:pt x="48940" y="15875"/>
                  <a:pt x="51594" y="18529"/>
                  <a:pt x="51594" y="21828"/>
                </a:cubicBezTo>
                <a:cubicBezTo>
                  <a:pt x="51594" y="25127"/>
                  <a:pt x="48940" y="27781"/>
                  <a:pt x="45641" y="27781"/>
                </a:cubicBezTo>
                <a:close/>
              </a:path>
            </a:pathLst>
          </a:custGeom>
          <a:solidFill>
            <a:srgbClr val="FFD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7024688" y="3492500"/>
            <a:ext cx="4691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D5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Answer: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6826250" y="3714750"/>
            <a:ext cx="4889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Backbone:</a:t>
            </a:r>
            <a:r>
              <a:rPr lang="en-US" sz="1000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CNN for feature extraction (e.g., Darknet-53, ResNet)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6826250" y="3937000"/>
            <a:ext cx="4889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Neck:</a:t>
            </a:r>
            <a:r>
              <a:rPr lang="en-US" sz="1000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Feature fusion layer (FPN, PANet) that aggregates multi-scale features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6826250" y="4159250"/>
            <a:ext cx="4889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Head:</a:t>
            </a:r>
            <a:r>
              <a:rPr lang="en-US" sz="1000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Detection layer that outputs bounding boxes and class predictions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6175375" y="4667250"/>
            <a:ext cx="5699125" cy="1524000"/>
          </a:xfrm>
          <a:custGeom>
            <a:avLst/>
            <a:gdLst/>
            <a:ahLst/>
            <a:cxnLst/>
            <a:rect l="l" t="t" r="r" b="b"/>
            <a:pathLst>
              <a:path w="5699125" h="1524000">
                <a:moveTo>
                  <a:pt x="31750" y="0"/>
                </a:moveTo>
                <a:lnTo>
                  <a:pt x="5603875" y="0"/>
                </a:lnTo>
                <a:cubicBezTo>
                  <a:pt x="5656445" y="0"/>
                  <a:pt x="5699125" y="42680"/>
                  <a:pt x="5699125" y="95250"/>
                </a:cubicBezTo>
                <a:lnTo>
                  <a:pt x="5699125" y="1428750"/>
                </a:lnTo>
                <a:cubicBezTo>
                  <a:pt x="5699125" y="1481320"/>
                  <a:pt x="5656445" y="1524000"/>
                  <a:pt x="5603875" y="1524000"/>
                </a:cubicBezTo>
                <a:lnTo>
                  <a:pt x="31750" y="1524000"/>
                </a:lnTo>
                <a:cubicBezTo>
                  <a:pt x="14215" y="1524000"/>
                  <a:pt x="0" y="1509785"/>
                  <a:pt x="0" y="1492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63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6175375" y="4667250"/>
            <a:ext cx="31750" cy="1524000"/>
          </a:xfrm>
          <a:custGeom>
            <a:avLst/>
            <a:gdLst/>
            <a:ahLst/>
            <a:cxnLst/>
            <a:rect l="l" t="t" r="r" b="b"/>
            <a:pathLst>
              <a:path w="31750" h="1524000">
                <a:moveTo>
                  <a:pt x="31750" y="0"/>
                </a:moveTo>
                <a:lnTo>
                  <a:pt x="31750" y="0"/>
                </a:lnTo>
                <a:lnTo>
                  <a:pt x="31750" y="1524000"/>
                </a:lnTo>
                <a:lnTo>
                  <a:pt x="31750" y="1524000"/>
                </a:lnTo>
                <a:cubicBezTo>
                  <a:pt x="14227" y="1524000"/>
                  <a:pt x="0" y="1509773"/>
                  <a:pt x="0" y="1492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D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6318250" y="479425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FFD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6286500" y="4794250"/>
            <a:ext cx="381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Q11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6731000" y="4794250"/>
            <a:ext cx="5087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When would you choose YOLO over Faster R-CNN?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6731000" y="5080000"/>
            <a:ext cx="5016500" cy="984250"/>
          </a:xfrm>
          <a:custGeom>
            <a:avLst/>
            <a:gdLst/>
            <a:ahLst/>
            <a:cxnLst/>
            <a:rect l="l" t="t" r="r" b="b"/>
            <a:pathLst>
              <a:path w="5016500" h="984250">
                <a:moveTo>
                  <a:pt x="63504" y="0"/>
                </a:moveTo>
                <a:lnTo>
                  <a:pt x="4952996" y="0"/>
                </a:lnTo>
                <a:cubicBezTo>
                  <a:pt x="4988068" y="0"/>
                  <a:pt x="5016500" y="28432"/>
                  <a:pt x="5016500" y="63504"/>
                </a:cubicBezTo>
                <a:lnTo>
                  <a:pt x="5016500" y="920746"/>
                </a:lnTo>
                <a:cubicBezTo>
                  <a:pt x="5016500" y="955818"/>
                  <a:pt x="4988068" y="984250"/>
                  <a:pt x="4952996" y="984250"/>
                </a:cubicBezTo>
                <a:lnTo>
                  <a:pt x="63504" y="984250"/>
                </a:lnTo>
                <a:cubicBezTo>
                  <a:pt x="28432" y="984250"/>
                  <a:pt x="0" y="955818"/>
                  <a:pt x="0" y="920746"/>
                </a:cubicBezTo>
                <a:lnTo>
                  <a:pt x="0" y="63504"/>
                </a:lnTo>
                <a:cubicBezTo>
                  <a:pt x="0" y="28455"/>
                  <a:pt x="28455" y="0"/>
                  <a:pt x="63504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6858000" y="5200652"/>
            <a:ext cx="95250" cy="127000"/>
          </a:xfrm>
          <a:custGeom>
            <a:avLst/>
            <a:gdLst/>
            <a:ahLst/>
            <a:cxnLst/>
            <a:rect l="l" t="t" r="r" b="b"/>
            <a:pathLst>
              <a:path w="95250" h="127000">
                <a:moveTo>
                  <a:pt x="72653" y="95250"/>
                </a:moveTo>
                <a:cubicBezTo>
                  <a:pt x="74464" y="89719"/>
                  <a:pt x="78085" y="84708"/>
                  <a:pt x="82178" y="80392"/>
                </a:cubicBezTo>
                <a:cubicBezTo>
                  <a:pt x="90289" y="71859"/>
                  <a:pt x="95250" y="60325"/>
                  <a:pt x="95250" y="47625"/>
                </a:cubicBezTo>
                <a:cubicBezTo>
                  <a:pt x="95250" y="21332"/>
                  <a:pt x="73918" y="0"/>
                  <a:pt x="47625" y="0"/>
                </a:cubicBezTo>
                <a:cubicBezTo>
                  <a:pt x="21332" y="0"/>
                  <a:pt x="0" y="21332"/>
                  <a:pt x="0" y="47625"/>
                </a:cubicBezTo>
                <a:cubicBezTo>
                  <a:pt x="0" y="60325"/>
                  <a:pt x="4961" y="71859"/>
                  <a:pt x="13072" y="80392"/>
                </a:cubicBezTo>
                <a:cubicBezTo>
                  <a:pt x="17165" y="84708"/>
                  <a:pt x="20811" y="89719"/>
                  <a:pt x="22597" y="95250"/>
                </a:cubicBezTo>
                <a:lnTo>
                  <a:pt x="72628" y="95250"/>
                </a:lnTo>
                <a:close/>
                <a:moveTo>
                  <a:pt x="71438" y="107156"/>
                </a:moveTo>
                <a:lnTo>
                  <a:pt x="23812" y="107156"/>
                </a:lnTo>
                <a:lnTo>
                  <a:pt x="23812" y="111125"/>
                </a:lnTo>
                <a:cubicBezTo>
                  <a:pt x="23812" y="122089"/>
                  <a:pt x="32693" y="130969"/>
                  <a:pt x="43656" y="130969"/>
                </a:cubicBezTo>
                <a:lnTo>
                  <a:pt x="51594" y="130969"/>
                </a:lnTo>
                <a:cubicBezTo>
                  <a:pt x="62557" y="130969"/>
                  <a:pt x="71438" y="122089"/>
                  <a:pt x="71438" y="111125"/>
                </a:cubicBezTo>
                <a:lnTo>
                  <a:pt x="71438" y="107156"/>
                </a:lnTo>
                <a:close/>
                <a:moveTo>
                  <a:pt x="45641" y="27781"/>
                </a:moveTo>
                <a:cubicBezTo>
                  <a:pt x="35768" y="27781"/>
                  <a:pt x="27781" y="35768"/>
                  <a:pt x="27781" y="45641"/>
                </a:cubicBezTo>
                <a:cubicBezTo>
                  <a:pt x="27781" y="48940"/>
                  <a:pt x="25127" y="51594"/>
                  <a:pt x="21828" y="51594"/>
                </a:cubicBezTo>
                <a:cubicBezTo>
                  <a:pt x="18529" y="51594"/>
                  <a:pt x="15875" y="48940"/>
                  <a:pt x="15875" y="45641"/>
                </a:cubicBezTo>
                <a:cubicBezTo>
                  <a:pt x="15875" y="29195"/>
                  <a:pt x="29195" y="15875"/>
                  <a:pt x="45641" y="15875"/>
                </a:cubicBezTo>
                <a:cubicBezTo>
                  <a:pt x="48940" y="15875"/>
                  <a:pt x="51594" y="18529"/>
                  <a:pt x="51594" y="21828"/>
                </a:cubicBezTo>
                <a:cubicBezTo>
                  <a:pt x="51594" y="25127"/>
                  <a:pt x="48940" y="27781"/>
                  <a:pt x="45641" y="27781"/>
                </a:cubicBezTo>
                <a:close/>
              </a:path>
            </a:pathLst>
          </a:custGeom>
          <a:solidFill>
            <a:srgbClr val="FFD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7024688" y="5175250"/>
            <a:ext cx="4691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D5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Answer: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6826250" y="5397500"/>
            <a:ext cx="4889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Choose </a:t>
            </a:r>
            <a:r>
              <a:rPr lang="en-US" sz="1000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YOLO</a:t>
            </a:r>
            <a:r>
              <a:rPr lang="en-US" sz="1000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real-time applications (autonomous driving, surveillance) where speed (45+ FPS) is critical. Choose </a:t>
            </a:r>
            <a:r>
              <a:rPr lang="en-US" sz="1000" b="1" dirty="0">
                <a:solidFill>
                  <a:srgbClr val="FFD5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Faster R-CNN</a:t>
            </a:r>
            <a:r>
              <a:rPr lang="en-US" sz="1000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when accuracy is paramount (medical imaging, research) and speed is less important.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4DB6AC">
                  <a:alpha val="10000"/>
                </a:srgbClr>
              </a:gs>
              <a:gs pos="50000">
                <a:srgbClr val="000000">
                  <a:alpha val="0"/>
                </a:srgbClr>
              </a:gs>
              <a:gs pos="100000">
                <a:srgbClr val="FFD54F">
                  <a:alpha val="1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81000" y="621274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926074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Takeaways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00050" y="1611874"/>
            <a:ext cx="5619750" cy="1181100"/>
          </a:xfrm>
          <a:custGeom>
            <a:avLst/>
            <a:gdLst/>
            <a:ahLst/>
            <a:cxnLst/>
            <a:rect l="l" t="t" r="r" b="b"/>
            <a:pathLst>
              <a:path w="5619750" h="1181100">
                <a:moveTo>
                  <a:pt x="38100" y="0"/>
                </a:moveTo>
                <a:lnTo>
                  <a:pt x="5505455" y="0"/>
                </a:lnTo>
                <a:cubicBezTo>
                  <a:pt x="5568578" y="0"/>
                  <a:pt x="5619750" y="51172"/>
                  <a:pt x="5619750" y="114295"/>
                </a:cubicBezTo>
                <a:lnTo>
                  <a:pt x="5619750" y="1066805"/>
                </a:lnTo>
                <a:cubicBezTo>
                  <a:pt x="5619750" y="1129928"/>
                  <a:pt x="5568578" y="1181100"/>
                  <a:pt x="5505455" y="1181100"/>
                </a:cubicBezTo>
                <a:lnTo>
                  <a:pt x="38100" y="1181100"/>
                </a:lnTo>
                <a:cubicBezTo>
                  <a:pt x="17072" y="1181100"/>
                  <a:pt x="0" y="1164028"/>
                  <a:pt x="0" y="1143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63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00050" y="1611874"/>
            <a:ext cx="38100" cy="1181100"/>
          </a:xfrm>
          <a:custGeom>
            <a:avLst/>
            <a:gdLst/>
            <a:ahLst/>
            <a:cxnLst/>
            <a:rect l="l" t="t" r="r" b="b"/>
            <a:pathLst>
              <a:path w="38100" h="1181100">
                <a:moveTo>
                  <a:pt x="38100" y="0"/>
                </a:moveTo>
                <a:lnTo>
                  <a:pt x="38100" y="0"/>
                </a:lnTo>
                <a:lnTo>
                  <a:pt x="38100" y="1181100"/>
                </a:lnTo>
                <a:lnTo>
                  <a:pt x="38100" y="1181100"/>
                </a:lnTo>
                <a:cubicBezTo>
                  <a:pt x="17072" y="1181100"/>
                  <a:pt x="0" y="1164028"/>
                  <a:pt x="0" y="1143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71500" y="1764274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79847" y="1888099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172734" y="-10548"/>
                </a:moveTo>
                <a:cubicBezTo>
                  <a:pt x="170445" y="-15013"/>
                  <a:pt x="165813" y="-17859"/>
                  <a:pt x="160790" y="-17859"/>
                </a:cubicBezTo>
                <a:cubicBezTo>
                  <a:pt x="155767" y="-17859"/>
                  <a:pt x="151135" y="-15013"/>
                  <a:pt x="148847" y="-10548"/>
                </a:cubicBezTo>
                <a:lnTo>
                  <a:pt x="107770" y="69931"/>
                </a:lnTo>
                <a:lnTo>
                  <a:pt x="18529" y="84106"/>
                </a:lnTo>
                <a:cubicBezTo>
                  <a:pt x="13562" y="84888"/>
                  <a:pt x="9432" y="88404"/>
                  <a:pt x="7869" y="93204"/>
                </a:cubicBezTo>
                <a:cubicBezTo>
                  <a:pt x="6307" y="98003"/>
                  <a:pt x="7590" y="103250"/>
                  <a:pt x="11106" y="106821"/>
                </a:cubicBezTo>
                <a:lnTo>
                  <a:pt x="74954" y="170724"/>
                </a:lnTo>
                <a:lnTo>
                  <a:pt x="60889" y="259966"/>
                </a:lnTo>
                <a:cubicBezTo>
                  <a:pt x="60108" y="264933"/>
                  <a:pt x="62173" y="269956"/>
                  <a:pt x="66247" y="272914"/>
                </a:cubicBezTo>
                <a:cubicBezTo>
                  <a:pt x="70321" y="275872"/>
                  <a:pt x="75679" y="276318"/>
                  <a:pt x="80200" y="274030"/>
                </a:cubicBezTo>
                <a:lnTo>
                  <a:pt x="160790" y="233065"/>
                </a:lnTo>
                <a:lnTo>
                  <a:pt x="241325" y="274030"/>
                </a:lnTo>
                <a:cubicBezTo>
                  <a:pt x="245790" y="276318"/>
                  <a:pt x="251203" y="275872"/>
                  <a:pt x="255277" y="272914"/>
                </a:cubicBezTo>
                <a:cubicBezTo>
                  <a:pt x="259352" y="269956"/>
                  <a:pt x="261417" y="264988"/>
                  <a:pt x="260635" y="259966"/>
                </a:cubicBezTo>
                <a:lnTo>
                  <a:pt x="246515" y="170724"/>
                </a:lnTo>
                <a:lnTo>
                  <a:pt x="310362" y="106821"/>
                </a:lnTo>
                <a:cubicBezTo>
                  <a:pt x="313934" y="103250"/>
                  <a:pt x="315162" y="98003"/>
                  <a:pt x="313599" y="93204"/>
                </a:cubicBezTo>
                <a:cubicBezTo>
                  <a:pt x="312037" y="88404"/>
                  <a:pt x="307963" y="84888"/>
                  <a:pt x="302940" y="84106"/>
                </a:cubicBezTo>
                <a:lnTo>
                  <a:pt x="213754" y="69931"/>
                </a:lnTo>
                <a:lnTo>
                  <a:pt x="172734" y="-10548"/>
                </a:ln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257300" y="1764274"/>
            <a:ext cx="472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YOLO Revolutionized Detection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57300" y="2145153"/>
            <a:ext cx="46863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First unified, real-time object detector that processes images in a </a:t>
            </a:r>
            <a:r>
              <a:rPr lang="en-US" sz="1200" b="1" dirty="0">
                <a:solidFill>
                  <a:srgbClr val="FFD5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single forward pass</a:t>
            </a:r>
            <a:r>
              <a:rPr lang="en-US" sz="1200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achieving 45+ FPS with good accuracy.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191250" y="1611874"/>
            <a:ext cx="5619750" cy="1181100"/>
          </a:xfrm>
          <a:custGeom>
            <a:avLst/>
            <a:gdLst/>
            <a:ahLst/>
            <a:cxnLst/>
            <a:rect l="l" t="t" r="r" b="b"/>
            <a:pathLst>
              <a:path w="5619750" h="1181100">
                <a:moveTo>
                  <a:pt x="38100" y="0"/>
                </a:moveTo>
                <a:lnTo>
                  <a:pt x="5505455" y="0"/>
                </a:lnTo>
                <a:cubicBezTo>
                  <a:pt x="5568578" y="0"/>
                  <a:pt x="5619750" y="51172"/>
                  <a:pt x="5619750" y="114295"/>
                </a:cubicBezTo>
                <a:lnTo>
                  <a:pt x="5619750" y="1066805"/>
                </a:lnTo>
                <a:cubicBezTo>
                  <a:pt x="5619750" y="1129928"/>
                  <a:pt x="5568578" y="1181100"/>
                  <a:pt x="5505455" y="1181100"/>
                </a:cubicBezTo>
                <a:lnTo>
                  <a:pt x="38100" y="1181100"/>
                </a:lnTo>
                <a:cubicBezTo>
                  <a:pt x="17072" y="1181100"/>
                  <a:pt x="0" y="1164028"/>
                  <a:pt x="0" y="1143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63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191250" y="1611874"/>
            <a:ext cx="38100" cy="1181100"/>
          </a:xfrm>
          <a:custGeom>
            <a:avLst/>
            <a:gdLst/>
            <a:ahLst/>
            <a:cxnLst/>
            <a:rect l="l" t="t" r="r" b="b"/>
            <a:pathLst>
              <a:path w="38100" h="1181100">
                <a:moveTo>
                  <a:pt x="38100" y="0"/>
                </a:moveTo>
                <a:lnTo>
                  <a:pt x="38100" y="0"/>
                </a:lnTo>
                <a:lnTo>
                  <a:pt x="38100" y="1181100"/>
                </a:lnTo>
                <a:lnTo>
                  <a:pt x="38100" y="1181100"/>
                </a:lnTo>
                <a:cubicBezTo>
                  <a:pt x="17072" y="1181100"/>
                  <a:pt x="0" y="1164028"/>
                  <a:pt x="0" y="1143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D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362700" y="1764274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FD54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506766" y="1888099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214313" y="53578"/>
                </a:moveTo>
                <a:lnTo>
                  <a:pt x="214313" y="89297"/>
                </a:lnTo>
                <a:lnTo>
                  <a:pt x="178594" y="89297"/>
                </a:lnTo>
                <a:lnTo>
                  <a:pt x="178594" y="53578"/>
                </a:lnTo>
                <a:lnTo>
                  <a:pt x="214313" y="53578"/>
                </a:lnTo>
                <a:close/>
                <a:moveTo>
                  <a:pt x="214313" y="125016"/>
                </a:moveTo>
                <a:lnTo>
                  <a:pt x="214313" y="160734"/>
                </a:lnTo>
                <a:lnTo>
                  <a:pt x="178594" y="160734"/>
                </a:lnTo>
                <a:lnTo>
                  <a:pt x="178594" y="125016"/>
                </a:lnTo>
                <a:lnTo>
                  <a:pt x="214313" y="125016"/>
                </a:lnTo>
                <a:close/>
                <a:moveTo>
                  <a:pt x="214313" y="196453"/>
                </a:moveTo>
                <a:lnTo>
                  <a:pt x="214313" y="232172"/>
                </a:lnTo>
                <a:lnTo>
                  <a:pt x="178594" y="232172"/>
                </a:lnTo>
                <a:lnTo>
                  <a:pt x="178594" y="196453"/>
                </a:lnTo>
                <a:lnTo>
                  <a:pt x="214313" y="196453"/>
                </a:lnTo>
                <a:close/>
                <a:moveTo>
                  <a:pt x="142875" y="160734"/>
                </a:moveTo>
                <a:lnTo>
                  <a:pt x="107156" y="160734"/>
                </a:lnTo>
                <a:lnTo>
                  <a:pt x="107156" y="125016"/>
                </a:lnTo>
                <a:lnTo>
                  <a:pt x="142875" y="125016"/>
                </a:lnTo>
                <a:lnTo>
                  <a:pt x="142875" y="160734"/>
                </a:lnTo>
                <a:close/>
                <a:moveTo>
                  <a:pt x="107156" y="196453"/>
                </a:moveTo>
                <a:lnTo>
                  <a:pt x="142875" y="196453"/>
                </a:lnTo>
                <a:lnTo>
                  <a:pt x="142875" y="232172"/>
                </a:lnTo>
                <a:lnTo>
                  <a:pt x="107156" y="232172"/>
                </a:lnTo>
                <a:lnTo>
                  <a:pt x="107156" y="196453"/>
                </a:lnTo>
                <a:close/>
                <a:moveTo>
                  <a:pt x="71438" y="160734"/>
                </a:moveTo>
                <a:lnTo>
                  <a:pt x="35719" y="160734"/>
                </a:lnTo>
                <a:lnTo>
                  <a:pt x="35719" y="125016"/>
                </a:lnTo>
                <a:lnTo>
                  <a:pt x="71438" y="125016"/>
                </a:lnTo>
                <a:lnTo>
                  <a:pt x="71438" y="160734"/>
                </a:lnTo>
                <a:close/>
                <a:moveTo>
                  <a:pt x="35719" y="196453"/>
                </a:moveTo>
                <a:lnTo>
                  <a:pt x="71438" y="196453"/>
                </a:lnTo>
                <a:lnTo>
                  <a:pt x="71438" y="232172"/>
                </a:lnTo>
                <a:lnTo>
                  <a:pt x="35719" y="232172"/>
                </a:lnTo>
                <a:lnTo>
                  <a:pt x="35719" y="196453"/>
                </a:lnTo>
                <a:close/>
                <a:moveTo>
                  <a:pt x="35719" y="89297"/>
                </a:moveTo>
                <a:lnTo>
                  <a:pt x="35719" y="53578"/>
                </a:lnTo>
                <a:lnTo>
                  <a:pt x="71438" y="53578"/>
                </a:lnTo>
                <a:lnTo>
                  <a:pt x="71438" y="89297"/>
                </a:lnTo>
                <a:lnTo>
                  <a:pt x="35719" y="89297"/>
                </a:lnTo>
                <a:close/>
                <a:moveTo>
                  <a:pt x="107156" y="89297"/>
                </a:moveTo>
                <a:lnTo>
                  <a:pt x="107156" y="53578"/>
                </a:lnTo>
                <a:lnTo>
                  <a:pt x="142875" y="53578"/>
                </a:lnTo>
                <a:lnTo>
                  <a:pt x="142875" y="89297"/>
                </a:lnTo>
                <a:lnTo>
                  <a:pt x="107156" y="89297"/>
                </a:lnTo>
                <a:close/>
                <a:moveTo>
                  <a:pt x="35719" y="17859"/>
                </a:moveTo>
                <a:cubicBezTo>
                  <a:pt x="16018" y="17859"/>
                  <a:pt x="0" y="33877"/>
                  <a:pt x="0" y="53578"/>
                </a:cubicBezTo>
                <a:lnTo>
                  <a:pt x="0" y="232172"/>
                </a:lnTo>
                <a:cubicBezTo>
                  <a:pt x="0" y="251873"/>
                  <a:pt x="16018" y="267891"/>
                  <a:pt x="35719" y="267891"/>
                </a:cubicBezTo>
                <a:lnTo>
                  <a:pt x="214313" y="267891"/>
                </a:lnTo>
                <a:cubicBezTo>
                  <a:pt x="234014" y="267891"/>
                  <a:pt x="250031" y="251873"/>
                  <a:pt x="250031" y="232172"/>
                </a:cubicBezTo>
                <a:lnTo>
                  <a:pt x="250031" y="53578"/>
                </a:lnTo>
                <a:cubicBezTo>
                  <a:pt x="250031" y="33877"/>
                  <a:pt x="234014" y="17859"/>
                  <a:pt x="214313" y="17859"/>
                </a:cubicBezTo>
                <a:lnTo>
                  <a:pt x="35719" y="17859"/>
                </a:lnTo>
                <a:close/>
              </a:path>
            </a:pathLst>
          </a:custGeom>
          <a:solidFill>
            <a:srgbClr val="FFD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048500" y="1764274"/>
            <a:ext cx="472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Master Core Concepts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048500" y="2145153"/>
            <a:ext cx="46863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 </a:t>
            </a:r>
            <a:r>
              <a:rPr lang="en-US" sz="1200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Grid Cells, Bounding Boxes, IoU, NMS, and Anchor Boxes</a:t>
            </a:r>
            <a:r>
              <a:rPr lang="en-US" sz="1200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these are fundamental to YOLO and frequently asked in interviews.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00050" y="2945253"/>
            <a:ext cx="5619750" cy="1181100"/>
          </a:xfrm>
          <a:custGeom>
            <a:avLst/>
            <a:gdLst/>
            <a:ahLst/>
            <a:cxnLst/>
            <a:rect l="l" t="t" r="r" b="b"/>
            <a:pathLst>
              <a:path w="5619750" h="1181100">
                <a:moveTo>
                  <a:pt x="38100" y="0"/>
                </a:moveTo>
                <a:lnTo>
                  <a:pt x="5505455" y="0"/>
                </a:lnTo>
                <a:cubicBezTo>
                  <a:pt x="5568578" y="0"/>
                  <a:pt x="5619750" y="51172"/>
                  <a:pt x="5619750" y="114295"/>
                </a:cubicBezTo>
                <a:lnTo>
                  <a:pt x="5619750" y="1066805"/>
                </a:lnTo>
                <a:cubicBezTo>
                  <a:pt x="5619750" y="1129928"/>
                  <a:pt x="5568578" y="1181100"/>
                  <a:pt x="5505455" y="1181100"/>
                </a:cubicBezTo>
                <a:lnTo>
                  <a:pt x="38100" y="1181100"/>
                </a:lnTo>
                <a:cubicBezTo>
                  <a:pt x="17072" y="1181100"/>
                  <a:pt x="0" y="1164028"/>
                  <a:pt x="0" y="1143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63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00050" y="2945253"/>
            <a:ext cx="38100" cy="1181100"/>
          </a:xfrm>
          <a:custGeom>
            <a:avLst/>
            <a:gdLst/>
            <a:ahLst/>
            <a:cxnLst/>
            <a:rect l="l" t="t" r="r" b="b"/>
            <a:pathLst>
              <a:path w="38100" h="1181100">
                <a:moveTo>
                  <a:pt x="38100" y="0"/>
                </a:moveTo>
                <a:lnTo>
                  <a:pt x="38100" y="0"/>
                </a:lnTo>
                <a:lnTo>
                  <a:pt x="38100" y="1181100"/>
                </a:lnTo>
                <a:lnTo>
                  <a:pt x="38100" y="1181100"/>
                </a:lnTo>
                <a:cubicBezTo>
                  <a:pt x="17072" y="1181100"/>
                  <a:pt x="0" y="1164028"/>
                  <a:pt x="0" y="1143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71500" y="3097653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61988" y="3221478"/>
            <a:ext cx="357188" cy="285750"/>
          </a:xfrm>
          <a:custGeom>
            <a:avLst/>
            <a:gdLst/>
            <a:ahLst/>
            <a:cxnLst/>
            <a:rect l="l" t="t" r="r" b="b"/>
            <a:pathLst>
              <a:path w="357188" h="285750">
                <a:moveTo>
                  <a:pt x="214313" y="17859"/>
                </a:moveTo>
                <a:lnTo>
                  <a:pt x="285750" y="17859"/>
                </a:lnTo>
                <a:cubicBezTo>
                  <a:pt x="295628" y="17859"/>
                  <a:pt x="303609" y="25840"/>
                  <a:pt x="303609" y="35719"/>
                </a:cubicBezTo>
                <a:cubicBezTo>
                  <a:pt x="303609" y="45597"/>
                  <a:pt x="295628" y="53578"/>
                  <a:pt x="285750" y="53578"/>
                </a:cubicBezTo>
                <a:lnTo>
                  <a:pt x="222349" y="53578"/>
                </a:lnTo>
                <a:cubicBezTo>
                  <a:pt x="219447" y="67977"/>
                  <a:pt x="209569" y="79865"/>
                  <a:pt x="196453" y="85558"/>
                </a:cubicBezTo>
                <a:lnTo>
                  <a:pt x="196453" y="250031"/>
                </a:lnTo>
                <a:lnTo>
                  <a:pt x="285750" y="250031"/>
                </a:lnTo>
                <a:cubicBezTo>
                  <a:pt x="295628" y="250031"/>
                  <a:pt x="303609" y="258012"/>
                  <a:pt x="303609" y="267891"/>
                </a:cubicBezTo>
                <a:cubicBezTo>
                  <a:pt x="303609" y="277769"/>
                  <a:pt x="295628" y="285750"/>
                  <a:pt x="285750" y="285750"/>
                </a:cubicBezTo>
                <a:lnTo>
                  <a:pt x="71438" y="285750"/>
                </a:lnTo>
                <a:cubicBezTo>
                  <a:pt x="61559" y="285750"/>
                  <a:pt x="53578" y="277769"/>
                  <a:pt x="53578" y="267891"/>
                </a:cubicBezTo>
                <a:cubicBezTo>
                  <a:pt x="53578" y="258012"/>
                  <a:pt x="61559" y="250031"/>
                  <a:pt x="71438" y="250031"/>
                </a:cubicBezTo>
                <a:lnTo>
                  <a:pt x="160734" y="250031"/>
                </a:lnTo>
                <a:lnTo>
                  <a:pt x="160734" y="85558"/>
                </a:lnTo>
                <a:cubicBezTo>
                  <a:pt x="147619" y="79809"/>
                  <a:pt x="137740" y="67921"/>
                  <a:pt x="134838" y="53578"/>
                </a:cubicBezTo>
                <a:lnTo>
                  <a:pt x="71438" y="53578"/>
                </a:lnTo>
                <a:cubicBezTo>
                  <a:pt x="61559" y="53578"/>
                  <a:pt x="53578" y="45597"/>
                  <a:pt x="53578" y="35719"/>
                </a:cubicBezTo>
                <a:cubicBezTo>
                  <a:pt x="53578" y="25840"/>
                  <a:pt x="61559" y="17859"/>
                  <a:pt x="71438" y="17859"/>
                </a:cubicBezTo>
                <a:lnTo>
                  <a:pt x="142875" y="17859"/>
                </a:lnTo>
                <a:cubicBezTo>
                  <a:pt x="151023" y="7032"/>
                  <a:pt x="163971" y="0"/>
                  <a:pt x="178594" y="0"/>
                </a:cubicBezTo>
                <a:cubicBezTo>
                  <a:pt x="193216" y="0"/>
                  <a:pt x="206164" y="7032"/>
                  <a:pt x="214313" y="17859"/>
                </a:cubicBezTo>
                <a:close/>
                <a:moveTo>
                  <a:pt x="245343" y="178594"/>
                </a:moveTo>
                <a:lnTo>
                  <a:pt x="326157" y="178594"/>
                </a:lnTo>
                <a:lnTo>
                  <a:pt x="285750" y="109277"/>
                </a:lnTo>
                <a:lnTo>
                  <a:pt x="245343" y="178594"/>
                </a:lnTo>
                <a:close/>
                <a:moveTo>
                  <a:pt x="285750" y="232172"/>
                </a:moveTo>
                <a:cubicBezTo>
                  <a:pt x="250645" y="232172"/>
                  <a:pt x="221456" y="213196"/>
                  <a:pt x="215429" y="188137"/>
                </a:cubicBezTo>
                <a:cubicBezTo>
                  <a:pt x="213978" y="181998"/>
                  <a:pt x="215987" y="175692"/>
                  <a:pt x="219168" y="170222"/>
                </a:cubicBezTo>
                <a:lnTo>
                  <a:pt x="272300" y="79139"/>
                </a:lnTo>
                <a:cubicBezTo>
                  <a:pt x="275090" y="74340"/>
                  <a:pt x="280225" y="71438"/>
                  <a:pt x="285750" y="71438"/>
                </a:cubicBezTo>
                <a:cubicBezTo>
                  <a:pt x="291275" y="71438"/>
                  <a:pt x="296410" y="74395"/>
                  <a:pt x="299200" y="79139"/>
                </a:cubicBezTo>
                <a:lnTo>
                  <a:pt x="352332" y="170222"/>
                </a:lnTo>
                <a:cubicBezTo>
                  <a:pt x="355513" y="175692"/>
                  <a:pt x="357522" y="181998"/>
                  <a:pt x="356071" y="188137"/>
                </a:cubicBezTo>
                <a:cubicBezTo>
                  <a:pt x="350044" y="213140"/>
                  <a:pt x="320855" y="232172"/>
                  <a:pt x="285750" y="232172"/>
                </a:cubicBezTo>
                <a:close/>
                <a:moveTo>
                  <a:pt x="70768" y="109277"/>
                </a:moveTo>
                <a:lnTo>
                  <a:pt x="30361" y="178594"/>
                </a:lnTo>
                <a:lnTo>
                  <a:pt x="111230" y="178594"/>
                </a:lnTo>
                <a:lnTo>
                  <a:pt x="70768" y="109277"/>
                </a:lnTo>
                <a:close/>
                <a:moveTo>
                  <a:pt x="502" y="188137"/>
                </a:moveTo>
                <a:cubicBezTo>
                  <a:pt x="-949" y="181998"/>
                  <a:pt x="1060" y="175692"/>
                  <a:pt x="4242" y="170222"/>
                </a:cubicBezTo>
                <a:lnTo>
                  <a:pt x="57373" y="79139"/>
                </a:lnTo>
                <a:cubicBezTo>
                  <a:pt x="60164" y="74340"/>
                  <a:pt x="65298" y="71438"/>
                  <a:pt x="70824" y="71438"/>
                </a:cubicBezTo>
                <a:cubicBezTo>
                  <a:pt x="76349" y="71438"/>
                  <a:pt x="81483" y="74395"/>
                  <a:pt x="84274" y="79139"/>
                </a:cubicBezTo>
                <a:lnTo>
                  <a:pt x="137406" y="170222"/>
                </a:lnTo>
                <a:cubicBezTo>
                  <a:pt x="140587" y="175692"/>
                  <a:pt x="142596" y="181998"/>
                  <a:pt x="141145" y="188137"/>
                </a:cubicBezTo>
                <a:cubicBezTo>
                  <a:pt x="135117" y="213140"/>
                  <a:pt x="105928" y="232172"/>
                  <a:pt x="70824" y="232172"/>
                </a:cubicBezTo>
                <a:cubicBezTo>
                  <a:pt x="35719" y="232172"/>
                  <a:pt x="6530" y="213196"/>
                  <a:pt x="502" y="188137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257300" y="3097653"/>
            <a:ext cx="472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Speed vs Accuracy Trade-off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57300" y="3478532"/>
            <a:ext cx="46863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FFD5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One-stage (YOLO)</a:t>
            </a:r>
            <a:r>
              <a:rPr lang="en-US" sz="1200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real-time, </a:t>
            </a:r>
            <a:r>
              <a:rPr lang="en-US" sz="1200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Two-stage (R-CNN)</a:t>
            </a:r>
            <a:r>
              <a:rPr lang="en-US" sz="1200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accuracy. Choose based on your application requirements.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191250" y="2945253"/>
            <a:ext cx="5619750" cy="1181100"/>
          </a:xfrm>
          <a:custGeom>
            <a:avLst/>
            <a:gdLst/>
            <a:ahLst/>
            <a:cxnLst/>
            <a:rect l="l" t="t" r="r" b="b"/>
            <a:pathLst>
              <a:path w="5619750" h="1181100">
                <a:moveTo>
                  <a:pt x="38100" y="0"/>
                </a:moveTo>
                <a:lnTo>
                  <a:pt x="5505455" y="0"/>
                </a:lnTo>
                <a:cubicBezTo>
                  <a:pt x="5568578" y="0"/>
                  <a:pt x="5619750" y="51172"/>
                  <a:pt x="5619750" y="114295"/>
                </a:cubicBezTo>
                <a:lnTo>
                  <a:pt x="5619750" y="1066805"/>
                </a:lnTo>
                <a:cubicBezTo>
                  <a:pt x="5619750" y="1129928"/>
                  <a:pt x="5568578" y="1181100"/>
                  <a:pt x="5505455" y="1181100"/>
                </a:cubicBezTo>
                <a:lnTo>
                  <a:pt x="38100" y="1181100"/>
                </a:lnTo>
                <a:cubicBezTo>
                  <a:pt x="17072" y="1181100"/>
                  <a:pt x="0" y="1164028"/>
                  <a:pt x="0" y="1143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63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191250" y="2945253"/>
            <a:ext cx="38100" cy="1181100"/>
          </a:xfrm>
          <a:custGeom>
            <a:avLst/>
            <a:gdLst/>
            <a:ahLst/>
            <a:cxnLst/>
            <a:rect l="l" t="t" r="r" b="b"/>
            <a:pathLst>
              <a:path w="38100" h="1181100">
                <a:moveTo>
                  <a:pt x="38100" y="0"/>
                </a:moveTo>
                <a:lnTo>
                  <a:pt x="38100" y="0"/>
                </a:lnTo>
                <a:lnTo>
                  <a:pt x="38100" y="1181100"/>
                </a:lnTo>
                <a:lnTo>
                  <a:pt x="38100" y="1181100"/>
                </a:lnTo>
                <a:cubicBezTo>
                  <a:pt x="17072" y="1181100"/>
                  <a:pt x="0" y="1164028"/>
                  <a:pt x="0" y="1143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D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362700" y="3097653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FD54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488906" y="3221478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71438" y="178594"/>
                </a:moveTo>
                <a:lnTo>
                  <a:pt x="13674" y="178594"/>
                </a:lnTo>
                <a:cubicBezTo>
                  <a:pt x="-223" y="178594"/>
                  <a:pt x="-8762" y="163469"/>
                  <a:pt x="-1619" y="151526"/>
                </a:cubicBezTo>
                <a:lnTo>
                  <a:pt x="27905" y="102301"/>
                </a:lnTo>
                <a:cubicBezTo>
                  <a:pt x="32761" y="94208"/>
                  <a:pt x="41467" y="89297"/>
                  <a:pt x="50899" y="89297"/>
                </a:cubicBezTo>
                <a:lnTo>
                  <a:pt x="103919" y="89297"/>
                </a:lnTo>
                <a:cubicBezTo>
                  <a:pt x="146391" y="17357"/>
                  <a:pt x="209736" y="13729"/>
                  <a:pt x="252096" y="19924"/>
                </a:cubicBezTo>
                <a:cubicBezTo>
                  <a:pt x="259240" y="20985"/>
                  <a:pt x="264821" y="26566"/>
                  <a:pt x="265826" y="33654"/>
                </a:cubicBezTo>
                <a:cubicBezTo>
                  <a:pt x="272021" y="76014"/>
                  <a:pt x="268393" y="139359"/>
                  <a:pt x="196453" y="181831"/>
                </a:cubicBezTo>
                <a:lnTo>
                  <a:pt x="196453" y="234851"/>
                </a:lnTo>
                <a:cubicBezTo>
                  <a:pt x="196453" y="244283"/>
                  <a:pt x="191542" y="252989"/>
                  <a:pt x="183449" y="257845"/>
                </a:cubicBezTo>
                <a:lnTo>
                  <a:pt x="134224" y="287369"/>
                </a:lnTo>
                <a:cubicBezTo>
                  <a:pt x="122337" y="294512"/>
                  <a:pt x="107156" y="285917"/>
                  <a:pt x="107156" y="272076"/>
                </a:cubicBezTo>
                <a:lnTo>
                  <a:pt x="107156" y="214313"/>
                </a:lnTo>
                <a:cubicBezTo>
                  <a:pt x="107156" y="194611"/>
                  <a:pt x="91139" y="178594"/>
                  <a:pt x="71438" y="178594"/>
                </a:cubicBezTo>
                <a:lnTo>
                  <a:pt x="71382" y="178594"/>
                </a:lnTo>
                <a:close/>
                <a:moveTo>
                  <a:pt x="223242" y="89297"/>
                </a:moveTo>
                <a:cubicBezTo>
                  <a:pt x="223242" y="74512"/>
                  <a:pt x="211238" y="62508"/>
                  <a:pt x="196453" y="62508"/>
                </a:cubicBezTo>
                <a:cubicBezTo>
                  <a:pt x="181668" y="62508"/>
                  <a:pt x="169664" y="74512"/>
                  <a:pt x="169664" y="89297"/>
                </a:cubicBezTo>
                <a:cubicBezTo>
                  <a:pt x="169664" y="104082"/>
                  <a:pt x="181668" y="116086"/>
                  <a:pt x="196453" y="116086"/>
                </a:cubicBezTo>
                <a:cubicBezTo>
                  <a:pt x="211238" y="116086"/>
                  <a:pt x="223242" y="104082"/>
                  <a:pt x="223242" y="89297"/>
                </a:cubicBezTo>
                <a:close/>
              </a:path>
            </a:pathLst>
          </a:custGeom>
          <a:solidFill>
            <a:srgbClr val="FFD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048500" y="3097653"/>
            <a:ext cx="472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Continuous Evolution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048500" y="3478532"/>
            <a:ext cx="46863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From v1 to v8+, YOLO keeps improving. Latest versions achieve </a:t>
            </a:r>
            <a:r>
              <a:rPr lang="en-US" sz="1200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52-54% mAP at 100+ FPS</a:t>
            </a:r>
            <a:r>
              <a:rPr lang="en-US" sz="1200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additional features like segmentation.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84810" y="4282442"/>
            <a:ext cx="11418570" cy="1150620"/>
          </a:xfrm>
          <a:custGeom>
            <a:avLst/>
            <a:gdLst/>
            <a:ahLst/>
            <a:cxnLst/>
            <a:rect l="l" t="t" r="r" b="b"/>
            <a:pathLst>
              <a:path w="11418570" h="1150620">
                <a:moveTo>
                  <a:pt x="114303" y="0"/>
                </a:moveTo>
                <a:lnTo>
                  <a:pt x="11304267" y="0"/>
                </a:lnTo>
                <a:cubicBezTo>
                  <a:pt x="11367395" y="0"/>
                  <a:pt x="11418570" y="51175"/>
                  <a:pt x="11418570" y="114303"/>
                </a:cubicBezTo>
                <a:lnTo>
                  <a:pt x="11418570" y="1036317"/>
                </a:lnTo>
                <a:cubicBezTo>
                  <a:pt x="11418570" y="1099445"/>
                  <a:pt x="11367395" y="1150620"/>
                  <a:pt x="11304267" y="1150620"/>
                </a:cubicBezTo>
                <a:lnTo>
                  <a:pt x="114303" y="1150620"/>
                </a:lnTo>
                <a:cubicBezTo>
                  <a:pt x="51175" y="1150620"/>
                  <a:pt x="0" y="1099445"/>
                  <a:pt x="0" y="1036317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4DB6AC">
              <a:alpha val="10196"/>
            </a:srgbClr>
          </a:solidFill>
          <a:ln w="10160">
            <a:solidFill>
              <a:srgbClr val="4DB6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62451" y="4686179"/>
            <a:ext cx="385763" cy="342900"/>
          </a:xfrm>
          <a:custGeom>
            <a:avLst/>
            <a:gdLst/>
            <a:ahLst/>
            <a:cxnLst/>
            <a:rect l="l" t="t" r="r" b="b"/>
            <a:pathLst>
              <a:path w="385763" h="342900">
                <a:moveTo>
                  <a:pt x="32147" y="131132"/>
                </a:moveTo>
                <a:lnTo>
                  <a:pt x="172254" y="188796"/>
                </a:lnTo>
                <a:cubicBezTo>
                  <a:pt x="178817" y="191475"/>
                  <a:pt x="185782" y="192881"/>
                  <a:pt x="192881" y="192881"/>
                </a:cubicBezTo>
                <a:cubicBezTo>
                  <a:pt x="199980" y="192881"/>
                  <a:pt x="206946" y="191475"/>
                  <a:pt x="213509" y="188796"/>
                </a:cubicBezTo>
                <a:lnTo>
                  <a:pt x="375851" y="121957"/>
                </a:lnTo>
                <a:cubicBezTo>
                  <a:pt x="381878" y="119479"/>
                  <a:pt x="385763" y="113653"/>
                  <a:pt x="385763" y="107156"/>
                </a:cubicBezTo>
                <a:cubicBezTo>
                  <a:pt x="385763" y="100660"/>
                  <a:pt x="381878" y="94833"/>
                  <a:pt x="375851" y="92355"/>
                </a:cubicBezTo>
                <a:lnTo>
                  <a:pt x="213509" y="25517"/>
                </a:lnTo>
                <a:cubicBezTo>
                  <a:pt x="206946" y="22838"/>
                  <a:pt x="199980" y="21431"/>
                  <a:pt x="192881" y="21431"/>
                </a:cubicBezTo>
                <a:cubicBezTo>
                  <a:pt x="185782" y="21431"/>
                  <a:pt x="178817" y="22838"/>
                  <a:pt x="172254" y="25517"/>
                </a:cubicBezTo>
                <a:lnTo>
                  <a:pt x="9912" y="92355"/>
                </a:lnTo>
                <a:cubicBezTo>
                  <a:pt x="3884" y="94833"/>
                  <a:pt x="0" y="100660"/>
                  <a:pt x="0" y="107156"/>
                </a:cubicBezTo>
                <a:lnTo>
                  <a:pt x="0" y="305395"/>
                </a:lnTo>
                <a:cubicBezTo>
                  <a:pt x="0" y="314303"/>
                  <a:pt x="7166" y="321469"/>
                  <a:pt x="16073" y="321469"/>
                </a:cubicBezTo>
                <a:cubicBezTo>
                  <a:pt x="24981" y="321469"/>
                  <a:pt x="32147" y="314303"/>
                  <a:pt x="32147" y="305395"/>
                </a:cubicBezTo>
                <a:lnTo>
                  <a:pt x="32147" y="131132"/>
                </a:lnTo>
                <a:close/>
                <a:moveTo>
                  <a:pt x="64294" y="179152"/>
                </a:moveTo>
                <a:lnTo>
                  <a:pt x="64294" y="257175"/>
                </a:lnTo>
                <a:cubicBezTo>
                  <a:pt x="64294" y="292671"/>
                  <a:pt x="121890" y="321469"/>
                  <a:pt x="192881" y="321469"/>
                </a:cubicBezTo>
                <a:cubicBezTo>
                  <a:pt x="263872" y="321469"/>
                  <a:pt x="321469" y="292671"/>
                  <a:pt x="321469" y="257175"/>
                </a:cubicBezTo>
                <a:lnTo>
                  <a:pt x="321469" y="179085"/>
                </a:lnTo>
                <a:lnTo>
                  <a:pt x="225765" y="218532"/>
                </a:lnTo>
                <a:cubicBezTo>
                  <a:pt x="215317" y="222818"/>
                  <a:pt x="204200" y="225028"/>
                  <a:pt x="192881" y="225028"/>
                </a:cubicBezTo>
                <a:cubicBezTo>
                  <a:pt x="181563" y="225028"/>
                  <a:pt x="170445" y="222818"/>
                  <a:pt x="159998" y="218532"/>
                </a:cubicBezTo>
                <a:lnTo>
                  <a:pt x="64294" y="179085"/>
                </a:lnTo>
                <a:close/>
              </a:path>
            </a:pathLst>
          </a:custGeom>
          <a:solidFill>
            <a:srgbClr val="FFD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121926" y="4438650"/>
            <a:ext cx="106394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Practice for Success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121926" y="4819529"/>
            <a:ext cx="106013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CEF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Review the exam questions provided, implement YOLO on a small dataset, and be ready to explain concepts intuitively. </a:t>
            </a:r>
            <a:r>
              <a:rPr lang="en-US" sz="1200" b="1" dirty="0">
                <a:solidFill>
                  <a:srgbClr val="FFD5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Keep learning - the field evolves rapidly!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23850" y="5589157"/>
            <a:ext cx="11544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4DB6A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Good Luck with Your Exams &amp; Interviews!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338138" y="5970036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7890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You Only Learn Once... but keep iterating! 🚀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3013</Words>
  <Application>Microsoft Office PowerPoint</Application>
  <PresentationFormat>Widescreen</PresentationFormat>
  <Paragraphs>509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Quattrocento Sans</vt:lpstr>
      <vt:lpstr>Hedvig Letters Sans</vt:lpstr>
      <vt:lpstr>Liter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YOLO Object Detection: Complete Guide</dc:title>
  <dc:subject>YOLO Object Detection: Complete Guide</dc:subject>
  <dc:creator>Kimi</dc:creator>
  <cp:lastModifiedBy>Kinza Afzal</cp:lastModifiedBy>
  <cp:revision>3</cp:revision>
  <dcterms:created xsi:type="dcterms:W3CDTF">2026-03-17T20:44:05Z</dcterms:created>
  <dcterms:modified xsi:type="dcterms:W3CDTF">2026-04-18T11:57:55Z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{"Label":"YOLO Object Detection: Complete Guide","ContentProducer":"001191110108MACG2KBH8F10000","ProduceID":"19cfd734-99b2-8f9b-8000-00009c6a08b4","ReservedCode1":"","ContentPropagator":"001191110108MACG2KBH8F20000","PropagateID":"19cfd734-99b2-8f9b-8000-00009c6a08b4","ReservedCode2":""}</vt:lpwstr>
  </property>
</Properties>
</file>