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embeddedFontLst>
    <p:embeddedFont>
      <p:font typeface="微软雅黑" panose="020B0503020204020204" pitchFamily="34" charset="-122"/>
      <p:regular r:id="rId30"/>
      <p:bold r:id="rId31"/>
    </p:embeddedFont>
    <p:embeddedFont>
      <p:font typeface="MiSans" panose="020B0604020202020204" charset="-122"/>
      <p:regular r:id="rId32"/>
    </p:embeddedFont>
    <p:embeddedFont>
      <p:font typeface="Noto Sans SC" panose="020B0604020202020204" charset="-128"/>
      <p:regular r:id="rId33"/>
    </p:embeddedFont>
    <p:embeddedFont>
      <p:font typeface="Oranienbaum" panose="02000506080000020003" pitchFamily="2" charset="0"/>
      <p:regular r:id="rId34"/>
    </p:embeddedFont>
    <p:embeddedFont>
      <p:font typeface="Quattrocento Sans" panose="020B0502050000020003" pitchFamily="34" charset="0"/>
      <p:regular r:id="rId35"/>
    </p:embeddedFont>
    <p:embeddedFont>
      <p:font typeface="Sorts Mill Goudy"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749" y="-5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210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a:effectLst/>
      </p:bgPr>
    </p:bg>
    <p:spTree>
      <p:nvGrpSpPr>
        <p:cNvPr id="1" name=""/>
        <p:cNvGrpSpPr/>
        <p:nvPr/>
      </p:nvGrpSpPr>
      <p:grpSpPr>
        <a:xfrm>
          <a:off x="0" y="0"/>
          <a:ext cx="0" cy="0"/>
          <a:chOff x="0" y="0"/>
          <a:chExt cx="0" cy="0"/>
        </a:xfrm>
      </p:grpSpPr>
      <p:sp>
        <p:nvSpPr>
          <p:cNvPr id="2" name="Shape 0"/>
          <p:cNvSpPr/>
          <p:nvPr/>
        </p:nvSpPr>
        <p:spPr>
          <a:xfrm>
            <a:off x="10668000" y="-1524000"/>
            <a:ext cx="3048000" cy="3048000"/>
          </a:xfrm>
          <a:custGeom>
            <a:avLst/>
            <a:gdLst/>
            <a:ahLst/>
            <a:cxnLst/>
            <a:rect l="l" t="t" r="r" b="b"/>
            <a:pathLst>
              <a:path w="3048000" h="3048000">
                <a:moveTo>
                  <a:pt x="1524000" y="0"/>
                </a:moveTo>
                <a:lnTo>
                  <a:pt x="1524000" y="0"/>
                </a:lnTo>
                <a:cubicBezTo>
                  <a:pt x="2365118" y="0"/>
                  <a:pt x="3048000" y="682882"/>
                  <a:pt x="3048000" y="1524000"/>
                </a:cubicBezTo>
                <a:lnTo>
                  <a:pt x="3048000" y="1524000"/>
                </a:lnTo>
                <a:cubicBezTo>
                  <a:pt x="3048000" y="2365118"/>
                  <a:pt x="2365118" y="3048000"/>
                  <a:pt x="1524000" y="3048000"/>
                </a:cubicBezTo>
                <a:lnTo>
                  <a:pt x="1524000" y="3048000"/>
                </a:lnTo>
                <a:cubicBezTo>
                  <a:pt x="682882" y="3048000"/>
                  <a:pt x="0" y="2365118"/>
                  <a:pt x="0" y="1524000"/>
                </a:cubicBezTo>
                <a:lnTo>
                  <a:pt x="0" y="1524000"/>
                </a:lnTo>
                <a:cubicBezTo>
                  <a:pt x="0" y="682882"/>
                  <a:pt x="682882" y="0"/>
                  <a:pt x="1524000" y="0"/>
                </a:cubicBezTo>
                <a:close/>
              </a:path>
            </a:pathLst>
          </a:custGeom>
          <a:solidFill>
            <a:srgbClr val="8B0000"/>
          </a:solidFill>
          <a:ln/>
        </p:spPr>
        <p:txBody>
          <a:bodyPr/>
          <a:lstStyle/>
          <a:p>
            <a:endParaRPr lang="en-US"/>
          </a:p>
        </p:txBody>
      </p:sp>
      <p:sp>
        <p:nvSpPr>
          <p:cNvPr id="3" name="Shape 1"/>
          <p:cNvSpPr/>
          <p:nvPr/>
        </p:nvSpPr>
        <p:spPr>
          <a:xfrm>
            <a:off x="-1270000" y="5588000"/>
            <a:ext cx="2540000" cy="2540000"/>
          </a:xfrm>
          <a:custGeom>
            <a:avLst/>
            <a:gdLst/>
            <a:ahLst/>
            <a:cxnLst/>
            <a:rect l="l" t="t" r="r" b="b"/>
            <a:pathLst>
              <a:path w="2540000" h="2540000">
                <a:moveTo>
                  <a:pt x="1270000" y="0"/>
                </a:moveTo>
                <a:lnTo>
                  <a:pt x="1270000" y="0"/>
                </a:lnTo>
                <a:cubicBezTo>
                  <a:pt x="1970932" y="0"/>
                  <a:pt x="2540000" y="569068"/>
                  <a:pt x="2540000" y="1270000"/>
                </a:cubicBezTo>
                <a:lnTo>
                  <a:pt x="2540000" y="1270000"/>
                </a:lnTo>
                <a:cubicBezTo>
                  <a:pt x="2540000" y="1970932"/>
                  <a:pt x="1970932" y="2540000"/>
                  <a:pt x="1270000" y="2540000"/>
                </a:cubicBezTo>
                <a:lnTo>
                  <a:pt x="1270000" y="2540000"/>
                </a:lnTo>
                <a:cubicBezTo>
                  <a:pt x="569068" y="2540000"/>
                  <a:pt x="0" y="1970932"/>
                  <a:pt x="0" y="1270000"/>
                </a:cubicBezTo>
                <a:lnTo>
                  <a:pt x="0" y="1270000"/>
                </a:lnTo>
                <a:cubicBezTo>
                  <a:pt x="0" y="569068"/>
                  <a:pt x="569068" y="0"/>
                  <a:pt x="1270000" y="0"/>
                </a:cubicBezTo>
                <a:close/>
              </a:path>
            </a:pathLst>
          </a:custGeom>
          <a:solidFill>
            <a:srgbClr val="8B0000"/>
          </a:solidFill>
          <a:ln/>
        </p:spPr>
        <p:txBody>
          <a:bodyPr/>
          <a:lstStyle/>
          <a:p>
            <a:endParaRPr lang="en-US"/>
          </a:p>
        </p:txBody>
      </p:sp>
      <p:sp>
        <p:nvSpPr>
          <p:cNvPr id="4" name="Shape 2"/>
          <p:cNvSpPr/>
          <p:nvPr/>
        </p:nvSpPr>
        <p:spPr>
          <a:xfrm>
            <a:off x="5119390" y="1849438"/>
            <a:ext cx="1952625" cy="317500"/>
          </a:xfrm>
          <a:custGeom>
            <a:avLst/>
            <a:gdLst/>
            <a:ahLst/>
            <a:cxnLst/>
            <a:rect l="l" t="t" r="r" b="b"/>
            <a:pathLst>
              <a:path w="1952625" h="317500">
                <a:moveTo>
                  <a:pt x="0" y="0"/>
                </a:moveTo>
                <a:lnTo>
                  <a:pt x="1952625" y="0"/>
                </a:lnTo>
                <a:lnTo>
                  <a:pt x="1952625" y="317500"/>
                </a:lnTo>
                <a:lnTo>
                  <a:pt x="0" y="317500"/>
                </a:lnTo>
                <a:lnTo>
                  <a:pt x="0" y="0"/>
                </a:lnTo>
                <a:close/>
              </a:path>
            </a:pathLst>
          </a:custGeom>
          <a:solidFill>
            <a:srgbClr val="8B0000"/>
          </a:solidFill>
          <a:ln/>
        </p:spPr>
        <p:txBody>
          <a:bodyPr/>
          <a:lstStyle/>
          <a:p>
            <a:endParaRPr lang="en-US"/>
          </a:p>
        </p:txBody>
      </p:sp>
      <p:sp>
        <p:nvSpPr>
          <p:cNvPr id="5" name="Text 3"/>
          <p:cNvSpPr/>
          <p:nvPr/>
        </p:nvSpPr>
        <p:spPr>
          <a:xfrm>
            <a:off x="5087640" y="1849438"/>
            <a:ext cx="2016125" cy="317500"/>
          </a:xfrm>
          <a:prstGeom prst="rect">
            <a:avLst/>
          </a:prstGeom>
          <a:noFill/>
          <a:ln/>
        </p:spPr>
        <p:txBody>
          <a:bodyPr wrap="square" lIns="190500" tIns="63500" rIns="190500" bIns="63500" rtlCol="0" anchor="ctr"/>
          <a:lstStyle/>
          <a:p>
            <a:pPr algn="ctr">
              <a:lnSpc>
                <a:spcPct val="130000"/>
              </a:lnSpc>
            </a:pPr>
            <a:r>
              <a:rPr lang="en-US" sz="1000" b="1" kern="0" spc="100" dirty="0">
                <a:solidFill>
                  <a:srgbClr val="FFFFFF"/>
                </a:solidFill>
                <a:latin typeface="Quattrocento Sans" pitchFamily="34" charset="0"/>
                <a:ea typeface="Quattrocento Sans" pitchFamily="34" charset="-122"/>
                <a:cs typeface="Quattrocento Sans" pitchFamily="34" charset="-120"/>
              </a:rPr>
              <a:t>DEEP LEARNING SERIES</a:t>
            </a:r>
            <a:endParaRPr lang="en-US" sz="1600" dirty="0"/>
          </a:p>
        </p:txBody>
      </p:sp>
      <p:sp>
        <p:nvSpPr>
          <p:cNvPr id="6" name="Text 4"/>
          <p:cNvSpPr/>
          <p:nvPr/>
        </p:nvSpPr>
        <p:spPr>
          <a:xfrm>
            <a:off x="2904133" y="2547938"/>
            <a:ext cx="6381750" cy="714375"/>
          </a:xfrm>
          <a:prstGeom prst="rect">
            <a:avLst/>
          </a:prstGeom>
          <a:noFill/>
          <a:ln/>
        </p:spPr>
        <p:txBody>
          <a:bodyPr wrap="square" lIns="0" tIns="0" rIns="0" bIns="0" rtlCol="0" anchor="ctr"/>
          <a:lstStyle/>
          <a:p>
            <a:pPr algn="ct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YOLO Object Detection</a:t>
            </a:r>
            <a:endParaRPr lang="en-US" sz="1600" dirty="0"/>
          </a:p>
        </p:txBody>
      </p:sp>
      <p:sp>
        <p:nvSpPr>
          <p:cNvPr id="7" name="Shape 5"/>
          <p:cNvSpPr/>
          <p:nvPr/>
        </p:nvSpPr>
        <p:spPr>
          <a:xfrm>
            <a:off x="5588000" y="3452813"/>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solidFill>
            <a:srgbClr val="8B0000"/>
          </a:solidFill>
          <a:ln/>
        </p:spPr>
        <p:txBody>
          <a:bodyPr/>
          <a:lstStyle/>
          <a:p>
            <a:endParaRPr lang="en-US"/>
          </a:p>
        </p:txBody>
      </p:sp>
      <p:sp>
        <p:nvSpPr>
          <p:cNvPr id="8" name="Text 6"/>
          <p:cNvSpPr/>
          <p:nvPr/>
        </p:nvSpPr>
        <p:spPr>
          <a:xfrm>
            <a:off x="4619824" y="3675063"/>
            <a:ext cx="2952750" cy="285750"/>
          </a:xfrm>
          <a:prstGeom prst="rect">
            <a:avLst/>
          </a:prstGeom>
          <a:noFill/>
          <a:ln/>
        </p:spPr>
        <p:txBody>
          <a:bodyPr wrap="square" lIns="0" tIns="0" rIns="0" bIns="0" rtlCol="0" anchor="ctr"/>
          <a:lstStyle/>
          <a:p>
            <a:pPr algn="ctr">
              <a:lnSpc>
                <a:spcPct val="100000"/>
              </a:lnSpc>
            </a:pPr>
            <a:r>
              <a:rPr lang="en-US" sz="1875" dirty="0">
                <a:solidFill>
                  <a:srgbClr val="D1D5DC"/>
                </a:solidFill>
                <a:latin typeface="Quattrocento Sans" pitchFamily="34" charset="0"/>
                <a:ea typeface="Quattrocento Sans" pitchFamily="34" charset="-122"/>
                <a:cs typeface="Quattrocento Sans" pitchFamily="34" charset="-120"/>
              </a:rPr>
              <a:t>A Deep Learning Deep Dive</a:t>
            </a:r>
            <a:endParaRPr lang="en-US" sz="1600" dirty="0"/>
          </a:p>
        </p:txBody>
      </p:sp>
      <p:sp>
        <p:nvSpPr>
          <p:cNvPr id="9" name="Text 7"/>
          <p:cNvSpPr/>
          <p:nvPr/>
        </p:nvSpPr>
        <p:spPr>
          <a:xfrm>
            <a:off x="4336256" y="4341813"/>
            <a:ext cx="3516313" cy="222250"/>
          </a:xfrm>
          <a:prstGeom prst="rect">
            <a:avLst/>
          </a:prstGeom>
          <a:noFill/>
          <a:ln/>
        </p:spPr>
        <p:txBody>
          <a:bodyPr wrap="square" lIns="0" tIns="0" rIns="0" bIns="0" rtlCol="0" anchor="ctr"/>
          <a:lstStyle/>
          <a:p>
            <a:pPr algn="ctr">
              <a:lnSpc>
                <a:spcPct val="120000"/>
              </a:lnSpc>
            </a:pPr>
            <a:r>
              <a:rPr lang="en-US" sz="1250" dirty="0">
                <a:solidFill>
                  <a:srgbClr val="99A1AF"/>
                </a:solidFill>
                <a:latin typeface="Quattrocento Sans" pitchFamily="34" charset="0"/>
                <a:ea typeface="Quattrocento Sans" pitchFamily="34" charset="-122"/>
                <a:cs typeface="Quattrocento Sans" pitchFamily="34" charset="-120"/>
              </a:rPr>
              <a:t>Mastering YOLO for Technical Interviews &amp; Exams</a:t>
            </a:r>
            <a:endParaRPr lang="en-US" sz="1600" dirty="0"/>
          </a:p>
        </p:txBody>
      </p:sp>
      <p:sp>
        <p:nvSpPr>
          <p:cNvPr id="10" name="Shape 8"/>
          <p:cNvSpPr/>
          <p:nvPr/>
        </p:nvSpPr>
        <p:spPr>
          <a:xfrm>
            <a:off x="4266506" y="4849813"/>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8B0000"/>
          </a:solidFill>
          <a:ln/>
        </p:spPr>
        <p:txBody>
          <a:bodyPr/>
          <a:lstStyle/>
          <a:p>
            <a:endParaRPr lang="en-US"/>
          </a:p>
        </p:txBody>
      </p:sp>
      <p:sp>
        <p:nvSpPr>
          <p:cNvPr id="11" name="Text 9"/>
          <p:cNvSpPr/>
          <p:nvPr/>
        </p:nvSpPr>
        <p:spPr>
          <a:xfrm>
            <a:off x="4441131" y="4818063"/>
            <a:ext cx="857250"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Deep Learning</a:t>
            </a:r>
            <a:endParaRPr lang="en-US" sz="1600" dirty="0"/>
          </a:p>
        </p:txBody>
      </p:sp>
      <p:sp>
        <p:nvSpPr>
          <p:cNvPr id="12" name="Shape 10"/>
          <p:cNvSpPr/>
          <p:nvPr/>
        </p:nvSpPr>
        <p:spPr>
          <a:xfrm>
            <a:off x="5527377" y="4849813"/>
            <a:ext cx="142875" cy="127000"/>
          </a:xfrm>
          <a:custGeom>
            <a:avLst/>
            <a:gdLst/>
            <a:ahLst/>
            <a:cxnLst/>
            <a:rect l="l" t="t" r="r" b="b"/>
            <a:pathLst>
              <a:path w="142875" h="127000">
                <a:moveTo>
                  <a:pt x="71438" y="7938"/>
                </a:moveTo>
                <a:cubicBezTo>
                  <a:pt x="51395" y="7938"/>
                  <a:pt x="35347" y="17066"/>
                  <a:pt x="23664" y="27930"/>
                </a:cubicBezTo>
                <a:cubicBezTo>
                  <a:pt x="12055" y="38720"/>
                  <a:pt x="4291" y="51594"/>
                  <a:pt x="595" y="60449"/>
                </a:cubicBezTo>
                <a:cubicBezTo>
                  <a:pt x="-223" y="62409"/>
                  <a:pt x="-223" y="64591"/>
                  <a:pt x="595" y="66551"/>
                </a:cubicBezTo>
                <a:cubicBezTo>
                  <a:pt x="4291" y="75406"/>
                  <a:pt x="12055" y="88305"/>
                  <a:pt x="23664" y="99070"/>
                </a:cubicBezTo>
                <a:cubicBezTo>
                  <a:pt x="35347" y="109910"/>
                  <a:pt x="51395" y="119063"/>
                  <a:pt x="71438" y="119063"/>
                </a:cubicBezTo>
                <a:cubicBezTo>
                  <a:pt x="91480" y="119063"/>
                  <a:pt x="107528" y="109934"/>
                  <a:pt x="119211" y="99070"/>
                </a:cubicBezTo>
                <a:cubicBezTo>
                  <a:pt x="130820" y="88280"/>
                  <a:pt x="138584" y="75406"/>
                  <a:pt x="142280" y="66551"/>
                </a:cubicBezTo>
                <a:cubicBezTo>
                  <a:pt x="143098" y="64591"/>
                  <a:pt x="143098" y="62409"/>
                  <a:pt x="142280" y="60449"/>
                </a:cubicBezTo>
                <a:cubicBezTo>
                  <a:pt x="138584" y="51594"/>
                  <a:pt x="130820" y="38695"/>
                  <a:pt x="119211" y="27930"/>
                </a:cubicBezTo>
                <a:cubicBezTo>
                  <a:pt x="107528" y="17090"/>
                  <a:pt x="91480" y="7937"/>
                  <a:pt x="71438" y="7937"/>
                </a:cubicBezTo>
                <a:close/>
                <a:moveTo>
                  <a:pt x="35719" y="63500"/>
                </a:moveTo>
                <a:cubicBezTo>
                  <a:pt x="35719" y="43786"/>
                  <a:pt x="51724" y="27781"/>
                  <a:pt x="71438" y="27781"/>
                </a:cubicBezTo>
                <a:cubicBezTo>
                  <a:pt x="91151" y="27781"/>
                  <a:pt x="107156" y="43786"/>
                  <a:pt x="107156" y="63500"/>
                </a:cubicBezTo>
                <a:cubicBezTo>
                  <a:pt x="107156" y="83214"/>
                  <a:pt x="91151" y="99219"/>
                  <a:pt x="71438" y="99219"/>
                </a:cubicBezTo>
                <a:cubicBezTo>
                  <a:pt x="51724" y="99219"/>
                  <a:pt x="35719" y="83214"/>
                  <a:pt x="35719" y="63500"/>
                </a:cubicBezTo>
                <a:close/>
                <a:moveTo>
                  <a:pt x="71438" y="47625"/>
                </a:moveTo>
                <a:cubicBezTo>
                  <a:pt x="71438" y="56381"/>
                  <a:pt x="64319" y="63500"/>
                  <a:pt x="55563" y="63500"/>
                </a:cubicBezTo>
                <a:cubicBezTo>
                  <a:pt x="52710" y="63500"/>
                  <a:pt x="50031" y="62756"/>
                  <a:pt x="47699" y="61416"/>
                </a:cubicBezTo>
                <a:cubicBezTo>
                  <a:pt x="47451" y="64120"/>
                  <a:pt x="47675" y="66898"/>
                  <a:pt x="48419" y="69652"/>
                </a:cubicBezTo>
                <a:cubicBezTo>
                  <a:pt x="51817" y="82352"/>
                  <a:pt x="64889" y="89892"/>
                  <a:pt x="77589" y="86494"/>
                </a:cubicBezTo>
                <a:cubicBezTo>
                  <a:pt x="90289" y="83096"/>
                  <a:pt x="97830" y="70024"/>
                  <a:pt x="94431" y="57324"/>
                </a:cubicBezTo>
                <a:cubicBezTo>
                  <a:pt x="91405" y="45988"/>
                  <a:pt x="80665" y="38770"/>
                  <a:pt x="69354" y="39762"/>
                </a:cubicBezTo>
                <a:cubicBezTo>
                  <a:pt x="70669" y="42069"/>
                  <a:pt x="71438" y="44748"/>
                  <a:pt x="71438" y="47625"/>
                </a:cubicBezTo>
                <a:close/>
              </a:path>
            </a:pathLst>
          </a:custGeom>
          <a:solidFill>
            <a:srgbClr val="8B0000"/>
          </a:solidFill>
          <a:ln/>
        </p:spPr>
        <p:txBody>
          <a:bodyPr/>
          <a:lstStyle/>
          <a:p>
            <a:endParaRPr lang="en-US"/>
          </a:p>
        </p:txBody>
      </p:sp>
      <p:sp>
        <p:nvSpPr>
          <p:cNvPr id="13" name="Text 11"/>
          <p:cNvSpPr/>
          <p:nvPr/>
        </p:nvSpPr>
        <p:spPr>
          <a:xfrm>
            <a:off x="5709940" y="4818063"/>
            <a:ext cx="984250"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Computer Vision</a:t>
            </a:r>
            <a:endParaRPr lang="en-US" sz="1600" dirty="0"/>
          </a:p>
        </p:txBody>
      </p:sp>
      <p:sp>
        <p:nvSpPr>
          <p:cNvPr id="14" name="Shape 12"/>
          <p:cNvSpPr/>
          <p:nvPr/>
        </p:nvSpPr>
        <p:spPr>
          <a:xfrm>
            <a:off x="6925171" y="4849813"/>
            <a:ext cx="142875" cy="127000"/>
          </a:xfrm>
          <a:custGeom>
            <a:avLst/>
            <a:gdLst/>
            <a:ahLst/>
            <a:cxnLst/>
            <a:rect l="l" t="t" r="r" b="b"/>
            <a:pathLst>
              <a:path w="142875" h="127000">
                <a:moveTo>
                  <a:pt x="11906" y="48568"/>
                </a:moveTo>
                <a:lnTo>
                  <a:pt x="63798" y="69924"/>
                </a:lnTo>
                <a:cubicBezTo>
                  <a:pt x="66229" y="70917"/>
                  <a:pt x="68808" y="71438"/>
                  <a:pt x="71438" y="71438"/>
                </a:cubicBezTo>
                <a:cubicBezTo>
                  <a:pt x="74067" y="71438"/>
                  <a:pt x="76646" y="70917"/>
                  <a:pt x="79077" y="69924"/>
                </a:cubicBezTo>
                <a:lnTo>
                  <a:pt x="139204" y="45169"/>
                </a:lnTo>
                <a:cubicBezTo>
                  <a:pt x="141436" y="44252"/>
                  <a:pt x="142875" y="42094"/>
                  <a:pt x="142875" y="39687"/>
                </a:cubicBezTo>
                <a:cubicBezTo>
                  <a:pt x="142875" y="37281"/>
                  <a:pt x="141436" y="35123"/>
                  <a:pt x="139204" y="34206"/>
                </a:cubicBezTo>
                <a:lnTo>
                  <a:pt x="79077" y="9451"/>
                </a:lnTo>
                <a:cubicBezTo>
                  <a:pt x="76646" y="8458"/>
                  <a:pt x="74067" y="7938"/>
                  <a:pt x="71438" y="7938"/>
                </a:cubicBezTo>
                <a:cubicBezTo>
                  <a:pt x="68808" y="7938"/>
                  <a:pt x="66229" y="8458"/>
                  <a:pt x="63798" y="9451"/>
                </a:cubicBezTo>
                <a:lnTo>
                  <a:pt x="3671" y="34206"/>
                </a:lnTo>
                <a:cubicBezTo>
                  <a:pt x="1439" y="35123"/>
                  <a:pt x="0" y="37281"/>
                  <a:pt x="0" y="39688"/>
                </a:cubicBezTo>
                <a:lnTo>
                  <a:pt x="0" y="113109"/>
                </a:lnTo>
                <a:cubicBezTo>
                  <a:pt x="0" y="116408"/>
                  <a:pt x="2654" y="119063"/>
                  <a:pt x="5953" y="119063"/>
                </a:cubicBezTo>
                <a:cubicBezTo>
                  <a:pt x="9252" y="119063"/>
                  <a:pt x="11906" y="116408"/>
                  <a:pt x="11906" y="113109"/>
                </a:cubicBezTo>
                <a:lnTo>
                  <a:pt x="11906" y="48568"/>
                </a:lnTo>
                <a:close/>
                <a:moveTo>
                  <a:pt x="23812" y="66353"/>
                </a:moveTo>
                <a:lnTo>
                  <a:pt x="23812" y="95250"/>
                </a:lnTo>
                <a:cubicBezTo>
                  <a:pt x="23812" y="108396"/>
                  <a:pt x="45145" y="119063"/>
                  <a:pt x="71438" y="119063"/>
                </a:cubicBezTo>
                <a:cubicBezTo>
                  <a:pt x="97730" y="119063"/>
                  <a:pt x="119063" y="108396"/>
                  <a:pt x="119063" y="95250"/>
                </a:cubicBezTo>
                <a:lnTo>
                  <a:pt x="119063" y="66328"/>
                </a:lnTo>
                <a:lnTo>
                  <a:pt x="83617" y="80938"/>
                </a:lnTo>
                <a:cubicBezTo>
                  <a:pt x="79747" y="82525"/>
                  <a:pt x="75629" y="83344"/>
                  <a:pt x="71438" y="83344"/>
                </a:cubicBezTo>
                <a:cubicBezTo>
                  <a:pt x="67246" y="83344"/>
                  <a:pt x="63128" y="82525"/>
                  <a:pt x="59258" y="80938"/>
                </a:cubicBezTo>
                <a:lnTo>
                  <a:pt x="23812" y="66328"/>
                </a:lnTo>
                <a:close/>
              </a:path>
            </a:pathLst>
          </a:custGeom>
          <a:solidFill>
            <a:srgbClr val="8B0000"/>
          </a:solidFill>
          <a:ln/>
        </p:spPr>
        <p:txBody>
          <a:bodyPr/>
          <a:lstStyle/>
          <a:p>
            <a:endParaRPr lang="en-US"/>
          </a:p>
        </p:txBody>
      </p:sp>
      <p:sp>
        <p:nvSpPr>
          <p:cNvPr id="15" name="Text 13"/>
          <p:cNvSpPr/>
          <p:nvPr/>
        </p:nvSpPr>
        <p:spPr>
          <a:xfrm>
            <a:off x="7107734" y="4818063"/>
            <a:ext cx="865188"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Interview Prep</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Contents</a:t>
            </a:r>
            <a:endParaRPr lang="en-US" sz="1600" dirty="0"/>
          </a:p>
        </p:txBody>
      </p:sp>
      <p:sp>
        <p:nvSpPr>
          <p:cNvPr id="3" name="Shape 1"/>
          <p:cNvSpPr/>
          <p:nvPr/>
        </p:nvSpPr>
        <p:spPr>
          <a:xfrm>
            <a:off x="381000" y="9525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a:ln/>
        </p:spPr>
        <p:txBody>
          <a:bodyPr/>
          <a:lstStyle/>
          <a:p>
            <a:endParaRPr lang="en-US"/>
          </a:p>
        </p:txBody>
      </p:sp>
      <p:sp>
        <p:nvSpPr>
          <p:cNvPr id="4" name="Shape 2"/>
          <p:cNvSpPr/>
          <p:nvPr/>
        </p:nvSpPr>
        <p:spPr>
          <a:xfrm>
            <a:off x="400050" y="12954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5" name="Shape 3"/>
          <p:cNvSpPr/>
          <p:nvPr/>
        </p:nvSpPr>
        <p:spPr>
          <a:xfrm>
            <a:off x="400050" y="12954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6" name="Text 4"/>
          <p:cNvSpPr/>
          <p:nvPr/>
        </p:nvSpPr>
        <p:spPr>
          <a:xfrm>
            <a:off x="571500" y="1447800"/>
            <a:ext cx="37147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01</a:t>
            </a:r>
            <a:endParaRPr lang="en-US" sz="1600" dirty="0"/>
          </a:p>
        </p:txBody>
      </p:sp>
      <p:sp>
        <p:nvSpPr>
          <p:cNvPr id="7" name="Text 5"/>
          <p:cNvSpPr/>
          <p:nvPr/>
        </p:nvSpPr>
        <p:spPr>
          <a:xfrm>
            <a:off x="955358" y="1447800"/>
            <a:ext cx="36671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Introduction to Object Detection</a:t>
            </a:r>
            <a:endParaRPr lang="en-US" sz="1600" dirty="0"/>
          </a:p>
        </p:txBody>
      </p:sp>
      <p:sp>
        <p:nvSpPr>
          <p:cNvPr id="8" name="Text 6"/>
          <p:cNvSpPr/>
          <p:nvPr/>
        </p:nvSpPr>
        <p:spPr>
          <a:xfrm>
            <a:off x="955358" y="1752600"/>
            <a:ext cx="364807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YOLO's revolutionary approach vs traditional methods</a:t>
            </a:r>
            <a:endParaRPr lang="en-US" sz="1600" dirty="0"/>
          </a:p>
        </p:txBody>
      </p:sp>
      <p:sp>
        <p:nvSpPr>
          <p:cNvPr id="9" name="Shape 7"/>
          <p:cNvSpPr/>
          <p:nvPr/>
        </p:nvSpPr>
        <p:spPr>
          <a:xfrm>
            <a:off x="6343650" y="12954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10" name="Shape 8"/>
          <p:cNvSpPr/>
          <p:nvPr/>
        </p:nvSpPr>
        <p:spPr>
          <a:xfrm>
            <a:off x="6343650" y="12954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11" name="Text 9"/>
          <p:cNvSpPr/>
          <p:nvPr/>
        </p:nvSpPr>
        <p:spPr>
          <a:xfrm>
            <a:off x="6515100" y="1447800"/>
            <a:ext cx="4286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02</a:t>
            </a:r>
            <a:endParaRPr lang="en-US" sz="1600" dirty="0"/>
          </a:p>
        </p:txBody>
      </p:sp>
      <p:sp>
        <p:nvSpPr>
          <p:cNvPr id="12" name="Text 10"/>
          <p:cNvSpPr/>
          <p:nvPr/>
        </p:nvSpPr>
        <p:spPr>
          <a:xfrm>
            <a:off x="6951822" y="1447800"/>
            <a:ext cx="34194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YOLO Architecture &amp; Core Concepts</a:t>
            </a:r>
            <a:endParaRPr lang="en-US" sz="1600" dirty="0"/>
          </a:p>
        </p:txBody>
      </p:sp>
      <p:sp>
        <p:nvSpPr>
          <p:cNvPr id="13" name="Text 11"/>
          <p:cNvSpPr/>
          <p:nvPr/>
        </p:nvSpPr>
        <p:spPr>
          <a:xfrm>
            <a:off x="6951822" y="1752600"/>
            <a:ext cx="34004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Network design, grid division, spatial responsibility</a:t>
            </a:r>
            <a:endParaRPr lang="en-US" sz="1600" dirty="0"/>
          </a:p>
        </p:txBody>
      </p:sp>
      <p:sp>
        <p:nvSpPr>
          <p:cNvPr id="14" name="Shape 12"/>
          <p:cNvSpPr/>
          <p:nvPr/>
        </p:nvSpPr>
        <p:spPr>
          <a:xfrm>
            <a:off x="400050" y="22860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15" name="Shape 13"/>
          <p:cNvSpPr/>
          <p:nvPr/>
        </p:nvSpPr>
        <p:spPr>
          <a:xfrm>
            <a:off x="400050" y="22860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16" name="Text 14"/>
          <p:cNvSpPr/>
          <p:nvPr/>
        </p:nvSpPr>
        <p:spPr>
          <a:xfrm>
            <a:off x="571500" y="2438400"/>
            <a:ext cx="4286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03</a:t>
            </a:r>
            <a:endParaRPr lang="en-US" sz="1600" dirty="0"/>
          </a:p>
        </p:txBody>
      </p:sp>
      <p:sp>
        <p:nvSpPr>
          <p:cNvPr id="17" name="Text 15"/>
          <p:cNvSpPr/>
          <p:nvPr/>
        </p:nvSpPr>
        <p:spPr>
          <a:xfrm>
            <a:off x="1009650" y="2438400"/>
            <a:ext cx="26955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Bounding Boxes &amp; Localization</a:t>
            </a:r>
            <a:endParaRPr lang="en-US" sz="1600" dirty="0"/>
          </a:p>
        </p:txBody>
      </p:sp>
      <p:sp>
        <p:nvSpPr>
          <p:cNvPr id="18" name="Text 16"/>
          <p:cNvSpPr/>
          <p:nvPr/>
        </p:nvSpPr>
        <p:spPr>
          <a:xfrm>
            <a:off x="1009650" y="2743200"/>
            <a:ext cx="26765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Coordinate predictions, anchor boxes</a:t>
            </a:r>
            <a:endParaRPr lang="en-US" sz="1600" dirty="0"/>
          </a:p>
        </p:txBody>
      </p:sp>
      <p:sp>
        <p:nvSpPr>
          <p:cNvPr id="19" name="Shape 17"/>
          <p:cNvSpPr/>
          <p:nvPr/>
        </p:nvSpPr>
        <p:spPr>
          <a:xfrm>
            <a:off x="6343650" y="22860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20" name="Shape 18"/>
          <p:cNvSpPr/>
          <p:nvPr/>
        </p:nvSpPr>
        <p:spPr>
          <a:xfrm>
            <a:off x="6343650" y="22860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21" name="Text 19"/>
          <p:cNvSpPr/>
          <p:nvPr/>
        </p:nvSpPr>
        <p:spPr>
          <a:xfrm>
            <a:off x="6515100" y="2438400"/>
            <a:ext cx="438150"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04</a:t>
            </a:r>
            <a:endParaRPr lang="en-US" sz="1600" dirty="0"/>
          </a:p>
        </p:txBody>
      </p:sp>
      <p:sp>
        <p:nvSpPr>
          <p:cNvPr id="22" name="Text 20"/>
          <p:cNvSpPr/>
          <p:nvPr/>
        </p:nvSpPr>
        <p:spPr>
          <a:xfrm>
            <a:off x="6966109" y="2438400"/>
            <a:ext cx="2914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Confidence Scores &amp; Probabilities</a:t>
            </a:r>
            <a:endParaRPr lang="en-US" sz="1600" dirty="0"/>
          </a:p>
        </p:txBody>
      </p:sp>
      <p:sp>
        <p:nvSpPr>
          <p:cNvPr id="23" name="Text 21"/>
          <p:cNvSpPr/>
          <p:nvPr/>
        </p:nvSpPr>
        <p:spPr>
          <a:xfrm>
            <a:off x="6966109" y="2743200"/>
            <a:ext cx="28956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Objectness, class probabilities, final scores</a:t>
            </a:r>
            <a:endParaRPr lang="en-US" sz="1600" dirty="0"/>
          </a:p>
        </p:txBody>
      </p:sp>
      <p:sp>
        <p:nvSpPr>
          <p:cNvPr id="24" name="Shape 22"/>
          <p:cNvSpPr/>
          <p:nvPr/>
        </p:nvSpPr>
        <p:spPr>
          <a:xfrm>
            <a:off x="400050" y="32766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25" name="Shape 23"/>
          <p:cNvSpPr/>
          <p:nvPr/>
        </p:nvSpPr>
        <p:spPr>
          <a:xfrm>
            <a:off x="400050" y="32766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26" name="Text 24"/>
          <p:cNvSpPr/>
          <p:nvPr/>
        </p:nvSpPr>
        <p:spPr>
          <a:xfrm>
            <a:off x="571500" y="3429000"/>
            <a:ext cx="4286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05</a:t>
            </a:r>
            <a:endParaRPr lang="en-US" sz="1600" dirty="0"/>
          </a:p>
        </p:txBody>
      </p:sp>
      <p:sp>
        <p:nvSpPr>
          <p:cNvPr id="27" name="Text 25"/>
          <p:cNvSpPr/>
          <p:nvPr/>
        </p:nvSpPr>
        <p:spPr>
          <a:xfrm>
            <a:off x="1006793" y="3429000"/>
            <a:ext cx="255270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Intersection over Union (IoU)</a:t>
            </a:r>
            <a:endParaRPr lang="en-US" sz="1600" dirty="0"/>
          </a:p>
        </p:txBody>
      </p:sp>
      <p:sp>
        <p:nvSpPr>
          <p:cNvPr id="28" name="Text 26"/>
          <p:cNvSpPr/>
          <p:nvPr/>
        </p:nvSpPr>
        <p:spPr>
          <a:xfrm>
            <a:off x="1006793" y="3733800"/>
            <a:ext cx="25336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Measuring box overlap quality</a:t>
            </a:r>
            <a:endParaRPr lang="en-US" sz="1600" dirty="0"/>
          </a:p>
        </p:txBody>
      </p:sp>
      <p:sp>
        <p:nvSpPr>
          <p:cNvPr id="29" name="Shape 27"/>
          <p:cNvSpPr/>
          <p:nvPr/>
        </p:nvSpPr>
        <p:spPr>
          <a:xfrm>
            <a:off x="6343650" y="32766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30" name="Shape 28"/>
          <p:cNvSpPr/>
          <p:nvPr/>
        </p:nvSpPr>
        <p:spPr>
          <a:xfrm>
            <a:off x="6343650" y="32766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31" name="Text 29"/>
          <p:cNvSpPr/>
          <p:nvPr/>
        </p:nvSpPr>
        <p:spPr>
          <a:xfrm>
            <a:off x="6515100" y="3429000"/>
            <a:ext cx="4286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06</a:t>
            </a:r>
            <a:endParaRPr lang="en-US" sz="1600" dirty="0"/>
          </a:p>
        </p:txBody>
      </p:sp>
      <p:sp>
        <p:nvSpPr>
          <p:cNvPr id="32" name="Text 30"/>
          <p:cNvSpPr/>
          <p:nvPr/>
        </p:nvSpPr>
        <p:spPr>
          <a:xfrm>
            <a:off x="6957536" y="3429000"/>
            <a:ext cx="30384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Non-Maximum Suppression (NMS)</a:t>
            </a:r>
            <a:endParaRPr lang="en-US" sz="1600" dirty="0"/>
          </a:p>
        </p:txBody>
      </p:sp>
      <p:sp>
        <p:nvSpPr>
          <p:cNvPr id="33" name="Text 31"/>
          <p:cNvSpPr/>
          <p:nvPr/>
        </p:nvSpPr>
        <p:spPr>
          <a:xfrm>
            <a:off x="6957536" y="3733800"/>
            <a:ext cx="30194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Eliminating duplicate detections</a:t>
            </a:r>
            <a:endParaRPr lang="en-US" sz="1600" dirty="0"/>
          </a:p>
        </p:txBody>
      </p:sp>
      <p:sp>
        <p:nvSpPr>
          <p:cNvPr id="34" name="Shape 32"/>
          <p:cNvSpPr/>
          <p:nvPr/>
        </p:nvSpPr>
        <p:spPr>
          <a:xfrm>
            <a:off x="400050" y="42672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35" name="Shape 33"/>
          <p:cNvSpPr/>
          <p:nvPr/>
        </p:nvSpPr>
        <p:spPr>
          <a:xfrm>
            <a:off x="400050" y="42672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36" name="Text 34"/>
          <p:cNvSpPr/>
          <p:nvPr/>
        </p:nvSpPr>
        <p:spPr>
          <a:xfrm>
            <a:off x="571500" y="4419600"/>
            <a:ext cx="419100"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07</a:t>
            </a:r>
            <a:endParaRPr lang="en-US" sz="1600" dirty="0"/>
          </a:p>
        </p:txBody>
      </p:sp>
      <p:sp>
        <p:nvSpPr>
          <p:cNvPr id="37" name="Text 35"/>
          <p:cNvSpPr/>
          <p:nvPr/>
        </p:nvSpPr>
        <p:spPr>
          <a:xfrm>
            <a:off x="999173" y="4419600"/>
            <a:ext cx="36290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YOLO Loss Function</a:t>
            </a:r>
            <a:endParaRPr lang="en-US" sz="1600" dirty="0"/>
          </a:p>
        </p:txBody>
      </p:sp>
      <p:sp>
        <p:nvSpPr>
          <p:cNvPr id="38" name="Text 36"/>
          <p:cNvSpPr/>
          <p:nvPr/>
        </p:nvSpPr>
        <p:spPr>
          <a:xfrm>
            <a:off x="999173" y="4724400"/>
            <a:ext cx="360997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Multi-part loss: coordinates, confidence, classification</a:t>
            </a:r>
            <a:endParaRPr lang="en-US" sz="1600" dirty="0"/>
          </a:p>
        </p:txBody>
      </p:sp>
      <p:sp>
        <p:nvSpPr>
          <p:cNvPr id="39" name="Shape 37"/>
          <p:cNvSpPr/>
          <p:nvPr/>
        </p:nvSpPr>
        <p:spPr>
          <a:xfrm>
            <a:off x="6343650" y="42672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40" name="Shape 38"/>
          <p:cNvSpPr/>
          <p:nvPr/>
        </p:nvSpPr>
        <p:spPr>
          <a:xfrm>
            <a:off x="6343650" y="42672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41" name="Text 39"/>
          <p:cNvSpPr/>
          <p:nvPr/>
        </p:nvSpPr>
        <p:spPr>
          <a:xfrm>
            <a:off x="6515100" y="4419600"/>
            <a:ext cx="438150"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08</a:t>
            </a:r>
            <a:endParaRPr lang="en-US" sz="1600" dirty="0"/>
          </a:p>
        </p:txBody>
      </p:sp>
      <p:sp>
        <p:nvSpPr>
          <p:cNvPr id="42" name="Text 40"/>
          <p:cNvSpPr/>
          <p:nvPr/>
        </p:nvSpPr>
        <p:spPr>
          <a:xfrm>
            <a:off x="6961823" y="4419600"/>
            <a:ext cx="26955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YOLO Evolution: v1 to v8</a:t>
            </a:r>
            <a:endParaRPr lang="en-US" sz="1600" dirty="0"/>
          </a:p>
        </p:txBody>
      </p:sp>
      <p:sp>
        <p:nvSpPr>
          <p:cNvPr id="43" name="Text 41"/>
          <p:cNvSpPr/>
          <p:nvPr/>
        </p:nvSpPr>
        <p:spPr>
          <a:xfrm>
            <a:off x="6961823" y="4724400"/>
            <a:ext cx="26765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Version comparison and improvements</a:t>
            </a:r>
            <a:endParaRPr lang="en-US" sz="1600" dirty="0"/>
          </a:p>
        </p:txBody>
      </p:sp>
      <p:sp>
        <p:nvSpPr>
          <p:cNvPr id="44" name="Shape 42"/>
          <p:cNvSpPr/>
          <p:nvPr/>
        </p:nvSpPr>
        <p:spPr>
          <a:xfrm>
            <a:off x="400050" y="52578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45" name="Shape 43"/>
          <p:cNvSpPr/>
          <p:nvPr/>
        </p:nvSpPr>
        <p:spPr>
          <a:xfrm>
            <a:off x="400050" y="52578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46" name="Text 44"/>
          <p:cNvSpPr/>
          <p:nvPr/>
        </p:nvSpPr>
        <p:spPr>
          <a:xfrm>
            <a:off x="571500" y="5410200"/>
            <a:ext cx="4286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09</a:t>
            </a:r>
            <a:endParaRPr lang="en-US" sz="1600" dirty="0"/>
          </a:p>
        </p:txBody>
      </p:sp>
      <p:sp>
        <p:nvSpPr>
          <p:cNvPr id="47" name="Text 45"/>
          <p:cNvSpPr/>
          <p:nvPr/>
        </p:nvSpPr>
        <p:spPr>
          <a:xfrm>
            <a:off x="1013936" y="5410200"/>
            <a:ext cx="24193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Limitations &amp; Challenges</a:t>
            </a:r>
            <a:endParaRPr lang="en-US" sz="1600" dirty="0"/>
          </a:p>
        </p:txBody>
      </p:sp>
      <p:sp>
        <p:nvSpPr>
          <p:cNvPr id="48" name="Text 46"/>
          <p:cNvSpPr/>
          <p:nvPr/>
        </p:nvSpPr>
        <p:spPr>
          <a:xfrm>
            <a:off x="1013936" y="5715000"/>
            <a:ext cx="24003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Understanding YOLO's weaknesses</a:t>
            </a:r>
            <a:endParaRPr lang="en-US" sz="1600" dirty="0"/>
          </a:p>
        </p:txBody>
      </p:sp>
      <p:sp>
        <p:nvSpPr>
          <p:cNvPr id="49" name="Shape 47"/>
          <p:cNvSpPr/>
          <p:nvPr/>
        </p:nvSpPr>
        <p:spPr>
          <a:xfrm>
            <a:off x="6343650" y="5257800"/>
            <a:ext cx="5467350" cy="838200"/>
          </a:xfrm>
          <a:custGeom>
            <a:avLst/>
            <a:gdLst/>
            <a:ahLst/>
            <a:cxnLst/>
            <a:rect l="l" t="t" r="r" b="b"/>
            <a:pathLst>
              <a:path w="5467350" h="838200">
                <a:moveTo>
                  <a:pt x="38100" y="0"/>
                </a:moveTo>
                <a:lnTo>
                  <a:pt x="5391149" y="0"/>
                </a:lnTo>
                <a:cubicBezTo>
                  <a:pt x="5433234" y="0"/>
                  <a:pt x="5467350" y="34116"/>
                  <a:pt x="5467350" y="76201"/>
                </a:cubicBezTo>
                <a:lnTo>
                  <a:pt x="5467350" y="761999"/>
                </a:lnTo>
                <a:cubicBezTo>
                  <a:pt x="5467350" y="804084"/>
                  <a:pt x="5433234" y="838200"/>
                  <a:pt x="5391149" y="838200"/>
                </a:cubicBezTo>
                <a:lnTo>
                  <a:pt x="38100" y="838200"/>
                </a:lnTo>
                <a:cubicBezTo>
                  <a:pt x="17058" y="838200"/>
                  <a:pt x="0" y="821142"/>
                  <a:pt x="0" y="800100"/>
                </a:cubicBezTo>
                <a:lnTo>
                  <a:pt x="0" y="38100"/>
                </a:lnTo>
                <a:cubicBezTo>
                  <a:pt x="0" y="17072"/>
                  <a:pt x="17072" y="0"/>
                  <a:pt x="38100" y="0"/>
                </a:cubicBezTo>
                <a:close/>
              </a:path>
            </a:pathLst>
          </a:custGeom>
          <a:solidFill>
            <a:srgbClr val="F9FAFB"/>
          </a:solidFill>
          <a:ln/>
        </p:spPr>
        <p:txBody>
          <a:bodyPr/>
          <a:lstStyle/>
          <a:p>
            <a:endParaRPr lang="en-US"/>
          </a:p>
        </p:txBody>
      </p:sp>
      <p:sp>
        <p:nvSpPr>
          <p:cNvPr id="50" name="Shape 48"/>
          <p:cNvSpPr/>
          <p:nvPr/>
        </p:nvSpPr>
        <p:spPr>
          <a:xfrm>
            <a:off x="6343650" y="5257800"/>
            <a:ext cx="38100" cy="838200"/>
          </a:xfrm>
          <a:custGeom>
            <a:avLst/>
            <a:gdLst/>
            <a:ahLst/>
            <a:cxnLst/>
            <a:rect l="l" t="t" r="r" b="b"/>
            <a:pathLst>
              <a:path w="38100" h="838200">
                <a:moveTo>
                  <a:pt x="38100" y="0"/>
                </a:moveTo>
                <a:lnTo>
                  <a:pt x="38100" y="0"/>
                </a:lnTo>
                <a:lnTo>
                  <a:pt x="38100" y="838200"/>
                </a:lnTo>
                <a:lnTo>
                  <a:pt x="38100" y="838200"/>
                </a:lnTo>
                <a:cubicBezTo>
                  <a:pt x="17072" y="838200"/>
                  <a:pt x="0" y="821128"/>
                  <a:pt x="0" y="800100"/>
                </a:cubicBezTo>
                <a:lnTo>
                  <a:pt x="0" y="38100"/>
                </a:lnTo>
                <a:cubicBezTo>
                  <a:pt x="0" y="17072"/>
                  <a:pt x="17072" y="0"/>
                  <a:pt x="38100" y="0"/>
                </a:cubicBezTo>
                <a:close/>
              </a:path>
            </a:pathLst>
          </a:custGeom>
          <a:solidFill>
            <a:srgbClr val="8B0000"/>
          </a:solidFill>
          <a:ln/>
        </p:spPr>
        <p:txBody>
          <a:bodyPr/>
          <a:lstStyle/>
          <a:p>
            <a:endParaRPr lang="en-US"/>
          </a:p>
        </p:txBody>
      </p:sp>
      <p:sp>
        <p:nvSpPr>
          <p:cNvPr id="51" name="Text 49"/>
          <p:cNvSpPr/>
          <p:nvPr/>
        </p:nvSpPr>
        <p:spPr>
          <a:xfrm>
            <a:off x="6515100" y="5410200"/>
            <a:ext cx="37147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Oranienbaum" pitchFamily="34" charset="0"/>
                <a:ea typeface="Oranienbaum" pitchFamily="34" charset="-122"/>
                <a:cs typeface="Oranienbaum" pitchFamily="34" charset="-120"/>
              </a:rPr>
              <a:t>10</a:t>
            </a:r>
            <a:endParaRPr lang="en-US" sz="1600" dirty="0"/>
          </a:p>
        </p:txBody>
      </p:sp>
      <p:sp>
        <p:nvSpPr>
          <p:cNvPr id="52" name="Text 50"/>
          <p:cNvSpPr/>
          <p:nvPr/>
        </p:nvSpPr>
        <p:spPr>
          <a:xfrm>
            <a:off x="6898957" y="5410200"/>
            <a:ext cx="26574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Top Interview Questions</a:t>
            </a:r>
            <a:endParaRPr lang="en-US" sz="1600" dirty="0"/>
          </a:p>
        </p:txBody>
      </p:sp>
      <p:sp>
        <p:nvSpPr>
          <p:cNvPr id="53" name="Text 51"/>
          <p:cNvSpPr/>
          <p:nvPr/>
        </p:nvSpPr>
        <p:spPr>
          <a:xfrm>
            <a:off x="6898957" y="5715000"/>
            <a:ext cx="26384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Most frequently asked YOLO questions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43839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01</a:t>
            </a:r>
            <a:endParaRPr lang="en-US" sz="1600" dirty="0"/>
          </a:p>
        </p:txBody>
      </p:sp>
      <p:sp>
        <p:nvSpPr>
          <p:cNvPr id="3" name="Text 1"/>
          <p:cNvSpPr/>
          <p:nvPr/>
        </p:nvSpPr>
        <p:spPr>
          <a:xfrm>
            <a:off x="381000" y="288619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Introduction to</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Object Detection</a:t>
            </a:r>
            <a:endParaRPr lang="en-US" sz="1600" dirty="0"/>
          </a:p>
        </p:txBody>
      </p:sp>
      <p:sp>
        <p:nvSpPr>
          <p:cNvPr id="4" name="Shape 2"/>
          <p:cNvSpPr/>
          <p:nvPr/>
        </p:nvSpPr>
        <p:spPr>
          <a:xfrm>
            <a:off x="381000" y="4543544"/>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810244"/>
            <a:ext cx="11544300" cy="6096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Understanding the fundamentals of object detection</a:t>
            </a:r>
            <a:endParaRPr lang="en-US" sz="1600" dirty="0"/>
          </a:p>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and YOLO's revolutionary approach</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8B0000"/>
                </a:solidFill>
                <a:latin typeface="Quattrocento Sans" pitchFamily="34" charset="0"/>
                <a:ea typeface="Quattrocento Sans" pitchFamily="34" charset="-122"/>
                <a:cs typeface="Quattrocento Sans" pitchFamily="34" charset="-120"/>
              </a:rPr>
              <a:t>1.1 FOUNDATIONS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What is Object Detection?</a:t>
            </a:r>
            <a:endParaRPr lang="en-US" sz="1600" dirty="0"/>
          </a:p>
        </p:txBody>
      </p:sp>
      <p:sp>
        <p:nvSpPr>
          <p:cNvPr id="4" name="Shape 2"/>
          <p:cNvSpPr/>
          <p:nvPr/>
        </p:nvSpPr>
        <p:spPr>
          <a:xfrm>
            <a:off x="400050" y="1181100"/>
            <a:ext cx="5581650" cy="1657350"/>
          </a:xfrm>
          <a:custGeom>
            <a:avLst/>
            <a:gdLst/>
            <a:ahLst/>
            <a:cxnLst/>
            <a:rect l="l" t="t" r="r" b="b"/>
            <a:pathLst>
              <a:path w="5581650" h="1657350">
                <a:moveTo>
                  <a:pt x="38100" y="0"/>
                </a:moveTo>
                <a:lnTo>
                  <a:pt x="5505445" y="0"/>
                </a:lnTo>
                <a:cubicBezTo>
                  <a:pt x="5547532" y="0"/>
                  <a:pt x="5581650" y="34118"/>
                  <a:pt x="5581650" y="76205"/>
                </a:cubicBezTo>
                <a:lnTo>
                  <a:pt x="5581650" y="1581145"/>
                </a:lnTo>
                <a:cubicBezTo>
                  <a:pt x="5581650" y="1623232"/>
                  <a:pt x="5547532" y="1657350"/>
                  <a:pt x="5505445" y="1657350"/>
                </a:cubicBezTo>
                <a:lnTo>
                  <a:pt x="38100" y="1657350"/>
                </a:lnTo>
                <a:cubicBezTo>
                  <a:pt x="17072" y="1657350"/>
                  <a:pt x="0" y="1640278"/>
                  <a:pt x="0" y="1619250"/>
                </a:cubicBezTo>
                <a:lnTo>
                  <a:pt x="0" y="38100"/>
                </a:lnTo>
                <a:cubicBezTo>
                  <a:pt x="0" y="17072"/>
                  <a:pt x="17072" y="0"/>
                  <a:pt x="38100" y="0"/>
                </a:cubicBezTo>
                <a:close/>
              </a:path>
            </a:pathLst>
          </a:custGeom>
          <a:solidFill>
            <a:srgbClr val="F9FAFB"/>
          </a:solidFill>
          <a:ln/>
        </p:spPr>
        <p:txBody>
          <a:bodyPr/>
          <a:lstStyle/>
          <a:p>
            <a:endParaRPr lang="en-US"/>
          </a:p>
        </p:txBody>
      </p:sp>
      <p:sp>
        <p:nvSpPr>
          <p:cNvPr id="5" name="Shape 3"/>
          <p:cNvSpPr/>
          <p:nvPr/>
        </p:nvSpPr>
        <p:spPr>
          <a:xfrm>
            <a:off x="400050" y="1181100"/>
            <a:ext cx="38100" cy="1657350"/>
          </a:xfrm>
          <a:custGeom>
            <a:avLst/>
            <a:gdLst/>
            <a:ahLst/>
            <a:cxnLst/>
            <a:rect l="l" t="t" r="r" b="b"/>
            <a:pathLst>
              <a:path w="38100" h="1657350">
                <a:moveTo>
                  <a:pt x="38100" y="0"/>
                </a:moveTo>
                <a:lnTo>
                  <a:pt x="38100" y="0"/>
                </a:lnTo>
                <a:lnTo>
                  <a:pt x="38100" y="1657350"/>
                </a:lnTo>
                <a:lnTo>
                  <a:pt x="38100" y="1657350"/>
                </a:lnTo>
                <a:cubicBezTo>
                  <a:pt x="17072" y="1657350"/>
                  <a:pt x="0" y="1640278"/>
                  <a:pt x="0" y="1619250"/>
                </a:cubicBezTo>
                <a:lnTo>
                  <a:pt x="0" y="38100"/>
                </a:lnTo>
                <a:cubicBezTo>
                  <a:pt x="0" y="17072"/>
                  <a:pt x="17072" y="0"/>
                  <a:pt x="38100" y="0"/>
                </a:cubicBezTo>
                <a:close/>
              </a:path>
            </a:pathLst>
          </a:custGeom>
          <a:solidFill>
            <a:srgbClr val="8B0000"/>
          </a:solidFill>
          <a:ln/>
        </p:spPr>
        <p:txBody>
          <a:bodyPr/>
          <a:lstStyle/>
          <a:p>
            <a:endParaRPr lang="en-US"/>
          </a:p>
        </p:txBody>
      </p:sp>
      <p:sp>
        <p:nvSpPr>
          <p:cNvPr id="6" name="Shape 4"/>
          <p:cNvSpPr/>
          <p:nvPr/>
        </p:nvSpPr>
        <p:spPr>
          <a:xfrm>
            <a:off x="595313" y="1371600"/>
            <a:ext cx="190500" cy="190500"/>
          </a:xfrm>
          <a:custGeom>
            <a:avLst/>
            <a:gdLst/>
            <a:ahLst/>
            <a:cxnLst/>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a:srgbClr val="8B0000"/>
          </a:solidFill>
          <a:ln/>
        </p:spPr>
        <p:txBody>
          <a:bodyPr/>
          <a:lstStyle/>
          <a:p>
            <a:endParaRPr lang="en-US"/>
          </a:p>
        </p:txBody>
      </p:sp>
      <p:sp>
        <p:nvSpPr>
          <p:cNvPr id="7" name="Text 5"/>
          <p:cNvSpPr/>
          <p:nvPr/>
        </p:nvSpPr>
        <p:spPr>
          <a:xfrm>
            <a:off x="809625" y="1333500"/>
            <a:ext cx="51149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Definition</a:t>
            </a:r>
            <a:endParaRPr lang="en-US" sz="1600" dirty="0"/>
          </a:p>
        </p:txBody>
      </p:sp>
      <p:sp>
        <p:nvSpPr>
          <p:cNvPr id="8" name="Text 6"/>
          <p:cNvSpPr/>
          <p:nvPr/>
        </p:nvSpPr>
        <p:spPr>
          <a:xfrm>
            <a:off x="571500" y="1676400"/>
            <a:ext cx="5334000"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Quattrocento Sans" pitchFamily="34" charset="0"/>
                <a:ea typeface="Quattrocento Sans" pitchFamily="34" charset="-122"/>
                <a:cs typeface="Quattrocento Sans" pitchFamily="34" charset="-120"/>
              </a:rPr>
              <a:t>Object detection</a:t>
            </a:r>
            <a:r>
              <a:rPr lang="en-US" sz="1200" dirty="0">
                <a:solidFill>
                  <a:srgbClr val="1F2937"/>
                </a:solidFill>
                <a:latin typeface="Quattrocento Sans" pitchFamily="34" charset="0"/>
                <a:ea typeface="Quattrocento Sans" pitchFamily="34" charset="-122"/>
                <a:cs typeface="Quattrocento Sans" pitchFamily="34" charset="-120"/>
              </a:rPr>
              <a:t> combines </a:t>
            </a:r>
            <a:r>
              <a:rPr lang="en-US" sz="1200" dirty="0">
                <a:solidFill>
                  <a:srgbClr val="FFFFFF"/>
                </a:solidFill>
                <a:highlight>
                  <a:srgbClr val="8B0000">
                    <a:alpha val="100000"/>
                  </a:srgbClr>
                </a:highlight>
                <a:latin typeface="Quattrocento Sans" pitchFamily="34" charset="0"/>
                <a:ea typeface="Quattrocento Sans" pitchFamily="34" charset="-122"/>
                <a:cs typeface="Quattrocento Sans" pitchFamily="34" charset="-120"/>
              </a:rPr>
              <a:t>image classification </a:t>
            </a:r>
            <a:r>
              <a:rPr lang="en-US" sz="1200" dirty="0">
                <a:solidFill>
                  <a:srgbClr val="1F2937"/>
                </a:solidFill>
                <a:latin typeface="Quattrocento Sans" pitchFamily="34" charset="0"/>
                <a:ea typeface="Quattrocento Sans" pitchFamily="34" charset="-122"/>
                <a:cs typeface="Quattrocento Sans" pitchFamily="34" charset="-120"/>
              </a:rPr>
              <a:t>(what is it?) and </a:t>
            </a:r>
            <a:r>
              <a:rPr lang="en-US" sz="1200" dirty="0">
                <a:solidFill>
                  <a:srgbClr val="FFFFFF"/>
                </a:solidFill>
                <a:highlight>
                  <a:srgbClr val="8B0000">
                    <a:alpha val="100000"/>
                  </a:srgbClr>
                </a:highlight>
                <a:latin typeface="Quattrocento Sans" pitchFamily="34" charset="0"/>
                <a:ea typeface="Quattrocento Sans" pitchFamily="34" charset="-122"/>
                <a:cs typeface="Quattrocento Sans" pitchFamily="34" charset="-120"/>
              </a:rPr>
              <a:t>localization </a:t>
            </a:r>
            <a:r>
              <a:rPr lang="en-US" sz="1200" dirty="0">
                <a:solidFill>
                  <a:srgbClr val="1F2937"/>
                </a:solidFill>
                <a:latin typeface="Quattrocento Sans" pitchFamily="34" charset="0"/>
                <a:ea typeface="Quattrocento Sans" pitchFamily="34" charset="-122"/>
                <a:cs typeface="Quattrocento Sans" pitchFamily="34" charset="-120"/>
              </a:rPr>
              <a:t>(where is it?).</a:t>
            </a:r>
            <a:endParaRPr lang="en-US" sz="1600" dirty="0"/>
          </a:p>
        </p:txBody>
      </p:sp>
      <p:sp>
        <p:nvSpPr>
          <p:cNvPr id="9" name="Shape 7"/>
          <p:cNvSpPr/>
          <p:nvPr/>
        </p:nvSpPr>
        <p:spPr>
          <a:xfrm>
            <a:off x="575310" y="2213610"/>
            <a:ext cx="5246370" cy="464820"/>
          </a:xfrm>
          <a:custGeom>
            <a:avLst/>
            <a:gdLst/>
            <a:ahLst/>
            <a:cxnLst/>
            <a:rect l="l" t="t" r="r" b="b"/>
            <a:pathLst>
              <a:path w="5246370" h="464820">
                <a:moveTo>
                  <a:pt x="38101" y="0"/>
                </a:moveTo>
                <a:lnTo>
                  <a:pt x="5208269" y="0"/>
                </a:lnTo>
                <a:cubicBezTo>
                  <a:pt x="5229311" y="0"/>
                  <a:pt x="5246370" y="17059"/>
                  <a:pt x="5246370" y="38101"/>
                </a:cubicBezTo>
                <a:lnTo>
                  <a:pt x="5246370" y="426719"/>
                </a:lnTo>
                <a:cubicBezTo>
                  <a:pt x="5246370" y="447761"/>
                  <a:pt x="5229311" y="464820"/>
                  <a:pt x="5208269" y="464820"/>
                </a:cubicBezTo>
                <a:lnTo>
                  <a:pt x="38101" y="464820"/>
                </a:lnTo>
                <a:cubicBezTo>
                  <a:pt x="17059" y="464820"/>
                  <a:pt x="0" y="447761"/>
                  <a:pt x="0" y="426719"/>
                </a:cubicBezTo>
                <a:lnTo>
                  <a:pt x="0" y="38101"/>
                </a:lnTo>
                <a:cubicBezTo>
                  <a:pt x="0" y="17059"/>
                  <a:pt x="17059" y="0"/>
                  <a:pt x="38101" y="0"/>
                </a:cubicBezTo>
                <a:close/>
              </a:path>
            </a:pathLst>
          </a:custGeom>
          <a:solidFill>
            <a:srgbClr val="FFFFFF"/>
          </a:solidFill>
          <a:ln w="10160">
            <a:solidFill>
              <a:srgbClr val="E5E7EB"/>
            </a:solidFill>
            <a:prstDash val="solid"/>
          </a:ln>
        </p:spPr>
        <p:txBody>
          <a:bodyPr/>
          <a:lstStyle/>
          <a:p>
            <a:endParaRPr lang="en-US"/>
          </a:p>
        </p:txBody>
      </p:sp>
      <p:sp>
        <p:nvSpPr>
          <p:cNvPr id="10" name="Text 8"/>
          <p:cNvSpPr/>
          <p:nvPr/>
        </p:nvSpPr>
        <p:spPr>
          <a:xfrm>
            <a:off x="693420" y="2331720"/>
            <a:ext cx="50863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Output: Bounding boxes + class labels for all objects in an image</a:t>
            </a:r>
            <a:endParaRPr lang="en-US" sz="1600" dirty="0"/>
          </a:p>
        </p:txBody>
      </p:sp>
      <p:sp>
        <p:nvSpPr>
          <p:cNvPr id="11" name="Shape 9"/>
          <p:cNvSpPr/>
          <p:nvPr/>
        </p:nvSpPr>
        <p:spPr>
          <a:xfrm>
            <a:off x="381000" y="2987041"/>
            <a:ext cx="5600700" cy="1847850"/>
          </a:xfrm>
          <a:custGeom>
            <a:avLst/>
            <a:gdLst/>
            <a:ahLst/>
            <a:cxnLst/>
            <a:rect l="l" t="t" r="r" b="b"/>
            <a:pathLst>
              <a:path w="5600700" h="1847850">
                <a:moveTo>
                  <a:pt x="76205" y="0"/>
                </a:moveTo>
                <a:lnTo>
                  <a:pt x="5524495" y="0"/>
                </a:lnTo>
                <a:cubicBezTo>
                  <a:pt x="5566582" y="0"/>
                  <a:pt x="5600700" y="34118"/>
                  <a:pt x="5600700" y="76205"/>
                </a:cubicBezTo>
                <a:lnTo>
                  <a:pt x="5600700" y="1771645"/>
                </a:lnTo>
                <a:cubicBezTo>
                  <a:pt x="5600700" y="1813732"/>
                  <a:pt x="5566582" y="1847850"/>
                  <a:pt x="5524495" y="1847850"/>
                </a:cubicBezTo>
                <a:lnTo>
                  <a:pt x="76205" y="1847850"/>
                </a:lnTo>
                <a:cubicBezTo>
                  <a:pt x="34118" y="1847850"/>
                  <a:pt x="0" y="1813732"/>
                  <a:pt x="0" y="1771645"/>
                </a:cubicBezTo>
                <a:lnTo>
                  <a:pt x="0" y="76205"/>
                </a:lnTo>
                <a:cubicBezTo>
                  <a:pt x="0" y="34146"/>
                  <a:pt x="34146" y="0"/>
                  <a:pt x="76205" y="0"/>
                </a:cubicBezTo>
                <a:close/>
              </a:path>
            </a:pathLst>
          </a:custGeom>
          <a:solidFill>
            <a:srgbClr val="8B0000"/>
          </a:solidFill>
          <a:ln/>
        </p:spPr>
        <p:txBody>
          <a:bodyPr/>
          <a:lstStyle/>
          <a:p>
            <a:endParaRPr lang="en-US"/>
          </a:p>
        </p:txBody>
      </p:sp>
      <p:sp>
        <p:nvSpPr>
          <p:cNvPr id="12" name="Shape 10"/>
          <p:cNvSpPr/>
          <p:nvPr/>
        </p:nvSpPr>
        <p:spPr>
          <a:xfrm>
            <a:off x="569119" y="3177541"/>
            <a:ext cx="166688" cy="190500"/>
          </a:xfrm>
          <a:custGeom>
            <a:avLst/>
            <a:gdLst/>
            <a:ahLst/>
            <a:cxnLst/>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a:srgbClr val="FFFFFF"/>
          </a:solidFill>
          <a:ln/>
        </p:spPr>
        <p:txBody>
          <a:bodyPr/>
          <a:lstStyle/>
          <a:p>
            <a:endParaRPr lang="en-US"/>
          </a:p>
        </p:txBody>
      </p:sp>
      <p:sp>
        <p:nvSpPr>
          <p:cNvPr id="13" name="Text 11"/>
          <p:cNvSpPr/>
          <p:nvPr/>
        </p:nvSpPr>
        <p:spPr>
          <a:xfrm>
            <a:off x="771525" y="3139441"/>
            <a:ext cx="51530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YOLO's Innovation</a:t>
            </a:r>
            <a:endParaRPr lang="en-US" sz="1600" dirty="0"/>
          </a:p>
        </p:txBody>
      </p:sp>
      <p:sp>
        <p:nvSpPr>
          <p:cNvPr id="14" name="Text 12"/>
          <p:cNvSpPr/>
          <p:nvPr/>
        </p:nvSpPr>
        <p:spPr>
          <a:xfrm>
            <a:off x="533400" y="3482341"/>
            <a:ext cx="5372100" cy="4572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YOLO (You Only Look Once)</a:t>
            </a:r>
            <a:r>
              <a:rPr lang="en-US" sz="1200" dirty="0">
                <a:solidFill>
                  <a:srgbClr val="FFFFFF"/>
                </a:solidFill>
                <a:latin typeface="Quattrocento Sans" pitchFamily="34" charset="0"/>
                <a:ea typeface="Quattrocento Sans" pitchFamily="34" charset="-122"/>
                <a:cs typeface="Quattrocento Sans" pitchFamily="34" charset="-120"/>
              </a:rPr>
              <a:t> treats detection as a </a:t>
            </a:r>
            <a:r>
              <a:rPr lang="en-US" sz="1200" b="1" dirty="0">
                <a:solidFill>
                  <a:srgbClr val="8B0000"/>
                </a:solidFill>
                <a:highlight>
                  <a:srgbClr val="FFFFFF">
                    <a:alpha val="100000"/>
                  </a:srgbClr>
                </a:highlight>
                <a:latin typeface="Quattrocento Sans" pitchFamily="34" charset="0"/>
                <a:ea typeface="Quattrocento Sans" pitchFamily="34" charset="-122"/>
                <a:cs typeface="Quattrocento Sans" pitchFamily="34" charset="-120"/>
              </a:rPr>
              <a:t>single regression problem </a:t>
            </a:r>
            <a:r>
              <a:rPr lang="en-US" sz="1200" dirty="0">
                <a:solidFill>
                  <a:srgbClr val="FFFFFF"/>
                </a:solidFill>
                <a:latin typeface="Quattrocento Sans" pitchFamily="34" charset="0"/>
                <a:ea typeface="Quattrocento Sans" pitchFamily="34" charset="-122"/>
                <a:cs typeface="Quattrocento Sans" pitchFamily="34" charset="-120"/>
              </a:rPr>
              <a:t>through one CNN forward pass.</a:t>
            </a:r>
            <a:endParaRPr lang="en-US" sz="1600" dirty="0"/>
          </a:p>
        </p:txBody>
      </p:sp>
      <p:sp>
        <p:nvSpPr>
          <p:cNvPr id="15" name="Shape 13"/>
          <p:cNvSpPr/>
          <p:nvPr/>
        </p:nvSpPr>
        <p:spPr>
          <a:xfrm>
            <a:off x="533400" y="4015741"/>
            <a:ext cx="2590800" cy="647700"/>
          </a:xfrm>
          <a:custGeom>
            <a:avLst/>
            <a:gdLst/>
            <a:ahLst/>
            <a:cxnLst/>
            <a:rect l="l" t="t" r="r" b="b"/>
            <a:pathLst>
              <a:path w="2590800" h="647700">
                <a:moveTo>
                  <a:pt x="38098" y="0"/>
                </a:moveTo>
                <a:lnTo>
                  <a:pt x="2552702" y="0"/>
                </a:lnTo>
                <a:cubicBezTo>
                  <a:pt x="2573729" y="0"/>
                  <a:pt x="2590800" y="17071"/>
                  <a:pt x="2590800" y="38098"/>
                </a:cubicBezTo>
                <a:lnTo>
                  <a:pt x="2590800" y="609602"/>
                </a:lnTo>
                <a:cubicBezTo>
                  <a:pt x="2590800" y="630643"/>
                  <a:pt x="2573743" y="647700"/>
                  <a:pt x="2552702"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20000"/>
            </a:srgbClr>
          </a:solidFill>
          <a:ln/>
        </p:spPr>
        <p:txBody>
          <a:bodyPr/>
          <a:lstStyle/>
          <a:p>
            <a:endParaRPr lang="en-US"/>
          </a:p>
        </p:txBody>
      </p:sp>
      <p:sp>
        <p:nvSpPr>
          <p:cNvPr id="16" name="Text 14"/>
          <p:cNvSpPr/>
          <p:nvPr/>
        </p:nvSpPr>
        <p:spPr>
          <a:xfrm>
            <a:off x="552450" y="4091941"/>
            <a:ext cx="255270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45-150</a:t>
            </a:r>
            <a:endParaRPr lang="en-US" sz="1600" dirty="0"/>
          </a:p>
        </p:txBody>
      </p:sp>
      <p:sp>
        <p:nvSpPr>
          <p:cNvPr id="17" name="Text 15"/>
          <p:cNvSpPr/>
          <p:nvPr/>
        </p:nvSpPr>
        <p:spPr>
          <a:xfrm>
            <a:off x="576263" y="4396622"/>
            <a:ext cx="2505075" cy="190500"/>
          </a:xfrm>
          <a:prstGeom prst="rect">
            <a:avLst/>
          </a:prstGeom>
          <a:noFill/>
          <a:ln/>
        </p:spPr>
        <p:txBody>
          <a:bodyPr wrap="square" lIns="0" tIns="0" rIns="0" bIns="0" rtlCol="0" anchor="ctr"/>
          <a:lstStyle/>
          <a:p>
            <a:pPr algn="ctr">
              <a:lnSpc>
                <a:spcPct val="120000"/>
              </a:lnSpc>
            </a:pPr>
            <a:r>
              <a:rPr lang="en-US" sz="1050" dirty="0">
                <a:solidFill>
                  <a:srgbClr val="FFFFFF"/>
                </a:solidFill>
                <a:latin typeface="Quattrocento Sans" pitchFamily="34" charset="0"/>
                <a:ea typeface="Quattrocento Sans" pitchFamily="34" charset="-122"/>
                <a:cs typeface="Quattrocento Sans" pitchFamily="34" charset="-120"/>
              </a:rPr>
              <a:t>FPS</a:t>
            </a:r>
            <a:endParaRPr lang="en-US" sz="1600" dirty="0"/>
          </a:p>
        </p:txBody>
      </p:sp>
      <p:sp>
        <p:nvSpPr>
          <p:cNvPr id="18" name="Shape 16"/>
          <p:cNvSpPr/>
          <p:nvPr/>
        </p:nvSpPr>
        <p:spPr>
          <a:xfrm>
            <a:off x="3238500" y="4015741"/>
            <a:ext cx="2590800" cy="647700"/>
          </a:xfrm>
          <a:custGeom>
            <a:avLst/>
            <a:gdLst/>
            <a:ahLst/>
            <a:cxnLst/>
            <a:rect l="l" t="t" r="r" b="b"/>
            <a:pathLst>
              <a:path w="2590800" h="647700">
                <a:moveTo>
                  <a:pt x="38098" y="0"/>
                </a:moveTo>
                <a:lnTo>
                  <a:pt x="2552702" y="0"/>
                </a:lnTo>
                <a:cubicBezTo>
                  <a:pt x="2573729" y="0"/>
                  <a:pt x="2590800" y="17071"/>
                  <a:pt x="2590800" y="38098"/>
                </a:cubicBezTo>
                <a:lnTo>
                  <a:pt x="2590800" y="609602"/>
                </a:lnTo>
                <a:cubicBezTo>
                  <a:pt x="2590800" y="630643"/>
                  <a:pt x="2573743" y="647700"/>
                  <a:pt x="2552702" y="647700"/>
                </a:cubicBezTo>
                <a:lnTo>
                  <a:pt x="38098" y="647700"/>
                </a:lnTo>
                <a:cubicBezTo>
                  <a:pt x="17071" y="647700"/>
                  <a:pt x="0" y="630629"/>
                  <a:pt x="0" y="609602"/>
                </a:cubicBezTo>
                <a:lnTo>
                  <a:pt x="0" y="38098"/>
                </a:lnTo>
                <a:cubicBezTo>
                  <a:pt x="0" y="17071"/>
                  <a:pt x="17071" y="0"/>
                  <a:pt x="38098" y="0"/>
                </a:cubicBezTo>
                <a:close/>
              </a:path>
            </a:pathLst>
          </a:custGeom>
          <a:solidFill>
            <a:srgbClr val="FFFFFF">
              <a:alpha val="20000"/>
            </a:srgbClr>
          </a:solidFill>
          <a:ln/>
        </p:spPr>
        <p:txBody>
          <a:bodyPr/>
          <a:lstStyle/>
          <a:p>
            <a:endParaRPr lang="en-US"/>
          </a:p>
        </p:txBody>
      </p:sp>
      <p:sp>
        <p:nvSpPr>
          <p:cNvPr id="19" name="Text 17"/>
          <p:cNvSpPr/>
          <p:nvPr/>
        </p:nvSpPr>
        <p:spPr>
          <a:xfrm>
            <a:off x="3257550" y="4091941"/>
            <a:ext cx="255270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25ms</a:t>
            </a:r>
            <a:endParaRPr lang="en-US" sz="1600" dirty="0"/>
          </a:p>
        </p:txBody>
      </p:sp>
      <p:sp>
        <p:nvSpPr>
          <p:cNvPr id="20" name="Text 18"/>
          <p:cNvSpPr/>
          <p:nvPr/>
        </p:nvSpPr>
        <p:spPr>
          <a:xfrm>
            <a:off x="3281363" y="4396622"/>
            <a:ext cx="2505075" cy="190500"/>
          </a:xfrm>
          <a:prstGeom prst="rect">
            <a:avLst/>
          </a:prstGeom>
          <a:noFill/>
          <a:ln/>
        </p:spPr>
        <p:txBody>
          <a:bodyPr wrap="square" lIns="0" tIns="0" rIns="0" bIns="0" rtlCol="0" anchor="ctr"/>
          <a:lstStyle/>
          <a:p>
            <a:pPr algn="ctr">
              <a:lnSpc>
                <a:spcPct val="120000"/>
              </a:lnSpc>
            </a:pPr>
            <a:r>
              <a:rPr lang="en-US" sz="1050" dirty="0">
                <a:solidFill>
                  <a:srgbClr val="FFFFFF"/>
                </a:solidFill>
                <a:latin typeface="Quattrocento Sans" pitchFamily="34" charset="0"/>
                <a:ea typeface="Quattrocento Sans" pitchFamily="34" charset="-122"/>
                <a:cs typeface="Quattrocento Sans" pitchFamily="34" charset="-120"/>
              </a:rPr>
              <a:t>Latency</a:t>
            </a:r>
            <a:endParaRPr lang="en-US" sz="1600" dirty="0"/>
          </a:p>
        </p:txBody>
      </p:sp>
      <p:sp>
        <p:nvSpPr>
          <p:cNvPr id="21" name="Shape 19"/>
          <p:cNvSpPr/>
          <p:nvPr/>
        </p:nvSpPr>
        <p:spPr>
          <a:xfrm>
            <a:off x="400050" y="4991100"/>
            <a:ext cx="5581650" cy="1333500"/>
          </a:xfrm>
          <a:custGeom>
            <a:avLst/>
            <a:gdLst/>
            <a:ahLst/>
            <a:cxnLst/>
            <a:rect l="l" t="t" r="r" b="b"/>
            <a:pathLst>
              <a:path w="5581650" h="1333500">
                <a:moveTo>
                  <a:pt x="38100" y="0"/>
                </a:moveTo>
                <a:lnTo>
                  <a:pt x="5505454" y="0"/>
                </a:lnTo>
                <a:cubicBezTo>
                  <a:pt x="5547536" y="0"/>
                  <a:pt x="5581650" y="34114"/>
                  <a:pt x="5581650" y="76196"/>
                </a:cubicBezTo>
                <a:lnTo>
                  <a:pt x="5581650" y="1257304"/>
                </a:lnTo>
                <a:cubicBezTo>
                  <a:pt x="5581650" y="1299386"/>
                  <a:pt x="5547536" y="1333500"/>
                  <a:pt x="5505454" y="1333500"/>
                </a:cubicBezTo>
                <a:lnTo>
                  <a:pt x="38100" y="1333500"/>
                </a:lnTo>
                <a:cubicBezTo>
                  <a:pt x="17072" y="1333500"/>
                  <a:pt x="0" y="1316428"/>
                  <a:pt x="0" y="1295400"/>
                </a:cubicBezTo>
                <a:lnTo>
                  <a:pt x="0" y="38100"/>
                </a:lnTo>
                <a:cubicBezTo>
                  <a:pt x="0" y="17072"/>
                  <a:pt x="17072" y="0"/>
                  <a:pt x="38100" y="0"/>
                </a:cubicBezTo>
                <a:close/>
              </a:path>
            </a:pathLst>
          </a:custGeom>
          <a:solidFill>
            <a:srgbClr val="EFF6FF"/>
          </a:solidFill>
          <a:ln/>
        </p:spPr>
        <p:txBody>
          <a:bodyPr/>
          <a:lstStyle/>
          <a:p>
            <a:endParaRPr lang="en-US"/>
          </a:p>
        </p:txBody>
      </p:sp>
      <p:sp>
        <p:nvSpPr>
          <p:cNvPr id="22" name="Shape 20"/>
          <p:cNvSpPr/>
          <p:nvPr/>
        </p:nvSpPr>
        <p:spPr>
          <a:xfrm>
            <a:off x="400050" y="4991100"/>
            <a:ext cx="38100" cy="1333500"/>
          </a:xfrm>
          <a:custGeom>
            <a:avLst/>
            <a:gdLst/>
            <a:ahLst/>
            <a:cxnLst/>
            <a:rect l="l" t="t" r="r" b="b"/>
            <a:pathLst>
              <a:path w="38100" h="1333500">
                <a:moveTo>
                  <a:pt x="38100" y="0"/>
                </a:moveTo>
                <a:lnTo>
                  <a:pt x="38100" y="0"/>
                </a:lnTo>
                <a:lnTo>
                  <a:pt x="38100" y="1333500"/>
                </a:lnTo>
                <a:lnTo>
                  <a:pt x="38100" y="1333500"/>
                </a:lnTo>
                <a:cubicBezTo>
                  <a:pt x="17072" y="1333500"/>
                  <a:pt x="0" y="1316428"/>
                  <a:pt x="0" y="1295400"/>
                </a:cubicBezTo>
                <a:lnTo>
                  <a:pt x="0" y="38100"/>
                </a:lnTo>
                <a:cubicBezTo>
                  <a:pt x="0" y="17072"/>
                  <a:pt x="17072" y="0"/>
                  <a:pt x="38100" y="0"/>
                </a:cubicBezTo>
                <a:close/>
              </a:path>
            </a:pathLst>
          </a:custGeom>
          <a:solidFill>
            <a:srgbClr val="2B7FFF"/>
          </a:solidFill>
          <a:ln/>
        </p:spPr>
        <p:txBody>
          <a:bodyPr/>
          <a:lstStyle/>
          <a:p>
            <a:endParaRPr lang="en-US"/>
          </a:p>
        </p:txBody>
      </p:sp>
      <p:sp>
        <p:nvSpPr>
          <p:cNvPr id="23" name="Shape 21"/>
          <p:cNvSpPr/>
          <p:nvPr/>
        </p:nvSpPr>
        <p:spPr>
          <a:xfrm>
            <a:off x="616744" y="5191125"/>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1C398E"/>
          </a:solidFill>
          <a:ln/>
        </p:spPr>
        <p:txBody>
          <a:bodyPr/>
          <a:lstStyle/>
          <a:p>
            <a:endParaRPr lang="en-US"/>
          </a:p>
        </p:txBody>
      </p:sp>
      <p:sp>
        <p:nvSpPr>
          <p:cNvPr id="24" name="Text 22"/>
          <p:cNvSpPr/>
          <p:nvPr/>
        </p:nvSpPr>
        <p:spPr>
          <a:xfrm>
            <a:off x="790575" y="5143500"/>
            <a:ext cx="5124450" cy="266700"/>
          </a:xfrm>
          <a:prstGeom prst="rect">
            <a:avLst/>
          </a:prstGeom>
          <a:noFill/>
          <a:ln/>
        </p:spPr>
        <p:txBody>
          <a:bodyPr wrap="square" lIns="0" tIns="0" rIns="0" bIns="0" rtlCol="0" anchor="ctr"/>
          <a:lstStyle/>
          <a:p>
            <a:pPr>
              <a:lnSpc>
                <a:spcPct val="130000"/>
              </a:lnSpc>
            </a:pPr>
            <a:r>
              <a:rPr lang="en-US" sz="1350" b="1" dirty="0">
                <a:solidFill>
                  <a:srgbClr val="1C398E"/>
                </a:solidFill>
                <a:latin typeface="Sorts Mill Goudy" pitchFamily="34" charset="0"/>
                <a:ea typeface="Sorts Mill Goudy" pitchFamily="34" charset="-122"/>
                <a:cs typeface="Sorts Mill Goudy" pitchFamily="34" charset="-120"/>
              </a:rPr>
              <a:t>Key Insight</a:t>
            </a:r>
            <a:endParaRPr lang="en-US" sz="1600" dirty="0"/>
          </a:p>
        </p:txBody>
      </p:sp>
      <p:sp>
        <p:nvSpPr>
          <p:cNvPr id="25" name="Text 23"/>
          <p:cNvSpPr/>
          <p:nvPr/>
        </p:nvSpPr>
        <p:spPr>
          <a:xfrm>
            <a:off x="571500" y="5486400"/>
            <a:ext cx="5334000" cy="685800"/>
          </a:xfrm>
          <a:prstGeom prst="rect">
            <a:avLst/>
          </a:prstGeom>
          <a:noFill/>
          <a:ln/>
        </p:spPr>
        <p:txBody>
          <a:bodyPr wrap="square" lIns="0" tIns="0" rIns="0" bIns="0" rtlCol="0" anchor="ctr"/>
          <a:lstStyle/>
          <a:p>
            <a:pPr>
              <a:lnSpc>
                <a:spcPct val="130000"/>
              </a:lnSpc>
            </a:pPr>
            <a:r>
              <a:rPr lang="en-US" sz="1200" dirty="0">
                <a:solidFill>
                  <a:srgbClr val="1C398E"/>
                </a:solidFill>
                <a:latin typeface="Quattrocento Sans" pitchFamily="34" charset="0"/>
                <a:ea typeface="Quattrocento Sans" pitchFamily="34" charset="-122"/>
                <a:cs typeface="Quattrocento Sans" pitchFamily="34" charset="-120"/>
              </a:rPr>
              <a:t>Traditional methods use </a:t>
            </a:r>
            <a:r>
              <a:rPr lang="en-US" sz="1200" b="1" dirty="0">
                <a:solidFill>
                  <a:srgbClr val="1C398E"/>
                </a:solidFill>
                <a:latin typeface="Quattrocento Sans" pitchFamily="34" charset="0"/>
                <a:ea typeface="Quattrocento Sans" pitchFamily="34" charset="-122"/>
                <a:cs typeface="Quattrocento Sans" pitchFamily="34" charset="-120"/>
              </a:rPr>
              <a:t>two stages</a:t>
            </a:r>
            <a:r>
              <a:rPr lang="en-US" sz="1200" dirty="0">
                <a:solidFill>
                  <a:srgbClr val="1C398E"/>
                </a:solidFill>
                <a:latin typeface="Quattrocento Sans" pitchFamily="34" charset="0"/>
                <a:ea typeface="Quattrocento Sans" pitchFamily="34" charset="-122"/>
                <a:cs typeface="Quattrocento Sans" pitchFamily="34" charset="-120"/>
              </a:rPr>
              <a:t> (region proposal + classification). YOLO processes the </a:t>
            </a:r>
            <a:r>
              <a:rPr lang="en-US" sz="1200" b="1" dirty="0">
                <a:solidFill>
                  <a:srgbClr val="1C398E"/>
                </a:solidFill>
                <a:latin typeface="Quattrocento Sans" pitchFamily="34" charset="0"/>
                <a:ea typeface="Quattrocento Sans" pitchFamily="34" charset="-122"/>
                <a:cs typeface="Quattrocento Sans" pitchFamily="34" charset="-120"/>
              </a:rPr>
              <a:t>entire image at once</a:t>
            </a:r>
            <a:r>
              <a:rPr lang="en-US" sz="1200" dirty="0">
                <a:solidFill>
                  <a:srgbClr val="1C398E"/>
                </a:solidFill>
                <a:latin typeface="Quattrocento Sans" pitchFamily="34" charset="0"/>
                <a:ea typeface="Quattrocento Sans" pitchFamily="34" charset="-122"/>
                <a:cs typeface="Quattrocento Sans" pitchFamily="34" charset="-120"/>
              </a:rPr>
              <a:t>, predicting all bounding boxes and classes simultaneously.</a:t>
            </a:r>
            <a:endParaRPr lang="en-US" sz="1600" dirty="0"/>
          </a:p>
        </p:txBody>
      </p:sp>
      <p:sp>
        <p:nvSpPr>
          <p:cNvPr id="26" name="Shape 24"/>
          <p:cNvSpPr/>
          <p:nvPr/>
        </p:nvSpPr>
        <p:spPr>
          <a:xfrm>
            <a:off x="6217920" y="1188720"/>
            <a:ext cx="5587365" cy="4520565"/>
          </a:xfrm>
          <a:custGeom>
            <a:avLst/>
            <a:gdLst/>
            <a:ahLst/>
            <a:cxnLst/>
            <a:rect l="l" t="t" r="r" b="b"/>
            <a:pathLst>
              <a:path w="5587365" h="4520565">
                <a:moveTo>
                  <a:pt x="76217" y="0"/>
                </a:moveTo>
                <a:lnTo>
                  <a:pt x="5511148" y="0"/>
                </a:lnTo>
                <a:cubicBezTo>
                  <a:pt x="5553242" y="0"/>
                  <a:pt x="5587365" y="34123"/>
                  <a:pt x="5587365" y="76217"/>
                </a:cubicBezTo>
                <a:lnTo>
                  <a:pt x="5587365" y="4444348"/>
                </a:lnTo>
                <a:cubicBezTo>
                  <a:pt x="5587365" y="4486442"/>
                  <a:pt x="5553242" y="4520565"/>
                  <a:pt x="5511148" y="4520565"/>
                </a:cubicBezTo>
                <a:lnTo>
                  <a:pt x="76217" y="4520565"/>
                </a:lnTo>
                <a:cubicBezTo>
                  <a:pt x="34123" y="4520565"/>
                  <a:pt x="0" y="4486442"/>
                  <a:pt x="0" y="4444348"/>
                </a:cubicBezTo>
                <a:lnTo>
                  <a:pt x="0" y="76217"/>
                </a:lnTo>
                <a:cubicBezTo>
                  <a:pt x="0" y="34123"/>
                  <a:pt x="34123" y="0"/>
                  <a:pt x="76217" y="0"/>
                </a:cubicBezTo>
                <a:close/>
              </a:path>
            </a:pathLst>
          </a:custGeom>
          <a:solidFill>
            <a:srgbClr val="FFFFFF"/>
          </a:solidFill>
          <a:ln w="20320">
            <a:solidFill>
              <a:srgbClr val="1F2937"/>
            </a:solidFill>
            <a:prstDash val="solid"/>
          </a:ln>
        </p:spPr>
        <p:txBody>
          <a:bodyPr/>
          <a:lstStyle/>
          <a:p>
            <a:endParaRPr lang="en-US"/>
          </a:p>
        </p:txBody>
      </p:sp>
      <p:sp>
        <p:nvSpPr>
          <p:cNvPr id="27" name="Text 25"/>
          <p:cNvSpPr/>
          <p:nvPr/>
        </p:nvSpPr>
        <p:spPr>
          <a:xfrm>
            <a:off x="6330315" y="1348741"/>
            <a:ext cx="5362575" cy="266700"/>
          </a:xfrm>
          <a:prstGeom prst="rect">
            <a:avLst/>
          </a:prstGeom>
          <a:noFill/>
          <a:ln/>
        </p:spPr>
        <p:txBody>
          <a:bodyPr wrap="square" lIns="0" tIns="0" rIns="0" bIns="0" rtlCol="0" anchor="ctr"/>
          <a:lstStyle/>
          <a:p>
            <a:pPr algn="ct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Traditional vs YOLO Approach</a:t>
            </a:r>
            <a:endParaRPr lang="en-US" sz="1600" dirty="0"/>
          </a:p>
        </p:txBody>
      </p:sp>
      <p:sp>
        <p:nvSpPr>
          <p:cNvPr id="28" name="Shape 26"/>
          <p:cNvSpPr/>
          <p:nvPr/>
        </p:nvSpPr>
        <p:spPr>
          <a:xfrm>
            <a:off x="6396990" y="1823086"/>
            <a:ext cx="5248275" cy="1371600"/>
          </a:xfrm>
          <a:custGeom>
            <a:avLst/>
            <a:gdLst/>
            <a:ahLst/>
            <a:cxnLst/>
            <a:rect l="l" t="t" r="r" b="b"/>
            <a:pathLst>
              <a:path w="5248275" h="1371600">
                <a:moveTo>
                  <a:pt x="38100" y="0"/>
                </a:moveTo>
                <a:lnTo>
                  <a:pt x="5172069" y="0"/>
                </a:lnTo>
                <a:cubicBezTo>
                  <a:pt x="5214156" y="0"/>
                  <a:pt x="5248275" y="34119"/>
                  <a:pt x="5248275" y="76206"/>
                </a:cubicBezTo>
                <a:lnTo>
                  <a:pt x="5248275" y="1295394"/>
                </a:lnTo>
                <a:cubicBezTo>
                  <a:pt x="5248275" y="1337481"/>
                  <a:pt x="5214156" y="1371600"/>
                  <a:pt x="5172069" y="1371600"/>
                </a:cubicBezTo>
                <a:lnTo>
                  <a:pt x="38100" y="1371600"/>
                </a:lnTo>
                <a:cubicBezTo>
                  <a:pt x="17072" y="1371600"/>
                  <a:pt x="0" y="1354528"/>
                  <a:pt x="0" y="1333500"/>
                </a:cubicBezTo>
                <a:lnTo>
                  <a:pt x="0" y="38100"/>
                </a:lnTo>
                <a:cubicBezTo>
                  <a:pt x="0" y="17072"/>
                  <a:pt x="17072" y="0"/>
                  <a:pt x="38100" y="0"/>
                </a:cubicBezTo>
                <a:close/>
              </a:path>
            </a:pathLst>
          </a:custGeom>
          <a:solidFill>
            <a:srgbClr val="FEF2F2"/>
          </a:solidFill>
          <a:ln/>
        </p:spPr>
        <p:txBody>
          <a:bodyPr/>
          <a:lstStyle/>
          <a:p>
            <a:endParaRPr lang="en-US"/>
          </a:p>
        </p:txBody>
      </p:sp>
      <p:sp>
        <p:nvSpPr>
          <p:cNvPr id="29" name="Shape 27"/>
          <p:cNvSpPr/>
          <p:nvPr/>
        </p:nvSpPr>
        <p:spPr>
          <a:xfrm>
            <a:off x="6396990" y="1823086"/>
            <a:ext cx="38100" cy="1371600"/>
          </a:xfrm>
          <a:custGeom>
            <a:avLst/>
            <a:gdLst/>
            <a:ahLst/>
            <a:cxnLst/>
            <a:rect l="l" t="t" r="r" b="b"/>
            <a:pathLst>
              <a:path w="38100" h="1371600">
                <a:moveTo>
                  <a:pt x="38100" y="0"/>
                </a:moveTo>
                <a:lnTo>
                  <a:pt x="38100" y="0"/>
                </a:lnTo>
                <a:lnTo>
                  <a:pt x="38100" y="1371600"/>
                </a:lnTo>
                <a:lnTo>
                  <a:pt x="38100" y="1371600"/>
                </a:lnTo>
                <a:cubicBezTo>
                  <a:pt x="17072" y="1371600"/>
                  <a:pt x="0" y="1354528"/>
                  <a:pt x="0" y="1333500"/>
                </a:cubicBezTo>
                <a:lnTo>
                  <a:pt x="0" y="38100"/>
                </a:lnTo>
                <a:cubicBezTo>
                  <a:pt x="0" y="17072"/>
                  <a:pt x="17072" y="0"/>
                  <a:pt x="38100" y="0"/>
                </a:cubicBezTo>
                <a:close/>
              </a:path>
            </a:pathLst>
          </a:custGeom>
          <a:solidFill>
            <a:srgbClr val="FB2C36"/>
          </a:solidFill>
          <a:ln/>
        </p:spPr>
        <p:txBody>
          <a:bodyPr/>
          <a:lstStyle/>
          <a:p>
            <a:endParaRPr lang="en-US"/>
          </a:p>
        </p:txBody>
      </p:sp>
      <p:sp>
        <p:nvSpPr>
          <p:cNvPr id="30" name="Shape 28"/>
          <p:cNvSpPr/>
          <p:nvPr/>
        </p:nvSpPr>
        <p:spPr>
          <a:xfrm>
            <a:off x="6530340" y="1937386"/>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B2C36"/>
          </a:solidFill>
          <a:ln/>
        </p:spPr>
        <p:txBody>
          <a:bodyPr/>
          <a:lstStyle/>
          <a:p>
            <a:endParaRPr lang="en-US"/>
          </a:p>
        </p:txBody>
      </p:sp>
      <p:sp>
        <p:nvSpPr>
          <p:cNvPr id="31" name="Text 29"/>
          <p:cNvSpPr/>
          <p:nvPr/>
        </p:nvSpPr>
        <p:spPr>
          <a:xfrm>
            <a:off x="6497003" y="1937386"/>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2" name="Text 30"/>
          <p:cNvSpPr/>
          <p:nvPr/>
        </p:nvSpPr>
        <p:spPr>
          <a:xfrm>
            <a:off x="6911340" y="1956436"/>
            <a:ext cx="1666875" cy="266700"/>
          </a:xfrm>
          <a:prstGeom prst="rect">
            <a:avLst/>
          </a:prstGeom>
          <a:noFill/>
          <a:ln/>
        </p:spPr>
        <p:txBody>
          <a:bodyPr wrap="square" lIns="0" tIns="0" rIns="0" bIns="0" rtlCol="0" anchor="ctr"/>
          <a:lstStyle/>
          <a:p>
            <a:pPr>
              <a:lnSpc>
                <a:spcPct val="130000"/>
              </a:lnSpc>
            </a:pPr>
            <a:r>
              <a:rPr lang="en-US" sz="1350" b="1" dirty="0">
                <a:solidFill>
                  <a:srgbClr val="82181A"/>
                </a:solidFill>
                <a:latin typeface="Sorts Mill Goudy" pitchFamily="34" charset="0"/>
                <a:ea typeface="Sorts Mill Goudy" pitchFamily="34" charset="-122"/>
                <a:cs typeface="Sorts Mill Goudy" pitchFamily="34" charset="-120"/>
              </a:rPr>
              <a:t>Traditional (R-CNN)</a:t>
            </a:r>
            <a:endParaRPr lang="en-US" sz="1600" dirty="0"/>
          </a:p>
        </p:txBody>
      </p:sp>
      <p:sp>
        <p:nvSpPr>
          <p:cNvPr id="33" name="Text 31"/>
          <p:cNvSpPr/>
          <p:nvPr/>
        </p:nvSpPr>
        <p:spPr>
          <a:xfrm>
            <a:off x="6530340" y="2318386"/>
            <a:ext cx="5076825" cy="228600"/>
          </a:xfrm>
          <a:prstGeom prst="rect">
            <a:avLst/>
          </a:prstGeom>
          <a:noFill/>
          <a:ln/>
        </p:spPr>
        <p:txBody>
          <a:bodyPr wrap="square" lIns="0" tIns="0" rIns="0" bIns="0" rtlCol="0" anchor="ctr"/>
          <a:lstStyle/>
          <a:p>
            <a:pPr>
              <a:lnSpc>
                <a:spcPct val="130000"/>
              </a:lnSpc>
            </a:pPr>
            <a:r>
              <a:rPr lang="en-US" sz="1200" b="1" dirty="0">
                <a:solidFill>
                  <a:srgbClr val="9F0712"/>
                </a:solidFill>
                <a:latin typeface="Quattrocento Sans" pitchFamily="34" charset="0"/>
                <a:ea typeface="Quattrocento Sans" pitchFamily="34" charset="-122"/>
                <a:cs typeface="Quattrocento Sans" pitchFamily="34" charset="-120"/>
              </a:rPr>
              <a:t>Stage 1:</a:t>
            </a:r>
            <a:r>
              <a:rPr lang="en-US" sz="1200" dirty="0">
                <a:solidFill>
                  <a:srgbClr val="9F0712"/>
                </a:solidFill>
                <a:latin typeface="Quattrocento Sans" pitchFamily="34" charset="0"/>
                <a:ea typeface="Quattrocento Sans" pitchFamily="34" charset="-122"/>
                <a:cs typeface="Quattrocento Sans" pitchFamily="34" charset="-120"/>
              </a:rPr>
              <a:t> Generate region proposals (2k regions)</a:t>
            </a:r>
            <a:endParaRPr lang="en-US" sz="1600" dirty="0"/>
          </a:p>
        </p:txBody>
      </p:sp>
      <p:sp>
        <p:nvSpPr>
          <p:cNvPr id="34" name="Text 32"/>
          <p:cNvSpPr/>
          <p:nvPr/>
        </p:nvSpPr>
        <p:spPr>
          <a:xfrm>
            <a:off x="6530340" y="2585086"/>
            <a:ext cx="5076825" cy="228600"/>
          </a:xfrm>
          <a:prstGeom prst="rect">
            <a:avLst/>
          </a:prstGeom>
          <a:noFill/>
          <a:ln/>
        </p:spPr>
        <p:txBody>
          <a:bodyPr wrap="square" lIns="0" tIns="0" rIns="0" bIns="0" rtlCol="0" anchor="ctr"/>
          <a:lstStyle/>
          <a:p>
            <a:pPr>
              <a:lnSpc>
                <a:spcPct val="130000"/>
              </a:lnSpc>
            </a:pPr>
            <a:r>
              <a:rPr lang="en-US" sz="1200" b="1" dirty="0">
                <a:solidFill>
                  <a:srgbClr val="9F0712"/>
                </a:solidFill>
                <a:latin typeface="Quattrocento Sans" pitchFamily="34" charset="0"/>
                <a:ea typeface="Quattrocento Sans" pitchFamily="34" charset="-122"/>
                <a:cs typeface="Quattrocento Sans" pitchFamily="34" charset="-120"/>
              </a:rPr>
              <a:t>Stage 2:</a:t>
            </a:r>
            <a:r>
              <a:rPr lang="en-US" sz="1200" dirty="0">
                <a:solidFill>
                  <a:srgbClr val="9F0712"/>
                </a:solidFill>
                <a:latin typeface="Quattrocento Sans" pitchFamily="34" charset="0"/>
                <a:ea typeface="Quattrocento Sans" pitchFamily="34" charset="-122"/>
                <a:cs typeface="Quattrocento Sans" pitchFamily="34" charset="-120"/>
              </a:rPr>
              <a:t> Classify each region</a:t>
            </a:r>
            <a:endParaRPr lang="en-US" sz="1600" dirty="0"/>
          </a:p>
        </p:txBody>
      </p:sp>
      <p:sp>
        <p:nvSpPr>
          <p:cNvPr id="35" name="Text 33"/>
          <p:cNvSpPr/>
          <p:nvPr/>
        </p:nvSpPr>
        <p:spPr>
          <a:xfrm>
            <a:off x="6530340" y="2851786"/>
            <a:ext cx="5076825" cy="228600"/>
          </a:xfrm>
          <a:prstGeom prst="rect">
            <a:avLst/>
          </a:prstGeom>
          <a:noFill/>
          <a:ln/>
        </p:spPr>
        <p:txBody>
          <a:bodyPr wrap="square" lIns="0" tIns="0" rIns="0" bIns="0" rtlCol="0" anchor="ctr"/>
          <a:lstStyle/>
          <a:p>
            <a:pPr>
              <a:lnSpc>
                <a:spcPct val="130000"/>
              </a:lnSpc>
            </a:pPr>
            <a:r>
              <a:rPr lang="en-US" sz="1200" b="1" dirty="0">
                <a:solidFill>
                  <a:srgbClr val="E7000B"/>
                </a:solidFill>
                <a:latin typeface="Quattrocento Sans" pitchFamily="34" charset="0"/>
                <a:ea typeface="Quattrocento Sans" pitchFamily="34" charset="-122"/>
                <a:cs typeface="Quattrocento Sans" pitchFamily="34" charset="-120"/>
              </a:rPr>
              <a:t>Result: Slow (~10 FPS)</a:t>
            </a:r>
            <a:endParaRPr lang="en-US" sz="1600" dirty="0"/>
          </a:p>
        </p:txBody>
      </p:sp>
      <p:sp>
        <p:nvSpPr>
          <p:cNvPr id="36" name="Shape 34"/>
          <p:cNvSpPr/>
          <p:nvPr/>
        </p:nvSpPr>
        <p:spPr>
          <a:xfrm>
            <a:off x="8905875" y="3495675"/>
            <a:ext cx="214313" cy="285750"/>
          </a:xfrm>
          <a:custGeom>
            <a:avLst/>
            <a:gdLst/>
            <a:ahLst/>
            <a:cxnLst/>
            <a:rect l="l" t="t" r="r" b="b"/>
            <a:pathLst>
              <a:path w="214313" h="285750">
                <a:moveTo>
                  <a:pt x="94543" y="280504"/>
                </a:moveTo>
                <a:cubicBezTo>
                  <a:pt x="101519" y="287480"/>
                  <a:pt x="112849" y="287480"/>
                  <a:pt x="119825" y="280504"/>
                </a:cubicBezTo>
                <a:lnTo>
                  <a:pt x="209122" y="191207"/>
                </a:lnTo>
                <a:cubicBezTo>
                  <a:pt x="216098" y="184231"/>
                  <a:pt x="216098" y="172901"/>
                  <a:pt x="209122" y="165925"/>
                </a:cubicBezTo>
                <a:cubicBezTo>
                  <a:pt x="202146" y="158948"/>
                  <a:pt x="190816" y="158948"/>
                  <a:pt x="183840" y="165925"/>
                </a:cubicBezTo>
                <a:lnTo>
                  <a:pt x="125016" y="224749"/>
                </a:lnTo>
                <a:lnTo>
                  <a:pt x="125016" y="17859"/>
                </a:lnTo>
                <a:cubicBezTo>
                  <a:pt x="125016" y="7981"/>
                  <a:pt x="117035" y="0"/>
                  <a:pt x="107156" y="0"/>
                </a:cubicBezTo>
                <a:cubicBezTo>
                  <a:pt x="97278" y="0"/>
                  <a:pt x="89297" y="7981"/>
                  <a:pt x="89297" y="17859"/>
                </a:cubicBezTo>
                <a:lnTo>
                  <a:pt x="89297" y="224749"/>
                </a:lnTo>
                <a:lnTo>
                  <a:pt x="30473" y="165925"/>
                </a:lnTo>
                <a:cubicBezTo>
                  <a:pt x="23496" y="158948"/>
                  <a:pt x="12167" y="158948"/>
                  <a:pt x="5190" y="165925"/>
                </a:cubicBezTo>
                <a:cubicBezTo>
                  <a:pt x="-1786" y="172901"/>
                  <a:pt x="-1786" y="184231"/>
                  <a:pt x="5190" y="191207"/>
                </a:cubicBezTo>
                <a:lnTo>
                  <a:pt x="94487" y="280504"/>
                </a:lnTo>
                <a:close/>
              </a:path>
            </a:pathLst>
          </a:custGeom>
          <a:solidFill>
            <a:srgbClr val="8B0000"/>
          </a:solidFill>
          <a:ln/>
        </p:spPr>
        <p:txBody>
          <a:bodyPr/>
          <a:lstStyle/>
          <a:p>
            <a:endParaRPr lang="en-US"/>
          </a:p>
        </p:txBody>
      </p:sp>
      <p:sp>
        <p:nvSpPr>
          <p:cNvPr id="37" name="Shape 35"/>
          <p:cNvSpPr/>
          <p:nvPr/>
        </p:nvSpPr>
        <p:spPr>
          <a:xfrm>
            <a:off x="6396990" y="4082416"/>
            <a:ext cx="5248275" cy="1371600"/>
          </a:xfrm>
          <a:custGeom>
            <a:avLst/>
            <a:gdLst/>
            <a:ahLst/>
            <a:cxnLst/>
            <a:rect l="l" t="t" r="r" b="b"/>
            <a:pathLst>
              <a:path w="5248275" h="1371600">
                <a:moveTo>
                  <a:pt x="38100" y="0"/>
                </a:moveTo>
                <a:lnTo>
                  <a:pt x="5172069" y="0"/>
                </a:lnTo>
                <a:cubicBezTo>
                  <a:pt x="5214156" y="0"/>
                  <a:pt x="5248275" y="34119"/>
                  <a:pt x="5248275" y="76206"/>
                </a:cubicBezTo>
                <a:lnTo>
                  <a:pt x="5248275" y="1295394"/>
                </a:lnTo>
                <a:cubicBezTo>
                  <a:pt x="5248275" y="1337481"/>
                  <a:pt x="5214156" y="1371600"/>
                  <a:pt x="5172069" y="1371600"/>
                </a:cubicBezTo>
                <a:lnTo>
                  <a:pt x="38100" y="1371600"/>
                </a:lnTo>
                <a:cubicBezTo>
                  <a:pt x="17072" y="1371600"/>
                  <a:pt x="0" y="1354528"/>
                  <a:pt x="0" y="1333500"/>
                </a:cubicBezTo>
                <a:lnTo>
                  <a:pt x="0" y="38100"/>
                </a:lnTo>
                <a:cubicBezTo>
                  <a:pt x="0" y="17072"/>
                  <a:pt x="17072" y="0"/>
                  <a:pt x="38100" y="0"/>
                </a:cubicBezTo>
                <a:close/>
              </a:path>
            </a:pathLst>
          </a:custGeom>
          <a:solidFill>
            <a:srgbClr val="F0FDF4"/>
          </a:solidFill>
          <a:ln/>
        </p:spPr>
        <p:txBody>
          <a:bodyPr/>
          <a:lstStyle/>
          <a:p>
            <a:endParaRPr lang="en-US"/>
          </a:p>
        </p:txBody>
      </p:sp>
      <p:sp>
        <p:nvSpPr>
          <p:cNvPr id="38" name="Shape 36"/>
          <p:cNvSpPr/>
          <p:nvPr/>
        </p:nvSpPr>
        <p:spPr>
          <a:xfrm>
            <a:off x="6396990" y="4082416"/>
            <a:ext cx="38100" cy="1371600"/>
          </a:xfrm>
          <a:custGeom>
            <a:avLst/>
            <a:gdLst/>
            <a:ahLst/>
            <a:cxnLst/>
            <a:rect l="l" t="t" r="r" b="b"/>
            <a:pathLst>
              <a:path w="38100" h="1371600">
                <a:moveTo>
                  <a:pt x="38100" y="0"/>
                </a:moveTo>
                <a:lnTo>
                  <a:pt x="38100" y="0"/>
                </a:lnTo>
                <a:lnTo>
                  <a:pt x="38100" y="1371600"/>
                </a:lnTo>
                <a:lnTo>
                  <a:pt x="38100" y="1371600"/>
                </a:lnTo>
                <a:cubicBezTo>
                  <a:pt x="17072" y="1371600"/>
                  <a:pt x="0" y="1354528"/>
                  <a:pt x="0" y="1333500"/>
                </a:cubicBezTo>
                <a:lnTo>
                  <a:pt x="0" y="38100"/>
                </a:lnTo>
                <a:cubicBezTo>
                  <a:pt x="0" y="17072"/>
                  <a:pt x="17072" y="0"/>
                  <a:pt x="38100" y="0"/>
                </a:cubicBezTo>
                <a:close/>
              </a:path>
            </a:pathLst>
          </a:custGeom>
          <a:solidFill>
            <a:srgbClr val="00C950"/>
          </a:solidFill>
          <a:ln/>
        </p:spPr>
        <p:txBody>
          <a:bodyPr/>
          <a:lstStyle/>
          <a:p>
            <a:endParaRPr lang="en-US"/>
          </a:p>
        </p:txBody>
      </p:sp>
      <p:sp>
        <p:nvSpPr>
          <p:cNvPr id="39" name="Shape 37"/>
          <p:cNvSpPr/>
          <p:nvPr/>
        </p:nvSpPr>
        <p:spPr>
          <a:xfrm>
            <a:off x="6530340" y="4196716"/>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00C950"/>
          </a:solidFill>
          <a:ln/>
        </p:spPr>
        <p:txBody>
          <a:bodyPr/>
          <a:lstStyle/>
          <a:p>
            <a:endParaRPr lang="en-US"/>
          </a:p>
        </p:txBody>
      </p:sp>
      <p:sp>
        <p:nvSpPr>
          <p:cNvPr id="40" name="Text 38"/>
          <p:cNvSpPr/>
          <p:nvPr/>
        </p:nvSpPr>
        <p:spPr>
          <a:xfrm>
            <a:off x="6497003" y="4196716"/>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41" name="Text 39"/>
          <p:cNvSpPr/>
          <p:nvPr/>
        </p:nvSpPr>
        <p:spPr>
          <a:xfrm>
            <a:off x="6911340" y="4215766"/>
            <a:ext cx="1657350" cy="266700"/>
          </a:xfrm>
          <a:prstGeom prst="rect">
            <a:avLst/>
          </a:prstGeom>
          <a:noFill/>
          <a:ln/>
        </p:spPr>
        <p:txBody>
          <a:bodyPr wrap="square" lIns="0" tIns="0" rIns="0" bIns="0" rtlCol="0" anchor="ctr"/>
          <a:lstStyle/>
          <a:p>
            <a:pPr>
              <a:lnSpc>
                <a:spcPct val="130000"/>
              </a:lnSpc>
            </a:pPr>
            <a:r>
              <a:rPr lang="en-US" sz="1350" b="1" dirty="0">
                <a:solidFill>
                  <a:srgbClr val="0D542B"/>
                </a:solidFill>
                <a:latin typeface="Sorts Mill Goudy" pitchFamily="34" charset="0"/>
                <a:ea typeface="Sorts Mill Goudy" pitchFamily="34" charset="-122"/>
                <a:cs typeface="Sorts Mill Goudy" pitchFamily="34" charset="-120"/>
              </a:rPr>
              <a:t>YOLO (Single Stage)</a:t>
            </a:r>
            <a:endParaRPr lang="en-US" sz="1600" dirty="0"/>
          </a:p>
        </p:txBody>
      </p:sp>
      <p:sp>
        <p:nvSpPr>
          <p:cNvPr id="42" name="Text 40"/>
          <p:cNvSpPr/>
          <p:nvPr/>
        </p:nvSpPr>
        <p:spPr>
          <a:xfrm>
            <a:off x="6530340" y="4577716"/>
            <a:ext cx="5076825" cy="228600"/>
          </a:xfrm>
          <a:prstGeom prst="rect">
            <a:avLst/>
          </a:prstGeom>
          <a:noFill/>
          <a:ln/>
        </p:spPr>
        <p:txBody>
          <a:bodyPr wrap="square" lIns="0" tIns="0" rIns="0" bIns="0" rtlCol="0" anchor="ctr"/>
          <a:lstStyle/>
          <a:p>
            <a:pPr>
              <a:lnSpc>
                <a:spcPct val="130000"/>
              </a:lnSpc>
            </a:pPr>
            <a:r>
              <a:rPr lang="en-US" sz="1200" b="1" dirty="0">
                <a:solidFill>
                  <a:srgbClr val="016630"/>
                </a:solidFill>
                <a:latin typeface="Quattrocento Sans" pitchFamily="34" charset="0"/>
                <a:ea typeface="Quattrocento Sans" pitchFamily="34" charset="-122"/>
                <a:cs typeface="Quattrocento Sans" pitchFamily="34" charset="-120"/>
              </a:rPr>
              <a:t>One Pass:</a:t>
            </a:r>
            <a:r>
              <a:rPr lang="en-US" sz="1200" dirty="0">
                <a:solidFill>
                  <a:srgbClr val="016630"/>
                </a:solidFill>
                <a:latin typeface="Quattrocento Sans" pitchFamily="34" charset="0"/>
                <a:ea typeface="Quattrocento Sans" pitchFamily="34" charset="-122"/>
                <a:cs typeface="Quattrocento Sans" pitchFamily="34" charset="-120"/>
              </a:rPr>
              <a:t> CNN processes entire image</a:t>
            </a:r>
            <a:endParaRPr lang="en-US" sz="1600" dirty="0"/>
          </a:p>
        </p:txBody>
      </p:sp>
      <p:sp>
        <p:nvSpPr>
          <p:cNvPr id="43" name="Text 41"/>
          <p:cNvSpPr/>
          <p:nvPr/>
        </p:nvSpPr>
        <p:spPr>
          <a:xfrm>
            <a:off x="6530340" y="4844416"/>
            <a:ext cx="5076825" cy="228600"/>
          </a:xfrm>
          <a:prstGeom prst="rect">
            <a:avLst/>
          </a:prstGeom>
          <a:noFill/>
          <a:ln/>
        </p:spPr>
        <p:txBody>
          <a:bodyPr wrap="square" lIns="0" tIns="0" rIns="0" bIns="0" rtlCol="0" anchor="ctr"/>
          <a:lstStyle/>
          <a:p>
            <a:pPr>
              <a:lnSpc>
                <a:spcPct val="130000"/>
              </a:lnSpc>
            </a:pPr>
            <a:r>
              <a:rPr lang="en-US" sz="1200" b="1" dirty="0">
                <a:solidFill>
                  <a:srgbClr val="016630"/>
                </a:solidFill>
                <a:latin typeface="Quattrocento Sans" pitchFamily="34" charset="0"/>
                <a:ea typeface="Quattrocento Sans" pitchFamily="34" charset="-122"/>
                <a:cs typeface="Quattrocento Sans" pitchFamily="34" charset="-120"/>
              </a:rPr>
              <a:t>Output:</a:t>
            </a:r>
            <a:r>
              <a:rPr lang="en-US" sz="1200" dirty="0">
                <a:solidFill>
                  <a:srgbClr val="016630"/>
                </a:solidFill>
                <a:latin typeface="Quattrocento Sans" pitchFamily="34" charset="0"/>
                <a:ea typeface="Quattrocento Sans" pitchFamily="34" charset="-122"/>
                <a:cs typeface="Quattrocento Sans" pitchFamily="34" charset="-120"/>
              </a:rPr>
              <a:t> All boxes + classes simultaneously</a:t>
            </a:r>
            <a:endParaRPr lang="en-US" sz="1600" dirty="0"/>
          </a:p>
        </p:txBody>
      </p:sp>
      <p:sp>
        <p:nvSpPr>
          <p:cNvPr id="44" name="Text 42"/>
          <p:cNvSpPr/>
          <p:nvPr/>
        </p:nvSpPr>
        <p:spPr>
          <a:xfrm>
            <a:off x="6530340" y="5111116"/>
            <a:ext cx="5076825" cy="228600"/>
          </a:xfrm>
          <a:prstGeom prst="rect">
            <a:avLst/>
          </a:prstGeom>
          <a:noFill/>
          <a:ln/>
        </p:spPr>
        <p:txBody>
          <a:bodyPr wrap="square" lIns="0" tIns="0" rIns="0" bIns="0" rtlCol="0" anchor="ctr"/>
          <a:lstStyle/>
          <a:p>
            <a:pPr>
              <a:lnSpc>
                <a:spcPct val="130000"/>
              </a:lnSpc>
            </a:pPr>
            <a:r>
              <a:rPr lang="en-US" sz="1200" b="1" dirty="0">
                <a:solidFill>
                  <a:srgbClr val="00A63E"/>
                </a:solidFill>
                <a:latin typeface="Quattrocento Sans" pitchFamily="34" charset="0"/>
                <a:ea typeface="Quattrocento Sans" pitchFamily="34" charset="-122"/>
                <a:cs typeface="Quattrocento Sans" pitchFamily="34" charset="-120"/>
              </a:rPr>
              <a:t>Result: Real-time (45+ FPS)</a:t>
            </a:r>
            <a:endParaRPr lang="en-US" sz="1600" dirty="0"/>
          </a:p>
        </p:txBody>
      </p:sp>
      <p:sp>
        <p:nvSpPr>
          <p:cNvPr id="45" name="Shape 43"/>
          <p:cNvSpPr/>
          <p:nvPr/>
        </p:nvSpPr>
        <p:spPr>
          <a:xfrm>
            <a:off x="6210300" y="5867400"/>
            <a:ext cx="5600700" cy="457200"/>
          </a:xfrm>
          <a:custGeom>
            <a:avLst/>
            <a:gdLst/>
            <a:ahLst/>
            <a:cxnLst/>
            <a:rect l="l" t="t" r="r" b="b"/>
            <a:pathLst>
              <a:path w="5600700" h="457200">
                <a:moveTo>
                  <a:pt x="76202" y="0"/>
                </a:moveTo>
                <a:lnTo>
                  <a:pt x="5524498" y="0"/>
                </a:lnTo>
                <a:cubicBezTo>
                  <a:pt x="5566583" y="0"/>
                  <a:pt x="5600700" y="34117"/>
                  <a:pt x="5600700" y="76202"/>
                </a:cubicBezTo>
                <a:lnTo>
                  <a:pt x="5600700" y="380998"/>
                </a:lnTo>
                <a:cubicBezTo>
                  <a:pt x="5600700" y="423083"/>
                  <a:pt x="5566583" y="457200"/>
                  <a:pt x="5524498" y="457200"/>
                </a:cubicBezTo>
                <a:lnTo>
                  <a:pt x="76202" y="457200"/>
                </a:lnTo>
                <a:cubicBezTo>
                  <a:pt x="34145" y="457200"/>
                  <a:pt x="0" y="423055"/>
                  <a:pt x="0" y="380998"/>
                </a:cubicBezTo>
                <a:lnTo>
                  <a:pt x="0" y="76202"/>
                </a:lnTo>
                <a:cubicBezTo>
                  <a:pt x="0" y="34145"/>
                  <a:pt x="34145" y="0"/>
                  <a:pt x="76202" y="0"/>
                </a:cubicBezTo>
                <a:close/>
              </a:path>
            </a:pathLst>
          </a:custGeom>
          <a:solidFill>
            <a:srgbClr val="F3F4F6"/>
          </a:solidFill>
          <a:ln/>
        </p:spPr>
        <p:txBody>
          <a:bodyPr/>
          <a:lstStyle/>
          <a:p>
            <a:endParaRPr lang="en-US"/>
          </a:p>
        </p:txBody>
      </p:sp>
      <p:sp>
        <p:nvSpPr>
          <p:cNvPr id="46" name="Shape 44"/>
          <p:cNvSpPr/>
          <p:nvPr/>
        </p:nvSpPr>
        <p:spPr>
          <a:xfrm>
            <a:off x="6457593" y="6012180"/>
            <a:ext cx="133350" cy="152400"/>
          </a:xfrm>
          <a:custGeom>
            <a:avLst/>
            <a:gdLst/>
            <a:ahLst/>
            <a:cxnLst/>
            <a:rect l="l" t="t" r="r" b="b"/>
            <a:pathLst>
              <a:path w="133350" h="152400">
                <a:moveTo>
                  <a:pt x="0" y="64294"/>
                </a:moveTo>
                <a:cubicBezTo>
                  <a:pt x="0" y="44559"/>
                  <a:pt x="15984" y="28575"/>
                  <a:pt x="35719" y="28575"/>
                </a:cubicBezTo>
                <a:lnTo>
                  <a:pt x="38100" y="28575"/>
                </a:lnTo>
                <a:cubicBezTo>
                  <a:pt x="43369" y="28575"/>
                  <a:pt x="47625" y="32831"/>
                  <a:pt x="47625" y="38100"/>
                </a:cubicBezTo>
                <a:cubicBezTo>
                  <a:pt x="47625" y="43369"/>
                  <a:pt x="43369" y="47625"/>
                  <a:pt x="38100" y="47625"/>
                </a:cubicBezTo>
                <a:lnTo>
                  <a:pt x="35719" y="47625"/>
                </a:lnTo>
                <a:cubicBezTo>
                  <a:pt x="26521" y="47625"/>
                  <a:pt x="19050" y="55096"/>
                  <a:pt x="19050" y="64294"/>
                </a:cubicBezTo>
                <a:lnTo>
                  <a:pt x="19050" y="66675"/>
                </a:lnTo>
                <a:lnTo>
                  <a:pt x="38100" y="66675"/>
                </a:lnTo>
                <a:cubicBezTo>
                  <a:pt x="48607" y="66675"/>
                  <a:pt x="57150" y="75218"/>
                  <a:pt x="57150" y="85725"/>
                </a:cubicBezTo>
                <a:lnTo>
                  <a:pt x="57150" y="104775"/>
                </a:lnTo>
                <a:cubicBezTo>
                  <a:pt x="57150" y="115282"/>
                  <a:pt x="48607" y="123825"/>
                  <a:pt x="38100" y="123825"/>
                </a:cubicBezTo>
                <a:lnTo>
                  <a:pt x="19050" y="123825"/>
                </a:lnTo>
                <a:cubicBezTo>
                  <a:pt x="8543" y="123825"/>
                  <a:pt x="0" y="115282"/>
                  <a:pt x="0" y="104775"/>
                </a:cubicBezTo>
                <a:lnTo>
                  <a:pt x="0" y="64294"/>
                </a:lnTo>
                <a:close/>
                <a:moveTo>
                  <a:pt x="76200" y="64294"/>
                </a:moveTo>
                <a:cubicBezTo>
                  <a:pt x="76200" y="44559"/>
                  <a:pt x="92184" y="28575"/>
                  <a:pt x="111919" y="28575"/>
                </a:cubicBezTo>
                <a:lnTo>
                  <a:pt x="114300" y="28575"/>
                </a:lnTo>
                <a:cubicBezTo>
                  <a:pt x="119569" y="28575"/>
                  <a:pt x="123825" y="32831"/>
                  <a:pt x="123825" y="38100"/>
                </a:cubicBezTo>
                <a:cubicBezTo>
                  <a:pt x="123825" y="43369"/>
                  <a:pt x="119569" y="47625"/>
                  <a:pt x="114300" y="47625"/>
                </a:cubicBezTo>
                <a:lnTo>
                  <a:pt x="111919" y="47625"/>
                </a:lnTo>
                <a:cubicBezTo>
                  <a:pt x="102721" y="47625"/>
                  <a:pt x="95250" y="55096"/>
                  <a:pt x="95250" y="64294"/>
                </a:cubicBezTo>
                <a:lnTo>
                  <a:pt x="95250" y="66675"/>
                </a:lnTo>
                <a:lnTo>
                  <a:pt x="114300" y="66675"/>
                </a:lnTo>
                <a:cubicBezTo>
                  <a:pt x="124807" y="66675"/>
                  <a:pt x="133350" y="75218"/>
                  <a:pt x="133350" y="85725"/>
                </a:cubicBezTo>
                <a:lnTo>
                  <a:pt x="133350" y="104775"/>
                </a:lnTo>
                <a:cubicBezTo>
                  <a:pt x="133350" y="115282"/>
                  <a:pt x="124807" y="123825"/>
                  <a:pt x="114300" y="123825"/>
                </a:cubicBezTo>
                <a:lnTo>
                  <a:pt x="95250" y="123825"/>
                </a:lnTo>
                <a:cubicBezTo>
                  <a:pt x="84743" y="123825"/>
                  <a:pt x="76200" y="115282"/>
                  <a:pt x="76200" y="104775"/>
                </a:cubicBezTo>
                <a:lnTo>
                  <a:pt x="76200" y="64294"/>
                </a:lnTo>
                <a:close/>
              </a:path>
            </a:pathLst>
          </a:custGeom>
          <a:solidFill>
            <a:srgbClr val="8B0000"/>
          </a:solidFill>
          <a:ln/>
        </p:spPr>
        <p:txBody>
          <a:bodyPr/>
          <a:lstStyle/>
          <a:p>
            <a:endParaRPr lang="en-US"/>
          </a:p>
        </p:txBody>
      </p:sp>
      <p:sp>
        <p:nvSpPr>
          <p:cNvPr id="47" name="Text 45"/>
          <p:cNvSpPr/>
          <p:nvPr/>
        </p:nvSpPr>
        <p:spPr>
          <a:xfrm>
            <a:off x="6534150" y="5981700"/>
            <a:ext cx="5200650" cy="228600"/>
          </a:xfrm>
          <a:prstGeom prst="rect">
            <a:avLst/>
          </a:prstGeom>
          <a:noFill/>
          <a:ln/>
        </p:spPr>
        <p:txBody>
          <a:bodyPr wrap="square" lIns="0" tIns="0" rIns="0" bIns="0" rtlCol="0" anchor="ctr"/>
          <a:lstStyle/>
          <a:p>
            <a:pPr algn="ctr">
              <a:lnSpc>
                <a:spcPct val="130000"/>
              </a:lnSpc>
            </a:pPr>
            <a:r>
              <a:rPr lang="en-US" sz="1200" dirty="0">
                <a:solidFill>
                  <a:srgbClr val="6B7280"/>
                </a:solidFill>
                <a:latin typeface="Quattrocento Sans" pitchFamily="34" charset="0"/>
                <a:ea typeface="Quattrocento Sans" pitchFamily="34" charset="-122"/>
                <a:cs typeface="Quattrocento Sans" pitchFamily="34" charset="-120"/>
              </a:rPr>
              <a:t>YOLO's speed comes from eliminating the region proposal bottleneck</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5711" y="355711"/>
            <a:ext cx="11551720" cy="213427"/>
          </a:xfrm>
          <a:prstGeom prst="rect">
            <a:avLst/>
          </a:prstGeom>
          <a:noFill/>
          <a:ln/>
        </p:spPr>
        <p:txBody>
          <a:bodyPr wrap="square" lIns="0" tIns="0" rIns="0" bIns="0" rtlCol="0" anchor="ctr"/>
          <a:lstStyle/>
          <a:p>
            <a:pPr>
              <a:lnSpc>
                <a:spcPct val="130000"/>
              </a:lnSpc>
            </a:pPr>
            <a:r>
              <a:rPr lang="en-US" sz="1120" b="1" kern="0" spc="56" dirty="0">
                <a:solidFill>
                  <a:srgbClr val="8B0000"/>
                </a:solidFill>
                <a:latin typeface="Quattrocento Sans" pitchFamily="34" charset="0"/>
                <a:ea typeface="Quattrocento Sans" pitchFamily="34" charset="-122"/>
                <a:cs typeface="Quattrocento Sans" pitchFamily="34" charset="-120"/>
              </a:rPr>
              <a:t>1.2 ADVANTAGES</a:t>
            </a:r>
            <a:endParaRPr lang="en-US" sz="1600" dirty="0"/>
          </a:p>
        </p:txBody>
      </p:sp>
      <p:sp>
        <p:nvSpPr>
          <p:cNvPr id="3" name="Text 1"/>
          <p:cNvSpPr/>
          <p:nvPr/>
        </p:nvSpPr>
        <p:spPr>
          <a:xfrm>
            <a:off x="355711" y="604709"/>
            <a:ext cx="11640648" cy="355711"/>
          </a:xfrm>
          <a:prstGeom prst="rect">
            <a:avLst/>
          </a:prstGeom>
          <a:noFill/>
          <a:ln/>
        </p:spPr>
        <p:txBody>
          <a:bodyPr wrap="square" lIns="0" tIns="0" rIns="0" bIns="0" rtlCol="0" anchor="ctr"/>
          <a:lstStyle/>
          <a:p>
            <a:pPr>
              <a:lnSpc>
                <a:spcPct val="90000"/>
              </a:lnSpc>
            </a:pPr>
            <a:r>
              <a:rPr lang="en-US" sz="2521" b="1" dirty="0">
                <a:solidFill>
                  <a:srgbClr val="1F2937"/>
                </a:solidFill>
                <a:latin typeface="Sorts Mill Goudy" pitchFamily="34" charset="0"/>
                <a:ea typeface="Sorts Mill Goudy" pitchFamily="34" charset="-122"/>
                <a:cs typeface="Sorts Mill Goudy" pitchFamily="34" charset="-120"/>
              </a:rPr>
              <a:t>Why YOLO? Key Advantages</a:t>
            </a:r>
            <a:endParaRPr lang="en-US" sz="1600" dirty="0"/>
          </a:p>
        </p:txBody>
      </p:sp>
      <p:sp>
        <p:nvSpPr>
          <p:cNvPr id="4" name="Shape 2"/>
          <p:cNvSpPr/>
          <p:nvPr/>
        </p:nvSpPr>
        <p:spPr>
          <a:xfrm>
            <a:off x="355711" y="1067133"/>
            <a:ext cx="5664700" cy="1956411"/>
          </a:xfrm>
          <a:custGeom>
            <a:avLst/>
            <a:gdLst/>
            <a:ahLst/>
            <a:cxnLst/>
            <a:rect l="l" t="t" r="r" b="b"/>
            <a:pathLst>
              <a:path w="5664700" h="1956411">
                <a:moveTo>
                  <a:pt x="71135" y="0"/>
                </a:moveTo>
                <a:lnTo>
                  <a:pt x="5593565" y="0"/>
                </a:lnTo>
                <a:cubicBezTo>
                  <a:pt x="5632852" y="0"/>
                  <a:pt x="5664700" y="31848"/>
                  <a:pt x="5664700" y="71135"/>
                </a:cubicBezTo>
                <a:lnTo>
                  <a:pt x="5664700" y="1885276"/>
                </a:lnTo>
                <a:cubicBezTo>
                  <a:pt x="5664700" y="1924563"/>
                  <a:pt x="5632852" y="1956411"/>
                  <a:pt x="5593565" y="1956411"/>
                </a:cubicBezTo>
                <a:lnTo>
                  <a:pt x="71135" y="1956411"/>
                </a:lnTo>
                <a:cubicBezTo>
                  <a:pt x="31848" y="1956411"/>
                  <a:pt x="0" y="1924563"/>
                  <a:pt x="0" y="1885276"/>
                </a:cubicBezTo>
                <a:lnTo>
                  <a:pt x="0" y="71135"/>
                </a:lnTo>
                <a:cubicBezTo>
                  <a:pt x="0" y="31875"/>
                  <a:pt x="31875" y="0"/>
                  <a:pt x="71135" y="0"/>
                </a:cubicBezTo>
                <a:close/>
              </a:path>
            </a:pathLst>
          </a:custGeom>
          <a:gradFill flip="none" rotWithShape="1">
            <a:gsLst>
              <a:gs pos="0">
                <a:srgbClr val="8B0000"/>
              </a:gs>
              <a:gs pos="100000">
                <a:srgbClr val="A00000"/>
              </a:gs>
            </a:gsLst>
            <a:lin ang="2700000" scaled="1"/>
          </a:gradFill>
          <a:ln/>
          <a:effectLst>
            <a:outerShdw blurRad="133392" dist="88928" dir="5400000" algn="bl" rotWithShape="0">
              <a:srgbClr val="000000">
                <a:alpha val="10196"/>
              </a:srgbClr>
            </a:outerShdw>
          </a:effectLst>
        </p:spPr>
        <p:txBody>
          <a:bodyPr/>
          <a:lstStyle/>
          <a:p>
            <a:endParaRPr lang="en-US"/>
          </a:p>
        </p:txBody>
      </p:sp>
      <p:sp>
        <p:nvSpPr>
          <p:cNvPr id="5" name="Shape 3"/>
          <p:cNvSpPr/>
          <p:nvPr/>
        </p:nvSpPr>
        <p:spPr>
          <a:xfrm>
            <a:off x="497996" y="1209418"/>
            <a:ext cx="426853" cy="426853"/>
          </a:xfrm>
          <a:custGeom>
            <a:avLst/>
            <a:gdLst/>
            <a:ahLst/>
            <a:cxnLst/>
            <a:rect l="l" t="t" r="r" b="b"/>
            <a:pathLst>
              <a:path w="426853" h="426853">
                <a:moveTo>
                  <a:pt x="213427" y="0"/>
                </a:moveTo>
                <a:lnTo>
                  <a:pt x="213427" y="0"/>
                </a:lnTo>
                <a:cubicBezTo>
                  <a:pt x="331299" y="0"/>
                  <a:pt x="426853" y="95554"/>
                  <a:pt x="426853" y="213427"/>
                </a:cubicBezTo>
                <a:lnTo>
                  <a:pt x="426853" y="213427"/>
                </a:lnTo>
                <a:cubicBezTo>
                  <a:pt x="426853" y="331299"/>
                  <a:pt x="331299" y="426853"/>
                  <a:pt x="213427" y="426853"/>
                </a:cubicBezTo>
                <a:lnTo>
                  <a:pt x="213427" y="426853"/>
                </a:lnTo>
                <a:cubicBezTo>
                  <a:pt x="95554" y="426853"/>
                  <a:pt x="0" y="331299"/>
                  <a:pt x="0" y="213427"/>
                </a:cubicBezTo>
                <a:lnTo>
                  <a:pt x="0" y="213427"/>
                </a:lnTo>
                <a:cubicBezTo>
                  <a:pt x="0" y="95554"/>
                  <a:pt x="95554" y="0"/>
                  <a:pt x="213427" y="0"/>
                </a:cubicBezTo>
                <a:close/>
              </a:path>
            </a:pathLst>
          </a:custGeom>
          <a:solidFill>
            <a:srgbClr val="FFFFFF">
              <a:alpha val="20000"/>
            </a:srgbClr>
          </a:solidFill>
          <a:ln/>
        </p:spPr>
        <p:txBody>
          <a:bodyPr/>
          <a:lstStyle/>
          <a:p>
            <a:endParaRPr lang="en-US"/>
          </a:p>
        </p:txBody>
      </p:sp>
      <p:sp>
        <p:nvSpPr>
          <p:cNvPr id="6" name="Shape 4"/>
          <p:cNvSpPr/>
          <p:nvPr/>
        </p:nvSpPr>
        <p:spPr>
          <a:xfrm>
            <a:off x="604709" y="1316131"/>
            <a:ext cx="213427" cy="213427"/>
          </a:xfrm>
          <a:custGeom>
            <a:avLst/>
            <a:gdLst/>
            <a:ahLst/>
            <a:cxnLst/>
            <a:rect l="l" t="t" r="r" b="b"/>
            <a:pathLst>
              <a:path w="213427" h="213427">
                <a:moveTo>
                  <a:pt x="0" y="106713"/>
                </a:moveTo>
                <a:cubicBezTo>
                  <a:pt x="0" y="47817"/>
                  <a:pt x="47817" y="0"/>
                  <a:pt x="106713" y="0"/>
                </a:cubicBezTo>
                <a:cubicBezTo>
                  <a:pt x="165610" y="0"/>
                  <a:pt x="213427" y="47817"/>
                  <a:pt x="213427" y="106713"/>
                </a:cubicBezTo>
                <a:cubicBezTo>
                  <a:pt x="213427" y="165610"/>
                  <a:pt x="165610" y="213427"/>
                  <a:pt x="106713" y="213427"/>
                </a:cubicBezTo>
                <a:cubicBezTo>
                  <a:pt x="47817" y="213427"/>
                  <a:pt x="0" y="165610"/>
                  <a:pt x="0" y="106713"/>
                </a:cubicBezTo>
                <a:close/>
                <a:moveTo>
                  <a:pt x="120053" y="40018"/>
                </a:moveTo>
                <a:cubicBezTo>
                  <a:pt x="120053" y="32655"/>
                  <a:pt x="114075" y="26678"/>
                  <a:pt x="106713" y="26678"/>
                </a:cubicBezTo>
                <a:cubicBezTo>
                  <a:pt x="99351" y="26678"/>
                  <a:pt x="93374" y="32655"/>
                  <a:pt x="93374" y="40018"/>
                </a:cubicBezTo>
                <a:cubicBezTo>
                  <a:pt x="93374" y="47380"/>
                  <a:pt x="99351" y="53357"/>
                  <a:pt x="106713" y="53357"/>
                </a:cubicBezTo>
                <a:cubicBezTo>
                  <a:pt x="114075" y="53357"/>
                  <a:pt x="120053" y="47380"/>
                  <a:pt x="120053" y="40018"/>
                </a:cubicBezTo>
                <a:close/>
                <a:moveTo>
                  <a:pt x="106713" y="173409"/>
                </a:moveTo>
                <a:cubicBezTo>
                  <a:pt x="121428" y="173409"/>
                  <a:pt x="133392" y="161446"/>
                  <a:pt x="133392" y="146731"/>
                </a:cubicBezTo>
                <a:cubicBezTo>
                  <a:pt x="133392" y="139978"/>
                  <a:pt x="130891" y="133767"/>
                  <a:pt x="126722" y="129098"/>
                </a:cubicBezTo>
                <a:lnTo>
                  <a:pt x="155693" y="71198"/>
                </a:lnTo>
                <a:cubicBezTo>
                  <a:pt x="158153" y="66237"/>
                  <a:pt x="156152" y="60235"/>
                  <a:pt x="151233" y="57775"/>
                </a:cubicBezTo>
                <a:cubicBezTo>
                  <a:pt x="146314" y="55316"/>
                  <a:pt x="140270" y="57317"/>
                  <a:pt x="137810" y="62236"/>
                </a:cubicBezTo>
                <a:lnTo>
                  <a:pt x="108839" y="120136"/>
                </a:lnTo>
                <a:cubicBezTo>
                  <a:pt x="108131" y="120094"/>
                  <a:pt x="107422" y="120053"/>
                  <a:pt x="106713" y="120053"/>
                </a:cubicBezTo>
                <a:cubicBezTo>
                  <a:pt x="91999" y="120053"/>
                  <a:pt x="80035" y="132016"/>
                  <a:pt x="80035" y="146731"/>
                </a:cubicBezTo>
                <a:cubicBezTo>
                  <a:pt x="80035" y="161446"/>
                  <a:pt x="91999" y="173409"/>
                  <a:pt x="106713" y="173409"/>
                </a:cubicBezTo>
                <a:close/>
                <a:moveTo>
                  <a:pt x="73365" y="60026"/>
                </a:moveTo>
                <a:cubicBezTo>
                  <a:pt x="73365" y="52664"/>
                  <a:pt x="67388" y="46687"/>
                  <a:pt x="60026" y="46687"/>
                </a:cubicBezTo>
                <a:cubicBezTo>
                  <a:pt x="52664" y="46687"/>
                  <a:pt x="46687" y="52664"/>
                  <a:pt x="46687" y="60026"/>
                </a:cubicBezTo>
                <a:cubicBezTo>
                  <a:pt x="46687" y="67388"/>
                  <a:pt x="52664" y="73365"/>
                  <a:pt x="60026" y="73365"/>
                </a:cubicBezTo>
                <a:cubicBezTo>
                  <a:pt x="67388" y="73365"/>
                  <a:pt x="73365" y="67388"/>
                  <a:pt x="73365" y="60026"/>
                </a:cubicBezTo>
                <a:close/>
                <a:moveTo>
                  <a:pt x="40018" y="120053"/>
                </a:moveTo>
                <a:cubicBezTo>
                  <a:pt x="47380" y="120053"/>
                  <a:pt x="53357" y="114075"/>
                  <a:pt x="53357" y="106713"/>
                </a:cubicBezTo>
                <a:cubicBezTo>
                  <a:pt x="53357" y="99351"/>
                  <a:pt x="47380" y="93374"/>
                  <a:pt x="40018" y="93374"/>
                </a:cubicBezTo>
                <a:cubicBezTo>
                  <a:pt x="32655" y="93374"/>
                  <a:pt x="26678" y="99351"/>
                  <a:pt x="26678" y="106713"/>
                </a:cubicBezTo>
                <a:cubicBezTo>
                  <a:pt x="26678" y="114075"/>
                  <a:pt x="32655" y="120053"/>
                  <a:pt x="40018" y="120053"/>
                </a:cubicBezTo>
                <a:close/>
                <a:moveTo>
                  <a:pt x="186748" y="106713"/>
                </a:moveTo>
                <a:cubicBezTo>
                  <a:pt x="186748" y="99351"/>
                  <a:pt x="180771" y="93374"/>
                  <a:pt x="173409" y="93374"/>
                </a:cubicBezTo>
                <a:cubicBezTo>
                  <a:pt x="166047" y="93374"/>
                  <a:pt x="160070" y="99351"/>
                  <a:pt x="160070" y="106713"/>
                </a:cubicBezTo>
                <a:cubicBezTo>
                  <a:pt x="160070" y="114075"/>
                  <a:pt x="166047" y="120053"/>
                  <a:pt x="173409" y="120053"/>
                </a:cubicBezTo>
                <a:cubicBezTo>
                  <a:pt x="180771" y="120053"/>
                  <a:pt x="186748" y="114075"/>
                  <a:pt x="186748" y="106713"/>
                </a:cubicBezTo>
                <a:close/>
              </a:path>
            </a:pathLst>
          </a:custGeom>
          <a:solidFill>
            <a:srgbClr val="FFFFFF"/>
          </a:solidFill>
          <a:ln/>
        </p:spPr>
        <p:txBody>
          <a:bodyPr/>
          <a:lstStyle/>
          <a:p>
            <a:endParaRPr lang="en-US"/>
          </a:p>
        </p:txBody>
      </p:sp>
      <p:sp>
        <p:nvSpPr>
          <p:cNvPr id="7" name="Text 5"/>
          <p:cNvSpPr/>
          <p:nvPr/>
        </p:nvSpPr>
        <p:spPr>
          <a:xfrm>
            <a:off x="1031562" y="1280560"/>
            <a:ext cx="1858591" cy="284569"/>
          </a:xfrm>
          <a:prstGeom prst="rect">
            <a:avLst/>
          </a:prstGeom>
          <a:noFill/>
          <a:ln/>
        </p:spPr>
        <p:txBody>
          <a:bodyPr wrap="square" lIns="0" tIns="0" rIns="0" bIns="0" rtlCol="0" anchor="ctr"/>
          <a:lstStyle/>
          <a:p>
            <a:pPr>
              <a:lnSpc>
                <a:spcPct val="110000"/>
              </a:lnSpc>
            </a:pPr>
            <a:r>
              <a:rPr lang="en-US" sz="1681" b="1" dirty="0">
                <a:solidFill>
                  <a:srgbClr val="FFFFFF"/>
                </a:solidFill>
                <a:latin typeface="Sorts Mill Goudy" pitchFamily="34" charset="0"/>
                <a:ea typeface="Sorts Mill Goudy" pitchFamily="34" charset="-122"/>
                <a:cs typeface="Sorts Mill Goudy" pitchFamily="34" charset="-120"/>
              </a:rPr>
              <a:t>1. Real-Time Speed</a:t>
            </a:r>
            <a:endParaRPr lang="en-US" sz="1600" dirty="0"/>
          </a:p>
        </p:txBody>
      </p:sp>
      <p:sp>
        <p:nvSpPr>
          <p:cNvPr id="8" name="Text 6"/>
          <p:cNvSpPr/>
          <p:nvPr/>
        </p:nvSpPr>
        <p:spPr>
          <a:xfrm>
            <a:off x="497996" y="1742985"/>
            <a:ext cx="5451274" cy="426853"/>
          </a:xfrm>
          <a:prstGeom prst="rect">
            <a:avLst/>
          </a:prstGeom>
          <a:noFill/>
          <a:ln/>
        </p:spPr>
        <p:txBody>
          <a:bodyPr wrap="square" lIns="0" tIns="0" rIns="0" bIns="0" rtlCol="0" anchor="ctr"/>
          <a:lstStyle/>
          <a:p>
            <a:pPr>
              <a:lnSpc>
                <a:spcPct val="130000"/>
              </a:lnSpc>
            </a:pPr>
            <a:r>
              <a:rPr lang="en-US" sz="1120" dirty="0">
                <a:solidFill>
                  <a:srgbClr val="FFFFFF"/>
                </a:solidFill>
                <a:latin typeface="Quattrocento Sans" pitchFamily="34" charset="0"/>
                <a:ea typeface="Quattrocento Sans" pitchFamily="34" charset="-122"/>
                <a:cs typeface="Quattrocento Sans" pitchFamily="34" charset="-120"/>
              </a:rPr>
              <a:t>YOLO achieves </a:t>
            </a:r>
            <a:r>
              <a:rPr lang="en-US" sz="1120" b="1" dirty="0">
                <a:solidFill>
                  <a:srgbClr val="FFFFFF"/>
                </a:solidFill>
                <a:latin typeface="Quattrocento Sans" pitchFamily="34" charset="0"/>
                <a:ea typeface="Quattrocento Sans" pitchFamily="34" charset="-122"/>
                <a:cs typeface="Quattrocento Sans" pitchFamily="34" charset="-120"/>
              </a:rPr>
              <a:t>45 FPS</a:t>
            </a:r>
            <a:r>
              <a:rPr lang="en-US" sz="1120" dirty="0">
                <a:solidFill>
                  <a:srgbClr val="FFFFFF"/>
                </a:solidFill>
                <a:latin typeface="Quattrocento Sans" pitchFamily="34" charset="0"/>
                <a:ea typeface="Quattrocento Sans" pitchFamily="34" charset="-122"/>
                <a:cs typeface="Quattrocento Sans" pitchFamily="34" charset="-120"/>
              </a:rPr>
              <a:t> on standard version and up to </a:t>
            </a:r>
            <a:r>
              <a:rPr lang="en-US" sz="1120" b="1" dirty="0">
                <a:solidFill>
                  <a:srgbClr val="FFFFFF"/>
                </a:solidFill>
                <a:latin typeface="Quattrocento Sans" pitchFamily="34" charset="0"/>
                <a:ea typeface="Quattrocento Sans" pitchFamily="34" charset="-122"/>
                <a:cs typeface="Quattrocento Sans" pitchFamily="34" charset="-120"/>
              </a:rPr>
              <a:t>150 FPS</a:t>
            </a:r>
            <a:r>
              <a:rPr lang="en-US" sz="1120" dirty="0">
                <a:solidFill>
                  <a:srgbClr val="FFFFFF"/>
                </a:solidFill>
                <a:latin typeface="Quattrocento Sans" pitchFamily="34" charset="0"/>
                <a:ea typeface="Quattrocento Sans" pitchFamily="34" charset="-122"/>
                <a:cs typeface="Quattrocento Sans" pitchFamily="34" charset="-120"/>
              </a:rPr>
              <a:t> with Fast YOLO variant using Titan X GPU.</a:t>
            </a:r>
            <a:endParaRPr lang="en-US" sz="1600" dirty="0"/>
          </a:p>
        </p:txBody>
      </p:sp>
      <p:sp>
        <p:nvSpPr>
          <p:cNvPr id="9" name="Shape 7"/>
          <p:cNvSpPr/>
          <p:nvPr/>
        </p:nvSpPr>
        <p:spPr>
          <a:xfrm>
            <a:off x="497996" y="2276551"/>
            <a:ext cx="1742985" cy="604709"/>
          </a:xfrm>
          <a:custGeom>
            <a:avLst/>
            <a:gdLst/>
            <a:ahLst/>
            <a:cxnLst/>
            <a:rect l="l" t="t" r="r" b="b"/>
            <a:pathLst>
              <a:path w="1742985" h="604709">
                <a:moveTo>
                  <a:pt x="35569" y="0"/>
                </a:moveTo>
                <a:lnTo>
                  <a:pt x="1707416" y="0"/>
                </a:lnTo>
                <a:cubicBezTo>
                  <a:pt x="1727060" y="0"/>
                  <a:pt x="1742985" y="15925"/>
                  <a:pt x="1742985" y="35569"/>
                </a:cubicBezTo>
                <a:lnTo>
                  <a:pt x="1742985" y="569140"/>
                </a:lnTo>
                <a:cubicBezTo>
                  <a:pt x="1742985" y="588784"/>
                  <a:pt x="1727060" y="604709"/>
                  <a:pt x="1707416" y="604709"/>
                </a:cubicBezTo>
                <a:lnTo>
                  <a:pt x="35569" y="604709"/>
                </a:lnTo>
                <a:cubicBezTo>
                  <a:pt x="15925" y="604709"/>
                  <a:pt x="0" y="588784"/>
                  <a:pt x="0" y="569140"/>
                </a:cubicBezTo>
                <a:lnTo>
                  <a:pt x="0" y="35569"/>
                </a:lnTo>
                <a:cubicBezTo>
                  <a:pt x="0" y="15925"/>
                  <a:pt x="15925" y="0"/>
                  <a:pt x="35569" y="0"/>
                </a:cubicBezTo>
                <a:close/>
              </a:path>
            </a:pathLst>
          </a:custGeom>
          <a:solidFill>
            <a:srgbClr val="FFFFFF">
              <a:alpha val="20000"/>
            </a:srgbClr>
          </a:solidFill>
          <a:ln/>
        </p:spPr>
        <p:txBody>
          <a:bodyPr/>
          <a:lstStyle/>
          <a:p>
            <a:endParaRPr lang="en-US"/>
          </a:p>
        </p:txBody>
      </p:sp>
      <p:sp>
        <p:nvSpPr>
          <p:cNvPr id="10" name="Text 8"/>
          <p:cNvSpPr/>
          <p:nvPr/>
        </p:nvSpPr>
        <p:spPr>
          <a:xfrm>
            <a:off x="515781" y="2347694"/>
            <a:ext cx="1707414" cy="284569"/>
          </a:xfrm>
          <a:prstGeom prst="rect">
            <a:avLst/>
          </a:prstGeom>
          <a:noFill/>
          <a:ln/>
        </p:spPr>
        <p:txBody>
          <a:bodyPr wrap="square" lIns="0" tIns="0" rIns="0" bIns="0" rtlCol="0" anchor="ctr"/>
          <a:lstStyle/>
          <a:p>
            <a:pPr algn="ctr">
              <a:lnSpc>
                <a:spcPct val="110000"/>
              </a:lnSpc>
            </a:pPr>
            <a:r>
              <a:rPr lang="en-US" sz="1681" b="1" dirty="0">
                <a:solidFill>
                  <a:srgbClr val="FFFFFF"/>
                </a:solidFill>
                <a:latin typeface="Quattrocento Sans" pitchFamily="34" charset="0"/>
                <a:ea typeface="Quattrocento Sans" pitchFamily="34" charset="-122"/>
                <a:cs typeface="Quattrocento Sans" pitchFamily="34" charset="-120"/>
              </a:rPr>
              <a:t>45</a:t>
            </a:r>
            <a:endParaRPr lang="en-US" sz="1600" dirty="0"/>
          </a:p>
        </p:txBody>
      </p:sp>
      <p:sp>
        <p:nvSpPr>
          <p:cNvPr id="11" name="Text 9"/>
          <p:cNvSpPr/>
          <p:nvPr/>
        </p:nvSpPr>
        <p:spPr>
          <a:xfrm>
            <a:off x="538013" y="2632152"/>
            <a:ext cx="1662950" cy="177856"/>
          </a:xfrm>
          <a:prstGeom prst="rect">
            <a:avLst/>
          </a:prstGeom>
          <a:noFill/>
          <a:ln/>
        </p:spPr>
        <p:txBody>
          <a:bodyPr wrap="square" lIns="0" tIns="0" rIns="0" bIns="0" rtlCol="0" anchor="ctr"/>
          <a:lstStyle/>
          <a:p>
            <a:pPr algn="ctr">
              <a:lnSpc>
                <a:spcPct val="120000"/>
              </a:lnSpc>
            </a:pPr>
            <a:r>
              <a:rPr lang="en-US" sz="980" dirty="0">
                <a:solidFill>
                  <a:srgbClr val="FFFFFF"/>
                </a:solidFill>
                <a:latin typeface="Quattrocento Sans" pitchFamily="34" charset="0"/>
                <a:ea typeface="Quattrocento Sans" pitchFamily="34" charset="-122"/>
                <a:cs typeface="Quattrocento Sans" pitchFamily="34" charset="-120"/>
              </a:rPr>
              <a:t>FPS (Base)</a:t>
            </a:r>
            <a:endParaRPr lang="en-US" sz="1600" dirty="0"/>
          </a:p>
        </p:txBody>
      </p:sp>
      <p:sp>
        <p:nvSpPr>
          <p:cNvPr id="12" name="Shape 10"/>
          <p:cNvSpPr/>
          <p:nvPr/>
        </p:nvSpPr>
        <p:spPr>
          <a:xfrm>
            <a:off x="2316013" y="2276551"/>
            <a:ext cx="1742985" cy="604709"/>
          </a:xfrm>
          <a:custGeom>
            <a:avLst/>
            <a:gdLst/>
            <a:ahLst/>
            <a:cxnLst/>
            <a:rect l="l" t="t" r="r" b="b"/>
            <a:pathLst>
              <a:path w="1742985" h="604709">
                <a:moveTo>
                  <a:pt x="35569" y="0"/>
                </a:moveTo>
                <a:lnTo>
                  <a:pt x="1707416" y="0"/>
                </a:lnTo>
                <a:cubicBezTo>
                  <a:pt x="1727060" y="0"/>
                  <a:pt x="1742985" y="15925"/>
                  <a:pt x="1742985" y="35569"/>
                </a:cubicBezTo>
                <a:lnTo>
                  <a:pt x="1742985" y="569140"/>
                </a:lnTo>
                <a:cubicBezTo>
                  <a:pt x="1742985" y="588784"/>
                  <a:pt x="1727060" y="604709"/>
                  <a:pt x="1707416" y="604709"/>
                </a:cubicBezTo>
                <a:lnTo>
                  <a:pt x="35569" y="604709"/>
                </a:lnTo>
                <a:cubicBezTo>
                  <a:pt x="15925" y="604709"/>
                  <a:pt x="0" y="588784"/>
                  <a:pt x="0" y="569140"/>
                </a:cubicBezTo>
                <a:lnTo>
                  <a:pt x="0" y="35569"/>
                </a:lnTo>
                <a:cubicBezTo>
                  <a:pt x="0" y="15925"/>
                  <a:pt x="15925" y="0"/>
                  <a:pt x="35569" y="0"/>
                </a:cubicBezTo>
                <a:close/>
              </a:path>
            </a:pathLst>
          </a:custGeom>
          <a:solidFill>
            <a:srgbClr val="FFFFFF">
              <a:alpha val="20000"/>
            </a:srgbClr>
          </a:solidFill>
          <a:ln/>
        </p:spPr>
        <p:txBody>
          <a:bodyPr/>
          <a:lstStyle/>
          <a:p>
            <a:endParaRPr lang="en-US"/>
          </a:p>
        </p:txBody>
      </p:sp>
      <p:sp>
        <p:nvSpPr>
          <p:cNvPr id="13" name="Text 11"/>
          <p:cNvSpPr/>
          <p:nvPr/>
        </p:nvSpPr>
        <p:spPr>
          <a:xfrm>
            <a:off x="2333799" y="2347694"/>
            <a:ext cx="1707414" cy="284569"/>
          </a:xfrm>
          <a:prstGeom prst="rect">
            <a:avLst/>
          </a:prstGeom>
          <a:noFill/>
          <a:ln/>
        </p:spPr>
        <p:txBody>
          <a:bodyPr wrap="square" lIns="0" tIns="0" rIns="0" bIns="0" rtlCol="0" anchor="ctr"/>
          <a:lstStyle/>
          <a:p>
            <a:pPr algn="ctr">
              <a:lnSpc>
                <a:spcPct val="110000"/>
              </a:lnSpc>
            </a:pPr>
            <a:r>
              <a:rPr lang="en-US" sz="1681" b="1" dirty="0">
                <a:solidFill>
                  <a:srgbClr val="FFFFFF"/>
                </a:solidFill>
                <a:latin typeface="Quattrocento Sans" pitchFamily="34" charset="0"/>
                <a:ea typeface="Quattrocento Sans" pitchFamily="34" charset="-122"/>
                <a:cs typeface="Quattrocento Sans" pitchFamily="34" charset="-120"/>
              </a:rPr>
              <a:t>150</a:t>
            </a:r>
            <a:endParaRPr lang="en-US" sz="1600" dirty="0"/>
          </a:p>
        </p:txBody>
      </p:sp>
      <p:sp>
        <p:nvSpPr>
          <p:cNvPr id="14" name="Text 12"/>
          <p:cNvSpPr/>
          <p:nvPr/>
        </p:nvSpPr>
        <p:spPr>
          <a:xfrm>
            <a:off x="2356031" y="2632152"/>
            <a:ext cx="1662950" cy="177856"/>
          </a:xfrm>
          <a:prstGeom prst="rect">
            <a:avLst/>
          </a:prstGeom>
          <a:noFill/>
          <a:ln/>
        </p:spPr>
        <p:txBody>
          <a:bodyPr wrap="square" lIns="0" tIns="0" rIns="0" bIns="0" rtlCol="0" anchor="ctr"/>
          <a:lstStyle/>
          <a:p>
            <a:pPr algn="ctr">
              <a:lnSpc>
                <a:spcPct val="120000"/>
              </a:lnSpc>
            </a:pPr>
            <a:r>
              <a:rPr lang="en-US" sz="980" dirty="0">
                <a:solidFill>
                  <a:srgbClr val="FFFFFF"/>
                </a:solidFill>
                <a:latin typeface="Quattrocento Sans" pitchFamily="34" charset="0"/>
                <a:ea typeface="Quattrocento Sans" pitchFamily="34" charset="-122"/>
                <a:cs typeface="Quattrocento Sans" pitchFamily="34" charset="-120"/>
              </a:rPr>
              <a:t>FPS (Fast)</a:t>
            </a:r>
            <a:endParaRPr lang="en-US" sz="1600" dirty="0"/>
          </a:p>
        </p:txBody>
      </p:sp>
      <p:sp>
        <p:nvSpPr>
          <p:cNvPr id="15" name="Shape 13"/>
          <p:cNvSpPr/>
          <p:nvPr/>
        </p:nvSpPr>
        <p:spPr>
          <a:xfrm>
            <a:off x="4134031" y="2276551"/>
            <a:ext cx="1742985" cy="604709"/>
          </a:xfrm>
          <a:custGeom>
            <a:avLst/>
            <a:gdLst/>
            <a:ahLst/>
            <a:cxnLst/>
            <a:rect l="l" t="t" r="r" b="b"/>
            <a:pathLst>
              <a:path w="1742985" h="604709">
                <a:moveTo>
                  <a:pt x="35569" y="0"/>
                </a:moveTo>
                <a:lnTo>
                  <a:pt x="1707416" y="0"/>
                </a:lnTo>
                <a:cubicBezTo>
                  <a:pt x="1727060" y="0"/>
                  <a:pt x="1742985" y="15925"/>
                  <a:pt x="1742985" y="35569"/>
                </a:cubicBezTo>
                <a:lnTo>
                  <a:pt x="1742985" y="569140"/>
                </a:lnTo>
                <a:cubicBezTo>
                  <a:pt x="1742985" y="588784"/>
                  <a:pt x="1727060" y="604709"/>
                  <a:pt x="1707416" y="604709"/>
                </a:cubicBezTo>
                <a:lnTo>
                  <a:pt x="35569" y="604709"/>
                </a:lnTo>
                <a:cubicBezTo>
                  <a:pt x="15925" y="604709"/>
                  <a:pt x="0" y="588784"/>
                  <a:pt x="0" y="569140"/>
                </a:cubicBezTo>
                <a:lnTo>
                  <a:pt x="0" y="35569"/>
                </a:lnTo>
                <a:cubicBezTo>
                  <a:pt x="0" y="15925"/>
                  <a:pt x="15925" y="0"/>
                  <a:pt x="35569" y="0"/>
                </a:cubicBezTo>
                <a:close/>
              </a:path>
            </a:pathLst>
          </a:custGeom>
          <a:solidFill>
            <a:srgbClr val="FFFFFF">
              <a:alpha val="20000"/>
            </a:srgbClr>
          </a:solidFill>
          <a:ln/>
        </p:spPr>
        <p:txBody>
          <a:bodyPr/>
          <a:lstStyle/>
          <a:p>
            <a:endParaRPr lang="en-US"/>
          </a:p>
        </p:txBody>
      </p:sp>
      <p:sp>
        <p:nvSpPr>
          <p:cNvPr id="16" name="Text 14"/>
          <p:cNvSpPr/>
          <p:nvPr/>
        </p:nvSpPr>
        <p:spPr>
          <a:xfrm>
            <a:off x="4151816" y="2347694"/>
            <a:ext cx="1707414" cy="284569"/>
          </a:xfrm>
          <a:prstGeom prst="rect">
            <a:avLst/>
          </a:prstGeom>
          <a:noFill/>
          <a:ln/>
        </p:spPr>
        <p:txBody>
          <a:bodyPr wrap="square" lIns="0" tIns="0" rIns="0" bIns="0" rtlCol="0" anchor="ctr"/>
          <a:lstStyle/>
          <a:p>
            <a:pPr algn="ctr">
              <a:lnSpc>
                <a:spcPct val="110000"/>
              </a:lnSpc>
            </a:pPr>
            <a:r>
              <a:rPr lang="en-US" sz="1681" b="1" dirty="0">
                <a:solidFill>
                  <a:srgbClr val="FFFFFF"/>
                </a:solidFill>
                <a:latin typeface="Quattrocento Sans" pitchFamily="34" charset="0"/>
                <a:ea typeface="Quattrocento Sans" pitchFamily="34" charset="-122"/>
                <a:cs typeface="Quattrocento Sans" pitchFamily="34" charset="-120"/>
              </a:rPr>
              <a:t>25</a:t>
            </a:r>
            <a:endParaRPr lang="en-US" sz="1600" dirty="0"/>
          </a:p>
        </p:txBody>
      </p:sp>
      <p:sp>
        <p:nvSpPr>
          <p:cNvPr id="17" name="Text 15"/>
          <p:cNvSpPr/>
          <p:nvPr/>
        </p:nvSpPr>
        <p:spPr>
          <a:xfrm>
            <a:off x="4174048" y="2632152"/>
            <a:ext cx="1662950" cy="177856"/>
          </a:xfrm>
          <a:prstGeom prst="rect">
            <a:avLst/>
          </a:prstGeom>
          <a:noFill/>
          <a:ln/>
        </p:spPr>
        <p:txBody>
          <a:bodyPr wrap="square" lIns="0" tIns="0" rIns="0" bIns="0" rtlCol="0" anchor="ctr"/>
          <a:lstStyle/>
          <a:p>
            <a:pPr algn="ctr">
              <a:lnSpc>
                <a:spcPct val="120000"/>
              </a:lnSpc>
            </a:pPr>
            <a:r>
              <a:rPr lang="en-US" sz="980" dirty="0">
                <a:solidFill>
                  <a:srgbClr val="FFFFFF"/>
                </a:solidFill>
                <a:latin typeface="Quattrocento Sans" pitchFamily="34" charset="0"/>
                <a:ea typeface="Quattrocento Sans" pitchFamily="34" charset="-122"/>
                <a:cs typeface="Quattrocento Sans" pitchFamily="34" charset="-120"/>
              </a:rPr>
              <a:t>ms Latency</a:t>
            </a:r>
            <a:endParaRPr lang="en-US" sz="1600" dirty="0"/>
          </a:p>
        </p:txBody>
      </p:sp>
      <p:sp>
        <p:nvSpPr>
          <p:cNvPr id="18" name="Shape 16"/>
          <p:cNvSpPr/>
          <p:nvPr/>
        </p:nvSpPr>
        <p:spPr>
          <a:xfrm>
            <a:off x="362825" y="3137262"/>
            <a:ext cx="5652250" cy="1792784"/>
          </a:xfrm>
          <a:custGeom>
            <a:avLst/>
            <a:gdLst/>
            <a:ahLst/>
            <a:cxnLst/>
            <a:rect l="l" t="t" r="r" b="b"/>
            <a:pathLst>
              <a:path w="5652250" h="1792784">
                <a:moveTo>
                  <a:pt x="71138" y="0"/>
                </a:moveTo>
                <a:lnTo>
                  <a:pt x="5581113" y="0"/>
                </a:lnTo>
                <a:cubicBezTo>
                  <a:pt x="5620401" y="0"/>
                  <a:pt x="5652250" y="31849"/>
                  <a:pt x="5652250" y="71138"/>
                </a:cubicBezTo>
                <a:lnTo>
                  <a:pt x="5652250" y="1721647"/>
                </a:lnTo>
                <a:cubicBezTo>
                  <a:pt x="5652250" y="1760935"/>
                  <a:pt x="5620401" y="1792784"/>
                  <a:pt x="5581113" y="1792784"/>
                </a:cubicBezTo>
                <a:lnTo>
                  <a:pt x="71138" y="1792784"/>
                </a:lnTo>
                <a:cubicBezTo>
                  <a:pt x="31849" y="1792784"/>
                  <a:pt x="0" y="1760935"/>
                  <a:pt x="0" y="1721647"/>
                </a:cubicBezTo>
                <a:lnTo>
                  <a:pt x="0" y="71138"/>
                </a:lnTo>
                <a:cubicBezTo>
                  <a:pt x="0" y="31876"/>
                  <a:pt x="31876" y="0"/>
                  <a:pt x="71138" y="0"/>
                </a:cubicBezTo>
                <a:close/>
              </a:path>
            </a:pathLst>
          </a:custGeom>
          <a:solidFill>
            <a:srgbClr val="FFFFFF"/>
          </a:solidFill>
          <a:ln w="20320">
            <a:solidFill>
              <a:srgbClr val="1F2937"/>
            </a:solidFill>
            <a:prstDash val="solid"/>
          </a:ln>
          <a:effectLst>
            <a:outerShdw blurRad="53357" dist="35571" dir="5400000" algn="bl" rotWithShape="0">
              <a:srgbClr val="000000">
                <a:alpha val="10196"/>
              </a:srgbClr>
            </a:outerShdw>
          </a:effectLst>
        </p:spPr>
        <p:txBody>
          <a:bodyPr/>
          <a:lstStyle/>
          <a:p>
            <a:endParaRPr lang="en-US"/>
          </a:p>
        </p:txBody>
      </p:sp>
      <p:sp>
        <p:nvSpPr>
          <p:cNvPr id="19" name="Shape 17"/>
          <p:cNvSpPr/>
          <p:nvPr/>
        </p:nvSpPr>
        <p:spPr>
          <a:xfrm>
            <a:off x="512224" y="3286661"/>
            <a:ext cx="426853" cy="426853"/>
          </a:xfrm>
          <a:custGeom>
            <a:avLst/>
            <a:gdLst/>
            <a:ahLst/>
            <a:cxnLst/>
            <a:rect l="l" t="t" r="r" b="b"/>
            <a:pathLst>
              <a:path w="426853" h="426853">
                <a:moveTo>
                  <a:pt x="213427" y="0"/>
                </a:moveTo>
                <a:lnTo>
                  <a:pt x="213427" y="0"/>
                </a:lnTo>
                <a:cubicBezTo>
                  <a:pt x="331299" y="0"/>
                  <a:pt x="426853" y="95554"/>
                  <a:pt x="426853" y="213427"/>
                </a:cubicBezTo>
                <a:lnTo>
                  <a:pt x="426853" y="213427"/>
                </a:lnTo>
                <a:cubicBezTo>
                  <a:pt x="426853" y="331299"/>
                  <a:pt x="331299" y="426853"/>
                  <a:pt x="213427" y="426853"/>
                </a:cubicBezTo>
                <a:lnTo>
                  <a:pt x="213427" y="426853"/>
                </a:lnTo>
                <a:cubicBezTo>
                  <a:pt x="95554" y="426853"/>
                  <a:pt x="0" y="331299"/>
                  <a:pt x="0" y="213427"/>
                </a:cubicBezTo>
                <a:lnTo>
                  <a:pt x="0" y="213427"/>
                </a:lnTo>
                <a:cubicBezTo>
                  <a:pt x="0" y="95554"/>
                  <a:pt x="95554" y="0"/>
                  <a:pt x="213427" y="0"/>
                </a:cubicBezTo>
                <a:close/>
              </a:path>
            </a:pathLst>
          </a:custGeom>
          <a:solidFill>
            <a:srgbClr val="1F2937"/>
          </a:solidFill>
          <a:ln/>
        </p:spPr>
        <p:txBody>
          <a:bodyPr/>
          <a:lstStyle/>
          <a:p>
            <a:endParaRPr lang="en-US"/>
          </a:p>
        </p:txBody>
      </p:sp>
      <p:sp>
        <p:nvSpPr>
          <p:cNvPr id="20" name="Shape 18"/>
          <p:cNvSpPr/>
          <p:nvPr/>
        </p:nvSpPr>
        <p:spPr>
          <a:xfrm>
            <a:off x="618937" y="3393375"/>
            <a:ext cx="213427" cy="213427"/>
          </a:xfrm>
          <a:custGeom>
            <a:avLst/>
            <a:gdLst/>
            <a:ahLst/>
            <a:cxnLst/>
            <a:rect l="l" t="t" r="r" b="b"/>
            <a:pathLst>
              <a:path w="213427" h="213427">
                <a:moveTo>
                  <a:pt x="0" y="33348"/>
                </a:moveTo>
                <a:cubicBezTo>
                  <a:pt x="0" y="22301"/>
                  <a:pt x="8962" y="13339"/>
                  <a:pt x="20009" y="13339"/>
                </a:cubicBezTo>
                <a:lnTo>
                  <a:pt x="60026" y="13339"/>
                </a:lnTo>
                <a:cubicBezTo>
                  <a:pt x="71073" y="13339"/>
                  <a:pt x="80035" y="22301"/>
                  <a:pt x="80035" y="33348"/>
                </a:cubicBezTo>
                <a:lnTo>
                  <a:pt x="80035" y="40018"/>
                </a:lnTo>
                <a:lnTo>
                  <a:pt x="133392" y="40018"/>
                </a:lnTo>
                <a:lnTo>
                  <a:pt x="133392" y="33348"/>
                </a:lnTo>
                <a:cubicBezTo>
                  <a:pt x="133392" y="22301"/>
                  <a:pt x="142354" y="13339"/>
                  <a:pt x="153400" y="13339"/>
                </a:cubicBezTo>
                <a:lnTo>
                  <a:pt x="193418" y="13339"/>
                </a:lnTo>
                <a:cubicBezTo>
                  <a:pt x="204464" y="13339"/>
                  <a:pt x="213427" y="22301"/>
                  <a:pt x="213427" y="33348"/>
                </a:cubicBezTo>
                <a:lnTo>
                  <a:pt x="213427" y="73365"/>
                </a:lnTo>
                <a:cubicBezTo>
                  <a:pt x="213427" y="84412"/>
                  <a:pt x="204464" y="93374"/>
                  <a:pt x="193418" y="93374"/>
                </a:cubicBezTo>
                <a:lnTo>
                  <a:pt x="153400" y="93374"/>
                </a:lnTo>
                <a:cubicBezTo>
                  <a:pt x="142354" y="93374"/>
                  <a:pt x="133392" y="84412"/>
                  <a:pt x="133392" y="73365"/>
                </a:cubicBezTo>
                <a:lnTo>
                  <a:pt x="133392" y="66696"/>
                </a:lnTo>
                <a:lnTo>
                  <a:pt x="80035" y="66696"/>
                </a:lnTo>
                <a:lnTo>
                  <a:pt x="80035" y="73365"/>
                </a:lnTo>
                <a:cubicBezTo>
                  <a:pt x="80035" y="76408"/>
                  <a:pt x="79326" y="79326"/>
                  <a:pt x="78118" y="81911"/>
                </a:cubicBezTo>
                <a:lnTo>
                  <a:pt x="106713" y="120053"/>
                </a:lnTo>
                <a:lnTo>
                  <a:pt x="140061" y="120053"/>
                </a:lnTo>
                <a:cubicBezTo>
                  <a:pt x="151108" y="120053"/>
                  <a:pt x="160070" y="129015"/>
                  <a:pt x="160070" y="140061"/>
                </a:cubicBezTo>
                <a:lnTo>
                  <a:pt x="160070" y="180079"/>
                </a:lnTo>
                <a:cubicBezTo>
                  <a:pt x="160070" y="191125"/>
                  <a:pt x="151108" y="200088"/>
                  <a:pt x="140061" y="200088"/>
                </a:cubicBezTo>
                <a:lnTo>
                  <a:pt x="100044" y="200088"/>
                </a:lnTo>
                <a:cubicBezTo>
                  <a:pt x="88997" y="200088"/>
                  <a:pt x="80035" y="191125"/>
                  <a:pt x="80035" y="180079"/>
                </a:cubicBezTo>
                <a:lnTo>
                  <a:pt x="80035" y="140061"/>
                </a:lnTo>
                <a:cubicBezTo>
                  <a:pt x="80035" y="137018"/>
                  <a:pt x="80744" y="134100"/>
                  <a:pt x="81953" y="131516"/>
                </a:cubicBezTo>
                <a:lnTo>
                  <a:pt x="53357" y="93374"/>
                </a:lnTo>
                <a:lnTo>
                  <a:pt x="20009" y="93374"/>
                </a:lnTo>
                <a:cubicBezTo>
                  <a:pt x="8962" y="93374"/>
                  <a:pt x="0" y="84412"/>
                  <a:pt x="0" y="73365"/>
                </a:cubicBezTo>
                <a:lnTo>
                  <a:pt x="0" y="33348"/>
                </a:lnTo>
                <a:close/>
              </a:path>
            </a:pathLst>
          </a:custGeom>
          <a:solidFill>
            <a:srgbClr val="FFFFFF"/>
          </a:solidFill>
          <a:ln/>
        </p:spPr>
        <p:txBody>
          <a:bodyPr/>
          <a:lstStyle/>
          <a:p>
            <a:endParaRPr lang="en-US"/>
          </a:p>
        </p:txBody>
      </p:sp>
      <p:sp>
        <p:nvSpPr>
          <p:cNvPr id="21" name="Text 19"/>
          <p:cNvSpPr/>
          <p:nvPr/>
        </p:nvSpPr>
        <p:spPr>
          <a:xfrm>
            <a:off x="1045791" y="3357803"/>
            <a:ext cx="2240980" cy="284569"/>
          </a:xfrm>
          <a:prstGeom prst="rect">
            <a:avLst/>
          </a:prstGeom>
          <a:noFill/>
          <a:ln/>
        </p:spPr>
        <p:txBody>
          <a:bodyPr wrap="square" lIns="0" tIns="0" rIns="0" bIns="0" rtlCol="0" anchor="ctr"/>
          <a:lstStyle/>
          <a:p>
            <a:pPr>
              <a:lnSpc>
                <a:spcPct val="110000"/>
              </a:lnSpc>
            </a:pPr>
            <a:r>
              <a:rPr lang="en-US" sz="1681" b="1" dirty="0">
                <a:solidFill>
                  <a:srgbClr val="1F2937"/>
                </a:solidFill>
                <a:latin typeface="Sorts Mill Goudy" pitchFamily="34" charset="0"/>
                <a:ea typeface="Sorts Mill Goudy" pitchFamily="34" charset="-122"/>
                <a:cs typeface="Sorts Mill Goudy" pitchFamily="34" charset="-120"/>
              </a:rPr>
              <a:t>2. End-to-End Training</a:t>
            </a:r>
            <a:endParaRPr lang="en-US" sz="1600" dirty="0"/>
          </a:p>
        </p:txBody>
      </p:sp>
      <p:sp>
        <p:nvSpPr>
          <p:cNvPr id="22" name="Text 20"/>
          <p:cNvSpPr/>
          <p:nvPr/>
        </p:nvSpPr>
        <p:spPr>
          <a:xfrm>
            <a:off x="512224" y="3820228"/>
            <a:ext cx="5424595" cy="426853"/>
          </a:xfrm>
          <a:prstGeom prst="rect">
            <a:avLst/>
          </a:prstGeom>
          <a:noFill/>
          <a:ln/>
        </p:spPr>
        <p:txBody>
          <a:bodyPr wrap="square" lIns="0" tIns="0" rIns="0" bIns="0" rtlCol="0" anchor="ctr"/>
          <a:lstStyle/>
          <a:p>
            <a:pPr>
              <a:lnSpc>
                <a:spcPct val="130000"/>
              </a:lnSpc>
            </a:pPr>
            <a:r>
              <a:rPr lang="en-US" sz="1120" dirty="0">
                <a:solidFill>
                  <a:srgbClr val="1F2937"/>
                </a:solidFill>
                <a:latin typeface="Quattrocento Sans" pitchFamily="34" charset="0"/>
                <a:ea typeface="Quattrocento Sans" pitchFamily="34" charset="-122"/>
                <a:cs typeface="Quattrocento Sans" pitchFamily="34" charset="-120"/>
              </a:rPr>
              <a:t>Unlike R-CNN which requires separate training for region proposal and classification networks, YOLO trains as a </a:t>
            </a:r>
            <a:r>
              <a:rPr lang="en-US" sz="1120" dirty="0">
                <a:solidFill>
                  <a:srgbClr val="FFFFFF"/>
                </a:solidFill>
                <a:highlight>
                  <a:srgbClr val="8B0000">
                    <a:alpha val="100000"/>
                  </a:srgbClr>
                </a:highlight>
                <a:latin typeface="Quattrocento Sans" pitchFamily="34" charset="0"/>
                <a:ea typeface="Quattrocento Sans" pitchFamily="34" charset="-122"/>
                <a:cs typeface="Quattrocento Sans" pitchFamily="34" charset="-120"/>
              </a:rPr>
              <a:t>single unified model </a:t>
            </a:r>
            <a:r>
              <a:rPr lang="en-US" sz="1120" dirty="0">
                <a:solidFill>
                  <a:srgbClr val="1F2937"/>
                </a:solidFill>
                <a:latin typeface="Quattrocento Sans" pitchFamily="34" charset="0"/>
                <a:ea typeface="Quattrocento Sans" pitchFamily="34" charset="-122"/>
                <a:cs typeface="Quattrocento Sans" pitchFamily="34" charset="-120"/>
              </a:rPr>
              <a:t>.</a:t>
            </a:r>
            <a:endParaRPr lang="en-US" sz="1600" dirty="0"/>
          </a:p>
        </p:txBody>
      </p:sp>
      <p:sp>
        <p:nvSpPr>
          <p:cNvPr id="23" name="Shape 21"/>
          <p:cNvSpPr/>
          <p:nvPr/>
        </p:nvSpPr>
        <p:spPr>
          <a:xfrm>
            <a:off x="530010" y="4353795"/>
            <a:ext cx="5335667" cy="426853"/>
          </a:xfrm>
          <a:custGeom>
            <a:avLst/>
            <a:gdLst/>
            <a:ahLst/>
            <a:cxnLst/>
            <a:rect l="l" t="t" r="r" b="b"/>
            <a:pathLst>
              <a:path w="5335667" h="426853">
                <a:moveTo>
                  <a:pt x="35570" y="0"/>
                </a:moveTo>
                <a:lnTo>
                  <a:pt x="5300098" y="0"/>
                </a:lnTo>
                <a:cubicBezTo>
                  <a:pt x="5319742" y="0"/>
                  <a:pt x="5335667" y="15925"/>
                  <a:pt x="5335667" y="35570"/>
                </a:cubicBezTo>
                <a:lnTo>
                  <a:pt x="5335667" y="391284"/>
                </a:lnTo>
                <a:cubicBezTo>
                  <a:pt x="5335667" y="410928"/>
                  <a:pt x="5319742" y="426853"/>
                  <a:pt x="5300098" y="426853"/>
                </a:cubicBezTo>
                <a:lnTo>
                  <a:pt x="35570" y="426853"/>
                </a:lnTo>
                <a:cubicBezTo>
                  <a:pt x="15925" y="426853"/>
                  <a:pt x="0" y="410928"/>
                  <a:pt x="0" y="391284"/>
                </a:cubicBezTo>
                <a:lnTo>
                  <a:pt x="0" y="35570"/>
                </a:lnTo>
                <a:cubicBezTo>
                  <a:pt x="0" y="15938"/>
                  <a:pt x="15938" y="0"/>
                  <a:pt x="35570" y="0"/>
                </a:cubicBezTo>
                <a:close/>
              </a:path>
            </a:pathLst>
          </a:custGeom>
          <a:solidFill>
            <a:srgbClr val="F9FAFB"/>
          </a:solidFill>
          <a:ln/>
        </p:spPr>
        <p:txBody>
          <a:bodyPr/>
          <a:lstStyle/>
          <a:p>
            <a:endParaRPr lang="en-US"/>
          </a:p>
        </p:txBody>
      </p:sp>
      <p:sp>
        <p:nvSpPr>
          <p:cNvPr id="24" name="Shape 22"/>
          <p:cNvSpPr/>
          <p:nvPr/>
        </p:nvSpPr>
        <p:spPr>
          <a:xfrm>
            <a:off x="530010" y="4353795"/>
            <a:ext cx="35571" cy="426853"/>
          </a:xfrm>
          <a:custGeom>
            <a:avLst/>
            <a:gdLst/>
            <a:ahLst/>
            <a:cxnLst/>
            <a:rect l="l" t="t" r="r" b="b"/>
            <a:pathLst>
              <a:path w="35571" h="426853">
                <a:moveTo>
                  <a:pt x="35571" y="0"/>
                </a:moveTo>
                <a:lnTo>
                  <a:pt x="35571" y="0"/>
                </a:lnTo>
                <a:lnTo>
                  <a:pt x="35571" y="426853"/>
                </a:lnTo>
                <a:lnTo>
                  <a:pt x="35571" y="426853"/>
                </a:lnTo>
                <a:cubicBezTo>
                  <a:pt x="15926" y="426853"/>
                  <a:pt x="0" y="410928"/>
                  <a:pt x="0" y="391282"/>
                </a:cubicBezTo>
                <a:lnTo>
                  <a:pt x="0" y="35571"/>
                </a:lnTo>
                <a:cubicBezTo>
                  <a:pt x="0" y="15926"/>
                  <a:pt x="15926" y="0"/>
                  <a:pt x="35571" y="0"/>
                </a:cubicBezTo>
                <a:close/>
              </a:path>
            </a:pathLst>
          </a:custGeom>
          <a:solidFill>
            <a:srgbClr val="8B0000"/>
          </a:solidFill>
          <a:ln/>
        </p:spPr>
        <p:txBody>
          <a:bodyPr/>
          <a:lstStyle/>
          <a:p>
            <a:endParaRPr lang="en-US"/>
          </a:p>
        </p:txBody>
      </p:sp>
      <p:sp>
        <p:nvSpPr>
          <p:cNvPr id="25" name="Shape 23"/>
          <p:cNvSpPr/>
          <p:nvPr/>
        </p:nvSpPr>
        <p:spPr>
          <a:xfrm>
            <a:off x="672294" y="4488965"/>
            <a:ext cx="142284" cy="142284"/>
          </a:xfrm>
          <a:custGeom>
            <a:avLst/>
            <a:gdLst/>
            <a:ahLst/>
            <a:cxnLst/>
            <a:rect l="l" t="t" r="r" b="b"/>
            <a:pathLst>
              <a:path w="142284" h="142284">
                <a:moveTo>
                  <a:pt x="71142" y="142284"/>
                </a:moveTo>
                <a:cubicBezTo>
                  <a:pt x="110407" y="142284"/>
                  <a:pt x="142284" y="110407"/>
                  <a:pt x="142284" y="71142"/>
                </a:cubicBezTo>
                <a:cubicBezTo>
                  <a:pt x="142284" y="31878"/>
                  <a:pt x="110407" y="0"/>
                  <a:pt x="71142" y="0"/>
                </a:cubicBezTo>
                <a:cubicBezTo>
                  <a:pt x="31878" y="0"/>
                  <a:pt x="0" y="31878"/>
                  <a:pt x="0" y="71142"/>
                </a:cubicBezTo>
                <a:cubicBezTo>
                  <a:pt x="0" y="110407"/>
                  <a:pt x="31878" y="142284"/>
                  <a:pt x="71142" y="142284"/>
                </a:cubicBezTo>
                <a:close/>
                <a:moveTo>
                  <a:pt x="94597" y="59109"/>
                </a:moveTo>
                <a:lnTo>
                  <a:pt x="72365" y="94680"/>
                </a:lnTo>
                <a:cubicBezTo>
                  <a:pt x="71198" y="96542"/>
                  <a:pt x="69197" y="97709"/>
                  <a:pt x="67002" y="97821"/>
                </a:cubicBezTo>
                <a:cubicBezTo>
                  <a:pt x="64806" y="97932"/>
                  <a:pt x="62694" y="96931"/>
                  <a:pt x="61388" y="95153"/>
                </a:cubicBezTo>
                <a:lnTo>
                  <a:pt x="48049" y="77367"/>
                </a:lnTo>
                <a:cubicBezTo>
                  <a:pt x="45826" y="74421"/>
                  <a:pt x="46437" y="70253"/>
                  <a:pt x="49383" y="68030"/>
                </a:cubicBezTo>
                <a:cubicBezTo>
                  <a:pt x="52328" y="65807"/>
                  <a:pt x="56497" y="66418"/>
                  <a:pt x="58720" y="69364"/>
                </a:cubicBezTo>
                <a:lnTo>
                  <a:pt x="66223" y="79368"/>
                </a:lnTo>
                <a:lnTo>
                  <a:pt x="83286" y="52051"/>
                </a:lnTo>
                <a:cubicBezTo>
                  <a:pt x="85232" y="48938"/>
                  <a:pt x="89345" y="47965"/>
                  <a:pt x="92485" y="49939"/>
                </a:cubicBezTo>
                <a:cubicBezTo>
                  <a:pt x="95625" y="51912"/>
                  <a:pt x="96570" y="55997"/>
                  <a:pt x="94597" y="59137"/>
                </a:cubicBezTo>
                <a:close/>
              </a:path>
            </a:pathLst>
          </a:custGeom>
          <a:solidFill>
            <a:srgbClr val="00A63E"/>
          </a:solidFill>
          <a:ln/>
        </p:spPr>
        <p:txBody>
          <a:bodyPr/>
          <a:lstStyle/>
          <a:p>
            <a:endParaRPr lang="en-US"/>
          </a:p>
        </p:txBody>
      </p:sp>
      <p:sp>
        <p:nvSpPr>
          <p:cNvPr id="26" name="Text 24"/>
          <p:cNvSpPr/>
          <p:nvPr/>
        </p:nvSpPr>
        <p:spPr>
          <a:xfrm>
            <a:off x="882179" y="4460508"/>
            <a:ext cx="4947927" cy="213427"/>
          </a:xfrm>
          <a:prstGeom prst="rect">
            <a:avLst/>
          </a:prstGeom>
          <a:noFill/>
          <a:ln/>
        </p:spPr>
        <p:txBody>
          <a:bodyPr wrap="square" lIns="0" tIns="0" rIns="0" bIns="0" rtlCol="0" anchor="ctr"/>
          <a:lstStyle/>
          <a:p>
            <a:pPr>
              <a:lnSpc>
                <a:spcPct val="130000"/>
              </a:lnSpc>
            </a:pPr>
            <a:r>
              <a:rPr lang="en-US" sz="1120" dirty="0">
                <a:solidFill>
                  <a:srgbClr val="6B7280"/>
                </a:solidFill>
                <a:latin typeface="Quattrocento Sans" pitchFamily="34" charset="0"/>
                <a:ea typeface="Quattrocento Sans" pitchFamily="34" charset="-122"/>
                <a:cs typeface="Quattrocento Sans" pitchFamily="34" charset="-120"/>
              </a:rPr>
              <a:t>Simplified pipeline, easier optimization</a:t>
            </a:r>
            <a:endParaRPr lang="en-US" sz="1600" dirty="0"/>
          </a:p>
        </p:txBody>
      </p:sp>
      <p:sp>
        <p:nvSpPr>
          <p:cNvPr id="27" name="Shape 25"/>
          <p:cNvSpPr/>
          <p:nvPr/>
        </p:nvSpPr>
        <p:spPr>
          <a:xfrm>
            <a:off x="373497" y="5043873"/>
            <a:ext cx="5646915" cy="1458416"/>
          </a:xfrm>
          <a:custGeom>
            <a:avLst/>
            <a:gdLst/>
            <a:ahLst/>
            <a:cxnLst/>
            <a:rect l="l" t="t" r="r" b="b"/>
            <a:pathLst>
              <a:path w="5646915" h="1458416">
                <a:moveTo>
                  <a:pt x="35571" y="0"/>
                </a:moveTo>
                <a:lnTo>
                  <a:pt x="5575773" y="0"/>
                </a:lnTo>
                <a:cubicBezTo>
                  <a:pt x="5615064" y="0"/>
                  <a:pt x="5646915" y="31851"/>
                  <a:pt x="5646915" y="71142"/>
                </a:cubicBezTo>
                <a:lnTo>
                  <a:pt x="5646915" y="1387274"/>
                </a:lnTo>
                <a:cubicBezTo>
                  <a:pt x="5646915" y="1426565"/>
                  <a:pt x="5615064" y="1458416"/>
                  <a:pt x="5575773" y="1458416"/>
                </a:cubicBezTo>
                <a:lnTo>
                  <a:pt x="35571" y="1458416"/>
                </a:lnTo>
                <a:cubicBezTo>
                  <a:pt x="15926" y="1458416"/>
                  <a:pt x="0" y="1442490"/>
                  <a:pt x="0" y="1422845"/>
                </a:cubicBezTo>
                <a:lnTo>
                  <a:pt x="0" y="35571"/>
                </a:lnTo>
                <a:cubicBezTo>
                  <a:pt x="0" y="15926"/>
                  <a:pt x="15926" y="0"/>
                  <a:pt x="35571" y="0"/>
                </a:cubicBezTo>
                <a:close/>
              </a:path>
            </a:pathLst>
          </a:custGeom>
          <a:solidFill>
            <a:srgbClr val="EFF6FF"/>
          </a:solidFill>
          <a:ln/>
        </p:spPr>
        <p:txBody>
          <a:bodyPr/>
          <a:lstStyle/>
          <a:p>
            <a:endParaRPr lang="en-US"/>
          </a:p>
        </p:txBody>
      </p:sp>
      <p:sp>
        <p:nvSpPr>
          <p:cNvPr id="28" name="Shape 26"/>
          <p:cNvSpPr/>
          <p:nvPr/>
        </p:nvSpPr>
        <p:spPr>
          <a:xfrm>
            <a:off x="373497" y="5043873"/>
            <a:ext cx="35571" cy="1458416"/>
          </a:xfrm>
          <a:custGeom>
            <a:avLst/>
            <a:gdLst/>
            <a:ahLst/>
            <a:cxnLst/>
            <a:rect l="l" t="t" r="r" b="b"/>
            <a:pathLst>
              <a:path w="35571" h="1458416">
                <a:moveTo>
                  <a:pt x="35571" y="0"/>
                </a:moveTo>
                <a:lnTo>
                  <a:pt x="35571" y="0"/>
                </a:lnTo>
                <a:lnTo>
                  <a:pt x="35571" y="1458416"/>
                </a:lnTo>
                <a:lnTo>
                  <a:pt x="35571" y="1458416"/>
                </a:lnTo>
                <a:cubicBezTo>
                  <a:pt x="15926" y="1458416"/>
                  <a:pt x="0" y="1442490"/>
                  <a:pt x="0" y="1422845"/>
                </a:cubicBezTo>
                <a:lnTo>
                  <a:pt x="0" y="35571"/>
                </a:lnTo>
                <a:cubicBezTo>
                  <a:pt x="0" y="15926"/>
                  <a:pt x="15926" y="0"/>
                  <a:pt x="35571" y="0"/>
                </a:cubicBezTo>
                <a:close/>
              </a:path>
            </a:pathLst>
          </a:custGeom>
          <a:solidFill>
            <a:srgbClr val="2B7FFF"/>
          </a:solidFill>
          <a:ln/>
        </p:spPr>
        <p:txBody>
          <a:bodyPr/>
          <a:lstStyle/>
          <a:p>
            <a:endParaRPr lang="en-US"/>
          </a:p>
        </p:txBody>
      </p:sp>
      <p:sp>
        <p:nvSpPr>
          <p:cNvPr id="29" name="Shape 27"/>
          <p:cNvSpPr/>
          <p:nvPr/>
        </p:nvSpPr>
        <p:spPr>
          <a:xfrm>
            <a:off x="533567" y="5186158"/>
            <a:ext cx="426853" cy="426853"/>
          </a:xfrm>
          <a:custGeom>
            <a:avLst/>
            <a:gdLst/>
            <a:ahLst/>
            <a:cxnLst/>
            <a:rect l="l" t="t" r="r" b="b"/>
            <a:pathLst>
              <a:path w="426853" h="426853">
                <a:moveTo>
                  <a:pt x="213427" y="0"/>
                </a:moveTo>
                <a:lnTo>
                  <a:pt x="213427" y="0"/>
                </a:lnTo>
                <a:cubicBezTo>
                  <a:pt x="331299" y="0"/>
                  <a:pt x="426853" y="95554"/>
                  <a:pt x="426853" y="213427"/>
                </a:cubicBezTo>
                <a:lnTo>
                  <a:pt x="426853" y="213427"/>
                </a:lnTo>
                <a:cubicBezTo>
                  <a:pt x="426853" y="331299"/>
                  <a:pt x="331299" y="426853"/>
                  <a:pt x="213427" y="426853"/>
                </a:cubicBezTo>
                <a:lnTo>
                  <a:pt x="213427" y="426853"/>
                </a:lnTo>
                <a:cubicBezTo>
                  <a:pt x="95554" y="426853"/>
                  <a:pt x="0" y="331299"/>
                  <a:pt x="0" y="213427"/>
                </a:cubicBezTo>
                <a:lnTo>
                  <a:pt x="0" y="213427"/>
                </a:lnTo>
                <a:cubicBezTo>
                  <a:pt x="0" y="95554"/>
                  <a:pt x="95554" y="0"/>
                  <a:pt x="213427" y="0"/>
                </a:cubicBezTo>
                <a:close/>
              </a:path>
            </a:pathLst>
          </a:custGeom>
          <a:solidFill>
            <a:srgbClr val="2B7FFF"/>
          </a:solidFill>
          <a:ln/>
        </p:spPr>
        <p:txBody>
          <a:bodyPr/>
          <a:lstStyle/>
          <a:p>
            <a:endParaRPr lang="en-US"/>
          </a:p>
        </p:txBody>
      </p:sp>
      <p:sp>
        <p:nvSpPr>
          <p:cNvPr id="30" name="Shape 28"/>
          <p:cNvSpPr/>
          <p:nvPr/>
        </p:nvSpPr>
        <p:spPr>
          <a:xfrm>
            <a:off x="640280" y="5292871"/>
            <a:ext cx="213427" cy="213427"/>
          </a:xfrm>
          <a:custGeom>
            <a:avLst/>
            <a:gdLst/>
            <a:ahLst/>
            <a:cxnLst/>
            <a:rect l="l" t="t" r="r" b="b"/>
            <a:pathLst>
              <a:path w="213427" h="213427">
                <a:moveTo>
                  <a:pt x="50022" y="23344"/>
                </a:moveTo>
                <a:cubicBezTo>
                  <a:pt x="50022" y="10463"/>
                  <a:pt x="60485" y="0"/>
                  <a:pt x="73365" y="0"/>
                </a:cubicBezTo>
                <a:lnTo>
                  <a:pt x="83370" y="0"/>
                </a:lnTo>
                <a:cubicBezTo>
                  <a:pt x="90748" y="0"/>
                  <a:pt x="96709" y="5961"/>
                  <a:pt x="96709" y="13339"/>
                </a:cubicBezTo>
                <a:lnTo>
                  <a:pt x="96709" y="200088"/>
                </a:lnTo>
                <a:cubicBezTo>
                  <a:pt x="96709" y="207466"/>
                  <a:pt x="90748" y="213427"/>
                  <a:pt x="83370" y="213427"/>
                </a:cubicBezTo>
                <a:lnTo>
                  <a:pt x="70031" y="213427"/>
                </a:lnTo>
                <a:cubicBezTo>
                  <a:pt x="57609" y="213427"/>
                  <a:pt x="47146" y="204923"/>
                  <a:pt x="44186" y="193418"/>
                </a:cubicBezTo>
                <a:cubicBezTo>
                  <a:pt x="43894" y="193418"/>
                  <a:pt x="43644" y="193418"/>
                  <a:pt x="43352" y="193418"/>
                </a:cubicBezTo>
                <a:cubicBezTo>
                  <a:pt x="24928" y="193418"/>
                  <a:pt x="10004" y="178495"/>
                  <a:pt x="10004" y="160070"/>
                </a:cubicBezTo>
                <a:cubicBezTo>
                  <a:pt x="10004" y="152567"/>
                  <a:pt x="12505" y="145647"/>
                  <a:pt x="16674" y="140061"/>
                </a:cubicBezTo>
                <a:cubicBezTo>
                  <a:pt x="8587" y="133975"/>
                  <a:pt x="3335" y="124304"/>
                  <a:pt x="3335" y="113383"/>
                </a:cubicBezTo>
                <a:cubicBezTo>
                  <a:pt x="3335" y="100502"/>
                  <a:pt x="10671" y="89289"/>
                  <a:pt x="21343" y="83745"/>
                </a:cubicBezTo>
                <a:cubicBezTo>
                  <a:pt x="18383" y="78743"/>
                  <a:pt x="16674" y="72907"/>
                  <a:pt x="16674" y="66696"/>
                </a:cubicBezTo>
                <a:cubicBezTo>
                  <a:pt x="16674" y="48271"/>
                  <a:pt x="31597" y="33348"/>
                  <a:pt x="50022" y="33348"/>
                </a:cubicBezTo>
                <a:lnTo>
                  <a:pt x="50022" y="23344"/>
                </a:lnTo>
                <a:close/>
                <a:moveTo>
                  <a:pt x="163405" y="23344"/>
                </a:moveTo>
                <a:lnTo>
                  <a:pt x="163405" y="33348"/>
                </a:lnTo>
                <a:cubicBezTo>
                  <a:pt x="181830" y="33348"/>
                  <a:pt x="196753" y="48271"/>
                  <a:pt x="196753" y="66696"/>
                </a:cubicBezTo>
                <a:cubicBezTo>
                  <a:pt x="196753" y="72949"/>
                  <a:pt x="195044" y="78784"/>
                  <a:pt x="192084" y="83745"/>
                </a:cubicBezTo>
                <a:cubicBezTo>
                  <a:pt x="202797" y="89289"/>
                  <a:pt x="210092" y="100461"/>
                  <a:pt x="210092" y="113383"/>
                </a:cubicBezTo>
                <a:cubicBezTo>
                  <a:pt x="210092" y="124304"/>
                  <a:pt x="204840" y="133975"/>
                  <a:pt x="196753" y="140061"/>
                </a:cubicBezTo>
                <a:cubicBezTo>
                  <a:pt x="200921" y="145647"/>
                  <a:pt x="203422" y="152567"/>
                  <a:pt x="203422" y="160070"/>
                </a:cubicBezTo>
                <a:cubicBezTo>
                  <a:pt x="203422" y="178495"/>
                  <a:pt x="188499" y="193418"/>
                  <a:pt x="170074" y="193418"/>
                </a:cubicBezTo>
                <a:cubicBezTo>
                  <a:pt x="169783" y="193418"/>
                  <a:pt x="169532" y="193418"/>
                  <a:pt x="169241" y="193418"/>
                </a:cubicBezTo>
                <a:cubicBezTo>
                  <a:pt x="166281" y="204923"/>
                  <a:pt x="155818" y="213427"/>
                  <a:pt x="143396" y="213427"/>
                </a:cubicBezTo>
                <a:lnTo>
                  <a:pt x="130057" y="213427"/>
                </a:lnTo>
                <a:cubicBezTo>
                  <a:pt x="122679" y="213427"/>
                  <a:pt x="116718" y="207466"/>
                  <a:pt x="116718" y="200088"/>
                </a:cubicBezTo>
                <a:lnTo>
                  <a:pt x="116718" y="13339"/>
                </a:lnTo>
                <a:cubicBezTo>
                  <a:pt x="116718" y="5961"/>
                  <a:pt x="122679" y="0"/>
                  <a:pt x="130057" y="0"/>
                </a:cubicBezTo>
                <a:lnTo>
                  <a:pt x="140061" y="0"/>
                </a:lnTo>
                <a:cubicBezTo>
                  <a:pt x="152942" y="0"/>
                  <a:pt x="163405" y="10463"/>
                  <a:pt x="163405" y="23344"/>
                </a:cubicBezTo>
                <a:close/>
              </a:path>
            </a:pathLst>
          </a:custGeom>
          <a:solidFill>
            <a:srgbClr val="FFFFFF"/>
          </a:solidFill>
          <a:ln/>
        </p:spPr>
        <p:txBody>
          <a:bodyPr/>
          <a:lstStyle/>
          <a:p>
            <a:endParaRPr lang="en-US"/>
          </a:p>
        </p:txBody>
      </p:sp>
      <p:sp>
        <p:nvSpPr>
          <p:cNvPr id="31" name="Text 29"/>
          <p:cNvSpPr/>
          <p:nvPr/>
        </p:nvSpPr>
        <p:spPr>
          <a:xfrm>
            <a:off x="1067133" y="5257300"/>
            <a:ext cx="1929733" cy="284569"/>
          </a:xfrm>
          <a:prstGeom prst="rect">
            <a:avLst/>
          </a:prstGeom>
          <a:noFill/>
          <a:ln/>
        </p:spPr>
        <p:txBody>
          <a:bodyPr wrap="square" lIns="0" tIns="0" rIns="0" bIns="0" rtlCol="0" anchor="ctr"/>
          <a:lstStyle/>
          <a:p>
            <a:pPr>
              <a:lnSpc>
                <a:spcPct val="110000"/>
              </a:lnSpc>
            </a:pPr>
            <a:r>
              <a:rPr lang="en-US" sz="1681" b="1" dirty="0">
                <a:solidFill>
                  <a:srgbClr val="1C398E"/>
                </a:solidFill>
                <a:latin typeface="Sorts Mill Goudy" pitchFamily="34" charset="0"/>
                <a:ea typeface="Sorts Mill Goudy" pitchFamily="34" charset="-122"/>
                <a:cs typeface="Sorts Mill Goudy" pitchFamily="34" charset="-120"/>
              </a:rPr>
              <a:t>3. Global Reasoning</a:t>
            </a:r>
            <a:endParaRPr lang="en-US" sz="1600" dirty="0"/>
          </a:p>
        </p:txBody>
      </p:sp>
      <p:sp>
        <p:nvSpPr>
          <p:cNvPr id="32" name="Text 30"/>
          <p:cNvSpPr/>
          <p:nvPr/>
        </p:nvSpPr>
        <p:spPr>
          <a:xfrm>
            <a:off x="533567" y="5719724"/>
            <a:ext cx="5415702" cy="640280"/>
          </a:xfrm>
          <a:prstGeom prst="rect">
            <a:avLst/>
          </a:prstGeom>
          <a:noFill/>
          <a:ln/>
        </p:spPr>
        <p:txBody>
          <a:bodyPr wrap="square" lIns="0" tIns="0" rIns="0" bIns="0" rtlCol="0" anchor="ctr"/>
          <a:lstStyle/>
          <a:p>
            <a:pPr>
              <a:lnSpc>
                <a:spcPct val="130000"/>
              </a:lnSpc>
            </a:pPr>
            <a:r>
              <a:rPr lang="en-US" sz="1120" dirty="0">
                <a:solidFill>
                  <a:srgbClr val="1C398E"/>
                </a:solidFill>
                <a:latin typeface="Quattrocento Sans" pitchFamily="34" charset="0"/>
                <a:ea typeface="Quattrocento Sans" pitchFamily="34" charset="-122"/>
                <a:cs typeface="Quattrocento Sans" pitchFamily="34" charset="-120"/>
              </a:rPr>
              <a:t>YOLO processes the </a:t>
            </a:r>
            <a:r>
              <a:rPr lang="en-US" sz="1120" b="1" dirty="0">
                <a:solidFill>
                  <a:srgbClr val="1C398E"/>
                </a:solidFill>
                <a:latin typeface="Quattrocento Sans" pitchFamily="34" charset="0"/>
                <a:ea typeface="Quattrocento Sans" pitchFamily="34" charset="-122"/>
                <a:cs typeface="Quattrocento Sans" pitchFamily="34" charset="-120"/>
              </a:rPr>
              <a:t>entire image at once</a:t>
            </a:r>
            <a:r>
              <a:rPr lang="en-US" sz="1120" dirty="0">
                <a:solidFill>
                  <a:srgbClr val="1C398E"/>
                </a:solidFill>
                <a:latin typeface="Quattrocento Sans" pitchFamily="34" charset="0"/>
                <a:ea typeface="Quattrocento Sans" pitchFamily="34" charset="-122"/>
                <a:cs typeface="Quattrocento Sans" pitchFamily="34" charset="-120"/>
              </a:rPr>
              <a:t>, capturing both object appearance and contextual information. This holistic approach reduces background errors common in sliding window methods.</a:t>
            </a:r>
            <a:endParaRPr lang="en-US" sz="1600" dirty="0"/>
          </a:p>
        </p:txBody>
      </p:sp>
      <p:sp>
        <p:nvSpPr>
          <p:cNvPr id="33" name="Shape 31"/>
          <p:cNvSpPr/>
          <p:nvPr/>
        </p:nvSpPr>
        <p:spPr>
          <a:xfrm>
            <a:off x="6183372" y="1067133"/>
            <a:ext cx="5646915" cy="1796341"/>
          </a:xfrm>
          <a:custGeom>
            <a:avLst/>
            <a:gdLst/>
            <a:ahLst/>
            <a:cxnLst/>
            <a:rect l="l" t="t" r="r" b="b"/>
            <a:pathLst>
              <a:path w="5646915" h="1796341">
                <a:moveTo>
                  <a:pt x="35571" y="0"/>
                </a:moveTo>
                <a:lnTo>
                  <a:pt x="5575780" y="0"/>
                </a:lnTo>
                <a:cubicBezTo>
                  <a:pt x="5615066" y="0"/>
                  <a:pt x="5646915" y="31848"/>
                  <a:pt x="5646915" y="71135"/>
                </a:cubicBezTo>
                <a:lnTo>
                  <a:pt x="5646915" y="1725206"/>
                </a:lnTo>
                <a:cubicBezTo>
                  <a:pt x="5646915" y="1764493"/>
                  <a:pt x="5615066" y="1796341"/>
                  <a:pt x="5575780" y="1796341"/>
                </a:cubicBezTo>
                <a:lnTo>
                  <a:pt x="35571" y="1796341"/>
                </a:lnTo>
                <a:cubicBezTo>
                  <a:pt x="15926" y="1796341"/>
                  <a:pt x="0" y="1780416"/>
                  <a:pt x="0" y="1760770"/>
                </a:cubicBezTo>
                <a:lnTo>
                  <a:pt x="0" y="35571"/>
                </a:lnTo>
                <a:cubicBezTo>
                  <a:pt x="0" y="15926"/>
                  <a:pt x="15926" y="0"/>
                  <a:pt x="35571" y="0"/>
                </a:cubicBezTo>
                <a:close/>
              </a:path>
            </a:pathLst>
          </a:custGeom>
          <a:solidFill>
            <a:srgbClr val="F0FDF4"/>
          </a:solidFill>
          <a:ln/>
        </p:spPr>
        <p:txBody>
          <a:bodyPr/>
          <a:lstStyle/>
          <a:p>
            <a:endParaRPr lang="en-US"/>
          </a:p>
        </p:txBody>
      </p:sp>
      <p:sp>
        <p:nvSpPr>
          <p:cNvPr id="34" name="Shape 32"/>
          <p:cNvSpPr/>
          <p:nvPr/>
        </p:nvSpPr>
        <p:spPr>
          <a:xfrm>
            <a:off x="6183372" y="1067133"/>
            <a:ext cx="35571" cy="1796341"/>
          </a:xfrm>
          <a:custGeom>
            <a:avLst/>
            <a:gdLst/>
            <a:ahLst/>
            <a:cxnLst/>
            <a:rect l="l" t="t" r="r" b="b"/>
            <a:pathLst>
              <a:path w="35571" h="1796341">
                <a:moveTo>
                  <a:pt x="35571" y="0"/>
                </a:moveTo>
                <a:lnTo>
                  <a:pt x="35571" y="0"/>
                </a:lnTo>
                <a:lnTo>
                  <a:pt x="35571" y="1796341"/>
                </a:lnTo>
                <a:lnTo>
                  <a:pt x="35571" y="1796341"/>
                </a:lnTo>
                <a:cubicBezTo>
                  <a:pt x="15926" y="1796341"/>
                  <a:pt x="0" y="1780416"/>
                  <a:pt x="0" y="1760770"/>
                </a:cubicBezTo>
                <a:lnTo>
                  <a:pt x="0" y="35571"/>
                </a:lnTo>
                <a:cubicBezTo>
                  <a:pt x="0" y="15926"/>
                  <a:pt x="15926" y="0"/>
                  <a:pt x="35571" y="0"/>
                </a:cubicBezTo>
                <a:close/>
              </a:path>
            </a:pathLst>
          </a:custGeom>
          <a:solidFill>
            <a:srgbClr val="00C950"/>
          </a:solidFill>
          <a:ln/>
        </p:spPr>
        <p:txBody>
          <a:bodyPr/>
          <a:lstStyle/>
          <a:p>
            <a:endParaRPr lang="en-US"/>
          </a:p>
        </p:txBody>
      </p:sp>
      <p:sp>
        <p:nvSpPr>
          <p:cNvPr id="35" name="Shape 33"/>
          <p:cNvSpPr/>
          <p:nvPr/>
        </p:nvSpPr>
        <p:spPr>
          <a:xfrm>
            <a:off x="6343442" y="1209418"/>
            <a:ext cx="426853" cy="426853"/>
          </a:xfrm>
          <a:custGeom>
            <a:avLst/>
            <a:gdLst/>
            <a:ahLst/>
            <a:cxnLst/>
            <a:rect l="l" t="t" r="r" b="b"/>
            <a:pathLst>
              <a:path w="426853" h="426853">
                <a:moveTo>
                  <a:pt x="213427" y="0"/>
                </a:moveTo>
                <a:lnTo>
                  <a:pt x="213427" y="0"/>
                </a:lnTo>
                <a:cubicBezTo>
                  <a:pt x="331299" y="0"/>
                  <a:pt x="426853" y="95554"/>
                  <a:pt x="426853" y="213427"/>
                </a:cubicBezTo>
                <a:lnTo>
                  <a:pt x="426853" y="213427"/>
                </a:lnTo>
                <a:cubicBezTo>
                  <a:pt x="426853" y="331299"/>
                  <a:pt x="331299" y="426853"/>
                  <a:pt x="213427" y="426853"/>
                </a:cubicBezTo>
                <a:lnTo>
                  <a:pt x="213427" y="426853"/>
                </a:lnTo>
                <a:cubicBezTo>
                  <a:pt x="95554" y="426853"/>
                  <a:pt x="0" y="331299"/>
                  <a:pt x="0" y="213427"/>
                </a:cubicBezTo>
                <a:lnTo>
                  <a:pt x="0" y="213427"/>
                </a:lnTo>
                <a:cubicBezTo>
                  <a:pt x="0" y="95554"/>
                  <a:pt x="95554" y="0"/>
                  <a:pt x="213427" y="0"/>
                </a:cubicBezTo>
                <a:close/>
              </a:path>
            </a:pathLst>
          </a:custGeom>
          <a:solidFill>
            <a:srgbClr val="00C950"/>
          </a:solidFill>
          <a:ln/>
        </p:spPr>
        <p:txBody>
          <a:bodyPr/>
          <a:lstStyle/>
          <a:p>
            <a:endParaRPr lang="en-US"/>
          </a:p>
        </p:txBody>
      </p:sp>
      <p:sp>
        <p:nvSpPr>
          <p:cNvPr id="36" name="Shape 34"/>
          <p:cNvSpPr/>
          <p:nvPr/>
        </p:nvSpPr>
        <p:spPr>
          <a:xfrm>
            <a:off x="6463494" y="1316131"/>
            <a:ext cx="186748" cy="213427"/>
          </a:xfrm>
          <a:custGeom>
            <a:avLst/>
            <a:gdLst/>
            <a:ahLst/>
            <a:cxnLst/>
            <a:rect l="l" t="t" r="r" b="b"/>
            <a:pathLst>
              <a:path w="186748" h="213427">
                <a:moveTo>
                  <a:pt x="70031" y="13339"/>
                </a:moveTo>
                <a:lnTo>
                  <a:pt x="10004" y="13339"/>
                </a:lnTo>
                <a:cubicBezTo>
                  <a:pt x="4460" y="13339"/>
                  <a:pt x="0" y="17799"/>
                  <a:pt x="0" y="23344"/>
                </a:cubicBezTo>
                <a:lnTo>
                  <a:pt x="0" y="83370"/>
                </a:lnTo>
                <a:cubicBezTo>
                  <a:pt x="0" y="87413"/>
                  <a:pt x="2418" y="91082"/>
                  <a:pt x="6169" y="92624"/>
                </a:cubicBezTo>
                <a:cubicBezTo>
                  <a:pt x="9921" y="94166"/>
                  <a:pt x="14215" y="93291"/>
                  <a:pt x="17091" y="90456"/>
                </a:cubicBezTo>
                <a:lnTo>
                  <a:pt x="33765" y="73782"/>
                </a:lnTo>
                <a:lnTo>
                  <a:pt x="66696" y="106713"/>
                </a:lnTo>
                <a:lnTo>
                  <a:pt x="33765" y="139644"/>
                </a:lnTo>
                <a:lnTo>
                  <a:pt x="17091" y="122970"/>
                </a:lnTo>
                <a:cubicBezTo>
                  <a:pt x="14215" y="120094"/>
                  <a:pt x="9921" y="119261"/>
                  <a:pt x="6169" y="120803"/>
                </a:cubicBezTo>
                <a:cubicBezTo>
                  <a:pt x="2418" y="122345"/>
                  <a:pt x="0" y="126013"/>
                  <a:pt x="0" y="130057"/>
                </a:cubicBezTo>
                <a:lnTo>
                  <a:pt x="0" y="190083"/>
                </a:lnTo>
                <a:cubicBezTo>
                  <a:pt x="0" y="195627"/>
                  <a:pt x="4460" y="200088"/>
                  <a:pt x="10004" y="200088"/>
                </a:cubicBezTo>
                <a:lnTo>
                  <a:pt x="70031" y="200088"/>
                </a:lnTo>
                <a:cubicBezTo>
                  <a:pt x="74074" y="200088"/>
                  <a:pt x="77742" y="197670"/>
                  <a:pt x="79285" y="193918"/>
                </a:cubicBezTo>
                <a:cubicBezTo>
                  <a:pt x="80827" y="190167"/>
                  <a:pt x="79993" y="185873"/>
                  <a:pt x="77117" y="182997"/>
                </a:cubicBezTo>
                <a:lnTo>
                  <a:pt x="60443" y="166323"/>
                </a:lnTo>
                <a:lnTo>
                  <a:pt x="93374" y="133392"/>
                </a:lnTo>
                <a:lnTo>
                  <a:pt x="126305" y="166323"/>
                </a:lnTo>
                <a:lnTo>
                  <a:pt x="109631" y="182997"/>
                </a:lnTo>
                <a:cubicBezTo>
                  <a:pt x="106755" y="185873"/>
                  <a:pt x="105921" y="190167"/>
                  <a:pt x="107464" y="193918"/>
                </a:cubicBezTo>
                <a:cubicBezTo>
                  <a:pt x="109006" y="197670"/>
                  <a:pt x="112674" y="200088"/>
                  <a:pt x="116718" y="200088"/>
                </a:cubicBezTo>
                <a:lnTo>
                  <a:pt x="176744" y="200088"/>
                </a:lnTo>
                <a:cubicBezTo>
                  <a:pt x="182288" y="200088"/>
                  <a:pt x="186748" y="195627"/>
                  <a:pt x="186748" y="190083"/>
                </a:cubicBezTo>
                <a:lnTo>
                  <a:pt x="186748" y="130057"/>
                </a:lnTo>
                <a:cubicBezTo>
                  <a:pt x="186748" y="126013"/>
                  <a:pt x="184331" y="122345"/>
                  <a:pt x="180579" y="120803"/>
                </a:cubicBezTo>
                <a:cubicBezTo>
                  <a:pt x="176827" y="119261"/>
                  <a:pt x="172534" y="120094"/>
                  <a:pt x="169658" y="122970"/>
                </a:cubicBezTo>
                <a:lnTo>
                  <a:pt x="152984" y="139644"/>
                </a:lnTo>
                <a:lnTo>
                  <a:pt x="120053" y="106713"/>
                </a:lnTo>
                <a:lnTo>
                  <a:pt x="152984" y="73782"/>
                </a:lnTo>
                <a:lnTo>
                  <a:pt x="169658" y="90456"/>
                </a:lnTo>
                <a:cubicBezTo>
                  <a:pt x="172534" y="93332"/>
                  <a:pt x="176827" y="94166"/>
                  <a:pt x="180579" y="92624"/>
                </a:cubicBezTo>
                <a:cubicBezTo>
                  <a:pt x="184331" y="91082"/>
                  <a:pt x="186748" y="87413"/>
                  <a:pt x="186748" y="83370"/>
                </a:cubicBezTo>
                <a:lnTo>
                  <a:pt x="186748" y="23344"/>
                </a:lnTo>
                <a:cubicBezTo>
                  <a:pt x="186748" y="17799"/>
                  <a:pt x="182288" y="13339"/>
                  <a:pt x="176744" y="13339"/>
                </a:cubicBezTo>
                <a:lnTo>
                  <a:pt x="116718" y="13339"/>
                </a:lnTo>
                <a:cubicBezTo>
                  <a:pt x="112674" y="13339"/>
                  <a:pt x="109006" y="15757"/>
                  <a:pt x="107464" y="19509"/>
                </a:cubicBezTo>
                <a:cubicBezTo>
                  <a:pt x="105921" y="23260"/>
                  <a:pt x="106797" y="27554"/>
                  <a:pt x="109631" y="30430"/>
                </a:cubicBezTo>
                <a:lnTo>
                  <a:pt x="126305" y="47104"/>
                </a:lnTo>
                <a:lnTo>
                  <a:pt x="93374" y="80035"/>
                </a:lnTo>
                <a:lnTo>
                  <a:pt x="60443" y="47104"/>
                </a:lnTo>
                <a:lnTo>
                  <a:pt x="77117" y="30430"/>
                </a:lnTo>
                <a:cubicBezTo>
                  <a:pt x="79993" y="27554"/>
                  <a:pt x="80827" y="23260"/>
                  <a:pt x="79285" y="19509"/>
                </a:cubicBezTo>
                <a:cubicBezTo>
                  <a:pt x="77742" y="15757"/>
                  <a:pt x="74074" y="13339"/>
                  <a:pt x="70031" y="13339"/>
                </a:cubicBezTo>
                <a:close/>
              </a:path>
            </a:pathLst>
          </a:custGeom>
          <a:solidFill>
            <a:srgbClr val="FFFFFF"/>
          </a:solidFill>
          <a:ln/>
        </p:spPr>
        <p:txBody>
          <a:bodyPr/>
          <a:lstStyle/>
          <a:p>
            <a:endParaRPr lang="en-US"/>
          </a:p>
        </p:txBody>
      </p:sp>
      <p:sp>
        <p:nvSpPr>
          <p:cNvPr id="37" name="Text 35"/>
          <p:cNvSpPr/>
          <p:nvPr/>
        </p:nvSpPr>
        <p:spPr>
          <a:xfrm>
            <a:off x="6877008" y="1280560"/>
            <a:ext cx="2338801" cy="284569"/>
          </a:xfrm>
          <a:prstGeom prst="rect">
            <a:avLst/>
          </a:prstGeom>
          <a:noFill/>
          <a:ln/>
        </p:spPr>
        <p:txBody>
          <a:bodyPr wrap="square" lIns="0" tIns="0" rIns="0" bIns="0" rtlCol="0" anchor="ctr"/>
          <a:lstStyle/>
          <a:p>
            <a:pPr>
              <a:lnSpc>
                <a:spcPct val="110000"/>
              </a:lnSpc>
            </a:pPr>
            <a:r>
              <a:rPr lang="en-US" sz="1681" b="1" dirty="0">
                <a:solidFill>
                  <a:srgbClr val="0D542B"/>
                </a:solidFill>
                <a:latin typeface="Sorts Mill Goudy" pitchFamily="34" charset="0"/>
                <a:ea typeface="Sorts Mill Goudy" pitchFamily="34" charset="-122"/>
                <a:cs typeface="Sorts Mill Goudy" pitchFamily="34" charset="-120"/>
              </a:rPr>
              <a:t>4. Strong Generalization</a:t>
            </a:r>
            <a:endParaRPr lang="en-US" sz="1600" dirty="0"/>
          </a:p>
        </p:txBody>
      </p:sp>
      <p:sp>
        <p:nvSpPr>
          <p:cNvPr id="38" name="Text 36"/>
          <p:cNvSpPr/>
          <p:nvPr/>
        </p:nvSpPr>
        <p:spPr>
          <a:xfrm>
            <a:off x="6343442" y="1742985"/>
            <a:ext cx="5415702" cy="426853"/>
          </a:xfrm>
          <a:prstGeom prst="rect">
            <a:avLst/>
          </a:prstGeom>
          <a:noFill/>
          <a:ln/>
        </p:spPr>
        <p:txBody>
          <a:bodyPr wrap="square" lIns="0" tIns="0" rIns="0" bIns="0" rtlCol="0" anchor="ctr"/>
          <a:lstStyle/>
          <a:p>
            <a:pPr>
              <a:lnSpc>
                <a:spcPct val="130000"/>
              </a:lnSpc>
            </a:pPr>
            <a:r>
              <a:rPr lang="en-US" sz="1120" dirty="0">
                <a:solidFill>
                  <a:srgbClr val="0D542B"/>
                </a:solidFill>
                <a:latin typeface="Quattrocento Sans" pitchFamily="34" charset="0"/>
                <a:ea typeface="Quattrocento Sans" pitchFamily="34" charset="-122"/>
                <a:cs typeface="Quattrocento Sans" pitchFamily="34" charset="-120"/>
              </a:rPr>
              <a:t>When trained on natural images and tested on artwork, YOLO significantly outperforms traditional detection models like DPM and R-CNN.</a:t>
            </a:r>
            <a:endParaRPr lang="en-US" sz="1600" dirty="0"/>
          </a:p>
        </p:txBody>
      </p:sp>
      <p:sp>
        <p:nvSpPr>
          <p:cNvPr id="39" name="Shape 37"/>
          <p:cNvSpPr/>
          <p:nvPr/>
        </p:nvSpPr>
        <p:spPr>
          <a:xfrm>
            <a:off x="6346999" y="2280109"/>
            <a:ext cx="5342782" cy="433968"/>
          </a:xfrm>
          <a:custGeom>
            <a:avLst/>
            <a:gdLst/>
            <a:ahLst/>
            <a:cxnLst/>
            <a:rect l="l" t="t" r="r" b="b"/>
            <a:pathLst>
              <a:path w="5342782" h="433968">
                <a:moveTo>
                  <a:pt x="35572" y="0"/>
                </a:moveTo>
                <a:lnTo>
                  <a:pt x="5307209" y="0"/>
                </a:lnTo>
                <a:cubicBezTo>
                  <a:pt x="5326855" y="0"/>
                  <a:pt x="5342782" y="15926"/>
                  <a:pt x="5342782" y="35572"/>
                </a:cubicBezTo>
                <a:lnTo>
                  <a:pt x="5342782" y="398395"/>
                </a:lnTo>
                <a:cubicBezTo>
                  <a:pt x="5342782" y="418041"/>
                  <a:pt x="5326855" y="433968"/>
                  <a:pt x="5307209" y="433968"/>
                </a:cubicBezTo>
                <a:lnTo>
                  <a:pt x="35572" y="433968"/>
                </a:lnTo>
                <a:cubicBezTo>
                  <a:pt x="15939" y="433968"/>
                  <a:pt x="0" y="418028"/>
                  <a:pt x="0" y="398395"/>
                </a:cubicBezTo>
                <a:lnTo>
                  <a:pt x="0" y="35572"/>
                </a:lnTo>
                <a:cubicBezTo>
                  <a:pt x="0" y="15939"/>
                  <a:pt x="15939" y="0"/>
                  <a:pt x="35572" y="0"/>
                </a:cubicBezTo>
                <a:close/>
              </a:path>
            </a:pathLst>
          </a:custGeom>
          <a:solidFill>
            <a:srgbClr val="FFFFFF"/>
          </a:solidFill>
          <a:ln w="10160">
            <a:solidFill>
              <a:srgbClr val="7BF1A8"/>
            </a:solidFill>
            <a:prstDash val="solid"/>
          </a:ln>
        </p:spPr>
        <p:txBody>
          <a:bodyPr/>
          <a:lstStyle/>
          <a:p>
            <a:endParaRPr lang="en-US"/>
          </a:p>
        </p:txBody>
      </p:sp>
      <p:sp>
        <p:nvSpPr>
          <p:cNvPr id="40" name="Shape 38"/>
          <p:cNvSpPr/>
          <p:nvPr/>
        </p:nvSpPr>
        <p:spPr>
          <a:xfrm>
            <a:off x="6475055" y="2418836"/>
            <a:ext cx="142284" cy="142284"/>
          </a:xfrm>
          <a:custGeom>
            <a:avLst/>
            <a:gdLst/>
            <a:ahLst/>
            <a:cxnLst/>
            <a:rect l="l" t="t" r="r" b="b"/>
            <a:pathLst>
              <a:path w="142284" h="142284">
                <a:moveTo>
                  <a:pt x="17786" y="17786"/>
                </a:moveTo>
                <a:cubicBezTo>
                  <a:pt x="17786" y="12867"/>
                  <a:pt x="13812" y="8893"/>
                  <a:pt x="8893" y="8893"/>
                </a:cubicBezTo>
                <a:cubicBezTo>
                  <a:pt x="3974" y="8893"/>
                  <a:pt x="0" y="12867"/>
                  <a:pt x="0" y="17786"/>
                </a:cubicBezTo>
                <a:lnTo>
                  <a:pt x="0" y="111160"/>
                </a:lnTo>
                <a:cubicBezTo>
                  <a:pt x="0" y="123443"/>
                  <a:pt x="9949" y="133392"/>
                  <a:pt x="22232" y="133392"/>
                </a:cubicBezTo>
                <a:lnTo>
                  <a:pt x="133392" y="133392"/>
                </a:lnTo>
                <a:cubicBezTo>
                  <a:pt x="138311" y="133392"/>
                  <a:pt x="142284" y="129418"/>
                  <a:pt x="142284" y="124499"/>
                </a:cubicBezTo>
                <a:cubicBezTo>
                  <a:pt x="142284" y="119580"/>
                  <a:pt x="138311" y="115606"/>
                  <a:pt x="133392" y="115606"/>
                </a:cubicBezTo>
                <a:lnTo>
                  <a:pt x="22232" y="115606"/>
                </a:lnTo>
                <a:cubicBezTo>
                  <a:pt x="19786" y="115606"/>
                  <a:pt x="17786" y="113605"/>
                  <a:pt x="17786" y="111160"/>
                </a:cubicBezTo>
                <a:lnTo>
                  <a:pt x="17786" y="17786"/>
                </a:lnTo>
                <a:close/>
                <a:moveTo>
                  <a:pt x="130779" y="41852"/>
                </a:moveTo>
                <a:cubicBezTo>
                  <a:pt x="134253" y="38378"/>
                  <a:pt x="134253" y="32737"/>
                  <a:pt x="130779" y="29263"/>
                </a:cubicBezTo>
                <a:cubicBezTo>
                  <a:pt x="127306" y="25789"/>
                  <a:pt x="121664" y="25789"/>
                  <a:pt x="118191" y="29263"/>
                </a:cubicBezTo>
                <a:lnTo>
                  <a:pt x="88928" y="58553"/>
                </a:lnTo>
                <a:lnTo>
                  <a:pt x="72976" y="42630"/>
                </a:lnTo>
                <a:cubicBezTo>
                  <a:pt x="69503" y="39156"/>
                  <a:pt x="63861" y="39156"/>
                  <a:pt x="60388" y="42630"/>
                </a:cubicBezTo>
                <a:lnTo>
                  <a:pt x="33709" y="69308"/>
                </a:lnTo>
                <a:cubicBezTo>
                  <a:pt x="30235" y="72782"/>
                  <a:pt x="30235" y="78423"/>
                  <a:pt x="33709" y="81897"/>
                </a:cubicBezTo>
                <a:cubicBezTo>
                  <a:pt x="37183" y="85371"/>
                  <a:pt x="42824" y="85371"/>
                  <a:pt x="46298" y="81897"/>
                </a:cubicBezTo>
                <a:lnTo>
                  <a:pt x="66696" y="61499"/>
                </a:lnTo>
                <a:lnTo>
                  <a:pt x="82647" y="77451"/>
                </a:lnTo>
                <a:cubicBezTo>
                  <a:pt x="86121" y="80924"/>
                  <a:pt x="91762" y="80924"/>
                  <a:pt x="95236" y="77451"/>
                </a:cubicBezTo>
                <a:lnTo>
                  <a:pt x="130807" y="41879"/>
                </a:lnTo>
                <a:close/>
              </a:path>
            </a:pathLst>
          </a:custGeom>
          <a:solidFill>
            <a:srgbClr val="016630"/>
          </a:solidFill>
          <a:ln/>
        </p:spPr>
        <p:txBody>
          <a:bodyPr/>
          <a:lstStyle/>
          <a:p>
            <a:endParaRPr lang="en-US"/>
          </a:p>
        </p:txBody>
      </p:sp>
      <p:sp>
        <p:nvSpPr>
          <p:cNvPr id="41" name="Text 39"/>
          <p:cNvSpPr/>
          <p:nvPr/>
        </p:nvSpPr>
        <p:spPr>
          <a:xfrm>
            <a:off x="6684940" y="2390379"/>
            <a:ext cx="4965712" cy="213427"/>
          </a:xfrm>
          <a:prstGeom prst="rect">
            <a:avLst/>
          </a:prstGeom>
          <a:noFill/>
          <a:ln/>
        </p:spPr>
        <p:txBody>
          <a:bodyPr wrap="square" lIns="0" tIns="0" rIns="0" bIns="0" rtlCol="0" anchor="ctr"/>
          <a:lstStyle/>
          <a:p>
            <a:pPr>
              <a:lnSpc>
                <a:spcPct val="130000"/>
              </a:lnSpc>
            </a:pPr>
            <a:r>
              <a:rPr lang="en-US" sz="1120" dirty="0">
                <a:solidFill>
                  <a:srgbClr val="016630"/>
                </a:solidFill>
                <a:latin typeface="Quattrocento Sans" pitchFamily="34" charset="0"/>
                <a:ea typeface="Quattrocento Sans" pitchFamily="34" charset="-122"/>
                <a:cs typeface="Quattrocento Sans" pitchFamily="34" charset="-120"/>
              </a:rPr>
              <a:t>Demonstrates robust feature learning across domains</a:t>
            </a:r>
            <a:endParaRPr lang="en-US" sz="1600" dirty="0"/>
          </a:p>
        </p:txBody>
      </p:sp>
      <p:sp>
        <p:nvSpPr>
          <p:cNvPr id="42" name="Shape 40"/>
          <p:cNvSpPr/>
          <p:nvPr/>
        </p:nvSpPr>
        <p:spPr>
          <a:xfrm>
            <a:off x="6172700" y="2973746"/>
            <a:ext cx="5652250" cy="2433064"/>
          </a:xfrm>
          <a:custGeom>
            <a:avLst/>
            <a:gdLst/>
            <a:ahLst/>
            <a:cxnLst/>
            <a:rect l="l" t="t" r="r" b="b"/>
            <a:pathLst>
              <a:path w="5652250" h="2433064">
                <a:moveTo>
                  <a:pt x="71143" y="0"/>
                </a:moveTo>
                <a:lnTo>
                  <a:pt x="5581108" y="0"/>
                </a:lnTo>
                <a:cubicBezTo>
                  <a:pt x="5620399" y="0"/>
                  <a:pt x="5652250" y="31852"/>
                  <a:pt x="5652250" y="71143"/>
                </a:cubicBezTo>
                <a:lnTo>
                  <a:pt x="5652250" y="2361922"/>
                </a:lnTo>
                <a:cubicBezTo>
                  <a:pt x="5652250" y="2401213"/>
                  <a:pt x="5620399" y="2433064"/>
                  <a:pt x="5581108" y="2433064"/>
                </a:cubicBezTo>
                <a:lnTo>
                  <a:pt x="71143" y="2433064"/>
                </a:lnTo>
                <a:cubicBezTo>
                  <a:pt x="31852" y="2433064"/>
                  <a:pt x="0" y="2401213"/>
                  <a:pt x="0" y="2361922"/>
                </a:cubicBezTo>
                <a:lnTo>
                  <a:pt x="0" y="71143"/>
                </a:lnTo>
                <a:cubicBezTo>
                  <a:pt x="0" y="31878"/>
                  <a:pt x="31878" y="0"/>
                  <a:pt x="71143" y="0"/>
                </a:cubicBezTo>
                <a:close/>
              </a:path>
            </a:pathLst>
          </a:custGeom>
          <a:solidFill>
            <a:srgbClr val="FFFFFF"/>
          </a:solidFill>
          <a:ln w="20320">
            <a:solidFill>
              <a:srgbClr val="8B0000"/>
            </a:solidFill>
            <a:prstDash val="solid"/>
          </a:ln>
          <a:effectLst>
            <a:outerShdw blurRad="53357" dist="35571" dir="5400000" algn="bl" rotWithShape="0">
              <a:srgbClr val="000000">
                <a:alpha val="10196"/>
              </a:srgbClr>
            </a:outerShdw>
          </a:effectLst>
        </p:spPr>
        <p:txBody>
          <a:bodyPr/>
          <a:lstStyle/>
          <a:p>
            <a:endParaRPr lang="en-US"/>
          </a:p>
        </p:txBody>
      </p:sp>
      <p:sp>
        <p:nvSpPr>
          <p:cNvPr id="43" name="Text 41"/>
          <p:cNvSpPr/>
          <p:nvPr/>
        </p:nvSpPr>
        <p:spPr>
          <a:xfrm>
            <a:off x="6277635" y="3123144"/>
            <a:ext cx="5442381" cy="248998"/>
          </a:xfrm>
          <a:prstGeom prst="rect">
            <a:avLst/>
          </a:prstGeom>
          <a:noFill/>
          <a:ln/>
        </p:spPr>
        <p:txBody>
          <a:bodyPr wrap="square" lIns="0" tIns="0" rIns="0" bIns="0" rtlCol="0" anchor="ctr"/>
          <a:lstStyle/>
          <a:p>
            <a:pPr algn="ctr">
              <a:lnSpc>
                <a:spcPct val="120000"/>
              </a:lnSpc>
            </a:pPr>
            <a:r>
              <a:rPr lang="en-US" sz="1400" b="1" dirty="0">
                <a:solidFill>
                  <a:srgbClr val="1F2937"/>
                </a:solidFill>
                <a:latin typeface="Sorts Mill Goudy" pitchFamily="34" charset="0"/>
                <a:ea typeface="Sorts Mill Goudy" pitchFamily="34" charset="-122"/>
                <a:cs typeface="Sorts Mill Goudy" pitchFamily="34" charset="-120"/>
              </a:rPr>
              <a:t>Speed Comparison</a:t>
            </a:r>
            <a:endParaRPr lang="en-US" sz="1600" dirty="0"/>
          </a:p>
        </p:txBody>
      </p:sp>
      <p:sp>
        <p:nvSpPr>
          <p:cNvPr id="44" name="Text 42"/>
          <p:cNvSpPr/>
          <p:nvPr/>
        </p:nvSpPr>
        <p:spPr>
          <a:xfrm>
            <a:off x="6322099" y="3478855"/>
            <a:ext cx="515781" cy="213427"/>
          </a:xfrm>
          <a:prstGeom prst="rect">
            <a:avLst/>
          </a:prstGeom>
          <a:noFill/>
          <a:ln/>
        </p:spPr>
        <p:txBody>
          <a:bodyPr wrap="square" lIns="0" tIns="0" rIns="0" bIns="0" rtlCol="0" anchor="ctr"/>
          <a:lstStyle/>
          <a:p>
            <a:pPr>
              <a:lnSpc>
                <a:spcPct val="130000"/>
              </a:lnSpc>
            </a:pPr>
            <a:r>
              <a:rPr lang="en-US" sz="1120" b="1" dirty="0">
                <a:solidFill>
                  <a:srgbClr val="1F2937"/>
                </a:solidFill>
                <a:latin typeface="Quattrocento Sans" pitchFamily="34" charset="0"/>
                <a:ea typeface="Quattrocento Sans" pitchFamily="34" charset="-122"/>
                <a:cs typeface="Quattrocento Sans" pitchFamily="34" charset="-120"/>
              </a:rPr>
              <a:t>R-CNN</a:t>
            </a:r>
            <a:endParaRPr lang="en-US" sz="1600" dirty="0"/>
          </a:p>
        </p:txBody>
      </p:sp>
      <p:sp>
        <p:nvSpPr>
          <p:cNvPr id="45" name="Text 43"/>
          <p:cNvSpPr/>
          <p:nvPr/>
        </p:nvSpPr>
        <p:spPr>
          <a:xfrm>
            <a:off x="11146988" y="3478855"/>
            <a:ext cx="604709" cy="213427"/>
          </a:xfrm>
          <a:prstGeom prst="rect">
            <a:avLst/>
          </a:prstGeom>
          <a:noFill/>
          <a:ln/>
        </p:spPr>
        <p:txBody>
          <a:bodyPr wrap="square" lIns="0" tIns="0" rIns="0" bIns="0" rtlCol="0" anchor="ctr"/>
          <a:lstStyle/>
          <a:p>
            <a:pPr>
              <a:lnSpc>
                <a:spcPct val="130000"/>
              </a:lnSpc>
            </a:pPr>
            <a:r>
              <a:rPr lang="en-US" sz="1120" dirty="0">
                <a:solidFill>
                  <a:srgbClr val="6B7280"/>
                </a:solidFill>
                <a:latin typeface="Quattrocento Sans" pitchFamily="34" charset="0"/>
                <a:ea typeface="Quattrocento Sans" pitchFamily="34" charset="-122"/>
                <a:cs typeface="Quattrocento Sans" pitchFamily="34" charset="-120"/>
              </a:rPr>
              <a:t>~0.5 FPS</a:t>
            </a:r>
            <a:endParaRPr lang="en-US" sz="1600" dirty="0"/>
          </a:p>
        </p:txBody>
      </p:sp>
      <p:sp>
        <p:nvSpPr>
          <p:cNvPr id="46" name="Shape 44"/>
          <p:cNvSpPr/>
          <p:nvPr/>
        </p:nvSpPr>
        <p:spPr>
          <a:xfrm>
            <a:off x="6322099" y="3727853"/>
            <a:ext cx="5353453" cy="142284"/>
          </a:xfrm>
          <a:custGeom>
            <a:avLst/>
            <a:gdLst/>
            <a:ahLst/>
            <a:cxnLst/>
            <a:rect l="l" t="t" r="r" b="b"/>
            <a:pathLst>
              <a:path w="5353453" h="142284">
                <a:moveTo>
                  <a:pt x="71142" y="0"/>
                </a:moveTo>
                <a:lnTo>
                  <a:pt x="5282311" y="0"/>
                </a:lnTo>
                <a:cubicBezTo>
                  <a:pt x="5321601" y="0"/>
                  <a:pt x="5353453" y="31851"/>
                  <a:pt x="5353453" y="71142"/>
                </a:cubicBezTo>
                <a:lnTo>
                  <a:pt x="5353453" y="71142"/>
                </a:lnTo>
                <a:cubicBezTo>
                  <a:pt x="5353453" y="110433"/>
                  <a:pt x="5321601" y="142284"/>
                  <a:pt x="5282311" y="142284"/>
                </a:cubicBezTo>
                <a:lnTo>
                  <a:pt x="71142" y="142284"/>
                </a:lnTo>
                <a:cubicBezTo>
                  <a:pt x="31851" y="142284"/>
                  <a:pt x="0" y="110433"/>
                  <a:pt x="0" y="71142"/>
                </a:cubicBezTo>
                <a:lnTo>
                  <a:pt x="0" y="71142"/>
                </a:lnTo>
                <a:cubicBezTo>
                  <a:pt x="0" y="31851"/>
                  <a:pt x="31851" y="0"/>
                  <a:pt x="71142" y="0"/>
                </a:cubicBezTo>
                <a:close/>
              </a:path>
            </a:pathLst>
          </a:custGeom>
          <a:solidFill>
            <a:srgbClr val="E5E7EB"/>
          </a:solidFill>
          <a:ln/>
        </p:spPr>
        <p:txBody>
          <a:bodyPr/>
          <a:lstStyle/>
          <a:p>
            <a:endParaRPr lang="en-US"/>
          </a:p>
        </p:txBody>
      </p:sp>
      <p:sp>
        <p:nvSpPr>
          <p:cNvPr id="47" name="Shape 45"/>
          <p:cNvSpPr/>
          <p:nvPr/>
        </p:nvSpPr>
        <p:spPr>
          <a:xfrm>
            <a:off x="6322099" y="3727853"/>
            <a:ext cx="53357" cy="142284"/>
          </a:xfrm>
          <a:custGeom>
            <a:avLst/>
            <a:gdLst/>
            <a:ahLst/>
            <a:cxnLst/>
            <a:rect l="l" t="t" r="r" b="b"/>
            <a:pathLst>
              <a:path w="53357" h="142284">
                <a:moveTo>
                  <a:pt x="26678" y="0"/>
                </a:moveTo>
                <a:lnTo>
                  <a:pt x="26678" y="0"/>
                </a:lnTo>
                <a:cubicBezTo>
                  <a:pt x="41412" y="0"/>
                  <a:pt x="53357" y="11944"/>
                  <a:pt x="53357" y="26678"/>
                </a:cubicBezTo>
                <a:lnTo>
                  <a:pt x="53357" y="115606"/>
                </a:lnTo>
                <a:cubicBezTo>
                  <a:pt x="53357" y="130340"/>
                  <a:pt x="41412" y="142284"/>
                  <a:pt x="26678" y="142284"/>
                </a:cubicBezTo>
                <a:lnTo>
                  <a:pt x="26678" y="142284"/>
                </a:lnTo>
                <a:cubicBezTo>
                  <a:pt x="11944" y="142284"/>
                  <a:pt x="0" y="130340"/>
                  <a:pt x="0" y="115606"/>
                </a:cubicBezTo>
                <a:lnTo>
                  <a:pt x="0" y="26678"/>
                </a:lnTo>
                <a:cubicBezTo>
                  <a:pt x="0" y="11944"/>
                  <a:pt x="11944" y="0"/>
                  <a:pt x="26678" y="0"/>
                </a:cubicBezTo>
                <a:close/>
              </a:path>
            </a:pathLst>
          </a:custGeom>
          <a:solidFill>
            <a:srgbClr val="FB2C36"/>
          </a:solidFill>
          <a:ln/>
        </p:spPr>
        <p:txBody>
          <a:bodyPr/>
          <a:lstStyle/>
          <a:p>
            <a:endParaRPr lang="en-US"/>
          </a:p>
        </p:txBody>
      </p:sp>
      <p:sp>
        <p:nvSpPr>
          <p:cNvPr id="48" name="Text 46"/>
          <p:cNvSpPr/>
          <p:nvPr/>
        </p:nvSpPr>
        <p:spPr>
          <a:xfrm>
            <a:off x="6322099" y="3941279"/>
            <a:ext cx="800350" cy="213427"/>
          </a:xfrm>
          <a:prstGeom prst="rect">
            <a:avLst/>
          </a:prstGeom>
          <a:noFill/>
          <a:ln/>
        </p:spPr>
        <p:txBody>
          <a:bodyPr wrap="square" lIns="0" tIns="0" rIns="0" bIns="0" rtlCol="0" anchor="ctr"/>
          <a:lstStyle/>
          <a:p>
            <a:pPr>
              <a:lnSpc>
                <a:spcPct val="130000"/>
              </a:lnSpc>
            </a:pPr>
            <a:r>
              <a:rPr lang="en-US" sz="1120" b="1" dirty="0">
                <a:solidFill>
                  <a:srgbClr val="1F2937"/>
                </a:solidFill>
                <a:latin typeface="Quattrocento Sans" pitchFamily="34" charset="0"/>
                <a:ea typeface="Quattrocento Sans" pitchFamily="34" charset="-122"/>
                <a:cs typeface="Quattrocento Sans" pitchFamily="34" charset="-120"/>
              </a:rPr>
              <a:t>Fast R-CNN</a:t>
            </a:r>
            <a:endParaRPr lang="en-US" sz="1600" dirty="0"/>
          </a:p>
        </p:txBody>
      </p:sp>
      <p:sp>
        <p:nvSpPr>
          <p:cNvPr id="49" name="Text 47"/>
          <p:cNvSpPr/>
          <p:nvPr/>
        </p:nvSpPr>
        <p:spPr>
          <a:xfrm>
            <a:off x="11276933" y="3941279"/>
            <a:ext cx="471317" cy="213427"/>
          </a:xfrm>
          <a:prstGeom prst="rect">
            <a:avLst/>
          </a:prstGeom>
          <a:noFill/>
          <a:ln/>
        </p:spPr>
        <p:txBody>
          <a:bodyPr wrap="square" lIns="0" tIns="0" rIns="0" bIns="0" rtlCol="0" anchor="ctr"/>
          <a:lstStyle/>
          <a:p>
            <a:pPr>
              <a:lnSpc>
                <a:spcPct val="130000"/>
              </a:lnSpc>
            </a:pPr>
            <a:r>
              <a:rPr lang="en-US" sz="1120" dirty="0">
                <a:solidFill>
                  <a:srgbClr val="6B7280"/>
                </a:solidFill>
                <a:latin typeface="Quattrocento Sans" pitchFamily="34" charset="0"/>
                <a:ea typeface="Quattrocento Sans" pitchFamily="34" charset="-122"/>
                <a:cs typeface="Quattrocento Sans" pitchFamily="34" charset="-120"/>
              </a:rPr>
              <a:t>~2 FPS</a:t>
            </a:r>
            <a:endParaRPr lang="en-US" sz="1600" dirty="0"/>
          </a:p>
        </p:txBody>
      </p:sp>
      <p:sp>
        <p:nvSpPr>
          <p:cNvPr id="50" name="Shape 48"/>
          <p:cNvSpPr/>
          <p:nvPr/>
        </p:nvSpPr>
        <p:spPr>
          <a:xfrm>
            <a:off x="6322099" y="4190277"/>
            <a:ext cx="5353453" cy="142284"/>
          </a:xfrm>
          <a:custGeom>
            <a:avLst/>
            <a:gdLst/>
            <a:ahLst/>
            <a:cxnLst/>
            <a:rect l="l" t="t" r="r" b="b"/>
            <a:pathLst>
              <a:path w="5353453" h="142284">
                <a:moveTo>
                  <a:pt x="71142" y="0"/>
                </a:moveTo>
                <a:lnTo>
                  <a:pt x="5282311" y="0"/>
                </a:lnTo>
                <a:cubicBezTo>
                  <a:pt x="5321601" y="0"/>
                  <a:pt x="5353453" y="31851"/>
                  <a:pt x="5353453" y="71142"/>
                </a:cubicBezTo>
                <a:lnTo>
                  <a:pt x="5353453" y="71142"/>
                </a:lnTo>
                <a:cubicBezTo>
                  <a:pt x="5353453" y="110433"/>
                  <a:pt x="5321601" y="142284"/>
                  <a:pt x="5282311" y="142284"/>
                </a:cubicBezTo>
                <a:lnTo>
                  <a:pt x="71142" y="142284"/>
                </a:lnTo>
                <a:cubicBezTo>
                  <a:pt x="31851" y="142284"/>
                  <a:pt x="0" y="110433"/>
                  <a:pt x="0" y="71142"/>
                </a:cubicBezTo>
                <a:lnTo>
                  <a:pt x="0" y="71142"/>
                </a:lnTo>
                <a:cubicBezTo>
                  <a:pt x="0" y="31851"/>
                  <a:pt x="31851" y="0"/>
                  <a:pt x="71142" y="0"/>
                </a:cubicBezTo>
                <a:close/>
              </a:path>
            </a:pathLst>
          </a:custGeom>
          <a:solidFill>
            <a:srgbClr val="E5E7EB"/>
          </a:solidFill>
          <a:ln/>
        </p:spPr>
        <p:txBody>
          <a:bodyPr/>
          <a:lstStyle/>
          <a:p>
            <a:endParaRPr lang="en-US"/>
          </a:p>
        </p:txBody>
      </p:sp>
      <p:sp>
        <p:nvSpPr>
          <p:cNvPr id="51" name="Shape 49"/>
          <p:cNvSpPr/>
          <p:nvPr/>
        </p:nvSpPr>
        <p:spPr>
          <a:xfrm>
            <a:off x="6322099" y="4190277"/>
            <a:ext cx="213427" cy="142284"/>
          </a:xfrm>
          <a:custGeom>
            <a:avLst/>
            <a:gdLst/>
            <a:ahLst/>
            <a:cxnLst/>
            <a:rect l="l" t="t" r="r" b="b"/>
            <a:pathLst>
              <a:path w="213427" h="142284">
                <a:moveTo>
                  <a:pt x="71142" y="0"/>
                </a:moveTo>
                <a:lnTo>
                  <a:pt x="142284" y="0"/>
                </a:lnTo>
                <a:cubicBezTo>
                  <a:pt x="181575" y="0"/>
                  <a:pt x="213427" y="31851"/>
                  <a:pt x="213427" y="71142"/>
                </a:cubicBezTo>
                <a:lnTo>
                  <a:pt x="213427" y="71142"/>
                </a:lnTo>
                <a:cubicBezTo>
                  <a:pt x="213427" y="110433"/>
                  <a:pt x="181575" y="142284"/>
                  <a:pt x="142284" y="142284"/>
                </a:cubicBezTo>
                <a:lnTo>
                  <a:pt x="71142" y="142284"/>
                </a:lnTo>
                <a:cubicBezTo>
                  <a:pt x="31851" y="142284"/>
                  <a:pt x="0" y="110433"/>
                  <a:pt x="0" y="71142"/>
                </a:cubicBezTo>
                <a:lnTo>
                  <a:pt x="0" y="71142"/>
                </a:lnTo>
                <a:cubicBezTo>
                  <a:pt x="0" y="31851"/>
                  <a:pt x="31851" y="0"/>
                  <a:pt x="71142" y="0"/>
                </a:cubicBezTo>
                <a:close/>
              </a:path>
            </a:pathLst>
          </a:custGeom>
          <a:solidFill>
            <a:srgbClr val="FF6900"/>
          </a:solidFill>
          <a:ln/>
        </p:spPr>
        <p:txBody>
          <a:bodyPr/>
          <a:lstStyle/>
          <a:p>
            <a:endParaRPr lang="en-US"/>
          </a:p>
        </p:txBody>
      </p:sp>
      <p:sp>
        <p:nvSpPr>
          <p:cNvPr id="52" name="Text 50"/>
          <p:cNvSpPr/>
          <p:nvPr/>
        </p:nvSpPr>
        <p:spPr>
          <a:xfrm>
            <a:off x="6322099" y="4403704"/>
            <a:ext cx="924849" cy="213427"/>
          </a:xfrm>
          <a:prstGeom prst="rect">
            <a:avLst/>
          </a:prstGeom>
          <a:noFill/>
          <a:ln/>
        </p:spPr>
        <p:txBody>
          <a:bodyPr wrap="square" lIns="0" tIns="0" rIns="0" bIns="0" rtlCol="0" anchor="ctr"/>
          <a:lstStyle/>
          <a:p>
            <a:pPr>
              <a:lnSpc>
                <a:spcPct val="130000"/>
              </a:lnSpc>
            </a:pPr>
            <a:r>
              <a:rPr lang="en-US" sz="1120" b="1" dirty="0">
                <a:solidFill>
                  <a:srgbClr val="1F2937"/>
                </a:solidFill>
                <a:latin typeface="Quattrocento Sans" pitchFamily="34" charset="0"/>
                <a:ea typeface="Quattrocento Sans" pitchFamily="34" charset="-122"/>
                <a:cs typeface="Quattrocento Sans" pitchFamily="34" charset="-120"/>
              </a:rPr>
              <a:t>Faster R-CNN</a:t>
            </a:r>
            <a:endParaRPr lang="en-US" sz="1600" dirty="0"/>
          </a:p>
        </p:txBody>
      </p:sp>
      <p:sp>
        <p:nvSpPr>
          <p:cNvPr id="53" name="Text 51"/>
          <p:cNvSpPr/>
          <p:nvPr/>
        </p:nvSpPr>
        <p:spPr>
          <a:xfrm>
            <a:off x="11284270" y="4403704"/>
            <a:ext cx="462425" cy="213427"/>
          </a:xfrm>
          <a:prstGeom prst="rect">
            <a:avLst/>
          </a:prstGeom>
          <a:noFill/>
          <a:ln/>
        </p:spPr>
        <p:txBody>
          <a:bodyPr wrap="square" lIns="0" tIns="0" rIns="0" bIns="0" rtlCol="0" anchor="ctr"/>
          <a:lstStyle/>
          <a:p>
            <a:pPr>
              <a:lnSpc>
                <a:spcPct val="130000"/>
              </a:lnSpc>
            </a:pPr>
            <a:r>
              <a:rPr lang="en-US" sz="1120" dirty="0">
                <a:solidFill>
                  <a:srgbClr val="6B7280"/>
                </a:solidFill>
                <a:latin typeface="Quattrocento Sans" pitchFamily="34" charset="0"/>
                <a:ea typeface="Quattrocento Sans" pitchFamily="34" charset="-122"/>
                <a:cs typeface="Quattrocento Sans" pitchFamily="34" charset="-120"/>
              </a:rPr>
              <a:t>~7 FPS</a:t>
            </a:r>
            <a:endParaRPr lang="en-US" sz="1600" dirty="0"/>
          </a:p>
        </p:txBody>
      </p:sp>
      <p:sp>
        <p:nvSpPr>
          <p:cNvPr id="54" name="Shape 52"/>
          <p:cNvSpPr/>
          <p:nvPr/>
        </p:nvSpPr>
        <p:spPr>
          <a:xfrm>
            <a:off x="6322099" y="4652702"/>
            <a:ext cx="5353453" cy="142284"/>
          </a:xfrm>
          <a:custGeom>
            <a:avLst/>
            <a:gdLst/>
            <a:ahLst/>
            <a:cxnLst/>
            <a:rect l="l" t="t" r="r" b="b"/>
            <a:pathLst>
              <a:path w="5353453" h="142284">
                <a:moveTo>
                  <a:pt x="71142" y="0"/>
                </a:moveTo>
                <a:lnTo>
                  <a:pt x="5282311" y="0"/>
                </a:lnTo>
                <a:cubicBezTo>
                  <a:pt x="5321601" y="0"/>
                  <a:pt x="5353453" y="31851"/>
                  <a:pt x="5353453" y="71142"/>
                </a:cubicBezTo>
                <a:lnTo>
                  <a:pt x="5353453" y="71142"/>
                </a:lnTo>
                <a:cubicBezTo>
                  <a:pt x="5353453" y="110433"/>
                  <a:pt x="5321601" y="142284"/>
                  <a:pt x="5282311" y="142284"/>
                </a:cubicBezTo>
                <a:lnTo>
                  <a:pt x="71142" y="142284"/>
                </a:lnTo>
                <a:cubicBezTo>
                  <a:pt x="31851" y="142284"/>
                  <a:pt x="0" y="110433"/>
                  <a:pt x="0" y="71142"/>
                </a:cubicBezTo>
                <a:lnTo>
                  <a:pt x="0" y="71142"/>
                </a:lnTo>
                <a:cubicBezTo>
                  <a:pt x="0" y="31851"/>
                  <a:pt x="31851" y="0"/>
                  <a:pt x="71142" y="0"/>
                </a:cubicBezTo>
                <a:close/>
              </a:path>
            </a:pathLst>
          </a:custGeom>
          <a:solidFill>
            <a:srgbClr val="E5E7EB"/>
          </a:solidFill>
          <a:ln/>
        </p:spPr>
        <p:txBody>
          <a:bodyPr/>
          <a:lstStyle/>
          <a:p>
            <a:endParaRPr lang="en-US"/>
          </a:p>
        </p:txBody>
      </p:sp>
      <p:sp>
        <p:nvSpPr>
          <p:cNvPr id="55" name="Shape 53"/>
          <p:cNvSpPr/>
          <p:nvPr/>
        </p:nvSpPr>
        <p:spPr>
          <a:xfrm>
            <a:off x="6322099" y="4652702"/>
            <a:ext cx="800350" cy="142284"/>
          </a:xfrm>
          <a:custGeom>
            <a:avLst/>
            <a:gdLst/>
            <a:ahLst/>
            <a:cxnLst/>
            <a:rect l="l" t="t" r="r" b="b"/>
            <a:pathLst>
              <a:path w="800350" h="142284">
                <a:moveTo>
                  <a:pt x="71142" y="0"/>
                </a:moveTo>
                <a:lnTo>
                  <a:pt x="729208" y="0"/>
                </a:lnTo>
                <a:cubicBezTo>
                  <a:pt x="768499" y="0"/>
                  <a:pt x="800350" y="31851"/>
                  <a:pt x="800350" y="71142"/>
                </a:cubicBezTo>
                <a:lnTo>
                  <a:pt x="800350" y="71142"/>
                </a:lnTo>
                <a:cubicBezTo>
                  <a:pt x="800350" y="110433"/>
                  <a:pt x="768499" y="142284"/>
                  <a:pt x="729208" y="142284"/>
                </a:cubicBezTo>
                <a:lnTo>
                  <a:pt x="71142" y="142284"/>
                </a:lnTo>
                <a:cubicBezTo>
                  <a:pt x="31851" y="142284"/>
                  <a:pt x="0" y="110433"/>
                  <a:pt x="0" y="71142"/>
                </a:cubicBezTo>
                <a:lnTo>
                  <a:pt x="0" y="71142"/>
                </a:lnTo>
                <a:cubicBezTo>
                  <a:pt x="0" y="31851"/>
                  <a:pt x="31851" y="0"/>
                  <a:pt x="71142" y="0"/>
                </a:cubicBezTo>
                <a:close/>
              </a:path>
            </a:pathLst>
          </a:custGeom>
          <a:solidFill>
            <a:srgbClr val="F0B100"/>
          </a:solidFill>
          <a:ln/>
        </p:spPr>
        <p:txBody>
          <a:bodyPr/>
          <a:lstStyle/>
          <a:p>
            <a:endParaRPr lang="en-US"/>
          </a:p>
        </p:txBody>
      </p:sp>
      <p:sp>
        <p:nvSpPr>
          <p:cNvPr id="56" name="Text 54"/>
          <p:cNvSpPr/>
          <p:nvPr/>
        </p:nvSpPr>
        <p:spPr>
          <a:xfrm>
            <a:off x="6322099" y="4866128"/>
            <a:ext cx="435746" cy="213427"/>
          </a:xfrm>
          <a:prstGeom prst="rect">
            <a:avLst/>
          </a:prstGeom>
          <a:noFill/>
          <a:ln/>
        </p:spPr>
        <p:txBody>
          <a:bodyPr wrap="square" lIns="0" tIns="0" rIns="0" bIns="0" rtlCol="0" anchor="ctr"/>
          <a:lstStyle/>
          <a:p>
            <a:pPr>
              <a:lnSpc>
                <a:spcPct val="130000"/>
              </a:lnSpc>
            </a:pPr>
            <a:r>
              <a:rPr lang="en-US" sz="1120" b="1" dirty="0">
                <a:solidFill>
                  <a:srgbClr val="8B0000"/>
                </a:solidFill>
                <a:latin typeface="Quattrocento Sans" pitchFamily="34" charset="0"/>
                <a:ea typeface="Quattrocento Sans" pitchFamily="34" charset="-122"/>
                <a:cs typeface="Quattrocento Sans" pitchFamily="34" charset="-120"/>
              </a:rPr>
              <a:t>YOLO</a:t>
            </a:r>
            <a:endParaRPr lang="en-US" sz="1600" dirty="0"/>
          </a:p>
        </p:txBody>
      </p:sp>
      <p:sp>
        <p:nvSpPr>
          <p:cNvPr id="57" name="Text 55"/>
          <p:cNvSpPr/>
          <p:nvPr/>
        </p:nvSpPr>
        <p:spPr>
          <a:xfrm>
            <a:off x="11271042" y="4866128"/>
            <a:ext cx="480210" cy="213427"/>
          </a:xfrm>
          <a:prstGeom prst="rect">
            <a:avLst/>
          </a:prstGeom>
          <a:noFill/>
          <a:ln/>
        </p:spPr>
        <p:txBody>
          <a:bodyPr wrap="square" lIns="0" tIns="0" rIns="0" bIns="0" rtlCol="0" anchor="ctr"/>
          <a:lstStyle/>
          <a:p>
            <a:pPr>
              <a:lnSpc>
                <a:spcPct val="130000"/>
              </a:lnSpc>
            </a:pPr>
            <a:r>
              <a:rPr lang="en-US" sz="1120" b="1" dirty="0">
                <a:solidFill>
                  <a:srgbClr val="8B0000"/>
                </a:solidFill>
                <a:latin typeface="Quattrocento Sans" pitchFamily="34" charset="0"/>
                <a:ea typeface="Quattrocento Sans" pitchFamily="34" charset="-122"/>
                <a:cs typeface="Quattrocento Sans" pitchFamily="34" charset="-120"/>
              </a:rPr>
              <a:t>45 FPS</a:t>
            </a:r>
            <a:endParaRPr lang="en-US" sz="1600" dirty="0"/>
          </a:p>
        </p:txBody>
      </p:sp>
      <p:sp>
        <p:nvSpPr>
          <p:cNvPr id="58" name="Shape 56"/>
          <p:cNvSpPr/>
          <p:nvPr/>
        </p:nvSpPr>
        <p:spPr>
          <a:xfrm>
            <a:off x="6322099" y="5115126"/>
            <a:ext cx="5353453" cy="142284"/>
          </a:xfrm>
          <a:custGeom>
            <a:avLst/>
            <a:gdLst/>
            <a:ahLst/>
            <a:cxnLst/>
            <a:rect l="l" t="t" r="r" b="b"/>
            <a:pathLst>
              <a:path w="5353453" h="142284">
                <a:moveTo>
                  <a:pt x="71142" y="0"/>
                </a:moveTo>
                <a:lnTo>
                  <a:pt x="5282311" y="0"/>
                </a:lnTo>
                <a:cubicBezTo>
                  <a:pt x="5321601" y="0"/>
                  <a:pt x="5353453" y="31851"/>
                  <a:pt x="5353453" y="71142"/>
                </a:cubicBezTo>
                <a:lnTo>
                  <a:pt x="5353453" y="71142"/>
                </a:lnTo>
                <a:cubicBezTo>
                  <a:pt x="5353453" y="110433"/>
                  <a:pt x="5321601" y="142284"/>
                  <a:pt x="5282311" y="142284"/>
                </a:cubicBezTo>
                <a:lnTo>
                  <a:pt x="71142" y="142284"/>
                </a:lnTo>
                <a:cubicBezTo>
                  <a:pt x="31851" y="142284"/>
                  <a:pt x="0" y="110433"/>
                  <a:pt x="0" y="71142"/>
                </a:cubicBezTo>
                <a:lnTo>
                  <a:pt x="0" y="71142"/>
                </a:lnTo>
                <a:cubicBezTo>
                  <a:pt x="0" y="31851"/>
                  <a:pt x="31851" y="0"/>
                  <a:pt x="71142" y="0"/>
                </a:cubicBezTo>
                <a:close/>
              </a:path>
            </a:pathLst>
          </a:custGeom>
          <a:solidFill>
            <a:srgbClr val="E5E7EB"/>
          </a:solidFill>
          <a:ln/>
        </p:spPr>
        <p:txBody>
          <a:bodyPr/>
          <a:lstStyle/>
          <a:p>
            <a:endParaRPr lang="en-US"/>
          </a:p>
        </p:txBody>
      </p:sp>
      <p:sp>
        <p:nvSpPr>
          <p:cNvPr id="59" name="Shape 57"/>
          <p:cNvSpPr/>
          <p:nvPr/>
        </p:nvSpPr>
        <p:spPr>
          <a:xfrm>
            <a:off x="6322099" y="5115126"/>
            <a:ext cx="5353453" cy="142284"/>
          </a:xfrm>
          <a:custGeom>
            <a:avLst/>
            <a:gdLst/>
            <a:ahLst/>
            <a:cxnLst/>
            <a:rect l="l" t="t" r="r" b="b"/>
            <a:pathLst>
              <a:path w="5353453" h="142284">
                <a:moveTo>
                  <a:pt x="71142" y="0"/>
                </a:moveTo>
                <a:lnTo>
                  <a:pt x="5282311" y="0"/>
                </a:lnTo>
                <a:cubicBezTo>
                  <a:pt x="5321601" y="0"/>
                  <a:pt x="5353453" y="31851"/>
                  <a:pt x="5353453" y="71142"/>
                </a:cubicBezTo>
                <a:lnTo>
                  <a:pt x="5353453" y="71142"/>
                </a:lnTo>
                <a:cubicBezTo>
                  <a:pt x="5353453" y="110433"/>
                  <a:pt x="5321601" y="142284"/>
                  <a:pt x="5282311" y="142284"/>
                </a:cubicBezTo>
                <a:lnTo>
                  <a:pt x="71142" y="142284"/>
                </a:lnTo>
                <a:cubicBezTo>
                  <a:pt x="31851" y="142284"/>
                  <a:pt x="0" y="110433"/>
                  <a:pt x="0" y="71142"/>
                </a:cubicBezTo>
                <a:lnTo>
                  <a:pt x="0" y="71142"/>
                </a:lnTo>
                <a:cubicBezTo>
                  <a:pt x="0" y="31851"/>
                  <a:pt x="31851" y="0"/>
                  <a:pt x="71142" y="0"/>
                </a:cubicBezTo>
                <a:close/>
              </a:path>
            </a:pathLst>
          </a:custGeom>
          <a:solidFill>
            <a:srgbClr val="8B0000"/>
          </a:solidFill>
          <a:ln/>
        </p:spPr>
        <p:txBody>
          <a:bodyPr/>
          <a:lstStyle/>
          <a:p>
            <a:endParaRPr lang="en-US"/>
          </a:p>
        </p:txBody>
      </p:sp>
      <p:sp>
        <p:nvSpPr>
          <p:cNvPr id="60" name="Shape 58"/>
          <p:cNvSpPr/>
          <p:nvPr/>
        </p:nvSpPr>
        <p:spPr>
          <a:xfrm>
            <a:off x="6165586" y="5520638"/>
            <a:ext cx="5664700" cy="426853"/>
          </a:xfrm>
          <a:custGeom>
            <a:avLst/>
            <a:gdLst/>
            <a:ahLst/>
            <a:cxnLst/>
            <a:rect l="l" t="t" r="r" b="b"/>
            <a:pathLst>
              <a:path w="5664700" h="426853">
                <a:moveTo>
                  <a:pt x="71144" y="0"/>
                </a:moveTo>
                <a:lnTo>
                  <a:pt x="5593557" y="0"/>
                </a:lnTo>
                <a:cubicBezTo>
                  <a:pt x="5632848" y="0"/>
                  <a:pt x="5664700" y="31852"/>
                  <a:pt x="5664700" y="71144"/>
                </a:cubicBezTo>
                <a:lnTo>
                  <a:pt x="5664700" y="355710"/>
                </a:lnTo>
                <a:cubicBezTo>
                  <a:pt x="5664700" y="395001"/>
                  <a:pt x="5632848" y="426853"/>
                  <a:pt x="5593557" y="426853"/>
                </a:cubicBezTo>
                <a:lnTo>
                  <a:pt x="71144" y="426853"/>
                </a:lnTo>
                <a:cubicBezTo>
                  <a:pt x="31878" y="426853"/>
                  <a:pt x="0" y="394975"/>
                  <a:pt x="0" y="355710"/>
                </a:cubicBezTo>
                <a:lnTo>
                  <a:pt x="0" y="71144"/>
                </a:lnTo>
                <a:cubicBezTo>
                  <a:pt x="0" y="31878"/>
                  <a:pt x="31878" y="0"/>
                  <a:pt x="71144" y="0"/>
                </a:cubicBezTo>
                <a:close/>
              </a:path>
            </a:pathLst>
          </a:custGeom>
          <a:solidFill>
            <a:srgbClr val="F3F4F6"/>
          </a:solidFill>
          <a:ln/>
        </p:spPr>
        <p:txBody>
          <a:bodyPr/>
          <a:lstStyle/>
          <a:p>
            <a:endParaRPr lang="en-US"/>
          </a:p>
        </p:txBody>
      </p:sp>
      <p:sp>
        <p:nvSpPr>
          <p:cNvPr id="61" name="Shape 59"/>
          <p:cNvSpPr/>
          <p:nvPr/>
        </p:nvSpPr>
        <p:spPr>
          <a:xfrm>
            <a:off x="7367890" y="5655807"/>
            <a:ext cx="142284" cy="142284"/>
          </a:xfrm>
          <a:custGeom>
            <a:avLst/>
            <a:gdLst/>
            <a:ahLst/>
            <a:cxnLst/>
            <a:rect l="l" t="t" r="r" b="b"/>
            <a:pathLst>
              <a:path w="142284" h="142284">
                <a:moveTo>
                  <a:pt x="71142" y="142284"/>
                </a:moveTo>
                <a:cubicBezTo>
                  <a:pt x="110407" y="142284"/>
                  <a:pt x="142284" y="110407"/>
                  <a:pt x="142284" y="71142"/>
                </a:cubicBezTo>
                <a:cubicBezTo>
                  <a:pt x="142284" y="31878"/>
                  <a:pt x="110407" y="0"/>
                  <a:pt x="71142" y="0"/>
                </a:cubicBezTo>
                <a:cubicBezTo>
                  <a:pt x="31878" y="0"/>
                  <a:pt x="0" y="31878"/>
                  <a:pt x="0" y="71142"/>
                </a:cubicBezTo>
                <a:cubicBezTo>
                  <a:pt x="0" y="110407"/>
                  <a:pt x="31878" y="142284"/>
                  <a:pt x="71142" y="142284"/>
                </a:cubicBezTo>
                <a:close/>
                <a:moveTo>
                  <a:pt x="62249" y="44464"/>
                </a:moveTo>
                <a:cubicBezTo>
                  <a:pt x="62249" y="39556"/>
                  <a:pt x="66234" y="35571"/>
                  <a:pt x="71142" y="35571"/>
                </a:cubicBezTo>
                <a:cubicBezTo>
                  <a:pt x="76050" y="35571"/>
                  <a:pt x="80035" y="39556"/>
                  <a:pt x="80035" y="44464"/>
                </a:cubicBezTo>
                <a:cubicBezTo>
                  <a:pt x="80035" y="49372"/>
                  <a:pt x="76050" y="53357"/>
                  <a:pt x="71142" y="53357"/>
                </a:cubicBezTo>
                <a:cubicBezTo>
                  <a:pt x="66234" y="53357"/>
                  <a:pt x="62249" y="49372"/>
                  <a:pt x="62249" y="44464"/>
                </a:cubicBezTo>
                <a:close/>
                <a:moveTo>
                  <a:pt x="60026" y="62249"/>
                </a:moveTo>
                <a:lnTo>
                  <a:pt x="73365" y="62249"/>
                </a:lnTo>
                <a:cubicBezTo>
                  <a:pt x="77061" y="62249"/>
                  <a:pt x="80035" y="65223"/>
                  <a:pt x="80035" y="68919"/>
                </a:cubicBezTo>
                <a:lnTo>
                  <a:pt x="80035" y="93374"/>
                </a:lnTo>
                <a:lnTo>
                  <a:pt x="82258" y="93374"/>
                </a:lnTo>
                <a:cubicBezTo>
                  <a:pt x="85954" y="93374"/>
                  <a:pt x="88928" y="96348"/>
                  <a:pt x="88928" y="100044"/>
                </a:cubicBezTo>
                <a:cubicBezTo>
                  <a:pt x="88928" y="103740"/>
                  <a:pt x="85954" y="106713"/>
                  <a:pt x="82258" y="106713"/>
                </a:cubicBezTo>
                <a:lnTo>
                  <a:pt x="60026" y="106713"/>
                </a:lnTo>
                <a:cubicBezTo>
                  <a:pt x="56330" y="106713"/>
                  <a:pt x="53357" y="103740"/>
                  <a:pt x="53357" y="100044"/>
                </a:cubicBezTo>
                <a:cubicBezTo>
                  <a:pt x="53357" y="96348"/>
                  <a:pt x="56330" y="93374"/>
                  <a:pt x="60026" y="93374"/>
                </a:cubicBezTo>
                <a:lnTo>
                  <a:pt x="66696" y="93374"/>
                </a:lnTo>
                <a:lnTo>
                  <a:pt x="66696" y="75589"/>
                </a:lnTo>
                <a:lnTo>
                  <a:pt x="60026" y="75589"/>
                </a:lnTo>
                <a:cubicBezTo>
                  <a:pt x="56330" y="75589"/>
                  <a:pt x="53357" y="72615"/>
                  <a:pt x="53357" y="68919"/>
                </a:cubicBezTo>
                <a:cubicBezTo>
                  <a:pt x="53357" y="65223"/>
                  <a:pt x="56330" y="62249"/>
                  <a:pt x="60026" y="62249"/>
                </a:cubicBezTo>
                <a:close/>
              </a:path>
            </a:pathLst>
          </a:custGeom>
          <a:solidFill>
            <a:srgbClr val="8B0000"/>
          </a:solidFill>
          <a:ln/>
        </p:spPr>
        <p:txBody>
          <a:bodyPr/>
          <a:lstStyle/>
          <a:p>
            <a:endParaRPr lang="en-US"/>
          </a:p>
        </p:txBody>
      </p:sp>
      <p:sp>
        <p:nvSpPr>
          <p:cNvPr id="62" name="Text 60"/>
          <p:cNvSpPr/>
          <p:nvPr/>
        </p:nvSpPr>
        <p:spPr>
          <a:xfrm>
            <a:off x="6464399" y="5627351"/>
            <a:ext cx="5294745" cy="213427"/>
          </a:xfrm>
          <a:prstGeom prst="rect">
            <a:avLst/>
          </a:prstGeom>
          <a:noFill/>
          <a:ln/>
        </p:spPr>
        <p:txBody>
          <a:bodyPr wrap="square" lIns="0" tIns="0" rIns="0" bIns="0" rtlCol="0" anchor="ctr"/>
          <a:lstStyle/>
          <a:p>
            <a:pPr algn="ctr">
              <a:lnSpc>
                <a:spcPct val="130000"/>
              </a:lnSpc>
            </a:pPr>
            <a:r>
              <a:rPr lang="en-US" sz="1120" dirty="0">
                <a:solidFill>
                  <a:srgbClr val="6B7280"/>
                </a:solidFill>
                <a:latin typeface="Quattrocento Sans" pitchFamily="34" charset="0"/>
                <a:ea typeface="Quattrocento Sans" pitchFamily="34" charset="-122"/>
                <a:cs typeface="Quattrocento Sans" pitchFamily="34" charset="-120"/>
              </a:rPr>
              <a:t>YOLO's speed advantage: </a:t>
            </a:r>
            <a:r>
              <a:rPr lang="en-US" sz="1120" b="1" dirty="0">
                <a:solidFill>
                  <a:srgbClr val="6B7280"/>
                </a:solidFill>
                <a:latin typeface="Quattrocento Sans" pitchFamily="34" charset="0"/>
                <a:ea typeface="Quattrocento Sans" pitchFamily="34" charset="-122"/>
                <a:cs typeface="Quattrocento Sans" pitchFamily="34" charset="-120"/>
              </a:rPr>
              <a:t>90x faster</a:t>
            </a:r>
            <a:r>
              <a:rPr lang="en-US" sz="1120" dirty="0">
                <a:solidFill>
                  <a:srgbClr val="6B7280"/>
                </a:solidFill>
                <a:latin typeface="Quattrocento Sans" pitchFamily="34" charset="0"/>
                <a:ea typeface="Quattrocento Sans" pitchFamily="34" charset="-122"/>
                <a:cs typeface="Quattrocento Sans" pitchFamily="34" charset="-120"/>
              </a:rPr>
              <a:t> than R-CNN</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438396"/>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02</a:t>
            </a:r>
            <a:endParaRPr lang="en-US" sz="1600" dirty="0"/>
          </a:p>
        </p:txBody>
      </p:sp>
      <p:sp>
        <p:nvSpPr>
          <p:cNvPr id="3" name="Text 1"/>
          <p:cNvSpPr/>
          <p:nvPr/>
        </p:nvSpPr>
        <p:spPr>
          <a:xfrm>
            <a:off x="381000" y="2886196"/>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YOLO Architecture &amp;</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Core Concepts</a:t>
            </a:r>
            <a:endParaRPr lang="en-US" sz="1600" dirty="0"/>
          </a:p>
        </p:txBody>
      </p:sp>
      <p:sp>
        <p:nvSpPr>
          <p:cNvPr id="4" name="Shape 2"/>
          <p:cNvSpPr/>
          <p:nvPr/>
        </p:nvSpPr>
        <p:spPr>
          <a:xfrm>
            <a:off x="381000" y="4543546"/>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810246"/>
            <a:ext cx="11544300" cy="6096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Deep dive into YOLO's network design</a:t>
            </a:r>
            <a:endParaRPr lang="en-US" sz="1600" dirty="0"/>
          </a:p>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and prediction mechanism</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4164" y="344164"/>
            <a:ext cx="11572505" cy="206498"/>
          </a:xfrm>
          <a:prstGeom prst="rect">
            <a:avLst/>
          </a:prstGeom>
          <a:noFill/>
          <a:ln/>
        </p:spPr>
        <p:txBody>
          <a:bodyPr wrap="square" lIns="0" tIns="0" rIns="0" bIns="0" rtlCol="0" anchor="ctr"/>
          <a:lstStyle/>
          <a:p>
            <a:pPr>
              <a:lnSpc>
                <a:spcPct val="130000"/>
              </a:lnSpc>
            </a:pPr>
            <a:r>
              <a:rPr lang="en-US" sz="1084" b="1" kern="0" spc="54" dirty="0">
                <a:solidFill>
                  <a:srgbClr val="8B0000"/>
                </a:solidFill>
                <a:latin typeface="Quattrocento Sans" pitchFamily="34" charset="0"/>
                <a:ea typeface="Quattrocento Sans" pitchFamily="34" charset="-122"/>
                <a:cs typeface="Quattrocento Sans" pitchFamily="34" charset="-120"/>
              </a:rPr>
              <a:t>2.1 ARCHITECTURE</a:t>
            </a:r>
            <a:endParaRPr lang="en-US" sz="1600" dirty="0"/>
          </a:p>
        </p:txBody>
      </p:sp>
      <p:sp>
        <p:nvSpPr>
          <p:cNvPr id="3" name="Text 1"/>
          <p:cNvSpPr/>
          <p:nvPr/>
        </p:nvSpPr>
        <p:spPr>
          <a:xfrm>
            <a:off x="344164" y="585078"/>
            <a:ext cx="11658546" cy="344164"/>
          </a:xfrm>
          <a:prstGeom prst="rect">
            <a:avLst/>
          </a:prstGeom>
          <a:noFill/>
          <a:ln/>
        </p:spPr>
        <p:txBody>
          <a:bodyPr wrap="square" lIns="0" tIns="0" rIns="0" bIns="0" rtlCol="0" anchor="ctr"/>
          <a:lstStyle/>
          <a:p>
            <a:pPr>
              <a:lnSpc>
                <a:spcPct val="90000"/>
              </a:lnSpc>
            </a:pPr>
            <a:r>
              <a:rPr lang="en-US" sz="2439" b="1" dirty="0">
                <a:solidFill>
                  <a:srgbClr val="1F2937"/>
                </a:solidFill>
                <a:latin typeface="Sorts Mill Goudy" pitchFamily="34" charset="0"/>
                <a:ea typeface="Sorts Mill Goudy" pitchFamily="34" charset="-122"/>
                <a:cs typeface="Sorts Mill Goudy" pitchFamily="34" charset="-120"/>
              </a:rPr>
              <a:t>YOLO Network Architecture</a:t>
            </a:r>
            <a:endParaRPr lang="en-US" sz="1600" dirty="0"/>
          </a:p>
        </p:txBody>
      </p:sp>
      <p:sp>
        <p:nvSpPr>
          <p:cNvPr id="4" name="Shape 2"/>
          <p:cNvSpPr/>
          <p:nvPr/>
        </p:nvSpPr>
        <p:spPr>
          <a:xfrm>
            <a:off x="351047" y="1004958"/>
            <a:ext cx="6836812" cy="1906667"/>
          </a:xfrm>
          <a:custGeom>
            <a:avLst/>
            <a:gdLst/>
            <a:ahLst/>
            <a:cxnLst/>
            <a:rect l="l" t="t" r="r" b="b"/>
            <a:pathLst>
              <a:path w="6836812" h="1906667">
                <a:moveTo>
                  <a:pt x="68831" y="0"/>
                </a:moveTo>
                <a:lnTo>
                  <a:pt x="6767982" y="0"/>
                </a:lnTo>
                <a:cubicBezTo>
                  <a:pt x="6805996" y="0"/>
                  <a:pt x="6836812" y="30817"/>
                  <a:pt x="6836812" y="68831"/>
                </a:cubicBezTo>
                <a:lnTo>
                  <a:pt x="6836812" y="1837836"/>
                </a:lnTo>
                <a:cubicBezTo>
                  <a:pt x="6836812" y="1875850"/>
                  <a:pt x="6805996" y="1906667"/>
                  <a:pt x="6767982" y="1906667"/>
                </a:cubicBezTo>
                <a:lnTo>
                  <a:pt x="68831" y="1906667"/>
                </a:lnTo>
                <a:cubicBezTo>
                  <a:pt x="30817" y="1906667"/>
                  <a:pt x="0" y="1875850"/>
                  <a:pt x="0" y="1837836"/>
                </a:cubicBezTo>
                <a:lnTo>
                  <a:pt x="0" y="68831"/>
                </a:lnTo>
                <a:cubicBezTo>
                  <a:pt x="0" y="30842"/>
                  <a:pt x="30842" y="0"/>
                  <a:pt x="68831"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18159" y="1115091"/>
            <a:ext cx="6702589" cy="240915"/>
          </a:xfrm>
          <a:prstGeom prst="rect">
            <a:avLst/>
          </a:prstGeom>
          <a:noFill/>
          <a:ln/>
        </p:spPr>
        <p:txBody>
          <a:bodyPr wrap="square" lIns="0" tIns="0" rIns="0" bIns="0" rtlCol="0" anchor="ctr"/>
          <a:lstStyle/>
          <a:p>
            <a:pPr algn="ctr">
              <a:lnSpc>
                <a:spcPct val="120000"/>
              </a:lnSpc>
            </a:pPr>
            <a:r>
              <a:rPr lang="en-US" sz="1355" b="1" dirty="0">
                <a:solidFill>
                  <a:srgbClr val="1F2937"/>
                </a:solidFill>
                <a:latin typeface="Sorts Mill Goudy" pitchFamily="34" charset="0"/>
                <a:ea typeface="Sorts Mill Goudy" pitchFamily="34" charset="-122"/>
                <a:cs typeface="Sorts Mill Goudy" pitchFamily="34" charset="-120"/>
              </a:rPr>
              <a:t>YOLOv1 Architecture (24 Conv + 2 FC Layers)</a:t>
            </a:r>
            <a:endParaRPr lang="en-US" sz="1600" dirty="0"/>
          </a:p>
        </p:txBody>
      </p:sp>
      <p:pic>
        <p:nvPicPr>
          <p:cNvPr id="6" name="Image 0" descr="https://kimi-web-img.moonshot.cn/img/blog.roboflow.com/243002910f8d6f33815be19ac5c18b342cddeb83.png"/>
          <p:cNvPicPr>
            <a:picLocks noChangeAspect="1"/>
          </p:cNvPicPr>
          <p:nvPr/>
        </p:nvPicPr>
        <p:blipFill>
          <a:blip r:embed="rId3"/>
          <a:srcRect t="26302" b="26302"/>
          <a:stretch/>
        </p:blipFill>
        <p:spPr>
          <a:xfrm>
            <a:off x="461179" y="1424839"/>
            <a:ext cx="6616548" cy="1376655"/>
          </a:xfrm>
          <a:prstGeom prst="roundRect">
            <a:avLst>
              <a:gd name="adj" fmla="val 2500"/>
            </a:avLst>
          </a:prstGeom>
        </p:spPr>
      </p:pic>
      <p:sp>
        <p:nvSpPr>
          <p:cNvPr id="7" name="Shape 4"/>
          <p:cNvSpPr/>
          <p:nvPr/>
        </p:nvSpPr>
        <p:spPr>
          <a:xfrm>
            <a:off x="344164" y="2987343"/>
            <a:ext cx="3390013" cy="1135740"/>
          </a:xfrm>
          <a:custGeom>
            <a:avLst/>
            <a:gdLst/>
            <a:ahLst/>
            <a:cxnLst/>
            <a:rect l="l" t="t" r="r" b="b"/>
            <a:pathLst>
              <a:path w="3390013" h="1135740">
                <a:moveTo>
                  <a:pt x="68837" y="0"/>
                </a:moveTo>
                <a:lnTo>
                  <a:pt x="3321175" y="0"/>
                </a:lnTo>
                <a:cubicBezTo>
                  <a:pt x="3359193" y="0"/>
                  <a:pt x="3390013" y="30819"/>
                  <a:pt x="3390013" y="68837"/>
                </a:cubicBezTo>
                <a:lnTo>
                  <a:pt x="3390013" y="1066903"/>
                </a:lnTo>
                <a:cubicBezTo>
                  <a:pt x="3390013" y="1104921"/>
                  <a:pt x="3359193" y="1135740"/>
                  <a:pt x="3321175" y="1135740"/>
                </a:cubicBezTo>
                <a:lnTo>
                  <a:pt x="68837" y="1135740"/>
                </a:lnTo>
                <a:cubicBezTo>
                  <a:pt x="30819" y="1135740"/>
                  <a:pt x="0" y="1104921"/>
                  <a:pt x="0" y="1066903"/>
                </a:cubicBezTo>
                <a:lnTo>
                  <a:pt x="0" y="68837"/>
                </a:lnTo>
                <a:cubicBezTo>
                  <a:pt x="0" y="30845"/>
                  <a:pt x="30845" y="0"/>
                  <a:pt x="68837" y="0"/>
                </a:cubicBezTo>
                <a:close/>
              </a:path>
            </a:pathLst>
          </a:custGeom>
          <a:solidFill>
            <a:srgbClr val="8B0000"/>
          </a:solidFill>
          <a:ln/>
        </p:spPr>
        <p:txBody>
          <a:bodyPr/>
          <a:lstStyle/>
          <a:p>
            <a:endParaRPr lang="en-US"/>
          </a:p>
        </p:txBody>
      </p:sp>
      <p:sp>
        <p:nvSpPr>
          <p:cNvPr id="8" name="Shape 5"/>
          <p:cNvSpPr/>
          <p:nvPr/>
        </p:nvSpPr>
        <p:spPr>
          <a:xfrm>
            <a:off x="468923" y="3133612"/>
            <a:ext cx="154874" cy="154874"/>
          </a:xfrm>
          <a:custGeom>
            <a:avLst/>
            <a:gdLst/>
            <a:ahLst/>
            <a:cxnLst/>
            <a:rect l="l" t="t" r="r" b="b"/>
            <a:pathLst>
              <a:path w="154874" h="154874">
                <a:moveTo>
                  <a:pt x="70328" y="1573"/>
                </a:moveTo>
                <a:cubicBezTo>
                  <a:pt x="74835" y="-514"/>
                  <a:pt x="80038" y="-514"/>
                  <a:pt x="84545" y="1573"/>
                </a:cubicBezTo>
                <a:lnTo>
                  <a:pt x="150669" y="32124"/>
                </a:lnTo>
                <a:cubicBezTo>
                  <a:pt x="153240" y="33304"/>
                  <a:pt x="154874" y="35875"/>
                  <a:pt x="154874" y="38718"/>
                </a:cubicBezTo>
                <a:cubicBezTo>
                  <a:pt x="154874" y="41562"/>
                  <a:pt x="153240" y="44133"/>
                  <a:pt x="150669" y="45313"/>
                </a:cubicBezTo>
                <a:lnTo>
                  <a:pt x="84545" y="75864"/>
                </a:lnTo>
                <a:cubicBezTo>
                  <a:pt x="80038" y="77951"/>
                  <a:pt x="74835" y="77951"/>
                  <a:pt x="70328" y="75864"/>
                </a:cubicBezTo>
                <a:lnTo>
                  <a:pt x="4205" y="45313"/>
                </a:lnTo>
                <a:cubicBezTo>
                  <a:pt x="1633" y="44103"/>
                  <a:pt x="0" y="41532"/>
                  <a:pt x="0" y="38718"/>
                </a:cubicBezTo>
                <a:cubicBezTo>
                  <a:pt x="0" y="35905"/>
                  <a:pt x="1633" y="33304"/>
                  <a:pt x="4205" y="32124"/>
                </a:cubicBezTo>
                <a:lnTo>
                  <a:pt x="70328" y="1573"/>
                </a:lnTo>
                <a:close/>
                <a:moveTo>
                  <a:pt x="14550" y="66063"/>
                </a:moveTo>
                <a:lnTo>
                  <a:pt x="64248" y="89022"/>
                </a:lnTo>
                <a:cubicBezTo>
                  <a:pt x="72627" y="92894"/>
                  <a:pt x="82277" y="92894"/>
                  <a:pt x="90656" y="89022"/>
                </a:cubicBezTo>
                <a:lnTo>
                  <a:pt x="140354" y="66063"/>
                </a:lnTo>
                <a:lnTo>
                  <a:pt x="150669" y="70843"/>
                </a:lnTo>
                <a:cubicBezTo>
                  <a:pt x="153240" y="72022"/>
                  <a:pt x="154874" y="74593"/>
                  <a:pt x="154874" y="77437"/>
                </a:cubicBezTo>
                <a:cubicBezTo>
                  <a:pt x="154874" y="80280"/>
                  <a:pt x="153240" y="82851"/>
                  <a:pt x="150669" y="84031"/>
                </a:cubicBezTo>
                <a:lnTo>
                  <a:pt x="84545" y="114582"/>
                </a:lnTo>
                <a:cubicBezTo>
                  <a:pt x="80038" y="116669"/>
                  <a:pt x="74835" y="116669"/>
                  <a:pt x="70328" y="114582"/>
                </a:cubicBezTo>
                <a:lnTo>
                  <a:pt x="4205" y="84031"/>
                </a:lnTo>
                <a:cubicBezTo>
                  <a:pt x="1633" y="82821"/>
                  <a:pt x="0" y="80250"/>
                  <a:pt x="0" y="77437"/>
                </a:cubicBezTo>
                <a:cubicBezTo>
                  <a:pt x="0" y="74624"/>
                  <a:pt x="1633" y="72022"/>
                  <a:pt x="4205" y="70843"/>
                </a:cubicBezTo>
                <a:lnTo>
                  <a:pt x="14519" y="66063"/>
                </a:lnTo>
                <a:close/>
                <a:moveTo>
                  <a:pt x="4205" y="109561"/>
                </a:moveTo>
                <a:lnTo>
                  <a:pt x="14519" y="104782"/>
                </a:lnTo>
                <a:lnTo>
                  <a:pt x="64218" y="127741"/>
                </a:lnTo>
                <a:cubicBezTo>
                  <a:pt x="72597" y="131612"/>
                  <a:pt x="82246" y="131612"/>
                  <a:pt x="90625" y="127741"/>
                </a:cubicBezTo>
                <a:lnTo>
                  <a:pt x="140324" y="104782"/>
                </a:lnTo>
                <a:lnTo>
                  <a:pt x="150639" y="109561"/>
                </a:lnTo>
                <a:cubicBezTo>
                  <a:pt x="153210" y="110741"/>
                  <a:pt x="154843" y="113312"/>
                  <a:pt x="154843" y="116155"/>
                </a:cubicBezTo>
                <a:cubicBezTo>
                  <a:pt x="154843" y="118999"/>
                  <a:pt x="153210" y="121570"/>
                  <a:pt x="150639" y="122749"/>
                </a:cubicBezTo>
                <a:lnTo>
                  <a:pt x="84515" y="153301"/>
                </a:lnTo>
                <a:cubicBezTo>
                  <a:pt x="80008" y="155388"/>
                  <a:pt x="74805" y="155388"/>
                  <a:pt x="70298" y="153301"/>
                </a:cubicBezTo>
                <a:lnTo>
                  <a:pt x="4205" y="122749"/>
                </a:lnTo>
                <a:cubicBezTo>
                  <a:pt x="1633" y="121540"/>
                  <a:pt x="0" y="118968"/>
                  <a:pt x="0" y="116155"/>
                </a:cubicBezTo>
                <a:cubicBezTo>
                  <a:pt x="0" y="113342"/>
                  <a:pt x="1633" y="110741"/>
                  <a:pt x="4205" y="109561"/>
                </a:cubicBezTo>
                <a:close/>
              </a:path>
            </a:pathLst>
          </a:custGeom>
          <a:solidFill>
            <a:srgbClr val="FFFFFF"/>
          </a:solidFill>
          <a:ln/>
        </p:spPr>
        <p:txBody>
          <a:bodyPr/>
          <a:lstStyle/>
          <a:p>
            <a:endParaRPr lang="en-US"/>
          </a:p>
        </p:txBody>
      </p:sp>
      <p:sp>
        <p:nvSpPr>
          <p:cNvPr id="9" name="Text 6"/>
          <p:cNvSpPr/>
          <p:nvPr/>
        </p:nvSpPr>
        <p:spPr>
          <a:xfrm>
            <a:off x="645307" y="3090592"/>
            <a:ext cx="3063057" cy="240915"/>
          </a:xfrm>
          <a:prstGeom prst="rect">
            <a:avLst/>
          </a:prstGeom>
          <a:noFill/>
          <a:ln/>
        </p:spPr>
        <p:txBody>
          <a:bodyPr wrap="square" lIns="0" tIns="0" rIns="0" bIns="0" rtlCol="0" anchor="ctr"/>
          <a:lstStyle/>
          <a:p>
            <a:pPr>
              <a:lnSpc>
                <a:spcPct val="130000"/>
              </a:lnSpc>
            </a:pPr>
            <a:r>
              <a:rPr lang="en-US" sz="1219" b="1" dirty="0">
                <a:solidFill>
                  <a:srgbClr val="FFFFFF"/>
                </a:solidFill>
                <a:latin typeface="Sorts Mill Goudy" pitchFamily="34" charset="0"/>
                <a:ea typeface="Sorts Mill Goudy" pitchFamily="34" charset="-122"/>
                <a:cs typeface="Sorts Mill Goudy" pitchFamily="34" charset="-120"/>
              </a:rPr>
              <a:t>Feature Extraction</a:t>
            </a:r>
            <a:endParaRPr lang="en-US" sz="1600" dirty="0"/>
          </a:p>
        </p:txBody>
      </p:sp>
      <p:sp>
        <p:nvSpPr>
          <p:cNvPr id="10" name="Text 7"/>
          <p:cNvSpPr/>
          <p:nvPr/>
        </p:nvSpPr>
        <p:spPr>
          <a:xfrm>
            <a:off x="447413" y="3400339"/>
            <a:ext cx="3252347" cy="619495"/>
          </a:xfrm>
          <a:prstGeom prst="rect">
            <a:avLst/>
          </a:prstGeom>
          <a:noFill/>
          <a:ln/>
        </p:spPr>
        <p:txBody>
          <a:bodyPr wrap="square" lIns="0" tIns="0" rIns="0" bIns="0" rtlCol="0" anchor="ctr"/>
          <a:lstStyle/>
          <a:p>
            <a:pPr>
              <a:lnSpc>
                <a:spcPct val="130000"/>
              </a:lnSpc>
            </a:pPr>
            <a:r>
              <a:rPr lang="en-US" sz="1084" b="1" dirty="0">
                <a:solidFill>
                  <a:srgbClr val="FFFFFF"/>
                </a:solidFill>
                <a:latin typeface="Quattrocento Sans" pitchFamily="34" charset="0"/>
                <a:ea typeface="Quattrocento Sans" pitchFamily="34" charset="-122"/>
                <a:cs typeface="Quattrocento Sans" pitchFamily="34" charset="-120"/>
              </a:rPr>
              <a:t>24 Conv Layers</a:t>
            </a:r>
            <a:r>
              <a:rPr lang="en-US" sz="1084" dirty="0">
                <a:solidFill>
                  <a:srgbClr val="FFFFFF"/>
                </a:solidFill>
                <a:latin typeface="Quattrocento Sans" pitchFamily="34" charset="0"/>
                <a:ea typeface="Quattrocento Sans" pitchFamily="34" charset="-122"/>
                <a:cs typeface="Quattrocento Sans" pitchFamily="34" charset="-120"/>
              </a:rPr>
              <a:t> inspired by GoogLeNet, using 1×1 reduction + 3×3 convolutions instead of inception modules.</a:t>
            </a:r>
            <a:endParaRPr lang="en-US" sz="1600" dirty="0"/>
          </a:p>
        </p:txBody>
      </p:sp>
      <p:sp>
        <p:nvSpPr>
          <p:cNvPr id="11" name="Shape 8"/>
          <p:cNvSpPr/>
          <p:nvPr/>
        </p:nvSpPr>
        <p:spPr>
          <a:xfrm>
            <a:off x="3801826" y="2987343"/>
            <a:ext cx="3390013" cy="1135740"/>
          </a:xfrm>
          <a:custGeom>
            <a:avLst/>
            <a:gdLst/>
            <a:ahLst/>
            <a:cxnLst/>
            <a:rect l="l" t="t" r="r" b="b"/>
            <a:pathLst>
              <a:path w="3390013" h="1135740">
                <a:moveTo>
                  <a:pt x="68837" y="0"/>
                </a:moveTo>
                <a:lnTo>
                  <a:pt x="3321175" y="0"/>
                </a:lnTo>
                <a:cubicBezTo>
                  <a:pt x="3359193" y="0"/>
                  <a:pt x="3390013" y="30819"/>
                  <a:pt x="3390013" y="68837"/>
                </a:cubicBezTo>
                <a:lnTo>
                  <a:pt x="3390013" y="1066903"/>
                </a:lnTo>
                <a:cubicBezTo>
                  <a:pt x="3390013" y="1104921"/>
                  <a:pt x="3359193" y="1135740"/>
                  <a:pt x="3321175" y="1135740"/>
                </a:cubicBezTo>
                <a:lnTo>
                  <a:pt x="68837" y="1135740"/>
                </a:lnTo>
                <a:cubicBezTo>
                  <a:pt x="30819" y="1135740"/>
                  <a:pt x="0" y="1104921"/>
                  <a:pt x="0" y="1066903"/>
                </a:cubicBezTo>
                <a:lnTo>
                  <a:pt x="0" y="68837"/>
                </a:lnTo>
                <a:cubicBezTo>
                  <a:pt x="0" y="30845"/>
                  <a:pt x="30845" y="0"/>
                  <a:pt x="68837" y="0"/>
                </a:cubicBezTo>
                <a:close/>
              </a:path>
            </a:pathLst>
          </a:custGeom>
          <a:solidFill>
            <a:srgbClr val="1F2937"/>
          </a:solidFill>
          <a:ln/>
        </p:spPr>
        <p:txBody>
          <a:bodyPr/>
          <a:lstStyle/>
          <a:p>
            <a:endParaRPr lang="en-US"/>
          </a:p>
        </p:txBody>
      </p:sp>
      <p:sp>
        <p:nvSpPr>
          <p:cNvPr id="12" name="Shape 9"/>
          <p:cNvSpPr/>
          <p:nvPr/>
        </p:nvSpPr>
        <p:spPr>
          <a:xfrm>
            <a:off x="3926586" y="3133612"/>
            <a:ext cx="154874" cy="154874"/>
          </a:xfrm>
          <a:custGeom>
            <a:avLst/>
            <a:gdLst/>
            <a:ahLst/>
            <a:cxnLst/>
            <a:rect l="l" t="t" r="r" b="b"/>
            <a:pathLst>
              <a:path w="154874" h="154874">
                <a:moveTo>
                  <a:pt x="135514" y="77437"/>
                </a:moveTo>
                <a:cubicBezTo>
                  <a:pt x="135514" y="45383"/>
                  <a:pt x="109491" y="19359"/>
                  <a:pt x="77437" y="19359"/>
                </a:cubicBezTo>
                <a:cubicBezTo>
                  <a:pt x="45383" y="19359"/>
                  <a:pt x="19359" y="45383"/>
                  <a:pt x="19359" y="77437"/>
                </a:cubicBezTo>
                <a:cubicBezTo>
                  <a:pt x="19359" y="109491"/>
                  <a:pt x="45383" y="135514"/>
                  <a:pt x="77437" y="135514"/>
                </a:cubicBezTo>
                <a:cubicBezTo>
                  <a:pt x="109491" y="135514"/>
                  <a:pt x="135514" y="109491"/>
                  <a:pt x="135514" y="77437"/>
                </a:cubicBezTo>
                <a:close/>
                <a:moveTo>
                  <a:pt x="0" y="77437"/>
                </a:moveTo>
                <a:cubicBezTo>
                  <a:pt x="0" y="34698"/>
                  <a:pt x="34698" y="0"/>
                  <a:pt x="77437" y="0"/>
                </a:cubicBezTo>
                <a:cubicBezTo>
                  <a:pt x="120175" y="0"/>
                  <a:pt x="154874" y="34698"/>
                  <a:pt x="154874" y="77437"/>
                </a:cubicBezTo>
                <a:cubicBezTo>
                  <a:pt x="154874" y="120175"/>
                  <a:pt x="120175" y="154874"/>
                  <a:pt x="77437" y="154874"/>
                </a:cubicBezTo>
                <a:cubicBezTo>
                  <a:pt x="34698" y="154874"/>
                  <a:pt x="0" y="120175"/>
                  <a:pt x="0" y="77437"/>
                </a:cubicBezTo>
                <a:close/>
                <a:moveTo>
                  <a:pt x="77437" y="101636"/>
                </a:moveTo>
                <a:cubicBezTo>
                  <a:pt x="90793" y="101636"/>
                  <a:pt x="101636" y="90793"/>
                  <a:pt x="101636" y="77437"/>
                </a:cubicBezTo>
                <a:cubicBezTo>
                  <a:pt x="101636" y="64081"/>
                  <a:pt x="90793" y="53238"/>
                  <a:pt x="77437" y="53238"/>
                </a:cubicBezTo>
                <a:cubicBezTo>
                  <a:pt x="64081" y="53238"/>
                  <a:pt x="53238" y="64081"/>
                  <a:pt x="53238" y="77437"/>
                </a:cubicBezTo>
                <a:cubicBezTo>
                  <a:pt x="53238" y="90793"/>
                  <a:pt x="64081" y="101636"/>
                  <a:pt x="77437" y="101636"/>
                </a:cubicBezTo>
                <a:close/>
                <a:moveTo>
                  <a:pt x="77437" y="33879"/>
                </a:moveTo>
                <a:cubicBezTo>
                  <a:pt x="101477" y="33879"/>
                  <a:pt x="120995" y="53396"/>
                  <a:pt x="120995" y="77437"/>
                </a:cubicBezTo>
                <a:cubicBezTo>
                  <a:pt x="120995" y="101477"/>
                  <a:pt x="101477" y="120995"/>
                  <a:pt x="77437" y="120995"/>
                </a:cubicBezTo>
                <a:cubicBezTo>
                  <a:pt x="53396" y="120995"/>
                  <a:pt x="33879" y="101477"/>
                  <a:pt x="33879" y="77437"/>
                </a:cubicBezTo>
                <a:cubicBezTo>
                  <a:pt x="33879" y="53396"/>
                  <a:pt x="53396" y="33879"/>
                  <a:pt x="77437" y="33879"/>
                </a:cubicBezTo>
                <a:close/>
                <a:moveTo>
                  <a:pt x="67757" y="77437"/>
                </a:moveTo>
                <a:cubicBezTo>
                  <a:pt x="67757" y="72095"/>
                  <a:pt x="72095" y="67757"/>
                  <a:pt x="77437" y="67757"/>
                </a:cubicBezTo>
                <a:cubicBezTo>
                  <a:pt x="82779" y="67757"/>
                  <a:pt x="87116" y="72095"/>
                  <a:pt x="87116" y="77437"/>
                </a:cubicBezTo>
                <a:cubicBezTo>
                  <a:pt x="87116" y="82779"/>
                  <a:pt x="82779" y="87116"/>
                  <a:pt x="77437" y="87116"/>
                </a:cubicBezTo>
                <a:cubicBezTo>
                  <a:pt x="72095" y="87116"/>
                  <a:pt x="67757" y="82779"/>
                  <a:pt x="67757" y="77437"/>
                </a:cubicBezTo>
                <a:close/>
              </a:path>
            </a:pathLst>
          </a:custGeom>
          <a:solidFill>
            <a:srgbClr val="FFFFFF"/>
          </a:solidFill>
          <a:ln/>
        </p:spPr>
        <p:txBody>
          <a:bodyPr/>
          <a:lstStyle/>
          <a:p>
            <a:endParaRPr lang="en-US"/>
          </a:p>
        </p:txBody>
      </p:sp>
      <p:sp>
        <p:nvSpPr>
          <p:cNvPr id="13" name="Text 10"/>
          <p:cNvSpPr/>
          <p:nvPr/>
        </p:nvSpPr>
        <p:spPr>
          <a:xfrm>
            <a:off x="4102970" y="3090592"/>
            <a:ext cx="3063057" cy="240915"/>
          </a:xfrm>
          <a:prstGeom prst="rect">
            <a:avLst/>
          </a:prstGeom>
          <a:noFill/>
          <a:ln/>
        </p:spPr>
        <p:txBody>
          <a:bodyPr wrap="square" lIns="0" tIns="0" rIns="0" bIns="0" rtlCol="0" anchor="ctr"/>
          <a:lstStyle/>
          <a:p>
            <a:pPr>
              <a:lnSpc>
                <a:spcPct val="130000"/>
              </a:lnSpc>
            </a:pPr>
            <a:r>
              <a:rPr lang="en-US" sz="1219" b="1" dirty="0">
                <a:solidFill>
                  <a:srgbClr val="FFFFFF"/>
                </a:solidFill>
                <a:latin typeface="Sorts Mill Goudy" pitchFamily="34" charset="0"/>
                <a:ea typeface="Sorts Mill Goudy" pitchFamily="34" charset="-122"/>
                <a:cs typeface="Sorts Mill Goudy" pitchFamily="34" charset="-120"/>
              </a:rPr>
              <a:t>Prediction Head</a:t>
            </a:r>
            <a:endParaRPr lang="en-US" sz="1600" dirty="0"/>
          </a:p>
        </p:txBody>
      </p:sp>
      <p:sp>
        <p:nvSpPr>
          <p:cNvPr id="14" name="Text 11"/>
          <p:cNvSpPr/>
          <p:nvPr/>
        </p:nvSpPr>
        <p:spPr>
          <a:xfrm>
            <a:off x="3905075" y="3400339"/>
            <a:ext cx="3252347" cy="412996"/>
          </a:xfrm>
          <a:prstGeom prst="rect">
            <a:avLst/>
          </a:prstGeom>
          <a:noFill/>
          <a:ln/>
        </p:spPr>
        <p:txBody>
          <a:bodyPr wrap="square" lIns="0" tIns="0" rIns="0" bIns="0" rtlCol="0" anchor="ctr"/>
          <a:lstStyle/>
          <a:p>
            <a:pPr>
              <a:lnSpc>
                <a:spcPct val="130000"/>
              </a:lnSpc>
            </a:pPr>
            <a:r>
              <a:rPr lang="en-US" sz="1084" b="1" dirty="0">
                <a:solidFill>
                  <a:srgbClr val="FFFFFF"/>
                </a:solidFill>
                <a:latin typeface="Quattrocento Sans" pitchFamily="34" charset="0"/>
                <a:ea typeface="Quattrocento Sans" pitchFamily="34" charset="-122"/>
                <a:cs typeface="Quattrocento Sans" pitchFamily="34" charset="-120"/>
              </a:rPr>
              <a:t>2 FC Layers</a:t>
            </a:r>
            <a:r>
              <a:rPr lang="en-US" sz="1084" dirty="0">
                <a:solidFill>
                  <a:srgbClr val="FFFFFF"/>
                </a:solidFill>
                <a:latin typeface="Quattrocento Sans" pitchFamily="34" charset="0"/>
                <a:ea typeface="Quattrocento Sans" pitchFamily="34" charset="-122"/>
                <a:cs typeface="Quattrocento Sans" pitchFamily="34" charset="-120"/>
              </a:rPr>
              <a:t> output S×S×(B×5+C) tensor containing all predictions in one pass.</a:t>
            </a:r>
            <a:endParaRPr lang="en-US" sz="1600" dirty="0"/>
          </a:p>
        </p:txBody>
      </p:sp>
      <p:sp>
        <p:nvSpPr>
          <p:cNvPr id="15" name="Shape 12"/>
          <p:cNvSpPr/>
          <p:nvPr/>
        </p:nvSpPr>
        <p:spPr>
          <a:xfrm>
            <a:off x="361372" y="4191916"/>
            <a:ext cx="6831650" cy="929242"/>
          </a:xfrm>
          <a:custGeom>
            <a:avLst/>
            <a:gdLst/>
            <a:ahLst/>
            <a:cxnLst/>
            <a:rect l="l" t="t" r="r" b="b"/>
            <a:pathLst>
              <a:path w="6831650" h="929242">
                <a:moveTo>
                  <a:pt x="34416" y="0"/>
                </a:moveTo>
                <a:lnTo>
                  <a:pt x="6762821" y="0"/>
                </a:lnTo>
                <a:cubicBezTo>
                  <a:pt x="6800834" y="0"/>
                  <a:pt x="6831650" y="30816"/>
                  <a:pt x="6831650" y="68829"/>
                </a:cubicBezTo>
                <a:lnTo>
                  <a:pt x="6831650" y="860413"/>
                </a:lnTo>
                <a:cubicBezTo>
                  <a:pt x="6831650" y="898426"/>
                  <a:pt x="6800834" y="929242"/>
                  <a:pt x="6762821" y="929242"/>
                </a:cubicBezTo>
                <a:lnTo>
                  <a:pt x="34416" y="929242"/>
                </a:lnTo>
                <a:cubicBezTo>
                  <a:pt x="15409" y="929242"/>
                  <a:pt x="0" y="913833"/>
                  <a:pt x="0" y="894826"/>
                </a:cubicBezTo>
                <a:lnTo>
                  <a:pt x="0" y="34416"/>
                </a:lnTo>
                <a:cubicBezTo>
                  <a:pt x="0" y="15409"/>
                  <a:pt x="15409" y="0"/>
                  <a:pt x="34416" y="0"/>
                </a:cubicBezTo>
                <a:close/>
              </a:path>
            </a:pathLst>
          </a:custGeom>
          <a:solidFill>
            <a:srgbClr val="EFF6FF"/>
          </a:solidFill>
          <a:ln/>
        </p:spPr>
        <p:txBody>
          <a:bodyPr/>
          <a:lstStyle/>
          <a:p>
            <a:endParaRPr lang="en-US"/>
          </a:p>
        </p:txBody>
      </p:sp>
      <p:sp>
        <p:nvSpPr>
          <p:cNvPr id="16" name="Shape 13"/>
          <p:cNvSpPr/>
          <p:nvPr/>
        </p:nvSpPr>
        <p:spPr>
          <a:xfrm>
            <a:off x="361372" y="4191916"/>
            <a:ext cx="34416" cy="929242"/>
          </a:xfrm>
          <a:custGeom>
            <a:avLst/>
            <a:gdLst/>
            <a:ahLst/>
            <a:cxnLst/>
            <a:rect l="l" t="t" r="r" b="b"/>
            <a:pathLst>
              <a:path w="34416" h="929242">
                <a:moveTo>
                  <a:pt x="34416" y="0"/>
                </a:moveTo>
                <a:lnTo>
                  <a:pt x="34416" y="0"/>
                </a:lnTo>
                <a:lnTo>
                  <a:pt x="34416" y="929242"/>
                </a:lnTo>
                <a:lnTo>
                  <a:pt x="34416" y="929242"/>
                </a:lnTo>
                <a:cubicBezTo>
                  <a:pt x="15409" y="929242"/>
                  <a:pt x="0" y="913833"/>
                  <a:pt x="0" y="894826"/>
                </a:cubicBezTo>
                <a:lnTo>
                  <a:pt x="0" y="34416"/>
                </a:lnTo>
                <a:cubicBezTo>
                  <a:pt x="0" y="15409"/>
                  <a:pt x="15409" y="0"/>
                  <a:pt x="34416" y="0"/>
                </a:cubicBezTo>
                <a:close/>
              </a:path>
            </a:pathLst>
          </a:custGeom>
          <a:solidFill>
            <a:srgbClr val="2B7FFF"/>
          </a:solidFill>
          <a:ln/>
        </p:spPr>
        <p:txBody>
          <a:bodyPr/>
          <a:lstStyle/>
          <a:p>
            <a:endParaRPr lang="en-US"/>
          </a:p>
        </p:txBody>
      </p:sp>
      <p:sp>
        <p:nvSpPr>
          <p:cNvPr id="17" name="Shape 14"/>
          <p:cNvSpPr/>
          <p:nvPr/>
        </p:nvSpPr>
        <p:spPr>
          <a:xfrm>
            <a:off x="503339" y="4338185"/>
            <a:ext cx="154874" cy="154874"/>
          </a:xfrm>
          <a:custGeom>
            <a:avLst/>
            <a:gdLst/>
            <a:ahLst/>
            <a:cxnLst/>
            <a:rect l="l" t="t" r="r" b="b"/>
            <a:pathLst>
              <a:path w="154874" h="154874">
                <a:moveTo>
                  <a:pt x="38718" y="96796"/>
                </a:moveTo>
                <a:lnTo>
                  <a:pt x="7411" y="96796"/>
                </a:lnTo>
                <a:cubicBezTo>
                  <a:pt x="-121" y="96796"/>
                  <a:pt x="-4749" y="88599"/>
                  <a:pt x="-877" y="82125"/>
                </a:cubicBezTo>
                <a:lnTo>
                  <a:pt x="15124" y="55446"/>
                </a:lnTo>
                <a:cubicBezTo>
                  <a:pt x="17756" y="51060"/>
                  <a:pt x="22475" y="48398"/>
                  <a:pt x="27587" y="48398"/>
                </a:cubicBezTo>
                <a:lnTo>
                  <a:pt x="56323" y="48398"/>
                </a:lnTo>
                <a:cubicBezTo>
                  <a:pt x="79343" y="9407"/>
                  <a:pt x="113675" y="7441"/>
                  <a:pt x="136634" y="10799"/>
                </a:cubicBezTo>
                <a:cubicBezTo>
                  <a:pt x="140506" y="11374"/>
                  <a:pt x="143530" y="14398"/>
                  <a:pt x="144075" y="18240"/>
                </a:cubicBezTo>
                <a:cubicBezTo>
                  <a:pt x="147432" y="41199"/>
                  <a:pt x="145466" y="75531"/>
                  <a:pt x="106476" y="98550"/>
                </a:cubicBezTo>
                <a:lnTo>
                  <a:pt x="106476" y="127287"/>
                </a:lnTo>
                <a:cubicBezTo>
                  <a:pt x="106476" y="132399"/>
                  <a:pt x="103814" y="137118"/>
                  <a:pt x="99428" y="139749"/>
                </a:cubicBezTo>
                <a:lnTo>
                  <a:pt x="72748" y="155751"/>
                </a:lnTo>
                <a:cubicBezTo>
                  <a:pt x="66305" y="159623"/>
                  <a:pt x="58078" y="154964"/>
                  <a:pt x="58078" y="147463"/>
                </a:cubicBezTo>
                <a:lnTo>
                  <a:pt x="58078" y="116155"/>
                </a:lnTo>
                <a:cubicBezTo>
                  <a:pt x="58078" y="105477"/>
                  <a:pt x="49396" y="96796"/>
                  <a:pt x="38718" y="96796"/>
                </a:cubicBezTo>
                <a:lnTo>
                  <a:pt x="38688" y="96796"/>
                </a:lnTo>
                <a:close/>
                <a:moveTo>
                  <a:pt x="120995" y="48398"/>
                </a:moveTo>
                <a:cubicBezTo>
                  <a:pt x="120995" y="40385"/>
                  <a:pt x="114489" y="33879"/>
                  <a:pt x="106476" y="33879"/>
                </a:cubicBezTo>
                <a:cubicBezTo>
                  <a:pt x="98462" y="33879"/>
                  <a:pt x="91956" y="40385"/>
                  <a:pt x="91956" y="48398"/>
                </a:cubicBezTo>
                <a:cubicBezTo>
                  <a:pt x="91956" y="56412"/>
                  <a:pt x="98462" y="62917"/>
                  <a:pt x="106476" y="62917"/>
                </a:cubicBezTo>
                <a:cubicBezTo>
                  <a:pt x="114489" y="62917"/>
                  <a:pt x="120995" y="56412"/>
                  <a:pt x="120995" y="48398"/>
                </a:cubicBezTo>
                <a:close/>
              </a:path>
            </a:pathLst>
          </a:custGeom>
          <a:solidFill>
            <a:srgbClr val="1C398E"/>
          </a:solidFill>
          <a:ln/>
        </p:spPr>
        <p:txBody>
          <a:bodyPr/>
          <a:lstStyle/>
          <a:p>
            <a:endParaRPr lang="en-US"/>
          </a:p>
        </p:txBody>
      </p:sp>
      <p:sp>
        <p:nvSpPr>
          <p:cNvPr id="18" name="Text 15"/>
          <p:cNvSpPr/>
          <p:nvPr/>
        </p:nvSpPr>
        <p:spPr>
          <a:xfrm>
            <a:off x="679723" y="4295165"/>
            <a:ext cx="6487486" cy="240915"/>
          </a:xfrm>
          <a:prstGeom prst="rect">
            <a:avLst/>
          </a:prstGeom>
          <a:noFill/>
          <a:ln/>
        </p:spPr>
        <p:txBody>
          <a:bodyPr wrap="square" lIns="0" tIns="0" rIns="0" bIns="0" rtlCol="0" anchor="ctr"/>
          <a:lstStyle/>
          <a:p>
            <a:pPr>
              <a:lnSpc>
                <a:spcPct val="130000"/>
              </a:lnSpc>
            </a:pPr>
            <a:r>
              <a:rPr lang="en-US" sz="1219" b="1" dirty="0">
                <a:solidFill>
                  <a:srgbClr val="1C398E"/>
                </a:solidFill>
                <a:latin typeface="Sorts Mill Goudy" pitchFamily="34" charset="0"/>
                <a:ea typeface="Sorts Mill Goudy" pitchFamily="34" charset="-122"/>
                <a:cs typeface="Sorts Mill Goudy" pitchFamily="34" charset="-120"/>
              </a:rPr>
              <a:t>Fast YOLO Variant</a:t>
            </a:r>
            <a:endParaRPr lang="en-US" sz="1600" dirty="0"/>
          </a:p>
        </p:txBody>
      </p:sp>
      <p:sp>
        <p:nvSpPr>
          <p:cNvPr id="19" name="Text 16"/>
          <p:cNvSpPr/>
          <p:nvPr/>
        </p:nvSpPr>
        <p:spPr>
          <a:xfrm>
            <a:off x="481829" y="4604912"/>
            <a:ext cx="6676776" cy="412996"/>
          </a:xfrm>
          <a:prstGeom prst="rect">
            <a:avLst/>
          </a:prstGeom>
          <a:noFill/>
          <a:ln/>
        </p:spPr>
        <p:txBody>
          <a:bodyPr wrap="square" lIns="0" tIns="0" rIns="0" bIns="0" rtlCol="0" anchor="ctr"/>
          <a:lstStyle/>
          <a:p>
            <a:pPr>
              <a:lnSpc>
                <a:spcPct val="130000"/>
              </a:lnSpc>
            </a:pPr>
            <a:r>
              <a:rPr lang="en-US" sz="1084" dirty="0">
                <a:solidFill>
                  <a:srgbClr val="1C398E"/>
                </a:solidFill>
                <a:latin typeface="Quattrocento Sans" pitchFamily="34" charset="0"/>
                <a:ea typeface="Quattrocento Sans" pitchFamily="34" charset="-122"/>
                <a:cs typeface="Quattrocento Sans" pitchFamily="34" charset="-120"/>
              </a:rPr>
              <a:t>Uses </a:t>
            </a:r>
            <a:r>
              <a:rPr lang="en-US" sz="1084" b="1" dirty="0">
                <a:solidFill>
                  <a:srgbClr val="1C398E"/>
                </a:solidFill>
                <a:latin typeface="Quattrocento Sans" pitchFamily="34" charset="0"/>
                <a:ea typeface="Quattrocento Sans" pitchFamily="34" charset="-122"/>
                <a:cs typeface="Quattrocento Sans" pitchFamily="34" charset="-120"/>
              </a:rPr>
              <a:t>9 convolutional layers</a:t>
            </a:r>
            <a:r>
              <a:rPr lang="en-US" sz="1084" dirty="0">
                <a:solidFill>
                  <a:srgbClr val="1C398E"/>
                </a:solidFill>
                <a:latin typeface="Quattrocento Sans" pitchFamily="34" charset="0"/>
                <a:ea typeface="Quattrocento Sans" pitchFamily="34" charset="-122"/>
                <a:cs typeface="Quattrocento Sans" pitchFamily="34" charset="-120"/>
              </a:rPr>
              <a:t> with fewer filters. Same hyperparameters as YOLO but </a:t>
            </a:r>
            <a:r>
              <a:rPr lang="en-US" sz="1084" b="1" dirty="0">
                <a:solidFill>
                  <a:srgbClr val="1C398E"/>
                </a:solidFill>
                <a:latin typeface="Quattrocento Sans" pitchFamily="34" charset="0"/>
                <a:ea typeface="Quattrocento Sans" pitchFamily="34" charset="-122"/>
                <a:cs typeface="Quattrocento Sans" pitchFamily="34" charset="-120"/>
              </a:rPr>
              <a:t>3x faster</a:t>
            </a:r>
            <a:r>
              <a:rPr lang="en-US" sz="1084" dirty="0">
                <a:solidFill>
                  <a:srgbClr val="1C398E"/>
                </a:solidFill>
                <a:latin typeface="Quattrocento Sans" pitchFamily="34" charset="0"/>
                <a:ea typeface="Quattrocento Sans" pitchFamily="34" charset="-122"/>
                <a:cs typeface="Quattrocento Sans" pitchFamily="34" charset="-120"/>
              </a:rPr>
              <a:t> with slightly lower accuracy.</a:t>
            </a:r>
            <a:endParaRPr lang="en-US" sz="1600" dirty="0"/>
          </a:p>
        </p:txBody>
      </p:sp>
      <p:sp>
        <p:nvSpPr>
          <p:cNvPr id="20" name="Shape 17"/>
          <p:cNvSpPr/>
          <p:nvPr/>
        </p:nvSpPr>
        <p:spPr>
          <a:xfrm>
            <a:off x="7335205" y="1004958"/>
            <a:ext cx="4505103" cy="3257510"/>
          </a:xfrm>
          <a:custGeom>
            <a:avLst/>
            <a:gdLst/>
            <a:ahLst/>
            <a:cxnLst/>
            <a:rect l="l" t="t" r="r" b="b"/>
            <a:pathLst>
              <a:path w="4505103" h="3257510">
                <a:moveTo>
                  <a:pt x="68831" y="0"/>
                </a:moveTo>
                <a:lnTo>
                  <a:pt x="4436272" y="0"/>
                </a:lnTo>
                <a:cubicBezTo>
                  <a:pt x="4474286" y="0"/>
                  <a:pt x="4505103" y="30817"/>
                  <a:pt x="4505103" y="68831"/>
                </a:cubicBezTo>
                <a:lnTo>
                  <a:pt x="4505103" y="3188678"/>
                </a:lnTo>
                <a:cubicBezTo>
                  <a:pt x="4505103" y="3226693"/>
                  <a:pt x="4474286" y="3257510"/>
                  <a:pt x="4436272" y="3257510"/>
                </a:cubicBezTo>
                <a:lnTo>
                  <a:pt x="68831" y="3257510"/>
                </a:lnTo>
                <a:cubicBezTo>
                  <a:pt x="30817" y="3257510"/>
                  <a:pt x="0" y="3226693"/>
                  <a:pt x="0" y="3188678"/>
                </a:cubicBezTo>
                <a:lnTo>
                  <a:pt x="0" y="68831"/>
                </a:lnTo>
                <a:cubicBezTo>
                  <a:pt x="0" y="30842"/>
                  <a:pt x="30842" y="0"/>
                  <a:pt x="68831" y="0"/>
                </a:cubicBezTo>
                <a:close/>
              </a:path>
            </a:pathLst>
          </a:custGeom>
          <a:solidFill>
            <a:srgbClr val="F9FAFB"/>
          </a:solidFill>
          <a:ln w="20320">
            <a:solidFill>
              <a:srgbClr val="1F2937"/>
            </a:solidFill>
            <a:prstDash val="solid"/>
          </a:ln>
        </p:spPr>
        <p:txBody>
          <a:bodyPr/>
          <a:lstStyle/>
          <a:p>
            <a:endParaRPr lang="en-US"/>
          </a:p>
        </p:txBody>
      </p:sp>
      <p:sp>
        <p:nvSpPr>
          <p:cNvPr id="21" name="Text 18"/>
          <p:cNvSpPr/>
          <p:nvPr/>
        </p:nvSpPr>
        <p:spPr>
          <a:xfrm>
            <a:off x="7445337" y="1115091"/>
            <a:ext cx="4362275" cy="240915"/>
          </a:xfrm>
          <a:prstGeom prst="rect">
            <a:avLst/>
          </a:prstGeom>
          <a:noFill/>
          <a:ln/>
        </p:spPr>
        <p:txBody>
          <a:bodyPr wrap="square" lIns="0" tIns="0" rIns="0" bIns="0" rtlCol="0" anchor="ctr"/>
          <a:lstStyle/>
          <a:p>
            <a:pPr>
              <a:lnSpc>
                <a:spcPct val="130000"/>
              </a:lnSpc>
            </a:pPr>
            <a:r>
              <a:rPr lang="en-US" sz="1219" b="1" dirty="0">
                <a:solidFill>
                  <a:srgbClr val="1F2937"/>
                </a:solidFill>
                <a:latin typeface="Sorts Mill Goudy" pitchFamily="34" charset="0"/>
                <a:ea typeface="Sorts Mill Goudy" pitchFamily="34" charset="-122"/>
                <a:cs typeface="Sorts Mill Goudy" pitchFamily="34" charset="-120"/>
              </a:rPr>
              <a:t>Complete Pipeline</a:t>
            </a:r>
            <a:endParaRPr lang="en-US" sz="1600" dirty="0"/>
          </a:p>
        </p:txBody>
      </p:sp>
      <p:sp>
        <p:nvSpPr>
          <p:cNvPr id="22" name="Shape 19"/>
          <p:cNvSpPr/>
          <p:nvPr/>
        </p:nvSpPr>
        <p:spPr>
          <a:xfrm>
            <a:off x="7448779" y="1428280"/>
            <a:ext cx="4274513" cy="523129"/>
          </a:xfrm>
          <a:custGeom>
            <a:avLst/>
            <a:gdLst/>
            <a:ahLst/>
            <a:cxnLst/>
            <a:rect l="l" t="t" r="r" b="b"/>
            <a:pathLst>
              <a:path w="4274513" h="523129">
                <a:moveTo>
                  <a:pt x="34417" y="0"/>
                </a:moveTo>
                <a:lnTo>
                  <a:pt x="4240097" y="0"/>
                </a:lnTo>
                <a:cubicBezTo>
                  <a:pt x="4259105" y="0"/>
                  <a:pt x="4274513" y="15409"/>
                  <a:pt x="4274513" y="34417"/>
                </a:cubicBezTo>
                <a:lnTo>
                  <a:pt x="4274513" y="488712"/>
                </a:lnTo>
                <a:cubicBezTo>
                  <a:pt x="4274513" y="507720"/>
                  <a:pt x="4259105" y="523129"/>
                  <a:pt x="4240097" y="523129"/>
                </a:cubicBezTo>
                <a:lnTo>
                  <a:pt x="34417" y="523129"/>
                </a:lnTo>
                <a:cubicBezTo>
                  <a:pt x="15409" y="523129"/>
                  <a:pt x="0" y="507720"/>
                  <a:pt x="0" y="488712"/>
                </a:cubicBezTo>
                <a:lnTo>
                  <a:pt x="0" y="34417"/>
                </a:lnTo>
                <a:cubicBezTo>
                  <a:pt x="0" y="15422"/>
                  <a:pt x="15422" y="0"/>
                  <a:pt x="34417" y="0"/>
                </a:cubicBezTo>
                <a:close/>
              </a:path>
            </a:pathLst>
          </a:custGeom>
          <a:solidFill>
            <a:srgbClr val="FFFFFF"/>
          </a:solidFill>
          <a:ln w="10160">
            <a:solidFill>
              <a:srgbClr val="D1D5DC"/>
            </a:solidFill>
            <a:prstDash val="solid"/>
          </a:ln>
        </p:spPr>
        <p:txBody>
          <a:bodyPr/>
          <a:lstStyle/>
          <a:p>
            <a:endParaRPr lang="en-US"/>
          </a:p>
        </p:txBody>
      </p:sp>
      <p:sp>
        <p:nvSpPr>
          <p:cNvPr id="23" name="Shape 20"/>
          <p:cNvSpPr/>
          <p:nvPr/>
        </p:nvSpPr>
        <p:spPr>
          <a:xfrm>
            <a:off x="7521053" y="1552178"/>
            <a:ext cx="275331" cy="275331"/>
          </a:xfrm>
          <a:custGeom>
            <a:avLst/>
            <a:gdLst/>
            <a:ahLst/>
            <a:cxnLst/>
            <a:rect l="l" t="t" r="r" b="b"/>
            <a:pathLst>
              <a:path w="275331" h="275331">
                <a:moveTo>
                  <a:pt x="137665" y="0"/>
                </a:moveTo>
                <a:lnTo>
                  <a:pt x="137665" y="0"/>
                </a:lnTo>
                <a:cubicBezTo>
                  <a:pt x="213696" y="0"/>
                  <a:pt x="275331" y="61635"/>
                  <a:pt x="275331" y="137665"/>
                </a:cubicBezTo>
                <a:lnTo>
                  <a:pt x="275331" y="137665"/>
                </a:lnTo>
                <a:cubicBezTo>
                  <a:pt x="275331" y="213696"/>
                  <a:pt x="213696" y="275331"/>
                  <a:pt x="137665" y="275331"/>
                </a:cubicBezTo>
                <a:lnTo>
                  <a:pt x="137665" y="275331"/>
                </a:lnTo>
                <a:cubicBezTo>
                  <a:pt x="61635" y="275331"/>
                  <a:pt x="0" y="213696"/>
                  <a:pt x="0" y="137665"/>
                </a:cubicBezTo>
                <a:lnTo>
                  <a:pt x="0" y="137665"/>
                </a:lnTo>
                <a:cubicBezTo>
                  <a:pt x="0" y="61635"/>
                  <a:pt x="61635" y="0"/>
                  <a:pt x="137665" y="0"/>
                </a:cubicBezTo>
                <a:close/>
              </a:path>
            </a:pathLst>
          </a:custGeom>
          <a:solidFill>
            <a:srgbClr val="8B0000"/>
          </a:solidFill>
          <a:ln/>
        </p:spPr>
        <p:txBody>
          <a:bodyPr/>
          <a:lstStyle/>
          <a:p>
            <a:endParaRPr lang="en-US"/>
          </a:p>
        </p:txBody>
      </p:sp>
      <p:sp>
        <p:nvSpPr>
          <p:cNvPr id="24" name="Text 21"/>
          <p:cNvSpPr/>
          <p:nvPr/>
        </p:nvSpPr>
        <p:spPr>
          <a:xfrm>
            <a:off x="7490939" y="1552178"/>
            <a:ext cx="335560" cy="275331"/>
          </a:xfrm>
          <a:prstGeom prst="rect">
            <a:avLst/>
          </a:prstGeom>
          <a:noFill/>
          <a:ln/>
        </p:spPr>
        <p:txBody>
          <a:bodyPr wrap="square" lIns="0" tIns="0" rIns="0" bIns="0" rtlCol="0" anchor="ctr"/>
          <a:lstStyle/>
          <a:p>
            <a:pPr algn="ctr">
              <a:lnSpc>
                <a:spcPct val="120000"/>
              </a:lnSpc>
            </a:pPr>
            <a:r>
              <a:rPr lang="en-US" sz="948"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5" name="Text 22"/>
          <p:cNvSpPr/>
          <p:nvPr/>
        </p:nvSpPr>
        <p:spPr>
          <a:xfrm>
            <a:off x="7865217" y="1500553"/>
            <a:ext cx="963658"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Input</a:t>
            </a:r>
            <a:endParaRPr lang="en-US" sz="1600" dirty="0"/>
          </a:p>
        </p:txBody>
      </p:sp>
      <p:sp>
        <p:nvSpPr>
          <p:cNvPr id="26" name="Text 23"/>
          <p:cNvSpPr/>
          <p:nvPr/>
        </p:nvSpPr>
        <p:spPr>
          <a:xfrm>
            <a:off x="7865217" y="1707051"/>
            <a:ext cx="955054" cy="172082"/>
          </a:xfrm>
          <a:prstGeom prst="rect">
            <a:avLst/>
          </a:prstGeom>
          <a:noFill/>
          <a:ln/>
        </p:spPr>
        <p:txBody>
          <a:bodyPr wrap="square" lIns="0" tIns="0" rIns="0" bIns="0" rtlCol="0" anchor="ctr"/>
          <a:lstStyle/>
          <a:p>
            <a:pPr>
              <a:lnSpc>
                <a:spcPct val="120000"/>
              </a:lnSpc>
            </a:pPr>
            <a:r>
              <a:rPr lang="en-US" sz="948" dirty="0">
                <a:solidFill>
                  <a:srgbClr val="6B7280"/>
                </a:solidFill>
                <a:latin typeface="Quattrocento Sans" pitchFamily="34" charset="0"/>
                <a:ea typeface="Quattrocento Sans" pitchFamily="34" charset="-122"/>
                <a:cs typeface="Quattrocento Sans" pitchFamily="34" charset="-120"/>
              </a:rPr>
              <a:t>448×448×3 image</a:t>
            </a:r>
            <a:endParaRPr lang="en-US" sz="1600" dirty="0"/>
          </a:p>
        </p:txBody>
      </p:sp>
      <p:sp>
        <p:nvSpPr>
          <p:cNvPr id="27" name="Shape 24"/>
          <p:cNvSpPr/>
          <p:nvPr/>
        </p:nvSpPr>
        <p:spPr>
          <a:xfrm>
            <a:off x="9535917" y="1989268"/>
            <a:ext cx="103249" cy="137665"/>
          </a:xfrm>
          <a:custGeom>
            <a:avLst/>
            <a:gdLst/>
            <a:ahLst/>
            <a:cxnLst/>
            <a:rect l="l" t="t" r="r" b="b"/>
            <a:pathLst>
              <a:path w="103249" h="137665">
                <a:moveTo>
                  <a:pt x="45548" y="135138"/>
                </a:moveTo>
                <a:cubicBezTo>
                  <a:pt x="48909" y="138499"/>
                  <a:pt x="54367" y="138499"/>
                  <a:pt x="57728" y="135138"/>
                </a:cubicBezTo>
                <a:lnTo>
                  <a:pt x="100749" y="92118"/>
                </a:lnTo>
                <a:cubicBezTo>
                  <a:pt x="104110" y="88757"/>
                  <a:pt x="104110" y="83298"/>
                  <a:pt x="100749" y="79937"/>
                </a:cubicBezTo>
                <a:cubicBezTo>
                  <a:pt x="97388" y="76576"/>
                  <a:pt x="91929" y="76576"/>
                  <a:pt x="88568" y="79937"/>
                </a:cubicBezTo>
                <a:lnTo>
                  <a:pt x="60229" y="108277"/>
                </a:lnTo>
                <a:lnTo>
                  <a:pt x="60229" y="8604"/>
                </a:lnTo>
                <a:cubicBezTo>
                  <a:pt x="60229" y="3845"/>
                  <a:pt x="56384" y="0"/>
                  <a:pt x="51625" y="0"/>
                </a:cubicBezTo>
                <a:cubicBezTo>
                  <a:pt x="46865" y="0"/>
                  <a:pt x="43020" y="3845"/>
                  <a:pt x="43020" y="8604"/>
                </a:cubicBezTo>
                <a:lnTo>
                  <a:pt x="43020" y="108277"/>
                </a:lnTo>
                <a:lnTo>
                  <a:pt x="14681" y="79937"/>
                </a:lnTo>
                <a:cubicBezTo>
                  <a:pt x="11320" y="76576"/>
                  <a:pt x="5862" y="76576"/>
                  <a:pt x="2501" y="79937"/>
                </a:cubicBezTo>
                <a:cubicBezTo>
                  <a:pt x="-860" y="83298"/>
                  <a:pt x="-860" y="88757"/>
                  <a:pt x="2501" y="92118"/>
                </a:cubicBezTo>
                <a:lnTo>
                  <a:pt x="45521" y="135138"/>
                </a:lnTo>
                <a:close/>
              </a:path>
            </a:pathLst>
          </a:custGeom>
          <a:solidFill>
            <a:srgbClr val="8B0000"/>
          </a:solidFill>
          <a:ln/>
        </p:spPr>
        <p:txBody>
          <a:bodyPr/>
          <a:lstStyle/>
          <a:p>
            <a:endParaRPr lang="en-US"/>
          </a:p>
        </p:txBody>
      </p:sp>
      <p:sp>
        <p:nvSpPr>
          <p:cNvPr id="28" name="Shape 25"/>
          <p:cNvSpPr/>
          <p:nvPr/>
        </p:nvSpPr>
        <p:spPr>
          <a:xfrm>
            <a:off x="7448779" y="2164792"/>
            <a:ext cx="4274513" cy="523129"/>
          </a:xfrm>
          <a:custGeom>
            <a:avLst/>
            <a:gdLst/>
            <a:ahLst/>
            <a:cxnLst/>
            <a:rect l="l" t="t" r="r" b="b"/>
            <a:pathLst>
              <a:path w="4274513" h="523129">
                <a:moveTo>
                  <a:pt x="34417" y="0"/>
                </a:moveTo>
                <a:lnTo>
                  <a:pt x="4240097" y="0"/>
                </a:lnTo>
                <a:cubicBezTo>
                  <a:pt x="4259105" y="0"/>
                  <a:pt x="4274513" y="15409"/>
                  <a:pt x="4274513" y="34417"/>
                </a:cubicBezTo>
                <a:lnTo>
                  <a:pt x="4274513" y="488712"/>
                </a:lnTo>
                <a:cubicBezTo>
                  <a:pt x="4274513" y="507720"/>
                  <a:pt x="4259105" y="523129"/>
                  <a:pt x="4240097" y="523129"/>
                </a:cubicBezTo>
                <a:lnTo>
                  <a:pt x="34417" y="523129"/>
                </a:lnTo>
                <a:cubicBezTo>
                  <a:pt x="15409" y="523129"/>
                  <a:pt x="0" y="507720"/>
                  <a:pt x="0" y="488712"/>
                </a:cubicBezTo>
                <a:lnTo>
                  <a:pt x="0" y="34417"/>
                </a:lnTo>
                <a:cubicBezTo>
                  <a:pt x="0" y="15422"/>
                  <a:pt x="15422" y="0"/>
                  <a:pt x="34417" y="0"/>
                </a:cubicBezTo>
                <a:close/>
              </a:path>
            </a:pathLst>
          </a:custGeom>
          <a:solidFill>
            <a:srgbClr val="FFFFFF"/>
          </a:solidFill>
          <a:ln w="10160">
            <a:solidFill>
              <a:srgbClr val="D1D5DC"/>
            </a:solidFill>
            <a:prstDash val="solid"/>
          </a:ln>
        </p:spPr>
        <p:txBody>
          <a:bodyPr/>
          <a:lstStyle/>
          <a:p>
            <a:endParaRPr lang="en-US"/>
          </a:p>
        </p:txBody>
      </p:sp>
      <p:sp>
        <p:nvSpPr>
          <p:cNvPr id="29" name="Shape 26"/>
          <p:cNvSpPr/>
          <p:nvPr/>
        </p:nvSpPr>
        <p:spPr>
          <a:xfrm>
            <a:off x="7521053" y="2288689"/>
            <a:ext cx="275331" cy="275331"/>
          </a:xfrm>
          <a:custGeom>
            <a:avLst/>
            <a:gdLst/>
            <a:ahLst/>
            <a:cxnLst/>
            <a:rect l="l" t="t" r="r" b="b"/>
            <a:pathLst>
              <a:path w="275331" h="275331">
                <a:moveTo>
                  <a:pt x="137665" y="0"/>
                </a:moveTo>
                <a:lnTo>
                  <a:pt x="137665" y="0"/>
                </a:lnTo>
                <a:cubicBezTo>
                  <a:pt x="213696" y="0"/>
                  <a:pt x="275331" y="61635"/>
                  <a:pt x="275331" y="137665"/>
                </a:cubicBezTo>
                <a:lnTo>
                  <a:pt x="275331" y="137665"/>
                </a:lnTo>
                <a:cubicBezTo>
                  <a:pt x="275331" y="213696"/>
                  <a:pt x="213696" y="275331"/>
                  <a:pt x="137665" y="275331"/>
                </a:cubicBezTo>
                <a:lnTo>
                  <a:pt x="137665" y="275331"/>
                </a:lnTo>
                <a:cubicBezTo>
                  <a:pt x="61635" y="275331"/>
                  <a:pt x="0" y="213696"/>
                  <a:pt x="0" y="137665"/>
                </a:cubicBezTo>
                <a:lnTo>
                  <a:pt x="0" y="137665"/>
                </a:lnTo>
                <a:cubicBezTo>
                  <a:pt x="0" y="61635"/>
                  <a:pt x="61635" y="0"/>
                  <a:pt x="137665" y="0"/>
                </a:cubicBezTo>
                <a:close/>
              </a:path>
            </a:pathLst>
          </a:custGeom>
          <a:solidFill>
            <a:srgbClr val="8B0000"/>
          </a:solidFill>
          <a:ln/>
        </p:spPr>
        <p:txBody>
          <a:bodyPr/>
          <a:lstStyle/>
          <a:p>
            <a:endParaRPr lang="en-US"/>
          </a:p>
        </p:txBody>
      </p:sp>
      <p:sp>
        <p:nvSpPr>
          <p:cNvPr id="30" name="Text 27"/>
          <p:cNvSpPr/>
          <p:nvPr/>
        </p:nvSpPr>
        <p:spPr>
          <a:xfrm>
            <a:off x="7490939" y="2288689"/>
            <a:ext cx="335560" cy="275331"/>
          </a:xfrm>
          <a:prstGeom prst="rect">
            <a:avLst/>
          </a:prstGeom>
          <a:noFill/>
          <a:ln/>
        </p:spPr>
        <p:txBody>
          <a:bodyPr wrap="square" lIns="0" tIns="0" rIns="0" bIns="0" rtlCol="0" anchor="ctr"/>
          <a:lstStyle/>
          <a:p>
            <a:pPr algn="ctr">
              <a:lnSpc>
                <a:spcPct val="120000"/>
              </a:lnSpc>
            </a:pPr>
            <a:r>
              <a:rPr lang="en-US" sz="948"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1" name="Text 28"/>
          <p:cNvSpPr/>
          <p:nvPr/>
        </p:nvSpPr>
        <p:spPr>
          <a:xfrm>
            <a:off x="7865217" y="2237064"/>
            <a:ext cx="1462696"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CNN Feature Extraction</a:t>
            </a:r>
            <a:endParaRPr lang="en-US" sz="1600" dirty="0"/>
          </a:p>
        </p:txBody>
      </p:sp>
      <p:sp>
        <p:nvSpPr>
          <p:cNvPr id="32" name="Text 29"/>
          <p:cNvSpPr/>
          <p:nvPr/>
        </p:nvSpPr>
        <p:spPr>
          <a:xfrm>
            <a:off x="7865217" y="2443562"/>
            <a:ext cx="1454092" cy="172082"/>
          </a:xfrm>
          <a:prstGeom prst="rect">
            <a:avLst/>
          </a:prstGeom>
          <a:noFill/>
          <a:ln/>
        </p:spPr>
        <p:txBody>
          <a:bodyPr wrap="square" lIns="0" tIns="0" rIns="0" bIns="0" rtlCol="0" anchor="ctr"/>
          <a:lstStyle/>
          <a:p>
            <a:pPr>
              <a:lnSpc>
                <a:spcPct val="120000"/>
              </a:lnSpc>
            </a:pPr>
            <a:r>
              <a:rPr lang="en-US" sz="948" dirty="0">
                <a:solidFill>
                  <a:srgbClr val="6B7280"/>
                </a:solidFill>
                <a:latin typeface="Quattrocento Sans" pitchFamily="34" charset="0"/>
                <a:ea typeface="Quattrocento Sans" pitchFamily="34" charset="-122"/>
                <a:cs typeface="Quattrocento Sans" pitchFamily="34" charset="-120"/>
              </a:rPr>
              <a:t>24 Conv layers</a:t>
            </a:r>
            <a:endParaRPr lang="en-US" sz="1600" dirty="0"/>
          </a:p>
        </p:txBody>
      </p:sp>
      <p:sp>
        <p:nvSpPr>
          <p:cNvPr id="33" name="Shape 30"/>
          <p:cNvSpPr/>
          <p:nvPr/>
        </p:nvSpPr>
        <p:spPr>
          <a:xfrm>
            <a:off x="9535917" y="2725779"/>
            <a:ext cx="103249" cy="137665"/>
          </a:xfrm>
          <a:custGeom>
            <a:avLst/>
            <a:gdLst/>
            <a:ahLst/>
            <a:cxnLst/>
            <a:rect l="l" t="t" r="r" b="b"/>
            <a:pathLst>
              <a:path w="103249" h="137665">
                <a:moveTo>
                  <a:pt x="45548" y="135138"/>
                </a:moveTo>
                <a:cubicBezTo>
                  <a:pt x="48909" y="138499"/>
                  <a:pt x="54367" y="138499"/>
                  <a:pt x="57728" y="135138"/>
                </a:cubicBezTo>
                <a:lnTo>
                  <a:pt x="100749" y="92118"/>
                </a:lnTo>
                <a:cubicBezTo>
                  <a:pt x="104110" y="88757"/>
                  <a:pt x="104110" y="83298"/>
                  <a:pt x="100749" y="79937"/>
                </a:cubicBezTo>
                <a:cubicBezTo>
                  <a:pt x="97388" y="76576"/>
                  <a:pt x="91929" y="76576"/>
                  <a:pt x="88568" y="79937"/>
                </a:cubicBezTo>
                <a:lnTo>
                  <a:pt x="60229" y="108277"/>
                </a:lnTo>
                <a:lnTo>
                  <a:pt x="60229" y="8604"/>
                </a:lnTo>
                <a:cubicBezTo>
                  <a:pt x="60229" y="3845"/>
                  <a:pt x="56384" y="0"/>
                  <a:pt x="51625" y="0"/>
                </a:cubicBezTo>
                <a:cubicBezTo>
                  <a:pt x="46865" y="0"/>
                  <a:pt x="43020" y="3845"/>
                  <a:pt x="43020" y="8604"/>
                </a:cubicBezTo>
                <a:lnTo>
                  <a:pt x="43020" y="108277"/>
                </a:lnTo>
                <a:lnTo>
                  <a:pt x="14681" y="79937"/>
                </a:lnTo>
                <a:cubicBezTo>
                  <a:pt x="11320" y="76576"/>
                  <a:pt x="5862" y="76576"/>
                  <a:pt x="2501" y="79937"/>
                </a:cubicBezTo>
                <a:cubicBezTo>
                  <a:pt x="-860" y="83298"/>
                  <a:pt x="-860" y="88757"/>
                  <a:pt x="2501" y="92118"/>
                </a:cubicBezTo>
                <a:lnTo>
                  <a:pt x="45521" y="135138"/>
                </a:lnTo>
                <a:close/>
              </a:path>
            </a:pathLst>
          </a:custGeom>
          <a:solidFill>
            <a:srgbClr val="8B0000"/>
          </a:solidFill>
          <a:ln/>
        </p:spPr>
        <p:txBody>
          <a:bodyPr/>
          <a:lstStyle/>
          <a:p>
            <a:endParaRPr lang="en-US"/>
          </a:p>
        </p:txBody>
      </p:sp>
      <p:sp>
        <p:nvSpPr>
          <p:cNvPr id="34" name="Shape 31"/>
          <p:cNvSpPr/>
          <p:nvPr/>
        </p:nvSpPr>
        <p:spPr>
          <a:xfrm>
            <a:off x="7448779" y="2901303"/>
            <a:ext cx="4274513" cy="523129"/>
          </a:xfrm>
          <a:custGeom>
            <a:avLst/>
            <a:gdLst/>
            <a:ahLst/>
            <a:cxnLst/>
            <a:rect l="l" t="t" r="r" b="b"/>
            <a:pathLst>
              <a:path w="4274513" h="523129">
                <a:moveTo>
                  <a:pt x="34417" y="0"/>
                </a:moveTo>
                <a:lnTo>
                  <a:pt x="4240097" y="0"/>
                </a:lnTo>
                <a:cubicBezTo>
                  <a:pt x="4259105" y="0"/>
                  <a:pt x="4274513" y="15409"/>
                  <a:pt x="4274513" y="34417"/>
                </a:cubicBezTo>
                <a:lnTo>
                  <a:pt x="4274513" y="488712"/>
                </a:lnTo>
                <a:cubicBezTo>
                  <a:pt x="4274513" y="507720"/>
                  <a:pt x="4259105" y="523129"/>
                  <a:pt x="4240097" y="523129"/>
                </a:cubicBezTo>
                <a:lnTo>
                  <a:pt x="34417" y="523129"/>
                </a:lnTo>
                <a:cubicBezTo>
                  <a:pt x="15409" y="523129"/>
                  <a:pt x="0" y="507720"/>
                  <a:pt x="0" y="488712"/>
                </a:cubicBezTo>
                <a:lnTo>
                  <a:pt x="0" y="34417"/>
                </a:lnTo>
                <a:cubicBezTo>
                  <a:pt x="0" y="15422"/>
                  <a:pt x="15422" y="0"/>
                  <a:pt x="34417" y="0"/>
                </a:cubicBezTo>
                <a:close/>
              </a:path>
            </a:pathLst>
          </a:custGeom>
          <a:solidFill>
            <a:srgbClr val="FFFFFF"/>
          </a:solidFill>
          <a:ln w="10160">
            <a:solidFill>
              <a:srgbClr val="D1D5DC"/>
            </a:solidFill>
            <a:prstDash val="solid"/>
          </a:ln>
        </p:spPr>
        <p:txBody>
          <a:bodyPr/>
          <a:lstStyle/>
          <a:p>
            <a:endParaRPr lang="en-US"/>
          </a:p>
        </p:txBody>
      </p:sp>
      <p:sp>
        <p:nvSpPr>
          <p:cNvPr id="35" name="Shape 32"/>
          <p:cNvSpPr/>
          <p:nvPr/>
        </p:nvSpPr>
        <p:spPr>
          <a:xfrm>
            <a:off x="7521053" y="3025200"/>
            <a:ext cx="275331" cy="275331"/>
          </a:xfrm>
          <a:custGeom>
            <a:avLst/>
            <a:gdLst/>
            <a:ahLst/>
            <a:cxnLst/>
            <a:rect l="l" t="t" r="r" b="b"/>
            <a:pathLst>
              <a:path w="275331" h="275331">
                <a:moveTo>
                  <a:pt x="137665" y="0"/>
                </a:moveTo>
                <a:lnTo>
                  <a:pt x="137665" y="0"/>
                </a:lnTo>
                <a:cubicBezTo>
                  <a:pt x="213696" y="0"/>
                  <a:pt x="275331" y="61635"/>
                  <a:pt x="275331" y="137665"/>
                </a:cubicBezTo>
                <a:lnTo>
                  <a:pt x="275331" y="137665"/>
                </a:lnTo>
                <a:cubicBezTo>
                  <a:pt x="275331" y="213696"/>
                  <a:pt x="213696" y="275331"/>
                  <a:pt x="137665" y="275331"/>
                </a:cubicBezTo>
                <a:lnTo>
                  <a:pt x="137665" y="275331"/>
                </a:lnTo>
                <a:cubicBezTo>
                  <a:pt x="61635" y="275331"/>
                  <a:pt x="0" y="213696"/>
                  <a:pt x="0" y="137665"/>
                </a:cubicBezTo>
                <a:lnTo>
                  <a:pt x="0" y="137665"/>
                </a:lnTo>
                <a:cubicBezTo>
                  <a:pt x="0" y="61635"/>
                  <a:pt x="61635" y="0"/>
                  <a:pt x="137665" y="0"/>
                </a:cubicBezTo>
                <a:close/>
              </a:path>
            </a:pathLst>
          </a:custGeom>
          <a:solidFill>
            <a:srgbClr val="8B0000"/>
          </a:solidFill>
          <a:ln/>
        </p:spPr>
        <p:txBody>
          <a:bodyPr/>
          <a:lstStyle/>
          <a:p>
            <a:endParaRPr lang="en-US"/>
          </a:p>
        </p:txBody>
      </p:sp>
      <p:sp>
        <p:nvSpPr>
          <p:cNvPr id="36" name="Text 33"/>
          <p:cNvSpPr/>
          <p:nvPr/>
        </p:nvSpPr>
        <p:spPr>
          <a:xfrm>
            <a:off x="7490939" y="3025200"/>
            <a:ext cx="335560" cy="275331"/>
          </a:xfrm>
          <a:prstGeom prst="rect">
            <a:avLst/>
          </a:prstGeom>
          <a:noFill/>
          <a:ln/>
        </p:spPr>
        <p:txBody>
          <a:bodyPr wrap="square" lIns="0" tIns="0" rIns="0" bIns="0" rtlCol="0" anchor="ctr"/>
          <a:lstStyle/>
          <a:p>
            <a:pPr algn="ctr">
              <a:lnSpc>
                <a:spcPct val="120000"/>
              </a:lnSpc>
            </a:pPr>
            <a:r>
              <a:rPr lang="en-US" sz="948"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37" name="Text 34"/>
          <p:cNvSpPr/>
          <p:nvPr/>
        </p:nvSpPr>
        <p:spPr>
          <a:xfrm>
            <a:off x="7865217" y="2973575"/>
            <a:ext cx="980867"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FC Layers</a:t>
            </a:r>
            <a:endParaRPr lang="en-US" sz="1600" dirty="0"/>
          </a:p>
        </p:txBody>
      </p:sp>
      <p:sp>
        <p:nvSpPr>
          <p:cNvPr id="38" name="Text 35"/>
          <p:cNvSpPr/>
          <p:nvPr/>
        </p:nvSpPr>
        <p:spPr>
          <a:xfrm>
            <a:off x="7865217" y="3180074"/>
            <a:ext cx="972263" cy="172082"/>
          </a:xfrm>
          <a:prstGeom prst="rect">
            <a:avLst/>
          </a:prstGeom>
          <a:noFill/>
          <a:ln/>
        </p:spPr>
        <p:txBody>
          <a:bodyPr wrap="square" lIns="0" tIns="0" rIns="0" bIns="0" rtlCol="0" anchor="ctr"/>
          <a:lstStyle/>
          <a:p>
            <a:pPr>
              <a:lnSpc>
                <a:spcPct val="120000"/>
              </a:lnSpc>
            </a:pPr>
            <a:r>
              <a:rPr lang="en-US" sz="948" dirty="0">
                <a:solidFill>
                  <a:srgbClr val="6B7280"/>
                </a:solidFill>
                <a:latin typeface="Quattrocento Sans" pitchFamily="34" charset="0"/>
                <a:ea typeface="Quattrocento Sans" pitchFamily="34" charset="-122"/>
                <a:cs typeface="Quattrocento Sans" pitchFamily="34" charset="-120"/>
              </a:rPr>
              <a:t>2 Fully connected</a:t>
            </a:r>
            <a:endParaRPr lang="en-US" sz="1600" dirty="0"/>
          </a:p>
        </p:txBody>
      </p:sp>
      <p:sp>
        <p:nvSpPr>
          <p:cNvPr id="39" name="Shape 36"/>
          <p:cNvSpPr/>
          <p:nvPr/>
        </p:nvSpPr>
        <p:spPr>
          <a:xfrm>
            <a:off x="9535917" y="3462286"/>
            <a:ext cx="103249" cy="137665"/>
          </a:xfrm>
          <a:custGeom>
            <a:avLst/>
            <a:gdLst/>
            <a:ahLst/>
            <a:cxnLst/>
            <a:rect l="l" t="t" r="r" b="b"/>
            <a:pathLst>
              <a:path w="103249" h="137665">
                <a:moveTo>
                  <a:pt x="45548" y="135138"/>
                </a:moveTo>
                <a:cubicBezTo>
                  <a:pt x="48909" y="138499"/>
                  <a:pt x="54367" y="138499"/>
                  <a:pt x="57728" y="135138"/>
                </a:cubicBezTo>
                <a:lnTo>
                  <a:pt x="100749" y="92118"/>
                </a:lnTo>
                <a:cubicBezTo>
                  <a:pt x="104110" y="88757"/>
                  <a:pt x="104110" y="83298"/>
                  <a:pt x="100749" y="79937"/>
                </a:cubicBezTo>
                <a:cubicBezTo>
                  <a:pt x="97388" y="76576"/>
                  <a:pt x="91929" y="76576"/>
                  <a:pt x="88568" y="79937"/>
                </a:cubicBezTo>
                <a:lnTo>
                  <a:pt x="60229" y="108277"/>
                </a:lnTo>
                <a:lnTo>
                  <a:pt x="60229" y="8604"/>
                </a:lnTo>
                <a:cubicBezTo>
                  <a:pt x="60229" y="3845"/>
                  <a:pt x="56384" y="0"/>
                  <a:pt x="51625" y="0"/>
                </a:cubicBezTo>
                <a:cubicBezTo>
                  <a:pt x="46865" y="0"/>
                  <a:pt x="43020" y="3845"/>
                  <a:pt x="43020" y="8604"/>
                </a:cubicBezTo>
                <a:lnTo>
                  <a:pt x="43020" y="108277"/>
                </a:lnTo>
                <a:lnTo>
                  <a:pt x="14681" y="79937"/>
                </a:lnTo>
                <a:cubicBezTo>
                  <a:pt x="11320" y="76576"/>
                  <a:pt x="5862" y="76576"/>
                  <a:pt x="2501" y="79937"/>
                </a:cubicBezTo>
                <a:cubicBezTo>
                  <a:pt x="-860" y="83298"/>
                  <a:pt x="-860" y="88757"/>
                  <a:pt x="2501" y="92118"/>
                </a:cubicBezTo>
                <a:lnTo>
                  <a:pt x="45521" y="135138"/>
                </a:lnTo>
                <a:close/>
              </a:path>
            </a:pathLst>
          </a:custGeom>
          <a:solidFill>
            <a:srgbClr val="8B0000"/>
          </a:solidFill>
          <a:ln/>
        </p:spPr>
        <p:txBody>
          <a:bodyPr/>
          <a:lstStyle/>
          <a:p>
            <a:endParaRPr lang="en-US"/>
          </a:p>
        </p:txBody>
      </p:sp>
      <p:sp>
        <p:nvSpPr>
          <p:cNvPr id="40" name="Shape 37"/>
          <p:cNvSpPr/>
          <p:nvPr/>
        </p:nvSpPr>
        <p:spPr>
          <a:xfrm>
            <a:off x="7445337" y="3634368"/>
            <a:ext cx="4284838" cy="516246"/>
          </a:xfrm>
          <a:custGeom>
            <a:avLst/>
            <a:gdLst/>
            <a:ahLst/>
            <a:cxnLst/>
            <a:rect l="l" t="t" r="r" b="b"/>
            <a:pathLst>
              <a:path w="4284838" h="516246">
                <a:moveTo>
                  <a:pt x="34418" y="0"/>
                </a:moveTo>
                <a:lnTo>
                  <a:pt x="4250420" y="0"/>
                </a:lnTo>
                <a:cubicBezTo>
                  <a:pt x="4269429" y="0"/>
                  <a:pt x="4284838" y="15410"/>
                  <a:pt x="4284838" y="34418"/>
                </a:cubicBezTo>
                <a:lnTo>
                  <a:pt x="4284838" y="481827"/>
                </a:lnTo>
                <a:cubicBezTo>
                  <a:pt x="4284838" y="500836"/>
                  <a:pt x="4269429" y="516246"/>
                  <a:pt x="4250420" y="516246"/>
                </a:cubicBezTo>
                <a:lnTo>
                  <a:pt x="34418" y="516246"/>
                </a:lnTo>
                <a:cubicBezTo>
                  <a:pt x="15410" y="516246"/>
                  <a:pt x="0" y="500836"/>
                  <a:pt x="0" y="481827"/>
                </a:cubicBezTo>
                <a:lnTo>
                  <a:pt x="0" y="34418"/>
                </a:lnTo>
                <a:cubicBezTo>
                  <a:pt x="0" y="15422"/>
                  <a:pt x="15422" y="0"/>
                  <a:pt x="34418" y="0"/>
                </a:cubicBezTo>
                <a:close/>
              </a:path>
            </a:pathLst>
          </a:custGeom>
          <a:solidFill>
            <a:srgbClr val="8B0000"/>
          </a:solidFill>
          <a:ln/>
        </p:spPr>
        <p:txBody>
          <a:bodyPr/>
          <a:lstStyle/>
          <a:p>
            <a:endParaRPr lang="en-US"/>
          </a:p>
        </p:txBody>
      </p:sp>
      <p:sp>
        <p:nvSpPr>
          <p:cNvPr id="41" name="Shape 38"/>
          <p:cNvSpPr/>
          <p:nvPr/>
        </p:nvSpPr>
        <p:spPr>
          <a:xfrm>
            <a:off x="7514170" y="3754825"/>
            <a:ext cx="275331" cy="275331"/>
          </a:xfrm>
          <a:custGeom>
            <a:avLst/>
            <a:gdLst/>
            <a:ahLst/>
            <a:cxnLst/>
            <a:rect l="l" t="t" r="r" b="b"/>
            <a:pathLst>
              <a:path w="275331" h="275331">
                <a:moveTo>
                  <a:pt x="137665" y="0"/>
                </a:moveTo>
                <a:lnTo>
                  <a:pt x="137665" y="0"/>
                </a:lnTo>
                <a:cubicBezTo>
                  <a:pt x="213696" y="0"/>
                  <a:pt x="275331" y="61635"/>
                  <a:pt x="275331" y="137665"/>
                </a:cubicBezTo>
                <a:lnTo>
                  <a:pt x="275331" y="137665"/>
                </a:lnTo>
                <a:cubicBezTo>
                  <a:pt x="275331" y="213696"/>
                  <a:pt x="213696" y="275331"/>
                  <a:pt x="137665" y="275331"/>
                </a:cubicBezTo>
                <a:lnTo>
                  <a:pt x="137665" y="275331"/>
                </a:lnTo>
                <a:cubicBezTo>
                  <a:pt x="61635" y="275331"/>
                  <a:pt x="0" y="213696"/>
                  <a:pt x="0" y="137665"/>
                </a:cubicBezTo>
                <a:lnTo>
                  <a:pt x="0" y="137665"/>
                </a:lnTo>
                <a:cubicBezTo>
                  <a:pt x="0" y="61635"/>
                  <a:pt x="61635" y="0"/>
                  <a:pt x="137665" y="0"/>
                </a:cubicBezTo>
                <a:close/>
              </a:path>
            </a:pathLst>
          </a:custGeom>
          <a:solidFill>
            <a:srgbClr val="FFFFFF"/>
          </a:solidFill>
          <a:ln/>
        </p:spPr>
        <p:txBody>
          <a:bodyPr/>
          <a:lstStyle/>
          <a:p>
            <a:endParaRPr lang="en-US"/>
          </a:p>
        </p:txBody>
      </p:sp>
      <p:sp>
        <p:nvSpPr>
          <p:cNvPr id="42" name="Text 39"/>
          <p:cNvSpPr/>
          <p:nvPr/>
        </p:nvSpPr>
        <p:spPr>
          <a:xfrm>
            <a:off x="7484055" y="3754825"/>
            <a:ext cx="335560" cy="275331"/>
          </a:xfrm>
          <a:prstGeom prst="rect">
            <a:avLst/>
          </a:prstGeom>
          <a:noFill/>
          <a:ln/>
        </p:spPr>
        <p:txBody>
          <a:bodyPr wrap="square" lIns="0" tIns="0" rIns="0" bIns="0" rtlCol="0" anchor="ctr"/>
          <a:lstStyle/>
          <a:p>
            <a:pPr algn="ctr">
              <a:lnSpc>
                <a:spcPct val="120000"/>
              </a:lnSpc>
            </a:pPr>
            <a:r>
              <a:rPr lang="en-US" sz="948" b="1" dirty="0">
                <a:solidFill>
                  <a:srgbClr val="8B0000"/>
                </a:solidFill>
                <a:latin typeface="Quattrocento Sans" pitchFamily="34" charset="0"/>
                <a:ea typeface="Quattrocento Sans" pitchFamily="34" charset="-122"/>
                <a:cs typeface="Quattrocento Sans" pitchFamily="34" charset="-120"/>
              </a:rPr>
              <a:t>4</a:t>
            </a:r>
            <a:endParaRPr lang="en-US" sz="1600" dirty="0"/>
          </a:p>
        </p:txBody>
      </p:sp>
      <p:sp>
        <p:nvSpPr>
          <p:cNvPr id="43" name="Text 40"/>
          <p:cNvSpPr/>
          <p:nvPr/>
        </p:nvSpPr>
        <p:spPr>
          <a:xfrm>
            <a:off x="7858333" y="3703201"/>
            <a:ext cx="1041095" cy="206498"/>
          </a:xfrm>
          <a:prstGeom prst="rect">
            <a:avLst/>
          </a:prstGeom>
          <a:noFill/>
          <a:ln/>
        </p:spPr>
        <p:txBody>
          <a:bodyPr wrap="square" lIns="0" tIns="0" rIns="0" bIns="0" rtlCol="0" anchor="ctr"/>
          <a:lstStyle/>
          <a:p>
            <a:pPr>
              <a:lnSpc>
                <a:spcPct val="130000"/>
              </a:lnSpc>
            </a:pPr>
            <a:r>
              <a:rPr lang="en-US" sz="1084" b="1" dirty="0">
                <a:solidFill>
                  <a:srgbClr val="FFFFFF"/>
                </a:solidFill>
                <a:latin typeface="Quattrocento Sans" pitchFamily="34" charset="0"/>
                <a:ea typeface="Quattrocento Sans" pitchFamily="34" charset="-122"/>
                <a:cs typeface="Quattrocento Sans" pitchFamily="34" charset="-120"/>
              </a:rPr>
              <a:t>Output Tensor</a:t>
            </a:r>
            <a:endParaRPr lang="en-US" sz="1600" dirty="0"/>
          </a:p>
        </p:txBody>
      </p:sp>
      <p:sp>
        <p:nvSpPr>
          <p:cNvPr id="44" name="Text 41"/>
          <p:cNvSpPr/>
          <p:nvPr/>
        </p:nvSpPr>
        <p:spPr>
          <a:xfrm>
            <a:off x="7858333" y="3909699"/>
            <a:ext cx="1032491" cy="172082"/>
          </a:xfrm>
          <a:prstGeom prst="rect">
            <a:avLst/>
          </a:prstGeom>
          <a:noFill/>
          <a:ln/>
        </p:spPr>
        <p:txBody>
          <a:bodyPr wrap="square" lIns="0" tIns="0" rIns="0" bIns="0" rtlCol="0" anchor="ctr"/>
          <a:lstStyle/>
          <a:p>
            <a:pPr>
              <a:lnSpc>
                <a:spcPct val="120000"/>
              </a:lnSpc>
            </a:pPr>
            <a:r>
              <a:rPr lang="en-US" sz="948" dirty="0">
                <a:solidFill>
                  <a:srgbClr val="FFFFFF"/>
                </a:solidFill>
                <a:latin typeface="Quattrocento Sans" pitchFamily="34" charset="0"/>
                <a:ea typeface="Quattrocento Sans" pitchFamily="34" charset="-122"/>
                <a:cs typeface="Quattrocento Sans" pitchFamily="34" charset="-120"/>
              </a:rPr>
              <a:t>7×7×30 predictions</a:t>
            </a:r>
            <a:endParaRPr lang="en-US" sz="1600" dirty="0"/>
          </a:p>
        </p:txBody>
      </p:sp>
      <p:sp>
        <p:nvSpPr>
          <p:cNvPr id="45" name="Shape 42"/>
          <p:cNvSpPr/>
          <p:nvPr/>
        </p:nvSpPr>
        <p:spPr>
          <a:xfrm>
            <a:off x="7335205" y="4343346"/>
            <a:ext cx="4505103" cy="2164790"/>
          </a:xfrm>
          <a:custGeom>
            <a:avLst/>
            <a:gdLst/>
            <a:ahLst/>
            <a:cxnLst/>
            <a:rect l="l" t="t" r="r" b="b"/>
            <a:pathLst>
              <a:path w="4505103" h="2164790">
                <a:moveTo>
                  <a:pt x="68840" y="0"/>
                </a:moveTo>
                <a:lnTo>
                  <a:pt x="4436263" y="0"/>
                </a:lnTo>
                <a:cubicBezTo>
                  <a:pt x="4474282" y="0"/>
                  <a:pt x="4505103" y="30821"/>
                  <a:pt x="4505103" y="68840"/>
                </a:cubicBezTo>
                <a:lnTo>
                  <a:pt x="4505103" y="2095950"/>
                </a:lnTo>
                <a:cubicBezTo>
                  <a:pt x="4505103" y="2133969"/>
                  <a:pt x="4474282" y="2164790"/>
                  <a:pt x="4436263" y="2164790"/>
                </a:cubicBezTo>
                <a:lnTo>
                  <a:pt x="68840" y="2164790"/>
                </a:lnTo>
                <a:cubicBezTo>
                  <a:pt x="30821" y="2164790"/>
                  <a:pt x="0" y="2133969"/>
                  <a:pt x="0" y="2095950"/>
                </a:cubicBezTo>
                <a:lnTo>
                  <a:pt x="0" y="68840"/>
                </a:lnTo>
                <a:cubicBezTo>
                  <a:pt x="0" y="30846"/>
                  <a:pt x="30846" y="0"/>
                  <a:pt x="68840" y="0"/>
                </a:cubicBezTo>
                <a:close/>
              </a:path>
            </a:pathLst>
          </a:custGeom>
          <a:solidFill>
            <a:srgbClr val="FFFFFF"/>
          </a:solidFill>
          <a:ln w="20320">
            <a:solidFill>
              <a:srgbClr val="8B0000"/>
            </a:solidFill>
            <a:prstDash val="solid"/>
          </a:ln>
        </p:spPr>
        <p:txBody>
          <a:bodyPr/>
          <a:lstStyle/>
          <a:p>
            <a:endParaRPr lang="en-US"/>
          </a:p>
        </p:txBody>
      </p:sp>
      <p:sp>
        <p:nvSpPr>
          <p:cNvPr id="46" name="Text 43"/>
          <p:cNvSpPr/>
          <p:nvPr/>
        </p:nvSpPr>
        <p:spPr>
          <a:xfrm>
            <a:off x="7445337" y="4453479"/>
            <a:ext cx="4362275" cy="240915"/>
          </a:xfrm>
          <a:prstGeom prst="rect">
            <a:avLst/>
          </a:prstGeom>
          <a:noFill/>
          <a:ln/>
        </p:spPr>
        <p:txBody>
          <a:bodyPr wrap="square" lIns="0" tIns="0" rIns="0" bIns="0" rtlCol="0" anchor="ctr"/>
          <a:lstStyle/>
          <a:p>
            <a:pPr>
              <a:lnSpc>
                <a:spcPct val="130000"/>
              </a:lnSpc>
            </a:pPr>
            <a:r>
              <a:rPr lang="en-US" sz="1219" b="1" dirty="0">
                <a:solidFill>
                  <a:srgbClr val="1F2937"/>
                </a:solidFill>
                <a:latin typeface="Sorts Mill Goudy" pitchFamily="34" charset="0"/>
                <a:ea typeface="Sorts Mill Goudy" pitchFamily="34" charset="-122"/>
                <a:cs typeface="Sorts Mill Goudy" pitchFamily="34" charset="-120"/>
              </a:rPr>
              <a:t>Output Tensor Shape</a:t>
            </a:r>
            <a:endParaRPr lang="en-US" sz="1600" dirty="0"/>
          </a:p>
        </p:txBody>
      </p:sp>
      <p:sp>
        <p:nvSpPr>
          <p:cNvPr id="47" name="Shape 44"/>
          <p:cNvSpPr/>
          <p:nvPr/>
        </p:nvSpPr>
        <p:spPr>
          <a:xfrm>
            <a:off x="7445337" y="4763227"/>
            <a:ext cx="4284838" cy="344164"/>
          </a:xfrm>
          <a:custGeom>
            <a:avLst/>
            <a:gdLst/>
            <a:ahLst/>
            <a:cxnLst/>
            <a:rect l="l" t="t" r="r" b="b"/>
            <a:pathLst>
              <a:path w="4284838" h="344164">
                <a:moveTo>
                  <a:pt x="34416" y="0"/>
                </a:moveTo>
                <a:lnTo>
                  <a:pt x="4250422" y="0"/>
                </a:lnTo>
                <a:cubicBezTo>
                  <a:pt x="4269430" y="0"/>
                  <a:pt x="4284838" y="15409"/>
                  <a:pt x="4284838" y="34416"/>
                </a:cubicBezTo>
                <a:lnTo>
                  <a:pt x="4284838" y="309747"/>
                </a:lnTo>
                <a:cubicBezTo>
                  <a:pt x="4284838" y="328755"/>
                  <a:pt x="4269430" y="344164"/>
                  <a:pt x="4250422" y="344164"/>
                </a:cubicBezTo>
                <a:lnTo>
                  <a:pt x="34416" y="344164"/>
                </a:lnTo>
                <a:cubicBezTo>
                  <a:pt x="15409" y="344164"/>
                  <a:pt x="0" y="328755"/>
                  <a:pt x="0" y="309747"/>
                </a:cubicBezTo>
                <a:lnTo>
                  <a:pt x="0" y="34416"/>
                </a:lnTo>
                <a:cubicBezTo>
                  <a:pt x="0" y="15409"/>
                  <a:pt x="15409" y="0"/>
                  <a:pt x="34416" y="0"/>
                </a:cubicBezTo>
                <a:close/>
              </a:path>
            </a:pathLst>
          </a:custGeom>
          <a:solidFill>
            <a:srgbClr val="F3F4F6"/>
          </a:solidFill>
          <a:ln/>
        </p:spPr>
        <p:txBody>
          <a:bodyPr/>
          <a:lstStyle/>
          <a:p>
            <a:endParaRPr lang="en-US"/>
          </a:p>
        </p:txBody>
      </p:sp>
      <p:sp>
        <p:nvSpPr>
          <p:cNvPr id="48" name="Text 45"/>
          <p:cNvSpPr/>
          <p:nvPr/>
        </p:nvSpPr>
        <p:spPr>
          <a:xfrm>
            <a:off x="7410921" y="4763227"/>
            <a:ext cx="4353671" cy="344164"/>
          </a:xfrm>
          <a:prstGeom prst="rect">
            <a:avLst/>
          </a:prstGeom>
          <a:noFill/>
          <a:ln/>
        </p:spPr>
        <p:txBody>
          <a:bodyPr wrap="square" lIns="68833" tIns="68833" rIns="68833" bIns="68833" rtlCol="0" anchor="ctr"/>
          <a:lstStyle/>
          <a:p>
            <a:pPr algn="ctr">
              <a:lnSpc>
                <a:spcPct val="130000"/>
              </a:lnSpc>
            </a:pPr>
            <a:r>
              <a:rPr lang="en-US" sz="1084" dirty="0">
                <a:solidFill>
                  <a:srgbClr val="1F2937"/>
                </a:solidFill>
                <a:latin typeface="MiSans" pitchFamily="34" charset="0"/>
                <a:ea typeface="MiSans" pitchFamily="34" charset="-122"/>
                <a:cs typeface="MiSans" pitchFamily="34" charset="-120"/>
              </a:rPr>
              <a:t>S × S × (B×5 + C)</a:t>
            </a:r>
            <a:endParaRPr lang="en-US" sz="1600" dirty="0"/>
          </a:p>
        </p:txBody>
      </p:sp>
      <p:sp>
        <p:nvSpPr>
          <p:cNvPr id="49" name="Text 46"/>
          <p:cNvSpPr/>
          <p:nvPr/>
        </p:nvSpPr>
        <p:spPr>
          <a:xfrm>
            <a:off x="7445337" y="5176223"/>
            <a:ext cx="318351" cy="206498"/>
          </a:xfrm>
          <a:prstGeom prst="rect">
            <a:avLst/>
          </a:prstGeom>
          <a:noFill/>
          <a:ln/>
        </p:spPr>
        <p:txBody>
          <a:bodyPr wrap="square" lIns="0" tIns="0" rIns="0" bIns="0" rtlCol="0" anchor="ctr"/>
          <a:lstStyle/>
          <a:p>
            <a:pPr>
              <a:lnSpc>
                <a:spcPct val="130000"/>
              </a:lnSpc>
            </a:pPr>
            <a:r>
              <a:rPr lang="en-US" sz="1084" dirty="0">
                <a:solidFill>
                  <a:srgbClr val="1F2937"/>
                </a:solidFill>
                <a:latin typeface="Quattrocento Sans" pitchFamily="34" charset="0"/>
                <a:ea typeface="Quattrocento Sans" pitchFamily="34" charset="-122"/>
                <a:cs typeface="Quattrocento Sans" pitchFamily="34" charset="-120"/>
              </a:rPr>
              <a:t>S×S:</a:t>
            </a:r>
            <a:endParaRPr lang="en-US" sz="1600" dirty="0"/>
          </a:p>
        </p:txBody>
      </p:sp>
      <p:sp>
        <p:nvSpPr>
          <p:cNvPr id="50" name="Text 47"/>
          <p:cNvSpPr/>
          <p:nvPr/>
        </p:nvSpPr>
        <p:spPr>
          <a:xfrm>
            <a:off x="11277708" y="5176223"/>
            <a:ext cx="524850"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7×7 grid</a:t>
            </a:r>
            <a:endParaRPr lang="en-US" sz="1600" dirty="0"/>
          </a:p>
        </p:txBody>
      </p:sp>
      <p:sp>
        <p:nvSpPr>
          <p:cNvPr id="51" name="Text 48"/>
          <p:cNvSpPr/>
          <p:nvPr/>
        </p:nvSpPr>
        <p:spPr>
          <a:xfrm>
            <a:off x="7445337" y="5417138"/>
            <a:ext cx="180686" cy="206498"/>
          </a:xfrm>
          <a:prstGeom prst="rect">
            <a:avLst/>
          </a:prstGeom>
          <a:noFill/>
          <a:ln/>
        </p:spPr>
        <p:txBody>
          <a:bodyPr wrap="square" lIns="0" tIns="0" rIns="0" bIns="0" rtlCol="0" anchor="ctr"/>
          <a:lstStyle/>
          <a:p>
            <a:pPr>
              <a:lnSpc>
                <a:spcPct val="130000"/>
              </a:lnSpc>
            </a:pPr>
            <a:r>
              <a:rPr lang="en-US" sz="1084" dirty="0">
                <a:solidFill>
                  <a:srgbClr val="1F2937"/>
                </a:solidFill>
                <a:latin typeface="Quattrocento Sans" pitchFamily="34" charset="0"/>
                <a:ea typeface="Quattrocento Sans" pitchFamily="34" charset="-122"/>
                <a:cs typeface="Quattrocento Sans" pitchFamily="34" charset="-120"/>
              </a:rPr>
              <a:t>B:</a:t>
            </a:r>
            <a:endParaRPr lang="en-US" sz="1600" dirty="0"/>
          </a:p>
        </p:txBody>
      </p:sp>
      <p:sp>
        <p:nvSpPr>
          <p:cNvPr id="52" name="Text 49"/>
          <p:cNvSpPr/>
          <p:nvPr/>
        </p:nvSpPr>
        <p:spPr>
          <a:xfrm>
            <a:off x="11002592" y="5417138"/>
            <a:ext cx="800181"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2 boxes/cell</a:t>
            </a:r>
            <a:endParaRPr lang="en-US" sz="1600" dirty="0"/>
          </a:p>
        </p:txBody>
      </p:sp>
      <p:sp>
        <p:nvSpPr>
          <p:cNvPr id="53" name="Text 50"/>
          <p:cNvSpPr/>
          <p:nvPr/>
        </p:nvSpPr>
        <p:spPr>
          <a:xfrm>
            <a:off x="7445337" y="5658052"/>
            <a:ext cx="172082" cy="206498"/>
          </a:xfrm>
          <a:prstGeom prst="rect">
            <a:avLst/>
          </a:prstGeom>
          <a:noFill/>
          <a:ln/>
        </p:spPr>
        <p:txBody>
          <a:bodyPr wrap="square" lIns="0" tIns="0" rIns="0" bIns="0" rtlCol="0" anchor="ctr"/>
          <a:lstStyle/>
          <a:p>
            <a:pPr>
              <a:lnSpc>
                <a:spcPct val="130000"/>
              </a:lnSpc>
            </a:pPr>
            <a:r>
              <a:rPr lang="en-US" sz="1084" dirty="0">
                <a:solidFill>
                  <a:srgbClr val="1F2937"/>
                </a:solidFill>
                <a:latin typeface="Quattrocento Sans" pitchFamily="34" charset="0"/>
                <a:ea typeface="Quattrocento Sans" pitchFamily="34" charset="-122"/>
                <a:cs typeface="Quattrocento Sans" pitchFamily="34" charset="-120"/>
              </a:rPr>
              <a:t>5:</a:t>
            </a:r>
            <a:endParaRPr lang="en-US" sz="1600" dirty="0"/>
          </a:p>
        </p:txBody>
      </p:sp>
      <p:sp>
        <p:nvSpPr>
          <p:cNvPr id="54" name="Text 51"/>
          <p:cNvSpPr/>
          <p:nvPr/>
        </p:nvSpPr>
        <p:spPr>
          <a:xfrm>
            <a:off x="11002915" y="5658052"/>
            <a:ext cx="791577"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x,y,w,h,conf</a:t>
            </a:r>
            <a:endParaRPr lang="en-US" sz="1600" dirty="0"/>
          </a:p>
        </p:txBody>
      </p:sp>
      <p:sp>
        <p:nvSpPr>
          <p:cNvPr id="55" name="Text 52"/>
          <p:cNvSpPr/>
          <p:nvPr/>
        </p:nvSpPr>
        <p:spPr>
          <a:xfrm>
            <a:off x="7445337" y="5898967"/>
            <a:ext cx="189290" cy="206498"/>
          </a:xfrm>
          <a:prstGeom prst="rect">
            <a:avLst/>
          </a:prstGeom>
          <a:noFill/>
          <a:ln/>
        </p:spPr>
        <p:txBody>
          <a:bodyPr wrap="square" lIns="0" tIns="0" rIns="0" bIns="0" rtlCol="0" anchor="ctr"/>
          <a:lstStyle/>
          <a:p>
            <a:pPr>
              <a:lnSpc>
                <a:spcPct val="130000"/>
              </a:lnSpc>
            </a:pPr>
            <a:r>
              <a:rPr lang="en-US" sz="1084" dirty="0">
                <a:solidFill>
                  <a:srgbClr val="1F2937"/>
                </a:solidFill>
                <a:latin typeface="Quattrocento Sans" pitchFamily="34" charset="0"/>
                <a:ea typeface="Quattrocento Sans" pitchFamily="34" charset="-122"/>
                <a:cs typeface="Quattrocento Sans" pitchFamily="34" charset="-120"/>
              </a:rPr>
              <a:t>C:</a:t>
            </a:r>
            <a:endParaRPr lang="en-US" sz="1600" dirty="0"/>
          </a:p>
        </p:txBody>
      </p:sp>
      <p:sp>
        <p:nvSpPr>
          <p:cNvPr id="56" name="Text 53"/>
          <p:cNvSpPr/>
          <p:nvPr/>
        </p:nvSpPr>
        <p:spPr>
          <a:xfrm>
            <a:off x="11113047" y="5898967"/>
            <a:ext cx="688327"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20 classes</a:t>
            </a:r>
            <a:endParaRPr lang="en-US" sz="1600" dirty="0"/>
          </a:p>
        </p:txBody>
      </p:sp>
      <p:sp>
        <p:nvSpPr>
          <p:cNvPr id="57" name="Shape 54"/>
          <p:cNvSpPr/>
          <p:nvPr/>
        </p:nvSpPr>
        <p:spPr>
          <a:xfrm>
            <a:off x="7445337" y="6146765"/>
            <a:ext cx="4284838" cy="13767"/>
          </a:xfrm>
          <a:custGeom>
            <a:avLst/>
            <a:gdLst/>
            <a:ahLst/>
            <a:cxnLst/>
            <a:rect l="l" t="t" r="r" b="b"/>
            <a:pathLst>
              <a:path w="4284838" h="13767">
                <a:moveTo>
                  <a:pt x="0" y="0"/>
                </a:moveTo>
                <a:lnTo>
                  <a:pt x="4284838" y="0"/>
                </a:lnTo>
                <a:lnTo>
                  <a:pt x="4284838" y="13767"/>
                </a:lnTo>
                <a:lnTo>
                  <a:pt x="0" y="13767"/>
                </a:lnTo>
                <a:lnTo>
                  <a:pt x="0" y="0"/>
                </a:lnTo>
                <a:close/>
              </a:path>
            </a:pathLst>
          </a:custGeom>
          <a:solidFill>
            <a:srgbClr val="8B0000"/>
          </a:solidFill>
          <a:ln/>
        </p:spPr>
        <p:txBody>
          <a:bodyPr/>
          <a:lstStyle/>
          <a:p>
            <a:endParaRPr lang="en-US"/>
          </a:p>
        </p:txBody>
      </p:sp>
      <p:sp>
        <p:nvSpPr>
          <p:cNvPr id="58" name="Text 55"/>
          <p:cNvSpPr/>
          <p:nvPr/>
        </p:nvSpPr>
        <p:spPr>
          <a:xfrm>
            <a:off x="7445337" y="6188065"/>
            <a:ext cx="395788" cy="206498"/>
          </a:xfrm>
          <a:prstGeom prst="rect">
            <a:avLst/>
          </a:prstGeom>
          <a:noFill/>
          <a:ln/>
        </p:spPr>
        <p:txBody>
          <a:bodyPr wrap="square" lIns="0" tIns="0" rIns="0" bIns="0" rtlCol="0" anchor="ctr"/>
          <a:lstStyle/>
          <a:p>
            <a:pPr>
              <a:lnSpc>
                <a:spcPct val="130000"/>
              </a:lnSpc>
            </a:pPr>
            <a:r>
              <a:rPr lang="en-US" sz="1084" b="1" dirty="0">
                <a:solidFill>
                  <a:srgbClr val="1F2937"/>
                </a:solidFill>
                <a:latin typeface="Quattrocento Sans" pitchFamily="34" charset="0"/>
                <a:ea typeface="Quattrocento Sans" pitchFamily="34" charset="-122"/>
                <a:cs typeface="Quattrocento Sans" pitchFamily="34" charset="-120"/>
              </a:rPr>
              <a:t>Total:</a:t>
            </a:r>
            <a:endParaRPr lang="en-US" sz="1600" dirty="0"/>
          </a:p>
        </p:txBody>
      </p:sp>
      <p:sp>
        <p:nvSpPr>
          <p:cNvPr id="59" name="Text 56"/>
          <p:cNvSpPr/>
          <p:nvPr/>
        </p:nvSpPr>
        <p:spPr>
          <a:xfrm>
            <a:off x="11314813" y="6188065"/>
            <a:ext cx="481829" cy="206498"/>
          </a:xfrm>
          <a:prstGeom prst="rect">
            <a:avLst/>
          </a:prstGeom>
          <a:noFill/>
          <a:ln/>
        </p:spPr>
        <p:txBody>
          <a:bodyPr wrap="square" lIns="0" tIns="0" rIns="0" bIns="0" rtlCol="0" anchor="ctr"/>
          <a:lstStyle/>
          <a:p>
            <a:pPr>
              <a:lnSpc>
                <a:spcPct val="130000"/>
              </a:lnSpc>
            </a:pPr>
            <a:r>
              <a:rPr lang="en-US" sz="1084" b="1" dirty="0">
                <a:solidFill>
                  <a:srgbClr val="8B0000"/>
                </a:solidFill>
                <a:latin typeface="Quattrocento Sans" pitchFamily="34" charset="0"/>
                <a:ea typeface="Quattrocento Sans" pitchFamily="34" charset="-122"/>
                <a:cs typeface="Quattrocento Sans" pitchFamily="34" charset="-120"/>
              </a:rPr>
              <a:t>7×7×30</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9175" y="369175"/>
            <a:ext cx="11527485" cy="221505"/>
          </a:xfrm>
          <a:prstGeom prst="rect">
            <a:avLst/>
          </a:prstGeom>
          <a:noFill/>
          <a:ln/>
        </p:spPr>
        <p:txBody>
          <a:bodyPr wrap="square" lIns="0" tIns="0" rIns="0" bIns="0" rtlCol="0" anchor="ctr"/>
          <a:lstStyle/>
          <a:p>
            <a:pPr>
              <a:lnSpc>
                <a:spcPct val="120000"/>
              </a:lnSpc>
            </a:pPr>
            <a:r>
              <a:rPr lang="en-US" sz="1163" b="1" kern="0" spc="58" dirty="0">
                <a:solidFill>
                  <a:srgbClr val="8B0000"/>
                </a:solidFill>
                <a:latin typeface="Quattrocento Sans" pitchFamily="34" charset="0"/>
                <a:ea typeface="Quattrocento Sans" pitchFamily="34" charset="-122"/>
                <a:cs typeface="Quattrocento Sans" pitchFamily="34" charset="-120"/>
              </a:rPr>
              <a:t>2.2 GRID DIVISION</a:t>
            </a:r>
            <a:endParaRPr lang="en-US" sz="1600" dirty="0"/>
          </a:p>
        </p:txBody>
      </p:sp>
      <p:sp>
        <p:nvSpPr>
          <p:cNvPr id="3" name="Text 1"/>
          <p:cNvSpPr/>
          <p:nvPr/>
        </p:nvSpPr>
        <p:spPr>
          <a:xfrm>
            <a:off x="369175" y="627597"/>
            <a:ext cx="11619779" cy="369175"/>
          </a:xfrm>
          <a:prstGeom prst="rect">
            <a:avLst/>
          </a:prstGeom>
          <a:noFill/>
          <a:ln/>
        </p:spPr>
        <p:txBody>
          <a:bodyPr wrap="square" lIns="0" tIns="0" rIns="0" bIns="0" rtlCol="0" anchor="ctr"/>
          <a:lstStyle/>
          <a:p>
            <a:pPr>
              <a:lnSpc>
                <a:spcPct val="90000"/>
              </a:lnSpc>
            </a:pPr>
            <a:r>
              <a:rPr lang="en-US" sz="2616" b="1" dirty="0">
                <a:solidFill>
                  <a:srgbClr val="1F2937"/>
                </a:solidFill>
                <a:latin typeface="Sorts Mill Goudy" pitchFamily="34" charset="0"/>
                <a:ea typeface="Sorts Mill Goudy" pitchFamily="34" charset="-122"/>
                <a:cs typeface="Sorts Mill Goudy" pitchFamily="34" charset="-120"/>
              </a:rPr>
              <a:t>Grid Division: The Foundation of YOLO</a:t>
            </a:r>
            <a:endParaRPr lang="en-US" sz="1600" dirty="0"/>
          </a:p>
        </p:txBody>
      </p:sp>
      <p:sp>
        <p:nvSpPr>
          <p:cNvPr id="4" name="Shape 2"/>
          <p:cNvSpPr/>
          <p:nvPr/>
        </p:nvSpPr>
        <p:spPr>
          <a:xfrm>
            <a:off x="376558" y="1114908"/>
            <a:ext cx="5598537" cy="2783579"/>
          </a:xfrm>
          <a:custGeom>
            <a:avLst/>
            <a:gdLst/>
            <a:ahLst/>
            <a:cxnLst/>
            <a:rect l="l" t="t" r="r" b="b"/>
            <a:pathLst>
              <a:path w="5598537" h="2783579">
                <a:moveTo>
                  <a:pt x="73848" y="0"/>
                </a:moveTo>
                <a:lnTo>
                  <a:pt x="5524689" y="0"/>
                </a:lnTo>
                <a:cubicBezTo>
                  <a:pt x="5565474" y="0"/>
                  <a:pt x="5598537" y="33063"/>
                  <a:pt x="5598537" y="73848"/>
                </a:cubicBezTo>
                <a:lnTo>
                  <a:pt x="5598537" y="2709730"/>
                </a:lnTo>
                <a:cubicBezTo>
                  <a:pt x="5598537" y="2750515"/>
                  <a:pt x="5565474" y="2783579"/>
                  <a:pt x="5524689" y="2783579"/>
                </a:cubicBezTo>
                <a:lnTo>
                  <a:pt x="73848" y="2783579"/>
                </a:lnTo>
                <a:cubicBezTo>
                  <a:pt x="33063" y="2783579"/>
                  <a:pt x="0" y="2750515"/>
                  <a:pt x="0" y="2709730"/>
                </a:cubicBezTo>
                <a:lnTo>
                  <a:pt x="0" y="73848"/>
                </a:lnTo>
                <a:cubicBezTo>
                  <a:pt x="0" y="33090"/>
                  <a:pt x="33090" y="0"/>
                  <a:pt x="73848"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85465" y="1269962"/>
            <a:ext cx="5380724" cy="258422"/>
          </a:xfrm>
          <a:prstGeom prst="rect">
            <a:avLst/>
          </a:prstGeom>
          <a:noFill/>
          <a:ln/>
        </p:spPr>
        <p:txBody>
          <a:bodyPr wrap="square" lIns="0" tIns="0" rIns="0" bIns="0" rtlCol="0" anchor="ctr"/>
          <a:lstStyle/>
          <a:p>
            <a:pPr algn="ctr">
              <a:lnSpc>
                <a:spcPct val="120000"/>
              </a:lnSpc>
            </a:pPr>
            <a:r>
              <a:rPr lang="en-US" sz="1453" b="1" dirty="0">
                <a:solidFill>
                  <a:srgbClr val="1F2937"/>
                </a:solidFill>
                <a:latin typeface="Sorts Mill Goudy" pitchFamily="34" charset="0"/>
                <a:ea typeface="Sorts Mill Goudy" pitchFamily="34" charset="-122"/>
                <a:cs typeface="Sorts Mill Goudy" pitchFamily="34" charset="-120"/>
              </a:rPr>
              <a:t>How Grid Division Works</a:t>
            </a:r>
            <a:endParaRPr lang="en-US" sz="1600" dirty="0"/>
          </a:p>
        </p:txBody>
      </p:sp>
      <p:pic>
        <p:nvPicPr>
          <p:cNvPr id="6" name="Image 0" descr="https://kimi-web-img.moonshot.cn/img/i.sstatic.net/f057738a7800ed13f86f9a6cd7d0c6cb29380fa5.jpg"/>
          <p:cNvPicPr>
            <a:picLocks noChangeAspect="1"/>
          </p:cNvPicPr>
          <p:nvPr/>
        </p:nvPicPr>
        <p:blipFill>
          <a:blip r:embed="rId3"/>
          <a:srcRect t="31385" b="31385"/>
          <a:stretch/>
        </p:blipFill>
        <p:spPr>
          <a:xfrm>
            <a:off x="531612" y="1639137"/>
            <a:ext cx="5288430" cy="1772039"/>
          </a:xfrm>
          <a:prstGeom prst="roundRect">
            <a:avLst>
              <a:gd name="adj" fmla="val 2083"/>
            </a:avLst>
          </a:prstGeom>
        </p:spPr>
      </p:pic>
      <p:sp>
        <p:nvSpPr>
          <p:cNvPr id="7" name="Text 4"/>
          <p:cNvSpPr/>
          <p:nvPr/>
        </p:nvSpPr>
        <p:spPr>
          <a:xfrm>
            <a:off x="494694" y="3521929"/>
            <a:ext cx="5362265" cy="221505"/>
          </a:xfrm>
          <a:prstGeom prst="rect">
            <a:avLst/>
          </a:prstGeom>
          <a:noFill/>
          <a:ln/>
        </p:spPr>
        <p:txBody>
          <a:bodyPr wrap="square" lIns="0" tIns="0" rIns="0" bIns="0" rtlCol="0" anchor="ctr"/>
          <a:lstStyle/>
          <a:p>
            <a:pPr algn="ctr">
              <a:lnSpc>
                <a:spcPct val="120000"/>
              </a:lnSpc>
            </a:pPr>
            <a:r>
              <a:rPr lang="en-US" sz="1163" dirty="0">
                <a:solidFill>
                  <a:srgbClr val="6B7280"/>
                </a:solidFill>
                <a:latin typeface="Quattrocento Sans" pitchFamily="34" charset="0"/>
                <a:ea typeface="Quattrocento Sans" pitchFamily="34" charset="-122"/>
                <a:cs typeface="Quattrocento Sans" pitchFamily="34" charset="-120"/>
              </a:rPr>
              <a:t>Figure 2: YOLO divides image into S×S grid, each cell predicts B boxes + C classes</a:t>
            </a:r>
            <a:endParaRPr lang="en-US" sz="1600" dirty="0"/>
          </a:p>
        </p:txBody>
      </p:sp>
      <p:sp>
        <p:nvSpPr>
          <p:cNvPr id="8" name="Shape 5"/>
          <p:cNvSpPr/>
          <p:nvPr/>
        </p:nvSpPr>
        <p:spPr>
          <a:xfrm>
            <a:off x="369175" y="4053542"/>
            <a:ext cx="5611458" cy="1661287"/>
          </a:xfrm>
          <a:custGeom>
            <a:avLst/>
            <a:gdLst/>
            <a:ahLst/>
            <a:cxnLst/>
            <a:rect l="l" t="t" r="r" b="b"/>
            <a:pathLst>
              <a:path w="5611458" h="1661287">
                <a:moveTo>
                  <a:pt x="73828" y="0"/>
                </a:moveTo>
                <a:lnTo>
                  <a:pt x="5537630" y="0"/>
                </a:lnTo>
                <a:cubicBezTo>
                  <a:pt x="5578404" y="0"/>
                  <a:pt x="5611458" y="33054"/>
                  <a:pt x="5611458" y="73828"/>
                </a:cubicBezTo>
                <a:lnTo>
                  <a:pt x="5611458" y="1587459"/>
                </a:lnTo>
                <a:cubicBezTo>
                  <a:pt x="5611458" y="1628233"/>
                  <a:pt x="5578404" y="1661287"/>
                  <a:pt x="5537630" y="1661287"/>
                </a:cubicBezTo>
                <a:lnTo>
                  <a:pt x="73828" y="1661287"/>
                </a:lnTo>
                <a:cubicBezTo>
                  <a:pt x="33054" y="1661287"/>
                  <a:pt x="0" y="1628233"/>
                  <a:pt x="0" y="1587459"/>
                </a:cubicBezTo>
                <a:lnTo>
                  <a:pt x="0" y="73828"/>
                </a:lnTo>
                <a:cubicBezTo>
                  <a:pt x="0" y="33054"/>
                  <a:pt x="33054" y="0"/>
                  <a:pt x="73828" y="0"/>
                </a:cubicBezTo>
                <a:close/>
              </a:path>
            </a:pathLst>
          </a:custGeom>
          <a:solidFill>
            <a:srgbClr val="8B0000"/>
          </a:solidFill>
          <a:ln/>
        </p:spPr>
        <p:txBody>
          <a:bodyPr/>
          <a:lstStyle/>
          <a:p>
            <a:endParaRPr lang="en-US"/>
          </a:p>
        </p:txBody>
      </p:sp>
      <p:sp>
        <p:nvSpPr>
          <p:cNvPr id="9" name="Shape 6"/>
          <p:cNvSpPr/>
          <p:nvPr/>
        </p:nvSpPr>
        <p:spPr>
          <a:xfrm>
            <a:off x="539918" y="4238129"/>
            <a:ext cx="184587" cy="184587"/>
          </a:xfrm>
          <a:custGeom>
            <a:avLst/>
            <a:gdLst/>
            <a:ahLst/>
            <a:cxnLst/>
            <a:rect l="l" t="t" r="r" b="b"/>
            <a:pathLst>
              <a:path w="184587" h="184587">
                <a:moveTo>
                  <a:pt x="121136" y="126904"/>
                </a:moveTo>
                <a:cubicBezTo>
                  <a:pt x="156178" y="126904"/>
                  <a:pt x="184587" y="98495"/>
                  <a:pt x="184587" y="63452"/>
                </a:cubicBezTo>
                <a:cubicBezTo>
                  <a:pt x="184587" y="28409"/>
                  <a:pt x="156178" y="0"/>
                  <a:pt x="121136" y="0"/>
                </a:cubicBezTo>
                <a:cubicBezTo>
                  <a:pt x="86093" y="0"/>
                  <a:pt x="57684" y="28409"/>
                  <a:pt x="57684" y="63452"/>
                </a:cubicBezTo>
                <a:cubicBezTo>
                  <a:pt x="57684" y="70194"/>
                  <a:pt x="58729" y="76719"/>
                  <a:pt x="60676" y="82812"/>
                </a:cubicBezTo>
                <a:lnTo>
                  <a:pt x="2524" y="140964"/>
                </a:lnTo>
                <a:cubicBezTo>
                  <a:pt x="901" y="142587"/>
                  <a:pt x="0" y="144786"/>
                  <a:pt x="0" y="147093"/>
                </a:cubicBezTo>
                <a:lnTo>
                  <a:pt x="0" y="175935"/>
                </a:lnTo>
                <a:cubicBezTo>
                  <a:pt x="0" y="180730"/>
                  <a:pt x="3858" y="184587"/>
                  <a:pt x="8653" y="184587"/>
                </a:cubicBezTo>
                <a:lnTo>
                  <a:pt x="37494" y="184587"/>
                </a:lnTo>
                <a:cubicBezTo>
                  <a:pt x="42289" y="184587"/>
                  <a:pt x="46147" y="180730"/>
                  <a:pt x="46147" y="175935"/>
                </a:cubicBezTo>
                <a:lnTo>
                  <a:pt x="46147" y="161514"/>
                </a:lnTo>
                <a:lnTo>
                  <a:pt x="60568" y="161514"/>
                </a:lnTo>
                <a:cubicBezTo>
                  <a:pt x="65363" y="161514"/>
                  <a:pt x="69220" y="157656"/>
                  <a:pt x="69220" y="152861"/>
                </a:cubicBezTo>
                <a:lnTo>
                  <a:pt x="69220" y="138441"/>
                </a:lnTo>
                <a:lnTo>
                  <a:pt x="83641" y="138441"/>
                </a:lnTo>
                <a:cubicBezTo>
                  <a:pt x="85949" y="138441"/>
                  <a:pt x="88148" y="137539"/>
                  <a:pt x="89770" y="135917"/>
                </a:cubicBezTo>
                <a:lnTo>
                  <a:pt x="101775" y="123912"/>
                </a:lnTo>
                <a:cubicBezTo>
                  <a:pt x="107868" y="125858"/>
                  <a:pt x="114394" y="126904"/>
                  <a:pt x="121136" y="126904"/>
                </a:cubicBezTo>
                <a:close/>
                <a:moveTo>
                  <a:pt x="135556" y="34610"/>
                </a:moveTo>
                <a:cubicBezTo>
                  <a:pt x="143516" y="34610"/>
                  <a:pt x="149977" y="41072"/>
                  <a:pt x="149977" y="49031"/>
                </a:cubicBezTo>
                <a:cubicBezTo>
                  <a:pt x="149977" y="56990"/>
                  <a:pt x="143516" y="63452"/>
                  <a:pt x="135556" y="63452"/>
                </a:cubicBezTo>
                <a:cubicBezTo>
                  <a:pt x="127597" y="63452"/>
                  <a:pt x="121136" y="56990"/>
                  <a:pt x="121136" y="49031"/>
                </a:cubicBezTo>
                <a:cubicBezTo>
                  <a:pt x="121136" y="41072"/>
                  <a:pt x="127597" y="34610"/>
                  <a:pt x="135556" y="34610"/>
                </a:cubicBezTo>
                <a:close/>
              </a:path>
            </a:pathLst>
          </a:custGeom>
          <a:solidFill>
            <a:srgbClr val="FFFFFF"/>
          </a:solidFill>
          <a:ln/>
        </p:spPr>
        <p:txBody>
          <a:bodyPr/>
          <a:lstStyle/>
          <a:p>
            <a:endParaRPr lang="en-US"/>
          </a:p>
        </p:txBody>
      </p:sp>
      <p:sp>
        <p:nvSpPr>
          <p:cNvPr id="10" name="Text 7"/>
          <p:cNvSpPr/>
          <p:nvPr/>
        </p:nvSpPr>
        <p:spPr>
          <a:xfrm>
            <a:off x="747579" y="4201212"/>
            <a:ext cx="5177678" cy="258422"/>
          </a:xfrm>
          <a:prstGeom prst="rect">
            <a:avLst/>
          </a:prstGeom>
          <a:noFill/>
          <a:ln/>
        </p:spPr>
        <p:txBody>
          <a:bodyPr wrap="square" lIns="0" tIns="0" rIns="0" bIns="0" rtlCol="0" anchor="ctr"/>
          <a:lstStyle/>
          <a:p>
            <a:pPr>
              <a:lnSpc>
                <a:spcPct val="120000"/>
              </a:lnSpc>
            </a:pPr>
            <a:r>
              <a:rPr lang="en-US" sz="1453" b="1" dirty="0">
                <a:solidFill>
                  <a:srgbClr val="FFFFFF"/>
                </a:solidFill>
                <a:latin typeface="Sorts Mill Goudy" pitchFamily="34" charset="0"/>
                <a:ea typeface="Sorts Mill Goudy" pitchFamily="34" charset="-122"/>
                <a:cs typeface="Sorts Mill Goudy" pitchFamily="34" charset="-120"/>
              </a:rPr>
              <a:t>Key Principle</a:t>
            </a:r>
            <a:endParaRPr lang="en-US" sz="1600" dirty="0"/>
          </a:p>
        </p:txBody>
      </p:sp>
      <p:sp>
        <p:nvSpPr>
          <p:cNvPr id="11" name="Text 8"/>
          <p:cNvSpPr/>
          <p:nvPr/>
        </p:nvSpPr>
        <p:spPr>
          <a:xfrm>
            <a:off x="516845" y="4570387"/>
            <a:ext cx="5389953" cy="443010"/>
          </a:xfrm>
          <a:prstGeom prst="rect">
            <a:avLst/>
          </a:prstGeom>
          <a:noFill/>
          <a:ln/>
        </p:spPr>
        <p:txBody>
          <a:bodyPr wrap="square" lIns="0" tIns="0" rIns="0" bIns="0" rtlCol="0" anchor="ctr"/>
          <a:lstStyle/>
          <a:p>
            <a:pPr>
              <a:lnSpc>
                <a:spcPct val="120000"/>
              </a:lnSpc>
            </a:pPr>
            <a:r>
              <a:rPr lang="en-US" sz="1163" b="1" dirty="0">
                <a:solidFill>
                  <a:srgbClr val="FFFFFF"/>
                </a:solidFill>
                <a:latin typeface="Quattrocento Sans" pitchFamily="34" charset="0"/>
                <a:ea typeface="Quattrocento Sans" pitchFamily="34" charset="-122"/>
                <a:cs typeface="Quattrocento Sans" pitchFamily="34" charset="-120"/>
              </a:rPr>
              <a:t>Each grid cell is responsible for detecting objects whose center falls within it.</a:t>
            </a:r>
            <a:r>
              <a:rPr lang="en-US" sz="1163" dirty="0">
                <a:solidFill>
                  <a:srgbClr val="FFFFFF"/>
                </a:solidFill>
                <a:latin typeface="Quattrocento Sans" pitchFamily="34" charset="0"/>
                <a:ea typeface="Quattrocento Sans" pitchFamily="34" charset="-122"/>
                <a:cs typeface="Quattrocento Sans" pitchFamily="34" charset="-120"/>
              </a:rPr>
              <a:t> This enforces spatial diversity in predictions.</a:t>
            </a:r>
            <a:endParaRPr lang="en-US" sz="1600" dirty="0"/>
          </a:p>
        </p:txBody>
      </p:sp>
      <p:sp>
        <p:nvSpPr>
          <p:cNvPr id="12" name="Shape 9"/>
          <p:cNvSpPr/>
          <p:nvPr/>
        </p:nvSpPr>
        <p:spPr>
          <a:xfrm>
            <a:off x="516845" y="5124149"/>
            <a:ext cx="5316118" cy="443010"/>
          </a:xfrm>
          <a:custGeom>
            <a:avLst/>
            <a:gdLst/>
            <a:ahLst/>
            <a:cxnLst/>
            <a:rect l="l" t="t" r="r" b="b"/>
            <a:pathLst>
              <a:path w="5316118" h="443010">
                <a:moveTo>
                  <a:pt x="36916" y="0"/>
                </a:moveTo>
                <a:lnTo>
                  <a:pt x="5279202" y="0"/>
                </a:lnTo>
                <a:cubicBezTo>
                  <a:pt x="5299590" y="0"/>
                  <a:pt x="5316118" y="16528"/>
                  <a:pt x="5316118" y="36916"/>
                </a:cubicBezTo>
                <a:lnTo>
                  <a:pt x="5316118" y="406094"/>
                </a:lnTo>
                <a:cubicBezTo>
                  <a:pt x="5316118" y="426482"/>
                  <a:pt x="5299590" y="443010"/>
                  <a:pt x="5279202" y="443010"/>
                </a:cubicBezTo>
                <a:lnTo>
                  <a:pt x="36916" y="443010"/>
                </a:lnTo>
                <a:cubicBezTo>
                  <a:pt x="16528" y="443010"/>
                  <a:pt x="0" y="426482"/>
                  <a:pt x="0" y="406094"/>
                </a:cubicBezTo>
                <a:lnTo>
                  <a:pt x="0" y="36916"/>
                </a:lnTo>
                <a:cubicBezTo>
                  <a:pt x="0" y="16528"/>
                  <a:pt x="16528" y="0"/>
                  <a:pt x="36916" y="0"/>
                </a:cubicBezTo>
                <a:close/>
              </a:path>
            </a:pathLst>
          </a:custGeom>
          <a:solidFill>
            <a:srgbClr val="FFFFFF">
              <a:alpha val="20000"/>
            </a:srgbClr>
          </a:solidFill>
          <a:ln/>
        </p:spPr>
        <p:txBody>
          <a:bodyPr/>
          <a:lstStyle/>
          <a:p>
            <a:endParaRPr lang="en-US"/>
          </a:p>
        </p:txBody>
      </p:sp>
      <p:sp>
        <p:nvSpPr>
          <p:cNvPr id="13" name="Shape 10"/>
          <p:cNvSpPr/>
          <p:nvPr/>
        </p:nvSpPr>
        <p:spPr>
          <a:xfrm>
            <a:off x="664515" y="5264433"/>
            <a:ext cx="110752" cy="147670"/>
          </a:xfrm>
          <a:custGeom>
            <a:avLst/>
            <a:gdLst/>
            <a:ahLst/>
            <a:cxnLst/>
            <a:rect l="l" t="t" r="r" b="b"/>
            <a:pathLst>
              <a:path w="110752" h="147670">
                <a:moveTo>
                  <a:pt x="84478" y="110752"/>
                </a:moveTo>
                <a:cubicBezTo>
                  <a:pt x="86583" y="104321"/>
                  <a:pt x="90794" y="98495"/>
                  <a:pt x="95553" y="93476"/>
                </a:cubicBezTo>
                <a:cubicBezTo>
                  <a:pt x="104984" y="83555"/>
                  <a:pt x="110752" y="70143"/>
                  <a:pt x="110752" y="55376"/>
                </a:cubicBezTo>
                <a:cubicBezTo>
                  <a:pt x="110752" y="24804"/>
                  <a:pt x="85949" y="0"/>
                  <a:pt x="55376" y="0"/>
                </a:cubicBezTo>
                <a:cubicBezTo>
                  <a:pt x="24804" y="0"/>
                  <a:pt x="0" y="24804"/>
                  <a:pt x="0" y="55376"/>
                </a:cubicBezTo>
                <a:cubicBezTo>
                  <a:pt x="0" y="70143"/>
                  <a:pt x="5768" y="83555"/>
                  <a:pt x="15200" y="93476"/>
                </a:cubicBezTo>
                <a:cubicBezTo>
                  <a:pt x="19959" y="98495"/>
                  <a:pt x="24198" y="104321"/>
                  <a:pt x="26275" y="110752"/>
                </a:cubicBezTo>
                <a:lnTo>
                  <a:pt x="84449" y="110752"/>
                </a:lnTo>
                <a:close/>
                <a:moveTo>
                  <a:pt x="83064" y="124597"/>
                </a:moveTo>
                <a:lnTo>
                  <a:pt x="27688" y="124597"/>
                </a:lnTo>
                <a:lnTo>
                  <a:pt x="27688" y="129211"/>
                </a:lnTo>
                <a:cubicBezTo>
                  <a:pt x="27688" y="141959"/>
                  <a:pt x="38013" y="152285"/>
                  <a:pt x="50762" y="152285"/>
                </a:cubicBezTo>
                <a:lnTo>
                  <a:pt x="59991" y="152285"/>
                </a:lnTo>
                <a:cubicBezTo>
                  <a:pt x="72739" y="152285"/>
                  <a:pt x="83064" y="141959"/>
                  <a:pt x="83064" y="129211"/>
                </a:cubicBezTo>
                <a:lnTo>
                  <a:pt x="83064" y="124597"/>
                </a:lnTo>
                <a:close/>
                <a:moveTo>
                  <a:pt x="53069" y="32303"/>
                </a:moveTo>
                <a:cubicBezTo>
                  <a:pt x="41590" y="32303"/>
                  <a:pt x="32303" y="41590"/>
                  <a:pt x="32303" y="53069"/>
                </a:cubicBezTo>
                <a:cubicBezTo>
                  <a:pt x="32303" y="56905"/>
                  <a:pt x="29217" y="59991"/>
                  <a:pt x="25381" y="59991"/>
                </a:cubicBezTo>
                <a:cubicBezTo>
                  <a:pt x="21545" y="59991"/>
                  <a:pt x="18459" y="56905"/>
                  <a:pt x="18459" y="53069"/>
                </a:cubicBezTo>
                <a:cubicBezTo>
                  <a:pt x="18459" y="33947"/>
                  <a:pt x="33947" y="18459"/>
                  <a:pt x="53069" y="18459"/>
                </a:cubicBezTo>
                <a:cubicBezTo>
                  <a:pt x="56905" y="18459"/>
                  <a:pt x="59991" y="21545"/>
                  <a:pt x="59991" y="25381"/>
                </a:cubicBezTo>
                <a:cubicBezTo>
                  <a:pt x="59991" y="29217"/>
                  <a:pt x="56905" y="32303"/>
                  <a:pt x="53069" y="32303"/>
                </a:cubicBezTo>
                <a:close/>
              </a:path>
            </a:pathLst>
          </a:custGeom>
          <a:solidFill>
            <a:srgbClr val="FFFFFF"/>
          </a:solidFill>
          <a:ln/>
        </p:spPr>
        <p:txBody>
          <a:bodyPr/>
          <a:lstStyle/>
          <a:p>
            <a:endParaRPr lang="en-US"/>
          </a:p>
        </p:txBody>
      </p:sp>
      <p:sp>
        <p:nvSpPr>
          <p:cNvPr id="14" name="Text 11"/>
          <p:cNvSpPr/>
          <p:nvPr/>
        </p:nvSpPr>
        <p:spPr>
          <a:xfrm>
            <a:off x="865842" y="5234901"/>
            <a:ext cx="4930203" cy="221505"/>
          </a:xfrm>
          <a:prstGeom prst="rect">
            <a:avLst/>
          </a:prstGeom>
          <a:noFill/>
          <a:ln/>
        </p:spPr>
        <p:txBody>
          <a:bodyPr wrap="square" lIns="0" tIns="0" rIns="0" bIns="0" rtlCol="0" anchor="ctr"/>
          <a:lstStyle/>
          <a:p>
            <a:pPr>
              <a:lnSpc>
                <a:spcPct val="120000"/>
              </a:lnSpc>
            </a:pPr>
            <a:r>
              <a:rPr lang="en-US" sz="1163" dirty="0">
                <a:solidFill>
                  <a:srgbClr val="FFFFFF"/>
                </a:solidFill>
                <a:latin typeface="Quattrocento Sans" pitchFamily="34" charset="0"/>
                <a:ea typeface="Quattrocento Sans" pitchFamily="34" charset="-122"/>
                <a:cs typeface="Quattrocento Sans" pitchFamily="34" charset="-120"/>
              </a:rPr>
              <a:t>Most objects fall into one cell; large objects may span multiple cells</a:t>
            </a:r>
            <a:endParaRPr lang="en-US" sz="1600" dirty="0"/>
          </a:p>
        </p:txBody>
      </p:sp>
      <p:sp>
        <p:nvSpPr>
          <p:cNvPr id="15" name="Shape 12"/>
          <p:cNvSpPr/>
          <p:nvPr/>
        </p:nvSpPr>
        <p:spPr>
          <a:xfrm>
            <a:off x="6224634" y="1107525"/>
            <a:ext cx="5592999" cy="2353490"/>
          </a:xfrm>
          <a:custGeom>
            <a:avLst/>
            <a:gdLst/>
            <a:ahLst/>
            <a:cxnLst/>
            <a:rect l="l" t="t" r="r" b="b"/>
            <a:pathLst>
              <a:path w="5592999" h="2353490">
                <a:moveTo>
                  <a:pt x="36917" y="0"/>
                </a:moveTo>
                <a:lnTo>
                  <a:pt x="5519170" y="0"/>
                </a:lnTo>
                <a:cubicBezTo>
                  <a:pt x="5559945" y="0"/>
                  <a:pt x="5592999" y="33054"/>
                  <a:pt x="5592999" y="73829"/>
                </a:cubicBezTo>
                <a:lnTo>
                  <a:pt x="5592999" y="2279661"/>
                </a:lnTo>
                <a:cubicBezTo>
                  <a:pt x="5592999" y="2320435"/>
                  <a:pt x="5559945" y="2353490"/>
                  <a:pt x="5519170" y="2353490"/>
                </a:cubicBezTo>
                <a:lnTo>
                  <a:pt x="36917" y="2353490"/>
                </a:lnTo>
                <a:cubicBezTo>
                  <a:pt x="16529" y="2353490"/>
                  <a:pt x="0" y="2336961"/>
                  <a:pt x="0" y="2316572"/>
                </a:cubicBezTo>
                <a:lnTo>
                  <a:pt x="0" y="36917"/>
                </a:lnTo>
                <a:cubicBezTo>
                  <a:pt x="0" y="16542"/>
                  <a:pt x="16542" y="0"/>
                  <a:pt x="36917" y="0"/>
                </a:cubicBezTo>
                <a:close/>
              </a:path>
            </a:pathLst>
          </a:custGeom>
          <a:solidFill>
            <a:srgbClr val="F9FAFB"/>
          </a:solidFill>
          <a:ln/>
        </p:spPr>
        <p:txBody>
          <a:bodyPr/>
          <a:lstStyle/>
          <a:p>
            <a:endParaRPr lang="en-US"/>
          </a:p>
        </p:txBody>
      </p:sp>
      <p:sp>
        <p:nvSpPr>
          <p:cNvPr id="16" name="Shape 13"/>
          <p:cNvSpPr/>
          <p:nvPr/>
        </p:nvSpPr>
        <p:spPr>
          <a:xfrm>
            <a:off x="6224634" y="1107525"/>
            <a:ext cx="36917" cy="2353490"/>
          </a:xfrm>
          <a:custGeom>
            <a:avLst/>
            <a:gdLst/>
            <a:ahLst/>
            <a:cxnLst/>
            <a:rect l="l" t="t" r="r" b="b"/>
            <a:pathLst>
              <a:path w="36917" h="2353490">
                <a:moveTo>
                  <a:pt x="36917" y="0"/>
                </a:moveTo>
                <a:lnTo>
                  <a:pt x="36917" y="0"/>
                </a:lnTo>
                <a:lnTo>
                  <a:pt x="36917" y="2353490"/>
                </a:lnTo>
                <a:lnTo>
                  <a:pt x="36917" y="2353490"/>
                </a:lnTo>
                <a:cubicBezTo>
                  <a:pt x="16529" y="2353490"/>
                  <a:pt x="0" y="2336961"/>
                  <a:pt x="0" y="2316572"/>
                </a:cubicBezTo>
                <a:lnTo>
                  <a:pt x="0" y="36917"/>
                </a:lnTo>
                <a:cubicBezTo>
                  <a:pt x="0" y="16542"/>
                  <a:pt x="16542" y="0"/>
                  <a:pt x="36917" y="0"/>
                </a:cubicBezTo>
                <a:close/>
              </a:path>
            </a:pathLst>
          </a:custGeom>
          <a:solidFill>
            <a:srgbClr val="8B0000"/>
          </a:solidFill>
          <a:ln/>
        </p:spPr>
        <p:txBody>
          <a:bodyPr/>
          <a:lstStyle/>
          <a:p>
            <a:endParaRPr lang="en-US"/>
          </a:p>
        </p:txBody>
      </p:sp>
      <p:sp>
        <p:nvSpPr>
          <p:cNvPr id="17" name="Text 14"/>
          <p:cNvSpPr/>
          <p:nvPr/>
        </p:nvSpPr>
        <p:spPr>
          <a:xfrm>
            <a:off x="6390763" y="1255195"/>
            <a:ext cx="5371494" cy="258422"/>
          </a:xfrm>
          <a:prstGeom prst="rect">
            <a:avLst/>
          </a:prstGeom>
          <a:noFill/>
          <a:ln/>
        </p:spPr>
        <p:txBody>
          <a:bodyPr wrap="square" lIns="0" tIns="0" rIns="0" bIns="0" rtlCol="0" anchor="ctr"/>
          <a:lstStyle/>
          <a:p>
            <a:pPr>
              <a:lnSpc>
                <a:spcPct val="120000"/>
              </a:lnSpc>
            </a:pPr>
            <a:r>
              <a:rPr lang="en-US" sz="1453" b="1" dirty="0">
                <a:solidFill>
                  <a:srgbClr val="1F2937"/>
                </a:solidFill>
                <a:latin typeface="Sorts Mill Goudy" pitchFamily="34" charset="0"/>
                <a:ea typeface="Sorts Mill Goudy" pitchFamily="34" charset="-122"/>
                <a:cs typeface="Sorts Mill Goudy" pitchFamily="34" charset="-120"/>
              </a:rPr>
              <a:t>Grid Cell Predictions</a:t>
            </a:r>
            <a:endParaRPr lang="en-US" sz="1600" dirty="0"/>
          </a:p>
        </p:txBody>
      </p:sp>
      <p:sp>
        <p:nvSpPr>
          <p:cNvPr id="18" name="Text 15"/>
          <p:cNvSpPr/>
          <p:nvPr/>
        </p:nvSpPr>
        <p:spPr>
          <a:xfrm>
            <a:off x="6390763" y="1624369"/>
            <a:ext cx="5353036" cy="221505"/>
          </a:xfrm>
          <a:prstGeom prst="rect">
            <a:avLst/>
          </a:prstGeom>
          <a:noFill/>
          <a:ln/>
        </p:spPr>
        <p:txBody>
          <a:bodyPr wrap="square" lIns="0" tIns="0" rIns="0" bIns="0" rtlCol="0" anchor="ctr"/>
          <a:lstStyle/>
          <a:p>
            <a:pPr>
              <a:lnSpc>
                <a:spcPct val="120000"/>
              </a:lnSpc>
            </a:pPr>
            <a:r>
              <a:rPr lang="en-US" sz="1163" dirty="0">
                <a:solidFill>
                  <a:srgbClr val="1F2937"/>
                </a:solidFill>
                <a:latin typeface="Quattrocento Sans" pitchFamily="34" charset="0"/>
                <a:ea typeface="Quattrocento Sans" pitchFamily="34" charset="-122"/>
                <a:cs typeface="Quattrocento Sans" pitchFamily="34" charset="-120"/>
              </a:rPr>
              <a:t>Each grid cell predicts:</a:t>
            </a:r>
            <a:endParaRPr lang="en-US" sz="1600" dirty="0"/>
          </a:p>
        </p:txBody>
      </p:sp>
      <p:sp>
        <p:nvSpPr>
          <p:cNvPr id="19" name="Shape 16"/>
          <p:cNvSpPr/>
          <p:nvPr/>
        </p:nvSpPr>
        <p:spPr>
          <a:xfrm>
            <a:off x="6394455" y="1960319"/>
            <a:ext cx="5277355" cy="634981"/>
          </a:xfrm>
          <a:custGeom>
            <a:avLst/>
            <a:gdLst/>
            <a:ahLst/>
            <a:cxnLst/>
            <a:rect l="l" t="t" r="r" b="b"/>
            <a:pathLst>
              <a:path w="5277355" h="634981">
                <a:moveTo>
                  <a:pt x="36918" y="0"/>
                </a:moveTo>
                <a:lnTo>
                  <a:pt x="5240437" y="0"/>
                </a:lnTo>
                <a:cubicBezTo>
                  <a:pt x="5260826" y="0"/>
                  <a:pt x="5277355" y="16529"/>
                  <a:pt x="5277355" y="36918"/>
                </a:cubicBezTo>
                <a:lnTo>
                  <a:pt x="5277355" y="598063"/>
                </a:lnTo>
                <a:cubicBezTo>
                  <a:pt x="5277355" y="618452"/>
                  <a:pt x="5260826" y="634981"/>
                  <a:pt x="5240437" y="634981"/>
                </a:cubicBezTo>
                <a:lnTo>
                  <a:pt x="36918" y="634981"/>
                </a:lnTo>
                <a:cubicBezTo>
                  <a:pt x="16529" y="634981"/>
                  <a:pt x="0" y="618452"/>
                  <a:pt x="0" y="598063"/>
                </a:cubicBezTo>
                <a:lnTo>
                  <a:pt x="0" y="36918"/>
                </a:lnTo>
                <a:cubicBezTo>
                  <a:pt x="0" y="16529"/>
                  <a:pt x="16529" y="0"/>
                  <a:pt x="36918" y="0"/>
                </a:cubicBezTo>
                <a:close/>
              </a:path>
            </a:pathLst>
          </a:custGeom>
          <a:solidFill>
            <a:srgbClr val="FFFFFF"/>
          </a:solidFill>
          <a:ln w="10160">
            <a:solidFill>
              <a:srgbClr val="D1D5DC"/>
            </a:solidFill>
            <a:prstDash val="solid"/>
          </a:ln>
        </p:spPr>
        <p:txBody>
          <a:bodyPr/>
          <a:lstStyle/>
          <a:p>
            <a:endParaRPr lang="en-US"/>
          </a:p>
        </p:txBody>
      </p:sp>
      <p:sp>
        <p:nvSpPr>
          <p:cNvPr id="20" name="Shape 17"/>
          <p:cNvSpPr/>
          <p:nvPr/>
        </p:nvSpPr>
        <p:spPr>
          <a:xfrm>
            <a:off x="6508899" y="2093224"/>
            <a:ext cx="369175" cy="369175"/>
          </a:xfrm>
          <a:custGeom>
            <a:avLst/>
            <a:gdLst/>
            <a:ahLst/>
            <a:cxnLst/>
            <a:rect l="l" t="t" r="r" b="b"/>
            <a:pathLst>
              <a:path w="369175" h="369175">
                <a:moveTo>
                  <a:pt x="184587" y="0"/>
                </a:moveTo>
                <a:lnTo>
                  <a:pt x="184587" y="0"/>
                </a:lnTo>
                <a:cubicBezTo>
                  <a:pt x="286464" y="0"/>
                  <a:pt x="369175" y="82711"/>
                  <a:pt x="369175" y="184587"/>
                </a:cubicBezTo>
                <a:lnTo>
                  <a:pt x="369175" y="184587"/>
                </a:lnTo>
                <a:cubicBezTo>
                  <a:pt x="369175" y="286464"/>
                  <a:pt x="286464" y="369175"/>
                  <a:pt x="184587" y="369175"/>
                </a:cubicBezTo>
                <a:lnTo>
                  <a:pt x="184587" y="369175"/>
                </a:lnTo>
                <a:cubicBezTo>
                  <a:pt x="82711" y="369175"/>
                  <a:pt x="0" y="286464"/>
                  <a:pt x="0" y="184587"/>
                </a:cubicBezTo>
                <a:lnTo>
                  <a:pt x="0" y="184587"/>
                </a:lnTo>
                <a:cubicBezTo>
                  <a:pt x="0" y="82711"/>
                  <a:pt x="82711" y="0"/>
                  <a:pt x="184587" y="0"/>
                </a:cubicBezTo>
                <a:close/>
              </a:path>
            </a:pathLst>
          </a:custGeom>
          <a:solidFill>
            <a:srgbClr val="8B0000"/>
          </a:solidFill>
          <a:ln/>
        </p:spPr>
        <p:txBody>
          <a:bodyPr/>
          <a:lstStyle/>
          <a:p>
            <a:endParaRPr lang="en-US"/>
          </a:p>
        </p:txBody>
      </p:sp>
      <p:sp>
        <p:nvSpPr>
          <p:cNvPr id="21" name="Text 18"/>
          <p:cNvSpPr/>
          <p:nvPr/>
        </p:nvSpPr>
        <p:spPr>
          <a:xfrm>
            <a:off x="6471981" y="2093224"/>
            <a:ext cx="443010" cy="369175"/>
          </a:xfrm>
          <a:prstGeom prst="rect">
            <a:avLst/>
          </a:prstGeom>
          <a:noFill/>
          <a:ln/>
        </p:spPr>
        <p:txBody>
          <a:bodyPr wrap="square" lIns="0" tIns="0" rIns="0" bIns="0" rtlCol="0" anchor="ctr"/>
          <a:lstStyle/>
          <a:p>
            <a:pPr algn="ctr">
              <a:lnSpc>
                <a:spcPct val="120000"/>
              </a:lnSpc>
            </a:pPr>
            <a:r>
              <a:rPr lang="en-US" sz="1163" b="1" dirty="0">
                <a:solidFill>
                  <a:srgbClr val="FFFFFF"/>
                </a:solidFill>
                <a:latin typeface="Quattrocento Sans" pitchFamily="34" charset="0"/>
                <a:ea typeface="Quattrocento Sans" pitchFamily="34" charset="-122"/>
                <a:cs typeface="Quattrocento Sans" pitchFamily="34" charset="-120"/>
              </a:rPr>
              <a:t>B</a:t>
            </a:r>
            <a:endParaRPr lang="en-US" sz="1600" dirty="0"/>
          </a:p>
        </p:txBody>
      </p:sp>
      <p:sp>
        <p:nvSpPr>
          <p:cNvPr id="22" name="Text 19"/>
          <p:cNvSpPr/>
          <p:nvPr/>
        </p:nvSpPr>
        <p:spPr>
          <a:xfrm>
            <a:off x="6988826" y="2074765"/>
            <a:ext cx="1384406"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B Bounding Boxes</a:t>
            </a:r>
            <a:endParaRPr lang="en-US" sz="1600" dirty="0"/>
          </a:p>
        </p:txBody>
      </p:sp>
      <p:sp>
        <p:nvSpPr>
          <p:cNvPr id="23" name="Text 20"/>
          <p:cNvSpPr/>
          <p:nvPr/>
        </p:nvSpPr>
        <p:spPr>
          <a:xfrm>
            <a:off x="6988826" y="2296270"/>
            <a:ext cx="1375176" cy="184587"/>
          </a:xfrm>
          <a:prstGeom prst="rect">
            <a:avLst/>
          </a:prstGeom>
          <a:noFill/>
          <a:ln/>
        </p:spPr>
        <p:txBody>
          <a:bodyPr wrap="square" lIns="0" tIns="0" rIns="0" bIns="0" rtlCol="0" anchor="ctr"/>
          <a:lstStyle/>
          <a:p>
            <a:pPr>
              <a:lnSpc>
                <a:spcPct val="120000"/>
              </a:lnSpc>
            </a:pPr>
            <a:r>
              <a:rPr lang="en-US" sz="1017" dirty="0">
                <a:solidFill>
                  <a:srgbClr val="6B7280"/>
                </a:solidFill>
                <a:latin typeface="Quattrocento Sans" pitchFamily="34" charset="0"/>
                <a:ea typeface="Quattrocento Sans" pitchFamily="34" charset="-122"/>
                <a:cs typeface="Quattrocento Sans" pitchFamily="34" charset="-120"/>
              </a:rPr>
              <a:t>Each with 5 parameters</a:t>
            </a:r>
            <a:endParaRPr lang="en-US" sz="1600" dirty="0"/>
          </a:p>
        </p:txBody>
      </p:sp>
      <p:sp>
        <p:nvSpPr>
          <p:cNvPr id="24" name="Shape 21"/>
          <p:cNvSpPr/>
          <p:nvPr/>
        </p:nvSpPr>
        <p:spPr>
          <a:xfrm>
            <a:off x="6394455" y="2676519"/>
            <a:ext cx="5277355" cy="634981"/>
          </a:xfrm>
          <a:custGeom>
            <a:avLst/>
            <a:gdLst/>
            <a:ahLst/>
            <a:cxnLst/>
            <a:rect l="l" t="t" r="r" b="b"/>
            <a:pathLst>
              <a:path w="5277355" h="634981">
                <a:moveTo>
                  <a:pt x="36918" y="0"/>
                </a:moveTo>
                <a:lnTo>
                  <a:pt x="5240437" y="0"/>
                </a:lnTo>
                <a:cubicBezTo>
                  <a:pt x="5260826" y="0"/>
                  <a:pt x="5277355" y="16529"/>
                  <a:pt x="5277355" y="36918"/>
                </a:cubicBezTo>
                <a:lnTo>
                  <a:pt x="5277355" y="598063"/>
                </a:lnTo>
                <a:cubicBezTo>
                  <a:pt x="5277355" y="618452"/>
                  <a:pt x="5260826" y="634981"/>
                  <a:pt x="5240437" y="634981"/>
                </a:cubicBezTo>
                <a:lnTo>
                  <a:pt x="36918" y="634981"/>
                </a:lnTo>
                <a:cubicBezTo>
                  <a:pt x="16529" y="634981"/>
                  <a:pt x="0" y="618452"/>
                  <a:pt x="0" y="598063"/>
                </a:cubicBezTo>
                <a:lnTo>
                  <a:pt x="0" y="36918"/>
                </a:lnTo>
                <a:cubicBezTo>
                  <a:pt x="0" y="16529"/>
                  <a:pt x="16529" y="0"/>
                  <a:pt x="36918" y="0"/>
                </a:cubicBezTo>
                <a:close/>
              </a:path>
            </a:pathLst>
          </a:custGeom>
          <a:solidFill>
            <a:srgbClr val="FFFFFF"/>
          </a:solidFill>
          <a:ln w="10160">
            <a:solidFill>
              <a:srgbClr val="D1D5DC"/>
            </a:solidFill>
            <a:prstDash val="solid"/>
          </a:ln>
        </p:spPr>
        <p:txBody>
          <a:bodyPr/>
          <a:lstStyle/>
          <a:p>
            <a:endParaRPr lang="en-US"/>
          </a:p>
        </p:txBody>
      </p:sp>
      <p:sp>
        <p:nvSpPr>
          <p:cNvPr id="25" name="Shape 22"/>
          <p:cNvSpPr/>
          <p:nvPr/>
        </p:nvSpPr>
        <p:spPr>
          <a:xfrm>
            <a:off x="6508899" y="2809420"/>
            <a:ext cx="369175" cy="369175"/>
          </a:xfrm>
          <a:custGeom>
            <a:avLst/>
            <a:gdLst/>
            <a:ahLst/>
            <a:cxnLst/>
            <a:rect l="l" t="t" r="r" b="b"/>
            <a:pathLst>
              <a:path w="369175" h="369175">
                <a:moveTo>
                  <a:pt x="184587" y="0"/>
                </a:moveTo>
                <a:lnTo>
                  <a:pt x="184587" y="0"/>
                </a:lnTo>
                <a:cubicBezTo>
                  <a:pt x="286464" y="0"/>
                  <a:pt x="369175" y="82711"/>
                  <a:pt x="369175" y="184587"/>
                </a:cubicBezTo>
                <a:lnTo>
                  <a:pt x="369175" y="184587"/>
                </a:lnTo>
                <a:cubicBezTo>
                  <a:pt x="369175" y="286464"/>
                  <a:pt x="286464" y="369175"/>
                  <a:pt x="184587" y="369175"/>
                </a:cubicBezTo>
                <a:lnTo>
                  <a:pt x="184587" y="369175"/>
                </a:lnTo>
                <a:cubicBezTo>
                  <a:pt x="82711" y="369175"/>
                  <a:pt x="0" y="286464"/>
                  <a:pt x="0" y="184587"/>
                </a:cubicBezTo>
                <a:lnTo>
                  <a:pt x="0" y="184587"/>
                </a:lnTo>
                <a:cubicBezTo>
                  <a:pt x="0" y="82711"/>
                  <a:pt x="82711" y="0"/>
                  <a:pt x="184587" y="0"/>
                </a:cubicBezTo>
                <a:close/>
              </a:path>
            </a:pathLst>
          </a:custGeom>
          <a:solidFill>
            <a:srgbClr val="1F2937"/>
          </a:solidFill>
          <a:ln/>
        </p:spPr>
        <p:txBody>
          <a:bodyPr/>
          <a:lstStyle/>
          <a:p>
            <a:endParaRPr lang="en-US"/>
          </a:p>
        </p:txBody>
      </p:sp>
      <p:sp>
        <p:nvSpPr>
          <p:cNvPr id="26" name="Text 23"/>
          <p:cNvSpPr/>
          <p:nvPr/>
        </p:nvSpPr>
        <p:spPr>
          <a:xfrm>
            <a:off x="6471981" y="2809420"/>
            <a:ext cx="443010" cy="369175"/>
          </a:xfrm>
          <a:prstGeom prst="rect">
            <a:avLst/>
          </a:prstGeom>
          <a:noFill/>
          <a:ln/>
        </p:spPr>
        <p:txBody>
          <a:bodyPr wrap="square" lIns="0" tIns="0" rIns="0" bIns="0" rtlCol="0" anchor="ctr"/>
          <a:lstStyle/>
          <a:p>
            <a:pPr algn="ctr">
              <a:lnSpc>
                <a:spcPct val="120000"/>
              </a:lnSpc>
            </a:pPr>
            <a:r>
              <a:rPr lang="en-US" sz="1163" b="1" dirty="0">
                <a:solidFill>
                  <a:srgbClr val="FFFFFF"/>
                </a:solidFill>
                <a:latin typeface="Quattrocento Sans" pitchFamily="34" charset="0"/>
                <a:ea typeface="Quattrocento Sans" pitchFamily="34" charset="-122"/>
                <a:cs typeface="Quattrocento Sans" pitchFamily="34" charset="-120"/>
              </a:rPr>
              <a:t>C</a:t>
            </a:r>
            <a:endParaRPr lang="en-US" sz="1600" dirty="0"/>
          </a:p>
        </p:txBody>
      </p:sp>
      <p:sp>
        <p:nvSpPr>
          <p:cNvPr id="27" name="Text 24"/>
          <p:cNvSpPr/>
          <p:nvPr/>
        </p:nvSpPr>
        <p:spPr>
          <a:xfrm>
            <a:off x="6988826" y="2790961"/>
            <a:ext cx="1808957"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C Class Probabilities</a:t>
            </a:r>
            <a:endParaRPr lang="en-US" sz="1600" dirty="0"/>
          </a:p>
        </p:txBody>
      </p:sp>
      <p:sp>
        <p:nvSpPr>
          <p:cNvPr id="28" name="Text 25"/>
          <p:cNvSpPr/>
          <p:nvPr/>
        </p:nvSpPr>
        <p:spPr>
          <a:xfrm>
            <a:off x="6988826" y="3012466"/>
            <a:ext cx="1799727" cy="184587"/>
          </a:xfrm>
          <a:prstGeom prst="rect">
            <a:avLst/>
          </a:prstGeom>
          <a:noFill/>
          <a:ln/>
        </p:spPr>
        <p:txBody>
          <a:bodyPr wrap="square" lIns="0" tIns="0" rIns="0" bIns="0" rtlCol="0" anchor="ctr"/>
          <a:lstStyle/>
          <a:p>
            <a:pPr>
              <a:lnSpc>
                <a:spcPct val="120000"/>
              </a:lnSpc>
            </a:pPr>
            <a:r>
              <a:rPr lang="en-US" sz="1017" dirty="0">
                <a:solidFill>
                  <a:srgbClr val="6B7280"/>
                </a:solidFill>
                <a:latin typeface="Quattrocento Sans" pitchFamily="34" charset="0"/>
                <a:ea typeface="Quattrocento Sans" pitchFamily="34" charset="-122"/>
                <a:cs typeface="Quattrocento Sans" pitchFamily="34" charset="-120"/>
              </a:rPr>
              <a:t>Conditional on object presence</a:t>
            </a:r>
            <a:endParaRPr lang="en-US" sz="1600" dirty="0"/>
          </a:p>
        </p:txBody>
      </p:sp>
      <p:sp>
        <p:nvSpPr>
          <p:cNvPr id="29" name="Shape 26"/>
          <p:cNvSpPr/>
          <p:nvPr/>
        </p:nvSpPr>
        <p:spPr>
          <a:xfrm>
            <a:off x="6213559" y="3617916"/>
            <a:ext cx="5598537" cy="2866643"/>
          </a:xfrm>
          <a:custGeom>
            <a:avLst/>
            <a:gdLst/>
            <a:ahLst/>
            <a:cxnLst/>
            <a:rect l="l" t="t" r="r" b="b"/>
            <a:pathLst>
              <a:path w="5598537" h="2866643">
                <a:moveTo>
                  <a:pt x="73845" y="0"/>
                </a:moveTo>
                <a:lnTo>
                  <a:pt x="5524692" y="0"/>
                </a:lnTo>
                <a:cubicBezTo>
                  <a:pt x="5565475" y="0"/>
                  <a:pt x="5598537" y="33061"/>
                  <a:pt x="5598537" y="73845"/>
                </a:cubicBezTo>
                <a:lnTo>
                  <a:pt x="5598537" y="2792798"/>
                </a:lnTo>
                <a:cubicBezTo>
                  <a:pt x="5598537" y="2833581"/>
                  <a:pt x="5565475" y="2866643"/>
                  <a:pt x="5524692" y="2866643"/>
                </a:cubicBezTo>
                <a:lnTo>
                  <a:pt x="73845" y="2866643"/>
                </a:lnTo>
                <a:cubicBezTo>
                  <a:pt x="33061" y="2866643"/>
                  <a:pt x="0" y="2833581"/>
                  <a:pt x="0" y="2792798"/>
                </a:cubicBezTo>
                <a:lnTo>
                  <a:pt x="0" y="73845"/>
                </a:lnTo>
                <a:cubicBezTo>
                  <a:pt x="0" y="33089"/>
                  <a:pt x="33089" y="0"/>
                  <a:pt x="73845" y="0"/>
                </a:cubicBezTo>
                <a:close/>
              </a:path>
            </a:pathLst>
          </a:custGeom>
          <a:solidFill>
            <a:srgbClr val="FFFFFF"/>
          </a:solidFill>
          <a:ln w="20320">
            <a:solidFill>
              <a:srgbClr val="1F2937"/>
            </a:solidFill>
            <a:prstDash val="solid"/>
          </a:ln>
        </p:spPr>
        <p:txBody>
          <a:bodyPr/>
          <a:lstStyle/>
          <a:p>
            <a:endParaRPr lang="en-US"/>
          </a:p>
        </p:txBody>
      </p:sp>
      <p:sp>
        <p:nvSpPr>
          <p:cNvPr id="30" name="Text 27"/>
          <p:cNvSpPr/>
          <p:nvPr/>
        </p:nvSpPr>
        <p:spPr>
          <a:xfrm>
            <a:off x="6368613" y="3772970"/>
            <a:ext cx="5380724" cy="258422"/>
          </a:xfrm>
          <a:prstGeom prst="rect">
            <a:avLst/>
          </a:prstGeom>
          <a:noFill/>
          <a:ln/>
        </p:spPr>
        <p:txBody>
          <a:bodyPr wrap="square" lIns="0" tIns="0" rIns="0" bIns="0" rtlCol="0" anchor="ctr"/>
          <a:lstStyle/>
          <a:p>
            <a:pPr>
              <a:lnSpc>
                <a:spcPct val="120000"/>
              </a:lnSpc>
            </a:pPr>
            <a:r>
              <a:rPr lang="en-US" sz="1453" b="1" dirty="0">
                <a:solidFill>
                  <a:srgbClr val="1F2937"/>
                </a:solidFill>
                <a:latin typeface="Sorts Mill Goudy" pitchFamily="34" charset="0"/>
                <a:ea typeface="Sorts Mill Goudy" pitchFamily="34" charset="-122"/>
                <a:cs typeface="Sorts Mill Goudy" pitchFamily="34" charset="-120"/>
              </a:rPr>
              <a:t>Mathematical Formulation</a:t>
            </a:r>
            <a:endParaRPr lang="en-US" sz="1600" dirty="0"/>
          </a:p>
        </p:txBody>
      </p:sp>
      <p:sp>
        <p:nvSpPr>
          <p:cNvPr id="31" name="Shape 28"/>
          <p:cNvSpPr/>
          <p:nvPr/>
        </p:nvSpPr>
        <p:spPr>
          <a:xfrm>
            <a:off x="6368613" y="4142145"/>
            <a:ext cx="5288430" cy="1633599"/>
          </a:xfrm>
          <a:custGeom>
            <a:avLst/>
            <a:gdLst/>
            <a:ahLst/>
            <a:cxnLst/>
            <a:rect l="l" t="t" r="r" b="b"/>
            <a:pathLst>
              <a:path w="5288430" h="1633599">
                <a:moveTo>
                  <a:pt x="36919" y="0"/>
                </a:moveTo>
                <a:lnTo>
                  <a:pt x="5251511" y="0"/>
                </a:lnTo>
                <a:cubicBezTo>
                  <a:pt x="5271901" y="0"/>
                  <a:pt x="5288430" y="16529"/>
                  <a:pt x="5288430" y="36919"/>
                </a:cubicBezTo>
                <a:lnTo>
                  <a:pt x="5288430" y="1596679"/>
                </a:lnTo>
                <a:cubicBezTo>
                  <a:pt x="5288430" y="1617069"/>
                  <a:pt x="5271901" y="1633599"/>
                  <a:pt x="5251511" y="1633599"/>
                </a:cubicBezTo>
                <a:lnTo>
                  <a:pt x="36919" y="1633599"/>
                </a:lnTo>
                <a:cubicBezTo>
                  <a:pt x="16543" y="1633599"/>
                  <a:pt x="0" y="1617056"/>
                  <a:pt x="0" y="1596679"/>
                </a:cubicBezTo>
                <a:lnTo>
                  <a:pt x="0" y="36919"/>
                </a:lnTo>
                <a:cubicBezTo>
                  <a:pt x="0" y="16543"/>
                  <a:pt x="16543" y="0"/>
                  <a:pt x="36919" y="0"/>
                </a:cubicBezTo>
                <a:close/>
              </a:path>
            </a:pathLst>
          </a:custGeom>
          <a:solidFill>
            <a:srgbClr val="F3F4F6"/>
          </a:solidFill>
          <a:ln/>
        </p:spPr>
        <p:txBody>
          <a:bodyPr/>
          <a:lstStyle/>
          <a:p>
            <a:endParaRPr lang="en-US"/>
          </a:p>
        </p:txBody>
      </p:sp>
      <p:sp>
        <p:nvSpPr>
          <p:cNvPr id="32" name="Text 29"/>
          <p:cNvSpPr/>
          <p:nvPr/>
        </p:nvSpPr>
        <p:spPr>
          <a:xfrm>
            <a:off x="6437833" y="4252897"/>
            <a:ext cx="5149989" cy="258422"/>
          </a:xfrm>
          <a:prstGeom prst="rect">
            <a:avLst/>
          </a:prstGeom>
          <a:noFill/>
          <a:ln/>
        </p:spPr>
        <p:txBody>
          <a:bodyPr wrap="square" lIns="0" tIns="0" rIns="0" bIns="0" rtlCol="0" anchor="ctr"/>
          <a:lstStyle/>
          <a:p>
            <a:pPr algn="ctr">
              <a:lnSpc>
                <a:spcPct val="130000"/>
              </a:lnSpc>
            </a:pPr>
            <a:r>
              <a:rPr lang="en-US" sz="1308" dirty="0">
                <a:solidFill>
                  <a:srgbClr val="1F2937"/>
                </a:solidFill>
                <a:latin typeface="MiSans" pitchFamily="34" charset="0"/>
                <a:ea typeface="MiSans" pitchFamily="34" charset="-122"/>
                <a:cs typeface="MiSans" pitchFamily="34" charset="-120"/>
              </a:rPr>
              <a:t>Output Shape = S × S × (B×5 + C)</a:t>
            </a:r>
            <a:endParaRPr lang="en-US" sz="1600" dirty="0"/>
          </a:p>
        </p:txBody>
      </p:sp>
      <p:sp>
        <p:nvSpPr>
          <p:cNvPr id="33" name="Shape 30"/>
          <p:cNvSpPr/>
          <p:nvPr/>
        </p:nvSpPr>
        <p:spPr>
          <a:xfrm>
            <a:off x="6479365" y="4588846"/>
            <a:ext cx="5066925" cy="7383"/>
          </a:xfrm>
          <a:custGeom>
            <a:avLst/>
            <a:gdLst/>
            <a:ahLst/>
            <a:cxnLst/>
            <a:rect l="l" t="t" r="r" b="b"/>
            <a:pathLst>
              <a:path w="5066925" h="7383">
                <a:moveTo>
                  <a:pt x="0" y="0"/>
                </a:moveTo>
                <a:lnTo>
                  <a:pt x="5066925" y="0"/>
                </a:lnTo>
                <a:lnTo>
                  <a:pt x="5066925" y="7383"/>
                </a:lnTo>
                <a:lnTo>
                  <a:pt x="0" y="7383"/>
                </a:lnTo>
                <a:lnTo>
                  <a:pt x="0" y="0"/>
                </a:lnTo>
                <a:close/>
              </a:path>
            </a:pathLst>
          </a:custGeom>
          <a:solidFill>
            <a:srgbClr val="99A1AF"/>
          </a:solidFill>
          <a:ln/>
        </p:spPr>
        <p:txBody>
          <a:bodyPr/>
          <a:lstStyle/>
          <a:p>
            <a:endParaRPr lang="en-US"/>
          </a:p>
        </p:txBody>
      </p:sp>
      <p:sp>
        <p:nvSpPr>
          <p:cNvPr id="34" name="Text 31"/>
          <p:cNvSpPr/>
          <p:nvPr/>
        </p:nvSpPr>
        <p:spPr>
          <a:xfrm>
            <a:off x="6479365" y="4666371"/>
            <a:ext cx="5140760"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S×S:</a:t>
            </a:r>
            <a:r>
              <a:rPr lang="en-US" sz="1163" dirty="0">
                <a:solidFill>
                  <a:srgbClr val="1F2937"/>
                </a:solidFill>
                <a:latin typeface="Quattrocento Sans" pitchFamily="34" charset="0"/>
                <a:ea typeface="Quattrocento Sans" pitchFamily="34" charset="-122"/>
                <a:cs typeface="Quattrocento Sans" pitchFamily="34" charset="-120"/>
              </a:rPr>
              <a:t> Grid size (e.g., 7×7)</a:t>
            </a:r>
            <a:endParaRPr lang="en-US" sz="1600" dirty="0"/>
          </a:p>
        </p:txBody>
      </p:sp>
      <p:sp>
        <p:nvSpPr>
          <p:cNvPr id="35" name="Text 32"/>
          <p:cNvSpPr/>
          <p:nvPr/>
        </p:nvSpPr>
        <p:spPr>
          <a:xfrm>
            <a:off x="6479365" y="4924794"/>
            <a:ext cx="5140760"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B:</a:t>
            </a:r>
            <a:r>
              <a:rPr lang="en-US" sz="1163" dirty="0">
                <a:solidFill>
                  <a:srgbClr val="1F2937"/>
                </a:solidFill>
                <a:latin typeface="Quattrocento Sans" pitchFamily="34" charset="0"/>
                <a:ea typeface="Quattrocento Sans" pitchFamily="34" charset="-122"/>
                <a:cs typeface="Quattrocento Sans" pitchFamily="34" charset="-120"/>
              </a:rPr>
              <a:t> Boxes per cell (typically 2-5)</a:t>
            </a:r>
            <a:endParaRPr lang="en-US" sz="1600" dirty="0"/>
          </a:p>
        </p:txBody>
      </p:sp>
      <p:sp>
        <p:nvSpPr>
          <p:cNvPr id="36" name="Text 33"/>
          <p:cNvSpPr/>
          <p:nvPr/>
        </p:nvSpPr>
        <p:spPr>
          <a:xfrm>
            <a:off x="6479365" y="5183216"/>
            <a:ext cx="5140760"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5:</a:t>
            </a:r>
            <a:r>
              <a:rPr lang="en-US" sz="1163" dirty="0">
                <a:solidFill>
                  <a:srgbClr val="1F2937"/>
                </a:solidFill>
                <a:latin typeface="Quattrocento Sans" pitchFamily="34" charset="0"/>
                <a:ea typeface="Quattrocento Sans" pitchFamily="34" charset="-122"/>
                <a:cs typeface="Quattrocento Sans" pitchFamily="34" charset="-120"/>
              </a:rPr>
              <a:t> x, y, w, h, confidence</a:t>
            </a:r>
            <a:endParaRPr lang="en-US" sz="1600" dirty="0"/>
          </a:p>
        </p:txBody>
      </p:sp>
      <p:sp>
        <p:nvSpPr>
          <p:cNvPr id="37" name="Text 34"/>
          <p:cNvSpPr/>
          <p:nvPr/>
        </p:nvSpPr>
        <p:spPr>
          <a:xfrm>
            <a:off x="6479365" y="5441638"/>
            <a:ext cx="5140760"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C:</a:t>
            </a:r>
            <a:r>
              <a:rPr lang="en-US" sz="1163" dirty="0">
                <a:solidFill>
                  <a:srgbClr val="1F2937"/>
                </a:solidFill>
                <a:latin typeface="Quattrocento Sans" pitchFamily="34" charset="0"/>
                <a:ea typeface="Quattrocento Sans" pitchFamily="34" charset="-122"/>
                <a:cs typeface="Quattrocento Sans" pitchFamily="34" charset="-120"/>
              </a:rPr>
              <a:t> Number of classes</a:t>
            </a:r>
            <a:endParaRPr lang="en-US" sz="1600" dirty="0"/>
          </a:p>
        </p:txBody>
      </p:sp>
      <p:sp>
        <p:nvSpPr>
          <p:cNvPr id="38" name="Shape 35"/>
          <p:cNvSpPr/>
          <p:nvPr/>
        </p:nvSpPr>
        <p:spPr>
          <a:xfrm>
            <a:off x="6387072" y="5884648"/>
            <a:ext cx="5269971" cy="443010"/>
          </a:xfrm>
          <a:custGeom>
            <a:avLst/>
            <a:gdLst/>
            <a:ahLst/>
            <a:cxnLst/>
            <a:rect l="l" t="t" r="r" b="b"/>
            <a:pathLst>
              <a:path w="5269971" h="443010">
                <a:moveTo>
                  <a:pt x="36916" y="0"/>
                </a:moveTo>
                <a:lnTo>
                  <a:pt x="5233055" y="0"/>
                </a:lnTo>
                <a:cubicBezTo>
                  <a:pt x="5253443" y="0"/>
                  <a:pt x="5269971" y="16528"/>
                  <a:pt x="5269971" y="36916"/>
                </a:cubicBezTo>
                <a:lnTo>
                  <a:pt x="5269971" y="406094"/>
                </a:lnTo>
                <a:cubicBezTo>
                  <a:pt x="5269971" y="426482"/>
                  <a:pt x="5253443" y="443010"/>
                  <a:pt x="5233055" y="443010"/>
                </a:cubicBezTo>
                <a:lnTo>
                  <a:pt x="36916" y="443010"/>
                </a:lnTo>
                <a:cubicBezTo>
                  <a:pt x="16528" y="443010"/>
                  <a:pt x="0" y="426482"/>
                  <a:pt x="0" y="406094"/>
                </a:cubicBezTo>
                <a:lnTo>
                  <a:pt x="0" y="36916"/>
                </a:lnTo>
                <a:cubicBezTo>
                  <a:pt x="0" y="16528"/>
                  <a:pt x="16528" y="0"/>
                  <a:pt x="36916" y="0"/>
                </a:cubicBezTo>
                <a:close/>
              </a:path>
            </a:pathLst>
          </a:custGeom>
          <a:solidFill>
            <a:srgbClr val="8B0000">
              <a:alpha val="10196"/>
            </a:srgbClr>
          </a:solidFill>
          <a:ln/>
        </p:spPr>
        <p:txBody>
          <a:bodyPr/>
          <a:lstStyle/>
          <a:p>
            <a:endParaRPr lang="en-US"/>
          </a:p>
        </p:txBody>
      </p:sp>
      <p:sp>
        <p:nvSpPr>
          <p:cNvPr id="39" name="Shape 36"/>
          <p:cNvSpPr/>
          <p:nvPr/>
        </p:nvSpPr>
        <p:spPr>
          <a:xfrm>
            <a:off x="6387072" y="5884648"/>
            <a:ext cx="36917" cy="443010"/>
          </a:xfrm>
          <a:custGeom>
            <a:avLst/>
            <a:gdLst/>
            <a:ahLst/>
            <a:cxnLst/>
            <a:rect l="l" t="t" r="r" b="b"/>
            <a:pathLst>
              <a:path w="36917" h="443010">
                <a:moveTo>
                  <a:pt x="36917" y="0"/>
                </a:moveTo>
                <a:lnTo>
                  <a:pt x="36917" y="0"/>
                </a:lnTo>
                <a:lnTo>
                  <a:pt x="36917" y="443010"/>
                </a:lnTo>
                <a:lnTo>
                  <a:pt x="36917" y="443010"/>
                </a:lnTo>
                <a:cubicBezTo>
                  <a:pt x="16529" y="443010"/>
                  <a:pt x="0" y="426481"/>
                  <a:pt x="0" y="406092"/>
                </a:cubicBezTo>
                <a:lnTo>
                  <a:pt x="0" y="36917"/>
                </a:lnTo>
                <a:cubicBezTo>
                  <a:pt x="0" y="16542"/>
                  <a:pt x="16542" y="0"/>
                  <a:pt x="36917" y="0"/>
                </a:cubicBezTo>
                <a:close/>
              </a:path>
            </a:pathLst>
          </a:custGeom>
          <a:solidFill>
            <a:srgbClr val="8B0000"/>
          </a:solidFill>
          <a:ln/>
        </p:spPr>
        <p:txBody>
          <a:bodyPr/>
          <a:lstStyle/>
          <a:p>
            <a:endParaRPr lang="en-US"/>
          </a:p>
        </p:txBody>
      </p:sp>
      <p:sp>
        <p:nvSpPr>
          <p:cNvPr id="40" name="Text 37"/>
          <p:cNvSpPr/>
          <p:nvPr/>
        </p:nvSpPr>
        <p:spPr>
          <a:xfrm>
            <a:off x="6516283" y="5995401"/>
            <a:ext cx="5103843" cy="221505"/>
          </a:xfrm>
          <a:prstGeom prst="rect">
            <a:avLst/>
          </a:prstGeom>
          <a:noFill/>
          <a:ln/>
        </p:spPr>
        <p:txBody>
          <a:bodyPr wrap="square" lIns="0" tIns="0" rIns="0" bIns="0" rtlCol="0" anchor="ctr"/>
          <a:lstStyle/>
          <a:p>
            <a:pPr>
              <a:lnSpc>
                <a:spcPct val="120000"/>
              </a:lnSpc>
            </a:pPr>
            <a:r>
              <a:rPr lang="en-US" sz="1163" b="1" dirty="0">
                <a:solidFill>
                  <a:srgbClr val="1F2937"/>
                </a:solidFill>
                <a:latin typeface="Quattrocento Sans" pitchFamily="34" charset="0"/>
                <a:ea typeface="Quattrocento Sans" pitchFamily="34" charset="-122"/>
                <a:cs typeface="Quattrocento Sans" pitchFamily="34" charset="-120"/>
              </a:rPr>
              <a:t>Example (YOLOv1):</a:t>
            </a:r>
            <a:r>
              <a:rPr lang="en-US" sz="1163" dirty="0">
                <a:solidFill>
                  <a:srgbClr val="1F2937"/>
                </a:solidFill>
                <a:latin typeface="Quattrocento Sans" pitchFamily="34" charset="0"/>
                <a:ea typeface="Quattrocento Sans" pitchFamily="34" charset="-122"/>
                <a:cs typeface="Quattrocento Sans" pitchFamily="34" charset="-120"/>
              </a:rPr>
              <a:t> S=7, B=2, C=20 → Output = 7×7×30 tensor</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03</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Bounding Boxes &amp;</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Localization</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Understanding how YOLO predicts object locations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4945" y="334945"/>
            <a:ext cx="11589099" cy="200967"/>
          </a:xfrm>
          <a:prstGeom prst="rect">
            <a:avLst/>
          </a:prstGeom>
          <a:noFill/>
          <a:ln/>
        </p:spPr>
        <p:txBody>
          <a:bodyPr wrap="square" lIns="0" tIns="0" rIns="0" bIns="0" rtlCol="0" anchor="ctr"/>
          <a:lstStyle/>
          <a:p>
            <a:pPr>
              <a:lnSpc>
                <a:spcPct val="130000"/>
              </a:lnSpc>
            </a:pPr>
            <a:r>
              <a:rPr lang="en-US" sz="1055" b="1" kern="0" spc="53" dirty="0">
                <a:solidFill>
                  <a:srgbClr val="8B0000"/>
                </a:solidFill>
                <a:latin typeface="Quattrocento Sans" pitchFamily="34" charset="0"/>
                <a:ea typeface="Quattrocento Sans" pitchFamily="34" charset="-122"/>
                <a:cs typeface="Quattrocento Sans" pitchFamily="34" charset="-120"/>
              </a:rPr>
              <a:t>3.1 BOUNDING BOXES</a:t>
            </a:r>
            <a:endParaRPr lang="en-US" sz="1600" dirty="0"/>
          </a:p>
        </p:txBody>
      </p:sp>
      <p:sp>
        <p:nvSpPr>
          <p:cNvPr id="3" name="Text 1"/>
          <p:cNvSpPr/>
          <p:nvPr/>
        </p:nvSpPr>
        <p:spPr>
          <a:xfrm>
            <a:off x="334945" y="569407"/>
            <a:ext cx="11672835" cy="334945"/>
          </a:xfrm>
          <a:prstGeom prst="rect">
            <a:avLst/>
          </a:prstGeom>
          <a:noFill/>
          <a:ln/>
        </p:spPr>
        <p:txBody>
          <a:bodyPr wrap="square" lIns="0" tIns="0" rIns="0" bIns="0" rtlCol="0" anchor="ctr"/>
          <a:lstStyle/>
          <a:p>
            <a:pPr>
              <a:lnSpc>
                <a:spcPct val="90000"/>
              </a:lnSpc>
            </a:pPr>
            <a:r>
              <a:rPr lang="en-US" sz="2374" b="1" dirty="0">
                <a:solidFill>
                  <a:srgbClr val="1F2937"/>
                </a:solidFill>
                <a:latin typeface="Sorts Mill Goudy" pitchFamily="34" charset="0"/>
                <a:ea typeface="Sorts Mill Goudy" pitchFamily="34" charset="-122"/>
                <a:cs typeface="Sorts Mill Goudy" pitchFamily="34" charset="-120"/>
              </a:rPr>
              <a:t>Bounding Box Predictions</a:t>
            </a:r>
            <a:endParaRPr lang="en-US" sz="1600" dirty="0"/>
          </a:p>
        </p:txBody>
      </p:sp>
      <p:sp>
        <p:nvSpPr>
          <p:cNvPr id="4" name="Shape 2"/>
          <p:cNvSpPr/>
          <p:nvPr/>
        </p:nvSpPr>
        <p:spPr>
          <a:xfrm>
            <a:off x="341644" y="1045029"/>
            <a:ext cx="5648848" cy="5473002"/>
          </a:xfrm>
          <a:custGeom>
            <a:avLst/>
            <a:gdLst/>
            <a:ahLst/>
            <a:cxnLst/>
            <a:rect l="l" t="t" r="r" b="b"/>
            <a:pathLst>
              <a:path w="5648848" h="5473002">
                <a:moveTo>
                  <a:pt x="66990" y="0"/>
                </a:moveTo>
                <a:lnTo>
                  <a:pt x="5581859" y="0"/>
                </a:lnTo>
                <a:cubicBezTo>
                  <a:pt x="5618856" y="0"/>
                  <a:pt x="5648848" y="29992"/>
                  <a:pt x="5648848" y="66990"/>
                </a:cubicBezTo>
                <a:lnTo>
                  <a:pt x="5648848" y="5406013"/>
                </a:lnTo>
                <a:cubicBezTo>
                  <a:pt x="5648848" y="5443010"/>
                  <a:pt x="5618856" y="5473002"/>
                  <a:pt x="5581859" y="5473002"/>
                </a:cubicBezTo>
                <a:lnTo>
                  <a:pt x="66990" y="5473002"/>
                </a:lnTo>
                <a:cubicBezTo>
                  <a:pt x="29992" y="5473002"/>
                  <a:pt x="0" y="5443010"/>
                  <a:pt x="0" y="5406013"/>
                </a:cubicBezTo>
                <a:lnTo>
                  <a:pt x="0" y="66990"/>
                </a:lnTo>
                <a:cubicBezTo>
                  <a:pt x="0" y="30017"/>
                  <a:pt x="30017" y="0"/>
                  <a:pt x="66990"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515815" y="1219201"/>
            <a:ext cx="5384242" cy="234462"/>
          </a:xfrm>
          <a:prstGeom prst="rect">
            <a:avLst/>
          </a:prstGeom>
          <a:noFill/>
          <a:ln/>
        </p:spPr>
        <p:txBody>
          <a:bodyPr wrap="square" lIns="0" tIns="0" rIns="0" bIns="0" rtlCol="0" anchor="ctr"/>
          <a:lstStyle/>
          <a:p>
            <a:pPr>
              <a:lnSpc>
                <a:spcPct val="120000"/>
              </a:lnSpc>
            </a:pPr>
            <a:r>
              <a:rPr lang="en-US" sz="1319" b="1" dirty="0">
                <a:solidFill>
                  <a:srgbClr val="1F2937"/>
                </a:solidFill>
                <a:latin typeface="Sorts Mill Goudy" pitchFamily="34" charset="0"/>
                <a:ea typeface="Sorts Mill Goudy" pitchFamily="34" charset="-122"/>
                <a:cs typeface="Sorts Mill Goudy" pitchFamily="34" charset="-120"/>
              </a:rPr>
              <a:t>5 Components Per Box</a:t>
            </a:r>
            <a:endParaRPr lang="en-US" sz="1600" dirty="0"/>
          </a:p>
        </p:txBody>
      </p:sp>
      <p:sp>
        <p:nvSpPr>
          <p:cNvPr id="6" name="Shape 4"/>
          <p:cNvSpPr/>
          <p:nvPr/>
        </p:nvSpPr>
        <p:spPr>
          <a:xfrm>
            <a:off x="532563" y="1587640"/>
            <a:ext cx="5283758" cy="870857"/>
          </a:xfrm>
          <a:custGeom>
            <a:avLst/>
            <a:gdLst/>
            <a:ahLst/>
            <a:cxnLst/>
            <a:rect l="l" t="t" r="r" b="b"/>
            <a:pathLst>
              <a:path w="5283758" h="870857">
                <a:moveTo>
                  <a:pt x="33495" y="0"/>
                </a:moveTo>
                <a:lnTo>
                  <a:pt x="5216772" y="0"/>
                </a:lnTo>
                <a:cubicBezTo>
                  <a:pt x="5253767" y="0"/>
                  <a:pt x="5283758" y="29991"/>
                  <a:pt x="5283758" y="66986"/>
                </a:cubicBezTo>
                <a:lnTo>
                  <a:pt x="5283758" y="803871"/>
                </a:lnTo>
                <a:cubicBezTo>
                  <a:pt x="5283758" y="840866"/>
                  <a:pt x="5253767" y="870857"/>
                  <a:pt x="5216772" y="870857"/>
                </a:cubicBezTo>
                <a:lnTo>
                  <a:pt x="33495" y="870857"/>
                </a:lnTo>
                <a:cubicBezTo>
                  <a:pt x="14996" y="870857"/>
                  <a:pt x="0" y="855861"/>
                  <a:pt x="0" y="837363"/>
                </a:cubicBezTo>
                <a:lnTo>
                  <a:pt x="0" y="33495"/>
                </a:lnTo>
                <a:cubicBezTo>
                  <a:pt x="0" y="15008"/>
                  <a:pt x="15008" y="0"/>
                  <a:pt x="33495" y="0"/>
                </a:cubicBezTo>
                <a:close/>
              </a:path>
            </a:pathLst>
          </a:custGeom>
          <a:solidFill>
            <a:srgbClr val="FEF2F2"/>
          </a:solidFill>
          <a:ln/>
        </p:spPr>
        <p:txBody>
          <a:bodyPr/>
          <a:lstStyle/>
          <a:p>
            <a:endParaRPr lang="en-US"/>
          </a:p>
        </p:txBody>
      </p:sp>
      <p:sp>
        <p:nvSpPr>
          <p:cNvPr id="7" name="Shape 5"/>
          <p:cNvSpPr/>
          <p:nvPr/>
        </p:nvSpPr>
        <p:spPr>
          <a:xfrm>
            <a:off x="532563" y="1587640"/>
            <a:ext cx="33495" cy="870857"/>
          </a:xfrm>
          <a:custGeom>
            <a:avLst/>
            <a:gdLst/>
            <a:ahLst/>
            <a:cxnLst/>
            <a:rect l="l" t="t" r="r" b="b"/>
            <a:pathLst>
              <a:path w="33495" h="870857">
                <a:moveTo>
                  <a:pt x="33495" y="0"/>
                </a:moveTo>
                <a:lnTo>
                  <a:pt x="33495" y="0"/>
                </a:lnTo>
                <a:lnTo>
                  <a:pt x="33495" y="870857"/>
                </a:lnTo>
                <a:lnTo>
                  <a:pt x="33495" y="870857"/>
                </a:lnTo>
                <a:cubicBezTo>
                  <a:pt x="14996" y="870857"/>
                  <a:pt x="0" y="855861"/>
                  <a:pt x="0" y="837363"/>
                </a:cubicBezTo>
                <a:lnTo>
                  <a:pt x="0" y="33495"/>
                </a:lnTo>
                <a:cubicBezTo>
                  <a:pt x="0" y="15008"/>
                  <a:pt x="15008" y="0"/>
                  <a:pt x="33495" y="0"/>
                </a:cubicBezTo>
                <a:close/>
              </a:path>
            </a:pathLst>
          </a:custGeom>
          <a:solidFill>
            <a:srgbClr val="FB2C36"/>
          </a:solidFill>
          <a:ln/>
        </p:spPr>
        <p:txBody>
          <a:bodyPr/>
          <a:lstStyle/>
          <a:p>
            <a:endParaRPr lang="en-US"/>
          </a:p>
        </p:txBody>
      </p:sp>
      <p:sp>
        <p:nvSpPr>
          <p:cNvPr id="8" name="Shape 6"/>
          <p:cNvSpPr/>
          <p:nvPr/>
        </p:nvSpPr>
        <p:spPr>
          <a:xfrm>
            <a:off x="649793" y="1721618"/>
            <a:ext cx="334945" cy="334945"/>
          </a:xfrm>
          <a:custGeom>
            <a:avLst/>
            <a:gdLst/>
            <a:ahLst/>
            <a:cxnLst/>
            <a:rect l="l" t="t" r="r" b="b"/>
            <a:pathLst>
              <a:path w="334945" h="334945">
                <a:moveTo>
                  <a:pt x="167473" y="0"/>
                </a:moveTo>
                <a:lnTo>
                  <a:pt x="167473" y="0"/>
                </a:lnTo>
                <a:cubicBezTo>
                  <a:pt x="259903" y="0"/>
                  <a:pt x="334945" y="75042"/>
                  <a:pt x="334945" y="167473"/>
                </a:cubicBezTo>
                <a:lnTo>
                  <a:pt x="334945" y="167473"/>
                </a:lnTo>
                <a:cubicBezTo>
                  <a:pt x="334945" y="259903"/>
                  <a:pt x="259903" y="334945"/>
                  <a:pt x="167473" y="334945"/>
                </a:cubicBezTo>
                <a:lnTo>
                  <a:pt x="167473" y="334945"/>
                </a:lnTo>
                <a:cubicBezTo>
                  <a:pt x="75042" y="334945"/>
                  <a:pt x="0" y="259903"/>
                  <a:pt x="0" y="167473"/>
                </a:cubicBezTo>
                <a:lnTo>
                  <a:pt x="0" y="167473"/>
                </a:lnTo>
                <a:cubicBezTo>
                  <a:pt x="0" y="75042"/>
                  <a:pt x="75042" y="0"/>
                  <a:pt x="167473" y="0"/>
                </a:cubicBezTo>
                <a:close/>
              </a:path>
            </a:pathLst>
          </a:custGeom>
          <a:solidFill>
            <a:srgbClr val="FB2C36"/>
          </a:solidFill>
          <a:ln/>
        </p:spPr>
        <p:txBody>
          <a:bodyPr/>
          <a:lstStyle/>
          <a:p>
            <a:endParaRPr lang="en-US"/>
          </a:p>
        </p:txBody>
      </p:sp>
      <p:sp>
        <p:nvSpPr>
          <p:cNvPr id="9" name="Text 7"/>
          <p:cNvSpPr/>
          <p:nvPr/>
        </p:nvSpPr>
        <p:spPr>
          <a:xfrm>
            <a:off x="612112" y="1721618"/>
            <a:ext cx="410308" cy="334945"/>
          </a:xfrm>
          <a:prstGeom prst="rect">
            <a:avLst/>
          </a:prstGeom>
          <a:noFill/>
          <a:ln/>
        </p:spPr>
        <p:txBody>
          <a:bodyPr wrap="square" lIns="0" tIns="0" rIns="0" bIns="0" rtlCol="0" anchor="ctr"/>
          <a:lstStyle/>
          <a:p>
            <a:pPr algn="ctr">
              <a:lnSpc>
                <a:spcPct val="130000"/>
              </a:lnSpc>
            </a:pPr>
            <a:r>
              <a:rPr lang="en-US" sz="1187" b="1" dirty="0">
                <a:solidFill>
                  <a:srgbClr val="FFFFFF"/>
                </a:solidFill>
                <a:latin typeface="Quattrocento Sans" pitchFamily="34" charset="0"/>
                <a:ea typeface="Quattrocento Sans" pitchFamily="34" charset="-122"/>
                <a:cs typeface="Quattrocento Sans" pitchFamily="34" charset="-120"/>
              </a:rPr>
              <a:t>x</a:t>
            </a:r>
            <a:endParaRPr lang="en-US" sz="1600" dirty="0"/>
          </a:p>
        </p:txBody>
      </p:sp>
      <p:sp>
        <p:nvSpPr>
          <p:cNvPr id="10" name="Text 8"/>
          <p:cNvSpPr/>
          <p:nvPr/>
        </p:nvSpPr>
        <p:spPr>
          <a:xfrm>
            <a:off x="1085222" y="1688124"/>
            <a:ext cx="1465385" cy="234462"/>
          </a:xfrm>
          <a:prstGeom prst="rect">
            <a:avLst/>
          </a:prstGeom>
          <a:noFill/>
          <a:ln/>
        </p:spPr>
        <p:txBody>
          <a:bodyPr wrap="square" lIns="0" tIns="0" rIns="0" bIns="0" rtlCol="0" anchor="ctr"/>
          <a:lstStyle/>
          <a:p>
            <a:pPr>
              <a:lnSpc>
                <a:spcPct val="130000"/>
              </a:lnSpc>
            </a:pPr>
            <a:r>
              <a:rPr lang="en-US" sz="1187" b="1" dirty="0">
                <a:solidFill>
                  <a:srgbClr val="82181A"/>
                </a:solidFill>
                <a:latin typeface="Quattrocento Sans" pitchFamily="34" charset="0"/>
                <a:ea typeface="Quattrocento Sans" pitchFamily="34" charset="-122"/>
                <a:cs typeface="Quattrocento Sans" pitchFamily="34" charset="-120"/>
              </a:rPr>
              <a:t>x coordinate</a:t>
            </a:r>
            <a:endParaRPr lang="en-US" sz="1600" dirty="0"/>
          </a:p>
        </p:txBody>
      </p:sp>
      <p:sp>
        <p:nvSpPr>
          <p:cNvPr id="11" name="Text 9"/>
          <p:cNvSpPr/>
          <p:nvPr/>
        </p:nvSpPr>
        <p:spPr>
          <a:xfrm>
            <a:off x="1085222" y="1922585"/>
            <a:ext cx="1448637" cy="167473"/>
          </a:xfrm>
          <a:prstGeom prst="rect">
            <a:avLst/>
          </a:prstGeom>
          <a:noFill/>
          <a:ln/>
        </p:spPr>
        <p:txBody>
          <a:bodyPr wrap="square" lIns="0" tIns="0" rIns="0" bIns="0" rtlCol="0" anchor="ctr"/>
          <a:lstStyle/>
          <a:p>
            <a:pPr>
              <a:lnSpc>
                <a:spcPct val="120000"/>
              </a:lnSpc>
            </a:pPr>
            <a:r>
              <a:rPr lang="en-US" sz="923" dirty="0">
                <a:solidFill>
                  <a:srgbClr val="C10007"/>
                </a:solidFill>
                <a:latin typeface="Quattrocento Sans" pitchFamily="34" charset="0"/>
                <a:ea typeface="Quattrocento Sans" pitchFamily="34" charset="-122"/>
                <a:cs typeface="Quattrocento Sans" pitchFamily="34" charset="-120"/>
              </a:rPr>
              <a:t>Center x relative to grid cell</a:t>
            </a:r>
            <a:endParaRPr lang="en-US" sz="1600" dirty="0"/>
          </a:p>
        </p:txBody>
      </p:sp>
      <p:sp>
        <p:nvSpPr>
          <p:cNvPr id="12" name="Text 10"/>
          <p:cNvSpPr/>
          <p:nvPr/>
        </p:nvSpPr>
        <p:spPr>
          <a:xfrm>
            <a:off x="649793" y="2157047"/>
            <a:ext cx="5133033" cy="200967"/>
          </a:xfrm>
          <a:prstGeom prst="rect">
            <a:avLst/>
          </a:prstGeom>
          <a:noFill/>
          <a:ln/>
        </p:spPr>
        <p:txBody>
          <a:bodyPr wrap="square" lIns="0" tIns="0" rIns="0" bIns="0" rtlCol="0" anchor="ctr"/>
          <a:lstStyle/>
          <a:p>
            <a:pPr>
              <a:lnSpc>
                <a:spcPct val="130000"/>
              </a:lnSpc>
            </a:pPr>
            <a:r>
              <a:rPr lang="en-US" sz="1055" dirty="0">
                <a:solidFill>
                  <a:srgbClr val="9F0712"/>
                </a:solidFill>
                <a:latin typeface="Quattrocento Sans" pitchFamily="34" charset="0"/>
                <a:ea typeface="Quattrocento Sans" pitchFamily="34" charset="-122"/>
                <a:cs typeface="Quattrocento Sans" pitchFamily="34" charset="-120"/>
              </a:rPr>
              <a:t>Offset from left edge of grid cell, normalized [0, 1]</a:t>
            </a:r>
            <a:endParaRPr lang="en-US" sz="1600" dirty="0"/>
          </a:p>
        </p:txBody>
      </p:sp>
      <p:sp>
        <p:nvSpPr>
          <p:cNvPr id="13" name="Shape 11"/>
          <p:cNvSpPr/>
          <p:nvPr/>
        </p:nvSpPr>
        <p:spPr>
          <a:xfrm>
            <a:off x="532563" y="2558981"/>
            <a:ext cx="5283758" cy="870857"/>
          </a:xfrm>
          <a:custGeom>
            <a:avLst/>
            <a:gdLst/>
            <a:ahLst/>
            <a:cxnLst/>
            <a:rect l="l" t="t" r="r" b="b"/>
            <a:pathLst>
              <a:path w="5283758" h="870857">
                <a:moveTo>
                  <a:pt x="33495" y="0"/>
                </a:moveTo>
                <a:lnTo>
                  <a:pt x="5216772" y="0"/>
                </a:lnTo>
                <a:cubicBezTo>
                  <a:pt x="5253767" y="0"/>
                  <a:pt x="5283758" y="29991"/>
                  <a:pt x="5283758" y="66986"/>
                </a:cubicBezTo>
                <a:lnTo>
                  <a:pt x="5283758" y="803871"/>
                </a:lnTo>
                <a:cubicBezTo>
                  <a:pt x="5283758" y="840866"/>
                  <a:pt x="5253767" y="870857"/>
                  <a:pt x="5216772" y="870857"/>
                </a:cubicBezTo>
                <a:lnTo>
                  <a:pt x="33495" y="870857"/>
                </a:lnTo>
                <a:cubicBezTo>
                  <a:pt x="14996" y="870857"/>
                  <a:pt x="0" y="855861"/>
                  <a:pt x="0" y="837363"/>
                </a:cubicBezTo>
                <a:lnTo>
                  <a:pt x="0" y="33495"/>
                </a:lnTo>
                <a:cubicBezTo>
                  <a:pt x="0" y="15008"/>
                  <a:pt x="15008" y="0"/>
                  <a:pt x="33495" y="0"/>
                </a:cubicBezTo>
                <a:close/>
              </a:path>
            </a:pathLst>
          </a:custGeom>
          <a:solidFill>
            <a:srgbClr val="EFF6FF"/>
          </a:solidFill>
          <a:ln/>
        </p:spPr>
        <p:txBody>
          <a:bodyPr/>
          <a:lstStyle/>
          <a:p>
            <a:endParaRPr lang="en-US"/>
          </a:p>
        </p:txBody>
      </p:sp>
      <p:sp>
        <p:nvSpPr>
          <p:cNvPr id="14" name="Shape 12"/>
          <p:cNvSpPr/>
          <p:nvPr/>
        </p:nvSpPr>
        <p:spPr>
          <a:xfrm>
            <a:off x="532563" y="2558981"/>
            <a:ext cx="33495" cy="870857"/>
          </a:xfrm>
          <a:custGeom>
            <a:avLst/>
            <a:gdLst/>
            <a:ahLst/>
            <a:cxnLst/>
            <a:rect l="l" t="t" r="r" b="b"/>
            <a:pathLst>
              <a:path w="33495" h="870857">
                <a:moveTo>
                  <a:pt x="33495" y="0"/>
                </a:moveTo>
                <a:lnTo>
                  <a:pt x="33495" y="0"/>
                </a:lnTo>
                <a:lnTo>
                  <a:pt x="33495" y="870857"/>
                </a:lnTo>
                <a:lnTo>
                  <a:pt x="33495" y="870857"/>
                </a:lnTo>
                <a:cubicBezTo>
                  <a:pt x="14996" y="870857"/>
                  <a:pt x="0" y="855861"/>
                  <a:pt x="0" y="837363"/>
                </a:cubicBezTo>
                <a:lnTo>
                  <a:pt x="0" y="33495"/>
                </a:lnTo>
                <a:cubicBezTo>
                  <a:pt x="0" y="15008"/>
                  <a:pt x="15008" y="0"/>
                  <a:pt x="33495" y="0"/>
                </a:cubicBezTo>
                <a:close/>
              </a:path>
            </a:pathLst>
          </a:custGeom>
          <a:solidFill>
            <a:srgbClr val="2B7FFF"/>
          </a:solidFill>
          <a:ln/>
        </p:spPr>
        <p:txBody>
          <a:bodyPr/>
          <a:lstStyle/>
          <a:p>
            <a:endParaRPr lang="en-US"/>
          </a:p>
        </p:txBody>
      </p:sp>
      <p:sp>
        <p:nvSpPr>
          <p:cNvPr id="15" name="Shape 13"/>
          <p:cNvSpPr/>
          <p:nvPr/>
        </p:nvSpPr>
        <p:spPr>
          <a:xfrm>
            <a:off x="649793" y="2692959"/>
            <a:ext cx="334945" cy="334945"/>
          </a:xfrm>
          <a:custGeom>
            <a:avLst/>
            <a:gdLst/>
            <a:ahLst/>
            <a:cxnLst/>
            <a:rect l="l" t="t" r="r" b="b"/>
            <a:pathLst>
              <a:path w="334945" h="334945">
                <a:moveTo>
                  <a:pt x="167473" y="0"/>
                </a:moveTo>
                <a:lnTo>
                  <a:pt x="167473" y="0"/>
                </a:lnTo>
                <a:cubicBezTo>
                  <a:pt x="259903" y="0"/>
                  <a:pt x="334945" y="75042"/>
                  <a:pt x="334945" y="167473"/>
                </a:cubicBezTo>
                <a:lnTo>
                  <a:pt x="334945" y="167473"/>
                </a:lnTo>
                <a:cubicBezTo>
                  <a:pt x="334945" y="259903"/>
                  <a:pt x="259903" y="334945"/>
                  <a:pt x="167473" y="334945"/>
                </a:cubicBezTo>
                <a:lnTo>
                  <a:pt x="167473" y="334945"/>
                </a:lnTo>
                <a:cubicBezTo>
                  <a:pt x="75042" y="334945"/>
                  <a:pt x="0" y="259903"/>
                  <a:pt x="0" y="167473"/>
                </a:cubicBezTo>
                <a:lnTo>
                  <a:pt x="0" y="167473"/>
                </a:lnTo>
                <a:cubicBezTo>
                  <a:pt x="0" y="75042"/>
                  <a:pt x="75042" y="0"/>
                  <a:pt x="167473" y="0"/>
                </a:cubicBezTo>
                <a:close/>
              </a:path>
            </a:pathLst>
          </a:custGeom>
          <a:solidFill>
            <a:srgbClr val="2B7FFF"/>
          </a:solidFill>
          <a:ln/>
        </p:spPr>
        <p:txBody>
          <a:bodyPr/>
          <a:lstStyle/>
          <a:p>
            <a:endParaRPr lang="en-US"/>
          </a:p>
        </p:txBody>
      </p:sp>
      <p:sp>
        <p:nvSpPr>
          <p:cNvPr id="16" name="Text 14"/>
          <p:cNvSpPr/>
          <p:nvPr/>
        </p:nvSpPr>
        <p:spPr>
          <a:xfrm>
            <a:off x="612112" y="2692959"/>
            <a:ext cx="410308" cy="334945"/>
          </a:xfrm>
          <a:prstGeom prst="rect">
            <a:avLst/>
          </a:prstGeom>
          <a:noFill/>
          <a:ln/>
        </p:spPr>
        <p:txBody>
          <a:bodyPr wrap="square" lIns="0" tIns="0" rIns="0" bIns="0" rtlCol="0" anchor="ctr"/>
          <a:lstStyle/>
          <a:p>
            <a:pPr algn="ctr">
              <a:lnSpc>
                <a:spcPct val="130000"/>
              </a:lnSpc>
            </a:pPr>
            <a:r>
              <a:rPr lang="en-US" sz="1187" b="1" dirty="0">
                <a:solidFill>
                  <a:srgbClr val="FFFFFF"/>
                </a:solidFill>
                <a:latin typeface="Quattrocento Sans" pitchFamily="34" charset="0"/>
                <a:ea typeface="Quattrocento Sans" pitchFamily="34" charset="-122"/>
                <a:cs typeface="Quattrocento Sans" pitchFamily="34" charset="-120"/>
              </a:rPr>
              <a:t>y</a:t>
            </a:r>
            <a:endParaRPr lang="en-US" sz="1600" dirty="0"/>
          </a:p>
        </p:txBody>
      </p:sp>
      <p:sp>
        <p:nvSpPr>
          <p:cNvPr id="17" name="Text 15"/>
          <p:cNvSpPr/>
          <p:nvPr/>
        </p:nvSpPr>
        <p:spPr>
          <a:xfrm>
            <a:off x="1085222" y="2659465"/>
            <a:ext cx="1465385" cy="234462"/>
          </a:xfrm>
          <a:prstGeom prst="rect">
            <a:avLst/>
          </a:prstGeom>
          <a:noFill/>
          <a:ln/>
        </p:spPr>
        <p:txBody>
          <a:bodyPr wrap="square" lIns="0" tIns="0" rIns="0" bIns="0" rtlCol="0" anchor="ctr"/>
          <a:lstStyle/>
          <a:p>
            <a:pPr>
              <a:lnSpc>
                <a:spcPct val="130000"/>
              </a:lnSpc>
            </a:pPr>
            <a:r>
              <a:rPr lang="en-US" sz="1187" b="1" dirty="0">
                <a:solidFill>
                  <a:srgbClr val="1C398E"/>
                </a:solidFill>
                <a:latin typeface="Quattrocento Sans" pitchFamily="34" charset="0"/>
                <a:ea typeface="Quattrocento Sans" pitchFamily="34" charset="-122"/>
                <a:cs typeface="Quattrocento Sans" pitchFamily="34" charset="-120"/>
              </a:rPr>
              <a:t>y coordinate</a:t>
            </a:r>
            <a:endParaRPr lang="en-US" sz="1600" dirty="0"/>
          </a:p>
        </p:txBody>
      </p:sp>
      <p:sp>
        <p:nvSpPr>
          <p:cNvPr id="18" name="Text 16"/>
          <p:cNvSpPr/>
          <p:nvPr/>
        </p:nvSpPr>
        <p:spPr>
          <a:xfrm>
            <a:off x="1085222" y="2893926"/>
            <a:ext cx="1448637" cy="167473"/>
          </a:xfrm>
          <a:prstGeom prst="rect">
            <a:avLst/>
          </a:prstGeom>
          <a:noFill/>
          <a:ln/>
        </p:spPr>
        <p:txBody>
          <a:bodyPr wrap="square" lIns="0" tIns="0" rIns="0" bIns="0" rtlCol="0" anchor="ctr"/>
          <a:lstStyle/>
          <a:p>
            <a:pPr>
              <a:lnSpc>
                <a:spcPct val="120000"/>
              </a:lnSpc>
            </a:pPr>
            <a:r>
              <a:rPr lang="en-US" sz="923" dirty="0">
                <a:solidFill>
                  <a:srgbClr val="1447E6"/>
                </a:solidFill>
                <a:latin typeface="Quattrocento Sans" pitchFamily="34" charset="0"/>
                <a:ea typeface="Quattrocento Sans" pitchFamily="34" charset="-122"/>
                <a:cs typeface="Quattrocento Sans" pitchFamily="34" charset="-120"/>
              </a:rPr>
              <a:t>Center y relative to grid cell</a:t>
            </a:r>
            <a:endParaRPr lang="en-US" sz="1600" dirty="0"/>
          </a:p>
        </p:txBody>
      </p:sp>
      <p:sp>
        <p:nvSpPr>
          <p:cNvPr id="19" name="Text 17"/>
          <p:cNvSpPr/>
          <p:nvPr/>
        </p:nvSpPr>
        <p:spPr>
          <a:xfrm>
            <a:off x="649793" y="3128388"/>
            <a:ext cx="5133033" cy="200967"/>
          </a:xfrm>
          <a:prstGeom prst="rect">
            <a:avLst/>
          </a:prstGeom>
          <a:noFill/>
          <a:ln/>
        </p:spPr>
        <p:txBody>
          <a:bodyPr wrap="square" lIns="0" tIns="0" rIns="0" bIns="0" rtlCol="0" anchor="ctr"/>
          <a:lstStyle/>
          <a:p>
            <a:pPr>
              <a:lnSpc>
                <a:spcPct val="130000"/>
              </a:lnSpc>
            </a:pPr>
            <a:r>
              <a:rPr lang="en-US" sz="1055" dirty="0">
                <a:solidFill>
                  <a:srgbClr val="193CB8"/>
                </a:solidFill>
                <a:latin typeface="Quattrocento Sans" pitchFamily="34" charset="0"/>
                <a:ea typeface="Quattrocento Sans" pitchFamily="34" charset="-122"/>
                <a:cs typeface="Quattrocento Sans" pitchFamily="34" charset="-120"/>
              </a:rPr>
              <a:t>Offset from top edge of grid cell, normalized [0, 1]</a:t>
            </a:r>
            <a:endParaRPr lang="en-US" sz="1600" dirty="0"/>
          </a:p>
        </p:txBody>
      </p:sp>
      <p:sp>
        <p:nvSpPr>
          <p:cNvPr id="20" name="Shape 18"/>
          <p:cNvSpPr/>
          <p:nvPr/>
        </p:nvSpPr>
        <p:spPr>
          <a:xfrm>
            <a:off x="532563" y="3530322"/>
            <a:ext cx="5283758" cy="870857"/>
          </a:xfrm>
          <a:custGeom>
            <a:avLst/>
            <a:gdLst/>
            <a:ahLst/>
            <a:cxnLst/>
            <a:rect l="l" t="t" r="r" b="b"/>
            <a:pathLst>
              <a:path w="5283758" h="870857">
                <a:moveTo>
                  <a:pt x="33495" y="0"/>
                </a:moveTo>
                <a:lnTo>
                  <a:pt x="5216772" y="0"/>
                </a:lnTo>
                <a:cubicBezTo>
                  <a:pt x="5253767" y="0"/>
                  <a:pt x="5283758" y="29991"/>
                  <a:pt x="5283758" y="66986"/>
                </a:cubicBezTo>
                <a:lnTo>
                  <a:pt x="5283758" y="803871"/>
                </a:lnTo>
                <a:cubicBezTo>
                  <a:pt x="5283758" y="840866"/>
                  <a:pt x="5253767" y="870857"/>
                  <a:pt x="5216772" y="870857"/>
                </a:cubicBezTo>
                <a:lnTo>
                  <a:pt x="33495" y="870857"/>
                </a:lnTo>
                <a:cubicBezTo>
                  <a:pt x="14996" y="870857"/>
                  <a:pt x="0" y="855861"/>
                  <a:pt x="0" y="837363"/>
                </a:cubicBezTo>
                <a:lnTo>
                  <a:pt x="0" y="33495"/>
                </a:lnTo>
                <a:cubicBezTo>
                  <a:pt x="0" y="15008"/>
                  <a:pt x="15008" y="0"/>
                  <a:pt x="33495" y="0"/>
                </a:cubicBezTo>
                <a:close/>
              </a:path>
            </a:pathLst>
          </a:custGeom>
          <a:solidFill>
            <a:srgbClr val="F0FDF4"/>
          </a:solidFill>
          <a:ln/>
        </p:spPr>
        <p:txBody>
          <a:bodyPr/>
          <a:lstStyle/>
          <a:p>
            <a:endParaRPr lang="en-US"/>
          </a:p>
        </p:txBody>
      </p:sp>
      <p:sp>
        <p:nvSpPr>
          <p:cNvPr id="21" name="Shape 19"/>
          <p:cNvSpPr/>
          <p:nvPr/>
        </p:nvSpPr>
        <p:spPr>
          <a:xfrm>
            <a:off x="532563" y="3530322"/>
            <a:ext cx="33495" cy="870857"/>
          </a:xfrm>
          <a:custGeom>
            <a:avLst/>
            <a:gdLst/>
            <a:ahLst/>
            <a:cxnLst/>
            <a:rect l="l" t="t" r="r" b="b"/>
            <a:pathLst>
              <a:path w="33495" h="870857">
                <a:moveTo>
                  <a:pt x="33495" y="0"/>
                </a:moveTo>
                <a:lnTo>
                  <a:pt x="33495" y="0"/>
                </a:lnTo>
                <a:lnTo>
                  <a:pt x="33495" y="870857"/>
                </a:lnTo>
                <a:lnTo>
                  <a:pt x="33495" y="870857"/>
                </a:lnTo>
                <a:cubicBezTo>
                  <a:pt x="14996" y="870857"/>
                  <a:pt x="0" y="855861"/>
                  <a:pt x="0" y="837363"/>
                </a:cubicBezTo>
                <a:lnTo>
                  <a:pt x="0" y="33495"/>
                </a:lnTo>
                <a:cubicBezTo>
                  <a:pt x="0" y="15008"/>
                  <a:pt x="15008" y="0"/>
                  <a:pt x="33495" y="0"/>
                </a:cubicBezTo>
                <a:close/>
              </a:path>
            </a:pathLst>
          </a:custGeom>
          <a:solidFill>
            <a:srgbClr val="00C950"/>
          </a:solidFill>
          <a:ln/>
        </p:spPr>
        <p:txBody>
          <a:bodyPr/>
          <a:lstStyle/>
          <a:p>
            <a:endParaRPr lang="en-US"/>
          </a:p>
        </p:txBody>
      </p:sp>
      <p:sp>
        <p:nvSpPr>
          <p:cNvPr id="22" name="Shape 20"/>
          <p:cNvSpPr/>
          <p:nvPr/>
        </p:nvSpPr>
        <p:spPr>
          <a:xfrm>
            <a:off x="649793" y="3664300"/>
            <a:ext cx="334945" cy="334945"/>
          </a:xfrm>
          <a:custGeom>
            <a:avLst/>
            <a:gdLst/>
            <a:ahLst/>
            <a:cxnLst/>
            <a:rect l="l" t="t" r="r" b="b"/>
            <a:pathLst>
              <a:path w="334945" h="334945">
                <a:moveTo>
                  <a:pt x="167473" y="0"/>
                </a:moveTo>
                <a:lnTo>
                  <a:pt x="167473" y="0"/>
                </a:lnTo>
                <a:cubicBezTo>
                  <a:pt x="259903" y="0"/>
                  <a:pt x="334945" y="75042"/>
                  <a:pt x="334945" y="167473"/>
                </a:cubicBezTo>
                <a:lnTo>
                  <a:pt x="334945" y="167473"/>
                </a:lnTo>
                <a:cubicBezTo>
                  <a:pt x="334945" y="259903"/>
                  <a:pt x="259903" y="334945"/>
                  <a:pt x="167473" y="334945"/>
                </a:cubicBezTo>
                <a:lnTo>
                  <a:pt x="167473" y="334945"/>
                </a:lnTo>
                <a:cubicBezTo>
                  <a:pt x="75042" y="334945"/>
                  <a:pt x="0" y="259903"/>
                  <a:pt x="0" y="167473"/>
                </a:cubicBezTo>
                <a:lnTo>
                  <a:pt x="0" y="167473"/>
                </a:lnTo>
                <a:cubicBezTo>
                  <a:pt x="0" y="75042"/>
                  <a:pt x="75042" y="0"/>
                  <a:pt x="167473" y="0"/>
                </a:cubicBezTo>
                <a:close/>
              </a:path>
            </a:pathLst>
          </a:custGeom>
          <a:solidFill>
            <a:srgbClr val="00C950"/>
          </a:solidFill>
          <a:ln/>
        </p:spPr>
        <p:txBody>
          <a:bodyPr/>
          <a:lstStyle/>
          <a:p>
            <a:endParaRPr lang="en-US"/>
          </a:p>
        </p:txBody>
      </p:sp>
      <p:sp>
        <p:nvSpPr>
          <p:cNvPr id="23" name="Text 21"/>
          <p:cNvSpPr/>
          <p:nvPr/>
        </p:nvSpPr>
        <p:spPr>
          <a:xfrm>
            <a:off x="612112" y="3664300"/>
            <a:ext cx="410308" cy="334945"/>
          </a:xfrm>
          <a:prstGeom prst="rect">
            <a:avLst/>
          </a:prstGeom>
          <a:noFill/>
          <a:ln/>
        </p:spPr>
        <p:txBody>
          <a:bodyPr wrap="square" lIns="0" tIns="0" rIns="0" bIns="0" rtlCol="0" anchor="ctr"/>
          <a:lstStyle/>
          <a:p>
            <a:pPr algn="ctr">
              <a:lnSpc>
                <a:spcPct val="130000"/>
              </a:lnSpc>
            </a:pPr>
            <a:r>
              <a:rPr lang="en-US" sz="1187" b="1" dirty="0">
                <a:solidFill>
                  <a:srgbClr val="FFFFFF"/>
                </a:solidFill>
                <a:latin typeface="Quattrocento Sans" pitchFamily="34" charset="0"/>
                <a:ea typeface="Quattrocento Sans" pitchFamily="34" charset="-122"/>
                <a:cs typeface="Quattrocento Sans" pitchFamily="34" charset="-120"/>
              </a:rPr>
              <a:t>w</a:t>
            </a:r>
            <a:endParaRPr lang="en-US" sz="1600" dirty="0"/>
          </a:p>
        </p:txBody>
      </p:sp>
      <p:sp>
        <p:nvSpPr>
          <p:cNvPr id="24" name="Text 22"/>
          <p:cNvSpPr/>
          <p:nvPr/>
        </p:nvSpPr>
        <p:spPr>
          <a:xfrm>
            <a:off x="1085222" y="3630805"/>
            <a:ext cx="1264418" cy="234462"/>
          </a:xfrm>
          <a:prstGeom prst="rect">
            <a:avLst/>
          </a:prstGeom>
          <a:noFill/>
          <a:ln/>
        </p:spPr>
        <p:txBody>
          <a:bodyPr wrap="square" lIns="0" tIns="0" rIns="0" bIns="0" rtlCol="0" anchor="ctr"/>
          <a:lstStyle/>
          <a:p>
            <a:pPr>
              <a:lnSpc>
                <a:spcPct val="130000"/>
              </a:lnSpc>
            </a:pPr>
            <a:r>
              <a:rPr lang="en-US" sz="1187" b="1" dirty="0">
                <a:solidFill>
                  <a:srgbClr val="0D542B"/>
                </a:solidFill>
                <a:latin typeface="Quattrocento Sans" pitchFamily="34" charset="0"/>
                <a:ea typeface="Quattrocento Sans" pitchFamily="34" charset="-122"/>
                <a:cs typeface="Quattrocento Sans" pitchFamily="34" charset="-120"/>
              </a:rPr>
              <a:t>width</a:t>
            </a:r>
            <a:endParaRPr lang="en-US" sz="1600" dirty="0"/>
          </a:p>
        </p:txBody>
      </p:sp>
      <p:sp>
        <p:nvSpPr>
          <p:cNvPr id="25" name="Text 23"/>
          <p:cNvSpPr/>
          <p:nvPr/>
        </p:nvSpPr>
        <p:spPr>
          <a:xfrm>
            <a:off x="1085222" y="3865267"/>
            <a:ext cx="1247670" cy="167473"/>
          </a:xfrm>
          <a:prstGeom prst="rect">
            <a:avLst/>
          </a:prstGeom>
          <a:noFill/>
          <a:ln/>
        </p:spPr>
        <p:txBody>
          <a:bodyPr wrap="square" lIns="0" tIns="0" rIns="0" bIns="0" rtlCol="0" anchor="ctr"/>
          <a:lstStyle/>
          <a:p>
            <a:pPr>
              <a:lnSpc>
                <a:spcPct val="120000"/>
              </a:lnSpc>
            </a:pPr>
            <a:r>
              <a:rPr lang="en-US" sz="923" dirty="0">
                <a:solidFill>
                  <a:srgbClr val="008236"/>
                </a:solidFill>
                <a:latin typeface="Quattrocento Sans" pitchFamily="34" charset="0"/>
                <a:ea typeface="Quattrocento Sans" pitchFamily="34" charset="-122"/>
                <a:cs typeface="Quattrocento Sans" pitchFamily="34" charset="-120"/>
              </a:rPr>
              <a:t>Relative to image width</a:t>
            </a:r>
            <a:endParaRPr lang="en-US" sz="1600" dirty="0"/>
          </a:p>
        </p:txBody>
      </p:sp>
      <p:sp>
        <p:nvSpPr>
          <p:cNvPr id="26" name="Text 24"/>
          <p:cNvSpPr/>
          <p:nvPr/>
        </p:nvSpPr>
        <p:spPr>
          <a:xfrm>
            <a:off x="649793" y="4099728"/>
            <a:ext cx="5133033" cy="200967"/>
          </a:xfrm>
          <a:prstGeom prst="rect">
            <a:avLst/>
          </a:prstGeom>
          <a:noFill/>
          <a:ln/>
        </p:spPr>
        <p:txBody>
          <a:bodyPr wrap="square" lIns="0" tIns="0" rIns="0" bIns="0" rtlCol="0" anchor="ctr"/>
          <a:lstStyle/>
          <a:p>
            <a:pPr>
              <a:lnSpc>
                <a:spcPct val="130000"/>
              </a:lnSpc>
            </a:pPr>
            <a:r>
              <a:rPr lang="en-US" sz="1055" dirty="0">
                <a:solidFill>
                  <a:srgbClr val="016630"/>
                </a:solidFill>
                <a:latin typeface="Quattrocento Sans" pitchFamily="34" charset="0"/>
                <a:ea typeface="Quattrocento Sans" pitchFamily="34" charset="-122"/>
                <a:cs typeface="Quattrocento Sans" pitchFamily="34" charset="-120"/>
              </a:rPr>
              <a:t>Box width as fraction of full image width</a:t>
            </a:r>
            <a:endParaRPr lang="en-US" sz="1600" dirty="0"/>
          </a:p>
        </p:txBody>
      </p:sp>
      <p:sp>
        <p:nvSpPr>
          <p:cNvPr id="27" name="Shape 25"/>
          <p:cNvSpPr/>
          <p:nvPr/>
        </p:nvSpPr>
        <p:spPr>
          <a:xfrm>
            <a:off x="532563" y="4501662"/>
            <a:ext cx="5283758" cy="870857"/>
          </a:xfrm>
          <a:custGeom>
            <a:avLst/>
            <a:gdLst/>
            <a:ahLst/>
            <a:cxnLst/>
            <a:rect l="l" t="t" r="r" b="b"/>
            <a:pathLst>
              <a:path w="5283758" h="870857">
                <a:moveTo>
                  <a:pt x="33495" y="0"/>
                </a:moveTo>
                <a:lnTo>
                  <a:pt x="5216772" y="0"/>
                </a:lnTo>
                <a:cubicBezTo>
                  <a:pt x="5253767" y="0"/>
                  <a:pt x="5283758" y="29991"/>
                  <a:pt x="5283758" y="66986"/>
                </a:cubicBezTo>
                <a:lnTo>
                  <a:pt x="5283758" y="803871"/>
                </a:lnTo>
                <a:cubicBezTo>
                  <a:pt x="5283758" y="840866"/>
                  <a:pt x="5253767" y="870857"/>
                  <a:pt x="5216772" y="870857"/>
                </a:cubicBezTo>
                <a:lnTo>
                  <a:pt x="33495" y="870857"/>
                </a:lnTo>
                <a:cubicBezTo>
                  <a:pt x="14996" y="870857"/>
                  <a:pt x="0" y="855861"/>
                  <a:pt x="0" y="837363"/>
                </a:cubicBezTo>
                <a:lnTo>
                  <a:pt x="0" y="33495"/>
                </a:lnTo>
                <a:cubicBezTo>
                  <a:pt x="0" y="15008"/>
                  <a:pt x="15008" y="0"/>
                  <a:pt x="33495" y="0"/>
                </a:cubicBezTo>
                <a:close/>
              </a:path>
            </a:pathLst>
          </a:custGeom>
          <a:solidFill>
            <a:srgbClr val="FAF5FF"/>
          </a:solidFill>
          <a:ln/>
        </p:spPr>
        <p:txBody>
          <a:bodyPr/>
          <a:lstStyle/>
          <a:p>
            <a:endParaRPr lang="en-US"/>
          </a:p>
        </p:txBody>
      </p:sp>
      <p:sp>
        <p:nvSpPr>
          <p:cNvPr id="28" name="Shape 26"/>
          <p:cNvSpPr/>
          <p:nvPr/>
        </p:nvSpPr>
        <p:spPr>
          <a:xfrm>
            <a:off x="532563" y="4501662"/>
            <a:ext cx="33495" cy="870857"/>
          </a:xfrm>
          <a:custGeom>
            <a:avLst/>
            <a:gdLst/>
            <a:ahLst/>
            <a:cxnLst/>
            <a:rect l="l" t="t" r="r" b="b"/>
            <a:pathLst>
              <a:path w="33495" h="870857">
                <a:moveTo>
                  <a:pt x="33495" y="0"/>
                </a:moveTo>
                <a:lnTo>
                  <a:pt x="33495" y="0"/>
                </a:lnTo>
                <a:lnTo>
                  <a:pt x="33495" y="870857"/>
                </a:lnTo>
                <a:lnTo>
                  <a:pt x="33495" y="870857"/>
                </a:lnTo>
                <a:cubicBezTo>
                  <a:pt x="14996" y="870857"/>
                  <a:pt x="0" y="855861"/>
                  <a:pt x="0" y="837363"/>
                </a:cubicBezTo>
                <a:lnTo>
                  <a:pt x="0" y="33495"/>
                </a:lnTo>
                <a:cubicBezTo>
                  <a:pt x="0" y="15008"/>
                  <a:pt x="15008" y="0"/>
                  <a:pt x="33495" y="0"/>
                </a:cubicBezTo>
                <a:close/>
              </a:path>
            </a:pathLst>
          </a:custGeom>
          <a:solidFill>
            <a:srgbClr val="AD46FF"/>
          </a:solidFill>
          <a:ln/>
        </p:spPr>
        <p:txBody>
          <a:bodyPr/>
          <a:lstStyle/>
          <a:p>
            <a:endParaRPr lang="en-US"/>
          </a:p>
        </p:txBody>
      </p:sp>
      <p:sp>
        <p:nvSpPr>
          <p:cNvPr id="29" name="Shape 27"/>
          <p:cNvSpPr/>
          <p:nvPr/>
        </p:nvSpPr>
        <p:spPr>
          <a:xfrm>
            <a:off x="649793" y="4635640"/>
            <a:ext cx="334945" cy="334945"/>
          </a:xfrm>
          <a:custGeom>
            <a:avLst/>
            <a:gdLst/>
            <a:ahLst/>
            <a:cxnLst/>
            <a:rect l="l" t="t" r="r" b="b"/>
            <a:pathLst>
              <a:path w="334945" h="334945">
                <a:moveTo>
                  <a:pt x="167473" y="0"/>
                </a:moveTo>
                <a:lnTo>
                  <a:pt x="167473" y="0"/>
                </a:lnTo>
                <a:cubicBezTo>
                  <a:pt x="259903" y="0"/>
                  <a:pt x="334945" y="75042"/>
                  <a:pt x="334945" y="167473"/>
                </a:cubicBezTo>
                <a:lnTo>
                  <a:pt x="334945" y="167473"/>
                </a:lnTo>
                <a:cubicBezTo>
                  <a:pt x="334945" y="259903"/>
                  <a:pt x="259903" y="334945"/>
                  <a:pt x="167473" y="334945"/>
                </a:cubicBezTo>
                <a:lnTo>
                  <a:pt x="167473" y="334945"/>
                </a:lnTo>
                <a:cubicBezTo>
                  <a:pt x="75042" y="334945"/>
                  <a:pt x="0" y="259903"/>
                  <a:pt x="0" y="167473"/>
                </a:cubicBezTo>
                <a:lnTo>
                  <a:pt x="0" y="167473"/>
                </a:lnTo>
                <a:cubicBezTo>
                  <a:pt x="0" y="75042"/>
                  <a:pt x="75042" y="0"/>
                  <a:pt x="167473" y="0"/>
                </a:cubicBezTo>
                <a:close/>
              </a:path>
            </a:pathLst>
          </a:custGeom>
          <a:solidFill>
            <a:srgbClr val="AD46FF"/>
          </a:solidFill>
          <a:ln/>
        </p:spPr>
        <p:txBody>
          <a:bodyPr/>
          <a:lstStyle/>
          <a:p>
            <a:endParaRPr lang="en-US"/>
          </a:p>
        </p:txBody>
      </p:sp>
      <p:sp>
        <p:nvSpPr>
          <p:cNvPr id="30" name="Text 28"/>
          <p:cNvSpPr/>
          <p:nvPr/>
        </p:nvSpPr>
        <p:spPr>
          <a:xfrm>
            <a:off x="612112" y="4635640"/>
            <a:ext cx="410308" cy="334945"/>
          </a:xfrm>
          <a:prstGeom prst="rect">
            <a:avLst/>
          </a:prstGeom>
          <a:noFill/>
          <a:ln/>
        </p:spPr>
        <p:txBody>
          <a:bodyPr wrap="square" lIns="0" tIns="0" rIns="0" bIns="0" rtlCol="0" anchor="ctr"/>
          <a:lstStyle/>
          <a:p>
            <a:pPr algn="ctr">
              <a:lnSpc>
                <a:spcPct val="130000"/>
              </a:lnSpc>
            </a:pPr>
            <a:r>
              <a:rPr lang="en-US" sz="1187" b="1" dirty="0">
                <a:solidFill>
                  <a:srgbClr val="FFFFFF"/>
                </a:solidFill>
                <a:latin typeface="Quattrocento Sans" pitchFamily="34" charset="0"/>
                <a:ea typeface="Quattrocento Sans" pitchFamily="34" charset="-122"/>
                <a:cs typeface="Quattrocento Sans" pitchFamily="34" charset="-120"/>
              </a:rPr>
              <a:t>h</a:t>
            </a:r>
            <a:endParaRPr lang="en-US" sz="1600" dirty="0"/>
          </a:p>
        </p:txBody>
      </p:sp>
      <p:sp>
        <p:nvSpPr>
          <p:cNvPr id="31" name="Text 29"/>
          <p:cNvSpPr/>
          <p:nvPr/>
        </p:nvSpPr>
        <p:spPr>
          <a:xfrm>
            <a:off x="1085222" y="4602146"/>
            <a:ext cx="1281165" cy="234462"/>
          </a:xfrm>
          <a:prstGeom prst="rect">
            <a:avLst/>
          </a:prstGeom>
          <a:noFill/>
          <a:ln/>
        </p:spPr>
        <p:txBody>
          <a:bodyPr wrap="square" lIns="0" tIns="0" rIns="0" bIns="0" rtlCol="0" anchor="ctr"/>
          <a:lstStyle/>
          <a:p>
            <a:pPr>
              <a:lnSpc>
                <a:spcPct val="130000"/>
              </a:lnSpc>
            </a:pPr>
            <a:r>
              <a:rPr lang="en-US" sz="1187" b="1" dirty="0">
                <a:solidFill>
                  <a:srgbClr val="59168B"/>
                </a:solidFill>
                <a:latin typeface="Quattrocento Sans" pitchFamily="34" charset="0"/>
                <a:ea typeface="Quattrocento Sans" pitchFamily="34" charset="-122"/>
                <a:cs typeface="Quattrocento Sans" pitchFamily="34" charset="-120"/>
              </a:rPr>
              <a:t>height</a:t>
            </a:r>
            <a:endParaRPr lang="en-US" sz="1600" dirty="0"/>
          </a:p>
        </p:txBody>
      </p:sp>
      <p:sp>
        <p:nvSpPr>
          <p:cNvPr id="32" name="Text 30"/>
          <p:cNvSpPr/>
          <p:nvPr/>
        </p:nvSpPr>
        <p:spPr>
          <a:xfrm>
            <a:off x="1085222" y="4836607"/>
            <a:ext cx="1264418" cy="167473"/>
          </a:xfrm>
          <a:prstGeom prst="rect">
            <a:avLst/>
          </a:prstGeom>
          <a:noFill/>
          <a:ln/>
        </p:spPr>
        <p:txBody>
          <a:bodyPr wrap="square" lIns="0" tIns="0" rIns="0" bIns="0" rtlCol="0" anchor="ctr"/>
          <a:lstStyle/>
          <a:p>
            <a:pPr>
              <a:lnSpc>
                <a:spcPct val="120000"/>
              </a:lnSpc>
            </a:pPr>
            <a:r>
              <a:rPr lang="en-US" sz="923" dirty="0">
                <a:solidFill>
                  <a:srgbClr val="8200DB"/>
                </a:solidFill>
                <a:latin typeface="Quattrocento Sans" pitchFamily="34" charset="0"/>
                <a:ea typeface="Quattrocento Sans" pitchFamily="34" charset="-122"/>
                <a:cs typeface="Quattrocento Sans" pitchFamily="34" charset="-120"/>
              </a:rPr>
              <a:t>Relative to image height</a:t>
            </a:r>
            <a:endParaRPr lang="en-US" sz="1600" dirty="0"/>
          </a:p>
        </p:txBody>
      </p:sp>
      <p:sp>
        <p:nvSpPr>
          <p:cNvPr id="33" name="Text 31"/>
          <p:cNvSpPr/>
          <p:nvPr/>
        </p:nvSpPr>
        <p:spPr>
          <a:xfrm>
            <a:off x="649793" y="5071069"/>
            <a:ext cx="5133033" cy="200967"/>
          </a:xfrm>
          <a:prstGeom prst="rect">
            <a:avLst/>
          </a:prstGeom>
          <a:noFill/>
          <a:ln/>
        </p:spPr>
        <p:txBody>
          <a:bodyPr wrap="square" lIns="0" tIns="0" rIns="0" bIns="0" rtlCol="0" anchor="ctr"/>
          <a:lstStyle/>
          <a:p>
            <a:pPr>
              <a:lnSpc>
                <a:spcPct val="130000"/>
              </a:lnSpc>
            </a:pPr>
            <a:r>
              <a:rPr lang="en-US" sz="1055" dirty="0">
                <a:solidFill>
                  <a:srgbClr val="6E11B0"/>
                </a:solidFill>
                <a:latin typeface="Quattrocento Sans" pitchFamily="34" charset="0"/>
                <a:ea typeface="Quattrocento Sans" pitchFamily="34" charset="-122"/>
                <a:cs typeface="Quattrocento Sans" pitchFamily="34" charset="-120"/>
              </a:rPr>
              <a:t>Box height as fraction of full image height</a:t>
            </a:r>
            <a:endParaRPr lang="en-US" sz="1600" dirty="0"/>
          </a:p>
        </p:txBody>
      </p:sp>
      <p:sp>
        <p:nvSpPr>
          <p:cNvPr id="34" name="Shape 32"/>
          <p:cNvSpPr/>
          <p:nvPr/>
        </p:nvSpPr>
        <p:spPr>
          <a:xfrm>
            <a:off x="515815" y="5473003"/>
            <a:ext cx="5300505" cy="870857"/>
          </a:xfrm>
          <a:custGeom>
            <a:avLst/>
            <a:gdLst/>
            <a:ahLst/>
            <a:cxnLst/>
            <a:rect l="l" t="t" r="r" b="b"/>
            <a:pathLst>
              <a:path w="5300505" h="870857">
                <a:moveTo>
                  <a:pt x="66986" y="0"/>
                </a:moveTo>
                <a:lnTo>
                  <a:pt x="5233519" y="0"/>
                </a:lnTo>
                <a:cubicBezTo>
                  <a:pt x="5270515" y="0"/>
                  <a:pt x="5300505" y="29991"/>
                  <a:pt x="5300505" y="66986"/>
                </a:cubicBezTo>
                <a:lnTo>
                  <a:pt x="5300505" y="803871"/>
                </a:lnTo>
                <a:cubicBezTo>
                  <a:pt x="5300505" y="840866"/>
                  <a:pt x="5270515" y="870857"/>
                  <a:pt x="5233519" y="870857"/>
                </a:cubicBezTo>
                <a:lnTo>
                  <a:pt x="66986" y="870857"/>
                </a:lnTo>
                <a:cubicBezTo>
                  <a:pt x="29991" y="870857"/>
                  <a:pt x="0" y="840866"/>
                  <a:pt x="0" y="803871"/>
                </a:cubicBezTo>
                <a:lnTo>
                  <a:pt x="0" y="66986"/>
                </a:lnTo>
                <a:cubicBezTo>
                  <a:pt x="0" y="30016"/>
                  <a:pt x="30016" y="0"/>
                  <a:pt x="66986" y="0"/>
                </a:cubicBezTo>
                <a:close/>
              </a:path>
            </a:pathLst>
          </a:custGeom>
          <a:solidFill>
            <a:srgbClr val="8B0000"/>
          </a:solidFill>
          <a:ln/>
        </p:spPr>
        <p:txBody>
          <a:bodyPr/>
          <a:lstStyle/>
          <a:p>
            <a:endParaRPr lang="en-US"/>
          </a:p>
        </p:txBody>
      </p:sp>
      <p:sp>
        <p:nvSpPr>
          <p:cNvPr id="35" name="Shape 33"/>
          <p:cNvSpPr/>
          <p:nvPr/>
        </p:nvSpPr>
        <p:spPr>
          <a:xfrm>
            <a:off x="616299" y="5606981"/>
            <a:ext cx="334945" cy="334945"/>
          </a:xfrm>
          <a:custGeom>
            <a:avLst/>
            <a:gdLst/>
            <a:ahLst/>
            <a:cxnLst/>
            <a:rect l="l" t="t" r="r" b="b"/>
            <a:pathLst>
              <a:path w="334945" h="334945">
                <a:moveTo>
                  <a:pt x="167473" y="0"/>
                </a:moveTo>
                <a:lnTo>
                  <a:pt x="167473" y="0"/>
                </a:lnTo>
                <a:cubicBezTo>
                  <a:pt x="259903" y="0"/>
                  <a:pt x="334945" y="75042"/>
                  <a:pt x="334945" y="167473"/>
                </a:cubicBezTo>
                <a:lnTo>
                  <a:pt x="334945" y="167473"/>
                </a:lnTo>
                <a:cubicBezTo>
                  <a:pt x="334945" y="259903"/>
                  <a:pt x="259903" y="334945"/>
                  <a:pt x="167473" y="334945"/>
                </a:cubicBezTo>
                <a:lnTo>
                  <a:pt x="167473" y="334945"/>
                </a:lnTo>
                <a:cubicBezTo>
                  <a:pt x="75042" y="334945"/>
                  <a:pt x="0" y="259903"/>
                  <a:pt x="0" y="167473"/>
                </a:cubicBezTo>
                <a:lnTo>
                  <a:pt x="0" y="167473"/>
                </a:lnTo>
                <a:cubicBezTo>
                  <a:pt x="0" y="75042"/>
                  <a:pt x="75042" y="0"/>
                  <a:pt x="167473" y="0"/>
                </a:cubicBezTo>
                <a:close/>
              </a:path>
            </a:pathLst>
          </a:custGeom>
          <a:solidFill>
            <a:srgbClr val="FFFFFF"/>
          </a:solidFill>
          <a:ln/>
        </p:spPr>
        <p:txBody>
          <a:bodyPr/>
          <a:lstStyle/>
          <a:p>
            <a:endParaRPr lang="en-US"/>
          </a:p>
        </p:txBody>
      </p:sp>
      <p:sp>
        <p:nvSpPr>
          <p:cNvPr id="36" name="Text 34"/>
          <p:cNvSpPr/>
          <p:nvPr/>
        </p:nvSpPr>
        <p:spPr>
          <a:xfrm>
            <a:off x="578618" y="5606981"/>
            <a:ext cx="410308" cy="334945"/>
          </a:xfrm>
          <a:prstGeom prst="rect">
            <a:avLst/>
          </a:prstGeom>
          <a:noFill/>
          <a:ln/>
        </p:spPr>
        <p:txBody>
          <a:bodyPr wrap="square" lIns="0" tIns="0" rIns="0" bIns="0" rtlCol="0" anchor="ctr"/>
          <a:lstStyle/>
          <a:p>
            <a:pPr algn="ctr">
              <a:lnSpc>
                <a:spcPct val="130000"/>
              </a:lnSpc>
            </a:pPr>
            <a:r>
              <a:rPr lang="en-US" sz="1187" b="1" dirty="0">
                <a:solidFill>
                  <a:srgbClr val="8B0000"/>
                </a:solidFill>
                <a:latin typeface="Quattrocento Sans" pitchFamily="34" charset="0"/>
                <a:ea typeface="Quattrocento Sans" pitchFamily="34" charset="-122"/>
                <a:cs typeface="Quattrocento Sans" pitchFamily="34" charset="-120"/>
              </a:rPr>
              <a:t>c</a:t>
            </a:r>
            <a:endParaRPr lang="en-US" sz="1600" dirty="0"/>
          </a:p>
        </p:txBody>
      </p:sp>
      <p:sp>
        <p:nvSpPr>
          <p:cNvPr id="37" name="Text 35"/>
          <p:cNvSpPr/>
          <p:nvPr/>
        </p:nvSpPr>
        <p:spPr>
          <a:xfrm>
            <a:off x="1051727" y="5573487"/>
            <a:ext cx="946220" cy="234462"/>
          </a:xfrm>
          <a:prstGeom prst="rect">
            <a:avLst/>
          </a:prstGeom>
          <a:noFill/>
          <a:ln/>
        </p:spPr>
        <p:txBody>
          <a:bodyPr wrap="square" lIns="0" tIns="0" rIns="0" bIns="0" rtlCol="0" anchor="ctr"/>
          <a:lstStyle/>
          <a:p>
            <a:pPr>
              <a:lnSpc>
                <a:spcPct val="130000"/>
              </a:lnSpc>
            </a:pPr>
            <a:r>
              <a:rPr lang="en-US" sz="1187" b="1" dirty="0">
                <a:solidFill>
                  <a:srgbClr val="FFFFFF"/>
                </a:solidFill>
                <a:latin typeface="Quattrocento Sans" pitchFamily="34" charset="0"/>
                <a:ea typeface="Quattrocento Sans" pitchFamily="34" charset="-122"/>
                <a:cs typeface="Quattrocento Sans" pitchFamily="34" charset="-120"/>
              </a:rPr>
              <a:t>confidence</a:t>
            </a:r>
            <a:endParaRPr lang="en-US" sz="1600" dirty="0"/>
          </a:p>
        </p:txBody>
      </p:sp>
      <p:sp>
        <p:nvSpPr>
          <p:cNvPr id="38" name="Text 36"/>
          <p:cNvSpPr/>
          <p:nvPr/>
        </p:nvSpPr>
        <p:spPr>
          <a:xfrm>
            <a:off x="1051727" y="5807948"/>
            <a:ext cx="929473" cy="167473"/>
          </a:xfrm>
          <a:prstGeom prst="rect">
            <a:avLst/>
          </a:prstGeom>
          <a:noFill/>
          <a:ln/>
        </p:spPr>
        <p:txBody>
          <a:bodyPr wrap="square" lIns="0" tIns="0" rIns="0" bIns="0" rtlCol="0" anchor="ctr"/>
          <a:lstStyle/>
          <a:p>
            <a:pPr>
              <a:lnSpc>
                <a:spcPct val="120000"/>
              </a:lnSpc>
            </a:pPr>
            <a:r>
              <a:rPr lang="en-US" sz="923" dirty="0">
                <a:solidFill>
                  <a:srgbClr val="FFFFFF">
                    <a:alpha val="80000"/>
                  </a:srgbClr>
                </a:solidFill>
                <a:latin typeface="Quattrocento Sans" pitchFamily="34" charset="0"/>
                <a:ea typeface="Quattrocento Sans" pitchFamily="34" charset="-122"/>
                <a:cs typeface="Quattrocento Sans" pitchFamily="34" charset="-120"/>
              </a:rPr>
              <a:t>Objectness score</a:t>
            </a:r>
            <a:endParaRPr lang="en-US" sz="1600" dirty="0"/>
          </a:p>
        </p:txBody>
      </p:sp>
      <p:sp>
        <p:nvSpPr>
          <p:cNvPr id="39" name="Text 37"/>
          <p:cNvSpPr/>
          <p:nvPr/>
        </p:nvSpPr>
        <p:spPr>
          <a:xfrm>
            <a:off x="616299" y="6042410"/>
            <a:ext cx="5166527" cy="200967"/>
          </a:xfrm>
          <a:prstGeom prst="rect">
            <a:avLst/>
          </a:prstGeom>
          <a:noFill/>
          <a:ln/>
        </p:spPr>
        <p:txBody>
          <a:bodyPr wrap="square" lIns="0" tIns="0" rIns="0" bIns="0" rtlCol="0" anchor="ctr"/>
          <a:lstStyle/>
          <a:p>
            <a:pPr>
              <a:lnSpc>
                <a:spcPct val="130000"/>
              </a:lnSpc>
            </a:pPr>
            <a:r>
              <a:rPr lang="en-US" sz="1055" dirty="0">
                <a:solidFill>
                  <a:srgbClr val="FFFFFF"/>
                </a:solidFill>
                <a:latin typeface="Quattrocento Sans" pitchFamily="34" charset="0"/>
                <a:ea typeface="Quattrocento Sans" pitchFamily="34" charset="-122"/>
                <a:cs typeface="Quattrocento Sans" pitchFamily="34" charset="-120"/>
              </a:rPr>
              <a:t>P(object) × IoU(pred, truth) - probability box contains object and accuracy</a:t>
            </a:r>
            <a:endParaRPr lang="en-US" sz="1600" dirty="0"/>
          </a:p>
        </p:txBody>
      </p:sp>
      <p:sp>
        <p:nvSpPr>
          <p:cNvPr id="40" name="Shape 38"/>
          <p:cNvSpPr/>
          <p:nvPr/>
        </p:nvSpPr>
        <p:spPr>
          <a:xfrm>
            <a:off x="6203182" y="1045029"/>
            <a:ext cx="5648848" cy="2491991"/>
          </a:xfrm>
          <a:custGeom>
            <a:avLst/>
            <a:gdLst/>
            <a:ahLst/>
            <a:cxnLst/>
            <a:rect l="l" t="t" r="r" b="b"/>
            <a:pathLst>
              <a:path w="5648848" h="2491991">
                <a:moveTo>
                  <a:pt x="66985" y="0"/>
                </a:moveTo>
                <a:lnTo>
                  <a:pt x="5581864" y="0"/>
                </a:lnTo>
                <a:cubicBezTo>
                  <a:pt x="5618858" y="0"/>
                  <a:pt x="5648848" y="29990"/>
                  <a:pt x="5648848" y="66985"/>
                </a:cubicBezTo>
                <a:lnTo>
                  <a:pt x="5648848" y="2425006"/>
                </a:lnTo>
                <a:cubicBezTo>
                  <a:pt x="5648848" y="2462001"/>
                  <a:pt x="5618858" y="2491991"/>
                  <a:pt x="5581864" y="2491991"/>
                </a:cubicBezTo>
                <a:lnTo>
                  <a:pt x="66985" y="2491991"/>
                </a:lnTo>
                <a:cubicBezTo>
                  <a:pt x="29990" y="2491991"/>
                  <a:pt x="0" y="2462001"/>
                  <a:pt x="0" y="2425006"/>
                </a:cubicBezTo>
                <a:lnTo>
                  <a:pt x="0" y="66985"/>
                </a:lnTo>
                <a:cubicBezTo>
                  <a:pt x="0" y="30015"/>
                  <a:pt x="30015" y="0"/>
                  <a:pt x="66985" y="0"/>
                </a:cubicBezTo>
                <a:close/>
              </a:path>
            </a:pathLst>
          </a:custGeom>
          <a:solidFill>
            <a:srgbClr val="FFFFFF"/>
          </a:solidFill>
          <a:ln w="20320">
            <a:solidFill>
              <a:srgbClr val="1F2937"/>
            </a:solidFill>
            <a:prstDash val="solid"/>
          </a:ln>
        </p:spPr>
        <p:txBody>
          <a:bodyPr/>
          <a:lstStyle/>
          <a:p>
            <a:endParaRPr lang="en-US"/>
          </a:p>
        </p:txBody>
      </p:sp>
      <p:sp>
        <p:nvSpPr>
          <p:cNvPr id="41" name="Text 39"/>
          <p:cNvSpPr/>
          <p:nvPr/>
        </p:nvSpPr>
        <p:spPr>
          <a:xfrm>
            <a:off x="6335486" y="1219201"/>
            <a:ext cx="5384242" cy="234462"/>
          </a:xfrm>
          <a:prstGeom prst="rect">
            <a:avLst/>
          </a:prstGeom>
          <a:noFill/>
          <a:ln/>
        </p:spPr>
        <p:txBody>
          <a:bodyPr wrap="square" lIns="0" tIns="0" rIns="0" bIns="0" rtlCol="0" anchor="ctr"/>
          <a:lstStyle/>
          <a:p>
            <a:pPr algn="ctr">
              <a:lnSpc>
                <a:spcPct val="120000"/>
              </a:lnSpc>
            </a:pPr>
            <a:r>
              <a:rPr lang="en-US" sz="1319" b="1" dirty="0">
                <a:solidFill>
                  <a:srgbClr val="1F2937"/>
                </a:solidFill>
                <a:latin typeface="Sorts Mill Goudy" pitchFamily="34" charset="0"/>
                <a:ea typeface="Sorts Mill Goudy" pitchFamily="34" charset="-122"/>
                <a:cs typeface="Sorts Mill Goudy" pitchFamily="34" charset="-120"/>
              </a:rPr>
              <a:t>Bounding Box Visualization</a:t>
            </a:r>
            <a:endParaRPr lang="en-US" sz="1600" dirty="0"/>
          </a:p>
        </p:txBody>
      </p:sp>
      <p:pic>
        <p:nvPicPr>
          <p:cNvPr id="42" name="Image 0" descr="https://kimi-web-img.moonshot.cn/img/i.sstatic.net/57982116343fcb5fe6bfba9269a2a50704569f4c.png"/>
          <p:cNvPicPr>
            <a:picLocks noChangeAspect="1"/>
          </p:cNvPicPr>
          <p:nvPr/>
        </p:nvPicPr>
        <p:blipFill>
          <a:blip r:embed="rId3"/>
          <a:srcRect l="-37974" t="9054" r="-96443" b="4042"/>
          <a:stretch>
            <a:fillRect/>
          </a:stretch>
        </p:blipFill>
        <p:spPr>
          <a:xfrm>
            <a:off x="7468251" y="1483806"/>
            <a:ext cx="3904129" cy="1594339"/>
          </a:xfrm>
          <a:prstGeom prst="roundRect">
            <a:avLst>
              <a:gd name="adj" fmla="val 2273"/>
            </a:avLst>
          </a:prstGeom>
        </p:spPr>
      </p:pic>
      <p:sp>
        <p:nvSpPr>
          <p:cNvPr id="43" name="Text 40"/>
          <p:cNvSpPr/>
          <p:nvPr/>
        </p:nvSpPr>
        <p:spPr>
          <a:xfrm>
            <a:off x="6343860" y="3161882"/>
            <a:ext cx="5367495" cy="200967"/>
          </a:xfrm>
          <a:prstGeom prst="rect">
            <a:avLst/>
          </a:prstGeom>
          <a:noFill/>
          <a:ln/>
        </p:spPr>
        <p:txBody>
          <a:bodyPr wrap="square" lIns="0" tIns="0" rIns="0" bIns="0" rtlCol="0" anchor="ctr"/>
          <a:lstStyle/>
          <a:p>
            <a:pPr algn="ctr">
              <a:lnSpc>
                <a:spcPct val="130000"/>
              </a:lnSpc>
            </a:pPr>
            <a:r>
              <a:rPr lang="en-US" sz="1055" dirty="0">
                <a:solidFill>
                  <a:srgbClr val="6B7280"/>
                </a:solidFill>
                <a:latin typeface="Quattrocento Sans" pitchFamily="34" charset="0"/>
                <a:ea typeface="Quattrocento Sans" pitchFamily="34" charset="-122"/>
                <a:cs typeface="Quattrocento Sans" pitchFamily="34" charset="-120"/>
              </a:rPr>
              <a:t>Ground truth (green) vs Prediction (red)</a:t>
            </a:r>
            <a:endParaRPr lang="en-US" sz="1600" dirty="0"/>
          </a:p>
        </p:txBody>
      </p:sp>
      <p:sp>
        <p:nvSpPr>
          <p:cNvPr id="44" name="Shape 41"/>
          <p:cNvSpPr/>
          <p:nvPr/>
        </p:nvSpPr>
        <p:spPr>
          <a:xfrm>
            <a:off x="6213231" y="3677698"/>
            <a:ext cx="5643824" cy="2562330"/>
          </a:xfrm>
          <a:custGeom>
            <a:avLst/>
            <a:gdLst/>
            <a:ahLst/>
            <a:cxnLst/>
            <a:rect l="l" t="t" r="r" b="b"/>
            <a:pathLst>
              <a:path w="5643824" h="2562330">
                <a:moveTo>
                  <a:pt x="33495" y="0"/>
                </a:moveTo>
                <a:lnTo>
                  <a:pt x="5576845" y="0"/>
                </a:lnTo>
                <a:cubicBezTo>
                  <a:pt x="5613837" y="0"/>
                  <a:pt x="5643824" y="29988"/>
                  <a:pt x="5643824" y="66979"/>
                </a:cubicBezTo>
                <a:lnTo>
                  <a:pt x="5643824" y="2495350"/>
                </a:lnTo>
                <a:cubicBezTo>
                  <a:pt x="5643824" y="2532342"/>
                  <a:pt x="5613837" y="2562330"/>
                  <a:pt x="5576845" y="2562330"/>
                </a:cubicBezTo>
                <a:lnTo>
                  <a:pt x="33495" y="2562330"/>
                </a:lnTo>
                <a:cubicBezTo>
                  <a:pt x="14996" y="2562330"/>
                  <a:pt x="0" y="2547334"/>
                  <a:pt x="0" y="2528835"/>
                </a:cubicBezTo>
                <a:lnTo>
                  <a:pt x="0" y="33495"/>
                </a:lnTo>
                <a:cubicBezTo>
                  <a:pt x="0" y="15008"/>
                  <a:pt x="15008" y="0"/>
                  <a:pt x="33495" y="0"/>
                </a:cubicBezTo>
                <a:close/>
              </a:path>
            </a:pathLst>
          </a:custGeom>
          <a:solidFill>
            <a:srgbClr val="F9FAFB"/>
          </a:solidFill>
          <a:ln/>
        </p:spPr>
        <p:txBody>
          <a:bodyPr/>
          <a:lstStyle/>
          <a:p>
            <a:endParaRPr lang="en-US"/>
          </a:p>
        </p:txBody>
      </p:sp>
      <p:sp>
        <p:nvSpPr>
          <p:cNvPr id="45" name="Shape 42"/>
          <p:cNvSpPr/>
          <p:nvPr/>
        </p:nvSpPr>
        <p:spPr>
          <a:xfrm>
            <a:off x="6213231" y="3677698"/>
            <a:ext cx="33495" cy="2562330"/>
          </a:xfrm>
          <a:custGeom>
            <a:avLst/>
            <a:gdLst/>
            <a:ahLst/>
            <a:cxnLst/>
            <a:rect l="l" t="t" r="r" b="b"/>
            <a:pathLst>
              <a:path w="33495" h="2562330">
                <a:moveTo>
                  <a:pt x="33495" y="0"/>
                </a:moveTo>
                <a:lnTo>
                  <a:pt x="33495" y="0"/>
                </a:lnTo>
                <a:lnTo>
                  <a:pt x="33495" y="2562330"/>
                </a:lnTo>
                <a:lnTo>
                  <a:pt x="33495" y="2562330"/>
                </a:lnTo>
                <a:cubicBezTo>
                  <a:pt x="14996" y="2562330"/>
                  <a:pt x="0" y="2547334"/>
                  <a:pt x="0" y="2528835"/>
                </a:cubicBezTo>
                <a:lnTo>
                  <a:pt x="0" y="33495"/>
                </a:lnTo>
                <a:cubicBezTo>
                  <a:pt x="0" y="15008"/>
                  <a:pt x="15008" y="0"/>
                  <a:pt x="33495" y="0"/>
                </a:cubicBezTo>
                <a:close/>
              </a:path>
            </a:pathLst>
          </a:custGeom>
          <a:solidFill>
            <a:srgbClr val="8B0000"/>
          </a:solidFill>
          <a:ln/>
        </p:spPr>
        <p:txBody>
          <a:bodyPr/>
          <a:lstStyle/>
          <a:p>
            <a:endParaRPr lang="en-US"/>
          </a:p>
        </p:txBody>
      </p:sp>
      <p:sp>
        <p:nvSpPr>
          <p:cNvPr id="46" name="Text 43"/>
          <p:cNvSpPr/>
          <p:nvPr/>
        </p:nvSpPr>
        <p:spPr>
          <a:xfrm>
            <a:off x="6397451" y="3845171"/>
            <a:ext cx="5375868" cy="234462"/>
          </a:xfrm>
          <a:prstGeom prst="rect">
            <a:avLst/>
          </a:prstGeom>
          <a:noFill/>
          <a:ln/>
        </p:spPr>
        <p:txBody>
          <a:bodyPr wrap="square" lIns="0" tIns="0" rIns="0" bIns="0" rtlCol="0" anchor="ctr"/>
          <a:lstStyle/>
          <a:p>
            <a:pPr>
              <a:lnSpc>
                <a:spcPct val="120000"/>
              </a:lnSpc>
            </a:pPr>
            <a:r>
              <a:rPr lang="en-US" sz="1319" b="1" dirty="0">
                <a:solidFill>
                  <a:srgbClr val="1F2937"/>
                </a:solidFill>
                <a:latin typeface="Sorts Mill Goudy" pitchFamily="34" charset="0"/>
                <a:ea typeface="Sorts Mill Goudy" pitchFamily="34" charset="-122"/>
                <a:cs typeface="Sorts Mill Goudy" pitchFamily="34" charset="-120"/>
              </a:rPr>
              <a:t>Why Square Root for w, h?</a:t>
            </a:r>
            <a:endParaRPr lang="en-US" sz="1600" dirty="0"/>
          </a:p>
        </p:txBody>
      </p:sp>
      <p:sp>
        <p:nvSpPr>
          <p:cNvPr id="47" name="Text 44"/>
          <p:cNvSpPr/>
          <p:nvPr/>
        </p:nvSpPr>
        <p:spPr>
          <a:xfrm>
            <a:off x="6397451" y="4180116"/>
            <a:ext cx="5359121" cy="200967"/>
          </a:xfrm>
          <a:prstGeom prst="rect">
            <a:avLst/>
          </a:prstGeom>
          <a:noFill/>
          <a:ln/>
        </p:spPr>
        <p:txBody>
          <a:bodyPr wrap="square" lIns="0" tIns="0" rIns="0" bIns="0" rtlCol="0" anchor="ctr"/>
          <a:lstStyle/>
          <a:p>
            <a:pPr>
              <a:lnSpc>
                <a:spcPct val="130000"/>
              </a:lnSpc>
            </a:pPr>
            <a:r>
              <a:rPr lang="en-US" sz="1055" dirty="0">
                <a:solidFill>
                  <a:srgbClr val="1F2937"/>
                </a:solidFill>
                <a:latin typeface="Quattrocento Sans" pitchFamily="34" charset="0"/>
                <a:ea typeface="Quattrocento Sans" pitchFamily="34" charset="-122"/>
                <a:cs typeface="Quattrocento Sans" pitchFamily="34" charset="-120"/>
              </a:rPr>
              <a:t>The loss function uses </a:t>
            </a:r>
            <a:r>
              <a:rPr lang="en-US" sz="1055" b="1" dirty="0">
                <a:solidFill>
                  <a:srgbClr val="1F2937"/>
                </a:solidFill>
                <a:latin typeface="Quattrocento Sans" pitchFamily="34" charset="0"/>
                <a:ea typeface="Quattrocento Sans" pitchFamily="34" charset="-122"/>
                <a:cs typeface="Quattrocento Sans" pitchFamily="34" charset="-120"/>
              </a:rPr>
              <a:t>√w and √h</a:t>
            </a:r>
            <a:r>
              <a:rPr lang="en-US" sz="1055" dirty="0">
                <a:solidFill>
                  <a:srgbClr val="1F2937"/>
                </a:solidFill>
                <a:latin typeface="Quattrocento Sans" pitchFamily="34" charset="0"/>
                <a:ea typeface="Quattrocento Sans" pitchFamily="34" charset="-122"/>
                <a:cs typeface="Quattrocento Sans" pitchFamily="34" charset="-120"/>
              </a:rPr>
              <a:t> instead of raw w, h to address a critical issue:</a:t>
            </a:r>
            <a:endParaRPr lang="en-US" sz="1600" dirty="0"/>
          </a:p>
        </p:txBody>
      </p:sp>
      <p:sp>
        <p:nvSpPr>
          <p:cNvPr id="48" name="Shape 45"/>
          <p:cNvSpPr/>
          <p:nvPr/>
        </p:nvSpPr>
        <p:spPr>
          <a:xfrm>
            <a:off x="6400800" y="4484916"/>
            <a:ext cx="5282084" cy="877556"/>
          </a:xfrm>
          <a:custGeom>
            <a:avLst/>
            <a:gdLst/>
            <a:ahLst/>
            <a:cxnLst/>
            <a:rect l="l" t="t" r="r" b="b"/>
            <a:pathLst>
              <a:path w="5282084" h="877556">
                <a:moveTo>
                  <a:pt x="33496" y="0"/>
                </a:moveTo>
                <a:lnTo>
                  <a:pt x="5248587" y="0"/>
                </a:lnTo>
                <a:cubicBezTo>
                  <a:pt x="5267087" y="0"/>
                  <a:pt x="5282084" y="14997"/>
                  <a:pt x="5282084" y="33496"/>
                </a:cubicBezTo>
                <a:lnTo>
                  <a:pt x="5282084" y="844060"/>
                </a:lnTo>
                <a:cubicBezTo>
                  <a:pt x="5282084" y="862559"/>
                  <a:pt x="5267087" y="877556"/>
                  <a:pt x="5248587" y="877556"/>
                </a:cubicBezTo>
                <a:lnTo>
                  <a:pt x="33496" y="877556"/>
                </a:lnTo>
                <a:cubicBezTo>
                  <a:pt x="14997" y="877556"/>
                  <a:pt x="0" y="862559"/>
                  <a:pt x="0" y="844060"/>
                </a:cubicBezTo>
                <a:lnTo>
                  <a:pt x="0" y="33496"/>
                </a:lnTo>
                <a:cubicBezTo>
                  <a:pt x="0" y="14997"/>
                  <a:pt x="14997" y="0"/>
                  <a:pt x="33496" y="0"/>
                </a:cubicBezTo>
                <a:close/>
              </a:path>
            </a:pathLst>
          </a:custGeom>
          <a:solidFill>
            <a:srgbClr val="FFFFFF"/>
          </a:solidFill>
          <a:ln w="10160">
            <a:solidFill>
              <a:srgbClr val="D1D5DC"/>
            </a:solidFill>
            <a:prstDash val="solid"/>
          </a:ln>
        </p:spPr>
        <p:txBody>
          <a:bodyPr/>
          <a:lstStyle/>
          <a:p>
            <a:endParaRPr lang="en-US"/>
          </a:p>
        </p:txBody>
      </p:sp>
      <p:sp>
        <p:nvSpPr>
          <p:cNvPr id="49" name="Text 46"/>
          <p:cNvSpPr/>
          <p:nvPr/>
        </p:nvSpPr>
        <p:spPr>
          <a:xfrm>
            <a:off x="6504633" y="4588747"/>
            <a:ext cx="5141407" cy="200967"/>
          </a:xfrm>
          <a:prstGeom prst="rect">
            <a:avLst/>
          </a:prstGeom>
          <a:noFill/>
          <a:ln/>
        </p:spPr>
        <p:txBody>
          <a:bodyPr wrap="square" lIns="0" tIns="0" rIns="0" bIns="0" rtlCol="0" anchor="ctr"/>
          <a:lstStyle/>
          <a:p>
            <a:pPr>
              <a:lnSpc>
                <a:spcPct val="130000"/>
              </a:lnSpc>
            </a:pPr>
            <a:r>
              <a:rPr lang="en-US" sz="1055" b="1" dirty="0">
                <a:solidFill>
                  <a:srgbClr val="1F2937"/>
                </a:solidFill>
                <a:latin typeface="Quattrocento Sans" pitchFamily="34" charset="0"/>
                <a:ea typeface="Quattrocento Sans" pitchFamily="34" charset="-122"/>
                <a:cs typeface="Quattrocento Sans" pitchFamily="34" charset="-120"/>
              </a:rPr>
              <a:t>Problem:</a:t>
            </a:r>
            <a:r>
              <a:rPr lang="en-US" sz="1055" dirty="0">
                <a:solidFill>
                  <a:srgbClr val="1F2937"/>
                </a:solidFill>
                <a:latin typeface="Quattrocento Sans" pitchFamily="34" charset="0"/>
                <a:ea typeface="Quattrocento Sans" pitchFamily="34" charset="-122"/>
                <a:cs typeface="Quattrocento Sans" pitchFamily="34" charset="-120"/>
              </a:rPr>
              <a:t> Small deviations matter more for small boxes than large boxes.</a:t>
            </a:r>
            <a:endParaRPr lang="en-US" sz="1600" dirty="0"/>
          </a:p>
        </p:txBody>
      </p:sp>
      <p:sp>
        <p:nvSpPr>
          <p:cNvPr id="50" name="Text 47"/>
          <p:cNvSpPr/>
          <p:nvPr/>
        </p:nvSpPr>
        <p:spPr>
          <a:xfrm>
            <a:off x="6504633" y="4856703"/>
            <a:ext cx="5141407" cy="401934"/>
          </a:xfrm>
          <a:prstGeom prst="rect">
            <a:avLst/>
          </a:prstGeom>
          <a:noFill/>
          <a:ln/>
        </p:spPr>
        <p:txBody>
          <a:bodyPr wrap="square" lIns="0" tIns="0" rIns="0" bIns="0" rtlCol="0" anchor="ctr"/>
          <a:lstStyle/>
          <a:p>
            <a:pPr>
              <a:lnSpc>
                <a:spcPct val="130000"/>
              </a:lnSpc>
            </a:pPr>
            <a:r>
              <a:rPr lang="en-US" sz="1055" b="1" dirty="0">
                <a:solidFill>
                  <a:srgbClr val="1F2937"/>
                </a:solidFill>
                <a:latin typeface="Quattrocento Sans" pitchFamily="34" charset="0"/>
                <a:ea typeface="Quattrocento Sans" pitchFamily="34" charset="-122"/>
                <a:cs typeface="Quattrocento Sans" pitchFamily="34" charset="-120"/>
              </a:rPr>
              <a:t>Example:</a:t>
            </a:r>
            <a:r>
              <a:rPr lang="en-US" sz="1055" dirty="0">
                <a:solidFill>
                  <a:srgbClr val="1F2937"/>
                </a:solidFill>
                <a:latin typeface="Quattrocento Sans" pitchFamily="34" charset="0"/>
                <a:ea typeface="Quattrocento Sans" pitchFamily="34" charset="-122"/>
                <a:cs typeface="Quattrocento Sans" pitchFamily="34" charset="-120"/>
              </a:rPr>
              <a:t> A 2-pixel error in a 10×10 box (20% deviation) is worse than in a 100×100 box (2% deviation).</a:t>
            </a:r>
            <a:endParaRPr lang="en-US" sz="1600" dirty="0"/>
          </a:p>
        </p:txBody>
      </p:sp>
      <p:sp>
        <p:nvSpPr>
          <p:cNvPr id="51" name="Shape 48"/>
          <p:cNvSpPr/>
          <p:nvPr/>
        </p:nvSpPr>
        <p:spPr>
          <a:xfrm>
            <a:off x="6397451" y="5466306"/>
            <a:ext cx="5292132" cy="602901"/>
          </a:xfrm>
          <a:custGeom>
            <a:avLst/>
            <a:gdLst/>
            <a:ahLst/>
            <a:cxnLst/>
            <a:rect l="l" t="t" r="r" b="b"/>
            <a:pathLst>
              <a:path w="5292132" h="602901">
                <a:moveTo>
                  <a:pt x="33497" y="0"/>
                </a:moveTo>
                <a:lnTo>
                  <a:pt x="5258635" y="0"/>
                </a:lnTo>
                <a:cubicBezTo>
                  <a:pt x="5277135" y="0"/>
                  <a:pt x="5292132" y="14997"/>
                  <a:pt x="5292132" y="33497"/>
                </a:cubicBezTo>
                <a:lnTo>
                  <a:pt x="5292132" y="569404"/>
                </a:lnTo>
                <a:cubicBezTo>
                  <a:pt x="5292132" y="587904"/>
                  <a:pt x="5277135" y="602901"/>
                  <a:pt x="5258635" y="602901"/>
                </a:cubicBezTo>
                <a:lnTo>
                  <a:pt x="33497" y="602901"/>
                </a:lnTo>
                <a:cubicBezTo>
                  <a:pt x="14997" y="602901"/>
                  <a:pt x="0" y="587904"/>
                  <a:pt x="0" y="569404"/>
                </a:cubicBezTo>
                <a:lnTo>
                  <a:pt x="0" y="33497"/>
                </a:lnTo>
                <a:cubicBezTo>
                  <a:pt x="0" y="15010"/>
                  <a:pt x="15010" y="0"/>
                  <a:pt x="33497" y="0"/>
                </a:cubicBezTo>
                <a:close/>
              </a:path>
            </a:pathLst>
          </a:custGeom>
          <a:solidFill>
            <a:srgbClr val="8B0000">
              <a:alpha val="10196"/>
            </a:srgbClr>
          </a:solidFill>
          <a:ln/>
        </p:spPr>
        <p:txBody>
          <a:bodyPr/>
          <a:lstStyle/>
          <a:p>
            <a:endParaRPr lang="en-US"/>
          </a:p>
        </p:txBody>
      </p:sp>
      <p:sp>
        <p:nvSpPr>
          <p:cNvPr id="52" name="Shape 49"/>
          <p:cNvSpPr/>
          <p:nvPr/>
        </p:nvSpPr>
        <p:spPr>
          <a:xfrm>
            <a:off x="6514681" y="5593582"/>
            <a:ext cx="133978" cy="133978"/>
          </a:xfrm>
          <a:custGeom>
            <a:avLst/>
            <a:gdLst/>
            <a:ahLst/>
            <a:cxnLst/>
            <a:rect l="l" t="t" r="r" b="b"/>
            <a:pathLst>
              <a:path w="133978" h="133978">
                <a:moveTo>
                  <a:pt x="66989" y="133978"/>
                </a:moveTo>
                <a:cubicBezTo>
                  <a:pt x="103961" y="133978"/>
                  <a:pt x="133978" y="103961"/>
                  <a:pt x="133978" y="66989"/>
                </a:cubicBezTo>
                <a:cubicBezTo>
                  <a:pt x="133978" y="30017"/>
                  <a:pt x="103961" y="0"/>
                  <a:pt x="66989" y="0"/>
                </a:cubicBezTo>
                <a:cubicBezTo>
                  <a:pt x="30017" y="0"/>
                  <a:pt x="0" y="30017"/>
                  <a:pt x="0" y="66989"/>
                </a:cubicBezTo>
                <a:cubicBezTo>
                  <a:pt x="0" y="103961"/>
                  <a:pt x="30017" y="133978"/>
                  <a:pt x="66989" y="133978"/>
                </a:cubicBezTo>
                <a:close/>
                <a:moveTo>
                  <a:pt x="89074" y="55658"/>
                </a:moveTo>
                <a:lnTo>
                  <a:pt x="68140" y="89153"/>
                </a:lnTo>
                <a:cubicBezTo>
                  <a:pt x="67041" y="90906"/>
                  <a:pt x="65157" y="92005"/>
                  <a:pt x="63090" y="92110"/>
                </a:cubicBezTo>
                <a:cubicBezTo>
                  <a:pt x="61023" y="92215"/>
                  <a:pt x="59034" y="91273"/>
                  <a:pt x="57804" y="89598"/>
                </a:cubicBezTo>
                <a:lnTo>
                  <a:pt x="45244" y="72851"/>
                </a:lnTo>
                <a:cubicBezTo>
                  <a:pt x="43150" y="70077"/>
                  <a:pt x="43726" y="66152"/>
                  <a:pt x="46500" y="64058"/>
                </a:cubicBezTo>
                <a:cubicBezTo>
                  <a:pt x="49274" y="61965"/>
                  <a:pt x="53199" y="62541"/>
                  <a:pt x="55292" y="65314"/>
                </a:cubicBezTo>
                <a:lnTo>
                  <a:pt x="62357" y="74735"/>
                </a:lnTo>
                <a:lnTo>
                  <a:pt x="78424" y="49012"/>
                </a:lnTo>
                <a:cubicBezTo>
                  <a:pt x="80256" y="46081"/>
                  <a:pt x="84129" y="45165"/>
                  <a:pt x="87086" y="47023"/>
                </a:cubicBezTo>
                <a:cubicBezTo>
                  <a:pt x="90043" y="48881"/>
                  <a:pt x="90932" y="52728"/>
                  <a:pt x="89074" y="55685"/>
                </a:cubicBezTo>
                <a:close/>
              </a:path>
            </a:pathLst>
          </a:custGeom>
          <a:solidFill>
            <a:srgbClr val="00A63E"/>
          </a:solidFill>
          <a:ln/>
        </p:spPr>
        <p:txBody>
          <a:bodyPr/>
          <a:lstStyle/>
          <a:p>
            <a:endParaRPr lang="en-US"/>
          </a:p>
        </p:txBody>
      </p:sp>
      <p:sp>
        <p:nvSpPr>
          <p:cNvPr id="53" name="Text 50"/>
          <p:cNvSpPr/>
          <p:nvPr/>
        </p:nvSpPr>
        <p:spPr>
          <a:xfrm>
            <a:off x="6709575" y="5566789"/>
            <a:ext cx="4946513" cy="401934"/>
          </a:xfrm>
          <a:prstGeom prst="rect">
            <a:avLst/>
          </a:prstGeom>
          <a:noFill/>
          <a:ln/>
        </p:spPr>
        <p:txBody>
          <a:bodyPr wrap="square" lIns="0" tIns="0" rIns="0" bIns="0" rtlCol="0" anchor="ctr"/>
          <a:lstStyle/>
          <a:p>
            <a:pPr>
              <a:lnSpc>
                <a:spcPct val="130000"/>
              </a:lnSpc>
            </a:pPr>
            <a:r>
              <a:rPr lang="en-US" sz="1055" b="1" dirty="0">
                <a:solidFill>
                  <a:srgbClr val="1F2937"/>
                </a:solidFill>
                <a:latin typeface="Quattrocento Sans" pitchFamily="34" charset="0"/>
                <a:ea typeface="Quattrocento Sans" pitchFamily="34" charset="-122"/>
                <a:cs typeface="Quattrocento Sans" pitchFamily="34" charset="-120"/>
              </a:rPr>
              <a:t>Solution:</a:t>
            </a:r>
            <a:r>
              <a:rPr lang="en-US" sz="1055" dirty="0">
                <a:solidFill>
                  <a:srgbClr val="1F2937"/>
                </a:solidFill>
                <a:latin typeface="Quattrocento Sans" pitchFamily="34" charset="0"/>
                <a:ea typeface="Quattrocento Sans" pitchFamily="34" charset="-122"/>
                <a:cs typeface="Quattrocento Sans" pitchFamily="34" charset="-120"/>
              </a:rPr>
              <a:t> Square root reduces the impact of large box errors while preserving sensitivity to small box errors.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3.2 ANCHOR BOXES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Anchor Boxes: Handling Multiple Object Shapes</a:t>
            </a:r>
            <a:endParaRPr lang="en-US" sz="1600" dirty="0"/>
          </a:p>
        </p:txBody>
      </p:sp>
      <p:sp>
        <p:nvSpPr>
          <p:cNvPr id="4" name="Shape 2"/>
          <p:cNvSpPr/>
          <p:nvPr/>
        </p:nvSpPr>
        <p:spPr>
          <a:xfrm>
            <a:off x="323850" y="990600"/>
            <a:ext cx="5672137" cy="2933700"/>
          </a:xfrm>
          <a:custGeom>
            <a:avLst/>
            <a:gdLst/>
            <a:ahLst/>
            <a:cxnLst/>
            <a:rect l="l" t="t" r="r" b="b"/>
            <a:pathLst>
              <a:path w="5672137" h="2933700">
                <a:moveTo>
                  <a:pt x="63515" y="0"/>
                </a:moveTo>
                <a:lnTo>
                  <a:pt x="5608623" y="0"/>
                </a:lnTo>
                <a:cubicBezTo>
                  <a:pt x="5643701" y="0"/>
                  <a:pt x="5672137" y="28436"/>
                  <a:pt x="5672137" y="63515"/>
                </a:cubicBezTo>
                <a:lnTo>
                  <a:pt x="5672137" y="2870185"/>
                </a:lnTo>
                <a:cubicBezTo>
                  <a:pt x="5672137" y="2905264"/>
                  <a:pt x="5643701" y="2933700"/>
                  <a:pt x="5608623" y="2933700"/>
                </a:cubicBezTo>
                <a:lnTo>
                  <a:pt x="63515" y="2933700"/>
                </a:lnTo>
                <a:cubicBezTo>
                  <a:pt x="28436" y="2933700"/>
                  <a:pt x="0" y="2905264"/>
                  <a:pt x="0" y="2870185"/>
                </a:cubicBezTo>
                <a:lnTo>
                  <a:pt x="0" y="63515"/>
                </a:lnTo>
                <a:cubicBezTo>
                  <a:pt x="0" y="28460"/>
                  <a:pt x="28460" y="0"/>
                  <a:pt x="63515"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88950" y="1155701"/>
            <a:ext cx="5421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What are Anchor Boxes?</a:t>
            </a:r>
            <a:endParaRPr lang="en-US" sz="1600" dirty="0"/>
          </a:p>
        </p:txBody>
      </p:sp>
      <p:pic>
        <p:nvPicPr>
          <p:cNvPr id="6" name="Image 0" descr="https://kimi-web-img.moonshot.cn/img/images.surferseo.art/d04f01b76e399795fb72ec4d8daa20279639d58b.png"/>
          <p:cNvPicPr>
            <a:picLocks noChangeAspect="1"/>
          </p:cNvPicPr>
          <p:nvPr/>
        </p:nvPicPr>
        <p:blipFill>
          <a:blip r:embed="rId3"/>
          <a:srcRect t="17456" b="17456"/>
          <a:stretch/>
        </p:blipFill>
        <p:spPr>
          <a:xfrm>
            <a:off x="488950" y="1504955"/>
            <a:ext cx="5341938" cy="1270000"/>
          </a:xfrm>
          <a:prstGeom prst="roundRect">
            <a:avLst>
              <a:gd name="adj" fmla="val 2500"/>
            </a:avLst>
          </a:prstGeom>
        </p:spPr>
      </p:pic>
      <p:sp>
        <p:nvSpPr>
          <p:cNvPr id="7" name="Text 4"/>
          <p:cNvSpPr/>
          <p:nvPr/>
        </p:nvSpPr>
        <p:spPr>
          <a:xfrm>
            <a:off x="488950" y="2901955"/>
            <a:ext cx="5405438" cy="3810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Anchor boxes</a:t>
            </a:r>
            <a:r>
              <a:rPr lang="en-US" sz="1000" dirty="0">
                <a:solidFill>
                  <a:srgbClr val="1F2937"/>
                </a:solidFill>
                <a:latin typeface="Quattrocento Sans" pitchFamily="34" charset="0"/>
                <a:ea typeface="Quattrocento Sans" pitchFamily="34" charset="-122"/>
                <a:cs typeface="Quattrocento Sans" pitchFamily="34" charset="-120"/>
              </a:rPr>
              <a:t> are pre-defined bounding box shapes with different aspect ratios, introduced in </a:t>
            </a:r>
            <a:r>
              <a:rPr lang="en-US" sz="1000" dirty="0">
                <a:solidFill>
                  <a:srgbClr val="FFFFFF"/>
                </a:solidFill>
                <a:highlight>
                  <a:srgbClr val="8B0000">
                    <a:alpha val="100000"/>
                  </a:srgbClr>
                </a:highlight>
                <a:latin typeface="Quattrocento Sans" pitchFamily="34" charset="0"/>
                <a:ea typeface="Quattrocento Sans" pitchFamily="34" charset="-122"/>
                <a:cs typeface="Quattrocento Sans" pitchFamily="34" charset="-120"/>
              </a:rPr>
              <a:t>YOLOv2 </a:t>
            </a:r>
            <a:r>
              <a:rPr lang="en-US" sz="1000" dirty="0">
                <a:solidFill>
                  <a:srgbClr val="1F2937"/>
                </a:solidFill>
                <a:latin typeface="Quattrocento Sans" pitchFamily="34" charset="0"/>
                <a:ea typeface="Quattrocento Sans" pitchFamily="34" charset="-122"/>
                <a:cs typeface="Quattrocento Sans" pitchFamily="34" charset="-120"/>
              </a:rPr>
              <a:t>.</a:t>
            </a:r>
            <a:endParaRPr lang="en-US" sz="1600" dirty="0"/>
          </a:p>
        </p:txBody>
      </p:sp>
      <p:sp>
        <p:nvSpPr>
          <p:cNvPr id="8" name="Shape 5"/>
          <p:cNvSpPr/>
          <p:nvPr/>
        </p:nvSpPr>
        <p:spPr>
          <a:xfrm>
            <a:off x="488950" y="3378205"/>
            <a:ext cx="5341938" cy="381000"/>
          </a:xfrm>
          <a:custGeom>
            <a:avLst/>
            <a:gdLst/>
            <a:ahLst/>
            <a:cxnLst/>
            <a:rect l="l" t="t" r="r" b="b"/>
            <a:pathLst>
              <a:path w="5341938" h="381000">
                <a:moveTo>
                  <a:pt x="31749" y="0"/>
                </a:moveTo>
                <a:lnTo>
                  <a:pt x="5310189" y="0"/>
                </a:lnTo>
                <a:cubicBezTo>
                  <a:pt x="5327723" y="0"/>
                  <a:pt x="5341938" y="14214"/>
                  <a:pt x="5341938" y="31749"/>
                </a:cubicBezTo>
                <a:lnTo>
                  <a:pt x="5341938" y="349251"/>
                </a:lnTo>
                <a:cubicBezTo>
                  <a:pt x="5341938" y="366786"/>
                  <a:pt x="5327723" y="381000"/>
                  <a:pt x="5310189" y="381000"/>
                </a:cubicBezTo>
                <a:lnTo>
                  <a:pt x="31749" y="381000"/>
                </a:lnTo>
                <a:cubicBezTo>
                  <a:pt x="14214" y="381000"/>
                  <a:pt x="0" y="366786"/>
                  <a:pt x="0" y="349251"/>
                </a:cubicBezTo>
                <a:lnTo>
                  <a:pt x="0" y="31749"/>
                </a:lnTo>
                <a:cubicBezTo>
                  <a:pt x="0" y="14226"/>
                  <a:pt x="14226" y="0"/>
                  <a:pt x="31749" y="0"/>
                </a:cubicBezTo>
                <a:close/>
              </a:path>
            </a:pathLst>
          </a:custGeom>
          <a:solidFill>
            <a:srgbClr val="F3F4F6"/>
          </a:solidFill>
          <a:ln/>
        </p:spPr>
        <p:txBody>
          <a:bodyPr/>
          <a:lstStyle/>
          <a:p>
            <a:endParaRPr lang="en-US"/>
          </a:p>
        </p:txBody>
      </p:sp>
      <p:sp>
        <p:nvSpPr>
          <p:cNvPr id="9" name="Shape 6"/>
          <p:cNvSpPr/>
          <p:nvPr/>
        </p:nvSpPr>
        <p:spPr>
          <a:xfrm>
            <a:off x="615950" y="3498848"/>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8B0000"/>
          </a:solidFill>
          <a:ln/>
        </p:spPr>
        <p:txBody>
          <a:bodyPr/>
          <a:lstStyle/>
          <a:p>
            <a:endParaRPr lang="en-US"/>
          </a:p>
        </p:txBody>
      </p:sp>
      <p:sp>
        <p:nvSpPr>
          <p:cNvPr id="10" name="Text 7"/>
          <p:cNvSpPr/>
          <p:nvPr/>
        </p:nvSpPr>
        <p:spPr>
          <a:xfrm>
            <a:off x="782637" y="3473455"/>
            <a:ext cx="5016500"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Quattrocento Sans" pitchFamily="34" charset="0"/>
                <a:ea typeface="Quattrocento Sans" pitchFamily="34" charset="-122"/>
                <a:cs typeface="Quattrocento Sans" pitchFamily="34" charset="-120"/>
              </a:rPr>
              <a:t>Each anchor specializes in detecting objects of specific shapes</a:t>
            </a:r>
            <a:endParaRPr lang="en-US" sz="1600" dirty="0"/>
          </a:p>
        </p:txBody>
      </p:sp>
      <p:sp>
        <p:nvSpPr>
          <p:cNvPr id="11" name="Shape 8"/>
          <p:cNvSpPr/>
          <p:nvPr/>
        </p:nvSpPr>
        <p:spPr>
          <a:xfrm>
            <a:off x="317500" y="4057652"/>
            <a:ext cx="5683250" cy="1651000"/>
          </a:xfrm>
          <a:custGeom>
            <a:avLst/>
            <a:gdLst/>
            <a:ahLst/>
            <a:cxnLst/>
            <a:rect l="l" t="t" r="r" b="b"/>
            <a:pathLst>
              <a:path w="5683250" h="1651000">
                <a:moveTo>
                  <a:pt x="63497" y="0"/>
                </a:moveTo>
                <a:lnTo>
                  <a:pt x="5619753" y="0"/>
                </a:lnTo>
                <a:cubicBezTo>
                  <a:pt x="5654821" y="0"/>
                  <a:pt x="5683250" y="28429"/>
                  <a:pt x="5683250" y="63497"/>
                </a:cubicBezTo>
                <a:lnTo>
                  <a:pt x="5683250" y="1587503"/>
                </a:lnTo>
                <a:cubicBezTo>
                  <a:pt x="5683250" y="1622571"/>
                  <a:pt x="5654821" y="1651000"/>
                  <a:pt x="5619753" y="1651000"/>
                </a:cubicBezTo>
                <a:lnTo>
                  <a:pt x="63497" y="1651000"/>
                </a:lnTo>
                <a:cubicBezTo>
                  <a:pt x="28429" y="1651000"/>
                  <a:pt x="0" y="1622571"/>
                  <a:pt x="0" y="1587503"/>
                </a:cubicBezTo>
                <a:lnTo>
                  <a:pt x="0" y="63497"/>
                </a:lnTo>
                <a:cubicBezTo>
                  <a:pt x="0" y="28452"/>
                  <a:pt x="28452" y="0"/>
                  <a:pt x="63497" y="0"/>
                </a:cubicBezTo>
                <a:close/>
              </a:path>
            </a:pathLst>
          </a:custGeom>
          <a:solidFill>
            <a:srgbClr val="8B0000"/>
          </a:solidFill>
          <a:ln/>
        </p:spPr>
        <p:txBody>
          <a:bodyPr/>
          <a:lstStyle/>
          <a:p>
            <a:endParaRPr lang="en-US"/>
          </a:p>
        </p:txBody>
      </p:sp>
      <p:sp>
        <p:nvSpPr>
          <p:cNvPr id="12" name="Shape 9"/>
          <p:cNvSpPr/>
          <p:nvPr/>
        </p:nvSpPr>
        <p:spPr>
          <a:xfrm>
            <a:off x="476250" y="4248152"/>
            <a:ext cx="198438" cy="158750"/>
          </a:xfrm>
          <a:custGeom>
            <a:avLst/>
            <a:gdLst/>
            <a:ahLst/>
            <a:cxnLst/>
            <a:rect l="l" t="t" r="r" b="b"/>
            <a:pathLst>
              <a:path w="198438" h="158750">
                <a:moveTo>
                  <a:pt x="128953" y="65267"/>
                </a:moveTo>
                <a:cubicBezTo>
                  <a:pt x="132736" y="64244"/>
                  <a:pt x="136705" y="66042"/>
                  <a:pt x="138410" y="69546"/>
                </a:cubicBezTo>
                <a:lnTo>
                  <a:pt x="144177" y="81204"/>
                </a:lnTo>
                <a:cubicBezTo>
                  <a:pt x="147371" y="81638"/>
                  <a:pt x="150502" y="82507"/>
                  <a:pt x="153448" y="83716"/>
                </a:cubicBezTo>
                <a:lnTo>
                  <a:pt x="164300" y="76491"/>
                </a:lnTo>
                <a:cubicBezTo>
                  <a:pt x="167556" y="74321"/>
                  <a:pt x="171865" y="74755"/>
                  <a:pt x="174625" y="77515"/>
                </a:cubicBezTo>
                <a:lnTo>
                  <a:pt x="180578" y="83468"/>
                </a:lnTo>
                <a:cubicBezTo>
                  <a:pt x="183338" y="86227"/>
                  <a:pt x="183772" y="90568"/>
                  <a:pt x="181601" y="93793"/>
                </a:cubicBezTo>
                <a:lnTo>
                  <a:pt x="174377" y="104614"/>
                </a:lnTo>
                <a:cubicBezTo>
                  <a:pt x="174966" y="106071"/>
                  <a:pt x="175493" y="107590"/>
                  <a:pt x="175927" y="109172"/>
                </a:cubicBezTo>
                <a:cubicBezTo>
                  <a:pt x="176361" y="110753"/>
                  <a:pt x="176640" y="112303"/>
                  <a:pt x="176857" y="113885"/>
                </a:cubicBezTo>
                <a:lnTo>
                  <a:pt x="188547" y="119652"/>
                </a:lnTo>
                <a:cubicBezTo>
                  <a:pt x="192050" y="121388"/>
                  <a:pt x="193849" y="125357"/>
                  <a:pt x="192825" y="129108"/>
                </a:cubicBezTo>
                <a:lnTo>
                  <a:pt x="190655" y="137232"/>
                </a:lnTo>
                <a:cubicBezTo>
                  <a:pt x="189632" y="140984"/>
                  <a:pt x="186128" y="143526"/>
                  <a:pt x="182221" y="143278"/>
                </a:cubicBezTo>
                <a:lnTo>
                  <a:pt x="169199" y="142441"/>
                </a:lnTo>
                <a:cubicBezTo>
                  <a:pt x="167246" y="144952"/>
                  <a:pt x="164982" y="147278"/>
                  <a:pt x="162409" y="149262"/>
                </a:cubicBezTo>
                <a:lnTo>
                  <a:pt x="163246" y="162254"/>
                </a:lnTo>
                <a:cubicBezTo>
                  <a:pt x="163494" y="166160"/>
                  <a:pt x="160951" y="169695"/>
                  <a:pt x="157200" y="170687"/>
                </a:cubicBezTo>
                <a:lnTo>
                  <a:pt x="149076" y="172858"/>
                </a:lnTo>
                <a:cubicBezTo>
                  <a:pt x="145293" y="173881"/>
                  <a:pt x="141356" y="172083"/>
                  <a:pt x="139619" y="168579"/>
                </a:cubicBezTo>
                <a:lnTo>
                  <a:pt x="133852" y="156921"/>
                </a:lnTo>
                <a:cubicBezTo>
                  <a:pt x="130659" y="156487"/>
                  <a:pt x="127527" y="155618"/>
                  <a:pt x="124582" y="154409"/>
                </a:cubicBezTo>
                <a:lnTo>
                  <a:pt x="113729" y="161634"/>
                </a:lnTo>
                <a:cubicBezTo>
                  <a:pt x="110474" y="163804"/>
                  <a:pt x="106164" y="163370"/>
                  <a:pt x="103405" y="160610"/>
                </a:cubicBezTo>
                <a:lnTo>
                  <a:pt x="97451" y="154657"/>
                </a:lnTo>
                <a:cubicBezTo>
                  <a:pt x="94692" y="151898"/>
                  <a:pt x="94258" y="147588"/>
                  <a:pt x="96428" y="144332"/>
                </a:cubicBezTo>
                <a:lnTo>
                  <a:pt x="103653" y="133480"/>
                </a:lnTo>
                <a:cubicBezTo>
                  <a:pt x="103063" y="132023"/>
                  <a:pt x="102536" y="130504"/>
                  <a:pt x="102102" y="128922"/>
                </a:cubicBezTo>
                <a:cubicBezTo>
                  <a:pt x="101668" y="127341"/>
                  <a:pt x="101389" y="125760"/>
                  <a:pt x="101172" y="124209"/>
                </a:cubicBezTo>
                <a:lnTo>
                  <a:pt x="89483" y="118442"/>
                </a:lnTo>
                <a:cubicBezTo>
                  <a:pt x="85979" y="116706"/>
                  <a:pt x="84212" y="112737"/>
                  <a:pt x="85204" y="108986"/>
                </a:cubicBezTo>
                <a:lnTo>
                  <a:pt x="87375" y="100862"/>
                </a:lnTo>
                <a:cubicBezTo>
                  <a:pt x="88398" y="97110"/>
                  <a:pt x="91901" y="94568"/>
                  <a:pt x="95808" y="94816"/>
                </a:cubicBezTo>
                <a:lnTo>
                  <a:pt x="108800" y="95653"/>
                </a:lnTo>
                <a:cubicBezTo>
                  <a:pt x="110753" y="93142"/>
                  <a:pt x="113016" y="90816"/>
                  <a:pt x="115590" y="88832"/>
                </a:cubicBezTo>
                <a:lnTo>
                  <a:pt x="114753" y="75871"/>
                </a:lnTo>
                <a:cubicBezTo>
                  <a:pt x="114505" y="71965"/>
                  <a:pt x="117047" y="68430"/>
                  <a:pt x="120799" y="67438"/>
                </a:cubicBezTo>
                <a:lnTo>
                  <a:pt x="128922" y="65267"/>
                </a:lnTo>
                <a:close/>
                <a:moveTo>
                  <a:pt x="139030" y="105420"/>
                </a:moveTo>
                <a:cubicBezTo>
                  <a:pt x="131501" y="105428"/>
                  <a:pt x="125395" y="111548"/>
                  <a:pt x="125403" y="119078"/>
                </a:cubicBezTo>
                <a:cubicBezTo>
                  <a:pt x="125412" y="126608"/>
                  <a:pt x="131532" y="132714"/>
                  <a:pt x="139061" y="132705"/>
                </a:cubicBezTo>
                <a:cubicBezTo>
                  <a:pt x="146591" y="132697"/>
                  <a:pt x="152697" y="126577"/>
                  <a:pt x="152688" y="119047"/>
                </a:cubicBezTo>
                <a:cubicBezTo>
                  <a:pt x="152680" y="111517"/>
                  <a:pt x="146560" y="105411"/>
                  <a:pt x="139030" y="105420"/>
                </a:cubicBezTo>
                <a:close/>
                <a:moveTo>
                  <a:pt x="69732" y="-14108"/>
                </a:moveTo>
                <a:lnTo>
                  <a:pt x="77856" y="-11937"/>
                </a:lnTo>
                <a:cubicBezTo>
                  <a:pt x="81607" y="-10914"/>
                  <a:pt x="84150" y="-7379"/>
                  <a:pt x="83902" y="-3504"/>
                </a:cubicBezTo>
                <a:lnTo>
                  <a:pt x="83065" y="9457"/>
                </a:lnTo>
                <a:cubicBezTo>
                  <a:pt x="85638" y="11441"/>
                  <a:pt x="87902" y="13736"/>
                  <a:pt x="89855" y="16278"/>
                </a:cubicBezTo>
                <a:lnTo>
                  <a:pt x="102877" y="15441"/>
                </a:lnTo>
                <a:cubicBezTo>
                  <a:pt x="106753" y="15193"/>
                  <a:pt x="110288" y="17735"/>
                  <a:pt x="111311" y="21487"/>
                </a:cubicBezTo>
                <a:lnTo>
                  <a:pt x="113481" y="29611"/>
                </a:lnTo>
                <a:cubicBezTo>
                  <a:pt x="114474" y="33362"/>
                  <a:pt x="112706" y="37331"/>
                  <a:pt x="109203" y="39067"/>
                </a:cubicBezTo>
                <a:lnTo>
                  <a:pt x="97513" y="44834"/>
                </a:lnTo>
                <a:cubicBezTo>
                  <a:pt x="97296" y="46416"/>
                  <a:pt x="96986" y="47997"/>
                  <a:pt x="96583" y="49547"/>
                </a:cubicBezTo>
                <a:cubicBezTo>
                  <a:pt x="96180" y="51098"/>
                  <a:pt x="95622" y="52648"/>
                  <a:pt x="95033" y="54105"/>
                </a:cubicBezTo>
                <a:lnTo>
                  <a:pt x="102257" y="64957"/>
                </a:lnTo>
                <a:cubicBezTo>
                  <a:pt x="104428" y="68213"/>
                  <a:pt x="103994" y="72523"/>
                  <a:pt x="101234" y="75282"/>
                </a:cubicBezTo>
                <a:lnTo>
                  <a:pt x="95281" y="81235"/>
                </a:lnTo>
                <a:cubicBezTo>
                  <a:pt x="92521" y="83995"/>
                  <a:pt x="88212" y="84429"/>
                  <a:pt x="84956" y="82259"/>
                </a:cubicBezTo>
                <a:lnTo>
                  <a:pt x="74104" y="75034"/>
                </a:lnTo>
                <a:cubicBezTo>
                  <a:pt x="71158" y="76243"/>
                  <a:pt x="68027" y="77112"/>
                  <a:pt x="64833" y="77546"/>
                </a:cubicBezTo>
                <a:lnTo>
                  <a:pt x="59066" y="89204"/>
                </a:lnTo>
                <a:cubicBezTo>
                  <a:pt x="57330" y="92708"/>
                  <a:pt x="53361" y="94475"/>
                  <a:pt x="49609" y="93483"/>
                </a:cubicBezTo>
                <a:lnTo>
                  <a:pt x="41486" y="91312"/>
                </a:lnTo>
                <a:cubicBezTo>
                  <a:pt x="37703" y="90289"/>
                  <a:pt x="35192" y="86754"/>
                  <a:pt x="35440" y="82879"/>
                </a:cubicBezTo>
                <a:lnTo>
                  <a:pt x="36277" y="69887"/>
                </a:lnTo>
                <a:cubicBezTo>
                  <a:pt x="33703" y="67903"/>
                  <a:pt x="31440" y="65608"/>
                  <a:pt x="29487" y="63066"/>
                </a:cubicBezTo>
                <a:lnTo>
                  <a:pt x="16464" y="63903"/>
                </a:lnTo>
                <a:cubicBezTo>
                  <a:pt x="12588" y="64151"/>
                  <a:pt x="9054" y="61609"/>
                  <a:pt x="8031" y="57857"/>
                </a:cubicBezTo>
                <a:lnTo>
                  <a:pt x="5860" y="49733"/>
                </a:lnTo>
                <a:cubicBezTo>
                  <a:pt x="4868" y="45982"/>
                  <a:pt x="6635" y="42013"/>
                  <a:pt x="10139" y="40277"/>
                </a:cubicBezTo>
                <a:lnTo>
                  <a:pt x="21828" y="34510"/>
                </a:lnTo>
                <a:cubicBezTo>
                  <a:pt x="22045" y="32928"/>
                  <a:pt x="22355" y="31378"/>
                  <a:pt x="22758" y="29797"/>
                </a:cubicBezTo>
                <a:cubicBezTo>
                  <a:pt x="23192" y="28215"/>
                  <a:pt x="23688" y="26696"/>
                  <a:pt x="24309" y="25239"/>
                </a:cubicBezTo>
                <a:lnTo>
                  <a:pt x="17084" y="14418"/>
                </a:lnTo>
                <a:cubicBezTo>
                  <a:pt x="14914" y="11162"/>
                  <a:pt x="15348" y="6852"/>
                  <a:pt x="18107" y="4093"/>
                </a:cubicBezTo>
                <a:lnTo>
                  <a:pt x="24061" y="-1860"/>
                </a:lnTo>
                <a:cubicBezTo>
                  <a:pt x="26820" y="-4620"/>
                  <a:pt x="31130" y="-5054"/>
                  <a:pt x="34385" y="-2884"/>
                </a:cubicBezTo>
                <a:lnTo>
                  <a:pt x="45238" y="4341"/>
                </a:lnTo>
                <a:cubicBezTo>
                  <a:pt x="48183" y="3132"/>
                  <a:pt x="51315" y="2263"/>
                  <a:pt x="54508" y="1829"/>
                </a:cubicBezTo>
                <a:lnTo>
                  <a:pt x="60275" y="-9829"/>
                </a:lnTo>
                <a:cubicBezTo>
                  <a:pt x="62012" y="-13333"/>
                  <a:pt x="65949" y="-15100"/>
                  <a:pt x="69732" y="-14108"/>
                </a:cubicBezTo>
                <a:close/>
                <a:moveTo>
                  <a:pt x="59655" y="26045"/>
                </a:moveTo>
                <a:cubicBezTo>
                  <a:pt x="52126" y="26045"/>
                  <a:pt x="46013" y="32158"/>
                  <a:pt x="46013" y="39688"/>
                </a:cubicBezTo>
                <a:cubicBezTo>
                  <a:pt x="46013" y="47217"/>
                  <a:pt x="52126" y="53330"/>
                  <a:pt x="59655" y="53330"/>
                </a:cubicBezTo>
                <a:cubicBezTo>
                  <a:pt x="67185" y="53330"/>
                  <a:pt x="73298" y="47217"/>
                  <a:pt x="73298" y="39688"/>
                </a:cubicBezTo>
                <a:cubicBezTo>
                  <a:pt x="73298" y="32158"/>
                  <a:pt x="67185" y="26045"/>
                  <a:pt x="59655" y="26045"/>
                </a:cubicBezTo>
                <a:close/>
              </a:path>
            </a:pathLst>
          </a:custGeom>
          <a:solidFill>
            <a:srgbClr val="FFFFFF"/>
          </a:solidFill>
          <a:ln/>
        </p:spPr>
        <p:txBody>
          <a:bodyPr/>
          <a:lstStyle/>
          <a:p>
            <a:endParaRPr lang="en-US"/>
          </a:p>
        </p:txBody>
      </p:sp>
      <p:sp>
        <p:nvSpPr>
          <p:cNvPr id="13" name="Text 10"/>
          <p:cNvSpPr/>
          <p:nvPr/>
        </p:nvSpPr>
        <p:spPr>
          <a:xfrm>
            <a:off x="674688" y="4216402"/>
            <a:ext cx="524668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How Anchor Boxes Work</a:t>
            </a:r>
            <a:endParaRPr lang="en-US" sz="1600" dirty="0"/>
          </a:p>
        </p:txBody>
      </p:sp>
      <p:sp>
        <p:nvSpPr>
          <p:cNvPr id="14" name="Shape 11"/>
          <p:cNvSpPr/>
          <p:nvPr/>
        </p:nvSpPr>
        <p:spPr>
          <a:xfrm>
            <a:off x="476250" y="4549777"/>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15" name="Text 12"/>
          <p:cNvSpPr/>
          <p:nvPr/>
        </p:nvSpPr>
        <p:spPr>
          <a:xfrm>
            <a:off x="448469" y="4549777"/>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1</a:t>
            </a:r>
            <a:endParaRPr lang="en-US" sz="1600" dirty="0"/>
          </a:p>
        </p:txBody>
      </p:sp>
      <p:sp>
        <p:nvSpPr>
          <p:cNvPr id="16" name="Text 13"/>
          <p:cNvSpPr/>
          <p:nvPr/>
        </p:nvSpPr>
        <p:spPr>
          <a:xfrm>
            <a:off x="730250" y="4533902"/>
            <a:ext cx="3571875"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Learned via </a:t>
            </a:r>
            <a:r>
              <a:rPr lang="en-US" sz="1000" b="1" dirty="0">
                <a:solidFill>
                  <a:srgbClr val="FFFFFF"/>
                </a:solidFill>
                <a:latin typeface="Quattrocento Sans" pitchFamily="34" charset="0"/>
                <a:ea typeface="Quattrocento Sans" pitchFamily="34" charset="-122"/>
                <a:cs typeface="Quattrocento Sans" pitchFamily="34" charset="-120"/>
              </a:rPr>
              <a:t>k-means clustering</a:t>
            </a:r>
            <a:r>
              <a:rPr lang="en-US" sz="1000" dirty="0">
                <a:solidFill>
                  <a:srgbClr val="FFFFFF"/>
                </a:solidFill>
                <a:latin typeface="Quattrocento Sans" pitchFamily="34" charset="0"/>
                <a:ea typeface="Quattrocento Sans" pitchFamily="34" charset="-122"/>
                <a:cs typeface="Quattrocento Sans" pitchFamily="34" charset="-120"/>
              </a:rPr>
              <a:t> on training data bounding boxes</a:t>
            </a:r>
            <a:endParaRPr lang="en-US" sz="1600" dirty="0"/>
          </a:p>
        </p:txBody>
      </p:sp>
      <p:sp>
        <p:nvSpPr>
          <p:cNvPr id="17" name="Shape 14"/>
          <p:cNvSpPr/>
          <p:nvPr/>
        </p:nvSpPr>
        <p:spPr>
          <a:xfrm>
            <a:off x="476250" y="4819652"/>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18" name="Text 15"/>
          <p:cNvSpPr/>
          <p:nvPr/>
        </p:nvSpPr>
        <p:spPr>
          <a:xfrm>
            <a:off x="448469" y="4819652"/>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2</a:t>
            </a:r>
            <a:endParaRPr lang="en-US" sz="1600" dirty="0"/>
          </a:p>
        </p:txBody>
      </p:sp>
      <p:sp>
        <p:nvSpPr>
          <p:cNvPr id="19" name="Text 16"/>
          <p:cNvSpPr/>
          <p:nvPr/>
        </p:nvSpPr>
        <p:spPr>
          <a:xfrm>
            <a:off x="730250" y="4803777"/>
            <a:ext cx="2857500"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Each anchor has specific </a:t>
            </a:r>
            <a:r>
              <a:rPr lang="en-US" sz="1000" b="1" dirty="0">
                <a:solidFill>
                  <a:srgbClr val="FFFFFF"/>
                </a:solidFill>
                <a:latin typeface="Quattrocento Sans" pitchFamily="34" charset="0"/>
                <a:ea typeface="Quattrocento Sans" pitchFamily="34" charset="-122"/>
                <a:cs typeface="Quattrocento Sans" pitchFamily="34" charset="-120"/>
              </a:rPr>
              <a:t>width, height, aspect ratio</a:t>
            </a:r>
            <a:endParaRPr lang="en-US" sz="1600" dirty="0"/>
          </a:p>
        </p:txBody>
      </p:sp>
      <p:sp>
        <p:nvSpPr>
          <p:cNvPr id="20" name="Shape 17"/>
          <p:cNvSpPr/>
          <p:nvPr/>
        </p:nvSpPr>
        <p:spPr>
          <a:xfrm>
            <a:off x="476250" y="5089527"/>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21" name="Text 18"/>
          <p:cNvSpPr/>
          <p:nvPr/>
        </p:nvSpPr>
        <p:spPr>
          <a:xfrm>
            <a:off x="448469" y="5089527"/>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3</a:t>
            </a:r>
            <a:endParaRPr lang="en-US" sz="1600" dirty="0"/>
          </a:p>
        </p:txBody>
      </p:sp>
      <p:sp>
        <p:nvSpPr>
          <p:cNvPr id="22" name="Text 19"/>
          <p:cNvSpPr/>
          <p:nvPr/>
        </p:nvSpPr>
        <p:spPr>
          <a:xfrm>
            <a:off x="730250" y="5073652"/>
            <a:ext cx="3016250"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Network predicts </a:t>
            </a:r>
            <a:r>
              <a:rPr lang="en-US" sz="1000" b="1" dirty="0">
                <a:solidFill>
                  <a:srgbClr val="FFFFFF"/>
                </a:solidFill>
                <a:latin typeface="Quattrocento Sans" pitchFamily="34" charset="0"/>
                <a:ea typeface="Quattrocento Sans" pitchFamily="34" charset="-122"/>
                <a:cs typeface="Quattrocento Sans" pitchFamily="34" charset="-120"/>
              </a:rPr>
              <a:t>offsets</a:t>
            </a:r>
            <a:r>
              <a:rPr lang="en-US" sz="1000" dirty="0">
                <a:solidFill>
                  <a:srgbClr val="FFFFFF"/>
                </a:solidFill>
                <a:latin typeface="Quattrocento Sans" pitchFamily="34" charset="0"/>
                <a:ea typeface="Quattrocento Sans" pitchFamily="34" charset="-122"/>
                <a:cs typeface="Quattrocento Sans" pitchFamily="34" charset="-120"/>
              </a:rPr>
              <a:t> from anchor box dimensions</a:t>
            </a:r>
            <a:endParaRPr lang="en-US" sz="1600" dirty="0"/>
          </a:p>
        </p:txBody>
      </p:sp>
      <p:sp>
        <p:nvSpPr>
          <p:cNvPr id="23" name="Shape 20"/>
          <p:cNvSpPr/>
          <p:nvPr/>
        </p:nvSpPr>
        <p:spPr>
          <a:xfrm>
            <a:off x="476250" y="5359402"/>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24" name="Text 21"/>
          <p:cNvSpPr/>
          <p:nvPr/>
        </p:nvSpPr>
        <p:spPr>
          <a:xfrm>
            <a:off x="448469" y="5359402"/>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4</a:t>
            </a:r>
            <a:endParaRPr lang="en-US" sz="1600" dirty="0"/>
          </a:p>
        </p:txBody>
      </p:sp>
      <p:sp>
        <p:nvSpPr>
          <p:cNvPr id="25" name="Text 22"/>
          <p:cNvSpPr/>
          <p:nvPr/>
        </p:nvSpPr>
        <p:spPr>
          <a:xfrm>
            <a:off x="730250" y="5343527"/>
            <a:ext cx="367506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Responsible predictor</a:t>
            </a:r>
            <a:r>
              <a:rPr lang="en-US" sz="1000" dirty="0">
                <a:solidFill>
                  <a:srgbClr val="FFFFFF"/>
                </a:solidFill>
                <a:latin typeface="Quattrocento Sans" pitchFamily="34" charset="0"/>
                <a:ea typeface="Quattrocento Sans" pitchFamily="34" charset="-122"/>
                <a:cs typeface="Quattrocento Sans" pitchFamily="34" charset="-120"/>
              </a:rPr>
              <a:t>: anchor with highest IoU handles prediction</a:t>
            </a:r>
            <a:endParaRPr lang="en-US" sz="1600" dirty="0"/>
          </a:p>
        </p:txBody>
      </p:sp>
      <p:sp>
        <p:nvSpPr>
          <p:cNvPr id="26" name="Shape 23"/>
          <p:cNvSpPr/>
          <p:nvPr/>
        </p:nvSpPr>
        <p:spPr>
          <a:xfrm>
            <a:off x="6161087" y="911230"/>
            <a:ext cx="5672137" cy="4235450"/>
          </a:xfrm>
          <a:custGeom>
            <a:avLst/>
            <a:gdLst/>
            <a:ahLst/>
            <a:cxnLst/>
            <a:rect l="l" t="t" r="r" b="b"/>
            <a:pathLst>
              <a:path w="5672137" h="4235450">
                <a:moveTo>
                  <a:pt x="63489" y="0"/>
                </a:moveTo>
                <a:lnTo>
                  <a:pt x="5608648" y="0"/>
                </a:lnTo>
                <a:cubicBezTo>
                  <a:pt x="5643712" y="0"/>
                  <a:pt x="5672137" y="28425"/>
                  <a:pt x="5672137" y="63489"/>
                </a:cubicBezTo>
                <a:lnTo>
                  <a:pt x="5672137" y="4171961"/>
                </a:lnTo>
                <a:cubicBezTo>
                  <a:pt x="5672137" y="4207025"/>
                  <a:pt x="5643712" y="4235450"/>
                  <a:pt x="5608648" y="4235450"/>
                </a:cubicBezTo>
                <a:lnTo>
                  <a:pt x="63489" y="4235450"/>
                </a:lnTo>
                <a:cubicBezTo>
                  <a:pt x="28425" y="4235450"/>
                  <a:pt x="0" y="4207025"/>
                  <a:pt x="0" y="4171961"/>
                </a:cubicBezTo>
                <a:lnTo>
                  <a:pt x="0" y="63489"/>
                </a:lnTo>
                <a:cubicBezTo>
                  <a:pt x="0" y="28449"/>
                  <a:pt x="28449" y="0"/>
                  <a:pt x="63489" y="0"/>
                </a:cubicBezTo>
                <a:close/>
              </a:path>
            </a:pathLst>
          </a:custGeom>
          <a:solidFill>
            <a:srgbClr val="FFFFFF"/>
          </a:solidFill>
          <a:ln w="20320">
            <a:solidFill>
              <a:srgbClr val="1F2937"/>
            </a:solidFill>
            <a:prstDash val="solid"/>
          </a:ln>
        </p:spPr>
        <p:txBody>
          <a:bodyPr/>
          <a:lstStyle/>
          <a:p>
            <a:pPr>
              <a:lnSpc>
                <a:spcPct val="120000"/>
              </a:lnSpc>
            </a:pPr>
            <a:r>
              <a:rPr lang="en-US" sz="1100" b="1" dirty="0">
                <a:solidFill>
                  <a:srgbClr val="1F2937"/>
                </a:solidFill>
                <a:latin typeface="Sorts Mill Goudy" pitchFamily="34" charset="0"/>
                <a:ea typeface="Sorts Mill Goudy" pitchFamily="34" charset="-122"/>
                <a:cs typeface="Sorts Mill Goudy" pitchFamily="34" charset="-120"/>
              </a:rPr>
              <a:t>Anchor Box Prediction Formula</a:t>
            </a:r>
            <a:endParaRPr lang="en-US" sz="1100" dirty="0"/>
          </a:p>
        </p:txBody>
      </p:sp>
      <p:sp>
        <p:nvSpPr>
          <p:cNvPr id="27" name="Text 24"/>
          <p:cNvSpPr/>
          <p:nvPr/>
        </p:nvSpPr>
        <p:spPr>
          <a:xfrm>
            <a:off x="6362700" y="1155701"/>
            <a:ext cx="4990577" cy="190500"/>
          </a:xfrm>
          <a:prstGeom prst="rect">
            <a:avLst/>
          </a:prstGeom>
          <a:noFill/>
          <a:ln/>
        </p:spPr>
        <p:txBody>
          <a:bodyPr wrap="square" lIns="0" tIns="0" rIns="0" bIns="0" rtlCol="0" anchor="ctr"/>
          <a:lstStyle/>
          <a:p>
            <a:pPr>
              <a:lnSpc>
                <a:spcPct val="120000"/>
              </a:lnSpc>
            </a:pPr>
            <a:endParaRPr lang="en-US" sz="1600" dirty="0"/>
          </a:p>
        </p:txBody>
      </p:sp>
      <p:sp>
        <p:nvSpPr>
          <p:cNvPr id="28" name="Shape 25"/>
          <p:cNvSpPr/>
          <p:nvPr/>
        </p:nvSpPr>
        <p:spPr>
          <a:xfrm>
            <a:off x="6350000" y="1101642"/>
            <a:ext cx="5341938" cy="1903499"/>
          </a:xfrm>
          <a:custGeom>
            <a:avLst/>
            <a:gdLst/>
            <a:ahLst/>
            <a:cxnLst/>
            <a:rect l="l" t="t" r="r" b="b"/>
            <a:pathLst>
              <a:path w="5341938" h="1397000">
                <a:moveTo>
                  <a:pt x="31754" y="0"/>
                </a:moveTo>
                <a:lnTo>
                  <a:pt x="5310184" y="0"/>
                </a:lnTo>
                <a:cubicBezTo>
                  <a:pt x="5327721" y="0"/>
                  <a:pt x="5341938" y="14217"/>
                  <a:pt x="5341938" y="31754"/>
                </a:cubicBezTo>
                <a:lnTo>
                  <a:pt x="5341938" y="1365246"/>
                </a:lnTo>
                <a:cubicBezTo>
                  <a:pt x="5341938" y="1382783"/>
                  <a:pt x="5327721" y="1397000"/>
                  <a:pt x="5310184" y="1397000"/>
                </a:cubicBezTo>
                <a:lnTo>
                  <a:pt x="31754" y="1397000"/>
                </a:lnTo>
                <a:cubicBezTo>
                  <a:pt x="14217" y="1397000"/>
                  <a:pt x="0" y="1382783"/>
                  <a:pt x="0" y="1365246"/>
                </a:cubicBezTo>
                <a:lnTo>
                  <a:pt x="0" y="31754"/>
                </a:lnTo>
                <a:cubicBezTo>
                  <a:pt x="0" y="14228"/>
                  <a:pt x="14228" y="0"/>
                  <a:pt x="31754" y="0"/>
                </a:cubicBezTo>
                <a:close/>
              </a:path>
            </a:pathLst>
          </a:custGeom>
          <a:solidFill>
            <a:srgbClr val="F3F4F6"/>
          </a:solidFill>
          <a:ln/>
        </p:spPr>
        <p:txBody>
          <a:bodyPr/>
          <a:lstStyle/>
          <a:p>
            <a:endParaRPr lang="en-US"/>
          </a:p>
        </p:txBody>
      </p:sp>
      <p:sp>
        <p:nvSpPr>
          <p:cNvPr id="30" name="Shape 26"/>
          <p:cNvSpPr/>
          <p:nvPr/>
        </p:nvSpPr>
        <p:spPr>
          <a:xfrm>
            <a:off x="6378575" y="3028955"/>
            <a:ext cx="5326063" cy="317500"/>
          </a:xfrm>
          <a:custGeom>
            <a:avLst/>
            <a:gdLst/>
            <a:ahLst/>
            <a:cxnLst/>
            <a:rect l="l" t="t" r="r" b="b"/>
            <a:pathLst>
              <a:path w="5326063" h="317500">
                <a:moveTo>
                  <a:pt x="31750" y="0"/>
                </a:moveTo>
                <a:lnTo>
                  <a:pt x="5294313" y="0"/>
                </a:lnTo>
                <a:cubicBezTo>
                  <a:pt x="5311836" y="0"/>
                  <a:pt x="5326063" y="14227"/>
                  <a:pt x="5326063" y="31750"/>
                </a:cubicBezTo>
                <a:lnTo>
                  <a:pt x="5326063" y="285750"/>
                </a:lnTo>
                <a:cubicBezTo>
                  <a:pt x="5326063" y="303273"/>
                  <a:pt x="5311836" y="317500"/>
                  <a:pt x="5294313" y="317500"/>
                </a:cubicBezTo>
                <a:lnTo>
                  <a:pt x="31750" y="317500"/>
                </a:lnTo>
                <a:cubicBezTo>
                  <a:pt x="14227" y="317500"/>
                  <a:pt x="0" y="303273"/>
                  <a:pt x="0" y="285750"/>
                </a:cubicBezTo>
                <a:lnTo>
                  <a:pt x="0" y="31750"/>
                </a:lnTo>
                <a:cubicBezTo>
                  <a:pt x="0" y="14227"/>
                  <a:pt x="14227" y="0"/>
                  <a:pt x="31750" y="0"/>
                </a:cubicBezTo>
                <a:close/>
              </a:path>
            </a:pathLst>
          </a:custGeom>
          <a:solidFill>
            <a:srgbClr val="EFF6FF"/>
          </a:solidFill>
          <a:ln/>
        </p:spPr>
        <p:txBody>
          <a:bodyPr/>
          <a:lstStyle/>
          <a:p>
            <a:endParaRPr lang="en-US"/>
          </a:p>
        </p:txBody>
      </p:sp>
      <p:sp>
        <p:nvSpPr>
          <p:cNvPr id="31" name="Shape 27"/>
          <p:cNvSpPr/>
          <p:nvPr/>
        </p:nvSpPr>
        <p:spPr>
          <a:xfrm>
            <a:off x="6378575" y="302895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2B7FFF"/>
          </a:solidFill>
          <a:ln/>
        </p:spPr>
        <p:txBody>
          <a:bodyPr/>
          <a:lstStyle/>
          <a:p>
            <a:endParaRPr lang="en-US"/>
          </a:p>
        </p:txBody>
      </p:sp>
      <p:sp>
        <p:nvSpPr>
          <p:cNvPr id="32" name="Text 28"/>
          <p:cNvSpPr/>
          <p:nvPr/>
        </p:nvSpPr>
        <p:spPr>
          <a:xfrm>
            <a:off x="6362700" y="3028955"/>
            <a:ext cx="5373688"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bₓ = σ(tₓ) + cₓ</a:t>
            </a:r>
            <a:r>
              <a:rPr lang="en-US" sz="1000" dirty="0">
                <a:solidFill>
                  <a:srgbClr val="1F2937"/>
                </a:solidFill>
                <a:latin typeface="Quattrocento Sans" pitchFamily="34" charset="0"/>
                <a:ea typeface="Quattrocento Sans" pitchFamily="34" charset="-122"/>
                <a:cs typeface="Quattrocento Sans" pitchFamily="34" charset="-120"/>
              </a:rPr>
              <a:t> - Center x offset</a:t>
            </a:r>
            <a:endParaRPr lang="en-US" sz="1600" dirty="0"/>
          </a:p>
        </p:txBody>
      </p:sp>
      <p:sp>
        <p:nvSpPr>
          <p:cNvPr id="33" name="Shape 29"/>
          <p:cNvSpPr/>
          <p:nvPr/>
        </p:nvSpPr>
        <p:spPr>
          <a:xfrm>
            <a:off x="6378575" y="3409955"/>
            <a:ext cx="5326063" cy="317500"/>
          </a:xfrm>
          <a:custGeom>
            <a:avLst/>
            <a:gdLst/>
            <a:ahLst/>
            <a:cxnLst/>
            <a:rect l="l" t="t" r="r" b="b"/>
            <a:pathLst>
              <a:path w="5326063" h="317500">
                <a:moveTo>
                  <a:pt x="31750" y="0"/>
                </a:moveTo>
                <a:lnTo>
                  <a:pt x="5294313" y="0"/>
                </a:lnTo>
                <a:cubicBezTo>
                  <a:pt x="5311836" y="0"/>
                  <a:pt x="5326063" y="14227"/>
                  <a:pt x="5326063" y="31750"/>
                </a:cubicBezTo>
                <a:lnTo>
                  <a:pt x="5326063" y="285750"/>
                </a:lnTo>
                <a:cubicBezTo>
                  <a:pt x="5326063" y="303273"/>
                  <a:pt x="5311836" y="317500"/>
                  <a:pt x="5294313" y="317500"/>
                </a:cubicBezTo>
                <a:lnTo>
                  <a:pt x="31750" y="317500"/>
                </a:lnTo>
                <a:cubicBezTo>
                  <a:pt x="14227" y="317500"/>
                  <a:pt x="0" y="303273"/>
                  <a:pt x="0" y="285750"/>
                </a:cubicBezTo>
                <a:lnTo>
                  <a:pt x="0" y="31750"/>
                </a:lnTo>
                <a:cubicBezTo>
                  <a:pt x="0" y="14227"/>
                  <a:pt x="14227" y="0"/>
                  <a:pt x="31750" y="0"/>
                </a:cubicBezTo>
                <a:close/>
              </a:path>
            </a:pathLst>
          </a:custGeom>
          <a:solidFill>
            <a:srgbClr val="EFF6FF"/>
          </a:solidFill>
          <a:ln/>
        </p:spPr>
        <p:txBody>
          <a:bodyPr/>
          <a:lstStyle/>
          <a:p>
            <a:endParaRPr lang="en-US"/>
          </a:p>
        </p:txBody>
      </p:sp>
      <p:sp>
        <p:nvSpPr>
          <p:cNvPr id="34" name="Shape 30"/>
          <p:cNvSpPr/>
          <p:nvPr/>
        </p:nvSpPr>
        <p:spPr>
          <a:xfrm>
            <a:off x="6378575" y="340995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2B7FFF"/>
          </a:solidFill>
          <a:ln/>
        </p:spPr>
        <p:txBody>
          <a:bodyPr/>
          <a:lstStyle/>
          <a:p>
            <a:endParaRPr lang="en-US"/>
          </a:p>
        </p:txBody>
      </p:sp>
      <p:sp>
        <p:nvSpPr>
          <p:cNvPr id="35" name="Text 31"/>
          <p:cNvSpPr/>
          <p:nvPr/>
        </p:nvSpPr>
        <p:spPr>
          <a:xfrm>
            <a:off x="6362700" y="3409955"/>
            <a:ext cx="5373688"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bᵧ = σ(tᵧ) + cᵧ</a:t>
            </a:r>
            <a:r>
              <a:rPr lang="en-US" sz="1000" dirty="0">
                <a:solidFill>
                  <a:srgbClr val="1F2937"/>
                </a:solidFill>
                <a:latin typeface="Quattrocento Sans" pitchFamily="34" charset="0"/>
                <a:ea typeface="Quattrocento Sans" pitchFamily="34" charset="-122"/>
                <a:cs typeface="Quattrocento Sans" pitchFamily="34" charset="-120"/>
              </a:rPr>
              <a:t> - Center y offset</a:t>
            </a:r>
            <a:endParaRPr lang="en-US" sz="1600" dirty="0"/>
          </a:p>
        </p:txBody>
      </p:sp>
      <p:sp>
        <p:nvSpPr>
          <p:cNvPr id="36" name="Shape 32"/>
          <p:cNvSpPr/>
          <p:nvPr/>
        </p:nvSpPr>
        <p:spPr>
          <a:xfrm>
            <a:off x="6378575" y="3790955"/>
            <a:ext cx="5326063" cy="317500"/>
          </a:xfrm>
          <a:custGeom>
            <a:avLst/>
            <a:gdLst/>
            <a:ahLst/>
            <a:cxnLst/>
            <a:rect l="l" t="t" r="r" b="b"/>
            <a:pathLst>
              <a:path w="5326063" h="317500">
                <a:moveTo>
                  <a:pt x="31750" y="0"/>
                </a:moveTo>
                <a:lnTo>
                  <a:pt x="5294313" y="0"/>
                </a:lnTo>
                <a:cubicBezTo>
                  <a:pt x="5311836" y="0"/>
                  <a:pt x="5326063" y="14227"/>
                  <a:pt x="5326063" y="31750"/>
                </a:cubicBezTo>
                <a:lnTo>
                  <a:pt x="5326063" y="285750"/>
                </a:lnTo>
                <a:cubicBezTo>
                  <a:pt x="5326063" y="303273"/>
                  <a:pt x="5311836" y="317500"/>
                  <a:pt x="5294313" y="317500"/>
                </a:cubicBezTo>
                <a:lnTo>
                  <a:pt x="31750" y="317500"/>
                </a:lnTo>
                <a:cubicBezTo>
                  <a:pt x="14227" y="317500"/>
                  <a:pt x="0" y="303273"/>
                  <a:pt x="0" y="285750"/>
                </a:cubicBezTo>
                <a:lnTo>
                  <a:pt x="0" y="31750"/>
                </a:lnTo>
                <a:cubicBezTo>
                  <a:pt x="0" y="14227"/>
                  <a:pt x="14227" y="0"/>
                  <a:pt x="31750" y="0"/>
                </a:cubicBezTo>
                <a:close/>
              </a:path>
            </a:pathLst>
          </a:custGeom>
          <a:solidFill>
            <a:srgbClr val="F0FDF4"/>
          </a:solidFill>
          <a:ln/>
        </p:spPr>
        <p:txBody>
          <a:bodyPr/>
          <a:lstStyle/>
          <a:p>
            <a:endParaRPr lang="en-US"/>
          </a:p>
        </p:txBody>
      </p:sp>
      <p:sp>
        <p:nvSpPr>
          <p:cNvPr id="37" name="Shape 33"/>
          <p:cNvSpPr/>
          <p:nvPr/>
        </p:nvSpPr>
        <p:spPr>
          <a:xfrm>
            <a:off x="6378575" y="379095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00C950"/>
          </a:solidFill>
          <a:ln/>
        </p:spPr>
        <p:txBody>
          <a:bodyPr/>
          <a:lstStyle/>
          <a:p>
            <a:endParaRPr lang="en-US"/>
          </a:p>
        </p:txBody>
      </p:sp>
      <p:sp>
        <p:nvSpPr>
          <p:cNvPr id="38" name="Text 34"/>
          <p:cNvSpPr/>
          <p:nvPr/>
        </p:nvSpPr>
        <p:spPr>
          <a:xfrm>
            <a:off x="6362700" y="3790955"/>
            <a:ext cx="5373688"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b_w = p_w × e^(t_w)</a:t>
            </a:r>
            <a:r>
              <a:rPr lang="en-US" sz="1000" dirty="0">
                <a:solidFill>
                  <a:srgbClr val="1F2937"/>
                </a:solidFill>
                <a:latin typeface="Quattrocento Sans" pitchFamily="34" charset="0"/>
                <a:ea typeface="Quattrocento Sans" pitchFamily="34" charset="-122"/>
                <a:cs typeface="Quattrocento Sans" pitchFamily="34" charset="-120"/>
              </a:rPr>
              <a:t> - Width scaling</a:t>
            </a:r>
            <a:endParaRPr lang="en-US" sz="1600" dirty="0"/>
          </a:p>
        </p:txBody>
      </p:sp>
      <p:sp>
        <p:nvSpPr>
          <p:cNvPr id="39" name="Shape 35"/>
          <p:cNvSpPr/>
          <p:nvPr/>
        </p:nvSpPr>
        <p:spPr>
          <a:xfrm>
            <a:off x="6378575" y="4171955"/>
            <a:ext cx="5326063" cy="317500"/>
          </a:xfrm>
          <a:custGeom>
            <a:avLst/>
            <a:gdLst/>
            <a:ahLst/>
            <a:cxnLst/>
            <a:rect l="l" t="t" r="r" b="b"/>
            <a:pathLst>
              <a:path w="5326063" h="317500">
                <a:moveTo>
                  <a:pt x="31750" y="0"/>
                </a:moveTo>
                <a:lnTo>
                  <a:pt x="5294313" y="0"/>
                </a:lnTo>
                <a:cubicBezTo>
                  <a:pt x="5311836" y="0"/>
                  <a:pt x="5326063" y="14227"/>
                  <a:pt x="5326063" y="31750"/>
                </a:cubicBezTo>
                <a:lnTo>
                  <a:pt x="5326063" y="285750"/>
                </a:lnTo>
                <a:cubicBezTo>
                  <a:pt x="5326063" y="303273"/>
                  <a:pt x="5311836" y="317500"/>
                  <a:pt x="5294313" y="317500"/>
                </a:cubicBezTo>
                <a:lnTo>
                  <a:pt x="31750" y="317500"/>
                </a:lnTo>
                <a:cubicBezTo>
                  <a:pt x="14227" y="317500"/>
                  <a:pt x="0" y="303273"/>
                  <a:pt x="0" y="285750"/>
                </a:cubicBezTo>
                <a:lnTo>
                  <a:pt x="0" y="31750"/>
                </a:lnTo>
                <a:cubicBezTo>
                  <a:pt x="0" y="14227"/>
                  <a:pt x="14227" y="0"/>
                  <a:pt x="31750" y="0"/>
                </a:cubicBezTo>
                <a:close/>
              </a:path>
            </a:pathLst>
          </a:custGeom>
          <a:solidFill>
            <a:srgbClr val="F0FDF4"/>
          </a:solidFill>
          <a:ln/>
        </p:spPr>
        <p:txBody>
          <a:bodyPr/>
          <a:lstStyle/>
          <a:p>
            <a:endParaRPr lang="en-US"/>
          </a:p>
        </p:txBody>
      </p:sp>
      <p:sp>
        <p:nvSpPr>
          <p:cNvPr id="40" name="Shape 36"/>
          <p:cNvSpPr/>
          <p:nvPr/>
        </p:nvSpPr>
        <p:spPr>
          <a:xfrm>
            <a:off x="6378575" y="417195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00C950"/>
          </a:solidFill>
          <a:ln/>
        </p:spPr>
        <p:txBody>
          <a:bodyPr/>
          <a:lstStyle/>
          <a:p>
            <a:endParaRPr lang="en-US"/>
          </a:p>
        </p:txBody>
      </p:sp>
      <p:sp>
        <p:nvSpPr>
          <p:cNvPr id="41" name="Text 37"/>
          <p:cNvSpPr/>
          <p:nvPr/>
        </p:nvSpPr>
        <p:spPr>
          <a:xfrm>
            <a:off x="6362700" y="4171955"/>
            <a:ext cx="5373688"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b_h = p_h × e^(t_h)</a:t>
            </a:r>
            <a:r>
              <a:rPr lang="en-US" sz="1000" dirty="0">
                <a:solidFill>
                  <a:srgbClr val="1F2937"/>
                </a:solidFill>
                <a:latin typeface="Quattrocento Sans" pitchFamily="34" charset="0"/>
                <a:ea typeface="Quattrocento Sans" pitchFamily="34" charset="-122"/>
                <a:cs typeface="Quattrocento Sans" pitchFamily="34" charset="-120"/>
              </a:rPr>
              <a:t> - Height scaling</a:t>
            </a:r>
            <a:endParaRPr lang="en-US" sz="1600" dirty="0"/>
          </a:p>
        </p:txBody>
      </p:sp>
      <p:sp>
        <p:nvSpPr>
          <p:cNvPr id="42" name="Text 38"/>
          <p:cNvSpPr/>
          <p:nvPr/>
        </p:nvSpPr>
        <p:spPr>
          <a:xfrm>
            <a:off x="6362700" y="4584705"/>
            <a:ext cx="5397500"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Quattrocento Sans" pitchFamily="34" charset="0"/>
                <a:ea typeface="Quattrocento Sans" pitchFamily="34" charset="-122"/>
                <a:cs typeface="Quattrocento Sans" pitchFamily="34" charset="-120"/>
              </a:rPr>
              <a:t>p_w, p_h:</a:t>
            </a:r>
            <a:r>
              <a:rPr lang="en-US" sz="875" dirty="0">
                <a:solidFill>
                  <a:srgbClr val="6B7280"/>
                </a:solidFill>
                <a:latin typeface="Quattrocento Sans" pitchFamily="34" charset="0"/>
                <a:ea typeface="Quattrocento Sans" pitchFamily="34" charset="-122"/>
                <a:cs typeface="Quattrocento Sans" pitchFamily="34" charset="-120"/>
              </a:rPr>
              <a:t> Anchor box dimensions</a:t>
            </a:r>
            <a:endParaRPr lang="en-US" sz="1600" dirty="0"/>
          </a:p>
        </p:txBody>
      </p:sp>
      <p:sp>
        <p:nvSpPr>
          <p:cNvPr id="43" name="Text 39"/>
          <p:cNvSpPr/>
          <p:nvPr/>
        </p:nvSpPr>
        <p:spPr>
          <a:xfrm>
            <a:off x="6362700" y="4743455"/>
            <a:ext cx="5397500"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Quattrocento Sans" pitchFamily="34" charset="0"/>
                <a:ea typeface="Quattrocento Sans" pitchFamily="34" charset="-122"/>
                <a:cs typeface="Quattrocento Sans" pitchFamily="34" charset="-120"/>
              </a:rPr>
              <a:t>t_x, t_y, t_w, t_h:</a:t>
            </a:r>
            <a:r>
              <a:rPr lang="en-US" sz="875" dirty="0">
                <a:solidFill>
                  <a:srgbClr val="6B7280"/>
                </a:solidFill>
                <a:latin typeface="Quattrocento Sans" pitchFamily="34" charset="0"/>
                <a:ea typeface="Quattrocento Sans" pitchFamily="34" charset="-122"/>
                <a:cs typeface="Quattrocento Sans" pitchFamily="34" charset="-120"/>
              </a:rPr>
              <a:t> Network predictions</a:t>
            </a:r>
            <a:endParaRPr lang="en-US" sz="1600" dirty="0"/>
          </a:p>
        </p:txBody>
      </p:sp>
      <p:sp>
        <p:nvSpPr>
          <p:cNvPr id="44" name="Text 40"/>
          <p:cNvSpPr/>
          <p:nvPr/>
        </p:nvSpPr>
        <p:spPr>
          <a:xfrm>
            <a:off x="6362700" y="4902205"/>
            <a:ext cx="5397500" cy="158750"/>
          </a:xfrm>
          <a:prstGeom prst="rect">
            <a:avLst/>
          </a:prstGeom>
          <a:noFill/>
          <a:ln/>
        </p:spPr>
        <p:txBody>
          <a:bodyPr wrap="square" lIns="0" tIns="0" rIns="0" bIns="0" rtlCol="0" anchor="ctr"/>
          <a:lstStyle/>
          <a:p>
            <a:pPr>
              <a:lnSpc>
                <a:spcPct val="120000"/>
              </a:lnSpc>
            </a:pPr>
            <a:r>
              <a:rPr lang="en-US" sz="875" b="1" dirty="0">
                <a:solidFill>
                  <a:srgbClr val="6B7280"/>
                </a:solidFill>
                <a:latin typeface="Quattrocento Sans" pitchFamily="34" charset="0"/>
                <a:ea typeface="Quattrocento Sans" pitchFamily="34" charset="-122"/>
                <a:cs typeface="Quattrocento Sans" pitchFamily="34" charset="-120"/>
              </a:rPr>
              <a:t>c_x, c_y:</a:t>
            </a:r>
            <a:r>
              <a:rPr lang="en-US" sz="875" dirty="0">
                <a:solidFill>
                  <a:srgbClr val="6B7280"/>
                </a:solidFill>
                <a:latin typeface="Quattrocento Sans" pitchFamily="34" charset="0"/>
                <a:ea typeface="Quattrocento Sans" pitchFamily="34" charset="-122"/>
                <a:cs typeface="Quattrocento Sans" pitchFamily="34" charset="-120"/>
              </a:rPr>
              <a:t> Grid cell offset</a:t>
            </a:r>
            <a:endParaRPr lang="en-US" sz="1600" dirty="0"/>
          </a:p>
        </p:txBody>
      </p:sp>
      <p:sp>
        <p:nvSpPr>
          <p:cNvPr id="45" name="Shape 41"/>
          <p:cNvSpPr/>
          <p:nvPr/>
        </p:nvSpPr>
        <p:spPr>
          <a:xfrm>
            <a:off x="6207125" y="5359402"/>
            <a:ext cx="5667375" cy="1516063"/>
          </a:xfrm>
          <a:custGeom>
            <a:avLst/>
            <a:gdLst/>
            <a:ahLst/>
            <a:cxnLst/>
            <a:rect l="l" t="t" r="r" b="b"/>
            <a:pathLst>
              <a:path w="5667375" h="1516063">
                <a:moveTo>
                  <a:pt x="31750" y="0"/>
                </a:moveTo>
                <a:lnTo>
                  <a:pt x="5603882" y="0"/>
                </a:lnTo>
                <a:cubicBezTo>
                  <a:pt x="5638948" y="0"/>
                  <a:pt x="5667375" y="28427"/>
                  <a:pt x="5667375" y="63493"/>
                </a:cubicBezTo>
                <a:lnTo>
                  <a:pt x="5667375" y="1452570"/>
                </a:lnTo>
                <a:cubicBezTo>
                  <a:pt x="5667375" y="1487636"/>
                  <a:pt x="5638948" y="1516062"/>
                  <a:pt x="5603882" y="1516063"/>
                </a:cubicBezTo>
                <a:lnTo>
                  <a:pt x="31750" y="1516063"/>
                </a:lnTo>
                <a:cubicBezTo>
                  <a:pt x="14215" y="1516063"/>
                  <a:pt x="0" y="1501848"/>
                  <a:pt x="0" y="1484313"/>
                </a:cubicBezTo>
                <a:lnTo>
                  <a:pt x="0" y="31750"/>
                </a:lnTo>
                <a:cubicBezTo>
                  <a:pt x="0" y="14227"/>
                  <a:pt x="14227" y="0"/>
                  <a:pt x="31750" y="0"/>
                </a:cubicBezTo>
                <a:close/>
              </a:path>
            </a:pathLst>
          </a:custGeom>
          <a:solidFill>
            <a:srgbClr val="F9FAFB"/>
          </a:solidFill>
          <a:ln/>
        </p:spPr>
        <p:txBody>
          <a:bodyPr/>
          <a:lstStyle/>
          <a:p>
            <a:endParaRPr lang="en-US"/>
          </a:p>
        </p:txBody>
      </p:sp>
      <p:sp>
        <p:nvSpPr>
          <p:cNvPr id="46" name="Shape 42"/>
          <p:cNvSpPr/>
          <p:nvPr/>
        </p:nvSpPr>
        <p:spPr>
          <a:xfrm>
            <a:off x="6207125" y="5359402"/>
            <a:ext cx="31750" cy="1516063"/>
          </a:xfrm>
          <a:custGeom>
            <a:avLst/>
            <a:gdLst/>
            <a:ahLst/>
            <a:cxnLst/>
            <a:rect l="l" t="t" r="r" b="b"/>
            <a:pathLst>
              <a:path w="31750" h="1516063">
                <a:moveTo>
                  <a:pt x="31750" y="0"/>
                </a:moveTo>
                <a:lnTo>
                  <a:pt x="31750" y="0"/>
                </a:lnTo>
                <a:lnTo>
                  <a:pt x="31750" y="1516063"/>
                </a:lnTo>
                <a:lnTo>
                  <a:pt x="31750" y="1516063"/>
                </a:lnTo>
                <a:cubicBezTo>
                  <a:pt x="14227" y="1516063"/>
                  <a:pt x="0" y="1501836"/>
                  <a:pt x="0" y="1484313"/>
                </a:cubicBezTo>
                <a:lnTo>
                  <a:pt x="0" y="31750"/>
                </a:lnTo>
                <a:cubicBezTo>
                  <a:pt x="0" y="14227"/>
                  <a:pt x="14227" y="0"/>
                  <a:pt x="31750" y="0"/>
                </a:cubicBezTo>
                <a:close/>
              </a:path>
            </a:pathLst>
          </a:custGeom>
          <a:solidFill>
            <a:srgbClr val="8B0000"/>
          </a:solidFill>
          <a:ln/>
        </p:spPr>
        <p:txBody>
          <a:bodyPr/>
          <a:lstStyle/>
          <a:p>
            <a:endParaRPr lang="en-US"/>
          </a:p>
        </p:txBody>
      </p:sp>
      <p:sp>
        <p:nvSpPr>
          <p:cNvPr id="47" name="Text 43"/>
          <p:cNvSpPr/>
          <p:nvPr/>
        </p:nvSpPr>
        <p:spPr>
          <a:xfrm>
            <a:off x="6350000" y="5486402"/>
            <a:ext cx="5468938"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COCO Dataset Anchors (YOLOv3)</a:t>
            </a:r>
            <a:endParaRPr lang="en-US" sz="1600" dirty="0"/>
          </a:p>
        </p:txBody>
      </p:sp>
      <p:sp>
        <p:nvSpPr>
          <p:cNvPr id="48" name="Shape 44"/>
          <p:cNvSpPr/>
          <p:nvPr/>
        </p:nvSpPr>
        <p:spPr>
          <a:xfrm>
            <a:off x="6353175" y="5775327"/>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49" name="Text 45"/>
          <p:cNvSpPr/>
          <p:nvPr/>
        </p:nvSpPr>
        <p:spPr>
          <a:xfrm>
            <a:off x="6392069" y="5842000"/>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10×13</a:t>
            </a:r>
            <a:endParaRPr lang="en-US" sz="1600" dirty="0"/>
          </a:p>
        </p:txBody>
      </p:sp>
      <p:sp>
        <p:nvSpPr>
          <p:cNvPr id="50" name="Text 46"/>
          <p:cNvSpPr/>
          <p:nvPr/>
        </p:nvSpPr>
        <p:spPr>
          <a:xfrm>
            <a:off x="6392069" y="6000750"/>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Small</a:t>
            </a:r>
            <a:endParaRPr lang="en-US" sz="1600" dirty="0"/>
          </a:p>
        </p:txBody>
      </p:sp>
      <p:sp>
        <p:nvSpPr>
          <p:cNvPr id="51" name="Shape 47"/>
          <p:cNvSpPr/>
          <p:nvPr/>
        </p:nvSpPr>
        <p:spPr>
          <a:xfrm>
            <a:off x="8173443" y="5775327"/>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52" name="Text 48"/>
          <p:cNvSpPr/>
          <p:nvPr/>
        </p:nvSpPr>
        <p:spPr>
          <a:xfrm>
            <a:off x="8212336" y="5842000"/>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16×30</a:t>
            </a:r>
            <a:endParaRPr lang="en-US" sz="1600" dirty="0"/>
          </a:p>
        </p:txBody>
      </p:sp>
      <p:sp>
        <p:nvSpPr>
          <p:cNvPr id="53" name="Text 49"/>
          <p:cNvSpPr/>
          <p:nvPr/>
        </p:nvSpPr>
        <p:spPr>
          <a:xfrm>
            <a:off x="8212336" y="6000750"/>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Tall</a:t>
            </a:r>
            <a:endParaRPr lang="en-US" sz="1600" dirty="0"/>
          </a:p>
        </p:txBody>
      </p:sp>
      <p:sp>
        <p:nvSpPr>
          <p:cNvPr id="54" name="Shape 50"/>
          <p:cNvSpPr/>
          <p:nvPr/>
        </p:nvSpPr>
        <p:spPr>
          <a:xfrm>
            <a:off x="9993808" y="5775327"/>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55" name="Text 51"/>
          <p:cNvSpPr/>
          <p:nvPr/>
        </p:nvSpPr>
        <p:spPr>
          <a:xfrm>
            <a:off x="10032703" y="5842000"/>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33×23</a:t>
            </a:r>
            <a:endParaRPr lang="en-US" sz="1600" dirty="0"/>
          </a:p>
        </p:txBody>
      </p:sp>
      <p:sp>
        <p:nvSpPr>
          <p:cNvPr id="56" name="Text 52"/>
          <p:cNvSpPr/>
          <p:nvPr/>
        </p:nvSpPr>
        <p:spPr>
          <a:xfrm>
            <a:off x="10032703" y="6000750"/>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Wide</a:t>
            </a:r>
            <a:endParaRPr lang="en-US" sz="1600" dirty="0"/>
          </a:p>
        </p:txBody>
      </p:sp>
      <p:sp>
        <p:nvSpPr>
          <p:cNvPr id="57" name="Shape 53"/>
          <p:cNvSpPr/>
          <p:nvPr/>
        </p:nvSpPr>
        <p:spPr>
          <a:xfrm>
            <a:off x="6353175" y="6296023"/>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58" name="Text 54"/>
          <p:cNvSpPr/>
          <p:nvPr/>
        </p:nvSpPr>
        <p:spPr>
          <a:xfrm>
            <a:off x="6392069" y="6362705"/>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30×61</a:t>
            </a:r>
            <a:endParaRPr lang="en-US" sz="1600" dirty="0"/>
          </a:p>
        </p:txBody>
      </p:sp>
      <p:sp>
        <p:nvSpPr>
          <p:cNvPr id="59" name="Text 55"/>
          <p:cNvSpPr/>
          <p:nvPr/>
        </p:nvSpPr>
        <p:spPr>
          <a:xfrm>
            <a:off x="6392069" y="6521455"/>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Medium</a:t>
            </a:r>
            <a:endParaRPr lang="en-US" sz="1600" dirty="0"/>
          </a:p>
        </p:txBody>
      </p:sp>
      <p:sp>
        <p:nvSpPr>
          <p:cNvPr id="60" name="Shape 56"/>
          <p:cNvSpPr/>
          <p:nvPr/>
        </p:nvSpPr>
        <p:spPr>
          <a:xfrm>
            <a:off x="8173443" y="6296023"/>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61" name="Text 57"/>
          <p:cNvSpPr/>
          <p:nvPr/>
        </p:nvSpPr>
        <p:spPr>
          <a:xfrm>
            <a:off x="8212336" y="6362705"/>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62×45</a:t>
            </a:r>
            <a:endParaRPr lang="en-US" sz="1600" dirty="0"/>
          </a:p>
        </p:txBody>
      </p:sp>
      <p:sp>
        <p:nvSpPr>
          <p:cNvPr id="62" name="Text 58"/>
          <p:cNvSpPr/>
          <p:nvPr/>
        </p:nvSpPr>
        <p:spPr>
          <a:xfrm>
            <a:off x="8212336" y="6521455"/>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Square</a:t>
            </a:r>
            <a:endParaRPr lang="en-US" sz="1600" dirty="0"/>
          </a:p>
        </p:txBody>
      </p:sp>
      <p:sp>
        <p:nvSpPr>
          <p:cNvPr id="63" name="Shape 59"/>
          <p:cNvSpPr/>
          <p:nvPr/>
        </p:nvSpPr>
        <p:spPr>
          <a:xfrm>
            <a:off x="9993808" y="6296023"/>
            <a:ext cx="1752600" cy="450850"/>
          </a:xfrm>
          <a:custGeom>
            <a:avLst/>
            <a:gdLst/>
            <a:ahLst/>
            <a:cxnLst/>
            <a:rect l="l" t="t" r="r" b="b"/>
            <a:pathLst>
              <a:path w="1752600" h="450850">
                <a:moveTo>
                  <a:pt x="31749" y="0"/>
                </a:moveTo>
                <a:lnTo>
                  <a:pt x="1720851" y="0"/>
                </a:lnTo>
                <a:cubicBezTo>
                  <a:pt x="1738374" y="0"/>
                  <a:pt x="1752600" y="14226"/>
                  <a:pt x="1752600" y="31749"/>
                </a:cubicBezTo>
                <a:lnTo>
                  <a:pt x="1752600" y="419101"/>
                </a:lnTo>
                <a:cubicBezTo>
                  <a:pt x="1752600" y="436624"/>
                  <a:pt x="1738374" y="450850"/>
                  <a:pt x="1720851" y="450850"/>
                </a:cubicBezTo>
                <a:lnTo>
                  <a:pt x="31749" y="450850"/>
                </a:lnTo>
                <a:cubicBezTo>
                  <a:pt x="14226" y="450850"/>
                  <a:pt x="0" y="436624"/>
                  <a:pt x="0" y="419101"/>
                </a:cubicBezTo>
                <a:lnTo>
                  <a:pt x="0" y="31749"/>
                </a:lnTo>
                <a:cubicBezTo>
                  <a:pt x="0" y="14226"/>
                  <a:pt x="14226" y="0"/>
                  <a:pt x="31749" y="0"/>
                </a:cubicBezTo>
                <a:close/>
              </a:path>
            </a:pathLst>
          </a:custGeom>
          <a:solidFill>
            <a:srgbClr val="FFFFFF"/>
          </a:solidFill>
          <a:ln w="10160">
            <a:solidFill>
              <a:srgbClr val="D1D5DC"/>
            </a:solidFill>
            <a:prstDash val="solid"/>
          </a:ln>
        </p:spPr>
        <p:txBody>
          <a:bodyPr/>
          <a:lstStyle/>
          <a:p>
            <a:endParaRPr lang="en-US"/>
          </a:p>
        </p:txBody>
      </p:sp>
      <p:sp>
        <p:nvSpPr>
          <p:cNvPr id="64" name="Text 60"/>
          <p:cNvSpPr/>
          <p:nvPr/>
        </p:nvSpPr>
        <p:spPr>
          <a:xfrm>
            <a:off x="10032703" y="6362705"/>
            <a:ext cx="1674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59×119</a:t>
            </a:r>
            <a:endParaRPr lang="en-US" sz="1600" dirty="0"/>
          </a:p>
        </p:txBody>
      </p:sp>
      <p:sp>
        <p:nvSpPr>
          <p:cNvPr id="65" name="Text 61"/>
          <p:cNvSpPr/>
          <p:nvPr/>
        </p:nvSpPr>
        <p:spPr>
          <a:xfrm>
            <a:off x="10032703" y="6521455"/>
            <a:ext cx="1674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Large</a:t>
            </a:r>
            <a:endParaRPr lang="en-US" sz="1600" dirty="0"/>
          </a:p>
        </p:txBody>
      </p:sp>
      <p:pic>
        <p:nvPicPr>
          <p:cNvPr id="67" name="Picture 66">
            <a:extLst>
              <a:ext uri="{FF2B5EF4-FFF2-40B4-BE49-F238E27FC236}">
                <a16:creationId xmlns:a16="http://schemas.microsoft.com/office/drawing/2014/main" id="{E1108937-1DC0-219C-D865-CCE0950041B6}"/>
              </a:ext>
            </a:extLst>
          </p:cNvPr>
          <p:cNvPicPr>
            <a:picLocks noChangeAspect="1"/>
          </p:cNvPicPr>
          <p:nvPr/>
        </p:nvPicPr>
        <p:blipFill>
          <a:blip r:embed="rId4"/>
          <a:stretch>
            <a:fillRect/>
          </a:stretch>
        </p:blipFill>
        <p:spPr>
          <a:xfrm>
            <a:off x="6410324" y="1101642"/>
            <a:ext cx="3724276" cy="19035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04</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Confidence Scores &amp;</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Probabilities</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Decoding YOLO's prediction scores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4.1 CONFIDENCE SCORES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Understanding Confidence Scores</a:t>
            </a:r>
            <a:endParaRPr lang="en-US" sz="1600" dirty="0"/>
          </a:p>
        </p:txBody>
      </p:sp>
      <p:sp>
        <p:nvSpPr>
          <p:cNvPr id="4" name="Shape 2"/>
          <p:cNvSpPr/>
          <p:nvPr/>
        </p:nvSpPr>
        <p:spPr>
          <a:xfrm>
            <a:off x="317500" y="984250"/>
            <a:ext cx="5683250" cy="2794000"/>
          </a:xfrm>
          <a:custGeom>
            <a:avLst/>
            <a:gdLst/>
            <a:ahLst/>
            <a:cxnLst/>
            <a:rect l="l" t="t" r="r" b="b"/>
            <a:pathLst>
              <a:path w="5683250" h="2794000">
                <a:moveTo>
                  <a:pt x="63508" y="0"/>
                </a:moveTo>
                <a:lnTo>
                  <a:pt x="5619742" y="0"/>
                </a:lnTo>
                <a:cubicBezTo>
                  <a:pt x="5654817" y="0"/>
                  <a:pt x="5683250" y="28433"/>
                  <a:pt x="5683250" y="63508"/>
                </a:cubicBezTo>
                <a:lnTo>
                  <a:pt x="5683250" y="2730492"/>
                </a:lnTo>
                <a:cubicBezTo>
                  <a:pt x="5683250" y="2765567"/>
                  <a:pt x="5654817" y="2794000"/>
                  <a:pt x="5619742" y="2794000"/>
                </a:cubicBezTo>
                <a:lnTo>
                  <a:pt x="63508" y="2794000"/>
                </a:lnTo>
                <a:cubicBezTo>
                  <a:pt x="28433" y="2794000"/>
                  <a:pt x="0" y="2765567"/>
                  <a:pt x="0" y="2730492"/>
                </a:cubicBezTo>
                <a:lnTo>
                  <a:pt x="0" y="63508"/>
                </a:lnTo>
                <a:cubicBezTo>
                  <a:pt x="0" y="28457"/>
                  <a:pt x="28457" y="0"/>
                  <a:pt x="63508" y="0"/>
                </a:cubicBezTo>
                <a:close/>
              </a:path>
            </a:pathLst>
          </a:custGeom>
          <a:gradFill flip="none" rotWithShape="1">
            <a:gsLst>
              <a:gs pos="0">
                <a:srgbClr val="8B0000"/>
              </a:gs>
              <a:gs pos="100000">
                <a:srgbClr val="A00000"/>
              </a:gs>
            </a:gsLst>
            <a:lin ang="2700000" scaled="1"/>
          </a:gradFill>
          <a:ln/>
          <a:effectLst>
            <a:outerShdw blurRad="119063" dist="79375" dir="5400000" algn="bl" rotWithShape="0">
              <a:srgbClr val="000000">
                <a:alpha val="10196"/>
              </a:srgbClr>
            </a:outerShdw>
          </a:effectLst>
        </p:spPr>
        <p:txBody>
          <a:bodyPr/>
          <a:lstStyle/>
          <a:p>
            <a:endParaRPr lang="en-US"/>
          </a:p>
        </p:txBody>
      </p:sp>
      <p:sp>
        <p:nvSpPr>
          <p:cNvPr id="5" name="Shape 3"/>
          <p:cNvSpPr/>
          <p:nvPr/>
        </p:nvSpPr>
        <p:spPr>
          <a:xfrm>
            <a:off x="488156" y="1174649"/>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FFFFFF"/>
          </a:solidFill>
          <a:ln/>
        </p:spPr>
        <p:txBody>
          <a:bodyPr/>
          <a:lstStyle/>
          <a:p>
            <a:endParaRPr lang="en-US"/>
          </a:p>
        </p:txBody>
      </p:sp>
      <p:sp>
        <p:nvSpPr>
          <p:cNvPr id="6" name="Text 4"/>
          <p:cNvSpPr/>
          <p:nvPr/>
        </p:nvSpPr>
        <p:spPr>
          <a:xfrm>
            <a:off x="714375" y="1143000"/>
            <a:ext cx="5222875"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Sorts Mill Goudy" pitchFamily="34" charset="0"/>
                <a:ea typeface="Sorts Mill Goudy" pitchFamily="34" charset="-122"/>
                <a:cs typeface="Sorts Mill Goudy" pitchFamily="34" charset="-120"/>
              </a:rPr>
              <a:t>Objectness Score (Confidence)</a:t>
            </a:r>
            <a:endParaRPr lang="en-US" sz="1600" dirty="0"/>
          </a:p>
        </p:txBody>
      </p:sp>
      <p:sp>
        <p:nvSpPr>
          <p:cNvPr id="7" name="Shape 5"/>
          <p:cNvSpPr/>
          <p:nvPr/>
        </p:nvSpPr>
        <p:spPr>
          <a:xfrm>
            <a:off x="476250" y="1523899"/>
            <a:ext cx="5365750" cy="539750"/>
          </a:xfrm>
          <a:custGeom>
            <a:avLst/>
            <a:gdLst/>
            <a:ahLst/>
            <a:cxnLst/>
            <a:rect l="l" t="t" r="r" b="b"/>
            <a:pathLst>
              <a:path w="5365750" h="539750">
                <a:moveTo>
                  <a:pt x="31748" y="0"/>
                </a:moveTo>
                <a:lnTo>
                  <a:pt x="5334002" y="0"/>
                </a:lnTo>
                <a:cubicBezTo>
                  <a:pt x="5351536" y="0"/>
                  <a:pt x="5365750" y="14214"/>
                  <a:pt x="5365750" y="31748"/>
                </a:cubicBezTo>
                <a:lnTo>
                  <a:pt x="5365750" y="508002"/>
                </a:lnTo>
                <a:cubicBezTo>
                  <a:pt x="5365750" y="525536"/>
                  <a:pt x="5351536" y="539750"/>
                  <a:pt x="5334002" y="539750"/>
                </a:cubicBezTo>
                <a:lnTo>
                  <a:pt x="31748" y="539750"/>
                </a:lnTo>
                <a:cubicBezTo>
                  <a:pt x="14214" y="539750"/>
                  <a:pt x="0" y="525536"/>
                  <a:pt x="0" y="508002"/>
                </a:cubicBezTo>
                <a:lnTo>
                  <a:pt x="0" y="31748"/>
                </a:lnTo>
                <a:cubicBezTo>
                  <a:pt x="0" y="14226"/>
                  <a:pt x="14226" y="0"/>
                  <a:pt x="31748" y="0"/>
                </a:cubicBezTo>
                <a:close/>
              </a:path>
            </a:pathLst>
          </a:custGeom>
          <a:solidFill>
            <a:srgbClr val="FFFFFF">
              <a:alpha val="20000"/>
            </a:srgbClr>
          </a:solidFill>
          <a:ln/>
        </p:spPr>
        <p:txBody>
          <a:bodyPr/>
          <a:lstStyle/>
          <a:p>
            <a:endParaRPr lang="en-US"/>
          </a:p>
        </p:txBody>
      </p:sp>
      <p:sp>
        <p:nvSpPr>
          <p:cNvPr id="8" name="Text 6"/>
          <p:cNvSpPr/>
          <p:nvPr/>
        </p:nvSpPr>
        <p:spPr>
          <a:xfrm>
            <a:off x="563563" y="1650899"/>
            <a:ext cx="5191125" cy="222250"/>
          </a:xfrm>
          <a:prstGeom prst="rect">
            <a:avLst/>
          </a:prstGeom>
          <a:noFill/>
          <a:ln/>
        </p:spPr>
        <p:txBody>
          <a:bodyPr wrap="square" lIns="0" tIns="0" rIns="0" bIns="0" rtlCol="0" anchor="ctr"/>
          <a:lstStyle/>
          <a:p>
            <a:pPr algn="ctr">
              <a:lnSpc>
                <a:spcPct val="120000"/>
              </a:lnSpc>
            </a:pPr>
            <a:r>
              <a:rPr lang="en-US" sz="1250" dirty="0">
                <a:solidFill>
                  <a:srgbClr val="FFFFFF"/>
                </a:solidFill>
                <a:latin typeface="Noto Sans SC" pitchFamily="34" charset="0"/>
                <a:ea typeface="Noto Sans SC" pitchFamily="34" charset="-122"/>
                <a:cs typeface="Noto Sans SC" pitchFamily="34" charset="-120"/>
              </a:rPr>
              <a:t>Confidence = P(object) × IoU(pred, truth)</a:t>
            </a:r>
            <a:endParaRPr lang="en-US" sz="1600" dirty="0"/>
          </a:p>
        </p:txBody>
      </p:sp>
      <p:sp>
        <p:nvSpPr>
          <p:cNvPr id="9" name="Text 7"/>
          <p:cNvSpPr/>
          <p:nvPr/>
        </p:nvSpPr>
        <p:spPr>
          <a:xfrm>
            <a:off x="476250" y="2190649"/>
            <a:ext cx="5429250"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The objectness score represents </a:t>
            </a:r>
            <a:r>
              <a:rPr lang="en-US" sz="1000" b="1" dirty="0">
                <a:solidFill>
                  <a:srgbClr val="FFFFFF"/>
                </a:solidFill>
                <a:latin typeface="Quattrocento Sans" pitchFamily="34" charset="0"/>
                <a:ea typeface="Quattrocento Sans" pitchFamily="34" charset="-122"/>
                <a:cs typeface="Quattrocento Sans" pitchFamily="34" charset="-120"/>
              </a:rPr>
              <a:t>two things simultaneously</a:t>
            </a:r>
            <a:r>
              <a:rPr lang="en-US" sz="1000"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10" name="Shape 8"/>
          <p:cNvSpPr/>
          <p:nvPr/>
        </p:nvSpPr>
        <p:spPr>
          <a:xfrm>
            <a:off x="476250" y="2476399"/>
            <a:ext cx="5365750" cy="539750"/>
          </a:xfrm>
          <a:custGeom>
            <a:avLst/>
            <a:gdLst/>
            <a:ahLst/>
            <a:cxnLst/>
            <a:rect l="l" t="t" r="r" b="b"/>
            <a:pathLst>
              <a:path w="5365750" h="539750">
                <a:moveTo>
                  <a:pt x="31748" y="0"/>
                </a:moveTo>
                <a:lnTo>
                  <a:pt x="5334002" y="0"/>
                </a:lnTo>
                <a:cubicBezTo>
                  <a:pt x="5351536" y="0"/>
                  <a:pt x="5365750" y="14214"/>
                  <a:pt x="5365750" y="31748"/>
                </a:cubicBezTo>
                <a:lnTo>
                  <a:pt x="5365750" y="508002"/>
                </a:lnTo>
                <a:cubicBezTo>
                  <a:pt x="5365750" y="525536"/>
                  <a:pt x="5351536" y="539750"/>
                  <a:pt x="5334002" y="539750"/>
                </a:cubicBezTo>
                <a:lnTo>
                  <a:pt x="31748" y="539750"/>
                </a:lnTo>
                <a:cubicBezTo>
                  <a:pt x="14214" y="539750"/>
                  <a:pt x="0" y="525536"/>
                  <a:pt x="0" y="508002"/>
                </a:cubicBezTo>
                <a:lnTo>
                  <a:pt x="0" y="31748"/>
                </a:lnTo>
                <a:cubicBezTo>
                  <a:pt x="0" y="14226"/>
                  <a:pt x="14226" y="0"/>
                  <a:pt x="31748" y="0"/>
                </a:cubicBezTo>
                <a:close/>
              </a:path>
            </a:pathLst>
          </a:custGeom>
          <a:solidFill>
            <a:srgbClr val="FFFFFF">
              <a:alpha val="10196"/>
            </a:srgbClr>
          </a:solidFill>
          <a:ln/>
        </p:spPr>
        <p:txBody>
          <a:bodyPr/>
          <a:lstStyle/>
          <a:p>
            <a:endParaRPr lang="en-US"/>
          </a:p>
        </p:txBody>
      </p:sp>
      <p:sp>
        <p:nvSpPr>
          <p:cNvPr id="11" name="Shape 9"/>
          <p:cNvSpPr/>
          <p:nvPr/>
        </p:nvSpPr>
        <p:spPr>
          <a:xfrm>
            <a:off x="591344" y="266689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FFFFFF"/>
          </a:solidFill>
          <a:ln/>
        </p:spPr>
        <p:txBody>
          <a:bodyPr/>
          <a:lstStyle/>
          <a:p>
            <a:endParaRPr lang="en-US"/>
          </a:p>
        </p:txBody>
      </p:sp>
      <p:sp>
        <p:nvSpPr>
          <p:cNvPr id="12" name="Text 10"/>
          <p:cNvSpPr/>
          <p:nvPr/>
        </p:nvSpPr>
        <p:spPr>
          <a:xfrm>
            <a:off x="865188" y="2571649"/>
            <a:ext cx="189706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P(object)</a:t>
            </a:r>
            <a:endParaRPr lang="en-US" sz="1600" dirty="0"/>
          </a:p>
        </p:txBody>
      </p:sp>
      <p:sp>
        <p:nvSpPr>
          <p:cNvPr id="13" name="Text 11"/>
          <p:cNvSpPr/>
          <p:nvPr/>
        </p:nvSpPr>
        <p:spPr>
          <a:xfrm>
            <a:off x="865188" y="2762149"/>
            <a:ext cx="1889125"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Probability that box contains an object</a:t>
            </a:r>
            <a:endParaRPr lang="en-US" sz="1600" dirty="0"/>
          </a:p>
        </p:txBody>
      </p:sp>
      <p:sp>
        <p:nvSpPr>
          <p:cNvPr id="14" name="Shape 12"/>
          <p:cNvSpPr/>
          <p:nvPr/>
        </p:nvSpPr>
        <p:spPr>
          <a:xfrm>
            <a:off x="476250" y="3079649"/>
            <a:ext cx="5365750" cy="539750"/>
          </a:xfrm>
          <a:custGeom>
            <a:avLst/>
            <a:gdLst/>
            <a:ahLst/>
            <a:cxnLst/>
            <a:rect l="l" t="t" r="r" b="b"/>
            <a:pathLst>
              <a:path w="5365750" h="539750">
                <a:moveTo>
                  <a:pt x="31748" y="0"/>
                </a:moveTo>
                <a:lnTo>
                  <a:pt x="5334002" y="0"/>
                </a:lnTo>
                <a:cubicBezTo>
                  <a:pt x="5351536" y="0"/>
                  <a:pt x="5365750" y="14214"/>
                  <a:pt x="5365750" y="31748"/>
                </a:cubicBezTo>
                <a:lnTo>
                  <a:pt x="5365750" y="508002"/>
                </a:lnTo>
                <a:cubicBezTo>
                  <a:pt x="5365750" y="525536"/>
                  <a:pt x="5351536" y="539750"/>
                  <a:pt x="5334002" y="539750"/>
                </a:cubicBezTo>
                <a:lnTo>
                  <a:pt x="31748" y="539750"/>
                </a:lnTo>
                <a:cubicBezTo>
                  <a:pt x="14214" y="539750"/>
                  <a:pt x="0" y="525536"/>
                  <a:pt x="0" y="508002"/>
                </a:cubicBezTo>
                <a:lnTo>
                  <a:pt x="0" y="31748"/>
                </a:lnTo>
                <a:cubicBezTo>
                  <a:pt x="0" y="14226"/>
                  <a:pt x="14226" y="0"/>
                  <a:pt x="31748" y="0"/>
                </a:cubicBezTo>
                <a:close/>
              </a:path>
            </a:pathLst>
          </a:custGeom>
          <a:solidFill>
            <a:srgbClr val="FFFFFF">
              <a:alpha val="10196"/>
            </a:srgbClr>
          </a:solidFill>
          <a:ln/>
        </p:spPr>
        <p:txBody>
          <a:bodyPr/>
          <a:lstStyle/>
          <a:p>
            <a:endParaRPr lang="en-US"/>
          </a:p>
        </p:txBody>
      </p:sp>
      <p:sp>
        <p:nvSpPr>
          <p:cNvPr id="15" name="Shape 13"/>
          <p:cNvSpPr/>
          <p:nvPr/>
        </p:nvSpPr>
        <p:spPr>
          <a:xfrm>
            <a:off x="591344" y="3270149"/>
            <a:ext cx="158750" cy="158750"/>
          </a:xfrm>
          <a:custGeom>
            <a:avLst/>
            <a:gdLst/>
            <a:ahLst/>
            <a:cxnLst/>
            <a:rect l="l" t="t" r="r" b="b"/>
            <a:pathLst>
              <a:path w="158750" h="158750">
                <a:moveTo>
                  <a:pt x="138906" y="79375"/>
                </a:moveTo>
                <a:cubicBezTo>
                  <a:pt x="138906" y="46519"/>
                  <a:pt x="112231" y="19844"/>
                  <a:pt x="79375" y="19844"/>
                </a:cubicBezTo>
                <a:cubicBezTo>
                  <a:pt x="46519" y="19844"/>
                  <a:pt x="19844" y="46519"/>
                  <a:pt x="19844" y="79375"/>
                </a:cubicBezTo>
                <a:cubicBezTo>
                  <a:pt x="19844" y="112231"/>
                  <a:pt x="46519" y="138906"/>
                  <a:pt x="79375" y="138906"/>
                </a:cubicBezTo>
                <a:cubicBezTo>
                  <a:pt x="112231" y="138906"/>
                  <a:pt x="138906" y="112231"/>
                  <a:pt x="138906" y="79375"/>
                </a:cubicBezTo>
                <a:close/>
                <a:moveTo>
                  <a:pt x="0" y="79375"/>
                </a:moveTo>
                <a:cubicBezTo>
                  <a:pt x="0" y="35567"/>
                  <a:pt x="35567" y="0"/>
                  <a:pt x="79375" y="0"/>
                </a:cubicBezTo>
                <a:cubicBezTo>
                  <a:pt x="123183" y="0"/>
                  <a:pt x="158750" y="35567"/>
                  <a:pt x="158750" y="79375"/>
                </a:cubicBezTo>
                <a:cubicBezTo>
                  <a:pt x="158750" y="123183"/>
                  <a:pt x="123183" y="158750"/>
                  <a:pt x="79375" y="158750"/>
                </a:cubicBezTo>
                <a:cubicBezTo>
                  <a:pt x="35567" y="158750"/>
                  <a:pt x="0" y="123183"/>
                  <a:pt x="0" y="79375"/>
                </a:cubicBezTo>
                <a:close/>
                <a:moveTo>
                  <a:pt x="79375" y="104180"/>
                </a:moveTo>
                <a:cubicBezTo>
                  <a:pt x="93065" y="104180"/>
                  <a:pt x="104180" y="93065"/>
                  <a:pt x="104180" y="79375"/>
                </a:cubicBezTo>
                <a:cubicBezTo>
                  <a:pt x="104180" y="65685"/>
                  <a:pt x="93065" y="54570"/>
                  <a:pt x="79375" y="54570"/>
                </a:cubicBezTo>
                <a:cubicBezTo>
                  <a:pt x="65685" y="54570"/>
                  <a:pt x="54570" y="65685"/>
                  <a:pt x="54570" y="79375"/>
                </a:cubicBezTo>
                <a:cubicBezTo>
                  <a:pt x="54570" y="93065"/>
                  <a:pt x="65685" y="104180"/>
                  <a:pt x="79375" y="104180"/>
                </a:cubicBezTo>
                <a:close/>
                <a:moveTo>
                  <a:pt x="79375" y="34727"/>
                </a:moveTo>
                <a:cubicBezTo>
                  <a:pt x="104017" y="34727"/>
                  <a:pt x="124023" y="54733"/>
                  <a:pt x="124023" y="79375"/>
                </a:cubicBezTo>
                <a:cubicBezTo>
                  <a:pt x="124023" y="104017"/>
                  <a:pt x="104017" y="124023"/>
                  <a:pt x="79375" y="124023"/>
                </a:cubicBezTo>
                <a:cubicBezTo>
                  <a:pt x="54733" y="124023"/>
                  <a:pt x="34727" y="104017"/>
                  <a:pt x="34727" y="79375"/>
                </a:cubicBezTo>
                <a:cubicBezTo>
                  <a:pt x="34727" y="54733"/>
                  <a:pt x="54733" y="34727"/>
                  <a:pt x="79375" y="34727"/>
                </a:cubicBezTo>
                <a:close/>
                <a:moveTo>
                  <a:pt x="69453" y="79375"/>
                </a:moveTo>
                <a:cubicBezTo>
                  <a:pt x="69453" y="73899"/>
                  <a:pt x="73899" y="69453"/>
                  <a:pt x="79375" y="69453"/>
                </a:cubicBezTo>
                <a:cubicBezTo>
                  <a:pt x="84851" y="69453"/>
                  <a:pt x="89297" y="73899"/>
                  <a:pt x="89297" y="79375"/>
                </a:cubicBezTo>
                <a:cubicBezTo>
                  <a:pt x="89297" y="84851"/>
                  <a:pt x="84851" y="89297"/>
                  <a:pt x="79375" y="89297"/>
                </a:cubicBezTo>
                <a:cubicBezTo>
                  <a:pt x="73899" y="89297"/>
                  <a:pt x="69453" y="84851"/>
                  <a:pt x="69453" y="79375"/>
                </a:cubicBezTo>
                <a:close/>
              </a:path>
            </a:pathLst>
          </a:custGeom>
          <a:solidFill>
            <a:srgbClr val="FFFFFF"/>
          </a:solidFill>
          <a:ln/>
        </p:spPr>
        <p:txBody>
          <a:bodyPr/>
          <a:lstStyle/>
          <a:p>
            <a:endParaRPr lang="en-US"/>
          </a:p>
        </p:txBody>
      </p:sp>
      <p:sp>
        <p:nvSpPr>
          <p:cNvPr id="16" name="Text 14"/>
          <p:cNvSpPr/>
          <p:nvPr/>
        </p:nvSpPr>
        <p:spPr>
          <a:xfrm>
            <a:off x="865188" y="3174899"/>
            <a:ext cx="171450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IoU(pred, truth)</a:t>
            </a:r>
            <a:endParaRPr lang="en-US" sz="1600" dirty="0"/>
          </a:p>
        </p:txBody>
      </p:sp>
      <p:sp>
        <p:nvSpPr>
          <p:cNvPr id="17" name="Text 15"/>
          <p:cNvSpPr/>
          <p:nvPr/>
        </p:nvSpPr>
        <p:spPr>
          <a:xfrm>
            <a:off x="865188" y="3365399"/>
            <a:ext cx="1706563"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How accurate the predicted box is</a:t>
            </a:r>
            <a:endParaRPr lang="en-US" sz="1600" dirty="0"/>
          </a:p>
        </p:txBody>
      </p:sp>
      <p:sp>
        <p:nvSpPr>
          <p:cNvPr id="18" name="Shape 16"/>
          <p:cNvSpPr/>
          <p:nvPr/>
        </p:nvSpPr>
        <p:spPr>
          <a:xfrm>
            <a:off x="333375" y="3905149"/>
            <a:ext cx="5667375" cy="1635125"/>
          </a:xfrm>
          <a:custGeom>
            <a:avLst/>
            <a:gdLst/>
            <a:ahLst/>
            <a:cxnLst/>
            <a:rect l="l" t="t" r="r" b="b"/>
            <a:pathLst>
              <a:path w="5667375" h="1635125">
                <a:moveTo>
                  <a:pt x="31750" y="0"/>
                </a:moveTo>
                <a:lnTo>
                  <a:pt x="5603883" y="0"/>
                </a:lnTo>
                <a:cubicBezTo>
                  <a:pt x="5638949" y="0"/>
                  <a:pt x="5667375" y="28426"/>
                  <a:pt x="5667375" y="63492"/>
                </a:cubicBezTo>
                <a:lnTo>
                  <a:pt x="5667375" y="1571633"/>
                </a:lnTo>
                <a:cubicBezTo>
                  <a:pt x="5667375" y="1606699"/>
                  <a:pt x="5638949" y="1635125"/>
                  <a:pt x="5603883" y="1635125"/>
                </a:cubicBezTo>
                <a:lnTo>
                  <a:pt x="31750" y="1635125"/>
                </a:lnTo>
                <a:cubicBezTo>
                  <a:pt x="14227" y="1635125"/>
                  <a:pt x="0" y="1620898"/>
                  <a:pt x="0" y="1603375"/>
                </a:cubicBezTo>
                <a:lnTo>
                  <a:pt x="0" y="31750"/>
                </a:lnTo>
                <a:cubicBezTo>
                  <a:pt x="0" y="14227"/>
                  <a:pt x="14227" y="0"/>
                  <a:pt x="31750" y="0"/>
                </a:cubicBezTo>
                <a:close/>
              </a:path>
            </a:pathLst>
          </a:custGeom>
          <a:solidFill>
            <a:srgbClr val="EFF6FF"/>
          </a:solidFill>
          <a:ln/>
        </p:spPr>
        <p:txBody>
          <a:bodyPr/>
          <a:lstStyle/>
          <a:p>
            <a:endParaRPr lang="en-US"/>
          </a:p>
        </p:txBody>
      </p:sp>
      <p:sp>
        <p:nvSpPr>
          <p:cNvPr id="19" name="Shape 17"/>
          <p:cNvSpPr/>
          <p:nvPr/>
        </p:nvSpPr>
        <p:spPr>
          <a:xfrm>
            <a:off x="333375" y="3905149"/>
            <a:ext cx="31750" cy="1635125"/>
          </a:xfrm>
          <a:custGeom>
            <a:avLst/>
            <a:gdLst/>
            <a:ahLst/>
            <a:cxnLst/>
            <a:rect l="l" t="t" r="r" b="b"/>
            <a:pathLst>
              <a:path w="31750" h="1635125">
                <a:moveTo>
                  <a:pt x="31750" y="0"/>
                </a:moveTo>
                <a:lnTo>
                  <a:pt x="31750" y="0"/>
                </a:lnTo>
                <a:lnTo>
                  <a:pt x="31750" y="1635125"/>
                </a:lnTo>
                <a:lnTo>
                  <a:pt x="31750" y="1635125"/>
                </a:lnTo>
                <a:cubicBezTo>
                  <a:pt x="14227" y="1635125"/>
                  <a:pt x="0" y="1620898"/>
                  <a:pt x="0" y="1603375"/>
                </a:cubicBezTo>
                <a:lnTo>
                  <a:pt x="0" y="31750"/>
                </a:lnTo>
                <a:cubicBezTo>
                  <a:pt x="0" y="14227"/>
                  <a:pt x="14227" y="0"/>
                  <a:pt x="31750" y="0"/>
                </a:cubicBezTo>
                <a:close/>
              </a:path>
            </a:pathLst>
          </a:custGeom>
          <a:solidFill>
            <a:srgbClr val="2B7FFF"/>
          </a:solidFill>
          <a:ln/>
        </p:spPr>
        <p:txBody>
          <a:bodyPr/>
          <a:lstStyle/>
          <a:p>
            <a:endParaRPr lang="en-US"/>
          </a:p>
        </p:txBody>
      </p:sp>
      <p:sp>
        <p:nvSpPr>
          <p:cNvPr id="20" name="Shape 18"/>
          <p:cNvSpPr/>
          <p:nvPr/>
        </p:nvSpPr>
        <p:spPr>
          <a:xfrm>
            <a:off x="517922" y="4095649"/>
            <a:ext cx="178594" cy="158750"/>
          </a:xfrm>
          <a:custGeom>
            <a:avLst/>
            <a:gdLst/>
            <a:ahLst/>
            <a:cxnLst/>
            <a:rect l="l" t="t" r="r" b="b"/>
            <a:pathLst>
              <a:path w="178594" h="158750">
                <a:moveTo>
                  <a:pt x="124396" y="12123"/>
                </a:moveTo>
                <a:lnTo>
                  <a:pt x="170346" y="58725"/>
                </a:lnTo>
                <a:cubicBezTo>
                  <a:pt x="178935" y="67438"/>
                  <a:pt x="178935" y="81390"/>
                  <a:pt x="170346" y="90103"/>
                </a:cubicBezTo>
                <a:lnTo>
                  <a:pt x="121853" y="139185"/>
                </a:lnTo>
                <a:cubicBezTo>
                  <a:pt x="118969" y="142100"/>
                  <a:pt x="114257" y="142131"/>
                  <a:pt x="111342" y="139247"/>
                </a:cubicBezTo>
                <a:cubicBezTo>
                  <a:pt x="108427" y="136364"/>
                  <a:pt x="108396" y="131651"/>
                  <a:pt x="111280" y="128736"/>
                </a:cubicBezTo>
                <a:lnTo>
                  <a:pt x="159773" y="79623"/>
                </a:lnTo>
                <a:cubicBezTo>
                  <a:pt x="162626" y="76740"/>
                  <a:pt x="162626" y="72058"/>
                  <a:pt x="159773" y="69174"/>
                </a:cubicBezTo>
                <a:lnTo>
                  <a:pt x="113792" y="22603"/>
                </a:lnTo>
                <a:cubicBezTo>
                  <a:pt x="110908" y="19689"/>
                  <a:pt x="110939" y="14976"/>
                  <a:pt x="113854" y="12092"/>
                </a:cubicBezTo>
                <a:cubicBezTo>
                  <a:pt x="116768" y="9209"/>
                  <a:pt x="121481" y="9240"/>
                  <a:pt x="124365" y="12154"/>
                </a:cubicBezTo>
                <a:close/>
                <a:moveTo>
                  <a:pt x="9953" y="71158"/>
                </a:moveTo>
                <a:lnTo>
                  <a:pt x="9953" y="29766"/>
                </a:lnTo>
                <a:cubicBezTo>
                  <a:pt x="9953" y="18821"/>
                  <a:pt x="18852" y="9922"/>
                  <a:pt x="29797" y="9922"/>
                </a:cubicBezTo>
                <a:lnTo>
                  <a:pt x="71189" y="9922"/>
                </a:lnTo>
                <a:cubicBezTo>
                  <a:pt x="76460" y="9922"/>
                  <a:pt x="81514" y="11999"/>
                  <a:pt x="85235" y="15720"/>
                </a:cubicBezTo>
                <a:lnTo>
                  <a:pt x="129884" y="60368"/>
                </a:lnTo>
                <a:cubicBezTo>
                  <a:pt x="137635" y="68120"/>
                  <a:pt x="137635" y="80677"/>
                  <a:pt x="129884" y="88429"/>
                </a:cubicBezTo>
                <a:lnTo>
                  <a:pt x="88491" y="129822"/>
                </a:lnTo>
                <a:cubicBezTo>
                  <a:pt x="80739" y="137573"/>
                  <a:pt x="68182" y="137573"/>
                  <a:pt x="60430" y="129822"/>
                </a:cubicBezTo>
                <a:lnTo>
                  <a:pt x="15782" y="85173"/>
                </a:lnTo>
                <a:cubicBezTo>
                  <a:pt x="12061" y="81452"/>
                  <a:pt x="9984" y="76398"/>
                  <a:pt x="9984" y="71127"/>
                </a:cubicBezTo>
                <a:close/>
                <a:moveTo>
                  <a:pt x="54601" y="44648"/>
                </a:moveTo>
                <a:cubicBezTo>
                  <a:pt x="54601" y="39172"/>
                  <a:pt x="50155" y="34727"/>
                  <a:pt x="44679" y="34727"/>
                </a:cubicBezTo>
                <a:cubicBezTo>
                  <a:pt x="39203" y="34727"/>
                  <a:pt x="34758" y="39172"/>
                  <a:pt x="34758" y="44648"/>
                </a:cubicBezTo>
                <a:cubicBezTo>
                  <a:pt x="34758" y="50124"/>
                  <a:pt x="39203" y="54570"/>
                  <a:pt x="44679" y="54570"/>
                </a:cubicBezTo>
                <a:cubicBezTo>
                  <a:pt x="50155" y="54570"/>
                  <a:pt x="54601" y="50124"/>
                  <a:pt x="54601" y="44648"/>
                </a:cubicBezTo>
                <a:close/>
              </a:path>
            </a:pathLst>
          </a:custGeom>
          <a:solidFill>
            <a:srgbClr val="1C398E"/>
          </a:solidFill>
          <a:ln/>
        </p:spPr>
        <p:txBody>
          <a:bodyPr/>
          <a:lstStyle/>
          <a:p>
            <a:endParaRPr lang="en-US"/>
          </a:p>
        </p:txBody>
      </p:sp>
      <p:sp>
        <p:nvSpPr>
          <p:cNvPr id="21" name="Text 19"/>
          <p:cNvSpPr/>
          <p:nvPr/>
        </p:nvSpPr>
        <p:spPr>
          <a:xfrm>
            <a:off x="706438" y="4063899"/>
            <a:ext cx="5214938" cy="222250"/>
          </a:xfrm>
          <a:prstGeom prst="rect">
            <a:avLst/>
          </a:prstGeom>
          <a:noFill/>
          <a:ln/>
        </p:spPr>
        <p:txBody>
          <a:bodyPr wrap="square" lIns="0" tIns="0" rIns="0" bIns="0" rtlCol="0" anchor="ctr"/>
          <a:lstStyle/>
          <a:p>
            <a:pPr>
              <a:lnSpc>
                <a:spcPct val="120000"/>
              </a:lnSpc>
            </a:pPr>
            <a:r>
              <a:rPr lang="en-US" sz="1250" b="1" dirty="0">
                <a:solidFill>
                  <a:srgbClr val="1C398E"/>
                </a:solidFill>
                <a:latin typeface="Sorts Mill Goudy" pitchFamily="34" charset="0"/>
                <a:ea typeface="Sorts Mill Goudy" pitchFamily="34" charset="-122"/>
                <a:cs typeface="Sorts Mill Goudy" pitchFamily="34" charset="-120"/>
              </a:rPr>
              <a:t>Class Probabilities</a:t>
            </a:r>
            <a:endParaRPr lang="en-US" sz="1600" dirty="0"/>
          </a:p>
        </p:txBody>
      </p:sp>
      <p:sp>
        <p:nvSpPr>
          <p:cNvPr id="22" name="Text 20"/>
          <p:cNvSpPr/>
          <p:nvPr/>
        </p:nvSpPr>
        <p:spPr>
          <a:xfrm>
            <a:off x="508000" y="4381399"/>
            <a:ext cx="5397500" cy="190500"/>
          </a:xfrm>
          <a:prstGeom prst="rect">
            <a:avLst/>
          </a:prstGeom>
          <a:noFill/>
          <a:ln/>
        </p:spPr>
        <p:txBody>
          <a:bodyPr wrap="square" lIns="0" tIns="0" rIns="0" bIns="0" rtlCol="0" anchor="ctr"/>
          <a:lstStyle/>
          <a:p>
            <a:pPr>
              <a:lnSpc>
                <a:spcPct val="130000"/>
              </a:lnSpc>
            </a:pPr>
            <a:r>
              <a:rPr lang="en-US" sz="1000" dirty="0">
                <a:solidFill>
                  <a:srgbClr val="1C398E"/>
                </a:solidFill>
                <a:latin typeface="Quattrocento Sans" pitchFamily="34" charset="0"/>
                <a:ea typeface="Quattrocento Sans" pitchFamily="34" charset="-122"/>
                <a:cs typeface="Quattrocento Sans" pitchFamily="34" charset="-120"/>
              </a:rPr>
              <a:t>Each grid cell also predicts </a:t>
            </a:r>
            <a:r>
              <a:rPr lang="en-US" sz="1000" b="1" dirty="0">
                <a:solidFill>
                  <a:srgbClr val="1C398E"/>
                </a:solidFill>
                <a:latin typeface="Quattrocento Sans" pitchFamily="34" charset="0"/>
                <a:ea typeface="Quattrocento Sans" pitchFamily="34" charset="-122"/>
                <a:cs typeface="Quattrocento Sans" pitchFamily="34" charset="-120"/>
              </a:rPr>
              <a:t>class probabilities</a:t>
            </a:r>
            <a:r>
              <a:rPr lang="en-US" sz="1000" dirty="0">
                <a:solidFill>
                  <a:srgbClr val="1C398E"/>
                </a:solidFill>
                <a:latin typeface="Quattrocento Sans" pitchFamily="34" charset="0"/>
                <a:ea typeface="Quattrocento Sans" pitchFamily="34" charset="-122"/>
                <a:cs typeface="Quattrocento Sans" pitchFamily="34" charset="-120"/>
              </a:rPr>
              <a:t> conditional on an object being present:</a:t>
            </a:r>
            <a:endParaRPr lang="en-US" sz="1600" dirty="0"/>
          </a:p>
        </p:txBody>
      </p:sp>
      <p:sp>
        <p:nvSpPr>
          <p:cNvPr id="23" name="Shape 21"/>
          <p:cNvSpPr/>
          <p:nvPr/>
        </p:nvSpPr>
        <p:spPr>
          <a:xfrm>
            <a:off x="511175" y="4670324"/>
            <a:ext cx="5324475" cy="419100"/>
          </a:xfrm>
          <a:custGeom>
            <a:avLst/>
            <a:gdLst/>
            <a:ahLst/>
            <a:cxnLst/>
            <a:rect l="l" t="t" r="r" b="b"/>
            <a:pathLst>
              <a:path w="5324475" h="419100">
                <a:moveTo>
                  <a:pt x="31751" y="0"/>
                </a:moveTo>
                <a:lnTo>
                  <a:pt x="5292724" y="0"/>
                </a:lnTo>
                <a:cubicBezTo>
                  <a:pt x="5310260" y="0"/>
                  <a:pt x="5324475" y="14215"/>
                  <a:pt x="5324475" y="31751"/>
                </a:cubicBezTo>
                <a:lnTo>
                  <a:pt x="5324475" y="387349"/>
                </a:lnTo>
                <a:cubicBezTo>
                  <a:pt x="5324475" y="404885"/>
                  <a:pt x="5310260" y="419100"/>
                  <a:pt x="5292724" y="419100"/>
                </a:cubicBezTo>
                <a:lnTo>
                  <a:pt x="31751" y="419100"/>
                </a:lnTo>
                <a:cubicBezTo>
                  <a:pt x="14215" y="419100"/>
                  <a:pt x="0" y="404885"/>
                  <a:pt x="0" y="387349"/>
                </a:cubicBezTo>
                <a:lnTo>
                  <a:pt x="0" y="31751"/>
                </a:lnTo>
                <a:cubicBezTo>
                  <a:pt x="0" y="14215"/>
                  <a:pt x="14215" y="0"/>
                  <a:pt x="31751" y="0"/>
                </a:cubicBezTo>
                <a:close/>
              </a:path>
            </a:pathLst>
          </a:custGeom>
          <a:solidFill>
            <a:srgbClr val="FFFFFF"/>
          </a:solidFill>
          <a:ln w="10160">
            <a:solidFill>
              <a:srgbClr val="8EC5FF"/>
            </a:solidFill>
            <a:prstDash val="solid"/>
          </a:ln>
        </p:spPr>
        <p:txBody>
          <a:bodyPr/>
          <a:lstStyle/>
          <a:p>
            <a:endParaRPr lang="en-US"/>
          </a:p>
        </p:txBody>
      </p:sp>
      <p:sp>
        <p:nvSpPr>
          <p:cNvPr id="24" name="Text 22"/>
          <p:cNvSpPr/>
          <p:nvPr/>
        </p:nvSpPr>
        <p:spPr>
          <a:xfrm>
            <a:off x="573881" y="4768755"/>
            <a:ext cx="5199063" cy="222250"/>
          </a:xfrm>
          <a:prstGeom prst="rect">
            <a:avLst/>
          </a:prstGeom>
          <a:noFill/>
          <a:ln/>
        </p:spPr>
        <p:txBody>
          <a:bodyPr wrap="square" lIns="0" tIns="0" rIns="0" bIns="0" rtlCol="0" anchor="ctr"/>
          <a:lstStyle/>
          <a:p>
            <a:pPr algn="ctr">
              <a:lnSpc>
                <a:spcPct val="130000"/>
              </a:lnSpc>
            </a:pPr>
            <a:r>
              <a:rPr lang="en-US" sz="1125" dirty="0">
                <a:solidFill>
                  <a:srgbClr val="1C398E"/>
                </a:solidFill>
                <a:latin typeface="MiSans" pitchFamily="34" charset="0"/>
                <a:ea typeface="MiSans" pitchFamily="34" charset="-122"/>
                <a:cs typeface="MiSans" pitchFamily="34" charset="-120"/>
              </a:rPr>
              <a:t>P(classᵢ | object)</a:t>
            </a:r>
            <a:endParaRPr lang="en-US" sz="1600" dirty="0"/>
          </a:p>
        </p:txBody>
      </p:sp>
      <p:sp>
        <p:nvSpPr>
          <p:cNvPr id="25" name="Text 23"/>
          <p:cNvSpPr/>
          <p:nvPr/>
        </p:nvSpPr>
        <p:spPr>
          <a:xfrm>
            <a:off x="508000" y="5187854"/>
            <a:ext cx="5397500" cy="190500"/>
          </a:xfrm>
          <a:prstGeom prst="rect">
            <a:avLst/>
          </a:prstGeom>
          <a:noFill/>
          <a:ln/>
        </p:spPr>
        <p:txBody>
          <a:bodyPr wrap="square" lIns="0" tIns="0" rIns="0" bIns="0" rtlCol="0" anchor="ctr"/>
          <a:lstStyle/>
          <a:p>
            <a:pPr>
              <a:lnSpc>
                <a:spcPct val="130000"/>
              </a:lnSpc>
            </a:pPr>
            <a:r>
              <a:rPr lang="en-US" sz="1000" dirty="0">
                <a:solidFill>
                  <a:srgbClr val="1C398E"/>
                </a:solidFill>
                <a:latin typeface="Quattrocento Sans" pitchFamily="34" charset="0"/>
                <a:ea typeface="Quattrocento Sans" pitchFamily="34" charset="-122"/>
                <a:cs typeface="Quattrocento Sans" pitchFamily="34" charset="-120"/>
              </a:rPr>
              <a:t>For COCO dataset with 80 classes, each cell outputs 80 class probabilities.</a:t>
            </a:r>
            <a:endParaRPr lang="en-US" sz="1600" dirty="0"/>
          </a:p>
        </p:txBody>
      </p:sp>
      <p:sp>
        <p:nvSpPr>
          <p:cNvPr id="26" name="Shape 24"/>
          <p:cNvSpPr/>
          <p:nvPr/>
        </p:nvSpPr>
        <p:spPr>
          <a:xfrm>
            <a:off x="6197600" y="990600"/>
            <a:ext cx="5672137" cy="3036888"/>
          </a:xfrm>
          <a:custGeom>
            <a:avLst/>
            <a:gdLst/>
            <a:ahLst/>
            <a:cxnLst/>
            <a:rect l="l" t="t" r="r" b="b"/>
            <a:pathLst>
              <a:path w="5672137" h="3036888">
                <a:moveTo>
                  <a:pt x="63501" y="0"/>
                </a:moveTo>
                <a:lnTo>
                  <a:pt x="5608636" y="0"/>
                </a:lnTo>
                <a:cubicBezTo>
                  <a:pt x="5643707" y="0"/>
                  <a:pt x="5672137" y="28431"/>
                  <a:pt x="5672137" y="63501"/>
                </a:cubicBezTo>
                <a:lnTo>
                  <a:pt x="5672137" y="2973386"/>
                </a:lnTo>
                <a:cubicBezTo>
                  <a:pt x="5672137" y="3008457"/>
                  <a:pt x="5643707" y="3036888"/>
                  <a:pt x="5608636" y="3036888"/>
                </a:cubicBezTo>
                <a:lnTo>
                  <a:pt x="63501" y="3036888"/>
                </a:lnTo>
                <a:cubicBezTo>
                  <a:pt x="28431" y="3036888"/>
                  <a:pt x="0" y="3008457"/>
                  <a:pt x="0" y="2973386"/>
                </a:cubicBezTo>
                <a:lnTo>
                  <a:pt x="0" y="63501"/>
                </a:lnTo>
                <a:cubicBezTo>
                  <a:pt x="0" y="28454"/>
                  <a:pt x="28454" y="0"/>
                  <a:pt x="63501" y="0"/>
                </a:cubicBezTo>
                <a:close/>
              </a:path>
            </a:pathLst>
          </a:custGeom>
          <a:solidFill>
            <a:srgbClr val="FFFFFF"/>
          </a:solidFill>
          <a:ln w="20320">
            <a:solidFill>
              <a:srgbClr val="1F2937"/>
            </a:solidFill>
            <a:prstDash val="solid"/>
          </a:ln>
        </p:spPr>
        <p:txBody>
          <a:bodyPr/>
          <a:lstStyle/>
          <a:p>
            <a:endParaRPr lang="en-US"/>
          </a:p>
        </p:txBody>
      </p:sp>
      <p:sp>
        <p:nvSpPr>
          <p:cNvPr id="27" name="Text 25"/>
          <p:cNvSpPr/>
          <p:nvPr/>
        </p:nvSpPr>
        <p:spPr>
          <a:xfrm>
            <a:off x="6362700" y="1155705"/>
            <a:ext cx="5421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Final Class Score</a:t>
            </a:r>
            <a:endParaRPr lang="en-US" sz="1600" dirty="0"/>
          </a:p>
        </p:txBody>
      </p:sp>
      <p:sp>
        <p:nvSpPr>
          <p:cNvPr id="28" name="Shape 26"/>
          <p:cNvSpPr/>
          <p:nvPr/>
        </p:nvSpPr>
        <p:spPr>
          <a:xfrm>
            <a:off x="6362700" y="1504955"/>
            <a:ext cx="5341938" cy="801688"/>
          </a:xfrm>
          <a:custGeom>
            <a:avLst/>
            <a:gdLst/>
            <a:ahLst/>
            <a:cxnLst/>
            <a:rect l="l" t="t" r="r" b="b"/>
            <a:pathLst>
              <a:path w="5341938" h="801688">
                <a:moveTo>
                  <a:pt x="31747" y="0"/>
                </a:moveTo>
                <a:lnTo>
                  <a:pt x="5310191" y="0"/>
                </a:lnTo>
                <a:cubicBezTo>
                  <a:pt x="5327724" y="0"/>
                  <a:pt x="5341938" y="14214"/>
                  <a:pt x="5341938" y="31747"/>
                </a:cubicBezTo>
                <a:lnTo>
                  <a:pt x="5341938" y="769941"/>
                </a:lnTo>
                <a:cubicBezTo>
                  <a:pt x="5341937" y="787474"/>
                  <a:pt x="5327724" y="801688"/>
                  <a:pt x="5310191" y="801688"/>
                </a:cubicBezTo>
                <a:lnTo>
                  <a:pt x="31747" y="801688"/>
                </a:lnTo>
                <a:cubicBezTo>
                  <a:pt x="14214" y="801688"/>
                  <a:pt x="0" y="787474"/>
                  <a:pt x="0" y="769941"/>
                </a:cubicBezTo>
                <a:lnTo>
                  <a:pt x="0" y="31747"/>
                </a:lnTo>
                <a:cubicBezTo>
                  <a:pt x="0" y="14225"/>
                  <a:pt x="14225" y="0"/>
                  <a:pt x="31747" y="0"/>
                </a:cubicBezTo>
                <a:close/>
              </a:path>
            </a:pathLst>
          </a:custGeom>
          <a:solidFill>
            <a:srgbClr val="F3F4F6"/>
          </a:solidFill>
          <a:ln/>
        </p:spPr>
        <p:txBody>
          <a:bodyPr/>
          <a:lstStyle/>
          <a:p>
            <a:endParaRPr lang="en-US"/>
          </a:p>
        </p:txBody>
      </p:sp>
      <p:sp>
        <p:nvSpPr>
          <p:cNvPr id="29" name="Text 27"/>
          <p:cNvSpPr/>
          <p:nvPr/>
        </p:nvSpPr>
        <p:spPr>
          <a:xfrm>
            <a:off x="6450013" y="1631955"/>
            <a:ext cx="5167313" cy="222250"/>
          </a:xfrm>
          <a:prstGeom prst="rect">
            <a:avLst/>
          </a:prstGeom>
          <a:noFill/>
          <a:ln/>
        </p:spPr>
        <p:txBody>
          <a:bodyPr wrap="square" lIns="0" tIns="0" rIns="0" bIns="0" rtlCol="0" anchor="ctr"/>
          <a:lstStyle/>
          <a:p>
            <a:pPr algn="ctr">
              <a:lnSpc>
                <a:spcPct val="120000"/>
              </a:lnSpc>
            </a:pPr>
            <a:r>
              <a:rPr lang="en-US" sz="1250" dirty="0">
                <a:solidFill>
                  <a:srgbClr val="8B0000"/>
                </a:solidFill>
                <a:latin typeface="Noto Sans SC" pitchFamily="34" charset="0"/>
                <a:ea typeface="Noto Sans SC" pitchFamily="34" charset="-122"/>
                <a:cs typeface="Noto Sans SC" pitchFamily="34" charset="-120"/>
              </a:rPr>
              <a:t>score(classᵢ) = confidence × P(classᵢ | object)</a:t>
            </a:r>
            <a:endParaRPr lang="en-US" sz="1600" dirty="0"/>
          </a:p>
        </p:txBody>
      </p:sp>
      <p:sp>
        <p:nvSpPr>
          <p:cNvPr id="30" name="Shape 28"/>
          <p:cNvSpPr/>
          <p:nvPr/>
        </p:nvSpPr>
        <p:spPr>
          <a:xfrm>
            <a:off x="6489700" y="1920880"/>
            <a:ext cx="5087938" cy="6350"/>
          </a:xfrm>
          <a:custGeom>
            <a:avLst/>
            <a:gdLst/>
            <a:ahLst/>
            <a:cxnLst/>
            <a:rect l="l" t="t" r="r" b="b"/>
            <a:pathLst>
              <a:path w="5087938" h="6350">
                <a:moveTo>
                  <a:pt x="0" y="0"/>
                </a:moveTo>
                <a:lnTo>
                  <a:pt x="5087938" y="0"/>
                </a:lnTo>
                <a:lnTo>
                  <a:pt x="5087938" y="6350"/>
                </a:lnTo>
                <a:lnTo>
                  <a:pt x="0" y="6350"/>
                </a:lnTo>
                <a:lnTo>
                  <a:pt x="0" y="0"/>
                </a:lnTo>
                <a:close/>
              </a:path>
            </a:pathLst>
          </a:custGeom>
          <a:solidFill>
            <a:srgbClr val="99A1AF"/>
          </a:solidFill>
          <a:ln/>
        </p:spPr>
        <p:txBody>
          <a:bodyPr/>
          <a:lstStyle/>
          <a:p>
            <a:endParaRPr lang="en-US"/>
          </a:p>
        </p:txBody>
      </p:sp>
      <p:sp>
        <p:nvSpPr>
          <p:cNvPr id="31" name="Text 29"/>
          <p:cNvSpPr/>
          <p:nvPr/>
        </p:nvSpPr>
        <p:spPr>
          <a:xfrm>
            <a:off x="6489700" y="1987553"/>
            <a:ext cx="5151438"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Quattrocento Sans" pitchFamily="34" charset="0"/>
                <a:ea typeface="Quattrocento Sans" pitchFamily="34" charset="-122"/>
                <a:cs typeface="Quattrocento Sans" pitchFamily="34" charset="-120"/>
              </a:rPr>
              <a:t>Combined score for each class in each box</a:t>
            </a:r>
            <a:endParaRPr lang="en-US" sz="1600" dirty="0"/>
          </a:p>
        </p:txBody>
      </p:sp>
      <p:sp>
        <p:nvSpPr>
          <p:cNvPr id="32" name="Shape 30"/>
          <p:cNvSpPr/>
          <p:nvPr/>
        </p:nvSpPr>
        <p:spPr>
          <a:xfrm>
            <a:off x="6378575" y="2432053"/>
            <a:ext cx="5326063" cy="666750"/>
          </a:xfrm>
          <a:custGeom>
            <a:avLst/>
            <a:gdLst/>
            <a:ahLst/>
            <a:cxnLst/>
            <a:rect l="l" t="t" r="r" b="b"/>
            <a:pathLst>
              <a:path w="5326063" h="666750">
                <a:moveTo>
                  <a:pt x="31750" y="0"/>
                </a:moveTo>
                <a:lnTo>
                  <a:pt x="5262561" y="0"/>
                </a:lnTo>
                <a:cubicBezTo>
                  <a:pt x="5297632" y="0"/>
                  <a:pt x="5326063" y="28430"/>
                  <a:pt x="5326063" y="63501"/>
                </a:cubicBezTo>
                <a:lnTo>
                  <a:pt x="5326063" y="603249"/>
                </a:lnTo>
                <a:cubicBezTo>
                  <a:pt x="5326063" y="638320"/>
                  <a:pt x="5297632" y="666750"/>
                  <a:pt x="5262561" y="666750"/>
                </a:cubicBezTo>
                <a:lnTo>
                  <a:pt x="31750" y="666750"/>
                </a:lnTo>
                <a:cubicBezTo>
                  <a:pt x="14215" y="666750"/>
                  <a:pt x="0" y="652535"/>
                  <a:pt x="0" y="635000"/>
                </a:cubicBezTo>
                <a:lnTo>
                  <a:pt x="0" y="31750"/>
                </a:lnTo>
                <a:cubicBezTo>
                  <a:pt x="0" y="14227"/>
                  <a:pt x="14227" y="0"/>
                  <a:pt x="31750" y="0"/>
                </a:cubicBezTo>
                <a:close/>
              </a:path>
            </a:pathLst>
          </a:custGeom>
          <a:solidFill>
            <a:srgbClr val="FEF2F2"/>
          </a:solidFill>
          <a:ln/>
        </p:spPr>
        <p:txBody>
          <a:bodyPr/>
          <a:lstStyle/>
          <a:p>
            <a:endParaRPr lang="en-US"/>
          </a:p>
        </p:txBody>
      </p:sp>
      <p:sp>
        <p:nvSpPr>
          <p:cNvPr id="33" name="Shape 31"/>
          <p:cNvSpPr/>
          <p:nvPr/>
        </p:nvSpPr>
        <p:spPr>
          <a:xfrm>
            <a:off x="6378575" y="2432053"/>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FB2C36"/>
          </a:solidFill>
          <a:ln/>
        </p:spPr>
        <p:txBody>
          <a:bodyPr/>
          <a:lstStyle/>
          <a:p>
            <a:endParaRPr lang="en-US"/>
          </a:p>
        </p:txBody>
      </p:sp>
      <p:sp>
        <p:nvSpPr>
          <p:cNvPr id="34" name="Text 32"/>
          <p:cNvSpPr/>
          <p:nvPr/>
        </p:nvSpPr>
        <p:spPr>
          <a:xfrm>
            <a:off x="6489700" y="2527303"/>
            <a:ext cx="5191125" cy="222250"/>
          </a:xfrm>
          <a:prstGeom prst="rect">
            <a:avLst/>
          </a:prstGeom>
          <a:noFill/>
          <a:ln/>
        </p:spPr>
        <p:txBody>
          <a:bodyPr wrap="square" lIns="0" tIns="0" rIns="0" bIns="0" rtlCol="0" anchor="ctr"/>
          <a:lstStyle/>
          <a:p>
            <a:pPr>
              <a:lnSpc>
                <a:spcPct val="130000"/>
              </a:lnSpc>
            </a:pPr>
            <a:r>
              <a:rPr lang="en-US" sz="1125" b="1" dirty="0">
                <a:solidFill>
                  <a:srgbClr val="82181A"/>
                </a:solidFill>
                <a:latin typeface="Sorts Mill Goudy" pitchFamily="34" charset="0"/>
                <a:ea typeface="Sorts Mill Goudy" pitchFamily="34" charset="-122"/>
                <a:cs typeface="Sorts Mill Goudy" pitchFamily="34" charset="-120"/>
              </a:rPr>
              <a:t>During Training</a:t>
            </a:r>
            <a:endParaRPr lang="en-US" sz="1600" dirty="0"/>
          </a:p>
        </p:txBody>
      </p:sp>
      <p:sp>
        <p:nvSpPr>
          <p:cNvPr id="35" name="Text 33"/>
          <p:cNvSpPr/>
          <p:nvPr/>
        </p:nvSpPr>
        <p:spPr>
          <a:xfrm>
            <a:off x="6489700" y="2813053"/>
            <a:ext cx="5183188" cy="190500"/>
          </a:xfrm>
          <a:prstGeom prst="rect">
            <a:avLst/>
          </a:prstGeom>
          <a:noFill/>
          <a:ln/>
        </p:spPr>
        <p:txBody>
          <a:bodyPr wrap="square" lIns="0" tIns="0" rIns="0" bIns="0" rtlCol="0" anchor="ctr"/>
          <a:lstStyle/>
          <a:p>
            <a:pPr>
              <a:lnSpc>
                <a:spcPct val="130000"/>
              </a:lnSpc>
            </a:pPr>
            <a:r>
              <a:rPr lang="en-US" sz="1000" dirty="0">
                <a:solidFill>
                  <a:srgbClr val="9F0712"/>
                </a:solidFill>
                <a:latin typeface="Quattrocento Sans" pitchFamily="34" charset="0"/>
                <a:ea typeface="Quattrocento Sans" pitchFamily="34" charset="-122"/>
                <a:cs typeface="Quattrocento Sans" pitchFamily="34" charset="-120"/>
              </a:rPr>
              <a:t>Confidence is trained to equal </a:t>
            </a:r>
            <a:r>
              <a:rPr lang="en-US" sz="1000" b="1" dirty="0">
                <a:solidFill>
                  <a:srgbClr val="9F0712"/>
                </a:solidFill>
                <a:latin typeface="Quattrocento Sans" pitchFamily="34" charset="0"/>
                <a:ea typeface="Quattrocento Sans" pitchFamily="34" charset="-122"/>
                <a:cs typeface="Quattrocento Sans" pitchFamily="34" charset="-120"/>
              </a:rPr>
              <a:t>IoU between predicted and ground truth boxes</a:t>
            </a:r>
            <a:r>
              <a:rPr lang="en-US" sz="1000" dirty="0">
                <a:solidFill>
                  <a:srgbClr val="9F0712"/>
                </a:solidFill>
                <a:latin typeface="Quattrocento Sans" pitchFamily="34" charset="0"/>
                <a:ea typeface="Quattrocento Sans" pitchFamily="34" charset="-122"/>
                <a:cs typeface="Quattrocento Sans" pitchFamily="34" charset="-120"/>
              </a:rPr>
              <a:t>.</a:t>
            </a:r>
            <a:endParaRPr lang="en-US" sz="1600" dirty="0"/>
          </a:p>
        </p:txBody>
      </p:sp>
      <p:sp>
        <p:nvSpPr>
          <p:cNvPr id="36" name="Shape 34"/>
          <p:cNvSpPr/>
          <p:nvPr/>
        </p:nvSpPr>
        <p:spPr>
          <a:xfrm>
            <a:off x="6378575" y="3194053"/>
            <a:ext cx="5326063" cy="666750"/>
          </a:xfrm>
          <a:custGeom>
            <a:avLst/>
            <a:gdLst/>
            <a:ahLst/>
            <a:cxnLst/>
            <a:rect l="l" t="t" r="r" b="b"/>
            <a:pathLst>
              <a:path w="5326063" h="666750">
                <a:moveTo>
                  <a:pt x="31750" y="0"/>
                </a:moveTo>
                <a:lnTo>
                  <a:pt x="5262561" y="0"/>
                </a:lnTo>
                <a:cubicBezTo>
                  <a:pt x="5297632" y="0"/>
                  <a:pt x="5326063" y="28430"/>
                  <a:pt x="5326063" y="63501"/>
                </a:cubicBezTo>
                <a:lnTo>
                  <a:pt x="5326063" y="603249"/>
                </a:lnTo>
                <a:cubicBezTo>
                  <a:pt x="5326063" y="638320"/>
                  <a:pt x="5297632" y="666750"/>
                  <a:pt x="5262561" y="666750"/>
                </a:cubicBezTo>
                <a:lnTo>
                  <a:pt x="31750" y="666750"/>
                </a:lnTo>
                <a:cubicBezTo>
                  <a:pt x="14215" y="666750"/>
                  <a:pt x="0" y="652535"/>
                  <a:pt x="0" y="635000"/>
                </a:cubicBezTo>
                <a:lnTo>
                  <a:pt x="0" y="31750"/>
                </a:lnTo>
                <a:cubicBezTo>
                  <a:pt x="0" y="14227"/>
                  <a:pt x="14227" y="0"/>
                  <a:pt x="31750" y="0"/>
                </a:cubicBezTo>
                <a:close/>
              </a:path>
            </a:pathLst>
          </a:custGeom>
          <a:solidFill>
            <a:srgbClr val="F0FDF4"/>
          </a:solidFill>
          <a:ln/>
        </p:spPr>
        <p:txBody>
          <a:bodyPr/>
          <a:lstStyle/>
          <a:p>
            <a:endParaRPr lang="en-US"/>
          </a:p>
        </p:txBody>
      </p:sp>
      <p:sp>
        <p:nvSpPr>
          <p:cNvPr id="37" name="Shape 35"/>
          <p:cNvSpPr/>
          <p:nvPr/>
        </p:nvSpPr>
        <p:spPr>
          <a:xfrm>
            <a:off x="6378575" y="3194053"/>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00C950"/>
          </a:solidFill>
          <a:ln/>
        </p:spPr>
        <p:txBody>
          <a:bodyPr/>
          <a:lstStyle/>
          <a:p>
            <a:endParaRPr lang="en-US"/>
          </a:p>
        </p:txBody>
      </p:sp>
      <p:sp>
        <p:nvSpPr>
          <p:cNvPr id="38" name="Text 36"/>
          <p:cNvSpPr/>
          <p:nvPr/>
        </p:nvSpPr>
        <p:spPr>
          <a:xfrm>
            <a:off x="6489700" y="3289303"/>
            <a:ext cx="5191125" cy="222250"/>
          </a:xfrm>
          <a:prstGeom prst="rect">
            <a:avLst/>
          </a:prstGeom>
          <a:noFill/>
          <a:ln/>
        </p:spPr>
        <p:txBody>
          <a:bodyPr wrap="square" lIns="0" tIns="0" rIns="0" bIns="0" rtlCol="0" anchor="ctr"/>
          <a:lstStyle/>
          <a:p>
            <a:pPr>
              <a:lnSpc>
                <a:spcPct val="130000"/>
              </a:lnSpc>
            </a:pPr>
            <a:r>
              <a:rPr lang="en-US" sz="1125" b="1" dirty="0">
                <a:solidFill>
                  <a:srgbClr val="0D542B"/>
                </a:solidFill>
                <a:latin typeface="Sorts Mill Goudy" pitchFamily="34" charset="0"/>
                <a:ea typeface="Sorts Mill Goudy" pitchFamily="34" charset="-122"/>
                <a:cs typeface="Sorts Mill Goudy" pitchFamily="34" charset="-120"/>
              </a:rPr>
              <a:t>During Inference</a:t>
            </a:r>
            <a:endParaRPr lang="en-US" sz="1600" dirty="0"/>
          </a:p>
        </p:txBody>
      </p:sp>
      <p:sp>
        <p:nvSpPr>
          <p:cNvPr id="39" name="Text 37"/>
          <p:cNvSpPr/>
          <p:nvPr/>
        </p:nvSpPr>
        <p:spPr>
          <a:xfrm>
            <a:off x="6489700" y="3575053"/>
            <a:ext cx="5183188" cy="190500"/>
          </a:xfrm>
          <a:prstGeom prst="rect">
            <a:avLst/>
          </a:prstGeom>
          <a:noFill/>
          <a:ln/>
        </p:spPr>
        <p:txBody>
          <a:bodyPr wrap="square" lIns="0" tIns="0" rIns="0" bIns="0" rtlCol="0" anchor="ctr"/>
          <a:lstStyle/>
          <a:p>
            <a:pPr>
              <a:lnSpc>
                <a:spcPct val="130000"/>
              </a:lnSpc>
            </a:pPr>
            <a:r>
              <a:rPr lang="en-US" sz="1000" dirty="0">
                <a:solidFill>
                  <a:srgbClr val="016630"/>
                </a:solidFill>
                <a:latin typeface="Quattrocento Sans" pitchFamily="34" charset="0"/>
                <a:ea typeface="Quattrocento Sans" pitchFamily="34" charset="-122"/>
                <a:cs typeface="Quattrocento Sans" pitchFamily="34" charset="-120"/>
              </a:rPr>
              <a:t>Confidence becomes the model's </a:t>
            </a:r>
            <a:r>
              <a:rPr lang="en-US" sz="1000" b="1" dirty="0">
                <a:solidFill>
                  <a:srgbClr val="016630"/>
                </a:solidFill>
                <a:latin typeface="Quattrocento Sans" pitchFamily="34" charset="0"/>
                <a:ea typeface="Quattrocento Sans" pitchFamily="34" charset="-122"/>
                <a:cs typeface="Quattrocento Sans" pitchFamily="34" charset="-120"/>
              </a:rPr>
              <a:t>estimate of object presence and box quality</a:t>
            </a:r>
            <a:r>
              <a:rPr lang="en-US" sz="1000" dirty="0">
                <a:solidFill>
                  <a:srgbClr val="016630"/>
                </a:solidFill>
                <a:latin typeface="Quattrocento Sans" pitchFamily="34" charset="0"/>
                <a:ea typeface="Quattrocento Sans" pitchFamily="34" charset="-122"/>
                <a:cs typeface="Quattrocento Sans" pitchFamily="34" charset="-120"/>
              </a:rPr>
              <a:t>.</a:t>
            </a:r>
            <a:endParaRPr lang="en-US" sz="1600" dirty="0"/>
          </a:p>
        </p:txBody>
      </p:sp>
      <p:sp>
        <p:nvSpPr>
          <p:cNvPr id="40" name="Shape 38"/>
          <p:cNvSpPr/>
          <p:nvPr/>
        </p:nvSpPr>
        <p:spPr>
          <a:xfrm>
            <a:off x="6207125" y="4159250"/>
            <a:ext cx="5667375" cy="1825625"/>
          </a:xfrm>
          <a:custGeom>
            <a:avLst/>
            <a:gdLst/>
            <a:ahLst/>
            <a:cxnLst/>
            <a:rect l="l" t="t" r="r" b="b"/>
            <a:pathLst>
              <a:path w="5667375" h="1825625">
                <a:moveTo>
                  <a:pt x="31750" y="0"/>
                </a:moveTo>
                <a:lnTo>
                  <a:pt x="5603880" y="0"/>
                </a:lnTo>
                <a:cubicBezTo>
                  <a:pt x="5638947" y="0"/>
                  <a:pt x="5667375" y="28428"/>
                  <a:pt x="5667375" y="63495"/>
                </a:cubicBezTo>
                <a:lnTo>
                  <a:pt x="5667375" y="1762130"/>
                </a:lnTo>
                <a:cubicBezTo>
                  <a:pt x="5667375" y="1797197"/>
                  <a:pt x="5638947" y="1825625"/>
                  <a:pt x="5603880" y="1825625"/>
                </a:cubicBezTo>
                <a:lnTo>
                  <a:pt x="31750" y="1825625"/>
                </a:lnTo>
                <a:cubicBezTo>
                  <a:pt x="14227" y="1825625"/>
                  <a:pt x="0" y="1811398"/>
                  <a:pt x="0" y="1793875"/>
                </a:cubicBezTo>
                <a:lnTo>
                  <a:pt x="0" y="31750"/>
                </a:lnTo>
                <a:cubicBezTo>
                  <a:pt x="0" y="14227"/>
                  <a:pt x="14227" y="0"/>
                  <a:pt x="31750" y="0"/>
                </a:cubicBezTo>
                <a:close/>
              </a:path>
            </a:pathLst>
          </a:custGeom>
          <a:solidFill>
            <a:srgbClr val="F9FAFB"/>
          </a:solidFill>
          <a:ln/>
        </p:spPr>
        <p:txBody>
          <a:bodyPr/>
          <a:lstStyle/>
          <a:p>
            <a:endParaRPr lang="en-US"/>
          </a:p>
        </p:txBody>
      </p:sp>
      <p:sp>
        <p:nvSpPr>
          <p:cNvPr id="41" name="Shape 39"/>
          <p:cNvSpPr/>
          <p:nvPr/>
        </p:nvSpPr>
        <p:spPr>
          <a:xfrm>
            <a:off x="6207125" y="4159250"/>
            <a:ext cx="31750" cy="1825625"/>
          </a:xfrm>
          <a:custGeom>
            <a:avLst/>
            <a:gdLst/>
            <a:ahLst/>
            <a:cxnLst/>
            <a:rect l="l" t="t" r="r" b="b"/>
            <a:pathLst>
              <a:path w="31750" h="1825625">
                <a:moveTo>
                  <a:pt x="31750" y="0"/>
                </a:moveTo>
                <a:lnTo>
                  <a:pt x="31750" y="0"/>
                </a:lnTo>
                <a:lnTo>
                  <a:pt x="31750" y="1825625"/>
                </a:lnTo>
                <a:lnTo>
                  <a:pt x="31750" y="1825625"/>
                </a:lnTo>
                <a:cubicBezTo>
                  <a:pt x="14227" y="1825625"/>
                  <a:pt x="0" y="1811398"/>
                  <a:pt x="0" y="1793875"/>
                </a:cubicBezTo>
                <a:lnTo>
                  <a:pt x="0" y="31750"/>
                </a:lnTo>
                <a:cubicBezTo>
                  <a:pt x="0" y="14227"/>
                  <a:pt x="14227" y="0"/>
                  <a:pt x="31750" y="0"/>
                </a:cubicBezTo>
                <a:close/>
              </a:path>
            </a:pathLst>
          </a:custGeom>
          <a:solidFill>
            <a:srgbClr val="8B0000"/>
          </a:solidFill>
          <a:ln/>
        </p:spPr>
        <p:txBody>
          <a:bodyPr/>
          <a:lstStyle/>
          <a:p>
            <a:endParaRPr lang="en-US"/>
          </a:p>
        </p:txBody>
      </p:sp>
      <p:sp>
        <p:nvSpPr>
          <p:cNvPr id="42" name="Text 40"/>
          <p:cNvSpPr/>
          <p:nvPr/>
        </p:nvSpPr>
        <p:spPr>
          <a:xfrm>
            <a:off x="6381750" y="4318000"/>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Thresholding &amp; Filtering</a:t>
            </a:r>
            <a:endParaRPr lang="en-US" sz="1600" dirty="0"/>
          </a:p>
        </p:txBody>
      </p:sp>
      <p:sp>
        <p:nvSpPr>
          <p:cNvPr id="43" name="Text 41"/>
          <p:cNvSpPr/>
          <p:nvPr/>
        </p:nvSpPr>
        <p:spPr>
          <a:xfrm>
            <a:off x="6381750" y="4635500"/>
            <a:ext cx="5397500" cy="381000"/>
          </a:xfrm>
          <a:prstGeom prst="rect">
            <a:avLst/>
          </a:prstGeom>
          <a:noFill/>
          <a:ln/>
        </p:spPr>
        <p:txBody>
          <a:bodyPr wrap="square" lIns="0" tIns="0" rIns="0" bIns="0" rtlCol="0" anchor="ctr"/>
          <a:lstStyle/>
          <a:p>
            <a:pPr>
              <a:lnSpc>
                <a:spcPct val="130000"/>
              </a:lnSpc>
            </a:pPr>
            <a:r>
              <a:rPr lang="en-US" sz="1000" dirty="0">
                <a:solidFill>
                  <a:srgbClr val="1F2937"/>
                </a:solidFill>
                <a:latin typeface="Quattrocento Sans" pitchFamily="34" charset="0"/>
                <a:ea typeface="Quattrocento Sans" pitchFamily="34" charset="-122"/>
                <a:cs typeface="Quattrocento Sans" pitchFamily="34" charset="-120"/>
              </a:rPr>
              <a:t>After predictions, we apply a </a:t>
            </a:r>
            <a:r>
              <a:rPr lang="en-US" sz="1000" b="1" dirty="0">
                <a:solidFill>
                  <a:srgbClr val="1F2937"/>
                </a:solidFill>
                <a:latin typeface="Quattrocento Sans" pitchFamily="34" charset="0"/>
                <a:ea typeface="Quattrocento Sans" pitchFamily="34" charset="-122"/>
                <a:cs typeface="Quattrocento Sans" pitchFamily="34" charset="-120"/>
              </a:rPr>
              <a:t>confidence threshold</a:t>
            </a:r>
            <a:r>
              <a:rPr lang="en-US" sz="1000" dirty="0">
                <a:solidFill>
                  <a:srgbClr val="1F2937"/>
                </a:solidFill>
                <a:latin typeface="Quattrocento Sans" pitchFamily="34" charset="0"/>
                <a:ea typeface="Quattrocento Sans" pitchFamily="34" charset="-122"/>
                <a:cs typeface="Quattrocento Sans" pitchFamily="34" charset="-120"/>
              </a:rPr>
              <a:t> (typically 0.5) to filter out low-confidence detections:</a:t>
            </a:r>
            <a:endParaRPr lang="en-US" sz="1600" dirty="0"/>
          </a:p>
        </p:txBody>
      </p:sp>
      <p:sp>
        <p:nvSpPr>
          <p:cNvPr id="44" name="Shape 42"/>
          <p:cNvSpPr/>
          <p:nvPr/>
        </p:nvSpPr>
        <p:spPr>
          <a:xfrm>
            <a:off x="6384925" y="5114925"/>
            <a:ext cx="5324475" cy="704850"/>
          </a:xfrm>
          <a:custGeom>
            <a:avLst/>
            <a:gdLst/>
            <a:ahLst/>
            <a:cxnLst/>
            <a:rect l="l" t="t" r="r" b="b"/>
            <a:pathLst>
              <a:path w="5324475" h="704850">
                <a:moveTo>
                  <a:pt x="31753" y="0"/>
                </a:moveTo>
                <a:lnTo>
                  <a:pt x="5292722" y="0"/>
                </a:lnTo>
                <a:cubicBezTo>
                  <a:pt x="5310258" y="0"/>
                  <a:pt x="5324475" y="14217"/>
                  <a:pt x="5324475" y="31753"/>
                </a:cubicBezTo>
                <a:lnTo>
                  <a:pt x="5324475" y="673097"/>
                </a:lnTo>
                <a:cubicBezTo>
                  <a:pt x="5324475" y="690633"/>
                  <a:pt x="5310258" y="704850"/>
                  <a:pt x="5292722" y="704850"/>
                </a:cubicBezTo>
                <a:lnTo>
                  <a:pt x="31753" y="704850"/>
                </a:lnTo>
                <a:cubicBezTo>
                  <a:pt x="14217" y="704850"/>
                  <a:pt x="0" y="690633"/>
                  <a:pt x="0" y="673097"/>
                </a:cubicBezTo>
                <a:lnTo>
                  <a:pt x="0" y="31753"/>
                </a:lnTo>
                <a:cubicBezTo>
                  <a:pt x="0" y="14217"/>
                  <a:pt x="14217" y="0"/>
                  <a:pt x="31753" y="0"/>
                </a:cubicBezTo>
                <a:close/>
              </a:path>
            </a:pathLst>
          </a:custGeom>
          <a:solidFill>
            <a:srgbClr val="FFFFFF"/>
          </a:solidFill>
          <a:ln w="10160">
            <a:solidFill>
              <a:srgbClr val="D1D5DC"/>
            </a:solidFill>
            <a:prstDash val="solid"/>
          </a:ln>
        </p:spPr>
        <p:txBody>
          <a:bodyPr/>
          <a:lstStyle/>
          <a:p>
            <a:endParaRPr lang="en-US"/>
          </a:p>
        </p:txBody>
      </p:sp>
      <p:sp>
        <p:nvSpPr>
          <p:cNvPr id="45" name="Text 43"/>
          <p:cNvSpPr/>
          <p:nvPr/>
        </p:nvSpPr>
        <p:spPr>
          <a:xfrm>
            <a:off x="6483350" y="5229223"/>
            <a:ext cx="110331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If confidence &lt; 0.5:</a:t>
            </a:r>
            <a:endParaRPr lang="en-US" sz="1600" dirty="0"/>
          </a:p>
        </p:txBody>
      </p:sp>
      <p:sp>
        <p:nvSpPr>
          <p:cNvPr id="46" name="Shape 44"/>
          <p:cNvSpPr/>
          <p:nvPr/>
        </p:nvSpPr>
        <p:spPr>
          <a:xfrm>
            <a:off x="11030248" y="5213348"/>
            <a:ext cx="587375" cy="222250"/>
          </a:xfrm>
          <a:custGeom>
            <a:avLst/>
            <a:gdLst/>
            <a:ahLst/>
            <a:cxnLst/>
            <a:rect l="l" t="t" r="r" b="b"/>
            <a:pathLst>
              <a:path w="587375" h="222250">
                <a:moveTo>
                  <a:pt x="31751" y="0"/>
                </a:moveTo>
                <a:lnTo>
                  <a:pt x="555624" y="0"/>
                </a:lnTo>
                <a:cubicBezTo>
                  <a:pt x="573160" y="0"/>
                  <a:pt x="587375" y="14215"/>
                  <a:pt x="587375" y="31751"/>
                </a:cubicBezTo>
                <a:lnTo>
                  <a:pt x="587375" y="190499"/>
                </a:lnTo>
                <a:cubicBezTo>
                  <a:pt x="587375" y="208035"/>
                  <a:pt x="573160" y="222250"/>
                  <a:pt x="555624" y="222250"/>
                </a:cubicBezTo>
                <a:lnTo>
                  <a:pt x="31751" y="222250"/>
                </a:lnTo>
                <a:cubicBezTo>
                  <a:pt x="14227" y="222250"/>
                  <a:pt x="0" y="208023"/>
                  <a:pt x="0" y="190499"/>
                </a:cubicBezTo>
                <a:lnTo>
                  <a:pt x="0" y="31751"/>
                </a:lnTo>
                <a:cubicBezTo>
                  <a:pt x="0" y="14227"/>
                  <a:pt x="14227" y="0"/>
                  <a:pt x="31751" y="0"/>
                </a:cubicBezTo>
                <a:close/>
              </a:path>
            </a:pathLst>
          </a:custGeom>
          <a:solidFill>
            <a:srgbClr val="FFE2E2"/>
          </a:solidFill>
          <a:ln/>
        </p:spPr>
        <p:txBody>
          <a:bodyPr/>
          <a:lstStyle/>
          <a:p>
            <a:endParaRPr lang="en-US"/>
          </a:p>
        </p:txBody>
      </p:sp>
      <p:sp>
        <p:nvSpPr>
          <p:cNvPr id="47" name="Text 45"/>
          <p:cNvSpPr/>
          <p:nvPr/>
        </p:nvSpPr>
        <p:spPr>
          <a:xfrm>
            <a:off x="11030248" y="5213348"/>
            <a:ext cx="642938" cy="222250"/>
          </a:xfrm>
          <a:prstGeom prst="rect">
            <a:avLst/>
          </a:prstGeom>
          <a:noFill/>
          <a:ln/>
        </p:spPr>
        <p:txBody>
          <a:bodyPr wrap="square" lIns="63500" tIns="31750" rIns="63500" bIns="31750" rtlCol="0" anchor="ctr"/>
          <a:lstStyle/>
          <a:p>
            <a:pPr>
              <a:lnSpc>
                <a:spcPct val="120000"/>
              </a:lnSpc>
            </a:pPr>
            <a:r>
              <a:rPr lang="en-US" sz="875" b="1" dirty="0">
                <a:solidFill>
                  <a:srgbClr val="9F0712"/>
                </a:solidFill>
                <a:latin typeface="Quattrocento Sans" pitchFamily="34" charset="0"/>
                <a:ea typeface="Quattrocento Sans" pitchFamily="34" charset="-122"/>
                <a:cs typeface="Quattrocento Sans" pitchFamily="34" charset="-120"/>
              </a:rPr>
              <a:t>DISCARD</a:t>
            </a:r>
            <a:endParaRPr lang="en-US" sz="1600" dirty="0"/>
          </a:p>
        </p:txBody>
      </p:sp>
      <p:sp>
        <p:nvSpPr>
          <p:cNvPr id="48" name="Text 46"/>
          <p:cNvSpPr/>
          <p:nvPr/>
        </p:nvSpPr>
        <p:spPr>
          <a:xfrm>
            <a:off x="6483350" y="5514973"/>
            <a:ext cx="11191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If confidence ≥ 0.5:</a:t>
            </a:r>
            <a:endParaRPr lang="en-US" sz="1600" dirty="0"/>
          </a:p>
        </p:txBody>
      </p:sp>
      <p:sp>
        <p:nvSpPr>
          <p:cNvPr id="49" name="Shape 47"/>
          <p:cNvSpPr/>
          <p:nvPr/>
        </p:nvSpPr>
        <p:spPr>
          <a:xfrm>
            <a:off x="11245850" y="5499098"/>
            <a:ext cx="365125" cy="222250"/>
          </a:xfrm>
          <a:custGeom>
            <a:avLst/>
            <a:gdLst/>
            <a:ahLst/>
            <a:cxnLst/>
            <a:rect l="l" t="t" r="r" b="b"/>
            <a:pathLst>
              <a:path w="365125" h="222250">
                <a:moveTo>
                  <a:pt x="31751" y="0"/>
                </a:moveTo>
                <a:lnTo>
                  <a:pt x="333374" y="0"/>
                </a:lnTo>
                <a:cubicBezTo>
                  <a:pt x="350910" y="0"/>
                  <a:pt x="365125" y="14215"/>
                  <a:pt x="365125" y="31751"/>
                </a:cubicBezTo>
                <a:lnTo>
                  <a:pt x="365125" y="190499"/>
                </a:lnTo>
                <a:cubicBezTo>
                  <a:pt x="365125" y="208035"/>
                  <a:pt x="350910" y="222250"/>
                  <a:pt x="333374" y="222250"/>
                </a:cubicBezTo>
                <a:lnTo>
                  <a:pt x="31751" y="222250"/>
                </a:lnTo>
                <a:cubicBezTo>
                  <a:pt x="14227" y="222250"/>
                  <a:pt x="0" y="208023"/>
                  <a:pt x="0" y="190499"/>
                </a:cubicBezTo>
                <a:lnTo>
                  <a:pt x="0" y="31751"/>
                </a:lnTo>
                <a:cubicBezTo>
                  <a:pt x="0" y="14227"/>
                  <a:pt x="14227" y="0"/>
                  <a:pt x="31751" y="0"/>
                </a:cubicBezTo>
                <a:close/>
              </a:path>
            </a:pathLst>
          </a:custGeom>
          <a:solidFill>
            <a:srgbClr val="DCFCE7"/>
          </a:solidFill>
          <a:ln/>
        </p:spPr>
        <p:txBody>
          <a:bodyPr/>
          <a:lstStyle/>
          <a:p>
            <a:endParaRPr lang="en-US"/>
          </a:p>
        </p:txBody>
      </p:sp>
      <p:sp>
        <p:nvSpPr>
          <p:cNvPr id="50" name="Text 48"/>
          <p:cNvSpPr/>
          <p:nvPr/>
        </p:nvSpPr>
        <p:spPr>
          <a:xfrm>
            <a:off x="11245850" y="5499098"/>
            <a:ext cx="420688" cy="222250"/>
          </a:xfrm>
          <a:prstGeom prst="rect">
            <a:avLst/>
          </a:prstGeom>
          <a:noFill/>
          <a:ln/>
        </p:spPr>
        <p:txBody>
          <a:bodyPr wrap="square" lIns="63500" tIns="31750" rIns="63500" bIns="3175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KEEP</a:t>
            </a:r>
            <a:endParaRPr lang="en-US" sz="1600" dirty="0"/>
          </a:p>
        </p:txBody>
      </p:sp>
      <p:sp>
        <p:nvSpPr>
          <p:cNvPr id="51" name="Shape 49"/>
          <p:cNvSpPr/>
          <p:nvPr/>
        </p:nvSpPr>
        <p:spPr>
          <a:xfrm>
            <a:off x="6191250" y="6108705"/>
            <a:ext cx="5683250" cy="381000"/>
          </a:xfrm>
          <a:custGeom>
            <a:avLst/>
            <a:gdLst/>
            <a:ahLst/>
            <a:cxnLst/>
            <a:rect l="l" t="t" r="r" b="b"/>
            <a:pathLst>
              <a:path w="5683250" h="381000">
                <a:moveTo>
                  <a:pt x="63501" y="0"/>
                </a:moveTo>
                <a:lnTo>
                  <a:pt x="5619749" y="0"/>
                </a:lnTo>
                <a:cubicBezTo>
                  <a:pt x="5654820" y="0"/>
                  <a:pt x="5683250" y="28430"/>
                  <a:pt x="5683250" y="63501"/>
                </a:cubicBezTo>
                <a:lnTo>
                  <a:pt x="5683250" y="317499"/>
                </a:lnTo>
                <a:cubicBezTo>
                  <a:pt x="5683250" y="352570"/>
                  <a:pt x="5654820" y="381000"/>
                  <a:pt x="5619749" y="381000"/>
                </a:cubicBezTo>
                <a:lnTo>
                  <a:pt x="63501" y="381000"/>
                </a:lnTo>
                <a:cubicBezTo>
                  <a:pt x="28454" y="381000"/>
                  <a:pt x="0" y="352546"/>
                  <a:pt x="0" y="317499"/>
                </a:cubicBezTo>
                <a:lnTo>
                  <a:pt x="0" y="63501"/>
                </a:lnTo>
                <a:cubicBezTo>
                  <a:pt x="0" y="28454"/>
                  <a:pt x="28454" y="0"/>
                  <a:pt x="63501" y="0"/>
                </a:cubicBezTo>
                <a:close/>
              </a:path>
            </a:pathLst>
          </a:custGeom>
          <a:solidFill>
            <a:srgbClr val="8B0000">
              <a:alpha val="10196"/>
            </a:srgbClr>
          </a:solidFill>
          <a:ln/>
        </p:spPr>
        <p:txBody>
          <a:bodyPr/>
          <a:lstStyle/>
          <a:p>
            <a:endParaRPr lang="en-US"/>
          </a:p>
        </p:txBody>
      </p:sp>
      <p:sp>
        <p:nvSpPr>
          <p:cNvPr id="52" name="Shape 50"/>
          <p:cNvSpPr/>
          <p:nvPr/>
        </p:nvSpPr>
        <p:spPr>
          <a:xfrm>
            <a:off x="6578699" y="6229348"/>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8B0000"/>
          </a:solidFill>
          <a:ln/>
        </p:spPr>
        <p:txBody>
          <a:bodyPr/>
          <a:lstStyle/>
          <a:p>
            <a:endParaRPr lang="en-US"/>
          </a:p>
        </p:txBody>
      </p:sp>
      <p:sp>
        <p:nvSpPr>
          <p:cNvPr id="53" name="Text 51"/>
          <p:cNvSpPr/>
          <p:nvPr/>
        </p:nvSpPr>
        <p:spPr>
          <a:xfrm>
            <a:off x="6453188" y="6203955"/>
            <a:ext cx="5357813" cy="190500"/>
          </a:xfrm>
          <a:prstGeom prst="rect">
            <a:avLst/>
          </a:prstGeom>
          <a:noFill/>
          <a:ln/>
        </p:spPr>
        <p:txBody>
          <a:bodyPr wrap="square" lIns="0" tIns="0" rIns="0" bIns="0" rtlCol="0" anchor="ctr"/>
          <a:lstStyle/>
          <a:p>
            <a:pPr algn="ct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Note:</a:t>
            </a:r>
            <a:r>
              <a:rPr lang="en-US" sz="1000" dirty="0">
                <a:solidFill>
                  <a:srgbClr val="1F2937"/>
                </a:solidFill>
                <a:latin typeface="Quattrocento Sans" pitchFamily="34" charset="0"/>
                <a:ea typeface="Quattrocento Sans" pitchFamily="34" charset="-122"/>
                <a:cs typeface="Quattrocento Sans" pitchFamily="34" charset="-120"/>
              </a:rPr>
              <a:t> A box can have high class probability but still be filtered out if objectness is low.</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05</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Intersection over</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Union (IoU)</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The metric that powers object detection evaluation</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5.1 IOU CALCULATION</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IoU: Measuring Box Overlap</a:t>
            </a:r>
            <a:endParaRPr lang="en-US" sz="1600" dirty="0"/>
          </a:p>
        </p:txBody>
      </p:sp>
      <p:sp>
        <p:nvSpPr>
          <p:cNvPr id="4" name="Shape 2"/>
          <p:cNvSpPr/>
          <p:nvPr/>
        </p:nvSpPr>
        <p:spPr>
          <a:xfrm>
            <a:off x="323850" y="990600"/>
            <a:ext cx="5672137" cy="3640138"/>
          </a:xfrm>
          <a:custGeom>
            <a:avLst/>
            <a:gdLst/>
            <a:ahLst/>
            <a:cxnLst/>
            <a:rect l="l" t="t" r="r" b="b"/>
            <a:pathLst>
              <a:path w="5672137" h="3640138">
                <a:moveTo>
                  <a:pt x="63484" y="0"/>
                </a:moveTo>
                <a:lnTo>
                  <a:pt x="5608654" y="0"/>
                </a:lnTo>
                <a:cubicBezTo>
                  <a:pt x="5643715" y="0"/>
                  <a:pt x="5672137" y="28423"/>
                  <a:pt x="5672137" y="63484"/>
                </a:cubicBezTo>
                <a:lnTo>
                  <a:pt x="5672137" y="3576654"/>
                </a:lnTo>
                <a:cubicBezTo>
                  <a:pt x="5672137" y="3611715"/>
                  <a:pt x="5643715" y="3640138"/>
                  <a:pt x="5608654" y="3640138"/>
                </a:cubicBezTo>
                <a:lnTo>
                  <a:pt x="63484" y="3640138"/>
                </a:lnTo>
                <a:cubicBezTo>
                  <a:pt x="28423" y="3640138"/>
                  <a:pt x="0" y="3611715"/>
                  <a:pt x="0" y="3576654"/>
                </a:cubicBezTo>
                <a:lnTo>
                  <a:pt x="0" y="63484"/>
                </a:lnTo>
                <a:cubicBezTo>
                  <a:pt x="0" y="28446"/>
                  <a:pt x="28446" y="0"/>
                  <a:pt x="63484"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49263" y="1155705"/>
            <a:ext cx="5421313" cy="222250"/>
          </a:xfrm>
          <a:prstGeom prst="rect">
            <a:avLst/>
          </a:prstGeom>
          <a:noFill/>
          <a:ln/>
        </p:spPr>
        <p:txBody>
          <a:bodyPr wrap="square" lIns="0" tIns="0" rIns="0" bIns="0" rtlCol="0" anchor="ctr"/>
          <a:lstStyle/>
          <a:p>
            <a:pPr algn="ct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IoU Formula &amp; Concept</a:t>
            </a:r>
            <a:endParaRPr lang="en-US" sz="1600" dirty="0"/>
          </a:p>
        </p:txBody>
      </p:sp>
      <p:pic>
        <p:nvPicPr>
          <p:cNvPr id="6" name="Image 0" descr="https://kimi-web-img.moonshot.cn/img/b2633864.smushcdn.com/45c5e80b8f21180726d7a8c7cdd12763bbd75b1e.png"/>
          <p:cNvPicPr>
            <a:picLocks noChangeAspect="1"/>
          </p:cNvPicPr>
          <p:nvPr/>
        </p:nvPicPr>
        <p:blipFill>
          <a:blip r:embed="rId3"/>
          <a:srcRect l="-88717" t="-432" r="-149601" b="-2688"/>
          <a:stretch>
            <a:fillRect/>
          </a:stretch>
        </p:blipFill>
        <p:spPr>
          <a:xfrm>
            <a:off x="-245562" y="1330330"/>
            <a:ext cx="6810966" cy="1619249"/>
          </a:xfrm>
          <a:prstGeom prst="roundRect">
            <a:avLst>
              <a:gd name="adj" fmla="val 2500"/>
            </a:avLst>
          </a:prstGeom>
        </p:spPr>
      </p:pic>
      <p:sp>
        <p:nvSpPr>
          <p:cNvPr id="7" name="Shape 4"/>
          <p:cNvSpPr/>
          <p:nvPr/>
        </p:nvSpPr>
        <p:spPr>
          <a:xfrm>
            <a:off x="488950" y="2901955"/>
            <a:ext cx="5341938" cy="833438"/>
          </a:xfrm>
          <a:custGeom>
            <a:avLst/>
            <a:gdLst/>
            <a:ahLst/>
            <a:cxnLst/>
            <a:rect l="l" t="t" r="r" b="b"/>
            <a:pathLst>
              <a:path w="5341938" h="833438">
                <a:moveTo>
                  <a:pt x="31754" y="0"/>
                </a:moveTo>
                <a:lnTo>
                  <a:pt x="5310184" y="0"/>
                </a:lnTo>
                <a:cubicBezTo>
                  <a:pt x="5327721" y="0"/>
                  <a:pt x="5341938" y="14217"/>
                  <a:pt x="5341938" y="31754"/>
                </a:cubicBezTo>
                <a:lnTo>
                  <a:pt x="5341938" y="801684"/>
                </a:lnTo>
                <a:cubicBezTo>
                  <a:pt x="5341938" y="819221"/>
                  <a:pt x="5327721" y="833438"/>
                  <a:pt x="5310184" y="833438"/>
                </a:cubicBezTo>
                <a:lnTo>
                  <a:pt x="31754" y="833438"/>
                </a:lnTo>
                <a:cubicBezTo>
                  <a:pt x="14217" y="833438"/>
                  <a:pt x="0" y="819221"/>
                  <a:pt x="0" y="801684"/>
                </a:cubicBezTo>
                <a:lnTo>
                  <a:pt x="0" y="31754"/>
                </a:lnTo>
                <a:cubicBezTo>
                  <a:pt x="0" y="14228"/>
                  <a:pt x="14228" y="0"/>
                  <a:pt x="31754" y="0"/>
                </a:cubicBezTo>
                <a:close/>
              </a:path>
            </a:pathLst>
          </a:custGeom>
          <a:solidFill>
            <a:srgbClr val="F3F4F6"/>
          </a:solidFill>
          <a:ln/>
        </p:spPr>
        <p:txBody>
          <a:bodyPr/>
          <a:lstStyle/>
          <a:p>
            <a:endParaRPr lang="en-US"/>
          </a:p>
        </p:txBody>
      </p:sp>
      <p:sp>
        <p:nvSpPr>
          <p:cNvPr id="8" name="Text 5"/>
          <p:cNvSpPr/>
          <p:nvPr/>
        </p:nvSpPr>
        <p:spPr>
          <a:xfrm>
            <a:off x="568325" y="3028955"/>
            <a:ext cx="5183188" cy="254000"/>
          </a:xfrm>
          <a:prstGeom prst="rect">
            <a:avLst/>
          </a:prstGeom>
          <a:noFill/>
          <a:ln/>
        </p:spPr>
        <p:txBody>
          <a:bodyPr wrap="square" lIns="0" tIns="0" rIns="0" bIns="0" rtlCol="0" anchor="ctr"/>
          <a:lstStyle/>
          <a:p>
            <a:pPr algn="ctr">
              <a:lnSpc>
                <a:spcPct val="110000"/>
              </a:lnSpc>
            </a:pPr>
            <a:r>
              <a:rPr lang="en-US" sz="1500" dirty="0">
                <a:solidFill>
                  <a:srgbClr val="8B0000"/>
                </a:solidFill>
                <a:latin typeface="Noto Sans SC" pitchFamily="34" charset="0"/>
                <a:ea typeface="Noto Sans SC" pitchFamily="34" charset="-122"/>
                <a:cs typeface="Noto Sans SC" pitchFamily="34" charset="-120"/>
              </a:rPr>
              <a:t>IoU = |A ∩ B| / |A ∪ B|</a:t>
            </a:r>
            <a:endParaRPr lang="en-US" sz="1600" dirty="0"/>
          </a:p>
        </p:txBody>
      </p:sp>
      <p:sp>
        <p:nvSpPr>
          <p:cNvPr id="9" name="Shape 6"/>
          <p:cNvSpPr/>
          <p:nvPr/>
        </p:nvSpPr>
        <p:spPr>
          <a:xfrm>
            <a:off x="615950" y="3349529"/>
            <a:ext cx="5087938" cy="6350"/>
          </a:xfrm>
          <a:custGeom>
            <a:avLst/>
            <a:gdLst/>
            <a:ahLst/>
            <a:cxnLst/>
            <a:rect l="l" t="t" r="r" b="b"/>
            <a:pathLst>
              <a:path w="5087938" h="6350">
                <a:moveTo>
                  <a:pt x="0" y="0"/>
                </a:moveTo>
                <a:lnTo>
                  <a:pt x="5087938" y="0"/>
                </a:lnTo>
                <a:lnTo>
                  <a:pt x="5087938" y="6350"/>
                </a:lnTo>
                <a:lnTo>
                  <a:pt x="0" y="6350"/>
                </a:lnTo>
                <a:lnTo>
                  <a:pt x="0" y="0"/>
                </a:lnTo>
                <a:close/>
              </a:path>
            </a:pathLst>
          </a:custGeom>
          <a:solidFill>
            <a:srgbClr val="99A1AF"/>
          </a:solidFill>
          <a:ln/>
        </p:spPr>
        <p:txBody>
          <a:bodyPr/>
          <a:lstStyle/>
          <a:p>
            <a:endParaRPr lang="en-US"/>
          </a:p>
        </p:txBody>
      </p:sp>
      <p:sp>
        <p:nvSpPr>
          <p:cNvPr id="10" name="Text 7"/>
          <p:cNvSpPr/>
          <p:nvPr/>
        </p:nvSpPr>
        <p:spPr>
          <a:xfrm>
            <a:off x="584200" y="3346354"/>
            <a:ext cx="5151438" cy="254000"/>
          </a:xfrm>
          <a:prstGeom prst="rect">
            <a:avLst/>
          </a:prstGeom>
          <a:noFill/>
          <a:ln/>
        </p:spPr>
        <p:txBody>
          <a:bodyPr wrap="square" lIns="0" tIns="63500" rIns="0" bIns="0" rtlCol="0" anchor="ctr"/>
          <a:lstStyle/>
          <a:p>
            <a:pPr algn="ctr">
              <a:lnSpc>
                <a:spcPct val="130000"/>
              </a:lnSpc>
            </a:pPr>
            <a:r>
              <a:rPr lang="en-US" sz="1000" dirty="0">
                <a:solidFill>
                  <a:srgbClr val="6B7280"/>
                </a:solidFill>
                <a:latin typeface="Quattrocento Sans" pitchFamily="34" charset="0"/>
                <a:ea typeface="Quattrocento Sans" pitchFamily="34" charset="-122"/>
                <a:cs typeface="Quattrocento Sans" pitchFamily="34" charset="-120"/>
              </a:rPr>
              <a:t>Intersection Area / Union Area</a:t>
            </a:r>
            <a:endParaRPr lang="en-US" sz="1600" dirty="0"/>
          </a:p>
        </p:txBody>
      </p:sp>
      <p:sp>
        <p:nvSpPr>
          <p:cNvPr id="11" name="Shape 8"/>
          <p:cNvSpPr/>
          <p:nvPr/>
        </p:nvSpPr>
        <p:spPr>
          <a:xfrm>
            <a:off x="504825" y="3860702"/>
            <a:ext cx="2603500" cy="603250"/>
          </a:xfrm>
          <a:custGeom>
            <a:avLst/>
            <a:gdLst/>
            <a:ahLst/>
            <a:cxnLst/>
            <a:rect l="l" t="t" r="r" b="b"/>
            <a:pathLst>
              <a:path w="2603500" h="603250">
                <a:moveTo>
                  <a:pt x="31749" y="0"/>
                </a:moveTo>
                <a:lnTo>
                  <a:pt x="2571751" y="0"/>
                </a:lnTo>
                <a:cubicBezTo>
                  <a:pt x="2589285" y="0"/>
                  <a:pt x="2603500" y="14215"/>
                  <a:pt x="2603500" y="31749"/>
                </a:cubicBezTo>
                <a:lnTo>
                  <a:pt x="2603500" y="571501"/>
                </a:lnTo>
                <a:cubicBezTo>
                  <a:pt x="2603500" y="589035"/>
                  <a:pt x="2589285" y="603250"/>
                  <a:pt x="2571751" y="603250"/>
                </a:cubicBezTo>
                <a:lnTo>
                  <a:pt x="31749" y="603250"/>
                </a:lnTo>
                <a:cubicBezTo>
                  <a:pt x="14215" y="603250"/>
                  <a:pt x="0" y="589035"/>
                  <a:pt x="0" y="571501"/>
                </a:cubicBezTo>
                <a:lnTo>
                  <a:pt x="0" y="31749"/>
                </a:lnTo>
                <a:cubicBezTo>
                  <a:pt x="0" y="14226"/>
                  <a:pt x="14226" y="0"/>
                  <a:pt x="31749" y="0"/>
                </a:cubicBezTo>
                <a:close/>
              </a:path>
            </a:pathLst>
          </a:custGeom>
          <a:solidFill>
            <a:srgbClr val="FEF2F2"/>
          </a:solidFill>
          <a:ln/>
        </p:spPr>
        <p:txBody>
          <a:bodyPr/>
          <a:lstStyle/>
          <a:p>
            <a:endParaRPr lang="en-US"/>
          </a:p>
        </p:txBody>
      </p:sp>
      <p:sp>
        <p:nvSpPr>
          <p:cNvPr id="12" name="Shape 9"/>
          <p:cNvSpPr/>
          <p:nvPr/>
        </p:nvSpPr>
        <p:spPr>
          <a:xfrm>
            <a:off x="504825" y="3860702"/>
            <a:ext cx="31750" cy="603250"/>
          </a:xfrm>
          <a:custGeom>
            <a:avLst/>
            <a:gdLst/>
            <a:ahLst/>
            <a:cxnLst/>
            <a:rect l="l" t="t" r="r" b="b"/>
            <a:pathLst>
              <a:path w="31750" h="603250">
                <a:moveTo>
                  <a:pt x="31750" y="0"/>
                </a:moveTo>
                <a:lnTo>
                  <a:pt x="31750" y="0"/>
                </a:lnTo>
                <a:lnTo>
                  <a:pt x="31750" y="603250"/>
                </a:lnTo>
                <a:lnTo>
                  <a:pt x="31750" y="603250"/>
                </a:lnTo>
                <a:cubicBezTo>
                  <a:pt x="14227" y="603250"/>
                  <a:pt x="0" y="589023"/>
                  <a:pt x="0" y="571500"/>
                </a:cubicBezTo>
                <a:lnTo>
                  <a:pt x="0" y="31750"/>
                </a:lnTo>
                <a:cubicBezTo>
                  <a:pt x="0" y="14227"/>
                  <a:pt x="14227" y="0"/>
                  <a:pt x="31750" y="0"/>
                </a:cubicBezTo>
                <a:close/>
              </a:path>
            </a:pathLst>
          </a:custGeom>
          <a:solidFill>
            <a:srgbClr val="FB2C36"/>
          </a:solidFill>
          <a:ln/>
        </p:spPr>
        <p:txBody>
          <a:bodyPr/>
          <a:lstStyle/>
          <a:p>
            <a:endParaRPr lang="en-US"/>
          </a:p>
        </p:txBody>
      </p:sp>
      <p:sp>
        <p:nvSpPr>
          <p:cNvPr id="13" name="Text 10"/>
          <p:cNvSpPr/>
          <p:nvPr/>
        </p:nvSpPr>
        <p:spPr>
          <a:xfrm>
            <a:off x="568325" y="3955952"/>
            <a:ext cx="2492375" cy="254000"/>
          </a:xfrm>
          <a:prstGeom prst="rect">
            <a:avLst/>
          </a:prstGeom>
          <a:noFill/>
          <a:ln/>
        </p:spPr>
        <p:txBody>
          <a:bodyPr wrap="square" lIns="0" tIns="0" rIns="0" bIns="0" rtlCol="0" anchor="ctr"/>
          <a:lstStyle/>
          <a:p>
            <a:pPr algn="ctr">
              <a:lnSpc>
                <a:spcPct val="110000"/>
              </a:lnSpc>
            </a:pPr>
            <a:r>
              <a:rPr lang="en-US" sz="1500" b="1" dirty="0">
                <a:solidFill>
                  <a:srgbClr val="E7000B"/>
                </a:solidFill>
                <a:latin typeface="Quattrocento Sans" pitchFamily="34" charset="0"/>
                <a:ea typeface="Quattrocento Sans" pitchFamily="34" charset="-122"/>
                <a:cs typeface="Quattrocento Sans" pitchFamily="34" charset="-120"/>
              </a:rPr>
              <a:t>0</a:t>
            </a:r>
            <a:endParaRPr lang="en-US" sz="1600" dirty="0"/>
          </a:p>
        </p:txBody>
      </p:sp>
      <p:sp>
        <p:nvSpPr>
          <p:cNvPr id="14" name="Text 11"/>
          <p:cNvSpPr/>
          <p:nvPr/>
        </p:nvSpPr>
        <p:spPr>
          <a:xfrm>
            <a:off x="588169" y="4209852"/>
            <a:ext cx="2452688" cy="158750"/>
          </a:xfrm>
          <a:prstGeom prst="rect">
            <a:avLst/>
          </a:prstGeom>
          <a:noFill/>
          <a:ln/>
        </p:spPr>
        <p:txBody>
          <a:bodyPr wrap="square" lIns="0" tIns="0" rIns="0" bIns="0" rtlCol="0" anchor="ctr"/>
          <a:lstStyle/>
          <a:p>
            <a:pPr algn="ctr">
              <a:lnSpc>
                <a:spcPct val="120000"/>
              </a:lnSpc>
            </a:pPr>
            <a:r>
              <a:rPr lang="en-US" sz="875" dirty="0">
                <a:solidFill>
                  <a:srgbClr val="9F0712"/>
                </a:solidFill>
                <a:latin typeface="Quattrocento Sans" pitchFamily="34" charset="0"/>
                <a:ea typeface="Quattrocento Sans" pitchFamily="34" charset="-122"/>
                <a:cs typeface="Quattrocento Sans" pitchFamily="34" charset="-120"/>
              </a:rPr>
              <a:t>No Overlap</a:t>
            </a:r>
            <a:endParaRPr lang="en-US" sz="1600" dirty="0"/>
          </a:p>
        </p:txBody>
      </p:sp>
      <p:sp>
        <p:nvSpPr>
          <p:cNvPr id="15" name="Shape 12"/>
          <p:cNvSpPr/>
          <p:nvPr/>
        </p:nvSpPr>
        <p:spPr>
          <a:xfrm>
            <a:off x="3222625" y="3860702"/>
            <a:ext cx="2603500" cy="603250"/>
          </a:xfrm>
          <a:custGeom>
            <a:avLst/>
            <a:gdLst/>
            <a:ahLst/>
            <a:cxnLst/>
            <a:rect l="l" t="t" r="r" b="b"/>
            <a:pathLst>
              <a:path w="2603500" h="603250">
                <a:moveTo>
                  <a:pt x="31749" y="0"/>
                </a:moveTo>
                <a:lnTo>
                  <a:pt x="2571751" y="0"/>
                </a:lnTo>
                <a:cubicBezTo>
                  <a:pt x="2589285" y="0"/>
                  <a:pt x="2603500" y="14215"/>
                  <a:pt x="2603500" y="31749"/>
                </a:cubicBezTo>
                <a:lnTo>
                  <a:pt x="2603500" y="571501"/>
                </a:lnTo>
                <a:cubicBezTo>
                  <a:pt x="2603500" y="589035"/>
                  <a:pt x="2589285" y="603250"/>
                  <a:pt x="2571751" y="603250"/>
                </a:cubicBezTo>
                <a:lnTo>
                  <a:pt x="31749" y="603250"/>
                </a:lnTo>
                <a:cubicBezTo>
                  <a:pt x="14215" y="603250"/>
                  <a:pt x="0" y="589035"/>
                  <a:pt x="0" y="571501"/>
                </a:cubicBezTo>
                <a:lnTo>
                  <a:pt x="0" y="31749"/>
                </a:lnTo>
                <a:cubicBezTo>
                  <a:pt x="0" y="14226"/>
                  <a:pt x="14226" y="0"/>
                  <a:pt x="31749" y="0"/>
                </a:cubicBezTo>
                <a:close/>
              </a:path>
            </a:pathLst>
          </a:custGeom>
          <a:solidFill>
            <a:srgbClr val="F0FDF4"/>
          </a:solidFill>
          <a:ln/>
        </p:spPr>
        <p:txBody>
          <a:bodyPr/>
          <a:lstStyle/>
          <a:p>
            <a:endParaRPr lang="en-US"/>
          </a:p>
        </p:txBody>
      </p:sp>
      <p:sp>
        <p:nvSpPr>
          <p:cNvPr id="16" name="Shape 13"/>
          <p:cNvSpPr/>
          <p:nvPr/>
        </p:nvSpPr>
        <p:spPr>
          <a:xfrm>
            <a:off x="3222625" y="3860702"/>
            <a:ext cx="31750" cy="603250"/>
          </a:xfrm>
          <a:custGeom>
            <a:avLst/>
            <a:gdLst/>
            <a:ahLst/>
            <a:cxnLst/>
            <a:rect l="l" t="t" r="r" b="b"/>
            <a:pathLst>
              <a:path w="31750" h="603250">
                <a:moveTo>
                  <a:pt x="31750" y="0"/>
                </a:moveTo>
                <a:lnTo>
                  <a:pt x="31750" y="0"/>
                </a:lnTo>
                <a:lnTo>
                  <a:pt x="31750" y="603250"/>
                </a:lnTo>
                <a:lnTo>
                  <a:pt x="31750" y="603250"/>
                </a:lnTo>
                <a:cubicBezTo>
                  <a:pt x="14227" y="603250"/>
                  <a:pt x="0" y="589023"/>
                  <a:pt x="0" y="571500"/>
                </a:cubicBezTo>
                <a:lnTo>
                  <a:pt x="0" y="31750"/>
                </a:lnTo>
                <a:cubicBezTo>
                  <a:pt x="0" y="14227"/>
                  <a:pt x="14227" y="0"/>
                  <a:pt x="31750" y="0"/>
                </a:cubicBezTo>
                <a:close/>
              </a:path>
            </a:pathLst>
          </a:custGeom>
          <a:solidFill>
            <a:srgbClr val="00C950"/>
          </a:solidFill>
          <a:ln/>
        </p:spPr>
        <p:txBody>
          <a:bodyPr/>
          <a:lstStyle/>
          <a:p>
            <a:endParaRPr lang="en-US"/>
          </a:p>
        </p:txBody>
      </p:sp>
      <p:sp>
        <p:nvSpPr>
          <p:cNvPr id="17" name="Text 14"/>
          <p:cNvSpPr/>
          <p:nvPr/>
        </p:nvSpPr>
        <p:spPr>
          <a:xfrm>
            <a:off x="3286125" y="3955952"/>
            <a:ext cx="2492375" cy="254000"/>
          </a:xfrm>
          <a:prstGeom prst="rect">
            <a:avLst/>
          </a:prstGeom>
          <a:noFill/>
          <a:ln/>
        </p:spPr>
        <p:txBody>
          <a:bodyPr wrap="square" lIns="0" tIns="0" rIns="0" bIns="0" rtlCol="0" anchor="ctr"/>
          <a:lstStyle/>
          <a:p>
            <a:pPr algn="ctr">
              <a:lnSpc>
                <a:spcPct val="110000"/>
              </a:lnSpc>
            </a:pPr>
            <a:r>
              <a:rPr lang="en-US" sz="1500" b="1" dirty="0">
                <a:solidFill>
                  <a:srgbClr val="00A63E"/>
                </a:solidFill>
                <a:latin typeface="Quattrocento Sans" pitchFamily="34" charset="0"/>
                <a:ea typeface="Quattrocento Sans" pitchFamily="34" charset="-122"/>
                <a:cs typeface="Quattrocento Sans" pitchFamily="34" charset="-120"/>
              </a:rPr>
              <a:t>1</a:t>
            </a:r>
            <a:endParaRPr lang="en-US" sz="1600" dirty="0"/>
          </a:p>
        </p:txBody>
      </p:sp>
      <p:sp>
        <p:nvSpPr>
          <p:cNvPr id="18" name="Text 15"/>
          <p:cNvSpPr/>
          <p:nvPr/>
        </p:nvSpPr>
        <p:spPr>
          <a:xfrm>
            <a:off x="3305969" y="4209852"/>
            <a:ext cx="2452688" cy="158750"/>
          </a:xfrm>
          <a:prstGeom prst="rect">
            <a:avLst/>
          </a:prstGeom>
          <a:noFill/>
          <a:ln/>
        </p:spPr>
        <p:txBody>
          <a:bodyPr wrap="square" lIns="0" tIns="0" rIns="0" bIns="0" rtlCol="0" anchor="ctr"/>
          <a:lstStyle/>
          <a:p>
            <a:pPr algn="ctr">
              <a:lnSpc>
                <a:spcPct val="120000"/>
              </a:lnSpc>
            </a:pPr>
            <a:r>
              <a:rPr lang="en-US" sz="875" dirty="0">
                <a:solidFill>
                  <a:srgbClr val="016630"/>
                </a:solidFill>
                <a:latin typeface="Quattrocento Sans" pitchFamily="34" charset="0"/>
                <a:ea typeface="Quattrocento Sans" pitchFamily="34" charset="-122"/>
                <a:cs typeface="Quattrocento Sans" pitchFamily="34" charset="-120"/>
              </a:rPr>
              <a:t>Perfect Match</a:t>
            </a:r>
            <a:endParaRPr lang="en-US" sz="1600" dirty="0"/>
          </a:p>
        </p:txBody>
      </p:sp>
      <p:sp>
        <p:nvSpPr>
          <p:cNvPr id="19" name="Shape 16"/>
          <p:cNvSpPr/>
          <p:nvPr/>
        </p:nvSpPr>
        <p:spPr>
          <a:xfrm>
            <a:off x="317500" y="4762306"/>
            <a:ext cx="5683250" cy="1651000"/>
          </a:xfrm>
          <a:custGeom>
            <a:avLst/>
            <a:gdLst/>
            <a:ahLst/>
            <a:cxnLst/>
            <a:rect l="l" t="t" r="r" b="b"/>
            <a:pathLst>
              <a:path w="5683250" h="1651000">
                <a:moveTo>
                  <a:pt x="63497" y="0"/>
                </a:moveTo>
                <a:lnTo>
                  <a:pt x="5619753" y="0"/>
                </a:lnTo>
                <a:cubicBezTo>
                  <a:pt x="5654821" y="0"/>
                  <a:pt x="5683250" y="28429"/>
                  <a:pt x="5683250" y="63497"/>
                </a:cubicBezTo>
                <a:lnTo>
                  <a:pt x="5683250" y="1587503"/>
                </a:lnTo>
                <a:cubicBezTo>
                  <a:pt x="5683250" y="1622571"/>
                  <a:pt x="5654821" y="1651000"/>
                  <a:pt x="5619753" y="1651000"/>
                </a:cubicBezTo>
                <a:lnTo>
                  <a:pt x="63497" y="1651000"/>
                </a:lnTo>
                <a:cubicBezTo>
                  <a:pt x="28429" y="1651000"/>
                  <a:pt x="0" y="1622571"/>
                  <a:pt x="0" y="1587503"/>
                </a:cubicBezTo>
                <a:lnTo>
                  <a:pt x="0" y="63497"/>
                </a:lnTo>
                <a:cubicBezTo>
                  <a:pt x="0" y="28452"/>
                  <a:pt x="28452" y="0"/>
                  <a:pt x="63497" y="0"/>
                </a:cubicBezTo>
                <a:close/>
              </a:path>
            </a:pathLst>
          </a:custGeom>
          <a:solidFill>
            <a:srgbClr val="8B0000"/>
          </a:solidFill>
          <a:ln/>
        </p:spPr>
        <p:txBody>
          <a:bodyPr/>
          <a:lstStyle/>
          <a:p>
            <a:endParaRPr lang="en-US"/>
          </a:p>
        </p:txBody>
      </p:sp>
      <p:sp>
        <p:nvSpPr>
          <p:cNvPr id="20" name="Shape 17"/>
          <p:cNvSpPr/>
          <p:nvPr/>
        </p:nvSpPr>
        <p:spPr>
          <a:xfrm>
            <a:off x="515938" y="4952806"/>
            <a:ext cx="119063" cy="158750"/>
          </a:xfrm>
          <a:custGeom>
            <a:avLst/>
            <a:gdLst/>
            <a:ahLst/>
            <a:cxnLst/>
            <a:rect l="l" t="t" r="r" b="b"/>
            <a:pathLst>
              <a:path w="119063" h="158750">
                <a:moveTo>
                  <a:pt x="19844" y="0"/>
                </a:moveTo>
                <a:cubicBezTo>
                  <a:pt x="8899" y="0"/>
                  <a:pt x="0" y="8899"/>
                  <a:pt x="0" y="19844"/>
                </a:cubicBezTo>
                <a:lnTo>
                  <a:pt x="0" y="138906"/>
                </a:lnTo>
                <a:cubicBezTo>
                  <a:pt x="0" y="149851"/>
                  <a:pt x="8899" y="158750"/>
                  <a:pt x="19844" y="158750"/>
                </a:cubicBezTo>
                <a:lnTo>
                  <a:pt x="99219" y="158750"/>
                </a:lnTo>
                <a:cubicBezTo>
                  <a:pt x="110164" y="158750"/>
                  <a:pt x="119062" y="149851"/>
                  <a:pt x="119062" y="138906"/>
                </a:cubicBezTo>
                <a:lnTo>
                  <a:pt x="119062" y="19844"/>
                </a:lnTo>
                <a:cubicBezTo>
                  <a:pt x="119062" y="8899"/>
                  <a:pt x="110164" y="0"/>
                  <a:pt x="99219" y="0"/>
                </a:cubicBezTo>
                <a:lnTo>
                  <a:pt x="19844" y="0"/>
                </a:lnTo>
                <a:close/>
                <a:moveTo>
                  <a:pt x="29766" y="19844"/>
                </a:moveTo>
                <a:lnTo>
                  <a:pt x="89297" y="19844"/>
                </a:lnTo>
                <a:cubicBezTo>
                  <a:pt x="94785" y="19844"/>
                  <a:pt x="99219" y="24278"/>
                  <a:pt x="99219" y="29766"/>
                </a:cubicBezTo>
                <a:lnTo>
                  <a:pt x="99219" y="39688"/>
                </a:lnTo>
                <a:cubicBezTo>
                  <a:pt x="99219" y="45176"/>
                  <a:pt x="94785" y="49609"/>
                  <a:pt x="89297" y="49609"/>
                </a:cubicBezTo>
                <a:lnTo>
                  <a:pt x="29766" y="49609"/>
                </a:lnTo>
                <a:cubicBezTo>
                  <a:pt x="24278" y="49609"/>
                  <a:pt x="19844" y="45176"/>
                  <a:pt x="19844" y="39688"/>
                </a:cubicBezTo>
                <a:lnTo>
                  <a:pt x="19844" y="29766"/>
                </a:lnTo>
                <a:cubicBezTo>
                  <a:pt x="19844" y="24278"/>
                  <a:pt x="24278" y="19844"/>
                  <a:pt x="29766" y="19844"/>
                </a:cubicBezTo>
                <a:close/>
                <a:moveTo>
                  <a:pt x="34727" y="71934"/>
                </a:moveTo>
                <a:cubicBezTo>
                  <a:pt x="34727" y="76041"/>
                  <a:pt x="31392" y="79375"/>
                  <a:pt x="27285" y="79375"/>
                </a:cubicBezTo>
                <a:cubicBezTo>
                  <a:pt x="23178" y="79375"/>
                  <a:pt x="19844" y="76041"/>
                  <a:pt x="19844" y="71934"/>
                </a:cubicBezTo>
                <a:cubicBezTo>
                  <a:pt x="19844" y="67827"/>
                  <a:pt x="23178" y="64492"/>
                  <a:pt x="27285" y="64492"/>
                </a:cubicBezTo>
                <a:cubicBezTo>
                  <a:pt x="31392" y="64492"/>
                  <a:pt x="34727" y="67827"/>
                  <a:pt x="34727" y="71934"/>
                </a:cubicBezTo>
                <a:close/>
                <a:moveTo>
                  <a:pt x="59531" y="79375"/>
                </a:moveTo>
                <a:cubicBezTo>
                  <a:pt x="55424" y="79375"/>
                  <a:pt x="52090" y="76041"/>
                  <a:pt x="52090" y="71934"/>
                </a:cubicBezTo>
                <a:cubicBezTo>
                  <a:pt x="52090" y="67827"/>
                  <a:pt x="55424" y="64492"/>
                  <a:pt x="59531" y="64492"/>
                </a:cubicBezTo>
                <a:cubicBezTo>
                  <a:pt x="63638" y="64492"/>
                  <a:pt x="66973" y="67827"/>
                  <a:pt x="66973" y="71934"/>
                </a:cubicBezTo>
                <a:cubicBezTo>
                  <a:pt x="66973" y="76041"/>
                  <a:pt x="63638" y="79375"/>
                  <a:pt x="59531" y="79375"/>
                </a:cubicBezTo>
                <a:close/>
                <a:moveTo>
                  <a:pt x="99219" y="71934"/>
                </a:moveTo>
                <a:cubicBezTo>
                  <a:pt x="99219" y="76041"/>
                  <a:pt x="95884" y="79375"/>
                  <a:pt x="91777" y="79375"/>
                </a:cubicBezTo>
                <a:cubicBezTo>
                  <a:pt x="87670" y="79375"/>
                  <a:pt x="84336" y="76041"/>
                  <a:pt x="84336" y="71934"/>
                </a:cubicBezTo>
                <a:cubicBezTo>
                  <a:pt x="84336" y="67827"/>
                  <a:pt x="87670" y="64492"/>
                  <a:pt x="91777" y="64492"/>
                </a:cubicBezTo>
                <a:cubicBezTo>
                  <a:pt x="95884" y="64492"/>
                  <a:pt x="99219" y="67827"/>
                  <a:pt x="99219" y="71934"/>
                </a:cubicBezTo>
                <a:close/>
                <a:moveTo>
                  <a:pt x="27285" y="109141"/>
                </a:moveTo>
                <a:cubicBezTo>
                  <a:pt x="23178" y="109141"/>
                  <a:pt x="19844" y="105806"/>
                  <a:pt x="19844" y="101699"/>
                </a:cubicBezTo>
                <a:cubicBezTo>
                  <a:pt x="19844" y="97592"/>
                  <a:pt x="23178" y="94258"/>
                  <a:pt x="27285" y="94258"/>
                </a:cubicBezTo>
                <a:cubicBezTo>
                  <a:pt x="31392" y="94258"/>
                  <a:pt x="34727" y="97592"/>
                  <a:pt x="34727" y="101699"/>
                </a:cubicBezTo>
                <a:cubicBezTo>
                  <a:pt x="34727" y="105806"/>
                  <a:pt x="31392" y="109141"/>
                  <a:pt x="27285" y="109141"/>
                </a:cubicBezTo>
                <a:close/>
                <a:moveTo>
                  <a:pt x="66973" y="101699"/>
                </a:moveTo>
                <a:cubicBezTo>
                  <a:pt x="66973" y="105806"/>
                  <a:pt x="63638" y="109141"/>
                  <a:pt x="59531" y="109141"/>
                </a:cubicBezTo>
                <a:cubicBezTo>
                  <a:pt x="55424" y="109141"/>
                  <a:pt x="52090" y="105806"/>
                  <a:pt x="52090" y="101699"/>
                </a:cubicBezTo>
                <a:cubicBezTo>
                  <a:pt x="52090" y="97592"/>
                  <a:pt x="55424" y="94258"/>
                  <a:pt x="59531" y="94258"/>
                </a:cubicBezTo>
                <a:cubicBezTo>
                  <a:pt x="63638" y="94258"/>
                  <a:pt x="66973" y="97592"/>
                  <a:pt x="66973" y="101699"/>
                </a:cubicBezTo>
                <a:close/>
                <a:moveTo>
                  <a:pt x="91777" y="109141"/>
                </a:moveTo>
                <a:cubicBezTo>
                  <a:pt x="87670" y="109141"/>
                  <a:pt x="84336" y="105806"/>
                  <a:pt x="84336" y="101699"/>
                </a:cubicBezTo>
                <a:cubicBezTo>
                  <a:pt x="84336" y="97592"/>
                  <a:pt x="87670" y="94258"/>
                  <a:pt x="91777" y="94258"/>
                </a:cubicBezTo>
                <a:cubicBezTo>
                  <a:pt x="95884" y="94258"/>
                  <a:pt x="99219" y="97592"/>
                  <a:pt x="99219" y="101699"/>
                </a:cubicBezTo>
                <a:cubicBezTo>
                  <a:pt x="99219" y="105806"/>
                  <a:pt x="95884" y="109141"/>
                  <a:pt x="91777" y="109141"/>
                </a:cubicBezTo>
                <a:close/>
                <a:moveTo>
                  <a:pt x="19844" y="131465"/>
                </a:moveTo>
                <a:cubicBezTo>
                  <a:pt x="19844" y="127341"/>
                  <a:pt x="23161" y="124023"/>
                  <a:pt x="27285" y="124023"/>
                </a:cubicBezTo>
                <a:lnTo>
                  <a:pt x="62012" y="124023"/>
                </a:lnTo>
                <a:cubicBezTo>
                  <a:pt x="66135" y="124023"/>
                  <a:pt x="69453" y="127341"/>
                  <a:pt x="69453" y="131465"/>
                </a:cubicBezTo>
                <a:cubicBezTo>
                  <a:pt x="69453" y="135589"/>
                  <a:pt x="66135" y="138906"/>
                  <a:pt x="62012" y="138906"/>
                </a:cubicBezTo>
                <a:lnTo>
                  <a:pt x="27285" y="138906"/>
                </a:lnTo>
                <a:cubicBezTo>
                  <a:pt x="23161" y="138906"/>
                  <a:pt x="19844" y="135589"/>
                  <a:pt x="19844" y="131465"/>
                </a:cubicBezTo>
                <a:close/>
                <a:moveTo>
                  <a:pt x="91777" y="124023"/>
                </a:moveTo>
                <a:cubicBezTo>
                  <a:pt x="95901" y="124023"/>
                  <a:pt x="99219" y="127341"/>
                  <a:pt x="99219" y="131465"/>
                </a:cubicBezTo>
                <a:cubicBezTo>
                  <a:pt x="99219" y="135589"/>
                  <a:pt x="95901" y="138906"/>
                  <a:pt x="91777" y="138906"/>
                </a:cubicBezTo>
                <a:cubicBezTo>
                  <a:pt x="87654" y="138906"/>
                  <a:pt x="84336" y="135589"/>
                  <a:pt x="84336" y="131465"/>
                </a:cubicBezTo>
                <a:cubicBezTo>
                  <a:pt x="84336" y="127341"/>
                  <a:pt x="87654" y="124023"/>
                  <a:pt x="91777" y="124023"/>
                </a:cubicBezTo>
                <a:close/>
              </a:path>
            </a:pathLst>
          </a:custGeom>
          <a:solidFill>
            <a:srgbClr val="FFFFFF"/>
          </a:solidFill>
          <a:ln/>
        </p:spPr>
        <p:txBody>
          <a:bodyPr/>
          <a:lstStyle/>
          <a:p>
            <a:endParaRPr lang="en-US"/>
          </a:p>
        </p:txBody>
      </p:sp>
      <p:sp>
        <p:nvSpPr>
          <p:cNvPr id="21" name="Text 18"/>
          <p:cNvSpPr/>
          <p:nvPr/>
        </p:nvSpPr>
        <p:spPr>
          <a:xfrm>
            <a:off x="674688" y="4921056"/>
            <a:ext cx="524668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Step-by-Step Calculation</a:t>
            </a:r>
            <a:endParaRPr lang="en-US" sz="1600" dirty="0"/>
          </a:p>
        </p:txBody>
      </p:sp>
      <p:sp>
        <p:nvSpPr>
          <p:cNvPr id="22" name="Shape 19"/>
          <p:cNvSpPr/>
          <p:nvPr/>
        </p:nvSpPr>
        <p:spPr>
          <a:xfrm>
            <a:off x="476250" y="5254431"/>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23" name="Text 20"/>
          <p:cNvSpPr/>
          <p:nvPr/>
        </p:nvSpPr>
        <p:spPr>
          <a:xfrm>
            <a:off x="448469" y="5254431"/>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1</a:t>
            </a:r>
            <a:endParaRPr lang="en-US" sz="1600" dirty="0"/>
          </a:p>
        </p:txBody>
      </p:sp>
      <p:sp>
        <p:nvSpPr>
          <p:cNvPr id="24" name="Text 21"/>
          <p:cNvSpPr/>
          <p:nvPr/>
        </p:nvSpPr>
        <p:spPr>
          <a:xfrm>
            <a:off x="730250" y="5238556"/>
            <a:ext cx="27384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Find intersection:</a:t>
            </a:r>
            <a:r>
              <a:rPr lang="en-US" sz="1000" dirty="0">
                <a:solidFill>
                  <a:srgbClr val="FFFFFF"/>
                </a:solidFill>
                <a:latin typeface="Quattrocento Sans" pitchFamily="34" charset="0"/>
                <a:ea typeface="Quattrocento Sans" pitchFamily="34" charset="-122"/>
                <a:cs typeface="Quattrocento Sans" pitchFamily="34" charset="-120"/>
              </a:rPr>
              <a:t> max(x₁ₘᵢₙ, x₂ₘᵢₙ), max(y₁ₘᵢₙ, y₂ₘᵢₙ)</a:t>
            </a:r>
            <a:endParaRPr lang="en-US" sz="1600" dirty="0"/>
          </a:p>
        </p:txBody>
      </p:sp>
      <p:sp>
        <p:nvSpPr>
          <p:cNvPr id="25" name="Shape 22"/>
          <p:cNvSpPr/>
          <p:nvPr/>
        </p:nvSpPr>
        <p:spPr>
          <a:xfrm>
            <a:off x="476250" y="5524306"/>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26" name="Text 23"/>
          <p:cNvSpPr/>
          <p:nvPr/>
        </p:nvSpPr>
        <p:spPr>
          <a:xfrm>
            <a:off x="448469" y="5524306"/>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2</a:t>
            </a:r>
            <a:endParaRPr lang="en-US" sz="1600" dirty="0"/>
          </a:p>
        </p:txBody>
      </p:sp>
      <p:sp>
        <p:nvSpPr>
          <p:cNvPr id="27" name="Text 24"/>
          <p:cNvSpPr/>
          <p:nvPr/>
        </p:nvSpPr>
        <p:spPr>
          <a:xfrm>
            <a:off x="730250" y="5508431"/>
            <a:ext cx="234950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Calculate intersection area:</a:t>
            </a:r>
            <a:r>
              <a:rPr lang="en-US" sz="1000" dirty="0">
                <a:solidFill>
                  <a:srgbClr val="FFFFFF"/>
                </a:solidFill>
                <a:latin typeface="Quattrocento Sans" pitchFamily="34" charset="0"/>
                <a:ea typeface="Quattrocento Sans" pitchFamily="34" charset="-122"/>
                <a:cs typeface="Quattrocento Sans" pitchFamily="34" charset="-120"/>
              </a:rPr>
              <a:t> width × height</a:t>
            </a:r>
            <a:endParaRPr lang="en-US" sz="1600" dirty="0"/>
          </a:p>
        </p:txBody>
      </p:sp>
      <p:sp>
        <p:nvSpPr>
          <p:cNvPr id="28" name="Shape 25"/>
          <p:cNvSpPr/>
          <p:nvPr/>
        </p:nvSpPr>
        <p:spPr>
          <a:xfrm>
            <a:off x="476250" y="5794181"/>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29" name="Text 26"/>
          <p:cNvSpPr/>
          <p:nvPr/>
        </p:nvSpPr>
        <p:spPr>
          <a:xfrm>
            <a:off x="448469" y="5794181"/>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3</a:t>
            </a:r>
            <a:endParaRPr lang="en-US" sz="1600" dirty="0"/>
          </a:p>
        </p:txBody>
      </p:sp>
      <p:sp>
        <p:nvSpPr>
          <p:cNvPr id="30" name="Text 27"/>
          <p:cNvSpPr/>
          <p:nvPr/>
        </p:nvSpPr>
        <p:spPr>
          <a:xfrm>
            <a:off x="730250" y="5778306"/>
            <a:ext cx="2460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Calculate union:</a:t>
            </a:r>
            <a:r>
              <a:rPr lang="en-US" sz="1000" dirty="0">
                <a:solidFill>
                  <a:srgbClr val="FFFFFF"/>
                </a:solidFill>
                <a:latin typeface="Quattrocento Sans" pitchFamily="34" charset="0"/>
                <a:ea typeface="Quattrocento Sans" pitchFamily="34" charset="-122"/>
                <a:cs typeface="Quattrocento Sans" pitchFamily="34" charset="-120"/>
              </a:rPr>
              <a:t> Area₁ + Area₂ - Intersection</a:t>
            </a:r>
            <a:endParaRPr lang="en-US" sz="1600" dirty="0"/>
          </a:p>
        </p:txBody>
      </p:sp>
      <p:sp>
        <p:nvSpPr>
          <p:cNvPr id="31" name="Shape 28"/>
          <p:cNvSpPr/>
          <p:nvPr/>
        </p:nvSpPr>
        <p:spPr>
          <a:xfrm>
            <a:off x="476250" y="6064056"/>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FFFFFF"/>
          </a:solidFill>
          <a:ln/>
        </p:spPr>
        <p:txBody>
          <a:bodyPr/>
          <a:lstStyle/>
          <a:p>
            <a:endParaRPr lang="en-US"/>
          </a:p>
        </p:txBody>
      </p:sp>
      <p:sp>
        <p:nvSpPr>
          <p:cNvPr id="32" name="Text 29"/>
          <p:cNvSpPr/>
          <p:nvPr/>
        </p:nvSpPr>
        <p:spPr>
          <a:xfrm>
            <a:off x="448469" y="6064056"/>
            <a:ext cx="246063" cy="190500"/>
          </a:xfrm>
          <a:prstGeom prst="rect">
            <a:avLst/>
          </a:prstGeom>
          <a:noFill/>
          <a:ln/>
        </p:spPr>
        <p:txBody>
          <a:bodyPr wrap="square" lIns="0" tIns="0" rIns="0" bIns="0" rtlCol="0" anchor="ctr"/>
          <a:lstStyle/>
          <a:p>
            <a:pPr algn="ctr">
              <a:lnSpc>
                <a:spcPct val="120000"/>
              </a:lnSpc>
            </a:pPr>
            <a:r>
              <a:rPr lang="en-US" sz="875" b="1" dirty="0">
                <a:solidFill>
                  <a:srgbClr val="8B0000"/>
                </a:solidFill>
                <a:latin typeface="Quattrocento Sans" pitchFamily="34" charset="0"/>
                <a:ea typeface="Quattrocento Sans" pitchFamily="34" charset="-122"/>
                <a:cs typeface="Quattrocento Sans" pitchFamily="34" charset="-120"/>
              </a:rPr>
              <a:t>4</a:t>
            </a:r>
            <a:endParaRPr lang="en-US" sz="1600" dirty="0"/>
          </a:p>
        </p:txBody>
      </p:sp>
      <p:sp>
        <p:nvSpPr>
          <p:cNvPr id="33" name="Text 30"/>
          <p:cNvSpPr/>
          <p:nvPr/>
        </p:nvSpPr>
        <p:spPr>
          <a:xfrm>
            <a:off x="730250" y="6048181"/>
            <a:ext cx="1952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Compute IoU:</a:t>
            </a:r>
            <a:r>
              <a:rPr lang="en-US" sz="1000" dirty="0">
                <a:solidFill>
                  <a:srgbClr val="FFFFFF"/>
                </a:solidFill>
                <a:latin typeface="Quattrocento Sans" pitchFamily="34" charset="0"/>
                <a:ea typeface="Quattrocento Sans" pitchFamily="34" charset="-122"/>
                <a:cs typeface="Quattrocento Sans" pitchFamily="34" charset="-120"/>
              </a:rPr>
              <a:t> Intersection / Union</a:t>
            </a:r>
            <a:endParaRPr lang="en-US" sz="1600" dirty="0"/>
          </a:p>
        </p:txBody>
      </p:sp>
      <p:sp>
        <p:nvSpPr>
          <p:cNvPr id="34" name="Shape 31"/>
          <p:cNvSpPr/>
          <p:nvPr/>
        </p:nvSpPr>
        <p:spPr>
          <a:xfrm>
            <a:off x="6197600" y="990600"/>
            <a:ext cx="5672137" cy="3282950"/>
          </a:xfrm>
          <a:custGeom>
            <a:avLst/>
            <a:gdLst/>
            <a:ahLst/>
            <a:cxnLst/>
            <a:rect l="l" t="t" r="r" b="b"/>
            <a:pathLst>
              <a:path w="5672137" h="3282950">
                <a:moveTo>
                  <a:pt x="63492" y="0"/>
                </a:moveTo>
                <a:lnTo>
                  <a:pt x="5608645" y="0"/>
                </a:lnTo>
                <a:cubicBezTo>
                  <a:pt x="5643711" y="0"/>
                  <a:pt x="5672137" y="28426"/>
                  <a:pt x="5672137" y="63492"/>
                </a:cubicBezTo>
                <a:lnTo>
                  <a:pt x="5672137" y="3219458"/>
                </a:lnTo>
                <a:cubicBezTo>
                  <a:pt x="5672137" y="3254524"/>
                  <a:pt x="5643711" y="3282950"/>
                  <a:pt x="5608645" y="3282950"/>
                </a:cubicBezTo>
                <a:lnTo>
                  <a:pt x="63492" y="3282950"/>
                </a:lnTo>
                <a:cubicBezTo>
                  <a:pt x="28426" y="3282950"/>
                  <a:pt x="0" y="3254524"/>
                  <a:pt x="0" y="3219458"/>
                </a:cubicBezTo>
                <a:lnTo>
                  <a:pt x="0" y="63492"/>
                </a:lnTo>
                <a:cubicBezTo>
                  <a:pt x="0" y="28450"/>
                  <a:pt x="28450" y="0"/>
                  <a:pt x="63492" y="0"/>
                </a:cubicBezTo>
                <a:close/>
              </a:path>
            </a:pathLst>
          </a:custGeom>
          <a:solidFill>
            <a:srgbClr val="FFFFFF"/>
          </a:solidFill>
          <a:ln w="20320">
            <a:solidFill>
              <a:srgbClr val="1F2937"/>
            </a:solidFill>
            <a:prstDash val="solid"/>
          </a:ln>
        </p:spPr>
        <p:txBody>
          <a:bodyPr/>
          <a:lstStyle/>
          <a:p>
            <a:endParaRPr lang="en-US"/>
          </a:p>
        </p:txBody>
      </p:sp>
      <p:sp>
        <p:nvSpPr>
          <p:cNvPr id="35" name="Text 32"/>
          <p:cNvSpPr/>
          <p:nvPr/>
        </p:nvSpPr>
        <p:spPr>
          <a:xfrm>
            <a:off x="6362700" y="1155705"/>
            <a:ext cx="5421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IoU Examples</a:t>
            </a:r>
            <a:endParaRPr lang="en-US" sz="1600" dirty="0"/>
          </a:p>
        </p:txBody>
      </p:sp>
      <p:pic>
        <p:nvPicPr>
          <p:cNvPr id="36" name="Image 1" descr="https://kimi-web-img.moonshot.cn/img/lh4.googleusercontent.com/824e17f224d59017cf270f7b36cf8dcce2442386"/>
          <p:cNvPicPr>
            <a:picLocks noChangeAspect="1"/>
          </p:cNvPicPr>
          <p:nvPr/>
        </p:nvPicPr>
        <p:blipFill>
          <a:blip r:embed="rId4"/>
          <a:srcRect l="-21345" t="3601" r="-65348" b="5547"/>
          <a:stretch>
            <a:fillRect/>
          </a:stretch>
        </p:blipFill>
        <p:spPr>
          <a:xfrm>
            <a:off x="6362699" y="1317631"/>
            <a:ext cx="6263409" cy="1786886"/>
          </a:xfrm>
          <a:prstGeom prst="roundRect">
            <a:avLst>
              <a:gd name="adj" fmla="val 2083"/>
            </a:avLst>
          </a:prstGeom>
        </p:spPr>
      </p:pic>
      <p:sp>
        <p:nvSpPr>
          <p:cNvPr id="37" name="Shape 33"/>
          <p:cNvSpPr/>
          <p:nvPr/>
        </p:nvSpPr>
        <p:spPr>
          <a:xfrm>
            <a:off x="6362700" y="3155955"/>
            <a:ext cx="2635250" cy="444500"/>
          </a:xfrm>
          <a:custGeom>
            <a:avLst/>
            <a:gdLst/>
            <a:ahLst/>
            <a:cxnLst/>
            <a:rect l="l" t="t" r="r" b="b"/>
            <a:pathLst>
              <a:path w="2635250" h="444500">
                <a:moveTo>
                  <a:pt x="31751" y="0"/>
                </a:moveTo>
                <a:lnTo>
                  <a:pt x="2603499" y="0"/>
                </a:lnTo>
                <a:cubicBezTo>
                  <a:pt x="2621035" y="0"/>
                  <a:pt x="2635250" y="14215"/>
                  <a:pt x="2635250" y="31751"/>
                </a:cubicBezTo>
                <a:lnTo>
                  <a:pt x="2635250" y="412749"/>
                </a:lnTo>
                <a:cubicBezTo>
                  <a:pt x="2635250" y="430285"/>
                  <a:pt x="2621035" y="444500"/>
                  <a:pt x="2603499" y="444500"/>
                </a:cubicBezTo>
                <a:lnTo>
                  <a:pt x="31751" y="444500"/>
                </a:lnTo>
                <a:cubicBezTo>
                  <a:pt x="14215" y="444500"/>
                  <a:pt x="0" y="430285"/>
                  <a:pt x="0" y="412749"/>
                </a:cubicBezTo>
                <a:lnTo>
                  <a:pt x="0" y="31751"/>
                </a:lnTo>
                <a:cubicBezTo>
                  <a:pt x="0" y="14227"/>
                  <a:pt x="14227" y="0"/>
                  <a:pt x="31751" y="0"/>
                </a:cubicBezTo>
                <a:close/>
              </a:path>
            </a:pathLst>
          </a:custGeom>
          <a:solidFill>
            <a:srgbClr val="F3F4F6"/>
          </a:solidFill>
          <a:ln/>
        </p:spPr>
        <p:txBody>
          <a:bodyPr/>
          <a:lstStyle/>
          <a:p>
            <a:endParaRPr lang="en-US"/>
          </a:p>
        </p:txBody>
      </p:sp>
      <p:sp>
        <p:nvSpPr>
          <p:cNvPr id="38" name="Text 34"/>
          <p:cNvSpPr/>
          <p:nvPr/>
        </p:nvSpPr>
        <p:spPr>
          <a:xfrm>
            <a:off x="6398419" y="3219455"/>
            <a:ext cx="2563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IoU = 0.0</a:t>
            </a:r>
            <a:endParaRPr lang="en-US" sz="1600" dirty="0"/>
          </a:p>
        </p:txBody>
      </p:sp>
      <p:sp>
        <p:nvSpPr>
          <p:cNvPr id="39" name="Text 35"/>
          <p:cNvSpPr/>
          <p:nvPr/>
        </p:nvSpPr>
        <p:spPr>
          <a:xfrm>
            <a:off x="6398419" y="3378205"/>
            <a:ext cx="2563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No overlap</a:t>
            </a:r>
            <a:endParaRPr lang="en-US" sz="1600" dirty="0"/>
          </a:p>
        </p:txBody>
      </p:sp>
      <p:sp>
        <p:nvSpPr>
          <p:cNvPr id="40" name="Shape 36"/>
          <p:cNvSpPr/>
          <p:nvPr/>
        </p:nvSpPr>
        <p:spPr>
          <a:xfrm>
            <a:off x="9064625" y="3155955"/>
            <a:ext cx="2635250" cy="444500"/>
          </a:xfrm>
          <a:custGeom>
            <a:avLst/>
            <a:gdLst/>
            <a:ahLst/>
            <a:cxnLst/>
            <a:rect l="l" t="t" r="r" b="b"/>
            <a:pathLst>
              <a:path w="2635250" h="444500">
                <a:moveTo>
                  <a:pt x="31751" y="0"/>
                </a:moveTo>
                <a:lnTo>
                  <a:pt x="2603499" y="0"/>
                </a:lnTo>
                <a:cubicBezTo>
                  <a:pt x="2621035" y="0"/>
                  <a:pt x="2635250" y="14215"/>
                  <a:pt x="2635250" y="31751"/>
                </a:cubicBezTo>
                <a:lnTo>
                  <a:pt x="2635250" y="412749"/>
                </a:lnTo>
                <a:cubicBezTo>
                  <a:pt x="2635250" y="430285"/>
                  <a:pt x="2621035" y="444500"/>
                  <a:pt x="2603499" y="444500"/>
                </a:cubicBezTo>
                <a:lnTo>
                  <a:pt x="31751" y="444500"/>
                </a:lnTo>
                <a:cubicBezTo>
                  <a:pt x="14215" y="444500"/>
                  <a:pt x="0" y="430285"/>
                  <a:pt x="0" y="412749"/>
                </a:cubicBezTo>
                <a:lnTo>
                  <a:pt x="0" y="31751"/>
                </a:lnTo>
                <a:cubicBezTo>
                  <a:pt x="0" y="14227"/>
                  <a:pt x="14227" y="0"/>
                  <a:pt x="31751" y="0"/>
                </a:cubicBezTo>
                <a:close/>
              </a:path>
            </a:pathLst>
          </a:custGeom>
          <a:solidFill>
            <a:srgbClr val="F3F4F6"/>
          </a:solidFill>
          <a:ln/>
        </p:spPr>
        <p:txBody>
          <a:bodyPr/>
          <a:lstStyle/>
          <a:p>
            <a:endParaRPr lang="en-US"/>
          </a:p>
        </p:txBody>
      </p:sp>
      <p:sp>
        <p:nvSpPr>
          <p:cNvPr id="41" name="Text 37"/>
          <p:cNvSpPr/>
          <p:nvPr/>
        </p:nvSpPr>
        <p:spPr>
          <a:xfrm>
            <a:off x="9100344" y="3219455"/>
            <a:ext cx="2563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IoU = 0.08</a:t>
            </a:r>
            <a:endParaRPr lang="en-US" sz="1600" dirty="0"/>
          </a:p>
        </p:txBody>
      </p:sp>
      <p:sp>
        <p:nvSpPr>
          <p:cNvPr id="42" name="Text 38"/>
          <p:cNvSpPr/>
          <p:nvPr/>
        </p:nvSpPr>
        <p:spPr>
          <a:xfrm>
            <a:off x="9100344" y="3378205"/>
            <a:ext cx="2563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Minimal overlap</a:t>
            </a:r>
            <a:endParaRPr lang="en-US" sz="1600" dirty="0"/>
          </a:p>
        </p:txBody>
      </p:sp>
      <p:sp>
        <p:nvSpPr>
          <p:cNvPr id="43" name="Shape 39"/>
          <p:cNvSpPr/>
          <p:nvPr/>
        </p:nvSpPr>
        <p:spPr>
          <a:xfrm>
            <a:off x="6362700" y="3663955"/>
            <a:ext cx="2635250" cy="444500"/>
          </a:xfrm>
          <a:custGeom>
            <a:avLst/>
            <a:gdLst/>
            <a:ahLst/>
            <a:cxnLst/>
            <a:rect l="l" t="t" r="r" b="b"/>
            <a:pathLst>
              <a:path w="2635250" h="444500">
                <a:moveTo>
                  <a:pt x="31751" y="0"/>
                </a:moveTo>
                <a:lnTo>
                  <a:pt x="2603499" y="0"/>
                </a:lnTo>
                <a:cubicBezTo>
                  <a:pt x="2621035" y="0"/>
                  <a:pt x="2635250" y="14215"/>
                  <a:pt x="2635250" y="31751"/>
                </a:cubicBezTo>
                <a:lnTo>
                  <a:pt x="2635250" y="412749"/>
                </a:lnTo>
                <a:cubicBezTo>
                  <a:pt x="2635250" y="430285"/>
                  <a:pt x="2621035" y="444500"/>
                  <a:pt x="2603499" y="444500"/>
                </a:cubicBezTo>
                <a:lnTo>
                  <a:pt x="31751" y="444500"/>
                </a:lnTo>
                <a:cubicBezTo>
                  <a:pt x="14215" y="444500"/>
                  <a:pt x="0" y="430285"/>
                  <a:pt x="0" y="412749"/>
                </a:cubicBezTo>
                <a:lnTo>
                  <a:pt x="0" y="31751"/>
                </a:lnTo>
                <a:cubicBezTo>
                  <a:pt x="0" y="14227"/>
                  <a:pt x="14227" y="0"/>
                  <a:pt x="31751" y="0"/>
                </a:cubicBezTo>
                <a:close/>
              </a:path>
            </a:pathLst>
          </a:custGeom>
          <a:solidFill>
            <a:srgbClr val="F3F4F6"/>
          </a:solidFill>
          <a:ln/>
        </p:spPr>
        <p:txBody>
          <a:bodyPr/>
          <a:lstStyle/>
          <a:p>
            <a:endParaRPr lang="en-US"/>
          </a:p>
        </p:txBody>
      </p:sp>
      <p:sp>
        <p:nvSpPr>
          <p:cNvPr id="44" name="Text 40"/>
          <p:cNvSpPr/>
          <p:nvPr/>
        </p:nvSpPr>
        <p:spPr>
          <a:xfrm>
            <a:off x="6398419" y="3727455"/>
            <a:ext cx="2563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IoU = 0.43</a:t>
            </a:r>
            <a:endParaRPr lang="en-US" sz="1600" dirty="0"/>
          </a:p>
        </p:txBody>
      </p:sp>
      <p:sp>
        <p:nvSpPr>
          <p:cNvPr id="45" name="Text 41"/>
          <p:cNvSpPr/>
          <p:nvPr/>
        </p:nvSpPr>
        <p:spPr>
          <a:xfrm>
            <a:off x="6398419" y="3886205"/>
            <a:ext cx="2563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Moderate overlap</a:t>
            </a:r>
            <a:endParaRPr lang="en-US" sz="1600" dirty="0"/>
          </a:p>
        </p:txBody>
      </p:sp>
      <p:sp>
        <p:nvSpPr>
          <p:cNvPr id="46" name="Shape 42"/>
          <p:cNvSpPr/>
          <p:nvPr/>
        </p:nvSpPr>
        <p:spPr>
          <a:xfrm>
            <a:off x="9064625" y="3663955"/>
            <a:ext cx="2635250" cy="444500"/>
          </a:xfrm>
          <a:custGeom>
            <a:avLst/>
            <a:gdLst/>
            <a:ahLst/>
            <a:cxnLst/>
            <a:rect l="l" t="t" r="r" b="b"/>
            <a:pathLst>
              <a:path w="2635250" h="444500">
                <a:moveTo>
                  <a:pt x="31751" y="0"/>
                </a:moveTo>
                <a:lnTo>
                  <a:pt x="2603499" y="0"/>
                </a:lnTo>
                <a:cubicBezTo>
                  <a:pt x="2621035" y="0"/>
                  <a:pt x="2635250" y="14215"/>
                  <a:pt x="2635250" y="31751"/>
                </a:cubicBezTo>
                <a:lnTo>
                  <a:pt x="2635250" y="412749"/>
                </a:lnTo>
                <a:cubicBezTo>
                  <a:pt x="2635250" y="430285"/>
                  <a:pt x="2621035" y="444500"/>
                  <a:pt x="2603499" y="444500"/>
                </a:cubicBezTo>
                <a:lnTo>
                  <a:pt x="31751" y="444500"/>
                </a:lnTo>
                <a:cubicBezTo>
                  <a:pt x="14215" y="444500"/>
                  <a:pt x="0" y="430285"/>
                  <a:pt x="0" y="412749"/>
                </a:cubicBezTo>
                <a:lnTo>
                  <a:pt x="0" y="31751"/>
                </a:lnTo>
                <a:cubicBezTo>
                  <a:pt x="0" y="14227"/>
                  <a:pt x="14227" y="0"/>
                  <a:pt x="31751" y="0"/>
                </a:cubicBezTo>
                <a:close/>
              </a:path>
            </a:pathLst>
          </a:custGeom>
          <a:solidFill>
            <a:srgbClr val="F3F4F6"/>
          </a:solidFill>
          <a:ln/>
        </p:spPr>
        <p:txBody>
          <a:bodyPr/>
          <a:lstStyle/>
          <a:p>
            <a:endParaRPr lang="en-US"/>
          </a:p>
        </p:txBody>
      </p:sp>
      <p:sp>
        <p:nvSpPr>
          <p:cNvPr id="47" name="Text 43"/>
          <p:cNvSpPr/>
          <p:nvPr/>
        </p:nvSpPr>
        <p:spPr>
          <a:xfrm>
            <a:off x="9100344" y="3727455"/>
            <a:ext cx="2563813"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IoU = 1.0</a:t>
            </a:r>
            <a:endParaRPr lang="en-US" sz="1600" dirty="0"/>
          </a:p>
        </p:txBody>
      </p:sp>
      <p:sp>
        <p:nvSpPr>
          <p:cNvPr id="48" name="Text 44"/>
          <p:cNvSpPr/>
          <p:nvPr/>
        </p:nvSpPr>
        <p:spPr>
          <a:xfrm>
            <a:off x="9100344" y="3886205"/>
            <a:ext cx="2563813" cy="158750"/>
          </a:xfrm>
          <a:prstGeom prst="rect">
            <a:avLst/>
          </a:prstGeom>
          <a:noFill/>
          <a:ln/>
        </p:spPr>
        <p:txBody>
          <a:bodyPr wrap="square" lIns="0" tIns="0" rIns="0" bIns="0" rtlCol="0" anchor="ctr"/>
          <a:lstStyle/>
          <a:p>
            <a:pPr algn="ct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Perfect match</a:t>
            </a:r>
            <a:endParaRPr lang="en-US" sz="1600" dirty="0"/>
          </a:p>
        </p:txBody>
      </p:sp>
      <p:sp>
        <p:nvSpPr>
          <p:cNvPr id="49" name="Shape 45"/>
          <p:cNvSpPr/>
          <p:nvPr/>
        </p:nvSpPr>
        <p:spPr>
          <a:xfrm>
            <a:off x="6207125" y="4406902"/>
            <a:ext cx="5667375" cy="1905000"/>
          </a:xfrm>
          <a:custGeom>
            <a:avLst/>
            <a:gdLst/>
            <a:ahLst/>
            <a:cxnLst/>
            <a:rect l="l" t="t" r="r" b="b"/>
            <a:pathLst>
              <a:path w="5667375" h="1905000">
                <a:moveTo>
                  <a:pt x="31750" y="0"/>
                </a:moveTo>
                <a:lnTo>
                  <a:pt x="5603881" y="0"/>
                </a:lnTo>
                <a:cubicBezTo>
                  <a:pt x="5638948" y="0"/>
                  <a:pt x="5667375" y="28427"/>
                  <a:pt x="5667375" y="63494"/>
                </a:cubicBezTo>
                <a:lnTo>
                  <a:pt x="5667375" y="1841506"/>
                </a:lnTo>
                <a:cubicBezTo>
                  <a:pt x="5667375" y="1876573"/>
                  <a:pt x="5638948" y="1905000"/>
                  <a:pt x="5603881" y="1905000"/>
                </a:cubicBezTo>
                <a:lnTo>
                  <a:pt x="31750" y="1905000"/>
                </a:lnTo>
                <a:cubicBezTo>
                  <a:pt x="14227" y="1905000"/>
                  <a:pt x="0" y="1890773"/>
                  <a:pt x="0" y="1873250"/>
                </a:cubicBezTo>
                <a:lnTo>
                  <a:pt x="0" y="31750"/>
                </a:lnTo>
                <a:cubicBezTo>
                  <a:pt x="0" y="14227"/>
                  <a:pt x="14227" y="0"/>
                  <a:pt x="31750" y="0"/>
                </a:cubicBezTo>
                <a:close/>
              </a:path>
            </a:pathLst>
          </a:custGeom>
          <a:solidFill>
            <a:srgbClr val="F9FAFB"/>
          </a:solidFill>
          <a:ln/>
        </p:spPr>
        <p:txBody>
          <a:bodyPr/>
          <a:lstStyle/>
          <a:p>
            <a:endParaRPr lang="en-US"/>
          </a:p>
        </p:txBody>
      </p:sp>
      <p:sp>
        <p:nvSpPr>
          <p:cNvPr id="50" name="Shape 46"/>
          <p:cNvSpPr/>
          <p:nvPr/>
        </p:nvSpPr>
        <p:spPr>
          <a:xfrm>
            <a:off x="6207125" y="4406902"/>
            <a:ext cx="31750" cy="1905000"/>
          </a:xfrm>
          <a:custGeom>
            <a:avLst/>
            <a:gdLst/>
            <a:ahLst/>
            <a:cxnLst/>
            <a:rect l="l" t="t" r="r" b="b"/>
            <a:pathLst>
              <a:path w="31750" h="1905000">
                <a:moveTo>
                  <a:pt x="31750" y="0"/>
                </a:moveTo>
                <a:lnTo>
                  <a:pt x="31750" y="0"/>
                </a:lnTo>
                <a:lnTo>
                  <a:pt x="31750" y="1905000"/>
                </a:lnTo>
                <a:lnTo>
                  <a:pt x="31750" y="1905000"/>
                </a:lnTo>
                <a:cubicBezTo>
                  <a:pt x="14227" y="1905000"/>
                  <a:pt x="0" y="1890773"/>
                  <a:pt x="0" y="1873250"/>
                </a:cubicBezTo>
                <a:lnTo>
                  <a:pt x="0" y="31750"/>
                </a:lnTo>
                <a:cubicBezTo>
                  <a:pt x="0" y="14227"/>
                  <a:pt x="14227" y="0"/>
                  <a:pt x="31750" y="0"/>
                </a:cubicBezTo>
                <a:close/>
              </a:path>
            </a:pathLst>
          </a:custGeom>
          <a:solidFill>
            <a:srgbClr val="8B0000"/>
          </a:solidFill>
          <a:ln/>
        </p:spPr>
        <p:txBody>
          <a:bodyPr/>
          <a:lstStyle/>
          <a:p>
            <a:endParaRPr lang="en-US"/>
          </a:p>
        </p:txBody>
      </p:sp>
      <p:sp>
        <p:nvSpPr>
          <p:cNvPr id="51" name="Text 47"/>
          <p:cNvSpPr/>
          <p:nvPr/>
        </p:nvSpPr>
        <p:spPr>
          <a:xfrm>
            <a:off x="6381750" y="4565652"/>
            <a:ext cx="54133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IoU Thresholds in Practice</a:t>
            </a:r>
            <a:endParaRPr lang="en-US" sz="1600" dirty="0"/>
          </a:p>
        </p:txBody>
      </p:sp>
      <p:sp>
        <p:nvSpPr>
          <p:cNvPr id="52" name="Shape 48"/>
          <p:cNvSpPr/>
          <p:nvPr/>
        </p:nvSpPr>
        <p:spPr>
          <a:xfrm>
            <a:off x="6397625" y="4883152"/>
            <a:ext cx="5318125" cy="603250"/>
          </a:xfrm>
          <a:custGeom>
            <a:avLst/>
            <a:gdLst/>
            <a:ahLst/>
            <a:cxnLst/>
            <a:rect l="l" t="t" r="r" b="b"/>
            <a:pathLst>
              <a:path w="5318125" h="603250">
                <a:moveTo>
                  <a:pt x="31749" y="0"/>
                </a:moveTo>
                <a:lnTo>
                  <a:pt x="5286376" y="0"/>
                </a:lnTo>
                <a:cubicBezTo>
                  <a:pt x="5303910" y="0"/>
                  <a:pt x="5318125" y="14215"/>
                  <a:pt x="5318125" y="31749"/>
                </a:cubicBezTo>
                <a:lnTo>
                  <a:pt x="5318125" y="571501"/>
                </a:lnTo>
                <a:cubicBezTo>
                  <a:pt x="5318125" y="589035"/>
                  <a:pt x="5303910" y="603250"/>
                  <a:pt x="5286376" y="603250"/>
                </a:cubicBezTo>
                <a:lnTo>
                  <a:pt x="31749" y="603250"/>
                </a:lnTo>
                <a:cubicBezTo>
                  <a:pt x="14215" y="603250"/>
                  <a:pt x="0" y="589035"/>
                  <a:pt x="0" y="571501"/>
                </a:cubicBezTo>
                <a:lnTo>
                  <a:pt x="0" y="31749"/>
                </a:lnTo>
                <a:cubicBezTo>
                  <a:pt x="0" y="14226"/>
                  <a:pt x="14226" y="0"/>
                  <a:pt x="31749" y="0"/>
                </a:cubicBezTo>
                <a:close/>
              </a:path>
            </a:pathLst>
          </a:custGeom>
          <a:solidFill>
            <a:srgbClr val="FFFFFF"/>
          </a:solidFill>
          <a:ln/>
        </p:spPr>
        <p:txBody>
          <a:bodyPr/>
          <a:lstStyle/>
          <a:p>
            <a:endParaRPr lang="en-US"/>
          </a:p>
        </p:txBody>
      </p:sp>
      <p:sp>
        <p:nvSpPr>
          <p:cNvPr id="53" name="Shape 49"/>
          <p:cNvSpPr/>
          <p:nvPr/>
        </p:nvSpPr>
        <p:spPr>
          <a:xfrm>
            <a:off x="6397625" y="4883152"/>
            <a:ext cx="31750" cy="603250"/>
          </a:xfrm>
          <a:custGeom>
            <a:avLst/>
            <a:gdLst/>
            <a:ahLst/>
            <a:cxnLst/>
            <a:rect l="l" t="t" r="r" b="b"/>
            <a:pathLst>
              <a:path w="31750" h="603250">
                <a:moveTo>
                  <a:pt x="31750" y="0"/>
                </a:moveTo>
                <a:lnTo>
                  <a:pt x="31750" y="0"/>
                </a:lnTo>
                <a:lnTo>
                  <a:pt x="31750" y="603250"/>
                </a:lnTo>
                <a:lnTo>
                  <a:pt x="31750" y="603250"/>
                </a:lnTo>
                <a:cubicBezTo>
                  <a:pt x="14227" y="603250"/>
                  <a:pt x="0" y="589023"/>
                  <a:pt x="0" y="571500"/>
                </a:cubicBezTo>
                <a:lnTo>
                  <a:pt x="0" y="31750"/>
                </a:lnTo>
                <a:cubicBezTo>
                  <a:pt x="0" y="14227"/>
                  <a:pt x="14227" y="0"/>
                  <a:pt x="31750" y="0"/>
                </a:cubicBezTo>
                <a:close/>
              </a:path>
            </a:pathLst>
          </a:custGeom>
          <a:solidFill>
            <a:srgbClr val="FB2C36"/>
          </a:solidFill>
          <a:ln/>
        </p:spPr>
        <p:txBody>
          <a:bodyPr/>
          <a:lstStyle/>
          <a:p>
            <a:endParaRPr lang="en-US"/>
          </a:p>
        </p:txBody>
      </p:sp>
      <p:sp>
        <p:nvSpPr>
          <p:cNvPr id="54" name="Text 50"/>
          <p:cNvSpPr/>
          <p:nvPr/>
        </p:nvSpPr>
        <p:spPr>
          <a:xfrm>
            <a:off x="6508750" y="4994277"/>
            <a:ext cx="547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IoU &lt; 0.5</a:t>
            </a:r>
            <a:endParaRPr lang="en-US" sz="1600" dirty="0"/>
          </a:p>
        </p:txBody>
      </p:sp>
      <p:sp>
        <p:nvSpPr>
          <p:cNvPr id="55" name="Shape 51"/>
          <p:cNvSpPr/>
          <p:nvPr/>
        </p:nvSpPr>
        <p:spPr>
          <a:xfrm>
            <a:off x="10854135" y="4978402"/>
            <a:ext cx="769938" cy="222250"/>
          </a:xfrm>
          <a:custGeom>
            <a:avLst/>
            <a:gdLst/>
            <a:ahLst/>
            <a:cxnLst/>
            <a:rect l="l" t="t" r="r" b="b"/>
            <a:pathLst>
              <a:path w="769938" h="222250">
                <a:moveTo>
                  <a:pt x="31751" y="0"/>
                </a:moveTo>
                <a:lnTo>
                  <a:pt x="738187" y="0"/>
                </a:lnTo>
                <a:cubicBezTo>
                  <a:pt x="755722" y="0"/>
                  <a:pt x="769938" y="14215"/>
                  <a:pt x="769938" y="31751"/>
                </a:cubicBezTo>
                <a:lnTo>
                  <a:pt x="769938" y="190499"/>
                </a:lnTo>
                <a:cubicBezTo>
                  <a:pt x="769938" y="208035"/>
                  <a:pt x="755722" y="222250"/>
                  <a:pt x="738187" y="222250"/>
                </a:cubicBezTo>
                <a:lnTo>
                  <a:pt x="31751" y="222250"/>
                </a:lnTo>
                <a:cubicBezTo>
                  <a:pt x="14227" y="222250"/>
                  <a:pt x="0" y="208023"/>
                  <a:pt x="0" y="190499"/>
                </a:cubicBezTo>
                <a:lnTo>
                  <a:pt x="0" y="31751"/>
                </a:lnTo>
                <a:cubicBezTo>
                  <a:pt x="0" y="14227"/>
                  <a:pt x="14227" y="0"/>
                  <a:pt x="31751" y="0"/>
                </a:cubicBezTo>
                <a:close/>
              </a:path>
            </a:pathLst>
          </a:custGeom>
          <a:solidFill>
            <a:srgbClr val="FFE2E2"/>
          </a:solidFill>
          <a:ln/>
        </p:spPr>
        <p:txBody>
          <a:bodyPr/>
          <a:lstStyle/>
          <a:p>
            <a:endParaRPr lang="en-US"/>
          </a:p>
        </p:txBody>
      </p:sp>
      <p:sp>
        <p:nvSpPr>
          <p:cNvPr id="56" name="Text 52"/>
          <p:cNvSpPr/>
          <p:nvPr/>
        </p:nvSpPr>
        <p:spPr>
          <a:xfrm>
            <a:off x="10854135" y="4978402"/>
            <a:ext cx="825500" cy="222250"/>
          </a:xfrm>
          <a:prstGeom prst="rect">
            <a:avLst/>
          </a:prstGeom>
          <a:noFill/>
          <a:ln/>
        </p:spPr>
        <p:txBody>
          <a:bodyPr wrap="square" lIns="63500" tIns="31750" rIns="63500" bIns="31750" rtlCol="0" anchor="ctr"/>
          <a:lstStyle/>
          <a:p>
            <a:pPr>
              <a:lnSpc>
                <a:spcPct val="120000"/>
              </a:lnSpc>
            </a:pPr>
            <a:r>
              <a:rPr lang="en-US" sz="875" b="1" dirty="0">
                <a:solidFill>
                  <a:srgbClr val="9F0712"/>
                </a:solidFill>
                <a:latin typeface="Quattrocento Sans" pitchFamily="34" charset="0"/>
                <a:ea typeface="Quattrocento Sans" pitchFamily="34" charset="-122"/>
                <a:cs typeface="Quattrocento Sans" pitchFamily="34" charset="-120"/>
              </a:rPr>
              <a:t>False Positive</a:t>
            </a:r>
            <a:endParaRPr lang="en-US" sz="1600" dirty="0"/>
          </a:p>
        </p:txBody>
      </p:sp>
      <p:sp>
        <p:nvSpPr>
          <p:cNvPr id="57" name="Text 53"/>
          <p:cNvSpPr/>
          <p:nvPr/>
        </p:nvSpPr>
        <p:spPr>
          <a:xfrm>
            <a:off x="6508750" y="5232402"/>
            <a:ext cx="51673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Prediction doesn't sufficiently overlap with ground truth</a:t>
            </a:r>
            <a:endParaRPr lang="en-US" sz="1600" dirty="0"/>
          </a:p>
        </p:txBody>
      </p:sp>
      <p:sp>
        <p:nvSpPr>
          <p:cNvPr id="58" name="Shape 54"/>
          <p:cNvSpPr/>
          <p:nvPr/>
        </p:nvSpPr>
        <p:spPr>
          <a:xfrm>
            <a:off x="6397625" y="5549902"/>
            <a:ext cx="5318125" cy="603250"/>
          </a:xfrm>
          <a:custGeom>
            <a:avLst/>
            <a:gdLst/>
            <a:ahLst/>
            <a:cxnLst/>
            <a:rect l="l" t="t" r="r" b="b"/>
            <a:pathLst>
              <a:path w="5318125" h="603250">
                <a:moveTo>
                  <a:pt x="31749" y="0"/>
                </a:moveTo>
                <a:lnTo>
                  <a:pt x="5286376" y="0"/>
                </a:lnTo>
                <a:cubicBezTo>
                  <a:pt x="5303910" y="0"/>
                  <a:pt x="5318125" y="14215"/>
                  <a:pt x="5318125" y="31749"/>
                </a:cubicBezTo>
                <a:lnTo>
                  <a:pt x="5318125" y="571501"/>
                </a:lnTo>
                <a:cubicBezTo>
                  <a:pt x="5318125" y="589035"/>
                  <a:pt x="5303910" y="603250"/>
                  <a:pt x="5286376" y="603250"/>
                </a:cubicBezTo>
                <a:lnTo>
                  <a:pt x="31749" y="603250"/>
                </a:lnTo>
                <a:cubicBezTo>
                  <a:pt x="14215" y="603250"/>
                  <a:pt x="0" y="589035"/>
                  <a:pt x="0" y="571501"/>
                </a:cubicBezTo>
                <a:lnTo>
                  <a:pt x="0" y="31749"/>
                </a:lnTo>
                <a:cubicBezTo>
                  <a:pt x="0" y="14226"/>
                  <a:pt x="14226" y="0"/>
                  <a:pt x="31749" y="0"/>
                </a:cubicBezTo>
                <a:close/>
              </a:path>
            </a:pathLst>
          </a:custGeom>
          <a:solidFill>
            <a:srgbClr val="FFFFFF"/>
          </a:solidFill>
          <a:ln/>
        </p:spPr>
        <p:txBody>
          <a:bodyPr/>
          <a:lstStyle/>
          <a:p>
            <a:endParaRPr lang="en-US"/>
          </a:p>
        </p:txBody>
      </p:sp>
      <p:sp>
        <p:nvSpPr>
          <p:cNvPr id="59" name="Shape 55"/>
          <p:cNvSpPr/>
          <p:nvPr/>
        </p:nvSpPr>
        <p:spPr>
          <a:xfrm>
            <a:off x="6397625" y="5549902"/>
            <a:ext cx="31750" cy="603250"/>
          </a:xfrm>
          <a:custGeom>
            <a:avLst/>
            <a:gdLst/>
            <a:ahLst/>
            <a:cxnLst/>
            <a:rect l="l" t="t" r="r" b="b"/>
            <a:pathLst>
              <a:path w="31750" h="603250">
                <a:moveTo>
                  <a:pt x="31750" y="0"/>
                </a:moveTo>
                <a:lnTo>
                  <a:pt x="31750" y="0"/>
                </a:lnTo>
                <a:lnTo>
                  <a:pt x="31750" y="603250"/>
                </a:lnTo>
                <a:lnTo>
                  <a:pt x="31750" y="603250"/>
                </a:lnTo>
                <a:cubicBezTo>
                  <a:pt x="14227" y="603250"/>
                  <a:pt x="0" y="589023"/>
                  <a:pt x="0" y="571500"/>
                </a:cubicBezTo>
                <a:lnTo>
                  <a:pt x="0" y="31750"/>
                </a:lnTo>
                <a:cubicBezTo>
                  <a:pt x="0" y="14227"/>
                  <a:pt x="14227" y="0"/>
                  <a:pt x="31750" y="0"/>
                </a:cubicBezTo>
                <a:close/>
              </a:path>
            </a:pathLst>
          </a:custGeom>
          <a:solidFill>
            <a:srgbClr val="00C950"/>
          </a:solidFill>
          <a:ln/>
        </p:spPr>
        <p:txBody>
          <a:bodyPr/>
          <a:lstStyle/>
          <a:p>
            <a:endParaRPr lang="en-US"/>
          </a:p>
        </p:txBody>
      </p:sp>
      <p:sp>
        <p:nvSpPr>
          <p:cNvPr id="60" name="Text 56"/>
          <p:cNvSpPr/>
          <p:nvPr/>
        </p:nvSpPr>
        <p:spPr>
          <a:xfrm>
            <a:off x="6508750" y="5661027"/>
            <a:ext cx="5715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IoU ≥ 0.5</a:t>
            </a:r>
            <a:endParaRPr lang="en-US" sz="1600" dirty="0"/>
          </a:p>
        </p:txBody>
      </p:sp>
      <p:sp>
        <p:nvSpPr>
          <p:cNvPr id="61" name="Shape 57"/>
          <p:cNvSpPr/>
          <p:nvPr/>
        </p:nvSpPr>
        <p:spPr>
          <a:xfrm>
            <a:off x="10878940" y="5645152"/>
            <a:ext cx="738188" cy="222250"/>
          </a:xfrm>
          <a:custGeom>
            <a:avLst/>
            <a:gdLst/>
            <a:ahLst/>
            <a:cxnLst/>
            <a:rect l="l" t="t" r="r" b="b"/>
            <a:pathLst>
              <a:path w="738188" h="222250">
                <a:moveTo>
                  <a:pt x="31751" y="0"/>
                </a:moveTo>
                <a:lnTo>
                  <a:pt x="706437" y="0"/>
                </a:lnTo>
                <a:cubicBezTo>
                  <a:pt x="723972" y="0"/>
                  <a:pt x="738188" y="14215"/>
                  <a:pt x="738188" y="31751"/>
                </a:cubicBezTo>
                <a:lnTo>
                  <a:pt x="738188" y="190499"/>
                </a:lnTo>
                <a:cubicBezTo>
                  <a:pt x="738188" y="208035"/>
                  <a:pt x="723972" y="222250"/>
                  <a:pt x="706437" y="222250"/>
                </a:cubicBezTo>
                <a:lnTo>
                  <a:pt x="31751" y="222250"/>
                </a:lnTo>
                <a:cubicBezTo>
                  <a:pt x="14227" y="222250"/>
                  <a:pt x="0" y="208023"/>
                  <a:pt x="0" y="190499"/>
                </a:cubicBezTo>
                <a:lnTo>
                  <a:pt x="0" y="31751"/>
                </a:lnTo>
                <a:cubicBezTo>
                  <a:pt x="0" y="14227"/>
                  <a:pt x="14227" y="0"/>
                  <a:pt x="31751" y="0"/>
                </a:cubicBezTo>
                <a:close/>
              </a:path>
            </a:pathLst>
          </a:custGeom>
          <a:solidFill>
            <a:srgbClr val="DCFCE7"/>
          </a:solidFill>
          <a:ln/>
        </p:spPr>
        <p:txBody>
          <a:bodyPr/>
          <a:lstStyle/>
          <a:p>
            <a:endParaRPr lang="en-US"/>
          </a:p>
        </p:txBody>
      </p:sp>
      <p:sp>
        <p:nvSpPr>
          <p:cNvPr id="62" name="Text 58"/>
          <p:cNvSpPr/>
          <p:nvPr/>
        </p:nvSpPr>
        <p:spPr>
          <a:xfrm>
            <a:off x="10878940" y="5645152"/>
            <a:ext cx="793750" cy="222250"/>
          </a:xfrm>
          <a:prstGeom prst="rect">
            <a:avLst/>
          </a:prstGeom>
          <a:noFill/>
          <a:ln/>
        </p:spPr>
        <p:txBody>
          <a:bodyPr wrap="square" lIns="63500" tIns="31750" rIns="63500" bIns="3175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True Positive</a:t>
            </a:r>
            <a:endParaRPr lang="en-US" sz="1600" dirty="0"/>
          </a:p>
        </p:txBody>
      </p:sp>
      <p:sp>
        <p:nvSpPr>
          <p:cNvPr id="63" name="Text 59"/>
          <p:cNvSpPr/>
          <p:nvPr/>
        </p:nvSpPr>
        <p:spPr>
          <a:xfrm>
            <a:off x="6508750" y="5899152"/>
            <a:ext cx="5167313"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Prediction correctly identifies the object</a:t>
            </a:r>
            <a:endParaRPr lang="en-US" sz="1600" dirty="0"/>
          </a:p>
        </p:txBody>
      </p:sp>
      <p:sp>
        <p:nvSpPr>
          <p:cNvPr id="66" name="Text 62"/>
          <p:cNvSpPr/>
          <p:nvPr/>
        </p:nvSpPr>
        <p:spPr>
          <a:xfrm>
            <a:off x="6350000" y="6565902"/>
            <a:ext cx="5468938" cy="222250"/>
          </a:xfrm>
          <a:prstGeom prst="rect">
            <a:avLst/>
          </a:prstGeom>
          <a:noFill/>
          <a:ln/>
        </p:spPr>
        <p:txBody>
          <a:bodyPr wrap="square" lIns="0" tIns="0" rIns="0" bIns="0" rtlCol="0" anchor="ctr"/>
          <a:lstStyle/>
          <a:p>
            <a:pPr>
              <a:lnSpc>
                <a:spcPct val="130000"/>
              </a:lnSpc>
            </a:pPr>
            <a:endParaRPr lang="en-US" sz="1600" dirty="0"/>
          </a:p>
        </p:txBody>
      </p:sp>
      <p:sp>
        <p:nvSpPr>
          <p:cNvPr id="68" name="Text 64"/>
          <p:cNvSpPr/>
          <p:nvPr/>
        </p:nvSpPr>
        <p:spPr>
          <a:xfrm>
            <a:off x="6548438" y="6851652"/>
            <a:ext cx="5262563" cy="190500"/>
          </a:xfrm>
          <a:prstGeom prst="rect">
            <a:avLst/>
          </a:prstGeom>
          <a:noFill/>
          <a:ln/>
        </p:spPr>
        <p:txBody>
          <a:bodyPr wrap="square" lIns="0" tIns="0" rIns="0" bIns="0" rtlCol="0" anchor="ctr"/>
          <a:lstStyle/>
          <a:p>
            <a:pPr>
              <a:lnSpc>
                <a:spcPct val="130000"/>
              </a:lnSpc>
            </a:pPr>
            <a:endParaRPr lang="en-US" sz="1600" dirty="0"/>
          </a:p>
        </p:txBody>
      </p:sp>
      <p:sp>
        <p:nvSpPr>
          <p:cNvPr id="70" name="Text 66"/>
          <p:cNvSpPr/>
          <p:nvPr/>
        </p:nvSpPr>
        <p:spPr>
          <a:xfrm>
            <a:off x="6548438" y="7073902"/>
            <a:ext cx="5262563" cy="190500"/>
          </a:xfrm>
          <a:prstGeom prst="rect">
            <a:avLst/>
          </a:prstGeom>
          <a:noFill/>
          <a:ln/>
        </p:spPr>
        <p:txBody>
          <a:bodyPr wrap="square" lIns="0" tIns="0" rIns="0" bIns="0" rtlCol="0" anchor="ctr"/>
          <a:lstStyle/>
          <a:p>
            <a:pPr>
              <a:lnSpc>
                <a:spcPct val="130000"/>
              </a:lnSpc>
            </a:pP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06</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Non-Maximum</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Suppression (NMS)</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Eliminating duplicate detections</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6.1 NMS ALGORITHM</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How NMS Works</a:t>
            </a:r>
            <a:endParaRPr lang="en-US" sz="1600" dirty="0"/>
          </a:p>
        </p:txBody>
      </p:sp>
      <p:sp>
        <p:nvSpPr>
          <p:cNvPr id="4" name="Shape 2"/>
          <p:cNvSpPr/>
          <p:nvPr/>
        </p:nvSpPr>
        <p:spPr>
          <a:xfrm>
            <a:off x="314470" y="1016000"/>
            <a:ext cx="5672137" cy="2393950"/>
          </a:xfrm>
          <a:custGeom>
            <a:avLst/>
            <a:gdLst/>
            <a:ahLst/>
            <a:cxnLst/>
            <a:rect l="l" t="t" r="r" b="b"/>
            <a:pathLst>
              <a:path w="5672137" h="2393950">
                <a:moveTo>
                  <a:pt x="63511" y="0"/>
                </a:moveTo>
                <a:lnTo>
                  <a:pt x="5608626" y="0"/>
                </a:lnTo>
                <a:cubicBezTo>
                  <a:pt x="5643702" y="0"/>
                  <a:pt x="5672137" y="28435"/>
                  <a:pt x="5672137" y="63511"/>
                </a:cubicBezTo>
                <a:lnTo>
                  <a:pt x="5672137" y="2330439"/>
                </a:lnTo>
                <a:cubicBezTo>
                  <a:pt x="5672137" y="2365515"/>
                  <a:pt x="5643702" y="2393950"/>
                  <a:pt x="5608626" y="2393950"/>
                </a:cubicBezTo>
                <a:lnTo>
                  <a:pt x="63511" y="2393950"/>
                </a:lnTo>
                <a:cubicBezTo>
                  <a:pt x="28435" y="2393950"/>
                  <a:pt x="0" y="2365515"/>
                  <a:pt x="0" y="2330439"/>
                </a:cubicBezTo>
                <a:lnTo>
                  <a:pt x="0" y="63511"/>
                </a:lnTo>
                <a:cubicBezTo>
                  <a:pt x="0" y="28459"/>
                  <a:pt x="28459" y="0"/>
                  <a:pt x="63511"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49263" y="1155705"/>
            <a:ext cx="5421313" cy="222250"/>
          </a:xfrm>
          <a:prstGeom prst="rect">
            <a:avLst/>
          </a:prstGeom>
          <a:noFill/>
          <a:ln/>
        </p:spPr>
        <p:txBody>
          <a:bodyPr wrap="square" lIns="0" tIns="0" rIns="0" bIns="0" rtlCol="0" anchor="ctr"/>
          <a:lstStyle/>
          <a:p>
            <a:pPr algn="ct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NMS Visualization</a:t>
            </a:r>
            <a:endParaRPr lang="en-US" sz="1600" dirty="0"/>
          </a:p>
        </p:txBody>
      </p:sp>
      <p:pic>
        <p:nvPicPr>
          <p:cNvPr id="6" name="Image 0" descr="https://kimi-web-img.moonshot.cn/img/camo.githubusercontent.com/f286acedecb795fdded15fbd06dd9af6dcc15c81"/>
          <p:cNvPicPr>
            <a:picLocks noChangeAspect="1"/>
          </p:cNvPicPr>
          <p:nvPr/>
        </p:nvPicPr>
        <p:blipFill>
          <a:blip r:embed="rId3"/>
          <a:srcRect l="-21658" t="598" r="-72679" b="2847"/>
          <a:stretch>
            <a:fillRect/>
          </a:stretch>
        </p:blipFill>
        <p:spPr>
          <a:xfrm>
            <a:off x="488949" y="1341110"/>
            <a:ext cx="7231087" cy="1891042"/>
          </a:xfrm>
          <a:prstGeom prst="roundRect">
            <a:avLst>
              <a:gd name="adj" fmla="val 2273"/>
            </a:avLst>
          </a:prstGeom>
        </p:spPr>
      </p:pic>
      <p:sp>
        <p:nvSpPr>
          <p:cNvPr id="7" name="Text 4"/>
          <p:cNvSpPr/>
          <p:nvPr/>
        </p:nvSpPr>
        <p:spPr>
          <a:xfrm>
            <a:off x="365125" y="3177316"/>
            <a:ext cx="5405438" cy="190500"/>
          </a:xfrm>
          <a:prstGeom prst="rect">
            <a:avLst/>
          </a:prstGeom>
          <a:noFill/>
          <a:ln/>
        </p:spPr>
        <p:txBody>
          <a:bodyPr wrap="square" lIns="0" tIns="0" rIns="0" bIns="0" rtlCol="0" anchor="ctr"/>
          <a:lstStyle/>
          <a:p>
            <a:pPr algn="ctr">
              <a:lnSpc>
                <a:spcPct val="130000"/>
              </a:lnSpc>
            </a:pPr>
            <a:r>
              <a:rPr lang="en-US" sz="1000" dirty="0">
                <a:solidFill>
                  <a:srgbClr val="6B7280"/>
                </a:solidFill>
                <a:latin typeface="Quattrocento Sans" pitchFamily="34" charset="0"/>
                <a:ea typeface="Quattrocento Sans" pitchFamily="34" charset="-122"/>
                <a:cs typeface="Quattrocento Sans" pitchFamily="34" charset="-120"/>
              </a:rPr>
              <a:t>Before NMS (multiple boxes) → After NMS (one box per object)</a:t>
            </a:r>
            <a:endParaRPr lang="en-US" sz="1600" dirty="0"/>
          </a:p>
        </p:txBody>
      </p:sp>
      <p:sp>
        <p:nvSpPr>
          <p:cNvPr id="8" name="Shape 5"/>
          <p:cNvSpPr/>
          <p:nvPr/>
        </p:nvSpPr>
        <p:spPr>
          <a:xfrm>
            <a:off x="317500" y="3517902"/>
            <a:ext cx="5683250" cy="1492250"/>
          </a:xfrm>
          <a:custGeom>
            <a:avLst/>
            <a:gdLst/>
            <a:ahLst/>
            <a:cxnLst/>
            <a:rect l="l" t="t" r="r" b="b"/>
            <a:pathLst>
              <a:path w="5683250" h="1492250">
                <a:moveTo>
                  <a:pt x="63495" y="0"/>
                </a:moveTo>
                <a:lnTo>
                  <a:pt x="5619755" y="0"/>
                </a:lnTo>
                <a:cubicBezTo>
                  <a:pt x="5654822" y="0"/>
                  <a:pt x="5683250" y="28428"/>
                  <a:pt x="5683250" y="63495"/>
                </a:cubicBezTo>
                <a:lnTo>
                  <a:pt x="5683250" y="1428755"/>
                </a:lnTo>
                <a:cubicBezTo>
                  <a:pt x="5683250" y="1463822"/>
                  <a:pt x="5654822" y="1492250"/>
                  <a:pt x="5619755" y="1492250"/>
                </a:cubicBezTo>
                <a:lnTo>
                  <a:pt x="63495" y="1492250"/>
                </a:lnTo>
                <a:cubicBezTo>
                  <a:pt x="28428" y="1492250"/>
                  <a:pt x="0" y="1463822"/>
                  <a:pt x="0" y="1428755"/>
                </a:cubicBezTo>
                <a:lnTo>
                  <a:pt x="0" y="63495"/>
                </a:lnTo>
                <a:cubicBezTo>
                  <a:pt x="0" y="28428"/>
                  <a:pt x="28428" y="0"/>
                  <a:pt x="63495" y="0"/>
                </a:cubicBezTo>
                <a:close/>
              </a:path>
            </a:pathLst>
          </a:custGeom>
          <a:solidFill>
            <a:srgbClr val="8B0000"/>
          </a:solidFill>
          <a:ln/>
        </p:spPr>
        <p:txBody>
          <a:bodyPr/>
          <a:lstStyle/>
          <a:p>
            <a:endParaRPr lang="en-US"/>
          </a:p>
        </p:txBody>
      </p:sp>
      <p:sp>
        <p:nvSpPr>
          <p:cNvPr id="9" name="Shape 6"/>
          <p:cNvSpPr/>
          <p:nvPr/>
        </p:nvSpPr>
        <p:spPr>
          <a:xfrm>
            <a:off x="496094" y="3708402"/>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FFFFFF"/>
          </a:solidFill>
          <a:ln/>
        </p:spPr>
        <p:txBody>
          <a:bodyPr/>
          <a:lstStyle/>
          <a:p>
            <a:endParaRPr lang="en-US"/>
          </a:p>
        </p:txBody>
      </p:sp>
      <p:sp>
        <p:nvSpPr>
          <p:cNvPr id="10" name="Text 7"/>
          <p:cNvSpPr/>
          <p:nvPr/>
        </p:nvSpPr>
        <p:spPr>
          <a:xfrm>
            <a:off x="674688" y="3676652"/>
            <a:ext cx="5246688"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Why NMS is Needed</a:t>
            </a:r>
            <a:endParaRPr lang="en-US" sz="1600" dirty="0"/>
          </a:p>
        </p:txBody>
      </p:sp>
      <p:sp>
        <p:nvSpPr>
          <p:cNvPr id="11" name="Text 8"/>
          <p:cNvSpPr/>
          <p:nvPr/>
        </p:nvSpPr>
        <p:spPr>
          <a:xfrm>
            <a:off x="476250" y="3994152"/>
            <a:ext cx="5429250" cy="3810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YOLO predicts </a:t>
            </a:r>
            <a:r>
              <a:rPr lang="en-US" sz="1000" b="1" dirty="0">
                <a:solidFill>
                  <a:srgbClr val="FFFFFF"/>
                </a:solidFill>
                <a:latin typeface="Quattrocento Sans" pitchFamily="34" charset="0"/>
                <a:ea typeface="Quattrocento Sans" pitchFamily="34" charset="-122"/>
                <a:cs typeface="Quattrocento Sans" pitchFamily="34" charset="-120"/>
              </a:rPr>
              <a:t>98 boxes (v1)</a:t>
            </a:r>
            <a:r>
              <a:rPr lang="en-US" sz="1000" dirty="0">
                <a:solidFill>
                  <a:srgbClr val="FFFFFF"/>
                </a:solidFill>
                <a:latin typeface="Quattrocento Sans" pitchFamily="34" charset="0"/>
                <a:ea typeface="Quattrocento Sans" pitchFamily="34" charset="-122"/>
                <a:cs typeface="Quattrocento Sans" pitchFamily="34" charset="-120"/>
              </a:rPr>
              <a:t> or hundreds of boxes (later versions), but most detect the </a:t>
            </a:r>
            <a:r>
              <a:rPr lang="en-US" sz="1000" b="1" dirty="0">
                <a:solidFill>
                  <a:srgbClr val="FFFFFF"/>
                </a:solidFill>
                <a:latin typeface="Quattrocento Sans" pitchFamily="34" charset="0"/>
                <a:ea typeface="Quattrocento Sans" pitchFamily="34" charset="-122"/>
                <a:cs typeface="Quattrocento Sans" pitchFamily="34" charset="-120"/>
              </a:rPr>
              <a:t>same objects</a:t>
            </a:r>
            <a:r>
              <a:rPr lang="en-US" sz="1000" dirty="0">
                <a:solidFill>
                  <a:srgbClr val="FFFFFF"/>
                </a:solidFill>
                <a:latin typeface="Quattrocento Sans" pitchFamily="34" charset="0"/>
                <a:ea typeface="Quattrocento Sans" pitchFamily="34" charset="-122"/>
                <a:cs typeface="Quattrocento Sans" pitchFamily="34" charset="-120"/>
              </a:rPr>
              <a:t>. Without NMS, we'd have multiple overlapping boxes for each object.</a:t>
            </a:r>
            <a:endParaRPr lang="en-US" sz="1600" dirty="0"/>
          </a:p>
        </p:txBody>
      </p:sp>
      <p:sp>
        <p:nvSpPr>
          <p:cNvPr id="12" name="Shape 9"/>
          <p:cNvSpPr/>
          <p:nvPr/>
        </p:nvSpPr>
        <p:spPr>
          <a:xfrm>
            <a:off x="476250" y="4470402"/>
            <a:ext cx="5365750" cy="381000"/>
          </a:xfrm>
          <a:custGeom>
            <a:avLst/>
            <a:gdLst/>
            <a:ahLst/>
            <a:cxnLst/>
            <a:rect l="l" t="t" r="r" b="b"/>
            <a:pathLst>
              <a:path w="5365750" h="381000">
                <a:moveTo>
                  <a:pt x="31749" y="0"/>
                </a:moveTo>
                <a:lnTo>
                  <a:pt x="5334001" y="0"/>
                </a:lnTo>
                <a:cubicBezTo>
                  <a:pt x="5351536" y="0"/>
                  <a:pt x="5365750" y="14214"/>
                  <a:pt x="5365750" y="31749"/>
                </a:cubicBezTo>
                <a:lnTo>
                  <a:pt x="5365750" y="349251"/>
                </a:lnTo>
                <a:cubicBezTo>
                  <a:pt x="5365750" y="366786"/>
                  <a:pt x="5351536" y="381000"/>
                  <a:pt x="5334001" y="381000"/>
                </a:cubicBezTo>
                <a:lnTo>
                  <a:pt x="31749" y="381000"/>
                </a:lnTo>
                <a:cubicBezTo>
                  <a:pt x="14214" y="381000"/>
                  <a:pt x="0" y="366786"/>
                  <a:pt x="0" y="349251"/>
                </a:cubicBezTo>
                <a:lnTo>
                  <a:pt x="0" y="31749"/>
                </a:lnTo>
                <a:cubicBezTo>
                  <a:pt x="0" y="14226"/>
                  <a:pt x="14226" y="0"/>
                  <a:pt x="31749" y="0"/>
                </a:cubicBezTo>
                <a:close/>
              </a:path>
            </a:pathLst>
          </a:custGeom>
          <a:solidFill>
            <a:srgbClr val="FFFFFF">
              <a:alpha val="20000"/>
            </a:srgbClr>
          </a:solidFill>
          <a:ln/>
        </p:spPr>
        <p:txBody>
          <a:bodyPr/>
          <a:lstStyle/>
          <a:p>
            <a:endParaRPr lang="en-US"/>
          </a:p>
        </p:txBody>
      </p:sp>
      <p:sp>
        <p:nvSpPr>
          <p:cNvPr id="13" name="Shape 10"/>
          <p:cNvSpPr/>
          <p:nvPr/>
        </p:nvSpPr>
        <p:spPr>
          <a:xfrm>
            <a:off x="587375" y="4591053"/>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FFFFFF"/>
          </a:solidFill>
          <a:ln/>
        </p:spPr>
        <p:txBody>
          <a:bodyPr/>
          <a:lstStyle/>
          <a:p>
            <a:endParaRPr lang="en-US"/>
          </a:p>
        </p:txBody>
      </p:sp>
      <p:sp>
        <p:nvSpPr>
          <p:cNvPr id="14" name="Text 11"/>
          <p:cNvSpPr/>
          <p:nvPr/>
        </p:nvSpPr>
        <p:spPr>
          <a:xfrm>
            <a:off x="769938" y="4565652"/>
            <a:ext cx="504031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NMS improves mAP by 23%</a:t>
            </a:r>
            <a:r>
              <a:rPr lang="en-US" sz="1000" dirty="0">
                <a:solidFill>
                  <a:srgbClr val="FFFFFF"/>
                </a:solidFill>
                <a:latin typeface="Quattrocento Sans" pitchFamily="34" charset="0"/>
                <a:ea typeface="Quattrocento Sans" pitchFamily="34" charset="-122"/>
                <a:cs typeface="Quattrocento Sans" pitchFamily="34" charset="-120"/>
              </a:rPr>
              <a:t> in YOLOv1</a:t>
            </a:r>
            <a:endParaRPr lang="en-US" sz="1600" dirty="0"/>
          </a:p>
        </p:txBody>
      </p:sp>
      <p:sp>
        <p:nvSpPr>
          <p:cNvPr id="15" name="Shape 12"/>
          <p:cNvSpPr/>
          <p:nvPr/>
        </p:nvSpPr>
        <p:spPr>
          <a:xfrm>
            <a:off x="333375" y="5137152"/>
            <a:ext cx="5667375" cy="1174750"/>
          </a:xfrm>
          <a:custGeom>
            <a:avLst/>
            <a:gdLst/>
            <a:ahLst/>
            <a:cxnLst/>
            <a:rect l="l" t="t" r="r" b="b"/>
            <a:pathLst>
              <a:path w="5667375" h="1174750">
                <a:moveTo>
                  <a:pt x="31750" y="0"/>
                </a:moveTo>
                <a:lnTo>
                  <a:pt x="5603880" y="0"/>
                </a:lnTo>
                <a:cubicBezTo>
                  <a:pt x="5638947" y="0"/>
                  <a:pt x="5667375" y="28428"/>
                  <a:pt x="5667375" y="63495"/>
                </a:cubicBezTo>
                <a:lnTo>
                  <a:pt x="5667375" y="1111255"/>
                </a:lnTo>
                <a:cubicBezTo>
                  <a:pt x="5667375" y="1146322"/>
                  <a:pt x="5638947" y="1174750"/>
                  <a:pt x="5603880" y="1174750"/>
                </a:cubicBezTo>
                <a:lnTo>
                  <a:pt x="31750" y="1174750"/>
                </a:lnTo>
                <a:cubicBezTo>
                  <a:pt x="14215" y="1174750"/>
                  <a:pt x="0" y="1160535"/>
                  <a:pt x="0" y="1143000"/>
                </a:cubicBezTo>
                <a:lnTo>
                  <a:pt x="0" y="31750"/>
                </a:lnTo>
                <a:cubicBezTo>
                  <a:pt x="0" y="14227"/>
                  <a:pt x="14227" y="0"/>
                  <a:pt x="31750" y="0"/>
                </a:cubicBezTo>
                <a:close/>
              </a:path>
            </a:pathLst>
          </a:custGeom>
          <a:solidFill>
            <a:srgbClr val="F0FDF4"/>
          </a:solidFill>
          <a:ln/>
        </p:spPr>
        <p:txBody>
          <a:bodyPr/>
          <a:lstStyle/>
          <a:p>
            <a:endParaRPr lang="en-US"/>
          </a:p>
        </p:txBody>
      </p:sp>
      <p:sp>
        <p:nvSpPr>
          <p:cNvPr id="16" name="Shape 13"/>
          <p:cNvSpPr/>
          <p:nvPr/>
        </p:nvSpPr>
        <p:spPr>
          <a:xfrm>
            <a:off x="333375" y="5137152"/>
            <a:ext cx="31750" cy="1174750"/>
          </a:xfrm>
          <a:custGeom>
            <a:avLst/>
            <a:gdLst/>
            <a:ahLst/>
            <a:cxnLst/>
            <a:rect l="l" t="t" r="r" b="b"/>
            <a:pathLst>
              <a:path w="31750" h="1174750">
                <a:moveTo>
                  <a:pt x="31750" y="0"/>
                </a:moveTo>
                <a:lnTo>
                  <a:pt x="31750" y="0"/>
                </a:lnTo>
                <a:lnTo>
                  <a:pt x="31750" y="1174750"/>
                </a:lnTo>
                <a:lnTo>
                  <a:pt x="31750" y="1174750"/>
                </a:lnTo>
                <a:cubicBezTo>
                  <a:pt x="14227" y="1174750"/>
                  <a:pt x="0" y="1160523"/>
                  <a:pt x="0" y="1143000"/>
                </a:cubicBezTo>
                <a:lnTo>
                  <a:pt x="0" y="31750"/>
                </a:lnTo>
                <a:cubicBezTo>
                  <a:pt x="0" y="14227"/>
                  <a:pt x="14227" y="0"/>
                  <a:pt x="31750" y="0"/>
                </a:cubicBezTo>
                <a:close/>
              </a:path>
            </a:pathLst>
          </a:custGeom>
          <a:solidFill>
            <a:srgbClr val="00C950"/>
          </a:solidFill>
          <a:ln/>
        </p:spPr>
        <p:txBody>
          <a:bodyPr/>
          <a:lstStyle/>
          <a:p>
            <a:endParaRPr lang="en-US"/>
          </a:p>
        </p:txBody>
      </p:sp>
      <p:sp>
        <p:nvSpPr>
          <p:cNvPr id="17" name="Text 14"/>
          <p:cNvSpPr/>
          <p:nvPr/>
        </p:nvSpPr>
        <p:spPr>
          <a:xfrm>
            <a:off x="476250" y="5264152"/>
            <a:ext cx="5468938" cy="222250"/>
          </a:xfrm>
          <a:prstGeom prst="rect">
            <a:avLst/>
          </a:prstGeom>
          <a:noFill/>
          <a:ln/>
        </p:spPr>
        <p:txBody>
          <a:bodyPr wrap="square" lIns="0" tIns="0" rIns="0" bIns="0" rtlCol="0" anchor="ctr"/>
          <a:lstStyle/>
          <a:p>
            <a:pPr>
              <a:lnSpc>
                <a:spcPct val="130000"/>
              </a:lnSpc>
            </a:pPr>
            <a:r>
              <a:rPr lang="en-US" sz="1125" b="1" dirty="0">
                <a:solidFill>
                  <a:srgbClr val="0D542B"/>
                </a:solidFill>
                <a:latin typeface="Sorts Mill Goudy" pitchFamily="34" charset="0"/>
                <a:ea typeface="Sorts Mill Goudy" pitchFamily="34" charset="-122"/>
                <a:cs typeface="Sorts Mill Goudy" pitchFamily="34" charset="-120"/>
              </a:rPr>
              <a:t>NMS Benefits</a:t>
            </a:r>
            <a:endParaRPr lang="en-US" sz="1600" dirty="0"/>
          </a:p>
        </p:txBody>
      </p:sp>
      <p:sp>
        <p:nvSpPr>
          <p:cNvPr id="18" name="Shape 15"/>
          <p:cNvSpPr/>
          <p:nvPr/>
        </p:nvSpPr>
        <p:spPr>
          <a:xfrm>
            <a:off x="492125" y="5575303"/>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A63E"/>
          </a:solidFill>
          <a:ln/>
        </p:spPr>
        <p:txBody>
          <a:bodyPr/>
          <a:lstStyle/>
          <a:p>
            <a:endParaRPr lang="en-US"/>
          </a:p>
        </p:txBody>
      </p:sp>
      <p:sp>
        <p:nvSpPr>
          <p:cNvPr id="19" name="Text 16"/>
          <p:cNvSpPr/>
          <p:nvPr/>
        </p:nvSpPr>
        <p:spPr>
          <a:xfrm>
            <a:off x="674688" y="5549902"/>
            <a:ext cx="5262563" cy="1905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Reduces redundancy:</a:t>
            </a:r>
            <a:r>
              <a:rPr lang="en-US" sz="1000" dirty="0">
                <a:solidFill>
                  <a:srgbClr val="0D542B"/>
                </a:solidFill>
                <a:latin typeface="Quattrocento Sans" pitchFamily="34" charset="0"/>
                <a:ea typeface="Quattrocento Sans" pitchFamily="34" charset="-122"/>
                <a:cs typeface="Quattrocento Sans" pitchFamily="34" charset="-120"/>
              </a:rPr>
              <a:t> One box per object</a:t>
            </a:r>
            <a:endParaRPr lang="en-US" sz="1600" dirty="0"/>
          </a:p>
        </p:txBody>
      </p:sp>
      <p:sp>
        <p:nvSpPr>
          <p:cNvPr id="20" name="Shape 17"/>
          <p:cNvSpPr/>
          <p:nvPr/>
        </p:nvSpPr>
        <p:spPr>
          <a:xfrm>
            <a:off x="492125" y="5797553"/>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A63E"/>
          </a:solidFill>
          <a:ln/>
        </p:spPr>
        <p:txBody>
          <a:bodyPr/>
          <a:lstStyle/>
          <a:p>
            <a:endParaRPr lang="en-US"/>
          </a:p>
        </p:txBody>
      </p:sp>
      <p:sp>
        <p:nvSpPr>
          <p:cNvPr id="21" name="Text 18"/>
          <p:cNvSpPr/>
          <p:nvPr/>
        </p:nvSpPr>
        <p:spPr>
          <a:xfrm>
            <a:off x="674688" y="5772152"/>
            <a:ext cx="5262563" cy="1905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Improves precision:</a:t>
            </a:r>
            <a:r>
              <a:rPr lang="en-US" sz="1000" dirty="0">
                <a:solidFill>
                  <a:srgbClr val="0D542B"/>
                </a:solidFill>
                <a:latin typeface="Quattrocento Sans" pitchFamily="34" charset="0"/>
                <a:ea typeface="Quattrocento Sans" pitchFamily="34" charset="-122"/>
                <a:cs typeface="Quattrocento Sans" pitchFamily="34" charset="-120"/>
              </a:rPr>
              <a:t> Keeps best prediction</a:t>
            </a:r>
            <a:endParaRPr lang="en-US" sz="1600" dirty="0"/>
          </a:p>
        </p:txBody>
      </p:sp>
      <p:sp>
        <p:nvSpPr>
          <p:cNvPr id="22" name="Shape 19"/>
          <p:cNvSpPr/>
          <p:nvPr/>
        </p:nvSpPr>
        <p:spPr>
          <a:xfrm>
            <a:off x="492125" y="6019803"/>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A63E"/>
          </a:solidFill>
          <a:ln/>
        </p:spPr>
        <p:txBody>
          <a:bodyPr/>
          <a:lstStyle/>
          <a:p>
            <a:endParaRPr lang="en-US"/>
          </a:p>
        </p:txBody>
      </p:sp>
      <p:sp>
        <p:nvSpPr>
          <p:cNvPr id="23" name="Text 20"/>
          <p:cNvSpPr/>
          <p:nvPr/>
        </p:nvSpPr>
        <p:spPr>
          <a:xfrm>
            <a:off x="674688" y="5994402"/>
            <a:ext cx="5262563" cy="1905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Computational efficiency:</a:t>
            </a:r>
            <a:r>
              <a:rPr lang="en-US" sz="1000" dirty="0">
                <a:solidFill>
                  <a:srgbClr val="0D542B"/>
                </a:solidFill>
                <a:latin typeface="Quattrocento Sans" pitchFamily="34" charset="0"/>
                <a:ea typeface="Quattrocento Sans" pitchFamily="34" charset="-122"/>
                <a:cs typeface="Quattrocento Sans" pitchFamily="34" charset="-120"/>
              </a:rPr>
              <a:t> Fewer boxes to process</a:t>
            </a:r>
            <a:endParaRPr lang="en-US" sz="1600" dirty="0"/>
          </a:p>
        </p:txBody>
      </p:sp>
      <p:sp>
        <p:nvSpPr>
          <p:cNvPr id="24" name="Shape 21"/>
          <p:cNvSpPr/>
          <p:nvPr/>
        </p:nvSpPr>
        <p:spPr>
          <a:xfrm>
            <a:off x="6197600" y="990600"/>
            <a:ext cx="5672137" cy="5708650"/>
          </a:xfrm>
          <a:custGeom>
            <a:avLst/>
            <a:gdLst/>
            <a:ahLst/>
            <a:cxnLst/>
            <a:rect l="l" t="t" r="r" b="b"/>
            <a:pathLst>
              <a:path w="5672137" h="5708650">
                <a:moveTo>
                  <a:pt x="63514" y="0"/>
                </a:moveTo>
                <a:lnTo>
                  <a:pt x="5608624" y="0"/>
                </a:lnTo>
                <a:cubicBezTo>
                  <a:pt x="5643701" y="0"/>
                  <a:pt x="5672137" y="35654"/>
                  <a:pt x="5672137" y="79636"/>
                </a:cubicBezTo>
                <a:lnTo>
                  <a:pt x="5672137" y="5629014"/>
                </a:lnTo>
                <a:cubicBezTo>
                  <a:pt x="5672137" y="5672996"/>
                  <a:pt x="5643701" y="5708650"/>
                  <a:pt x="5608624" y="5708650"/>
                </a:cubicBezTo>
                <a:lnTo>
                  <a:pt x="63514" y="5708650"/>
                </a:lnTo>
                <a:cubicBezTo>
                  <a:pt x="28436" y="5708650"/>
                  <a:pt x="0" y="5672996"/>
                  <a:pt x="0" y="5629014"/>
                </a:cubicBezTo>
                <a:lnTo>
                  <a:pt x="0" y="79636"/>
                </a:lnTo>
                <a:cubicBezTo>
                  <a:pt x="0" y="35684"/>
                  <a:pt x="28460" y="0"/>
                  <a:pt x="63514" y="0"/>
                </a:cubicBezTo>
                <a:close/>
              </a:path>
            </a:pathLst>
          </a:custGeom>
          <a:solidFill>
            <a:srgbClr val="FFFFFF"/>
          </a:solidFill>
          <a:ln w="20320">
            <a:solidFill>
              <a:srgbClr val="1F2937"/>
            </a:solidFill>
            <a:prstDash val="solid"/>
          </a:ln>
        </p:spPr>
        <p:txBody>
          <a:bodyPr/>
          <a:lstStyle/>
          <a:p>
            <a:endParaRPr lang="en-US"/>
          </a:p>
        </p:txBody>
      </p:sp>
      <p:sp>
        <p:nvSpPr>
          <p:cNvPr id="25" name="Text 22"/>
          <p:cNvSpPr/>
          <p:nvPr/>
        </p:nvSpPr>
        <p:spPr>
          <a:xfrm>
            <a:off x="6323013" y="1155705"/>
            <a:ext cx="5421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NMS Algorithm Steps</a:t>
            </a:r>
            <a:endParaRPr lang="en-US" sz="1600" dirty="0"/>
          </a:p>
        </p:txBody>
      </p:sp>
      <p:sp>
        <p:nvSpPr>
          <p:cNvPr id="26" name="Shape 23"/>
          <p:cNvSpPr/>
          <p:nvPr/>
        </p:nvSpPr>
        <p:spPr>
          <a:xfrm>
            <a:off x="6378575" y="1504955"/>
            <a:ext cx="5326063" cy="698500"/>
          </a:xfrm>
          <a:custGeom>
            <a:avLst/>
            <a:gdLst/>
            <a:ahLst/>
            <a:cxnLst/>
            <a:rect l="l" t="t" r="r" b="b"/>
            <a:pathLst>
              <a:path w="5326063" h="698500">
                <a:moveTo>
                  <a:pt x="31750" y="0"/>
                </a:moveTo>
                <a:lnTo>
                  <a:pt x="5262562" y="0"/>
                </a:lnTo>
                <a:cubicBezTo>
                  <a:pt x="5297632" y="0"/>
                  <a:pt x="5326063" y="28430"/>
                  <a:pt x="5326063" y="63501"/>
                </a:cubicBezTo>
                <a:lnTo>
                  <a:pt x="5326063" y="634999"/>
                </a:lnTo>
                <a:cubicBezTo>
                  <a:pt x="5326063" y="670070"/>
                  <a:pt x="5297632" y="698500"/>
                  <a:pt x="5262562" y="698500"/>
                </a:cubicBezTo>
                <a:lnTo>
                  <a:pt x="31750" y="698500"/>
                </a:lnTo>
                <a:cubicBezTo>
                  <a:pt x="14215" y="698500"/>
                  <a:pt x="0" y="684285"/>
                  <a:pt x="0" y="666750"/>
                </a:cubicBezTo>
                <a:lnTo>
                  <a:pt x="0" y="31750"/>
                </a:lnTo>
                <a:cubicBezTo>
                  <a:pt x="0" y="14227"/>
                  <a:pt x="14227" y="0"/>
                  <a:pt x="31750" y="0"/>
                </a:cubicBezTo>
                <a:close/>
              </a:path>
            </a:pathLst>
          </a:custGeom>
          <a:solidFill>
            <a:srgbClr val="EFF6FF"/>
          </a:solidFill>
          <a:ln/>
        </p:spPr>
        <p:txBody>
          <a:bodyPr/>
          <a:lstStyle/>
          <a:p>
            <a:endParaRPr lang="en-US"/>
          </a:p>
        </p:txBody>
      </p:sp>
      <p:sp>
        <p:nvSpPr>
          <p:cNvPr id="27" name="Shape 24"/>
          <p:cNvSpPr/>
          <p:nvPr/>
        </p:nvSpPr>
        <p:spPr>
          <a:xfrm>
            <a:off x="6378575" y="150495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2B7FFF"/>
          </a:solidFill>
          <a:ln/>
        </p:spPr>
        <p:txBody>
          <a:bodyPr/>
          <a:lstStyle/>
          <a:p>
            <a:endParaRPr lang="en-US"/>
          </a:p>
        </p:txBody>
      </p:sp>
      <p:sp>
        <p:nvSpPr>
          <p:cNvPr id="28" name="Shape 25"/>
          <p:cNvSpPr/>
          <p:nvPr/>
        </p:nvSpPr>
        <p:spPr>
          <a:xfrm>
            <a:off x="6489700" y="160020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2B7FFF"/>
          </a:solidFill>
          <a:ln/>
        </p:spPr>
        <p:txBody>
          <a:bodyPr/>
          <a:lstStyle/>
          <a:p>
            <a:endParaRPr lang="en-US"/>
          </a:p>
        </p:txBody>
      </p:sp>
      <p:sp>
        <p:nvSpPr>
          <p:cNvPr id="29" name="Text 26"/>
          <p:cNvSpPr/>
          <p:nvPr/>
        </p:nvSpPr>
        <p:spPr>
          <a:xfrm>
            <a:off x="6457950" y="160020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0" name="Text 27"/>
          <p:cNvSpPr/>
          <p:nvPr/>
        </p:nvSpPr>
        <p:spPr>
          <a:xfrm>
            <a:off x="6838950" y="1616080"/>
            <a:ext cx="1262063" cy="222250"/>
          </a:xfrm>
          <a:prstGeom prst="rect">
            <a:avLst/>
          </a:prstGeom>
          <a:noFill/>
          <a:ln/>
        </p:spPr>
        <p:txBody>
          <a:bodyPr wrap="square" lIns="0" tIns="0" rIns="0" bIns="0" rtlCol="0" anchor="ctr"/>
          <a:lstStyle/>
          <a:p>
            <a:pPr>
              <a:lnSpc>
                <a:spcPct val="130000"/>
              </a:lnSpc>
            </a:pPr>
            <a:r>
              <a:rPr lang="en-US" sz="1125" b="1" dirty="0">
                <a:solidFill>
                  <a:srgbClr val="1C398E"/>
                </a:solidFill>
                <a:latin typeface="Sorts Mill Goudy" pitchFamily="34" charset="0"/>
                <a:ea typeface="Sorts Mill Goudy" pitchFamily="34" charset="-122"/>
                <a:cs typeface="Sorts Mill Goudy" pitchFamily="34" charset="-120"/>
              </a:rPr>
              <a:t>Sort by Confidence</a:t>
            </a:r>
            <a:endParaRPr lang="en-US" sz="1600" dirty="0"/>
          </a:p>
        </p:txBody>
      </p:sp>
      <p:sp>
        <p:nvSpPr>
          <p:cNvPr id="31" name="Text 28"/>
          <p:cNvSpPr/>
          <p:nvPr/>
        </p:nvSpPr>
        <p:spPr>
          <a:xfrm>
            <a:off x="6489700" y="1917705"/>
            <a:ext cx="5183188" cy="190500"/>
          </a:xfrm>
          <a:prstGeom prst="rect">
            <a:avLst/>
          </a:prstGeom>
          <a:noFill/>
          <a:ln/>
        </p:spPr>
        <p:txBody>
          <a:bodyPr wrap="square" lIns="0" tIns="0" rIns="0" bIns="0" rtlCol="0" anchor="ctr"/>
          <a:lstStyle/>
          <a:p>
            <a:pPr>
              <a:lnSpc>
                <a:spcPct val="130000"/>
              </a:lnSpc>
            </a:pPr>
            <a:r>
              <a:rPr lang="en-US" sz="1000" dirty="0">
                <a:solidFill>
                  <a:srgbClr val="193CB8"/>
                </a:solidFill>
                <a:latin typeface="Quattrocento Sans" pitchFamily="34" charset="0"/>
                <a:ea typeface="Quattrocento Sans" pitchFamily="34" charset="-122"/>
                <a:cs typeface="Quattrocento Sans" pitchFamily="34" charset="-120"/>
              </a:rPr>
              <a:t>Sort all predictions by confidence score in </a:t>
            </a:r>
            <a:r>
              <a:rPr lang="en-US" sz="1000" b="1" dirty="0">
                <a:solidFill>
                  <a:srgbClr val="193CB8"/>
                </a:solidFill>
                <a:latin typeface="Quattrocento Sans" pitchFamily="34" charset="0"/>
                <a:ea typeface="Quattrocento Sans" pitchFamily="34" charset="-122"/>
                <a:cs typeface="Quattrocento Sans" pitchFamily="34" charset="-120"/>
              </a:rPr>
              <a:t>descending order</a:t>
            </a:r>
            <a:r>
              <a:rPr lang="en-US" sz="1000" dirty="0">
                <a:solidFill>
                  <a:srgbClr val="193CB8"/>
                </a:solidFill>
                <a:latin typeface="Quattrocento Sans" pitchFamily="34" charset="0"/>
                <a:ea typeface="Quattrocento Sans" pitchFamily="34" charset="-122"/>
                <a:cs typeface="Quattrocento Sans" pitchFamily="34" charset="-120"/>
              </a:rPr>
              <a:t>.</a:t>
            </a:r>
            <a:endParaRPr lang="en-US" sz="1600" dirty="0"/>
          </a:p>
        </p:txBody>
      </p:sp>
      <p:sp>
        <p:nvSpPr>
          <p:cNvPr id="32" name="Shape 29"/>
          <p:cNvSpPr/>
          <p:nvPr/>
        </p:nvSpPr>
        <p:spPr>
          <a:xfrm>
            <a:off x="6378575" y="2298705"/>
            <a:ext cx="5326063" cy="698500"/>
          </a:xfrm>
          <a:custGeom>
            <a:avLst/>
            <a:gdLst/>
            <a:ahLst/>
            <a:cxnLst/>
            <a:rect l="l" t="t" r="r" b="b"/>
            <a:pathLst>
              <a:path w="5326063" h="698500">
                <a:moveTo>
                  <a:pt x="31750" y="0"/>
                </a:moveTo>
                <a:lnTo>
                  <a:pt x="5262562" y="0"/>
                </a:lnTo>
                <a:cubicBezTo>
                  <a:pt x="5297632" y="0"/>
                  <a:pt x="5326063" y="28430"/>
                  <a:pt x="5326063" y="63501"/>
                </a:cubicBezTo>
                <a:lnTo>
                  <a:pt x="5326063" y="634999"/>
                </a:lnTo>
                <a:cubicBezTo>
                  <a:pt x="5326063" y="670070"/>
                  <a:pt x="5297632" y="698500"/>
                  <a:pt x="5262562" y="698500"/>
                </a:cubicBezTo>
                <a:lnTo>
                  <a:pt x="31750" y="698500"/>
                </a:lnTo>
                <a:cubicBezTo>
                  <a:pt x="14215" y="698500"/>
                  <a:pt x="0" y="684285"/>
                  <a:pt x="0" y="666750"/>
                </a:cubicBezTo>
                <a:lnTo>
                  <a:pt x="0" y="31750"/>
                </a:lnTo>
                <a:cubicBezTo>
                  <a:pt x="0" y="14227"/>
                  <a:pt x="14227" y="0"/>
                  <a:pt x="31750" y="0"/>
                </a:cubicBezTo>
                <a:close/>
              </a:path>
            </a:pathLst>
          </a:custGeom>
          <a:solidFill>
            <a:srgbClr val="F0FDF4"/>
          </a:solidFill>
          <a:ln/>
        </p:spPr>
        <p:txBody>
          <a:bodyPr/>
          <a:lstStyle/>
          <a:p>
            <a:endParaRPr lang="en-US"/>
          </a:p>
        </p:txBody>
      </p:sp>
      <p:sp>
        <p:nvSpPr>
          <p:cNvPr id="33" name="Shape 30"/>
          <p:cNvSpPr/>
          <p:nvPr/>
        </p:nvSpPr>
        <p:spPr>
          <a:xfrm>
            <a:off x="6378575" y="229870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00C950"/>
          </a:solidFill>
          <a:ln/>
        </p:spPr>
        <p:txBody>
          <a:bodyPr/>
          <a:lstStyle/>
          <a:p>
            <a:endParaRPr lang="en-US"/>
          </a:p>
        </p:txBody>
      </p:sp>
      <p:sp>
        <p:nvSpPr>
          <p:cNvPr id="34" name="Shape 31"/>
          <p:cNvSpPr/>
          <p:nvPr/>
        </p:nvSpPr>
        <p:spPr>
          <a:xfrm>
            <a:off x="6489700" y="239395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00C950"/>
          </a:solidFill>
          <a:ln/>
        </p:spPr>
        <p:txBody>
          <a:bodyPr/>
          <a:lstStyle/>
          <a:p>
            <a:endParaRPr lang="en-US"/>
          </a:p>
        </p:txBody>
      </p:sp>
      <p:sp>
        <p:nvSpPr>
          <p:cNvPr id="35" name="Text 32"/>
          <p:cNvSpPr/>
          <p:nvPr/>
        </p:nvSpPr>
        <p:spPr>
          <a:xfrm>
            <a:off x="6457950" y="239395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6" name="Text 33"/>
          <p:cNvSpPr/>
          <p:nvPr/>
        </p:nvSpPr>
        <p:spPr>
          <a:xfrm>
            <a:off x="6838950" y="2409830"/>
            <a:ext cx="952500" cy="222250"/>
          </a:xfrm>
          <a:prstGeom prst="rect">
            <a:avLst/>
          </a:prstGeom>
          <a:noFill/>
          <a:ln/>
        </p:spPr>
        <p:txBody>
          <a:bodyPr wrap="square" lIns="0" tIns="0" rIns="0" bIns="0" rtlCol="0" anchor="ctr"/>
          <a:lstStyle/>
          <a:p>
            <a:pPr>
              <a:lnSpc>
                <a:spcPct val="130000"/>
              </a:lnSpc>
            </a:pPr>
            <a:r>
              <a:rPr lang="en-US" sz="1125" b="1" dirty="0">
                <a:solidFill>
                  <a:srgbClr val="0D542B"/>
                </a:solidFill>
                <a:latin typeface="Sorts Mill Goudy" pitchFamily="34" charset="0"/>
                <a:ea typeface="Sorts Mill Goudy" pitchFamily="34" charset="-122"/>
                <a:cs typeface="Sorts Mill Goudy" pitchFamily="34" charset="-120"/>
              </a:rPr>
              <a:t>Select Highest</a:t>
            </a:r>
            <a:endParaRPr lang="en-US" sz="1600" dirty="0"/>
          </a:p>
        </p:txBody>
      </p:sp>
      <p:sp>
        <p:nvSpPr>
          <p:cNvPr id="37" name="Text 34"/>
          <p:cNvSpPr/>
          <p:nvPr/>
        </p:nvSpPr>
        <p:spPr>
          <a:xfrm>
            <a:off x="6489700" y="2711455"/>
            <a:ext cx="5183188" cy="190500"/>
          </a:xfrm>
          <a:prstGeom prst="rect">
            <a:avLst/>
          </a:prstGeom>
          <a:noFill/>
          <a:ln/>
        </p:spPr>
        <p:txBody>
          <a:bodyPr wrap="square" lIns="0" tIns="0" rIns="0" bIns="0" rtlCol="0" anchor="ctr"/>
          <a:lstStyle/>
          <a:p>
            <a:pPr>
              <a:lnSpc>
                <a:spcPct val="130000"/>
              </a:lnSpc>
            </a:pPr>
            <a:r>
              <a:rPr lang="en-US" sz="1000" dirty="0">
                <a:solidFill>
                  <a:srgbClr val="016630"/>
                </a:solidFill>
                <a:latin typeface="Quattrocento Sans" pitchFamily="34" charset="0"/>
                <a:ea typeface="Quattrocento Sans" pitchFamily="34" charset="-122"/>
                <a:cs typeface="Quattrocento Sans" pitchFamily="34" charset="-120"/>
              </a:rPr>
              <a:t>Select the box with </a:t>
            </a:r>
            <a:r>
              <a:rPr lang="en-US" sz="1000" b="1" dirty="0">
                <a:solidFill>
                  <a:srgbClr val="016630"/>
                </a:solidFill>
                <a:latin typeface="Quattrocento Sans" pitchFamily="34" charset="0"/>
                <a:ea typeface="Quattrocento Sans" pitchFamily="34" charset="-122"/>
                <a:cs typeface="Quattrocento Sans" pitchFamily="34" charset="-120"/>
              </a:rPr>
              <a:t>highest confidence</a:t>
            </a:r>
            <a:r>
              <a:rPr lang="en-US" sz="1000" dirty="0">
                <a:solidFill>
                  <a:srgbClr val="016630"/>
                </a:solidFill>
                <a:latin typeface="Quattrocento Sans" pitchFamily="34" charset="0"/>
                <a:ea typeface="Quattrocento Sans" pitchFamily="34" charset="-122"/>
                <a:cs typeface="Quattrocento Sans" pitchFamily="34" charset="-120"/>
              </a:rPr>
              <a:t> as a final detection.</a:t>
            </a:r>
            <a:endParaRPr lang="en-US" sz="1600" dirty="0"/>
          </a:p>
        </p:txBody>
      </p:sp>
      <p:sp>
        <p:nvSpPr>
          <p:cNvPr id="38" name="Shape 35"/>
          <p:cNvSpPr/>
          <p:nvPr/>
        </p:nvSpPr>
        <p:spPr>
          <a:xfrm>
            <a:off x="6378575" y="3092455"/>
            <a:ext cx="5326063" cy="698500"/>
          </a:xfrm>
          <a:custGeom>
            <a:avLst/>
            <a:gdLst/>
            <a:ahLst/>
            <a:cxnLst/>
            <a:rect l="l" t="t" r="r" b="b"/>
            <a:pathLst>
              <a:path w="5326063" h="698500">
                <a:moveTo>
                  <a:pt x="31750" y="0"/>
                </a:moveTo>
                <a:lnTo>
                  <a:pt x="5262562" y="0"/>
                </a:lnTo>
                <a:cubicBezTo>
                  <a:pt x="5297632" y="0"/>
                  <a:pt x="5326063" y="28430"/>
                  <a:pt x="5326063" y="63501"/>
                </a:cubicBezTo>
                <a:lnTo>
                  <a:pt x="5326063" y="634999"/>
                </a:lnTo>
                <a:cubicBezTo>
                  <a:pt x="5326063" y="670070"/>
                  <a:pt x="5297632" y="698500"/>
                  <a:pt x="5262562" y="698500"/>
                </a:cubicBezTo>
                <a:lnTo>
                  <a:pt x="31750" y="698500"/>
                </a:lnTo>
                <a:cubicBezTo>
                  <a:pt x="14215" y="698500"/>
                  <a:pt x="0" y="684285"/>
                  <a:pt x="0" y="666750"/>
                </a:cubicBezTo>
                <a:lnTo>
                  <a:pt x="0" y="31750"/>
                </a:lnTo>
                <a:cubicBezTo>
                  <a:pt x="0" y="14227"/>
                  <a:pt x="14227" y="0"/>
                  <a:pt x="31750" y="0"/>
                </a:cubicBezTo>
                <a:close/>
              </a:path>
            </a:pathLst>
          </a:custGeom>
          <a:solidFill>
            <a:srgbClr val="FEFCE8"/>
          </a:solidFill>
          <a:ln/>
        </p:spPr>
        <p:txBody>
          <a:bodyPr/>
          <a:lstStyle/>
          <a:p>
            <a:endParaRPr lang="en-US"/>
          </a:p>
        </p:txBody>
      </p:sp>
      <p:sp>
        <p:nvSpPr>
          <p:cNvPr id="39" name="Shape 36"/>
          <p:cNvSpPr/>
          <p:nvPr/>
        </p:nvSpPr>
        <p:spPr>
          <a:xfrm>
            <a:off x="6378575" y="309245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F0B100"/>
          </a:solidFill>
          <a:ln/>
        </p:spPr>
        <p:txBody>
          <a:bodyPr/>
          <a:lstStyle/>
          <a:p>
            <a:endParaRPr lang="en-US"/>
          </a:p>
        </p:txBody>
      </p:sp>
      <p:sp>
        <p:nvSpPr>
          <p:cNvPr id="40" name="Shape 37"/>
          <p:cNvSpPr/>
          <p:nvPr/>
        </p:nvSpPr>
        <p:spPr>
          <a:xfrm>
            <a:off x="6489700" y="318770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0B100"/>
          </a:solidFill>
          <a:ln/>
        </p:spPr>
        <p:txBody>
          <a:bodyPr/>
          <a:lstStyle/>
          <a:p>
            <a:endParaRPr lang="en-US"/>
          </a:p>
        </p:txBody>
      </p:sp>
      <p:sp>
        <p:nvSpPr>
          <p:cNvPr id="41" name="Text 38"/>
          <p:cNvSpPr/>
          <p:nvPr/>
        </p:nvSpPr>
        <p:spPr>
          <a:xfrm>
            <a:off x="6457950" y="318770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2" name="Text 39"/>
          <p:cNvSpPr/>
          <p:nvPr/>
        </p:nvSpPr>
        <p:spPr>
          <a:xfrm>
            <a:off x="6838950" y="3203580"/>
            <a:ext cx="928688" cy="222250"/>
          </a:xfrm>
          <a:prstGeom prst="rect">
            <a:avLst/>
          </a:prstGeom>
          <a:noFill/>
          <a:ln/>
        </p:spPr>
        <p:txBody>
          <a:bodyPr wrap="square" lIns="0" tIns="0" rIns="0" bIns="0" rtlCol="0" anchor="ctr"/>
          <a:lstStyle/>
          <a:p>
            <a:pPr>
              <a:lnSpc>
                <a:spcPct val="130000"/>
              </a:lnSpc>
            </a:pPr>
            <a:r>
              <a:rPr lang="en-US" sz="1125" b="1" dirty="0">
                <a:solidFill>
                  <a:srgbClr val="733E0A"/>
                </a:solidFill>
                <a:latin typeface="Sorts Mill Goudy" pitchFamily="34" charset="0"/>
                <a:ea typeface="Sorts Mill Goudy" pitchFamily="34" charset="-122"/>
                <a:cs typeface="Sorts Mill Goudy" pitchFamily="34" charset="-120"/>
              </a:rPr>
              <a:t>Calculate IoU</a:t>
            </a:r>
            <a:endParaRPr lang="en-US" sz="1600" dirty="0"/>
          </a:p>
        </p:txBody>
      </p:sp>
      <p:sp>
        <p:nvSpPr>
          <p:cNvPr id="43" name="Text 40"/>
          <p:cNvSpPr/>
          <p:nvPr/>
        </p:nvSpPr>
        <p:spPr>
          <a:xfrm>
            <a:off x="6489700" y="3505205"/>
            <a:ext cx="5183188" cy="190500"/>
          </a:xfrm>
          <a:prstGeom prst="rect">
            <a:avLst/>
          </a:prstGeom>
          <a:noFill/>
          <a:ln/>
        </p:spPr>
        <p:txBody>
          <a:bodyPr wrap="square" lIns="0" tIns="0" rIns="0" bIns="0" rtlCol="0" anchor="ctr"/>
          <a:lstStyle/>
          <a:p>
            <a:pPr>
              <a:lnSpc>
                <a:spcPct val="130000"/>
              </a:lnSpc>
            </a:pPr>
            <a:r>
              <a:rPr lang="en-US" sz="1000" dirty="0">
                <a:solidFill>
                  <a:srgbClr val="894B00"/>
                </a:solidFill>
                <a:latin typeface="Quattrocento Sans" pitchFamily="34" charset="0"/>
                <a:ea typeface="Quattrocento Sans" pitchFamily="34" charset="-122"/>
                <a:cs typeface="Quattrocento Sans" pitchFamily="34" charset="-120"/>
              </a:rPr>
              <a:t>Calculate IoU between selected box and </a:t>
            </a:r>
            <a:r>
              <a:rPr lang="en-US" sz="1000" b="1" dirty="0">
                <a:solidFill>
                  <a:srgbClr val="894B00"/>
                </a:solidFill>
                <a:latin typeface="Quattrocento Sans" pitchFamily="34" charset="0"/>
                <a:ea typeface="Quattrocento Sans" pitchFamily="34" charset="-122"/>
                <a:cs typeface="Quattrocento Sans" pitchFamily="34" charset="-120"/>
              </a:rPr>
              <a:t>all remaining boxes</a:t>
            </a:r>
            <a:r>
              <a:rPr lang="en-US" sz="1000" dirty="0">
                <a:solidFill>
                  <a:srgbClr val="894B00"/>
                </a:solidFill>
                <a:latin typeface="Quattrocento Sans" pitchFamily="34" charset="0"/>
                <a:ea typeface="Quattrocento Sans" pitchFamily="34" charset="-122"/>
                <a:cs typeface="Quattrocento Sans" pitchFamily="34" charset="-120"/>
              </a:rPr>
              <a:t>.</a:t>
            </a:r>
            <a:endParaRPr lang="en-US" sz="1600" dirty="0"/>
          </a:p>
        </p:txBody>
      </p:sp>
      <p:sp>
        <p:nvSpPr>
          <p:cNvPr id="44" name="Shape 41"/>
          <p:cNvSpPr/>
          <p:nvPr/>
        </p:nvSpPr>
        <p:spPr>
          <a:xfrm>
            <a:off x="6378575" y="3886205"/>
            <a:ext cx="5326063" cy="698500"/>
          </a:xfrm>
          <a:custGeom>
            <a:avLst/>
            <a:gdLst/>
            <a:ahLst/>
            <a:cxnLst/>
            <a:rect l="l" t="t" r="r" b="b"/>
            <a:pathLst>
              <a:path w="5326063" h="698500">
                <a:moveTo>
                  <a:pt x="31750" y="0"/>
                </a:moveTo>
                <a:lnTo>
                  <a:pt x="5262562" y="0"/>
                </a:lnTo>
                <a:cubicBezTo>
                  <a:pt x="5297632" y="0"/>
                  <a:pt x="5326063" y="28430"/>
                  <a:pt x="5326063" y="63501"/>
                </a:cubicBezTo>
                <a:lnTo>
                  <a:pt x="5326063" y="634999"/>
                </a:lnTo>
                <a:cubicBezTo>
                  <a:pt x="5326063" y="670070"/>
                  <a:pt x="5297632" y="698500"/>
                  <a:pt x="5262562" y="698500"/>
                </a:cubicBezTo>
                <a:lnTo>
                  <a:pt x="31750" y="698500"/>
                </a:lnTo>
                <a:cubicBezTo>
                  <a:pt x="14215" y="698500"/>
                  <a:pt x="0" y="684285"/>
                  <a:pt x="0" y="666750"/>
                </a:cubicBezTo>
                <a:lnTo>
                  <a:pt x="0" y="31750"/>
                </a:lnTo>
                <a:cubicBezTo>
                  <a:pt x="0" y="14227"/>
                  <a:pt x="14227" y="0"/>
                  <a:pt x="31750" y="0"/>
                </a:cubicBezTo>
                <a:close/>
              </a:path>
            </a:pathLst>
          </a:custGeom>
          <a:solidFill>
            <a:srgbClr val="FEF2F2"/>
          </a:solidFill>
          <a:ln/>
        </p:spPr>
        <p:txBody>
          <a:bodyPr/>
          <a:lstStyle/>
          <a:p>
            <a:endParaRPr lang="en-US"/>
          </a:p>
        </p:txBody>
      </p:sp>
      <p:sp>
        <p:nvSpPr>
          <p:cNvPr id="45" name="Shape 42"/>
          <p:cNvSpPr/>
          <p:nvPr/>
        </p:nvSpPr>
        <p:spPr>
          <a:xfrm>
            <a:off x="6378575" y="388620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FB2C36"/>
          </a:solidFill>
          <a:ln/>
        </p:spPr>
        <p:txBody>
          <a:bodyPr/>
          <a:lstStyle/>
          <a:p>
            <a:endParaRPr lang="en-US"/>
          </a:p>
        </p:txBody>
      </p:sp>
      <p:sp>
        <p:nvSpPr>
          <p:cNvPr id="46" name="Shape 43"/>
          <p:cNvSpPr/>
          <p:nvPr/>
        </p:nvSpPr>
        <p:spPr>
          <a:xfrm>
            <a:off x="6489700" y="398145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FB2C36"/>
          </a:solidFill>
          <a:ln/>
        </p:spPr>
        <p:txBody>
          <a:bodyPr/>
          <a:lstStyle/>
          <a:p>
            <a:endParaRPr lang="en-US"/>
          </a:p>
        </p:txBody>
      </p:sp>
      <p:sp>
        <p:nvSpPr>
          <p:cNvPr id="47" name="Text 44"/>
          <p:cNvSpPr/>
          <p:nvPr/>
        </p:nvSpPr>
        <p:spPr>
          <a:xfrm>
            <a:off x="6457950" y="398145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8" name="Text 45"/>
          <p:cNvSpPr/>
          <p:nvPr/>
        </p:nvSpPr>
        <p:spPr>
          <a:xfrm>
            <a:off x="6838950" y="3997330"/>
            <a:ext cx="1436688" cy="222250"/>
          </a:xfrm>
          <a:prstGeom prst="rect">
            <a:avLst/>
          </a:prstGeom>
          <a:noFill/>
          <a:ln/>
        </p:spPr>
        <p:txBody>
          <a:bodyPr wrap="square" lIns="0" tIns="0" rIns="0" bIns="0" rtlCol="0" anchor="ctr"/>
          <a:lstStyle/>
          <a:p>
            <a:pPr>
              <a:lnSpc>
                <a:spcPct val="130000"/>
              </a:lnSpc>
            </a:pPr>
            <a:r>
              <a:rPr lang="en-US" sz="1125" b="1" dirty="0">
                <a:solidFill>
                  <a:srgbClr val="82181A"/>
                </a:solidFill>
                <a:latin typeface="Sorts Mill Goudy" pitchFamily="34" charset="0"/>
                <a:ea typeface="Sorts Mill Goudy" pitchFamily="34" charset="-122"/>
                <a:cs typeface="Sorts Mill Goudy" pitchFamily="34" charset="-120"/>
              </a:rPr>
              <a:t>Suppress Overlapping</a:t>
            </a:r>
            <a:endParaRPr lang="en-US" sz="1600" dirty="0"/>
          </a:p>
        </p:txBody>
      </p:sp>
      <p:sp>
        <p:nvSpPr>
          <p:cNvPr id="49" name="Text 46"/>
          <p:cNvSpPr/>
          <p:nvPr/>
        </p:nvSpPr>
        <p:spPr>
          <a:xfrm>
            <a:off x="6489700" y="4298955"/>
            <a:ext cx="5183188" cy="190500"/>
          </a:xfrm>
          <a:prstGeom prst="rect">
            <a:avLst/>
          </a:prstGeom>
          <a:noFill/>
          <a:ln/>
        </p:spPr>
        <p:txBody>
          <a:bodyPr wrap="square" lIns="0" tIns="0" rIns="0" bIns="0" rtlCol="0" anchor="ctr"/>
          <a:lstStyle/>
          <a:p>
            <a:pPr>
              <a:lnSpc>
                <a:spcPct val="130000"/>
              </a:lnSpc>
            </a:pPr>
            <a:r>
              <a:rPr lang="en-US" sz="1000" dirty="0">
                <a:solidFill>
                  <a:srgbClr val="9F0712"/>
                </a:solidFill>
                <a:latin typeface="Quattrocento Sans" pitchFamily="34" charset="0"/>
                <a:ea typeface="Quattrocento Sans" pitchFamily="34" charset="-122"/>
                <a:cs typeface="Quattrocento Sans" pitchFamily="34" charset="-120"/>
              </a:rPr>
              <a:t>Remove boxes with </a:t>
            </a:r>
            <a:r>
              <a:rPr lang="en-US" sz="1000" b="1" dirty="0">
                <a:solidFill>
                  <a:srgbClr val="9F0712"/>
                </a:solidFill>
                <a:latin typeface="Quattrocento Sans" pitchFamily="34" charset="0"/>
                <a:ea typeface="Quattrocento Sans" pitchFamily="34" charset="-122"/>
                <a:cs typeface="Quattrocento Sans" pitchFamily="34" charset="-120"/>
              </a:rPr>
              <a:t>IoU &gt; threshold</a:t>
            </a:r>
            <a:r>
              <a:rPr lang="en-US" sz="1000" dirty="0">
                <a:solidFill>
                  <a:srgbClr val="9F0712"/>
                </a:solidFill>
                <a:latin typeface="Quattrocento Sans" pitchFamily="34" charset="0"/>
                <a:ea typeface="Quattrocento Sans" pitchFamily="34" charset="-122"/>
                <a:cs typeface="Quattrocento Sans" pitchFamily="34" charset="-120"/>
              </a:rPr>
              <a:t> (typically 0.5) - they detect the same object.</a:t>
            </a:r>
            <a:endParaRPr lang="en-US" sz="1600" dirty="0"/>
          </a:p>
        </p:txBody>
      </p:sp>
      <p:sp>
        <p:nvSpPr>
          <p:cNvPr id="50" name="Shape 47"/>
          <p:cNvSpPr/>
          <p:nvPr/>
        </p:nvSpPr>
        <p:spPr>
          <a:xfrm>
            <a:off x="6378575" y="4679955"/>
            <a:ext cx="5326063" cy="698500"/>
          </a:xfrm>
          <a:custGeom>
            <a:avLst/>
            <a:gdLst/>
            <a:ahLst/>
            <a:cxnLst/>
            <a:rect l="l" t="t" r="r" b="b"/>
            <a:pathLst>
              <a:path w="5326063" h="698500">
                <a:moveTo>
                  <a:pt x="31750" y="0"/>
                </a:moveTo>
                <a:lnTo>
                  <a:pt x="5262562" y="0"/>
                </a:lnTo>
                <a:cubicBezTo>
                  <a:pt x="5297632" y="0"/>
                  <a:pt x="5326063" y="28430"/>
                  <a:pt x="5326063" y="63501"/>
                </a:cubicBezTo>
                <a:lnTo>
                  <a:pt x="5326063" y="634999"/>
                </a:lnTo>
                <a:cubicBezTo>
                  <a:pt x="5326063" y="670070"/>
                  <a:pt x="5297632" y="698500"/>
                  <a:pt x="5262562" y="698500"/>
                </a:cubicBezTo>
                <a:lnTo>
                  <a:pt x="31750" y="698500"/>
                </a:lnTo>
                <a:cubicBezTo>
                  <a:pt x="14215" y="698500"/>
                  <a:pt x="0" y="684285"/>
                  <a:pt x="0" y="666750"/>
                </a:cubicBezTo>
                <a:lnTo>
                  <a:pt x="0" y="31750"/>
                </a:lnTo>
                <a:cubicBezTo>
                  <a:pt x="0" y="14227"/>
                  <a:pt x="14227" y="0"/>
                  <a:pt x="31750" y="0"/>
                </a:cubicBezTo>
                <a:close/>
              </a:path>
            </a:pathLst>
          </a:custGeom>
          <a:solidFill>
            <a:srgbClr val="FAF5FF"/>
          </a:solidFill>
          <a:ln/>
        </p:spPr>
        <p:txBody>
          <a:bodyPr/>
          <a:lstStyle/>
          <a:p>
            <a:endParaRPr lang="en-US"/>
          </a:p>
        </p:txBody>
      </p:sp>
      <p:sp>
        <p:nvSpPr>
          <p:cNvPr id="51" name="Shape 48"/>
          <p:cNvSpPr/>
          <p:nvPr/>
        </p:nvSpPr>
        <p:spPr>
          <a:xfrm>
            <a:off x="6378575" y="4679955"/>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AD46FF"/>
          </a:solidFill>
          <a:ln/>
        </p:spPr>
        <p:txBody>
          <a:bodyPr/>
          <a:lstStyle/>
          <a:p>
            <a:endParaRPr lang="en-US"/>
          </a:p>
        </p:txBody>
      </p:sp>
      <p:sp>
        <p:nvSpPr>
          <p:cNvPr id="52" name="Shape 49"/>
          <p:cNvSpPr/>
          <p:nvPr/>
        </p:nvSpPr>
        <p:spPr>
          <a:xfrm>
            <a:off x="6489700" y="477520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AD46FF"/>
          </a:solidFill>
          <a:ln/>
        </p:spPr>
        <p:txBody>
          <a:bodyPr/>
          <a:lstStyle/>
          <a:p>
            <a:endParaRPr lang="en-US"/>
          </a:p>
        </p:txBody>
      </p:sp>
      <p:sp>
        <p:nvSpPr>
          <p:cNvPr id="53" name="Text 50"/>
          <p:cNvSpPr/>
          <p:nvPr/>
        </p:nvSpPr>
        <p:spPr>
          <a:xfrm>
            <a:off x="6457950" y="4775205"/>
            <a:ext cx="317500" cy="2540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54" name="Text 51"/>
          <p:cNvSpPr/>
          <p:nvPr/>
        </p:nvSpPr>
        <p:spPr>
          <a:xfrm>
            <a:off x="6838950" y="4791080"/>
            <a:ext cx="500063" cy="222250"/>
          </a:xfrm>
          <a:prstGeom prst="rect">
            <a:avLst/>
          </a:prstGeom>
          <a:noFill/>
          <a:ln/>
        </p:spPr>
        <p:txBody>
          <a:bodyPr wrap="square" lIns="0" tIns="0" rIns="0" bIns="0" rtlCol="0" anchor="ctr"/>
          <a:lstStyle/>
          <a:p>
            <a:pPr>
              <a:lnSpc>
                <a:spcPct val="130000"/>
              </a:lnSpc>
            </a:pPr>
            <a:r>
              <a:rPr lang="en-US" sz="1125" b="1" dirty="0">
                <a:solidFill>
                  <a:srgbClr val="59168B"/>
                </a:solidFill>
                <a:latin typeface="Sorts Mill Goudy" pitchFamily="34" charset="0"/>
                <a:ea typeface="Sorts Mill Goudy" pitchFamily="34" charset="-122"/>
                <a:cs typeface="Sorts Mill Goudy" pitchFamily="34" charset="-120"/>
              </a:rPr>
              <a:t>Repeat</a:t>
            </a:r>
            <a:endParaRPr lang="en-US" sz="1600" dirty="0"/>
          </a:p>
        </p:txBody>
      </p:sp>
      <p:sp>
        <p:nvSpPr>
          <p:cNvPr id="55" name="Text 52"/>
          <p:cNvSpPr/>
          <p:nvPr/>
        </p:nvSpPr>
        <p:spPr>
          <a:xfrm>
            <a:off x="6489700" y="5092705"/>
            <a:ext cx="5183188" cy="190500"/>
          </a:xfrm>
          <a:prstGeom prst="rect">
            <a:avLst/>
          </a:prstGeom>
          <a:noFill/>
          <a:ln/>
        </p:spPr>
        <p:txBody>
          <a:bodyPr wrap="square" lIns="0" tIns="0" rIns="0" bIns="0" rtlCol="0" anchor="ctr"/>
          <a:lstStyle/>
          <a:p>
            <a:pPr>
              <a:lnSpc>
                <a:spcPct val="130000"/>
              </a:lnSpc>
            </a:pPr>
            <a:r>
              <a:rPr lang="en-US" sz="1000" dirty="0">
                <a:solidFill>
                  <a:srgbClr val="6E11B0"/>
                </a:solidFill>
                <a:latin typeface="Quattrocento Sans" pitchFamily="34" charset="0"/>
                <a:ea typeface="Quattrocento Sans" pitchFamily="34" charset="-122"/>
                <a:cs typeface="Quattrocento Sans" pitchFamily="34" charset="-120"/>
              </a:rPr>
              <a:t>Repeat steps 2-4 until </a:t>
            </a:r>
            <a:r>
              <a:rPr lang="en-US" sz="1000" b="1" dirty="0">
                <a:solidFill>
                  <a:srgbClr val="6E11B0"/>
                </a:solidFill>
                <a:latin typeface="Quattrocento Sans" pitchFamily="34" charset="0"/>
                <a:ea typeface="Quattrocento Sans" pitchFamily="34" charset="-122"/>
                <a:cs typeface="Quattrocento Sans" pitchFamily="34" charset="-120"/>
              </a:rPr>
              <a:t>no boxes remain</a:t>
            </a:r>
            <a:r>
              <a:rPr lang="en-US" sz="1000" dirty="0">
                <a:solidFill>
                  <a:srgbClr val="6E11B0"/>
                </a:solidFill>
                <a:latin typeface="Quattrocento Sans" pitchFamily="34" charset="0"/>
                <a:ea typeface="Quattrocento Sans" pitchFamily="34" charset="-122"/>
                <a:cs typeface="Quattrocento Sans" pitchFamily="34" charset="-120"/>
              </a:rPr>
              <a:t>.</a:t>
            </a:r>
            <a:endParaRPr lang="en-US" sz="1600" dirty="0"/>
          </a:p>
        </p:txBody>
      </p:sp>
      <p:sp>
        <p:nvSpPr>
          <p:cNvPr id="56" name="Text 53"/>
          <p:cNvSpPr/>
          <p:nvPr/>
        </p:nvSpPr>
        <p:spPr>
          <a:xfrm>
            <a:off x="6400800" y="5486402"/>
            <a:ext cx="5468938"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NMS Pseudocode</a:t>
            </a:r>
            <a:endParaRPr lang="en-US" sz="1600" dirty="0"/>
          </a:p>
        </p:txBody>
      </p:sp>
      <p:sp>
        <p:nvSpPr>
          <p:cNvPr id="57" name="Text 54"/>
          <p:cNvSpPr/>
          <p:nvPr/>
        </p:nvSpPr>
        <p:spPr>
          <a:xfrm>
            <a:off x="7646146" y="5407027"/>
            <a:ext cx="5246688"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 Input: boxes[], scores[], threshold</a:t>
            </a:r>
            <a:endParaRPr lang="en-US" sz="1600" dirty="0"/>
          </a:p>
        </p:txBody>
      </p:sp>
      <p:sp>
        <p:nvSpPr>
          <p:cNvPr id="58" name="Text 55"/>
          <p:cNvSpPr/>
          <p:nvPr/>
        </p:nvSpPr>
        <p:spPr>
          <a:xfrm>
            <a:off x="6323013" y="5645152"/>
            <a:ext cx="5246688" cy="158750"/>
          </a:xfrm>
          <a:prstGeom prst="rect">
            <a:avLst/>
          </a:prstGeom>
          <a:noFill/>
          <a:ln/>
        </p:spPr>
        <p:txBody>
          <a:bodyPr wrap="square" lIns="0" tIns="0" rIns="0" bIns="0" rtlCol="0" anchor="ctr"/>
          <a:lstStyle/>
          <a:p>
            <a:pPr>
              <a:lnSpc>
                <a:spcPct val="120000"/>
              </a:lnSpc>
            </a:pPr>
            <a:r>
              <a:rPr lang="en-US" sz="875" dirty="0">
                <a:solidFill>
                  <a:srgbClr val="6B7280"/>
                </a:solidFill>
                <a:latin typeface="MiSans" pitchFamily="34" charset="0"/>
                <a:ea typeface="MiSans" pitchFamily="34" charset="-122"/>
                <a:cs typeface="MiSans" pitchFamily="34" charset="-120"/>
              </a:rPr>
              <a:t>// Output: selected_boxes[]</a:t>
            </a:r>
            <a:endParaRPr lang="en-US" sz="1600" dirty="0"/>
          </a:p>
        </p:txBody>
      </p:sp>
      <p:sp>
        <p:nvSpPr>
          <p:cNvPr id="59" name="Text 56"/>
          <p:cNvSpPr/>
          <p:nvPr/>
        </p:nvSpPr>
        <p:spPr>
          <a:xfrm>
            <a:off x="6323013" y="5797553"/>
            <a:ext cx="5246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MiSans" pitchFamily="34" charset="0"/>
                <a:ea typeface="MiSans" pitchFamily="34" charset="-122"/>
                <a:cs typeface="MiSans" pitchFamily="34" charset="-120"/>
              </a:rPr>
              <a:t>while</a:t>
            </a:r>
            <a:r>
              <a:rPr lang="en-US" sz="875" dirty="0">
                <a:solidFill>
                  <a:srgbClr val="1F2937"/>
                </a:solidFill>
                <a:latin typeface="MiSans" pitchFamily="34" charset="0"/>
                <a:ea typeface="MiSans" pitchFamily="34" charset="-122"/>
                <a:cs typeface="MiSans" pitchFamily="34" charset="-120"/>
              </a:rPr>
              <a:t> boxes not empty:</a:t>
            </a:r>
            <a:endParaRPr lang="en-US" sz="1600" dirty="0"/>
          </a:p>
        </p:txBody>
      </p:sp>
      <p:sp>
        <p:nvSpPr>
          <p:cNvPr id="60" name="Text 57"/>
          <p:cNvSpPr/>
          <p:nvPr/>
        </p:nvSpPr>
        <p:spPr>
          <a:xfrm>
            <a:off x="6473825" y="6019803"/>
            <a:ext cx="5119688" cy="158750"/>
          </a:xfrm>
          <a:prstGeom prst="rect">
            <a:avLst/>
          </a:prstGeom>
          <a:noFill/>
          <a:ln/>
        </p:spPr>
        <p:txBody>
          <a:bodyPr wrap="square" lIns="0" tIns="0" rIns="0" bIns="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pick = argmax(scores)</a:t>
            </a:r>
            <a:endParaRPr lang="en-US" sz="1600" dirty="0"/>
          </a:p>
        </p:txBody>
      </p:sp>
      <p:sp>
        <p:nvSpPr>
          <p:cNvPr id="61" name="Text 58"/>
          <p:cNvSpPr/>
          <p:nvPr/>
        </p:nvSpPr>
        <p:spPr>
          <a:xfrm>
            <a:off x="6473825" y="6153152"/>
            <a:ext cx="5119688" cy="158750"/>
          </a:xfrm>
          <a:prstGeom prst="rect">
            <a:avLst/>
          </a:prstGeom>
          <a:noFill/>
          <a:ln/>
        </p:spPr>
        <p:txBody>
          <a:bodyPr wrap="square" lIns="0" tIns="0" rIns="0" bIns="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selected_boxes.append(boxes[pick])</a:t>
            </a:r>
            <a:endParaRPr lang="en-US" sz="1600" dirty="0"/>
          </a:p>
        </p:txBody>
      </p:sp>
      <p:sp>
        <p:nvSpPr>
          <p:cNvPr id="62" name="Text 59"/>
          <p:cNvSpPr/>
          <p:nvPr/>
        </p:nvSpPr>
        <p:spPr>
          <a:xfrm>
            <a:off x="6473825" y="6311902"/>
            <a:ext cx="5119688" cy="158750"/>
          </a:xfrm>
          <a:prstGeom prst="rect">
            <a:avLst/>
          </a:prstGeom>
          <a:noFill/>
          <a:ln/>
        </p:spPr>
        <p:txBody>
          <a:bodyPr wrap="square" lIns="0" tIns="0" rIns="0" bIns="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ious = compute_iou(boxes[pick], boxes)</a:t>
            </a:r>
            <a:endParaRPr lang="en-US" sz="1600" dirty="0"/>
          </a:p>
        </p:txBody>
      </p:sp>
      <p:sp>
        <p:nvSpPr>
          <p:cNvPr id="63" name="Text 60"/>
          <p:cNvSpPr/>
          <p:nvPr/>
        </p:nvSpPr>
        <p:spPr>
          <a:xfrm>
            <a:off x="6473825" y="6429131"/>
            <a:ext cx="5119688" cy="158750"/>
          </a:xfrm>
          <a:prstGeom prst="rect">
            <a:avLst/>
          </a:prstGeom>
          <a:noFill/>
          <a:ln/>
        </p:spPr>
        <p:txBody>
          <a:bodyPr wrap="square" lIns="0" tIns="0" rIns="0" bIns="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remove boxes where ious &gt; threshold</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07</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YOLO Loss</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Function</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How YOLO learns to detect objects</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7.1 LOSS FUNCTION</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Multi-Part Loss Function</a:t>
            </a:r>
            <a:endParaRPr lang="en-US" sz="1600" dirty="0"/>
          </a:p>
        </p:txBody>
      </p:sp>
      <p:sp>
        <p:nvSpPr>
          <p:cNvPr id="4" name="Shape 2"/>
          <p:cNvSpPr/>
          <p:nvPr/>
        </p:nvSpPr>
        <p:spPr>
          <a:xfrm>
            <a:off x="323850" y="958850"/>
            <a:ext cx="6870700" cy="2393950"/>
          </a:xfrm>
          <a:custGeom>
            <a:avLst/>
            <a:gdLst/>
            <a:ahLst/>
            <a:cxnLst/>
            <a:rect l="l" t="t" r="r" b="b"/>
            <a:pathLst>
              <a:path w="6870700" h="2393950">
                <a:moveTo>
                  <a:pt x="63511" y="0"/>
                </a:moveTo>
                <a:lnTo>
                  <a:pt x="6807189" y="0"/>
                </a:lnTo>
                <a:cubicBezTo>
                  <a:pt x="6842265" y="0"/>
                  <a:pt x="6870700" y="28435"/>
                  <a:pt x="6870700" y="63511"/>
                </a:cubicBezTo>
                <a:lnTo>
                  <a:pt x="6870700" y="2330439"/>
                </a:lnTo>
                <a:cubicBezTo>
                  <a:pt x="6870700" y="2365515"/>
                  <a:pt x="6842265" y="2393950"/>
                  <a:pt x="6807189" y="2393950"/>
                </a:cubicBezTo>
                <a:lnTo>
                  <a:pt x="63511" y="2393950"/>
                </a:lnTo>
                <a:cubicBezTo>
                  <a:pt x="28435" y="2393950"/>
                  <a:pt x="0" y="2365515"/>
                  <a:pt x="0" y="2330439"/>
                </a:cubicBezTo>
                <a:lnTo>
                  <a:pt x="0" y="63511"/>
                </a:lnTo>
                <a:cubicBezTo>
                  <a:pt x="0" y="28459"/>
                  <a:pt x="28459" y="0"/>
                  <a:pt x="63511" y="0"/>
                </a:cubicBezTo>
                <a:close/>
              </a:path>
            </a:pathLst>
          </a:custGeom>
          <a:solidFill>
            <a:srgbClr val="FFFFFF"/>
          </a:solidFill>
          <a:ln w="20320">
            <a:solidFill>
              <a:srgbClr val="1F2937"/>
            </a:solidFill>
            <a:prstDash val="solid"/>
          </a:ln>
        </p:spPr>
        <p:txBody>
          <a:bodyPr/>
          <a:lstStyle/>
          <a:p>
            <a:endParaRPr lang="en-US"/>
          </a:p>
        </p:txBody>
      </p:sp>
      <p:sp>
        <p:nvSpPr>
          <p:cNvPr id="5" name="Text 3"/>
          <p:cNvSpPr/>
          <p:nvPr/>
        </p:nvSpPr>
        <p:spPr>
          <a:xfrm>
            <a:off x="417513" y="1092205"/>
            <a:ext cx="6683375" cy="222250"/>
          </a:xfrm>
          <a:prstGeom prst="rect">
            <a:avLst/>
          </a:prstGeom>
          <a:noFill/>
          <a:ln/>
        </p:spPr>
        <p:txBody>
          <a:bodyPr wrap="square" lIns="0" tIns="0" rIns="0" bIns="0" rtlCol="0" anchor="ctr"/>
          <a:lstStyle/>
          <a:p>
            <a:pPr algn="ct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Complete Loss Formula</a:t>
            </a:r>
            <a:endParaRPr lang="en-US" sz="1600" dirty="0"/>
          </a:p>
        </p:txBody>
      </p:sp>
      <p:sp>
        <p:nvSpPr>
          <p:cNvPr id="6" name="Shape 4"/>
          <p:cNvSpPr/>
          <p:nvPr/>
        </p:nvSpPr>
        <p:spPr>
          <a:xfrm>
            <a:off x="457200" y="1409705"/>
            <a:ext cx="6604000" cy="1270000"/>
          </a:xfrm>
          <a:custGeom>
            <a:avLst/>
            <a:gdLst/>
            <a:ahLst/>
            <a:cxnLst/>
            <a:rect l="l" t="t" r="r" b="b"/>
            <a:pathLst>
              <a:path w="6604000" h="1270000">
                <a:moveTo>
                  <a:pt x="31750" y="0"/>
                </a:moveTo>
                <a:lnTo>
                  <a:pt x="6572250" y="0"/>
                </a:lnTo>
                <a:cubicBezTo>
                  <a:pt x="6589773" y="0"/>
                  <a:pt x="6604000" y="14227"/>
                  <a:pt x="6604000" y="31750"/>
                </a:cubicBezTo>
                <a:lnTo>
                  <a:pt x="6604000" y="1238250"/>
                </a:lnTo>
                <a:cubicBezTo>
                  <a:pt x="6604000" y="1255773"/>
                  <a:pt x="6589773" y="1270000"/>
                  <a:pt x="6572250" y="1270000"/>
                </a:cubicBezTo>
                <a:lnTo>
                  <a:pt x="31750" y="1270000"/>
                </a:lnTo>
                <a:cubicBezTo>
                  <a:pt x="14227" y="1270000"/>
                  <a:pt x="0" y="1255773"/>
                  <a:pt x="0" y="1238250"/>
                </a:cubicBezTo>
                <a:lnTo>
                  <a:pt x="0" y="31750"/>
                </a:lnTo>
                <a:cubicBezTo>
                  <a:pt x="0" y="14227"/>
                  <a:pt x="14227" y="0"/>
                  <a:pt x="31750" y="0"/>
                </a:cubicBezTo>
                <a:close/>
              </a:path>
            </a:pathLst>
          </a:custGeom>
          <a:solidFill>
            <a:srgbClr val="F3F4F6"/>
          </a:solidFill>
          <a:ln/>
        </p:spPr>
        <p:txBody>
          <a:bodyPr/>
          <a:lstStyle/>
          <a:p>
            <a:endParaRPr lang="en-US"/>
          </a:p>
        </p:txBody>
      </p:sp>
      <p:sp>
        <p:nvSpPr>
          <p:cNvPr id="7" name="Text 5"/>
          <p:cNvSpPr/>
          <p:nvPr/>
        </p:nvSpPr>
        <p:spPr>
          <a:xfrm>
            <a:off x="552450" y="1504955"/>
            <a:ext cx="6477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MiSans" pitchFamily="34" charset="0"/>
                <a:ea typeface="MiSans" pitchFamily="34" charset="-122"/>
                <a:cs typeface="MiSans" pitchFamily="34" charset="-120"/>
              </a:rPr>
              <a:t>Loss = λ</a:t>
            </a:r>
            <a:r>
              <a:rPr lang="en-US" sz="750" dirty="0">
                <a:solidFill>
                  <a:srgbClr val="1F2937"/>
                </a:solidFill>
                <a:latin typeface="MiSans" pitchFamily="34" charset="0"/>
                <a:ea typeface="MiSans" pitchFamily="34" charset="-122"/>
                <a:cs typeface="MiSans" pitchFamily="34" charset="-120"/>
              </a:rPr>
              <a:t>coord</a:t>
            </a:r>
            <a:r>
              <a:rPr lang="en-US" sz="1000" dirty="0">
                <a:solidFill>
                  <a:srgbClr val="1F2937"/>
                </a:solidFill>
                <a:latin typeface="MiSans" pitchFamily="34" charset="0"/>
                <a:ea typeface="MiSans" pitchFamily="34" charset="-122"/>
                <a:cs typeface="MiSans" pitchFamily="34" charset="-120"/>
              </a:rPr>
              <a:t> × Σ[1</a:t>
            </a:r>
            <a:r>
              <a:rPr lang="en-US" sz="750" dirty="0">
                <a:solidFill>
                  <a:srgbClr val="1F2937"/>
                </a:solidFill>
                <a:latin typeface="MiSans" pitchFamily="34" charset="0"/>
                <a:ea typeface="MiSans" pitchFamily="34" charset="-122"/>
                <a:cs typeface="MiSans" pitchFamily="34" charset="-120"/>
              </a:rPr>
              <a:t>iobj</a:t>
            </a:r>
            <a:r>
              <a:rPr lang="en-US" sz="1000" dirty="0">
                <a:solidFill>
                  <a:srgbClr val="1F2937"/>
                </a:solidFill>
                <a:latin typeface="MiSans" pitchFamily="34" charset="0"/>
                <a:ea typeface="MiSans" pitchFamily="34" charset="-122"/>
                <a:cs typeface="MiSans" pitchFamily="34" charset="-120"/>
              </a:rPr>
              <a:t> × ((x-x̂)² + (y-ŷ)²)]</a:t>
            </a:r>
            <a:endParaRPr lang="en-US" sz="1600" dirty="0"/>
          </a:p>
        </p:txBody>
      </p:sp>
      <p:sp>
        <p:nvSpPr>
          <p:cNvPr id="8" name="Text 6"/>
          <p:cNvSpPr/>
          <p:nvPr/>
        </p:nvSpPr>
        <p:spPr>
          <a:xfrm>
            <a:off x="552450" y="1727205"/>
            <a:ext cx="6477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MiSans" pitchFamily="34" charset="0"/>
                <a:ea typeface="MiSans" pitchFamily="34" charset="-122"/>
                <a:cs typeface="MiSans" pitchFamily="34" charset="-120"/>
              </a:rPr>
              <a:t>+ λ</a:t>
            </a:r>
            <a:r>
              <a:rPr lang="en-US" sz="750" dirty="0">
                <a:solidFill>
                  <a:srgbClr val="1F2937"/>
                </a:solidFill>
                <a:latin typeface="MiSans" pitchFamily="34" charset="0"/>
                <a:ea typeface="MiSans" pitchFamily="34" charset="-122"/>
                <a:cs typeface="MiSans" pitchFamily="34" charset="-120"/>
              </a:rPr>
              <a:t>coord</a:t>
            </a:r>
            <a:r>
              <a:rPr lang="en-US" sz="1000" dirty="0">
                <a:solidFill>
                  <a:srgbClr val="1F2937"/>
                </a:solidFill>
                <a:latin typeface="MiSans" pitchFamily="34" charset="0"/>
                <a:ea typeface="MiSans" pitchFamily="34" charset="-122"/>
                <a:cs typeface="MiSans" pitchFamily="34" charset="-120"/>
              </a:rPr>
              <a:t> × Σ[1</a:t>
            </a:r>
            <a:r>
              <a:rPr lang="en-US" sz="750" dirty="0">
                <a:solidFill>
                  <a:srgbClr val="1F2937"/>
                </a:solidFill>
                <a:latin typeface="MiSans" pitchFamily="34" charset="0"/>
                <a:ea typeface="MiSans" pitchFamily="34" charset="-122"/>
                <a:cs typeface="MiSans" pitchFamily="34" charset="-120"/>
              </a:rPr>
              <a:t>iobj</a:t>
            </a:r>
            <a:r>
              <a:rPr lang="en-US" sz="1000" dirty="0">
                <a:solidFill>
                  <a:srgbClr val="1F2937"/>
                </a:solidFill>
                <a:latin typeface="MiSans" pitchFamily="34" charset="0"/>
                <a:ea typeface="MiSans" pitchFamily="34" charset="-122"/>
                <a:cs typeface="MiSans" pitchFamily="34" charset="-120"/>
              </a:rPr>
              <a:t> × ((√w-√ŵ)² + (√h-ĥ)²)]</a:t>
            </a:r>
            <a:endParaRPr lang="en-US" sz="1600" dirty="0"/>
          </a:p>
        </p:txBody>
      </p:sp>
      <p:sp>
        <p:nvSpPr>
          <p:cNvPr id="9" name="Text 7"/>
          <p:cNvSpPr/>
          <p:nvPr/>
        </p:nvSpPr>
        <p:spPr>
          <a:xfrm>
            <a:off x="552450" y="1949455"/>
            <a:ext cx="6477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MiSans" pitchFamily="34" charset="0"/>
                <a:ea typeface="MiSans" pitchFamily="34" charset="-122"/>
                <a:cs typeface="MiSans" pitchFamily="34" charset="-120"/>
              </a:rPr>
              <a:t>+ Σ[1</a:t>
            </a:r>
            <a:r>
              <a:rPr lang="en-US" sz="750" dirty="0">
                <a:solidFill>
                  <a:srgbClr val="1F2937"/>
                </a:solidFill>
                <a:latin typeface="MiSans" pitchFamily="34" charset="0"/>
                <a:ea typeface="MiSans" pitchFamily="34" charset="-122"/>
                <a:cs typeface="MiSans" pitchFamily="34" charset="-120"/>
              </a:rPr>
              <a:t>iobj</a:t>
            </a:r>
            <a:r>
              <a:rPr lang="en-US" sz="1000" dirty="0">
                <a:solidFill>
                  <a:srgbClr val="1F2937"/>
                </a:solidFill>
                <a:latin typeface="MiSans" pitchFamily="34" charset="0"/>
                <a:ea typeface="MiSans" pitchFamily="34" charset="-122"/>
                <a:cs typeface="MiSans" pitchFamily="34" charset="-120"/>
              </a:rPr>
              <a:t> × (C-Ĉ)²]</a:t>
            </a:r>
            <a:endParaRPr lang="en-US" sz="1600" dirty="0"/>
          </a:p>
        </p:txBody>
      </p:sp>
      <p:sp>
        <p:nvSpPr>
          <p:cNvPr id="10" name="Text 8"/>
          <p:cNvSpPr/>
          <p:nvPr/>
        </p:nvSpPr>
        <p:spPr>
          <a:xfrm>
            <a:off x="552450" y="2171705"/>
            <a:ext cx="6477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MiSans" pitchFamily="34" charset="0"/>
                <a:ea typeface="MiSans" pitchFamily="34" charset="-122"/>
                <a:cs typeface="MiSans" pitchFamily="34" charset="-120"/>
              </a:rPr>
              <a:t>+ λ</a:t>
            </a:r>
            <a:r>
              <a:rPr lang="en-US" sz="750" dirty="0">
                <a:solidFill>
                  <a:srgbClr val="1F2937"/>
                </a:solidFill>
                <a:latin typeface="MiSans" pitchFamily="34" charset="0"/>
                <a:ea typeface="MiSans" pitchFamily="34" charset="-122"/>
                <a:cs typeface="MiSans" pitchFamily="34" charset="-120"/>
              </a:rPr>
              <a:t>noobj</a:t>
            </a:r>
            <a:r>
              <a:rPr lang="en-US" sz="1000" dirty="0">
                <a:solidFill>
                  <a:srgbClr val="1F2937"/>
                </a:solidFill>
                <a:latin typeface="MiSans" pitchFamily="34" charset="0"/>
                <a:ea typeface="MiSans" pitchFamily="34" charset="-122"/>
                <a:cs typeface="MiSans" pitchFamily="34" charset="-120"/>
              </a:rPr>
              <a:t> × Σ[1</a:t>
            </a:r>
            <a:r>
              <a:rPr lang="en-US" sz="750" dirty="0">
                <a:solidFill>
                  <a:srgbClr val="1F2937"/>
                </a:solidFill>
                <a:latin typeface="MiSans" pitchFamily="34" charset="0"/>
                <a:ea typeface="MiSans" pitchFamily="34" charset="-122"/>
                <a:cs typeface="MiSans" pitchFamily="34" charset="-120"/>
              </a:rPr>
              <a:t>inoobj</a:t>
            </a:r>
            <a:r>
              <a:rPr lang="en-US" sz="1000" dirty="0">
                <a:solidFill>
                  <a:srgbClr val="1F2937"/>
                </a:solidFill>
                <a:latin typeface="MiSans" pitchFamily="34" charset="0"/>
                <a:ea typeface="MiSans" pitchFamily="34" charset="-122"/>
                <a:cs typeface="MiSans" pitchFamily="34" charset="-120"/>
              </a:rPr>
              <a:t> × (C-Ĉ)²]</a:t>
            </a:r>
            <a:endParaRPr lang="en-US" sz="1600" dirty="0"/>
          </a:p>
        </p:txBody>
      </p:sp>
      <p:sp>
        <p:nvSpPr>
          <p:cNvPr id="11" name="Text 9"/>
          <p:cNvSpPr/>
          <p:nvPr/>
        </p:nvSpPr>
        <p:spPr>
          <a:xfrm>
            <a:off x="552450" y="2393955"/>
            <a:ext cx="6477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MiSans" pitchFamily="34" charset="0"/>
                <a:ea typeface="MiSans" pitchFamily="34" charset="-122"/>
                <a:cs typeface="MiSans" pitchFamily="34" charset="-120"/>
              </a:rPr>
              <a:t>+ Σ[1</a:t>
            </a:r>
            <a:r>
              <a:rPr lang="en-US" sz="750" dirty="0">
                <a:solidFill>
                  <a:srgbClr val="1F2937"/>
                </a:solidFill>
                <a:latin typeface="MiSans" pitchFamily="34" charset="0"/>
                <a:ea typeface="MiSans" pitchFamily="34" charset="-122"/>
                <a:cs typeface="MiSans" pitchFamily="34" charset="-120"/>
              </a:rPr>
              <a:t>iobj</a:t>
            </a:r>
            <a:r>
              <a:rPr lang="en-US" sz="1000" dirty="0">
                <a:solidFill>
                  <a:srgbClr val="1F2937"/>
                </a:solidFill>
                <a:latin typeface="MiSans" pitchFamily="34" charset="0"/>
                <a:ea typeface="MiSans" pitchFamily="34" charset="-122"/>
                <a:cs typeface="MiSans" pitchFamily="34" charset="-120"/>
              </a:rPr>
              <a:t> × Σ(p(c)-p̂(c))²]</a:t>
            </a:r>
            <a:endParaRPr lang="en-US" sz="1600" dirty="0"/>
          </a:p>
        </p:txBody>
      </p:sp>
      <p:sp>
        <p:nvSpPr>
          <p:cNvPr id="12" name="Shape 10"/>
          <p:cNvSpPr/>
          <p:nvPr/>
        </p:nvSpPr>
        <p:spPr>
          <a:xfrm>
            <a:off x="473075" y="2774955"/>
            <a:ext cx="3254375" cy="444500"/>
          </a:xfrm>
          <a:custGeom>
            <a:avLst/>
            <a:gdLst/>
            <a:ahLst/>
            <a:cxnLst/>
            <a:rect l="l" t="t" r="r" b="b"/>
            <a:pathLst>
              <a:path w="3254375" h="444500">
                <a:moveTo>
                  <a:pt x="31750" y="0"/>
                </a:moveTo>
                <a:lnTo>
                  <a:pt x="3222624" y="0"/>
                </a:lnTo>
                <a:cubicBezTo>
                  <a:pt x="3240160" y="0"/>
                  <a:pt x="3254375" y="14215"/>
                  <a:pt x="3254375" y="31751"/>
                </a:cubicBezTo>
                <a:lnTo>
                  <a:pt x="3254375" y="412749"/>
                </a:lnTo>
                <a:cubicBezTo>
                  <a:pt x="3254375" y="430285"/>
                  <a:pt x="3240160" y="444500"/>
                  <a:pt x="3222624" y="444500"/>
                </a:cubicBezTo>
                <a:lnTo>
                  <a:pt x="31750" y="444500"/>
                </a:lnTo>
                <a:cubicBezTo>
                  <a:pt x="14215" y="444500"/>
                  <a:pt x="0" y="430285"/>
                  <a:pt x="0" y="412750"/>
                </a:cubicBezTo>
                <a:lnTo>
                  <a:pt x="0" y="31750"/>
                </a:lnTo>
                <a:cubicBezTo>
                  <a:pt x="0" y="14227"/>
                  <a:pt x="14227" y="0"/>
                  <a:pt x="31750" y="0"/>
                </a:cubicBezTo>
                <a:close/>
              </a:path>
            </a:pathLst>
          </a:custGeom>
          <a:solidFill>
            <a:srgbClr val="EFF6FF"/>
          </a:solidFill>
          <a:ln/>
        </p:spPr>
        <p:txBody>
          <a:bodyPr/>
          <a:lstStyle/>
          <a:p>
            <a:endParaRPr lang="en-US"/>
          </a:p>
        </p:txBody>
      </p:sp>
      <p:sp>
        <p:nvSpPr>
          <p:cNvPr id="13" name="Shape 11"/>
          <p:cNvSpPr/>
          <p:nvPr/>
        </p:nvSpPr>
        <p:spPr>
          <a:xfrm>
            <a:off x="473075" y="2774955"/>
            <a:ext cx="31750" cy="444500"/>
          </a:xfrm>
          <a:custGeom>
            <a:avLst/>
            <a:gdLst/>
            <a:ahLst/>
            <a:cxnLst/>
            <a:rect l="l" t="t" r="r" b="b"/>
            <a:pathLst>
              <a:path w="31750" h="444500">
                <a:moveTo>
                  <a:pt x="31750" y="0"/>
                </a:moveTo>
                <a:lnTo>
                  <a:pt x="31750" y="0"/>
                </a:lnTo>
                <a:lnTo>
                  <a:pt x="31750" y="444500"/>
                </a:lnTo>
                <a:lnTo>
                  <a:pt x="31750" y="444500"/>
                </a:lnTo>
                <a:cubicBezTo>
                  <a:pt x="14227" y="444500"/>
                  <a:pt x="0" y="430273"/>
                  <a:pt x="0" y="412750"/>
                </a:cubicBezTo>
                <a:lnTo>
                  <a:pt x="0" y="31750"/>
                </a:lnTo>
                <a:cubicBezTo>
                  <a:pt x="0" y="14227"/>
                  <a:pt x="14227" y="0"/>
                  <a:pt x="31750" y="0"/>
                </a:cubicBezTo>
                <a:close/>
              </a:path>
            </a:pathLst>
          </a:custGeom>
          <a:solidFill>
            <a:srgbClr val="2B7FFF"/>
          </a:solidFill>
          <a:ln/>
        </p:spPr>
        <p:txBody>
          <a:bodyPr/>
          <a:lstStyle/>
          <a:p>
            <a:endParaRPr lang="en-US"/>
          </a:p>
        </p:txBody>
      </p:sp>
      <p:sp>
        <p:nvSpPr>
          <p:cNvPr id="14" name="Text 12"/>
          <p:cNvSpPr/>
          <p:nvPr/>
        </p:nvSpPr>
        <p:spPr>
          <a:xfrm>
            <a:off x="552450" y="2851152"/>
            <a:ext cx="498971" cy="127000"/>
          </a:xfrm>
          <a:prstGeom prst="rect">
            <a:avLst/>
          </a:prstGeom>
          <a:noFill/>
          <a:ln/>
        </p:spPr>
        <p:txBody>
          <a:bodyPr wrap="square" lIns="0" tIns="0" rIns="0" bIns="0" rtlCol="0" anchor="ctr"/>
          <a:lstStyle/>
          <a:p>
            <a:pP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λ</a:t>
            </a:r>
            <a:r>
              <a:rPr lang="en-US" sz="656" b="1" dirty="0">
                <a:solidFill>
                  <a:srgbClr val="1F2937"/>
                </a:solidFill>
                <a:latin typeface="Quattrocento Sans" pitchFamily="34" charset="0"/>
                <a:ea typeface="Quattrocento Sans" pitchFamily="34" charset="-122"/>
                <a:cs typeface="Quattrocento Sans" pitchFamily="34" charset="-120"/>
              </a:rPr>
              <a:t>coord</a:t>
            </a:r>
            <a:r>
              <a:rPr lang="en-US" sz="875" b="1" dirty="0">
                <a:solidFill>
                  <a:srgbClr val="1F2937"/>
                </a:solidFill>
                <a:latin typeface="Quattrocento Sans" pitchFamily="34" charset="0"/>
                <a:ea typeface="Quattrocento Sans" pitchFamily="34" charset="-122"/>
                <a:cs typeface="Quattrocento Sans" pitchFamily="34" charset="-120"/>
              </a:rPr>
              <a:t> = 5</a:t>
            </a:r>
            <a:endParaRPr lang="en-US" sz="1600" dirty="0"/>
          </a:p>
        </p:txBody>
      </p:sp>
      <p:sp>
        <p:nvSpPr>
          <p:cNvPr id="15" name="Text 13"/>
          <p:cNvSpPr/>
          <p:nvPr/>
        </p:nvSpPr>
        <p:spPr>
          <a:xfrm>
            <a:off x="552450" y="3009902"/>
            <a:ext cx="1582738" cy="127000"/>
          </a:xfrm>
          <a:prstGeom prst="rect">
            <a:avLst/>
          </a:prstGeom>
          <a:noFill/>
          <a:ln/>
        </p:spPr>
        <p:txBody>
          <a:bodyPr wrap="square" lIns="0" tIns="0" rIns="0" bIns="0" rtlCol="0" anchor="ctr"/>
          <a:lstStyle/>
          <a:p>
            <a:pP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Increase coordinate importance</a:t>
            </a:r>
            <a:endParaRPr lang="en-US" sz="1600" dirty="0"/>
          </a:p>
        </p:txBody>
      </p:sp>
      <p:sp>
        <p:nvSpPr>
          <p:cNvPr id="16" name="Shape 14"/>
          <p:cNvSpPr/>
          <p:nvPr/>
        </p:nvSpPr>
        <p:spPr>
          <a:xfrm>
            <a:off x="3806825" y="2774955"/>
            <a:ext cx="3254375" cy="444500"/>
          </a:xfrm>
          <a:custGeom>
            <a:avLst/>
            <a:gdLst/>
            <a:ahLst/>
            <a:cxnLst/>
            <a:rect l="l" t="t" r="r" b="b"/>
            <a:pathLst>
              <a:path w="3254375" h="444500">
                <a:moveTo>
                  <a:pt x="31750" y="0"/>
                </a:moveTo>
                <a:lnTo>
                  <a:pt x="3222624" y="0"/>
                </a:lnTo>
                <a:cubicBezTo>
                  <a:pt x="3240160" y="0"/>
                  <a:pt x="3254375" y="14215"/>
                  <a:pt x="3254375" y="31751"/>
                </a:cubicBezTo>
                <a:lnTo>
                  <a:pt x="3254375" y="412749"/>
                </a:lnTo>
                <a:cubicBezTo>
                  <a:pt x="3254375" y="430285"/>
                  <a:pt x="3240160" y="444500"/>
                  <a:pt x="3222624" y="444500"/>
                </a:cubicBezTo>
                <a:lnTo>
                  <a:pt x="31750" y="444500"/>
                </a:lnTo>
                <a:cubicBezTo>
                  <a:pt x="14215" y="444500"/>
                  <a:pt x="0" y="430285"/>
                  <a:pt x="0" y="412750"/>
                </a:cubicBezTo>
                <a:lnTo>
                  <a:pt x="0" y="31750"/>
                </a:lnTo>
                <a:cubicBezTo>
                  <a:pt x="0" y="14227"/>
                  <a:pt x="14227" y="0"/>
                  <a:pt x="31750" y="0"/>
                </a:cubicBezTo>
                <a:close/>
              </a:path>
            </a:pathLst>
          </a:custGeom>
          <a:solidFill>
            <a:srgbClr val="FEF2F2"/>
          </a:solidFill>
          <a:ln/>
        </p:spPr>
        <p:txBody>
          <a:bodyPr/>
          <a:lstStyle/>
          <a:p>
            <a:endParaRPr lang="en-US"/>
          </a:p>
        </p:txBody>
      </p:sp>
      <p:sp>
        <p:nvSpPr>
          <p:cNvPr id="17" name="Shape 15"/>
          <p:cNvSpPr/>
          <p:nvPr/>
        </p:nvSpPr>
        <p:spPr>
          <a:xfrm>
            <a:off x="3806825" y="2774955"/>
            <a:ext cx="31750" cy="444500"/>
          </a:xfrm>
          <a:custGeom>
            <a:avLst/>
            <a:gdLst/>
            <a:ahLst/>
            <a:cxnLst/>
            <a:rect l="l" t="t" r="r" b="b"/>
            <a:pathLst>
              <a:path w="31750" h="444500">
                <a:moveTo>
                  <a:pt x="31750" y="0"/>
                </a:moveTo>
                <a:lnTo>
                  <a:pt x="31750" y="0"/>
                </a:lnTo>
                <a:lnTo>
                  <a:pt x="31750" y="444500"/>
                </a:lnTo>
                <a:lnTo>
                  <a:pt x="31750" y="444500"/>
                </a:lnTo>
                <a:cubicBezTo>
                  <a:pt x="14227" y="444500"/>
                  <a:pt x="0" y="430273"/>
                  <a:pt x="0" y="412750"/>
                </a:cubicBezTo>
                <a:lnTo>
                  <a:pt x="0" y="31750"/>
                </a:lnTo>
                <a:cubicBezTo>
                  <a:pt x="0" y="14227"/>
                  <a:pt x="14227" y="0"/>
                  <a:pt x="31750" y="0"/>
                </a:cubicBezTo>
                <a:close/>
              </a:path>
            </a:pathLst>
          </a:custGeom>
          <a:solidFill>
            <a:srgbClr val="FB2C36"/>
          </a:solidFill>
          <a:ln/>
        </p:spPr>
        <p:txBody>
          <a:bodyPr/>
          <a:lstStyle/>
          <a:p>
            <a:endParaRPr lang="en-US"/>
          </a:p>
        </p:txBody>
      </p:sp>
      <p:sp>
        <p:nvSpPr>
          <p:cNvPr id="18" name="Text 16"/>
          <p:cNvSpPr/>
          <p:nvPr/>
        </p:nvSpPr>
        <p:spPr>
          <a:xfrm>
            <a:off x="3886200" y="2851152"/>
            <a:ext cx="590054" cy="127000"/>
          </a:xfrm>
          <a:prstGeom prst="rect">
            <a:avLst/>
          </a:prstGeom>
          <a:noFill/>
          <a:ln/>
        </p:spPr>
        <p:txBody>
          <a:bodyPr wrap="square" lIns="0" tIns="0" rIns="0" bIns="0" rtlCol="0" anchor="ctr"/>
          <a:lstStyle/>
          <a:p>
            <a:pPr>
              <a:lnSpc>
                <a:spcPct val="120000"/>
              </a:lnSpc>
            </a:pPr>
            <a:r>
              <a:rPr lang="en-US" sz="875" b="1" dirty="0">
                <a:solidFill>
                  <a:srgbClr val="1F2937"/>
                </a:solidFill>
                <a:latin typeface="Quattrocento Sans" pitchFamily="34" charset="0"/>
                <a:ea typeface="Quattrocento Sans" pitchFamily="34" charset="-122"/>
                <a:cs typeface="Quattrocento Sans" pitchFamily="34" charset="-120"/>
              </a:rPr>
              <a:t>λ</a:t>
            </a:r>
            <a:r>
              <a:rPr lang="en-US" sz="656" b="1" dirty="0">
                <a:solidFill>
                  <a:srgbClr val="1F2937"/>
                </a:solidFill>
                <a:latin typeface="Quattrocento Sans" pitchFamily="34" charset="0"/>
                <a:ea typeface="Quattrocento Sans" pitchFamily="34" charset="-122"/>
                <a:cs typeface="Quattrocento Sans" pitchFamily="34" charset="-120"/>
              </a:rPr>
              <a:t>noobj</a:t>
            </a:r>
            <a:r>
              <a:rPr lang="en-US" sz="875" b="1" dirty="0">
                <a:solidFill>
                  <a:srgbClr val="1F2937"/>
                </a:solidFill>
                <a:latin typeface="Quattrocento Sans" pitchFamily="34" charset="0"/>
                <a:ea typeface="Quattrocento Sans" pitchFamily="34" charset="-122"/>
                <a:cs typeface="Quattrocento Sans" pitchFamily="34" charset="-120"/>
              </a:rPr>
              <a:t> = 0.5</a:t>
            </a:r>
            <a:endParaRPr lang="en-US" sz="1600" dirty="0"/>
          </a:p>
        </p:txBody>
      </p:sp>
      <p:sp>
        <p:nvSpPr>
          <p:cNvPr id="19" name="Text 17"/>
          <p:cNvSpPr/>
          <p:nvPr/>
        </p:nvSpPr>
        <p:spPr>
          <a:xfrm>
            <a:off x="3886200" y="3009902"/>
            <a:ext cx="1388368" cy="127000"/>
          </a:xfrm>
          <a:prstGeom prst="rect">
            <a:avLst/>
          </a:prstGeom>
          <a:noFill/>
          <a:ln/>
        </p:spPr>
        <p:txBody>
          <a:bodyPr wrap="square" lIns="0" tIns="0" rIns="0" bIns="0" rtlCol="0" anchor="ctr"/>
          <a:lstStyle/>
          <a:p>
            <a:pPr>
              <a:lnSpc>
                <a:spcPct val="120000"/>
              </a:lnSpc>
            </a:pPr>
            <a:r>
              <a:rPr lang="en-US" sz="875" dirty="0">
                <a:solidFill>
                  <a:srgbClr val="6B7280"/>
                </a:solidFill>
                <a:latin typeface="Quattrocento Sans" pitchFamily="34" charset="0"/>
                <a:ea typeface="Quattrocento Sans" pitchFamily="34" charset="-122"/>
                <a:cs typeface="Quattrocento Sans" pitchFamily="34" charset="-120"/>
              </a:rPr>
              <a:t>Decrease empty cell weight</a:t>
            </a:r>
            <a:endParaRPr lang="en-US" sz="1600" dirty="0"/>
          </a:p>
        </p:txBody>
      </p:sp>
      <p:sp>
        <p:nvSpPr>
          <p:cNvPr id="20" name="Shape 18"/>
          <p:cNvSpPr/>
          <p:nvPr/>
        </p:nvSpPr>
        <p:spPr>
          <a:xfrm>
            <a:off x="333375" y="3454402"/>
            <a:ext cx="3381375" cy="1222375"/>
          </a:xfrm>
          <a:custGeom>
            <a:avLst/>
            <a:gdLst/>
            <a:ahLst/>
            <a:cxnLst/>
            <a:rect l="l" t="t" r="r" b="b"/>
            <a:pathLst>
              <a:path w="3381375" h="1222375">
                <a:moveTo>
                  <a:pt x="31750" y="0"/>
                </a:moveTo>
                <a:lnTo>
                  <a:pt x="3317873" y="0"/>
                </a:lnTo>
                <a:cubicBezTo>
                  <a:pt x="3352944" y="0"/>
                  <a:pt x="3381375" y="28431"/>
                  <a:pt x="3381375" y="63502"/>
                </a:cubicBezTo>
                <a:lnTo>
                  <a:pt x="3381375" y="1158873"/>
                </a:lnTo>
                <a:cubicBezTo>
                  <a:pt x="3381375" y="1193944"/>
                  <a:pt x="3352944" y="1222375"/>
                  <a:pt x="3317873" y="1222375"/>
                </a:cubicBezTo>
                <a:lnTo>
                  <a:pt x="31750" y="1222375"/>
                </a:lnTo>
                <a:cubicBezTo>
                  <a:pt x="14215" y="1222375"/>
                  <a:pt x="0" y="1208160"/>
                  <a:pt x="0" y="1190625"/>
                </a:cubicBezTo>
                <a:lnTo>
                  <a:pt x="0" y="31750"/>
                </a:lnTo>
                <a:cubicBezTo>
                  <a:pt x="0" y="14227"/>
                  <a:pt x="14227" y="0"/>
                  <a:pt x="31750" y="0"/>
                </a:cubicBezTo>
                <a:close/>
              </a:path>
            </a:pathLst>
          </a:custGeom>
          <a:solidFill>
            <a:srgbClr val="EFF6FF"/>
          </a:solidFill>
          <a:ln/>
        </p:spPr>
        <p:txBody>
          <a:bodyPr/>
          <a:lstStyle/>
          <a:p>
            <a:endParaRPr lang="en-US"/>
          </a:p>
        </p:txBody>
      </p:sp>
      <p:sp>
        <p:nvSpPr>
          <p:cNvPr id="21" name="Shape 19"/>
          <p:cNvSpPr/>
          <p:nvPr/>
        </p:nvSpPr>
        <p:spPr>
          <a:xfrm>
            <a:off x="333375" y="3454402"/>
            <a:ext cx="31750" cy="1222375"/>
          </a:xfrm>
          <a:custGeom>
            <a:avLst/>
            <a:gdLst/>
            <a:ahLst/>
            <a:cxnLst/>
            <a:rect l="l" t="t" r="r" b="b"/>
            <a:pathLst>
              <a:path w="31750" h="1222375">
                <a:moveTo>
                  <a:pt x="31750" y="0"/>
                </a:moveTo>
                <a:lnTo>
                  <a:pt x="31750" y="0"/>
                </a:lnTo>
                <a:lnTo>
                  <a:pt x="31750" y="1222375"/>
                </a:lnTo>
                <a:lnTo>
                  <a:pt x="31750" y="1222375"/>
                </a:lnTo>
                <a:cubicBezTo>
                  <a:pt x="14227" y="1222375"/>
                  <a:pt x="0" y="1208148"/>
                  <a:pt x="0" y="1190625"/>
                </a:cubicBezTo>
                <a:lnTo>
                  <a:pt x="0" y="31750"/>
                </a:lnTo>
                <a:cubicBezTo>
                  <a:pt x="0" y="14227"/>
                  <a:pt x="14227" y="0"/>
                  <a:pt x="31750" y="0"/>
                </a:cubicBezTo>
                <a:close/>
              </a:path>
            </a:pathLst>
          </a:custGeom>
          <a:solidFill>
            <a:srgbClr val="2B7FFF"/>
          </a:solidFill>
          <a:ln/>
        </p:spPr>
        <p:txBody>
          <a:bodyPr/>
          <a:lstStyle/>
          <a:p>
            <a:endParaRPr lang="en-US"/>
          </a:p>
        </p:txBody>
      </p:sp>
      <p:sp>
        <p:nvSpPr>
          <p:cNvPr id="22" name="Shape 20"/>
          <p:cNvSpPr/>
          <p:nvPr/>
        </p:nvSpPr>
        <p:spPr>
          <a:xfrm>
            <a:off x="455414" y="3589339"/>
            <a:ext cx="160734" cy="142875"/>
          </a:xfrm>
          <a:custGeom>
            <a:avLst/>
            <a:gdLst/>
            <a:ahLst/>
            <a:cxnLst/>
            <a:rect l="l" t="t" r="r" b="b"/>
            <a:pathLst>
              <a:path w="160734" h="142875">
                <a:moveTo>
                  <a:pt x="80367" y="-4465"/>
                </a:moveTo>
                <a:cubicBezTo>
                  <a:pt x="85306" y="-4465"/>
                  <a:pt x="89297" y="-474"/>
                  <a:pt x="89297" y="4465"/>
                </a:cubicBezTo>
                <a:lnTo>
                  <a:pt x="89297" y="9572"/>
                </a:lnTo>
                <a:cubicBezTo>
                  <a:pt x="116672" y="13478"/>
                  <a:pt x="138326" y="35133"/>
                  <a:pt x="142233" y="62508"/>
                </a:cubicBezTo>
                <a:lnTo>
                  <a:pt x="147340" y="62508"/>
                </a:lnTo>
                <a:cubicBezTo>
                  <a:pt x="152279" y="62508"/>
                  <a:pt x="156270" y="66498"/>
                  <a:pt x="156270" y="71438"/>
                </a:cubicBezTo>
                <a:cubicBezTo>
                  <a:pt x="156270" y="76377"/>
                  <a:pt x="152279" y="80367"/>
                  <a:pt x="147340" y="80367"/>
                </a:cubicBezTo>
                <a:lnTo>
                  <a:pt x="142233" y="80367"/>
                </a:lnTo>
                <a:cubicBezTo>
                  <a:pt x="138326" y="107742"/>
                  <a:pt x="116672" y="129397"/>
                  <a:pt x="89297" y="133303"/>
                </a:cubicBezTo>
                <a:lnTo>
                  <a:pt x="89297" y="138410"/>
                </a:lnTo>
                <a:cubicBezTo>
                  <a:pt x="89297" y="143349"/>
                  <a:pt x="85306" y="147340"/>
                  <a:pt x="80367" y="147340"/>
                </a:cubicBezTo>
                <a:cubicBezTo>
                  <a:pt x="75428" y="147340"/>
                  <a:pt x="71438" y="143349"/>
                  <a:pt x="71438" y="138410"/>
                </a:cubicBezTo>
                <a:lnTo>
                  <a:pt x="71438" y="133303"/>
                </a:lnTo>
                <a:cubicBezTo>
                  <a:pt x="44062" y="129397"/>
                  <a:pt x="22408" y="107742"/>
                  <a:pt x="18501" y="80367"/>
                </a:cubicBezTo>
                <a:lnTo>
                  <a:pt x="13395" y="80367"/>
                </a:lnTo>
                <a:cubicBezTo>
                  <a:pt x="8455" y="80367"/>
                  <a:pt x="4465" y="76377"/>
                  <a:pt x="4465" y="71438"/>
                </a:cubicBezTo>
                <a:cubicBezTo>
                  <a:pt x="4465" y="66498"/>
                  <a:pt x="8455" y="62508"/>
                  <a:pt x="13395" y="62508"/>
                </a:cubicBezTo>
                <a:lnTo>
                  <a:pt x="18501" y="62508"/>
                </a:lnTo>
                <a:cubicBezTo>
                  <a:pt x="22408" y="35133"/>
                  <a:pt x="44062" y="13478"/>
                  <a:pt x="71438" y="9572"/>
                </a:cubicBezTo>
                <a:lnTo>
                  <a:pt x="71438" y="4465"/>
                </a:lnTo>
                <a:cubicBezTo>
                  <a:pt x="71438" y="-474"/>
                  <a:pt x="75428" y="-4465"/>
                  <a:pt x="80367" y="-4465"/>
                </a:cubicBezTo>
                <a:close/>
                <a:moveTo>
                  <a:pt x="36612" y="80367"/>
                </a:moveTo>
                <a:cubicBezTo>
                  <a:pt x="40156" y="97864"/>
                  <a:pt x="53941" y="111649"/>
                  <a:pt x="71438" y="115193"/>
                </a:cubicBezTo>
                <a:lnTo>
                  <a:pt x="71438" y="111621"/>
                </a:lnTo>
                <a:cubicBezTo>
                  <a:pt x="71438" y="106682"/>
                  <a:pt x="75428" y="102691"/>
                  <a:pt x="80367" y="102691"/>
                </a:cubicBezTo>
                <a:cubicBezTo>
                  <a:pt x="85306" y="102691"/>
                  <a:pt x="89297" y="106682"/>
                  <a:pt x="89297" y="111621"/>
                </a:cubicBezTo>
                <a:lnTo>
                  <a:pt x="89297" y="115193"/>
                </a:lnTo>
                <a:cubicBezTo>
                  <a:pt x="106793" y="111649"/>
                  <a:pt x="120579" y="97864"/>
                  <a:pt x="124123" y="80367"/>
                </a:cubicBezTo>
                <a:lnTo>
                  <a:pt x="120551" y="80367"/>
                </a:lnTo>
                <a:cubicBezTo>
                  <a:pt x="115612" y="80367"/>
                  <a:pt x="111621" y="76377"/>
                  <a:pt x="111621" y="71438"/>
                </a:cubicBezTo>
                <a:cubicBezTo>
                  <a:pt x="111621" y="66498"/>
                  <a:pt x="115612" y="62508"/>
                  <a:pt x="120551" y="62508"/>
                </a:cubicBezTo>
                <a:lnTo>
                  <a:pt x="124123" y="62508"/>
                </a:lnTo>
                <a:cubicBezTo>
                  <a:pt x="120579" y="45011"/>
                  <a:pt x="106793" y="31226"/>
                  <a:pt x="89297" y="27682"/>
                </a:cubicBezTo>
                <a:lnTo>
                  <a:pt x="89297" y="31254"/>
                </a:lnTo>
                <a:cubicBezTo>
                  <a:pt x="89297" y="36193"/>
                  <a:pt x="85306" y="40184"/>
                  <a:pt x="80367" y="40184"/>
                </a:cubicBezTo>
                <a:cubicBezTo>
                  <a:pt x="75428" y="40184"/>
                  <a:pt x="71438" y="36193"/>
                  <a:pt x="71438" y="31254"/>
                </a:cubicBezTo>
                <a:lnTo>
                  <a:pt x="71438" y="27682"/>
                </a:lnTo>
                <a:cubicBezTo>
                  <a:pt x="53941" y="31226"/>
                  <a:pt x="40156" y="45011"/>
                  <a:pt x="36612" y="62508"/>
                </a:cubicBezTo>
                <a:lnTo>
                  <a:pt x="40184" y="62508"/>
                </a:lnTo>
                <a:cubicBezTo>
                  <a:pt x="45123" y="62508"/>
                  <a:pt x="49113" y="66498"/>
                  <a:pt x="49113" y="71438"/>
                </a:cubicBezTo>
                <a:cubicBezTo>
                  <a:pt x="49113" y="76377"/>
                  <a:pt x="45123" y="80367"/>
                  <a:pt x="40184" y="80367"/>
                </a:cubicBezTo>
                <a:lnTo>
                  <a:pt x="36612" y="80367"/>
                </a:lnTo>
                <a:close/>
                <a:moveTo>
                  <a:pt x="80367" y="58043"/>
                </a:moveTo>
                <a:cubicBezTo>
                  <a:pt x="87760" y="58043"/>
                  <a:pt x="93762" y="64045"/>
                  <a:pt x="93762" y="71438"/>
                </a:cubicBezTo>
                <a:cubicBezTo>
                  <a:pt x="93762" y="78830"/>
                  <a:pt x="87760" y="84832"/>
                  <a:pt x="80367" y="84832"/>
                </a:cubicBezTo>
                <a:cubicBezTo>
                  <a:pt x="72975" y="84832"/>
                  <a:pt x="66973" y="78830"/>
                  <a:pt x="66973" y="71438"/>
                </a:cubicBezTo>
                <a:cubicBezTo>
                  <a:pt x="66973" y="64045"/>
                  <a:pt x="72975" y="58043"/>
                  <a:pt x="80367" y="58043"/>
                </a:cubicBezTo>
                <a:close/>
              </a:path>
            </a:pathLst>
          </a:custGeom>
          <a:solidFill>
            <a:srgbClr val="1C398E"/>
          </a:solidFill>
          <a:ln/>
        </p:spPr>
        <p:txBody>
          <a:bodyPr/>
          <a:lstStyle/>
          <a:p>
            <a:endParaRPr lang="en-US"/>
          </a:p>
        </p:txBody>
      </p:sp>
      <p:sp>
        <p:nvSpPr>
          <p:cNvPr id="23" name="Text 21"/>
          <p:cNvSpPr/>
          <p:nvPr/>
        </p:nvSpPr>
        <p:spPr>
          <a:xfrm>
            <a:off x="627063" y="3549652"/>
            <a:ext cx="3063875" cy="222250"/>
          </a:xfrm>
          <a:prstGeom prst="rect">
            <a:avLst/>
          </a:prstGeom>
          <a:noFill/>
          <a:ln/>
        </p:spPr>
        <p:txBody>
          <a:bodyPr wrap="square" lIns="0" tIns="0" rIns="0" bIns="0" rtlCol="0" anchor="ctr"/>
          <a:lstStyle/>
          <a:p>
            <a:pPr>
              <a:lnSpc>
                <a:spcPct val="130000"/>
              </a:lnSpc>
            </a:pPr>
            <a:r>
              <a:rPr lang="en-US" sz="1125" b="1" dirty="0">
                <a:solidFill>
                  <a:srgbClr val="1C398E"/>
                </a:solidFill>
                <a:latin typeface="Sorts Mill Goudy" pitchFamily="34" charset="0"/>
                <a:ea typeface="Sorts Mill Goudy" pitchFamily="34" charset="-122"/>
                <a:cs typeface="Sorts Mill Goudy" pitchFamily="34" charset="-120"/>
              </a:rPr>
              <a:t>Coordinate Loss</a:t>
            </a:r>
            <a:endParaRPr lang="en-US" sz="1600" dirty="0"/>
          </a:p>
        </p:txBody>
      </p:sp>
      <p:sp>
        <p:nvSpPr>
          <p:cNvPr id="24" name="Text 22"/>
          <p:cNvSpPr/>
          <p:nvPr/>
        </p:nvSpPr>
        <p:spPr>
          <a:xfrm>
            <a:off x="444500" y="3835402"/>
            <a:ext cx="3238500" cy="190500"/>
          </a:xfrm>
          <a:prstGeom prst="rect">
            <a:avLst/>
          </a:prstGeom>
          <a:noFill/>
          <a:ln/>
        </p:spPr>
        <p:txBody>
          <a:bodyPr wrap="square" lIns="0" tIns="0" rIns="0" bIns="0" rtlCol="0" anchor="ctr"/>
          <a:lstStyle/>
          <a:p>
            <a:pPr>
              <a:lnSpc>
                <a:spcPct val="130000"/>
              </a:lnSpc>
            </a:pPr>
            <a:r>
              <a:rPr lang="en-US" sz="1000" b="1" dirty="0">
                <a:solidFill>
                  <a:srgbClr val="193CB8"/>
                </a:solidFill>
                <a:latin typeface="Quattrocento Sans" pitchFamily="34" charset="0"/>
                <a:ea typeface="Quattrocento Sans" pitchFamily="34" charset="-122"/>
                <a:cs typeface="Quattrocento Sans" pitchFamily="34" charset="-120"/>
              </a:rPr>
              <a:t>MSE for (x, y):</a:t>
            </a:r>
            <a:r>
              <a:rPr lang="en-US" sz="1000" dirty="0">
                <a:solidFill>
                  <a:srgbClr val="193CB8"/>
                </a:solidFill>
                <a:latin typeface="Quattrocento Sans" pitchFamily="34" charset="0"/>
                <a:ea typeface="Quattrocento Sans" pitchFamily="34" charset="-122"/>
                <a:cs typeface="Quattrocento Sans" pitchFamily="34" charset="-120"/>
              </a:rPr>
              <a:t> Penalizes center coordinate deviations.</a:t>
            </a:r>
            <a:endParaRPr lang="en-US" sz="1600" dirty="0"/>
          </a:p>
        </p:txBody>
      </p:sp>
      <p:sp>
        <p:nvSpPr>
          <p:cNvPr id="25" name="Shape 23"/>
          <p:cNvSpPr/>
          <p:nvPr/>
        </p:nvSpPr>
        <p:spPr>
          <a:xfrm>
            <a:off x="447675" y="4092577"/>
            <a:ext cx="3165475" cy="292100"/>
          </a:xfrm>
          <a:custGeom>
            <a:avLst/>
            <a:gdLst/>
            <a:ahLst/>
            <a:cxnLst/>
            <a:rect l="l" t="t" r="r" b="b"/>
            <a:pathLst>
              <a:path w="3165475" h="292100">
                <a:moveTo>
                  <a:pt x="31751" y="0"/>
                </a:moveTo>
                <a:lnTo>
                  <a:pt x="3133724" y="0"/>
                </a:lnTo>
                <a:cubicBezTo>
                  <a:pt x="3151259" y="0"/>
                  <a:pt x="3165475" y="14216"/>
                  <a:pt x="3165475" y="31751"/>
                </a:cubicBezTo>
                <a:lnTo>
                  <a:pt x="3165475" y="260349"/>
                </a:lnTo>
                <a:cubicBezTo>
                  <a:pt x="3165475" y="277884"/>
                  <a:pt x="3151259" y="292100"/>
                  <a:pt x="3133724" y="292100"/>
                </a:cubicBezTo>
                <a:lnTo>
                  <a:pt x="31751" y="292100"/>
                </a:lnTo>
                <a:cubicBezTo>
                  <a:pt x="14216" y="292100"/>
                  <a:pt x="0" y="277884"/>
                  <a:pt x="0" y="260349"/>
                </a:cubicBezTo>
                <a:lnTo>
                  <a:pt x="0" y="31751"/>
                </a:lnTo>
                <a:cubicBezTo>
                  <a:pt x="0" y="14227"/>
                  <a:pt x="14227" y="0"/>
                  <a:pt x="31751" y="0"/>
                </a:cubicBezTo>
                <a:close/>
              </a:path>
            </a:pathLst>
          </a:custGeom>
          <a:solidFill>
            <a:srgbClr val="FFFFFF"/>
          </a:solidFill>
          <a:ln w="10160">
            <a:solidFill>
              <a:srgbClr val="8EC5FF"/>
            </a:solidFill>
            <a:prstDash val="solid"/>
          </a:ln>
        </p:spPr>
        <p:txBody>
          <a:bodyPr/>
          <a:lstStyle/>
          <a:p>
            <a:endParaRPr lang="en-US"/>
          </a:p>
        </p:txBody>
      </p:sp>
      <p:sp>
        <p:nvSpPr>
          <p:cNvPr id="26" name="Text 24"/>
          <p:cNvSpPr/>
          <p:nvPr/>
        </p:nvSpPr>
        <p:spPr>
          <a:xfrm>
            <a:off x="444500" y="4089402"/>
            <a:ext cx="3214688" cy="285750"/>
          </a:xfrm>
          <a:prstGeom prst="rect">
            <a:avLst/>
          </a:prstGeom>
          <a:noFill/>
          <a:ln/>
        </p:spPr>
        <p:txBody>
          <a:bodyPr wrap="square" lIns="63500" tIns="63500" rIns="63500" bIns="6350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(x - x̂)² + (y - ŷ)²</a:t>
            </a:r>
            <a:endParaRPr lang="en-US" sz="1600" dirty="0"/>
          </a:p>
        </p:txBody>
      </p:sp>
      <p:sp>
        <p:nvSpPr>
          <p:cNvPr id="27" name="Shape 25"/>
          <p:cNvSpPr/>
          <p:nvPr/>
        </p:nvSpPr>
        <p:spPr>
          <a:xfrm>
            <a:off x="3822700" y="3454402"/>
            <a:ext cx="3381375" cy="1222375"/>
          </a:xfrm>
          <a:custGeom>
            <a:avLst/>
            <a:gdLst/>
            <a:ahLst/>
            <a:cxnLst/>
            <a:rect l="l" t="t" r="r" b="b"/>
            <a:pathLst>
              <a:path w="3381375" h="1222375">
                <a:moveTo>
                  <a:pt x="31750" y="0"/>
                </a:moveTo>
                <a:lnTo>
                  <a:pt x="3317873" y="0"/>
                </a:lnTo>
                <a:cubicBezTo>
                  <a:pt x="3352944" y="0"/>
                  <a:pt x="3381375" y="28431"/>
                  <a:pt x="3381375" y="63502"/>
                </a:cubicBezTo>
                <a:lnTo>
                  <a:pt x="3381375" y="1158873"/>
                </a:lnTo>
                <a:cubicBezTo>
                  <a:pt x="3381375" y="1193944"/>
                  <a:pt x="3352944" y="1222375"/>
                  <a:pt x="3317873" y="1222375"/>
                </a:cubicBezTo>
                <a:lnTo>
                  <a:pt x="31750" y="1222375"/>
                </a:lnTo>
                <a:cubicBezTo>
                  <a:pt x="14215" y="1222375"/>
                  <a:pt x="0" y="1208160"/>
                  <a:pt x="0" y="1190625"/>
                </a:cubicBezTo>
                <a:lnTo>
                  <a:pt x="0" y="31750"/>
                </a:lnTo>
                <a:cubicBezTo>
                  <a:pt x="0" y="14227"/>
                  <a:pt x="14227" y="0"/>
                  <a:pt x="31750" y="0"/>
                </a:cubicBezTo>
                <a:close/>
              </a:path>
            </a:pathLst>
          </a:custGeom>
          <a:solidFill>
            <a:srgbClr val="F0FDF4"/>
          </a:solidFill>
          <a:ln/>
        </p:spPr>
        <p:txBody>
          <a:bodyPr/>
          <a:lstStyle/>
          <a:p>
            <a:endParaRPr lang="en-US"/>
          </a:p>
        </p:txBody>
      </p:sp>
      <p:sp>
        <p:nvSpPr>
          <p:cNvPr id="28" name="Shape 26"/>
          <p:cNvSpPr/>
          <p:nvPr/>
        </p:nvSpPr>
        <p:spPr>
          <a:xfrm>
            <a:off x="3822700" y="3454402"/>
            <a:ext cx="31750" cy="1222375"/>
          </a:xfrm>
          <a:custGeom>
            <a:avLst/>
            <a:gdLst/>
            <a:ahLst/>
            <a:cxnLst/>
            <a:rect l="l" t="t" r="r" b="b"/>
            <a:pathLst>
              <a:path w="31750" h="1222375">
                <a:moveTo>
                  <a:pt x="31750" y="0"/>
                </a:moveTo>
                <a:lnTo>
                  <a:pt x="31750" y="0"/>
                </a:lnTo>
                <a:lnTo>
                  <a:pt x="31750" y="1222375"/>
                </a:lnTo>
                <a:lnTo>
                  <a:pt x="31750" y="1222375"/>
                </a:lnTo>
                <a:cubicBezTo>
                  <a:pt x="14227" y="1222375"/>
                  <a:pt x="0" y="1208148"/>
                  <a:pt x="0" y="1190625"/>
                </a:cubicBezTo>
                <a:lnTo>
                  <a:pt x="0" y="31750"/>
                </a:lnTo>
                <a:cubicBezTo>
                  <a:pt x="0" y="14227"/>
                  <a:pt x="14227" y="0"/>
                  <a:pt x="31750" y="0"/>
                </a:cubicBezTo>
                <a:close/>
              </a:path>
            </a:pathLst>
          </a:custGeom>
          <a:solidFill>
            <a:srgbClr val="00C950"/>
          </a:solidFill>
          <a:ln/>
        </p:spPr>
        <p:txBody>
          <a:bodyPr/>
          <a:lstStyle/>
          <a:p>
            <a:endParaRPr lang="en-US"/>
          </a:p>
        </p:txBody>
      </p:sp>
      <p:sp>
        <p:nvSpPr>
          <p:cNvPr id="29" name="Shape 27"/>
          <p:cNvSpPr/>
          <p:nvPr/>
        </p:nvSpPr>
        <p:spPr>
          <a:xfrm>
            <a:off x="3962598" y="3589339"/>
            <a:ext cx="125016" cy="142875"/>
          </a:xfrm>
          <a:custGeom>
            <a:avLst/>
            <a:gdLst/>
            <a:ahLst/>
            <a:cxnLst/>
            <a:rect l="l" t="t" r="r" b="b"/>
            <a:pathLst>
              <a:path w="125016" h="142875">
                <a:moveTo>
                  <a:pt x="8930" y="8930"/>
                </a:moveTo>
                <a:cubicBezTo>
                  <a:pt x="3990" y="8930"/>
                  <a:pt x="0" y="12920"/>
                  <a:pt x="0" y="17859"/>
                </a:cubicBezTo>
                <a:lnTo>
                  <a:pt x="0" y="44648"/>
                </a:lnTo>
                <a:cubicBezTo>
                  <a:pt x="0" y="49588"/>
                  <a:pt x="3990" y="53578"/>
                  <a:pt x="8930" y="53578"/>
                </a:cubicBezTo>
                <a:cubicBezTo>
                  <a:pt x="13869" y="53578"/>
                  <a:pt x="17859" y="49588"/>
                  <a:pt x="17859" y="44648"/>
                </a:cubicBezTo>
                <a:lnTo>
                  <a:pt x="17859" y="26789"/>
                </a:lnTo>
                <a:lnTo>
                  <a:pt x="35719" y="26789"/>
                </a:lnTo>
                <a:cubicBezTo>
                  <a:pt x="40658" y="26789"/>
                  <a:pt x="44648" y="22799"/>
                  <a:pt x="44648" y="17859"/>
                </a:cubicBezTo>
                <a:cubicBezTo>
                  <a:pt x="44648" y="12920"/>
                  <a:pt x="40658" y="8930"/>
                  <a:pt x="35719" y="8930"/>
                </a:cubicBezTo>
                <a:lnTo>
                  <a:pt x="8930" y="8930"/>
                </a:lnTo>
                <a:close/>
                <a:moveTo>
                  <a:pt x="17859" y="98227"/>
                </a:moveTo>
                <a:cubicBezTo>
                  <a:pt x="17859" y="93287"/>
                  <a:pt x="13869" y="89297"/>
                  <a:pt x="8930" y="89297"/>
                </a:cubicBezTo>
                <a:cubicBezTo>
                  <a:pt x="3990" y="89297"/>
                  <a:pt x="0" y="93287"/>
                  <a:pt x="0" y="98227"/>
                </a:cubicBezTo>
                <a:lnTo>
                  <a:pt x="0" y="125016"/>
                </a:lnTo>
                <a:cubicBezTo>
                  <a:pt x="0" y="129955"/>
                  <a:pt x="3990" y="133945"/>
                  <a:pt x="8930" y="133945"/>
                </a:cubicBezTo>
                <a:lnTo>
                  <a:pt x="35719" y="133945"/>
                </a:lnTo>
                <a:cubicBezTo>
                  <a:pt x="40658" y="133945"/>
                  <a:pt x="44648" y="129955"/>
                  <a:pt x="44648" y="125016"/>
                </a:cubicBezTo>
                <a:cubicBezTo>
                  <a:pt x="44648" y="120076"/>
                  <a:pt x="40658" y="116086"/>
                  <a:pt x="35719" y="116086"/>
                </a:cubicBezTo>
                <a:lnTo>
                  <a:pt x="17859" y="116086"/>
                </a:lnTo>
                <a:lnTo>
                  <a:pt x="17859" y="98227"/>
                </a:lnTo>
                <a:close/>
                <a:moveTo>
                  <a:pt x="89297" y="8930"/>
                </a:moveTo>
                <a:cubicBezTo>
                  <a:pt x="84358" y="8930"/>
                  <a:pt x="80367" y="12920"/>
                  <a:pt x="80367" y="17859"/>
                </a:cubicBezTo>
                <a:cubicBezTo>
                  <a:pt x="80367" y="22799"/>
                  <a:pt x="84358" y="26789"/>
                  <a:pt x="89297" y="26789"/>
                </a:cubicBezTo>
                <a:lnTo>
                  <a:pt x="107156" y="26789"/>
                </a:lnTo>
                <a:lnTo>
                  <a:pt x="107156" y="44648"/>
                </a:lnTo>
                <a:cubicBezTo>
                  <a:pt x="107156" y="49588"/>
                  <a:pt x="111147" y="53578"/>
                  <a:pt x="116086" y="53578"/>
                </a:cubicBezTo>
                <a:cubicBezTo>
                  <a:pt x="121025" y="53578"/>
                  <a:pt x="125016" y="49588"/>
                  <a:pt x="125016" y="44648"/>
                </a:cubicBezTo>
                <a:lnTo>
                  <a:pt x="125016" y="17859"/>
                </a:lnTo>
                <a:cubicBezTo>
                  <a:pt x="125016" y="12920"/>
                  <a:pt x="121025" y="8930"/>
                  <a:pt x="116086" y="8930"/>
                </a:cubicBezTo>
                <a:lnTo>
                  <a:pt x="89297" y="8930"/>
                </a:lnTo>
                <a:close/>
                <a:moveTo>
                  <a:pt x="125016" y="98227"/>
                </a:moveTo>
                <a:cubicBezTo>
                  <a:pt x="125016" y="93287"/>
                  <a:pt x="121025" y="89297"/>
                  <a:pt x="116086" y="89297"/>
                </a:cubicBezTo>
                <a:cubicBezTo>
                  <a:pt x="111147" y="89297"/>
                  <a:pt x="107156" y="93287"/>
                  <a:pt x="107156" y="98227"/>
                </a:cubicBezTo>
                <a:lnTo>
                  <a:pt x="107156" y="116086"/>
                </a:lnTo>
                <a:lnTo>
                  <a:pt x="89297" y="116086"/>
                </a:lnTo>
                <a:cubicBezTo>
                  <a:pt x="84358" y="116086"/>
                  <a:pt x="80367" y="120076"/>
                  <a:pt x="80367" y="125016"/>
                </a:cubicBezTo>
                <a:cubicBezTo>
                  <a:pt x="80367" y="129955"/>
                  <a:pt x="84358" y="133945"/>
                  <a:pt x="89297" y="133945"/>
                </a:cubicBezTo>
                <a:lnTo>
                  <a:pt x="116086" y="133945"/>
                </a:lnTo>
                <a:cubicBezTo>
                  <a:pt x="121025" y="133945"/>
                  <a:pt x="125016" y="129955"/>
                  <a:pt x="125016" y="125016"/>
                </a:cubicBezTo>
                <a:lnTo>
                  <a:pt x="125016" y="98227"/>
                </a:lnTo>
                <a:close/>
              </a:path>
            </a:pathLst>
          </a:custGeom>
          <a:solidFill>
            <a:srgbClr val="0D542B"/>
          </a:solidFill>
          <a:ln/>
        </p:spPr>
        <p:txBody>
          <a:bodyPr/>
          <a:lstStyle/>
          <a:p>
            <a:endParaRPr lang="en-US"/>
          </a:p>
        </p:txBody>
      </p:sp>
      <p:sp>
        <p:nvSpPr>
          <p:cNvPr id="30" name="Text 28"/>
          <p:cNvSpPr/>
          <p:nvPr/>
        </p:nvSpPr>
        <p:spPr>
          <a:xfrm>
            <a:off x="4116388" y="3549652"/>
            <a:ext cx="3063875" cy="222250"/>
          </a:xfrm>
          <a:prstGeom prst="rect">
            <a:avLst/>
          </a:prstGeom>
          <a:noFill/>
          <a:ln/>
        </p:spPr>
        <p:txBody>
          <a:bodyPr wrap="square" lIns="0" tIns="0" rIns="0" bIns="0" rtlCol="0" anchor="ctr"/>
          <a:lstStyle/>
          <a:p>
            <a:pPr>
              <a:lnSpc>
                <a:spcPct val="130000"/>
              </a:lnSpc>
            </a:pPr>
            <a:r>
              <a:rPr lang="en-US" sz="1125" b="1" dirty="0">
                <a:solidFill>
                  <a:srgbClr val="0D542B"/>
                </a:solidFill>
                <a:latin typeface="Sorts Mill Goudy" pitchFamily="34" charset="0"/>
                <a:ea typeface="Sorts Mill Goudy" pitchFamily="34" charset="-122"/>
                <a:cs typeface="Sorts Mill Goudy" pitchFamily="34" charset="-120"/>
              </a:rPr>
              <a:t>Size Loss</a:t>
            </a:r>
            <a:endParaRPr lang="en-US" sz="1600" dirty="0"/>
          </a:p>
        </p:txBody>
      </p:sp>
      <p:sp>
        <p:nvSpPr>
          <p:cNvPr id="31" name="Text 29"/>
          <p:cNvSpPr/>
          <p:nvPr/>
        </p:nvSpPr>
        <p:spPr>
          <a:xfrm>
            <a:off x="3933825" y="3835402"/>
            <a:ext cx="3238500" cy="381000"/>
          </a:xfrm>
          <a:prstGeom prst="rect">
            <a:avLst/>
          </a:prstGeom>
          <a:noFill/>
          <a:ln/>
        </p:spPr>
        <p:txBody>
          <a:bodyPr wrap="square" lIns="0" tIns="0" rIns="0" bIns="0" rtlCol="0" anchor="ctr"/>
          <a:lstStyle/>
          <a:p>
            <a:pPr>
              <a:lnSpc>
                <a:spcPct val="130000"/>
              </a:lnSpc>
            </a:pPr>
            <a:r>
              <a:rPr lang="en-US" sz="1000" b="1" dirty="0">
                <a:solidFill>
                  <a:srgbClr val="016630"/>
                </a:solidFill>
                <a:latin typeface="Quattrocento Sans" pitchFamily="34" charset="0"/>
                <a:ea typeface="Quattrocento Sans" pitchFamily="34" charset="-122"/>
                <a:cs typeface="Quattrocento Sans" pitchFamily="34" charset="-120"/>
              </a:rPr>
              <a:t>MSE for (√w, √h):</a:t>
            </a:r>
            <a:r>
              <a:rPr lang="en-US" sz="1000" dirty="0">
                <a:solidFill>
                  <a:srgbClr val="016630"/>
                </a:solidFill>
                <a:latin typeface="Quattrocento Sans" pitchFamily="34" charset="0"/>
                <a:ea typeface="Quattrocento Sans" pitchFamily="34" charset="-122"/>
                <a:cs typeface="Quattrocento Sans" pitchFamily="34" charset="-120"/>
              </a:rPr>
              <a:t> Square root reduces bias toward large boxes.</a:t>
            </a:r>
            <a:endParaRPr lang="en-US" sz="1600" dirty="0"/>
          </a:p>
        </p:txBody>
      </p:sp>
      <p:sp>
        <p:nvSpPr>
          <p:cNvPr id="32" name="Shape 30"/>
          <p:cNvSpPr/>
          <p:nvPr/>
        </p:nvSpPr>
        <p:spPr>
          <a:xfrm>
            <a:off x="3937000" y="4283077"/>
            <a:ext cx="3165475" cy="292100"/>
          </a:xfrm>
          <a:custGeom>
            <a:avLst/>
            <a:gdLst/>
            <a:ahLst/>
            <a:cxnLst/>
            <a:rect l="l" t="t" r="r" b="b"/>
            <a:pathLst>
              <a:path w="3165475" h="292100">
                <a:moveTo>
                  <a:pt x="31751" y="0"/>
                </a:moveTo>
                <a:lnTo>
                  <a:pt x="3133724" y="0"/>
                </a:lnTo>
                <a:cubicBezTo>
                  <a:pt x="3151259" y="0"/>
                  <a:pt x="3165475" y="14216"/>
                  <a:pt x="3165475" y="31751"/>
                </a:cubicBezTo>
                <a:lnTo>
                  <a:pt x="3165475" y="260349"/>
                </a:lnTo>
                <a:cubicBezTo>
                  <a:pt x="3165475" y="277884"/>
                  <a:pt x="3151259" y="292100"/>
                  <a:pt x="3133724" y="292100"/>
                </a:cubicBezTo>
                <a:lnTo>
                  <a:pt x="31751" y="292100"/>
                </a:lnTo>
                <a:cubicBezTo>
                  <a:pt x="14216" y="292100"/>
                  <a:pt x="0" y="277884"/>
                  <a:pt x="0" y="260349"/>
                </a:cubicBezTo>
                <a:lnTo>
                  <a:pt x="0" y="31751"/>
                </a:lnTo>
                <a:cubicBezTo>
                  <a:pt x="0" y="14227"/>
                  <a:pt x="14227" y="0"/>
                  <a:pt x="31751" y="0"/>
                </a:cubicBezTo>
                <a:close/>
              </a:path>
            </a:pathLst>
          </a:custGeom>
          <a:solidFill>
            <a:srgbClr val="FFFFFF"/>
          </a:solidFill>
          <a:ln w="10160">
            <a:solidFill>
              <a:srgbClr val="7BF1A8"/>
            </a:solidFill>
            <a:prstDash val="solid"/>
          </a:ln>
        </p:spPr>
        <p:txBody>
          <a:bodyPr/>
          <a:lstStyle/>
          <a:p>
            <a:endParaRPr lang="en-US"/>
          </a:p>
        </p:txBody>
      </p:sp>
      <p:sp>
        <p:nvSpPr>
          <p:cNvPr id="33" name="Text 31"/>
          <p:cNvSpPr/>
          <p:nvPr/>
        </p:nvSpPr>
        <p:spPr>
          <a:xfrm>
            <a:off x="3933825" y="4279902"/>
            <a:ext cx="3214688" cy="285750"/>
          </a:xfrm>
          <a:prstGeom prst="rect">
            <a:avLst/>
          </a:prstGeom>
          <a:noFill/>
          <a:ln/>
        </p:spPr>
        <p:txBody>
          <a:bodyPr wrap="square" lIns="63500" tIns="63500" rIns="63500" bIns="6350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(√w - √ŵ)² + (√h - ĥ)²</a:t>
            </a:r>
            <a:endParaRPr lang="en-US" sz="1600" dirty="0"/>
          </a:p>
        </p:txBody>
      </p:sp>
      <p:sp>
        <p:nvSpPr>
          <p:cNvPr id="34" name="Shape 32"/>
          <p:cNvSpPr/>
          <p:nvPr/>
        </p:nvSpPr>
        <p:spPr>
          <a:xfrm>
            <a:off x="333375" y="4768848"/>
            <a:ext cx="3381375" cy="1031875"/>
          </a:xfrm>
          <a:custGeom>
            <a:avLst/>
            <a:gdLst/>
            <a:ahLst/>
            <a:cxnLst/>
            <a:rect l="l" t="t" r="r" b="b"/>
            <a:pathLst>
              <a:path w="3381375" h="1031875">
                <a:moveTo>
                  <a:pt x="31750" y="0"/>
                </a:moveTo>
                <a:lnTo>
                  <a:pt x="3317873" y="0"/>
                </a:lnTo>
                <a:cubicBezTo>
                  <a:pt x="3352944" y="0"/>
                  <a:pt x="3381375" y="28431"/>
                  <a:pt x="3381375" y="63502"/>
                </a:cubicBezTo>
                <a:lnTo>
                  <a:pt x="3381375" y="968373"/>
                </a:lnTo>
                <a:cubicBezTo>
                  <a:pt x="3381375" y="1003444"/>
                  <a:pt x="3352944" y="1031875"/>
                  <a:pt x="3317873" y="1031875"/>
                </a:cubicBezTo>
                <a:lnTo>
                  <a:pt x="31750" y="1031875"/>
                </a:lnTo>
                <a:cubicBezTo>
                  <a:pt x="14215" y="1031875"/>
                  <a:pt x="0" y="1017660"/>
                  <a:pt x="0" y="1000125"/>
                </a:cubicBezTo>
                <a:lnTo>
                  <a:pt x="0" y="31750"/>
                </a:lnTo>
                <a:cubicBezTo>
                  <a:pt x="0" y="14227"/>
                  <a:pt x="14227" y="0"/>
                  <a:pt x="31750" y="0"/>
                </a:cubicBezTo>
                <a:close/>
              </a:path>
            </a:pathLst>
          </a:custGeom>
          <a:solidFill>
            <a:srgbClr val="FEFCE8"/>
          </a:solidFill>
          <a:ln/>
        </p:spPr>
        <p:txBody>
          <a:bodyPr/>
          <a:lstStyle/>
          <a:p>
            <a:endParaRPr lang="en-US"/>
          </a:p>
        </p:txBody>
      </p:sp>
      <p:sp>
        <p:nvSpPr>
          <p:cNvPr id="35" name="Shape 33"/>
          <p:cNvSpPr/>
          <p:nvPr/>
        </p:nvSpPr>
        <p:spPr>
          <a:xfrm>
            <a:off x="333375" y="4768848"/>
            <a:ext cx="31750" cy="1031875"/>
          </a:xfrm>
          <a:custGeom>
            <a:avLst/>
            <a:gdLst/>
            <a:ahLst/>
            <a:cxnLst/>
            <a:rect l="l" t="t" r="r" b="b"/>
            <a:pathLst>
              <a:path w="31750" h="1031875">
                <a:moveTo>
                  <a:pt x="31750" y="0"/>
                </a:moveTo>
                <a:lnTo>
                  <a:pt x="31750" y="0"/>
                </a:lnTo>
                <a:lnTo>
                  <a:pt x="31750" y="1031875"/>
                </a:lnTo>
                <a:lnTo>
                  <a:pt x="31750" y="1031875"/>
                </a:lnTo>
                <a:cubicBezTo>
                  <a:pt x="14227" y="1031875"/>
                  <a:pt x="0" y="1017648"/>
                  <a:pt x="0" y="1000125"/>
                </a:cubicBezTo>
                <a:lnTo>
                  <a:pt x="0" y="31750"/>
                </a:lnTo>
                <a:cubicBezTo>
                  <a:pt x="0" y="14227"/>
                  <a:pt x="14227" y="0"/>
                  <a:pt x="31750" y="0"/>
                </a:cubicBezTo>
                <a:close/>
              </a:path>
            </a:pathLst>
          </a:custGeom>
          <a:solidFill>
            <a:srgbClr val="F0B100"/>
          </a:solidFill>
          <a:ln/>
        </p:spPr>
        <p:txBody>
          <a:bodyPr/>
          <a:lstStyle/>
          <a:p>
            <a:endParaRPr lang="en-US"/>
          </a:p>
        </p:txBody>
      </p:sp>
      <p:sp>
        <p:nvSpPr>
          <p:cNvPr id="36" name="Shape 34"/>
          <p:cNvSpPr/>
          <p:nvPr/>
        </p:nvSpPr>
        <p:spPr>
          <a:xfrm>
            <a:off x="464344" y="4903786"/>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733E0A"/>
          </a:solidFill>
          <a:ln/>
        </p:spPr>
        <p:txBody>
          <a:bodyPr/>
          <a:lstStyle/>
          <a:p>
            <a:endParaRPr lang="en-US"/>
          </a:p>
        </p:txBody>
      </p:sp>
      <p:sp>
        <p:nvSpPr>
          <p:cNvPr id="37" name="Text 35"/>
          <p:cNvSpPr/>
          <p:nvPr/>
        </p:nvSpPr>
        <p:spPr>
          <a:xfrm>
            <a:off x="627063" y="4864098"/>
            <a:ext cx="3063875" cy="222250"/>
          </a:xfrm>
          <a:prstGeom prst="rect">
            <a:avLst/>
          </a:prstGeom>
          <a:noFill/>
          <a:ln/>
        </p:spPr>
        <p:txBody>
          <a:bodyPr wrap="square" lIns="0" tIns="0" rIns="0" bIns="0" rtlCol="0" anchor="ctr"/>
          <a:lstStyle/>
          <a:p>
            <a:pPr>
              <a:lnSpc>
                <a:spcPct val="130000"/>
              </a:lnSpc>
            </a:pPr>
            <a:r>
              <a:rPr lang="en-US" sz="1125" b="1" dirty="0">
                <a:solidFill>
                  <a:srgbClr val="733E0A"/>
                </a:solidFill>
                <a:latin typeface="Sorts Mill Goudy" pitchFamily="34" charset="0"/>
                <a:ea typeface="Sorts Mill Goudy" pitchFamily="34" charset="-122"/>
                <a:cs typeface="Sorts Mill Goudy" pitchFamily="34" charset="-120"/>
              </a:rPr>
              <a:t>Confidence (Object)</a:t>
            </a:r>
            <a:endParaRPr lang="en-US" sz="1600" dirty="0"/>
          </a:p>
        </p:txBody>
      </p:sp>
      <p:sp>
        <p:nvSpPr>
          <p:cNvPr id="38" name="Text 36"/>
          <p:cNvSpPr/>
          <p:nvPr/>
        </p:nvSpPr>
        <p:spPr>
          <a:xfrm>
            <a:off x="444500" y="5149848"/>
            <a:ext cx="3238500" cy="190500"/>
          </a:xfrm>
          <a:prstGeom prst="rect">
            <a:avLst/>
          </a:prstGeom>
          <a:noFill/>
          <a:ln/>
        </p:spPr>
        <p:txBody>
          <a:bodyPr wrap="square" lIns="0" tIns="0" rIns="0" bIns="0" rtlCol="0" anchor="ctr"/>
          <a:lstStyle/>
          <a:p>
            <a:pPr>
              <a:lnSpc>
                <a:spcPct val="130000"/>
              </a:lnSpc>
            </a:pPr>
            <a:r>
              <a:rPr lang="en-US" sz="1000" b="1" dirty="0">
                <a:solidFill>
                  <a:srgbClr val="894B00"/>
                </a:solidFill>
                <a:latin typeface="Quattrocento Sans" pitchFamily="34" charset="0"/>
                <a:ea typeface="Quattrocento Sans" pitchFamily="34" charset="-122"/>
                <a:cs typeface="Quattrocento Sans" pitchFamily="34" charset="-120"/>
              </a:rPr>
              <a:t>MSE for cells with objects:</a:t>
            </a:r>
            <a:r>
              <a:rPr lang="en-US" sz="1000" dirty="0">
                <a:solidFill>
                  <a:srgbClr val="894B00"/>
                </a:solidFill>
                <a:latin typeface="Quattrocento Sans" pitchFamily="34" charset="0"/>
                <a:ea typeface="Quattrocento Sans" pitchFamily="34" charset="-122"/>
                <a:cs typeface="Quattrocento Sans" pitchFamily="34" charset="-120"/>
              </a:rPr>
              <a:t> High confidence if IoU is high.</a:t>
            </a:r>
            <a:endParaRPr lang="en-US" sz="1600" dirty="0"/>
          </a:p>
        </p:txBody>
      </p:sp>
      <p:sp>
        <p:nvSpPr>
          <p:cNvPr id="39" name="Shape 37"/>
          <p:cNvSpPr/>
          <p:nvPr/>
        </p:nvSpPr>
        <p:spPr>
          <a:xfrm>
            <a:off x="447675" y="5407023"/>
            <a:ext cx="3165475" cy="292100"/>
          </a:xfrm>
          <a:custGeom>
            <a:avLst/>
            <a:gdLst/>
            <a:ahLst/>
            <a:cxnLst/>
            <a:rect l="l" t="t" r="r" b="b"/>
            <a:pathLst>
              <a:path w="3165475" h="292100">
                <a:moveTo>
                  <a:pt x="31751" y="0"/>
                </a:moveTo>
                <a:lnTo>
                  <a:pt x="3133724" y="0"/>
                </a:lnTo>
                <a:cubicBezTo>
                  <a:pt x="3151259" y="0"/>
                  <a:pt x="3165475" y="14216"/>
                  <a:pt x="3165475" y="31751"/>
                </a:cubicBezTo>
                <a:lnTo>
                  <a:pt x="3165475" y="260349"/>
                </a:lnTo>
                <a:cubicBezTo>
                  <a:pt x="3165475" y="277884"/>
                  <a:pt x="3151259" y="292100"/>
                  <a:pt x="3133724" y="292100"/>
                </a:cubicBezTo>
                <a:lnTo>
                  <a:pt x="31751" y="292100"/>
                </a:lnTo>
                <a:cubicBezTo>
                  <a:pt x="14216" y="292100"/>
                  <a:pt x="0" y="277884"/>
                  <a:pt x="0" y="260349"/>
                </a:cubicBezTo>
                <a:lnTo>
                  <a:pt x="0" y="31751"/>
                </a:lnTo>
                <a:cubicBezTo>
                  <a:pt x="0" y="14227"/>
                  <a:pt x="14227" y="0"/>
                  <a:pt x="31751" y="0"/>
                </a:cubicBezTo>
                <a:close/>
              </a:path>
            </a:pathLst>
          </a:custGeom>
          <a:solidFill>
            <a:srgbClr val="FFFFFF"/>
          </a:solidFill>
          <a:ln w="10160">
            <a:solidFill>
              <a:srgbClr val="FFDF20"/>
            </a:solidFill>
            <a:prstDash val="solid"/>
          </a:ln>
        </p:spPr>
        <p:txBody>
          <a:bodyPr/>
          <a:lstStyle/>
          <a:p>
            <a:endParaRPr lang="en-US"/>
          </a:p>
        </p:txBody>
      </p:sp>
      <p:sp>
        <p:nvSpPr>
          <p:cNvPr id="40" name="Text 38"/>
          <p:cNvSpPr/>
          <p:nvPr/>
        </p:nvSpPr>
        <p:spPr>
          <a:xfrm>
            <a:off x="444500" y="5403848"/>
            <a:ext cx="3214688" cy="285750"/>
          </a:xfrm>
          <a:prstGeom prst="rect">
            <a:avLst/>
          </a:prstGeom>
          <a:noFill/>
          <a:ln/>
        </p:spPr>
        <p:txBody>
          <a:bodyPr wrap="square" lIns="63500" tIns="63500" rIns="63500" bIns="6350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(C - Ĉ)² where 1</a:t>
            </a:r>
            <a:r>
              <a:rPr lang="en-US" sz="656" dirty="0">
                <a:solidFill>
                  <a:srgbClr val="1F2937"/>
                </a:solidFill>
                <a:latin typeface="MiSans" pitchFamily="34" charset="0"/>
                <a:ea typeface="MiSans" pitchFamily="34" charset="-122"/>
                <a:cs typeface="MiSans" pitchFamily="34" charset="-120"/>
              </a:rPr>
              <a:t>iobj</a:t>
            </a:r>
            <a:r>
              <a:rPr lang="en-US" sz="875" dirty="0">
                <a:solidFill>
                  <a:srgbClr val="1F2937"/>
                </a:solidFill>
                <a:latin typeface="MiSans" pitchFamily="34" charset="0"/>
                <a:ea typeface="MiSans" pitchFamily="34" charset="-122"/>
                <a:cs typeface="MiSans" pitchFamily="34" charset="-120"/>
              </a:rPr>
              <a:t> = 1</a:t>
            </a:r>
            <a:endParaRPr lang="en-US" sz="1600" dirty="0"/>
          </a:p>
        </p:txBody>
      </p:sp>
      <p:sp>
        <p:nvSpPr>
          <p:cNvPr id="41" name="Shape 39"/>
          <p:cNvSpPr/>
          <p:nvPr/>
        </p:nvSpPr>
        <p:spPr>
          <a:xfrm>
            <a:off x="3822700" y="4768848"/>
            <a:ext cx="3381375" cy="1031875"/>
          </a:xfrm>
          <a:custGeom>
            <a:avLst/>
            <a:gdLst/>
            <a:ahLst/>
            <a:cxnLst/>
            <a:rect l="l" t="t" r="r" b="b"/>
            <a:pathLst>
              <a:path w="3381375" h="1031875">
                <a:moveTo>
                  <a:pt x="31750" y="0"/>
                </a:moveTo>
                <a:lnTo>
                  <a:pt x="3317873" y="0"/>
                </a:lnTo>
                <a:cubicBezTo>
                  <a:pt x="3352944" y="0"/>
                  <a:pt x="3381375" y="28431"/>
                  <a:pt x="3381375" y="63502"/>
                </a:cubicBezTo>
                <a:lnTo>
                  <a:pt x="3381375" y="968373"/>
                </a:lnTo>
                <a:cubicBezTo>
                  <a:pt x="3381375" y="1003444"/>
                  <a:pt x="3352944" y="1031875"/>
                  <a:pt x="3317873" y="1031875"/>
                </a:cubicBezTo>
                <a:lnTo>
                  <a:pt x="31750" y="1031875"/>
                </a:lnTo>
                <a:cubicBezTo>
                  <a:pt x="14215" y="1031875"/>
                  <a:pt x="0" y="1017660"/>
                  <a:pt x="0" y="1000125"/>
                </a:cubicBezTo>
                <a:lnTo>
                  <a:pt x="0" y="31750"/>
                </a:lnTo>
                <a:cubicBezTo>
                  <a:pt x="0" y="14227"/>
                  <a:pt x="14227" y="0"/>
                  <a:pt x="31750" y="0"/>
                </a:cubicBezTo>
                <a:close/>
              </a:path>
            </a:pathLst>
          </a:custGeom>
          <a:solidFill>
            <a:srgbClr val="FEF2F2"/>
          </a:solidFill>
          <a:ln/>
        </p:spPr>
        <p:txBody>
          <a:bodyPr/>
          <a:lstStyle/>
          <a:p>
            <a:endParaRPr lang="en-US"/>
          </a:p>
        </p:txBody>
      </p:sp>
      <p:sp>
        <p:nvSpPr>
          <p:cNvPr id="42" name="Shape 40"/>
          <p:cNvSpPr/>
          <p:nvPr/>
        </p:nvSpPr>
        <p:spPr>
          <a:xfrm>
            <a:off x="3822700" y="4768848"/>
            <a:ext cx="31750" cy="1031875"/>
          </a:xfrm>
          <a:custGeom>
            <a:avLst/>
            <a:gdLst/>
            <a:ahLst/>
            <a:cxnLst/>
            <a:rect l="l" t="t" r="r" b="b"/>
            <a:pathLst>
              <a:path w="31750" h="1031875">
                <a:moveTo>
                  <a:pt x="31750" y="0"/>
                </a:moveTo>
                <a:lnTo>
                  <a:pt x="31750" y="0"/>
                </a:lnTo>
                <a:lnTo>
                  <a:pt x="31750" y="1031875"/>
                </a:lnTo>
                <a:lnTo>
                  <a:pt x="31750" y="1031875"/>
                </a:lnTo>
                <a:cubicBezTo>
                  <a:pt x="14227" y="1031875"/>
                  <a:pt x="0" y="1017648"/>
                  <a:pt x="0" y="1000125"/>
                </a:cubicBezTo>
                <a:lnTo>
                  <a:pt x="0" y="31750"/>
                </a:lnTo>
                <a:cubicBezTo>
                  <a:pt x="0" y="14227"/>
                  <a:pt x="14227" y="0"/>
                  <a:pt x="31750" y="0"/>
                </a:cubicBezTo>
                <a:close/>
              </a:path>
            </a:pathLst>
          </a:custGeom>
          <a:solidFill>
            <a:srgbClr val="FB2C36"/>
          </a:solidFill>
          <a:ln/>
        </p:spPr>
        <p:txBody>
          <a:bodyPr/>
          <a:lstStyle/>
          <a:p>
            <a:endParaRPr lang="en-US"/>
          </a:p>
        </p:txBody>
      </p:sp>
      <p:sp>
        <p:nvSpPr>
          <p:cNvPr id="43" name="Shape 41"/>
          <p:cNvSpPr/>
          <p:nvPr/>
        </p:nvSpPr>
        <p:spPr>
          <a:xfrm>
            <a:off x="3953669" y="4903786"/>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46602" y="46602"/>
                </a:moveTo>
                <a:cubicBezTo>
                  <a:pt x="49225" y="43979"/>
                  <a:pt x="53467" y="43979"/>
                  <a:pt x="56062" y="46602"/>
                </a:cubicBezTo>
                <a:lnTo>
                  <a:pt x="71410" y="61950"/>
                </a:lnTo>
                <a:lnTo>
                  <a:pt x="86757" y="46602"/>
                </a:lnTo>
                <a:cubicBezTo>
                  <a:pt x="89381" y="43979"/>
                  <a:pt x="93622" y="43979"/>
                  <a:pt x="96217" y="46602"/>
                </a:cubicBezTo>
                <a:cubicBezTo>
                  <a:pt x="98813" y="49225"/>
                  <a:pt x="98840" y="53467"/>
                  <a:pt x="96217" y="56062"/>
                </a:cubicBezTo>
                <a:lnTo>
                  <a:pt x="80869" y="71410"/>
                </a:lnTo>
                <a:lnTo>
                  <a:pt x="96217" y="86757"/>
                </a:lnTo>
                <a:cubicBezTo>
                  <a:pt x="98840" y="89381"/>
                  <a:pt x="98840" y="93622"/>
                  <a:pt x="96217" y="96217"/>
                </a:cubicBezTo>
                <a:cubicBezTo>
                  <a:pt x="93594" y="98813"/>
                  <a:pt x="89353" y="98840"/>
                  <a:pt x="86757" y="96217"/>
                </a:cubicBezTo>
                <a:lnTo>
                  <a:pt x="71410" y="80869"/>
                </a:lnTo>
                <a:lnTo>
                  <a:pt x="56062" y="96217"/>
                </a:lnTo>
                <a:cubicBezTo>
                  <a:pt x="53439" y="98840"/>
                  <a:pt x="49197" y="98840"/>
                  <a:pt x="46602" y="96217"/>
                </a:cubicBezTo>
                <a:cubicBezTo>
                  <a:pt x="44007" y="93594"/>
                  <a:pt x="43979" y="89353"/>
                  <a:pt x="46602" y="86757"/>
                </a:cubicBezTo>
                <a:lnTo>
                  <a:pt x="61950" y="71410"/>
                </a:lnTo>
                <a:lnTo>
                  <a:pt x="46602" y="56062"/>
                </a:lnTo>
                <a:cubicBezTo>
                  <a:pt x="43979" y="53439"/>
                  <a:pt x="43979" y="49197"/>
                  <a:pt x="46602" y="46602"/>
                </a:cubicBezTo>
                <a:close/>
              </a:path>
            </a:pathLst>
          </a:custGeom>
          <a:solidFill>
            <a:srgbClr val="82181A"/>
          </a:solidFill>
          <a:ln/>
        </p:spPr>
        <p:txBody>
          <a:bodyPr/>
          <a:lstStyle/>
          <a:p>
            <a:endParaRPr lang="en-US"/>
          </a:p>
        </p:txBody>
      </p:sp>
      <p:sp>
        <p:nvSpPr>
          <p:cNvPr id="44" name="Text 42"/>
          <p:cNvSpPr/>
          <p:nvPr/>
        </p:nvSpPr>
        <p:spPr>
          <a:xfrm>
            <a:off x="4116388" y="4864098"/>
            <a:ext cx="3063875" cy="222250"/>
          </a:xfrm>
          <a:prstGeom prst="rect">
            <a:avLst/>
          </a:prstGeom>
          <a:noFill/>
          <a:ln/>
        </p:spPr>
        <p:txBody>
          <a:bodyPr wrap="square" lIns="0" tIns="0" rIns="0" bIns="0" rtlCol="0" anchor="ctr"/>
          <a:lstStyle/>
          <a:p>
            <a:pPr>
              <a:lnSpc>
                <a:spcPct val="130000"/>
              </a:lnSpc>
            </a:pPr>
            <a:r>
              <a:rPr lang="en-US" sz="1125" b="1" dirty="0">
                <a:solidFill>
                  <a:srgbClr val="82181A"/>
                </a:solidFill>
                <a:latin typeface="Sorts Mill Goudy" pitchFamily="34" charset="0"/>
                <a:ea typeface="Sorts Mill Goudy" pitchFamily="34" charset="-122"/>
                <a:cs typeface="Sorts Mill Goudy" pitchFamily="34" charset="-120"/>
              </a:rPr>
              <a:t>Confidence (No Object)</a:t>
            </a:r>
            <a:endParaRPr lang="en-US" sz="1600" dirty="0"/>
          </a:p>
        </p:txBody>
      </p:sp>
      <p:sp>
        <p:nvSpPr>
          <p:cNvPr id="45" name="Text 43"/>
          <p:cNvSpPr/>
          <p:nvPr/>
        </p:nvSpPr>
        <p:spPr>
          <a:xfrm>
            <a:off x="3933825" y="5149848"/>
            <a:ext cx="3238500" cy="190500"/>
          </a:xfrm>
          <a:prstGeom prst="rect">
            <a:avLst/>
          </a:prstGeom>
          <a:noFill/>
          <a:ln/>
        </p:spPr>
        <p:txBody>
          <a:bodyPr wrap="square" lIns="0" tIns="0" rIns="0" bIns="0" rtlCol="0" anchor="ctr"/>
          <a:lstStyle/>
          <a:p>
            <a:pPr>
              <a:lnSpc>
                <a:spcPct val="130000"/>
              </a:lnSpc>
            </a:pPr>
            <a:r>
              <a:rPr lang="en-US" sz="1000" b="1" dirty="0">
                <a:solidFill>
                  <a:srgbClr val="9F0712"/>
                </a:solidFill>
                <a:latin typeface="Quattrocento Sans" pitchFamily="34" charset="0"/>
                <a:ea typeface="Quattrocento Sans" pitchFamily="34" charset="-122"/>
                <a:cs typeface="Quattrocento Sans" pitchFamily="34" charset="-120"/>
              </a:rPr>
              <a:t>MSE for empty cells:</a:t>
            </a:r>
            <a:r>
              <a:rPr lang="en-US" sz="1000" dirty="0">
                <a:solidFill>
                  <a:srgbClr val="9F0712"/>
                </a:solidFill>
                <a:latin typeface="Quattrocento Sans" pitchFamily="34" charset="0"/>
                <a:ea typeface="Quattrocento Sans" pitchFamily="34" charset="-122"/>
                <a:cs typeface="Quattrocento Sans" pitchFamily="34" charset="-120"/>
              </a:rPr>
              <a:t> Low confidence with λ</a:t>
            </a:r>
            <a:r>
              <a:rPr lang="en-US" sz="750" dirty="0">
                <a:solidFill>
                  <a:srgbClr val="9F0712"/>
                </a:solidFill>
                <a:latin typeface="Quattrocento Sans" pitchFamily="34" charset="0"/>
                <a:ea typeface="Quattrocento Sans" pitchFamily="34" charset="-122"/>
                <a:cs typeface="Quattrocento Sans" pitchFamily="34" charset="-120"/>
              </a:rPr>
              <a:t>noobj</a:t>
            </a:r>
            <a:r>
              <a:rPr lang="en-US" sz="1000" dirty="0">
                <a:solidFill>
                  <a:srgbClr val="9F0712"/>
                </a:solidFill>
                <a:latin typeface="Quattrocento Sans" pitchFamily="34" charset="0"/>
                <a:ea typeface="Quattrocento Sans" pitchFamily="34" charset="-122"/>
                <a:cs typeface="Quattrocento Sans" pitchFamily="34" charset="-120"/>
              </a:rPr>
              <a:t> = 0.5.</a:t>
            </a:r>
            <a:endParaRPr lang="en-US" sz="1600" dirty="0"/>
          </a:p>
        </p:txBody>
      </p:sp>
      <p:sp>
        <p:nvSpPr>
          <p:cNvPr id="46" name="Shape 44"/>
          <p:cNvSpPr/>
          <p:nvPr/>
        </p:nvSpPr>
        <p:spPr>
          <a:xfrm>
            <a:off x="3937000" y="5407023"/>
            <a:ext cx="3165475" cy="292100"/>
          </a:xfrm>
          <a:custGeom>
            <a:avLst/>
            <a:gdLst/>
            <a:ahLst/>
            <a:cxnLst/>
            <a:rect l="l" t="t" r="r" b="b"/>
            <a:pathLst>
              <a:path w="3165475" h="292100">
                <a:moveTo>
                  <a:pt x="31751" y="0"/>
                </a:moveTo>
                <a:lnTo>
                  <a:pt x="3133724" y="0"/>
                </a:lnTo>
                <a:cubicBezTo>
                  <a:pt x="3151259" y="0"/>
                  <a:pt x="3165475" y="14216"/>
                  <a:pt x="3165475" y="31751"/>
                </a:cubicBezTo>
                <a:lnTo>
                  <a:pt x="3165475" y="260349"/>
                </a:lnTo>
                <a:cubicBezTo>
                  <a:pt x="3165475" y="277884"/>
                  <a:pt x="3151259" y="292100"/>
                  <a:pt x="3133724" y="292100"/>
                </a:cubicBezTo>
                <a:lnTo>
                  <a:pt x="31751" y="292100"/>
                </a:lnTo>
                <a:cubicBezTo>
                  <a:pt x="14216" y="292100"/>
                  <a:pt x="0" y="277884"/>
                  <a:pt x="0" y="260349"/>
                </a:cubicBezTo>
                <a:lnTo>
                  <a:pt x="0" y="31751"/>
                </a:lnTo>
                <a:cubicBezTo>
                  <a:pt x="0" y="14227"/>
                  <a:pt x="14227" y="0"/>
                  <a:pt x="31751" y="0"/>
                </a:cubicBezTo>
                <a:close/>
              </a:path>
            </a:pathLst>
          </a:custGeom>
          <a:solidFill>
            <a:srgbClr val="FFFFFF"/>
          </a:solidFill>
          <a:ln w="10160">
            <a:solidFill>
              <a:srgbClr val="FFA2A2"/>
            </a:solidFill>
            <a:prstDash val="solid"/>
          </a:ln>
        </p:spPr>
        <p:txBody>
          <a:bodyPr/>
          <a:lstStyle/>
          <a:p>
            <a:endParaRPr lang="en-US"/>
          </a:p>
        </p:txBody>
      </p:sp>
      <p:sp>
        <p:nvSpPr>
          <p:cNvPr id="47" name="Text 45"/>
          <p:cNvSpPr/>
          <p:nvPr/>
        </p:nvSpPr>
        <p:spPr>
          <a:xfrm>
            <a:off x="3933825" y="5403848"/>
            <a:ext cx="3214688" cy="285750"/>
          </a:xfrm>
          <a:prstGeom prst="rect">
            <a:avLst/>
          </a:prstGeom>
          <a:noFill/>
          <a:ln/>
        </p:spPr>
        <p:txBody>
          <a:bodyPr wrap="square" lIns="63500" tIns="63500" rIns="63500" bIns="63500" rtlCol="0" anchor="ctr"/>
          <a:lstStyle/>
          <a:p>
            <a:pPr>
              <a:lnSpc>
                <a:spcPct val="120000"/>
              </a:lnSpc>
            </a:pPr>
            <a:r>
              <a:rPr lang="en-US" sz="875" dirty="0">
                <a:solidFill>
                  <a:srgbClr val="1F2937"/>
                </a:solidFill>
                <a:latin typeface="MiSans" pitchFamily="34" charset="0"/>
                <a:ea typeface="MiSans" pitchFamily="34" charset="-122"/>
                <a:cs typeface="MiSans" pitchFamily="34" charset="-120"/>
              </a:rPr>
              <a:t>λ</a:t>
            </a:r>
            <a:r>
              <a:rPr lang="en-US" sz="656" dirty="0">
                <a:solidFill>
                  <a:srgbClr val="1F2937"/>
                </a:solidFill>
                <a:latin typeface="MiSans" pitchFamily="34" charset="0"/>
                <a:ea typeface="MiSans" pitchFamily="34" charset="-122"/>
                <a:cs typeface="MiSans" pitchFamily="34" charset="-120"/>
              </a:rPr>
              <a:t>noobj</a:t>
            </a:r>
            <a:r>
              <a:rPr lang="en-US" sz="875" dirty="0">
                <a:solidFill>
                  <a:srgbClr val="1F2937"/>
                </a:solidFill>
                <a:latin typeface="MiSans" pitchFamily="34" charset="0"/>
                <a:ea typeface="MiSans" pitchFamily="34" charset="-122"/>
                <a:cs typeface="MiSans" pitchFamily="34" charset="-120"/>
              </a:rPr>
              <a:t> × (C - Ĉ)² where 1</a:t>
            </a:r>
            <a:r>
              <a:rPr lang="en-US" sz="656" dirty="0">
                <a:solidFill>
                  <a:srgbClr val="1F2937"/>
                </a:solidFill>
                <a:latin typeface="MiSans" pitchFamily="34" charset="0"/>
                <a:ea typeface="MiSans" pitchFamily="34" charset="-122"/>
                <a:cs typeface="MiSans" pitchFamily="34" charset="-120"/>
              </a:rPr>
              <a:t>inoobj</a:t>
            </a:r>
            <a:r>
              <a:rPr lang="en-US" sz="875" dirty="0">
                <a:solidFill>
                  <a:srgbClr val="1F2937"/>
                </a:solidFill>
                <a:latin typeface="MiSans" pitchFamily="34" charset="0"/>
                <a:ea typeface="MiSans" pitchFamily="34" charset="-122"/>
                <a:cs typeface="MiSans" pitchFamily="34" charset="-120"/>
              </a:rPr>
              <a:t> = 1</a:t>
            </a:r>
            <a:endParaRPr lang="en-US" sz="1600" dirty="0"/>
          </a:p>
        </p:txBody>
      </p:sp>
      <p:sp>
        <p:nvSpPr>
          <p:cNvPr id="48" name="Shape 46"/>
          <p:cNvSpPr/>
          <p:nvPr/>
        </p:nvSpPr>
        <p:spPr>
          <a:xfrm>
            <a:off x="7327900" y="952500"/>
            <a:ext cx="4548188" cy="2127250"/>
          </a:xfrm>
          <a:custGeom>
            <a:avLst/>
            <a:gdLst/>
            <a:ahLst/>
            <a:cxnLst/>
            <a:rect l="l" t="t" r="r" b="b"/>
            <a:pathLst>
              <a:path w="4548188" h="2127250">
                <a:moveTo>
                  <a:pt x="63498" y="0"/>
                </a:moveTo>
                <a:lnTo>
                  <a:pt x="4484689" y="0"/>
                </a:lnTo>
                <a:cubicBezTo>
                  <a:pt x="4519758" y="0"/>
                  <a:pt x="4548188" y="28429"/>
                  <a:pt x="4548188" y="63498"/>
                </a:cubicBezTo>
                <a:lnTo>
                  <a:pt x="4548188" y="2063752"/>
                </a:lnTo>
                <a:cubicBezTo>
                  <a:pt x="4548188" y="2098821"/>
                  <a:pt x="4519758" y="2127250"/>
                  <a:pt x="4484689" y="2127250"/>
                </a:cubicBezTo>
                <a:lnTo>
                  <a:pt x="63498" y="2127250"/>
                </a:lnTo>
                <a:cubicBezTo>
                  <a:pt x="28429" y="2127250"/>
                  <a:pt x="0" y="2098821"/>
                  <a:pt x="0" y="2063752"/>
                </a:cubicBezTo>
                <a:lnTo>
                  <a:pt x="0" y="63498"/>
                </a:lnTo>
                <a:cubicBezTo>
                  <a:pt x="0" y="28453"/>
                  <a:pt x="28453" y="0"/>
                  <a:pt x="63498" y="0"/>
                </a:cubicBezTo>
                <a:close/>
              </a:path>
            </a:pathLst>
          </a:custGeom>
          <a:solidFill>
            <a:srgbClr val="8B0000"/>
          </a:solidFill>
          <a:ln/>
        </p:spPr>
        <p:txBody>
          <a:bodyPr/>
          <a:lstStyle/>
          <a:p>
            <a:endParaRPr lang="en-US"/>
          </a:p>
        </p:txBody>
      </p:sp>
      <p:sp>
        <p:nvSpPr>
          <p:cNvPr id="49" name="Shape 47"/>
          <p:cNvSpPr/>
          <p:nvPr/>
        </p:nvSpPr>
        <p:spPr>
          <a:xfrm>
            <a:off x="7474744" y="11112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69453" y="49609"/>
                </a:moveTo>
                <a:cubicBezTo>
                  <a:pt x="69453" y="44133"/>
                  <a:pt x="73899" y="39688"/>
                  <a:pt x="79375" y="39688"/>
                </a:cubicBezTo>
                <a:cubicBezTo>
                  <a:pt x="84851" y="39688"/>
                  <a:pt x="89297" y="44133"/>
                  <a:pt x="89297" y="49609"/>
                </a:cubicBezTo>
                <a:cubicBezTo>
                  <a:pt x="89297" y="55085"/>
                  <a:pt x="84851" y="59531"/>
                  <a:pt x="79375" y="59531"/>
                </a:cubicBezTo>
                <a:cubicBezTo>
                  <a:pt x="73899" y="59531"/>
                  <a:pt x="69453" y="55085"/>
                  <a:pt x="69453" y="49609"/>
                </a:cubicBezTo>
                <a:close/>
                <a:moveTo>
                  <a:pt x="66973" y="69453"/>
                </a:moveTo>
                <a:lnTo>
                  <a:pt x="81855" y="69453"/>
                </a:lnTo>
                <a:cubicBezTo>
                  <a:pt x="85979" y="69453"/>
                  <a:pt x="89297" y="72771"/>
                  <a:pt x="89297" y="76895"/>
                </a:cubicBezTo>
                <a:lnTo>
                  <a:pt x="89297" y="104180"/>
                </a:lnTo>
                <a:lnTo>
                  <a:pt x="91777" y="104180"/>
                </a:lnTo>
                <a:cubicBezTo>
                  <a:pt x="95901" y="104180"/>
                  <a:pt x="99219" y="107497"/>
                  <a:pt x="99219" y="111621"/>
                </a:cubicBezTo>
                <a:cubicBezTo>
                  <a:pt x="99219" y="115745"/>
                  <a:pt x="95901" y="119062"/>
                  <a:pt x="91777" y="119062"/>
                </a:cubicBezTo>
                <a:lnTo>
                  <a:pt x="66973" y="119062"/>
                </a:lnTo>
                <a:cubicBezTo>
                  <a:pt x="62849" y="119062"/>
                  <a:pt x="59531" y="115745"/>
                  <a:pt x="59531" y="111621"/>
                </a:cubicBezTo>
                <a:cubicBezTo>
                  <a:pt x="59531" y="107497"/>
                  <a:pt x="62849" y="104180"/>
                  <a:pt x="66973" y="104180"/>
                </a:cubicBezTo>
                <a:lnTo>
                  <a:pt x="74414" y="104180"/>
                </a:lnTo>
                <a:lnTo>
                  <a:pt x="74414" y="84336"/>
                </a:lnTo>
                <a:lnTo>
                  <a:pt x="66973" y="84336"/>
                </a:lnTo>
                <a:cubicBezTo>
                  <a:pt x="62849" y="84336"/>
                  <a:pt x="59531" y="81018"/>
                  <a:pt x="59531" y="76895"/>
                </a:cubicBezTo>
                <a:cubicBezTo>
                  <a:pt x="59531" y="72771"/>
                  <a:pt x="62849" y="69453"/>
                  <a:pt x="66973" y="69453"/>
                </a:cubicBezTo>
                <a:close/>
              </a:path>
            </a:pathLst>
          </a:custGeom>
          <a:solidFill>
            <a:srgbClr val="FFFFFF"/>
          </a:solidFill>
          <a:ln/>
        </p:spPr>
        <p:txBody>
          <a:bodyPr/>
          <a:lstStyle/>
          <a:p>
            <a:endParaRPr lang="en-US"/>
          </a:p>
        </p:txBody>
      </p:sp>
      <p:sp>
        <p:nvSpPr>
          <p:cNvPr id="50" name="Text 48"/>
          <p:cNvSpPr/>
          <p:nvPr/>
        </p:nvSpPr>
        <p:spPr>
          <a:xfrm>
            <a:off x="7653338" y="1079500"/>
            <a:ext cx="417512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Loss Components</a:t>
            </a:r>
            <a:endParaRPr lang="en-US" sz="1600" dirty="0"/>
          </a:p>
        </p:txBody>
      </p:sp>
      <p:sp>
        <p:nvSpPr>
          <p:cNvPr id="51" name="Shape 49"/>
          <p:cNvSpPr/>
          <p:nvPr/>
        </p:nvSpPr>
        <p:spPr>
          <a:xfrm>
            <a:off x="7454900" y="1397000"/>
            <a:ext cx="4294188" cy="476250"/>
          </a:xfrm>
          <a:custGeom>
            <a:avLst/>
            <a:gdLst/>
            <a:ahLst/>
            <a:cxnLst/>
            <a:rect l="l" t="t" r="r" b="b"/>
            <a:pathLst>
              <a:path w="4294188" h="476250">
                <a:moveTo>
                  <a:pt x="31752" y="0"/>
                </a:moveTo>
                <a:lnTo>
                  <a:pt x="4262436" y="0"/>
                </a:lnTo>
                <a:cubicBezTo>
                  <a:pt x="4279972" y="0"/>
                  <a:pt x="4294188" y="14216"/>
                  <a:pt x="4294188" y="31752"/>
                </a:cubicBezTo>
                <a:lnTo>
                  <a:pt x="4294188" y="444498"/>
                </a:lnTo>
                <a:cubicBezTo>
                  <a:pt x="4294188" y="462034"/>
                  <a:pt x="4279972" y="476250"/>
                  <a:pt x="4262436" y="476250"/>
                </a:cubicBezTo>
                <a:lnTo>
                  <a:pt x="31752" y="476250"/>
                </a:lnTo>
                <a:cubicBezTo>
                  <a:pt x="14216" y="476250"/>
                  <a:pt x="0" y="462034"/>
                  <a:pt x="0" y="444498"/>
                </a:cubicBezTo>
                <a:lnTo>
                  <a:pt x="0" y="31752"/>
                </a:lnTo>
                <a:cubicBezTo>
                  <a:pt x="0" y="14216"/>
                  <a:pt x="14216" y="0"/>
                  <a:pt x="31752" y="0"/>
                </a:cubicBezTo>
                <a:close/>
              </a:path>
            </a:pathLst>
          </a:custGeom>
          <a:solidFill>
            <a:srgbClr val="FFFFFF">
              <a:alpha val="20000"/>
            </a:srgbClr>
          </a:solidFill>
          <a:ln/>
        </p:spPr>
        <p:txBody>
          <a:bodyPr/>
          <a:lstStyle/>
          <a:p>
            <a:endParaRPr lang="en-US"/>
          </a:p>
        </p:txBody>
      </p:sp>
      <p:sp>
        <p:nvSpPr>
          <p:cNvPr id="52" name="Text 50"/>
          <p:cNvSpPr/>
          <p:nvPr/>
        </p:nvSpPr>
        <p:spPr>
          <a:xfrm>
            <a:off x="7518400" y="1460500"/>
            <a:ext cx="42306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1. Localization Loss</a:t>
            </a:r>
            <a:endParaRPr lang="en-US" sz="1600" dirty="0"/>
          </a:p>
        </p:txBody>
      </p:sp>
      <p:sp>
        <p:nvSpPr>
          <p:cNvPr id="53" name="Text 51"/>
          <p:cNvSpPr/>
          <p:nvPr/>
        </p:nvSpPr>
        <p:spPr>
          <a:xfrm>
            <a:off x="7518400" y="1651000"/>
            <a:ext cx="42227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First 2 terms: x, y, w, h</a:t>
            </a:r>
            <a:endParaRPr lang="en-US" sz="1600" dirty="0"/>
          </a:p>
        </p:txBody>
      </p:sp>
      <p:sp>
        <p:nvSpPr>
          <p:cNvPr id="54" name="Shape 52"/>
          <p:cNvSpPr/>
          <p:nvPr/>
        </p:nvSpPr>
        <p:spPr>
          <a:xfrm>
            <a:off x="7454900" y="1936750"/>
            <a:ext cx="4294188" cy="476250"/>
          </a:xfrm>
          <a:custGeom>
            <a:avLst/>
            <a:gdLst/>
            <a:ahLst/>
            <a:cxnLst/>
            <a:rect l="l" t="t" r="r" b="b"/>
            <a:pathLst>
              <a:path w="4294188" h="476250">
                <a:moveTo>
                  <a:pt x="31752" y="0"/>
                </a:moveTo>
                <a:lnTo>
                  <a:pt x="4262436" y="0"/>
                </a:lnTo>
                <a:cubicBezTo>
                  <a:pt x="4279972" y="0"/>
                  <a:pt x="4294188" y="14216"/>
                  <a:pt x="4294188" y="31752"/>
                </a:cubicBezTo>
                <a:lnTo>
                  <a:pt x="4294188" y="444498"/>
                </a:lnTo>
                <a:cubicBezTo>
                  <a:pt x="4294188" y="462034"/>
                  <a:pt x="4279972" y="476250"/>
                  <a:pt x="4262436" y="476250"/>
                </a:cubicBezTo>
                <a:lnTo>
                  <a:pt x="31752" y="476250"/>
                </a:lnTo>
                <a:cubicBezTo>
                  <a:pt x="14216" y="476250"/>
                  <a:pt x="0" y="462034"/>
                  <a:pt x="0" y="444498"/>
                </a:cubicBezTo>
                <a:lnTo>
                  <a:pt x="0" y="31752"/>
                </a:lnTo>
                <a:cubicBezTo>
                  <a:pt x="0" y="14216"/>
                  <a:pt x="14216" y="0"/>
                  <a:pt x="31752" y="0"/>
                </a:cubicBezTo>
                <a:close/>
              </a:path>
            </a:pathLst>
          </a:custGeom>
          <a:solidFill>
            <a:srgbClr val="FFFFFF">
              <a:alpha val="20000"/>
            </a:srgbClr>
          </a:solidFill>
          <a:ln/>
        </p:spPr>
        <p:txBody>
          <a:bodyPr/>
          <a:lstStyle/>
          <a:p>
            <a:endParaRPr lang="en-US"/>
          </a:p>
        </p:txBody>
      </p:sp>
      <p:sp>
        <p:nvSpPr>
          <p:cNvPr id="55" name="Text 53"/>
          <p:cNvSpPr/>
          <p:nvPr/>
        </p:nvSpPr>
        <p:spPr>
          <a:xfrm>
            <a:off x="7518400" y="2000250"/>
            <a:ext cx="42306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2. Confidence Loss</a:t>
            </a:r>
            <a:endParaRPr lang="en-US" sz="1600" dirty="0"/>
          </a:p>
        </p:txBody>
      </p:sp>
      <p:sp>
        <p:nvSpPr>
          <p:cNvPr id="56" name="Text 54"/>
          <p:cNvSpPr/>
          <p:nvPr/>
        </p:nvSpPr>
        <p:spPr>
          <a:xfrm>
            <a:off x="7518400" y="2190750"/>
            <a:ext cx="42227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Terms 3 &amp; 4: Object vs No Object</a:t>
            </a:r>
            <a:endParaRPr lang="en-US" sz="1600" dirty="0"/>
          </a:p>
        </p:txBody>
      </p:sp>
      <p:sp>
        <p:nvSpPr>
          <p:cNvPr id="57" name="Shape 55"/>
          <p:cNvSpPr/>
          <p:nvPr/>
        </p:nvSpPr>
        <p:spPr>
          <a:xfrm>
            <a:off x="7454900" y="2476500"/>
            <a:ext cx="4294188" cy="476250"/>
          </a:xfrm>
          <a:custGeom>
            <a:avLst/>
            <a:gdLst/>
            <a:ahLst/>
            <a:cxnLst/>
            <a:rect l="l" t="t" r="r" b="b"/>
            <a:pathLst>
              <a:path w="4294188" h="476250">
                <a:moveTo>
                  <a:pt x="31752" y="0"/>
                </a:moveTo>
                <a:lnTo>
                  <a:pt x="4262436" y="0"/>
                </a:lnTo>
                <a:cubicBezTo>
                  <a:pt x="4279972" y="0"/>
                  <a:pt x="4294188" y="14216"/>
                  <a:pt x="4294188" y="31752"/>
                </a:cubicBezTo>
                <a:lnTo>
                  <a:pt x="4294188" y="444498"/>
                </a:lnTo>
                <a:cubicBezTo>
                  <a:pt x="4294188" y="462034"/>
                  <a:pt x="4279972" y="476250"/>
                  <a:pt x="4262436" y="476250"/>
                </a:cubicBezTo>
                <a:lnTo>
                  <a:pt x="31752" y="476250"/>
                </a:lnTo>
                <a:cubicBezTo>
                  <a:pt x="14216" y="476250"/>
                  <a:pt x="0" y="462034"/>
                  <a:pt x="0" y="444498"/>
                </a:cubicBezTo>
                <a:lnTo>
                  <a:pt x="0" y="31752"/>
                </a:lnTo>
                <a:cubicBezTo>
                  <a:pt x="0" y="14216"/>
                  <a:pt x="14216" y="0"/>
                  <a:pt x="31752" y="0"/>
                </a:cubicBezTo>
                <a:close/>
              </a:path>
            </a:pathLst>
          </a:custGeom>
          <a:solidFill>
            <a:srgbClr val="FFFFFF">
              <a:alpha val="20000"/>
            </a:srgbClr>
          </a:solidFill>
          <a:ln/>
        </p:spPr>
        <p:txBody>
          <a:bodyPr/>
          <a:lstStyle/>
          <a:p>
            <a:endParaRPr lang="en-US"/>
          </a:p>
        </p:txBody>
      </p:sp>
      <p:sp>
        <p:nvSpPr>
          <p:cNvPr id="58" name="Text 56"/>
          <p:cNvSpPr/>
          <p:nvPr/>
        </p:nvSpPr>
        <p:spPr>
          <a:xfrm>
            <a:off x="7518400" y="2540000"/>
            <a:ext cx="423068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3. Classification Loss</a:t>
            </a:r>
            <a:endParaRPr lang="en-US" sz="1600" dirty="0"/>
          </a:p>
        </p:txBody>
      </p:sp>
      <p:sp>
        <p:nvSpPr>
          <p:cNvPr id="59" name="Text 57"/>
          <p:cNvSpPr/>
          <p:nvPr/>
        </p:nvSpPr>
        <p:spPr>
          <a:xfrm>
            <a:off x="7518400" y="2730500"/>
            <a:ext cx="4222750" cy="158750"/>
          </a:xfrm>
          <a:prstGeom prst="rect">
            <a:avLst/>
          </a:prstGeom>
          <a:noFill/>
          <a:ln/>
        </p:spPr>
        <p:txBody>
          <a:bodyPr wrap="square" lIns="0" tIns="0" rIns="0" bIns="0" rtlCol="0" anchor="ctr"/>
          <a:lstStyle/>
          <a:p>
            <a:pPr>
              <a:lnSpc>
                <a:spcPct val="120000"/>
              </a:lnSpc>
            </a:pPr>
            <a:r>
              <a:rPr lang="en-US" sz="875" dirty="0">
                <a:solidFill>
                  <a:srgbClr val="FFFFFF">
                    <a:alpha val="80000"/>
                  </a:srgbClr>
                </a:solidFill>
                <a:latin typeface="Quattrocento Sans" pitchFamily="34" charset="0"/>
                <a:ea typeface="Quattrocento Sans" pitchFamily="34" charset="-122"/>
                <a:cs typeface="Quattrocento Sans" pitchFamily="34" charset="-120"/>
              </a:rPr>
              <a:t>Term 5: Class probabilities</a:t>
            </a:r>
            <a:endParaRPr lang="en-US" sz="1600" dirty="0"/>
          </a:p>
        </p:txBody>
      </p:sp>
      <p:sp>
        <p:nvSpPr>
          <p:cNvPr id="60" name="Shape 58"/>
          <p:cNvSpPr/>
          <p:nvPr/>
        </p:nvSpPr>
        <p:spPr>
          <a:xfrm>
            <a:off x="7334250" y="3181350"/>
            <a:ext cx="4537075" cy="1663700"/>
          </a:xfrm>
          <a:custGeom>
            <a:avLst/>
            <a:gdLst/>
            <a:ahLst/>
            <a:cxnLst/>
            <a:rect l="l" t="t" r="r" b="b"/>
            <a:pathLst>
              <a:path w="4537075" h="1663700">
                <a:moveTo>
                  <a:pt x="63503" y="0"/>
                </a:moveTo>
                <a:lnTo>
                  <a:pt x="4473572" y="0"/>
                </a:lnTo>
                <a:cubicBezTo>
                  <a:pt x="4508620" y="0"/>
                  <a:pt x="4537075" y="28455"/>
                  <a:pt x="4537075" y="63503"/>
                </a:cubicBezTo>
                <a:lnTo>
                  <a:pt x="4537075" y="1600197"/>
                </a:lnTo>
                <a:cubicBezTo>
                  <a:pt x="4537075" y="1635269"/>
                  <a:pt x="4508644" y="1663700"/>
                  <a:pt x="4473572" y="1663700"/>
                </a:cubicBezTo>
                <a:lnTo>
                  <a:pt x="63503" y="1663700"/>
                </a:lnTo>
                <a:cubicBezTo>
                  <a:pt x="28431" y="1663700"/>
                  <a:pt x="0" y="1635269"/>
                  <a:pt x="0" y="1600197"/>
                </a:cubicBezTo>
                <a:lnTo>
                  <a:pt x="0" y="63503"/>
                </a:lnTo>
                <a:cubicBezTo>
                  <a:pt x="0" y="28431"/>
                  <a:pt x="28431" y="0"/>
                  <a:pt x="63503" y="0"/>
                </a:cubicBezTo>
                <a:close/>
              </a:path>
            </a:pathLst>
          </a:custGeom>
          <a:solidFill>
            <a:srgbClr val="FFFFFF"/>
          </a:solidFill>
          <a:ln w="20320">
            <a:solidFill>
              <a:srgbClr val="1F2937"/>
            </a:solidFill>
            <a:prstDash val="solid"/>
          </a:ln>
        </p:spPr>
        <p:txBody>
          <a:bodyPr/>
          <a:lstStyle/>
          <a:p>
            <a:endParaRPr lang="en-US"/>
          </a:p>
        </p:txBody>
      </p:sp>
      <p:sp>
        <p:nvSpPr>
          <p:cNvPr id="61" name="Text 59"/>
          <p:cNvSpPr/>
          <p:nvPr/>
        </p:nvSpPr>
        <p:spPr>
          <a:xfrm>
            <a:off x="7467600" y="3314705"/>
            <a:ext cx="4341813"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Indicator Functions</a:t>
            </a:r>
            <a:endParaRPr lang="en-US" sz="1600" dirty="0"/>
          </a:p>
        </p:txBody>
      </p:sp>
      <p:sp>
        <p:nvSpPr>
          <p:cNvPr id="62" name="Shape 60"/>
          <p:cNvSpPr/>
          <p:nvPr/>
        </p:nvSpPr>
        <p:spPr>
          <a:xfrm>
            <a:off x="7483475" y="3632205"/>
            <a:ext cx="4254500" cy="317500"/>
          </a:xfrm>
          <a:custGeom>
            <a:avLst/>
            <a:gdLst/>
            <a:ahLst/>
            <a:cxnLst/>
            <a:rect l="l" t="t" r="r" b="b"/>
            <a:pathLst>
              <a:path w="4254500" h="317500">
                <a:moveTo>
                  <a:pt x="31750" y="0"/>
                </a:moveTo>
                <a:lnTo>
                  <a:pt x="4222750" y="0"/>
                </a:lnTo>
                <a:cubicBezTo>
                  <a:pt x="4240273" y="0"/>
                  <a:pt x="4254500" y="14227"/>
                  <a:pt x="4254500" y="31750"/>
                </a:cubicBezTo>
                <a:lnTo>
                  <a:pt x="4254500" y="285750"/>
                </a:lnTo>
                <a:cubicBezTo>
                  <a:pt x="4254500" y="303273"/>
                  <a:pt x="4240273" y="317500"/>
                  <a:pt x="4222750" y="317500"/>
                </a:cubicBezTo>
                <a:lnTo>
                  <a:pt x="31750" y="317500"/>
                </a:lnTo>
                <a:cubicBezTo>
                  <a:pt x="14227" y="317500"/>
                  <a:pt x="0" y="303273"/>
                  <a:pt x="0" y="285750"/>
                </a:cubicBezTo>
                <a:lnTo>
                  <a:pt x="0" y="31750"/>
                </a:lnTo>
                <a:cubicBezTo>
                  <a:pt x="0" y="14227"/>
                  <a:pt x="14227" y="0"/>
                  <a:pt x="31750" y="0"/>
                </a:cubicBezTo>
                <a:close/>
              </a:path>
            </a:pathLst>
          </a:custGeom>
          <a:solidFill>
            <a:srgbClr val="F9FAFB"/>
          </a:solidFill>
          <a:ln/>
        </p:spPr>
        <p:txBody>
          <a:bodyPr/>
          <a:lstStyle/>
          <a:p>
            <a:endParaRPr lang="en-US"/>
          </a:p>
        </p:txBody>
      </p:sp>
      <p:sp>
        <p:nvSpPr>
          <p:cNvPr id="63" name="Shape 61"/>
          <p:cNvSpPr/>
          <p:nvPr/>
        </p:nvSpPr>
        <p:spPr>
          <a:xfrm>
            <a:off x="7483475" y="363220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8B0000"/>
          </a:solidFill>
          <a:ln/>
        </p:spPr>
        <p:txBody>
          <a:bodyPr/>
          <a:lstStyle/>
          <a:p>
            <a:endParaRPr lang="en-US"/>
          </a:p>
        </p:txBody>
      </p:sp>
      <p:sp>
        <p:nvSpPr>
          <p:cNvPr id="64" name="Text 62"/>
          <p:cNvSpPr/>
          <p:nvPr/>
        </p:nvSpPr>
        <p:spPr>
          <a:xfrm>
            <a:off x="7467600" y="3632205"/>
            <a:ext cx="4302125"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1iobj</a:t>
            </a:r>
            <a:r>
              <a:rPr lang="en-US" sz="1000" dirty="0">
                <a:solidFill>
                  <a:srgbClr val="1F2937"/>
                </a:solidFill>
                <a:latin typeface="Quattrocento Sans" pitchFamily="34" charset="0"/>
                <a:ea typeface="Quattrocento Sans" pitchFamily="34" charset="-122"/>
                <a:cs typeface="Quattrocento Sans" pitchFamily="34" charset="-120"/>
              </a:rPr>
              <a:t> = 1 if object in cell i</a:t>
            </a:r>
            <a:endParaRPr lang="en-US" sz="1600" dirty="0"/>
          </a:p>
        </p:txBody>
      </p:sp>
      <p:sp>
        <p:nvSpPr>
          <p:cNvPr id="65" name="Shape 63"/>
          <p:cNvSpPr/>
          <p:nvPr/>
        </p:nvSpPr>
        <p:spPr>
          <a:xfrm>
            <a:off x="7483475" y="4013205"/>
            <a:ext cx="4254500" cy="317500"/>
          </a:xfrm>
          <a:custGeom>
            <a:avLst/>
            <a:gdLst/>
            <a:ahLst/>
            <a:cxnLst/>
            <a:rect l="l" t="t" r="r" b="b"/>
            <a:pathLst>
              <a:path w="4254500" h="317500">
                <a:moveTo>
                  <a:pt x="31750" y="0"/>
                </a:moveTo>
                <a:lnTo>
                  <a:pt x="4222750" y="0"/>
                </a:lnTo>
                <a:cubicBezTo>
                  <a:pt x="4240273" y="0"/>
                  <a:pt x="4254500" y="14227"/>
                  <a:pt x="4254500" y="31750"/>
                </a:cubicBezTo>
                <a:lnTo>
                  <a:pt x="4254500" y="285750"/>
                </a:lnTo>
                <a:cubicBezTo>
                  <a:pt x="4254500" y="303273"/>
                  <a:pt x="4240273" y="317500"/>
                  <a:pt x="4222750" y="317500"/>
                </a:cubicBezTo>
                <a:lnTo>
                  <a:pt x="31750" y="317500"/>
                </a:lnTo>
                <a:cubicBezTo>
                  <a:pt x="14227" y="317500"/>
                  <a:pt x="0" y="303273"/>
                  <a:pt x="0" y="285750"/>
                </a:cubicBezTo>
                <a:lnTo>
                  <a:pt x="0" y="31750"/>
                </a:lnTo>
                <a:cubicBezTo>
                  <a:pt x="0" y="14227"/>
                  <a:pt x="14227" y="0"/>
                  <a:pt x="31750" y="0"/>
                </a:cubicBezTo>
                <a:close/>
              </a:path>
            </a:pathLst>
          </a:custGeom>
          <a:solidFill>
            <a:srgbClr val="F9FAFB"/>
          </a:solidFill>
          <a:ln/>
        </p:spPr>
        <p:txBody>
          <a:bodyPr/>
          <a:lstStyle/>
          <a:p>
            <a:endParaRPr lang="en-US"/>
          </a:p>
        </p:txBody>
      </p:sp>
      <p:sp>
        <p:nvSpPr>
          <p:cNvPr id="66" name="Shape 64"/>
          <p:cNvSpPr/>
          <p:nvPr/>
        </p:nvSpPr>
        <p:spPr>
          <a:xfrm>
            <a:off x="7483475" y="401320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1F2937"/>
          </a:solidFill>
          <a:ln/>
        </p:spPr>
        <p:txBody>
          <a:bodyPr/>
          <a:lstStyle/>
          <a:p>
            <a:endParaRPr lang="en-US"/>
          </a:p>
        </p:txBody>
      </p:sp>
      <p:sp>
        <p:nvSpPr>
          <p:cNvPr id="67" name="Text 65"/>
          <p:cNvSpPr/>
          <p:nvPr/>
        </p:nvSpPr>
        <p:spPr>
          <a:xfrm>
            <a:off x="7467600" y="4013205"/>
            <a:ext cx="4302125"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1inoobj</a:t>
            </a:r>
            <a:r>
              <a:rPr lang="en-US" sz="1000" dirty="0">
                <a:solidFill>
                  <a:srgbClr val="1F2937"/>
                </a:solidFill>
                <a:latin typeface="Quattrocento Sans" pitchFamily="34" charset="0"/>
                <a:ea typeface="Quattrocento Sans" pitchFamily="34" charset="-122"/>
                <a:cs typeface="Quattrocento Sans" pitchFamily="34" charset="-120"/>
              </a:rPr>
              <a:t> = 1 if no object in cell i</a:t>
            </a:r>
            <a:endParaRPr lang="en-US" sz="1600" dirty="0"/>
          </a:p>
        </p:txBody>
      </p:sp>
      <p:sp>
        <p:nvSpPr>
          <p:cNvPr id="68" name="Shape 66"/>
          <p:cNvSpPr/>
          <p:nvPr/>
        </p:nvSpPr>
        <p:spPr>
          <a:xfrm>
            <a:off x="7483475" y="4394205"/>
            <a:ext cx="4254500" cy="317500"/>
          </a:xfrm>
          <a:custGeom>
            <a:avLst/>
            <a:gdLst/>
            <a:ahLst/>
            <a:cxnLst/>
            <a:rect l="l" t="t" r="r" b="b"/>
            <a:pathLst>
              <a:path w="4254500" h="317500">
                <a:moveTo>
                  <a:pt x="31750" y="0"/>
                </a:moveTo>
                <a:lnTo>
                  <a:pt x="4222750" y="0"/>
                </a:lnTo>
                <a:cubicBezTo>
                  <a:pt x="4240273" y="0"/>
                  <a:pt x="4254500" y="14227"/>
                  <a:pt x="4254500" y="31750"/>
                </a:cubicBezTo>
                <a:lnTo>
                  <a:pt x="4254500" y="285750"/>
                </a:lnTo>
                <a:cubicBezTo>
                  <a:pt x="4254500" y="303273"/>
                  <a:pt x="4240273" y="317500"/>
                  <a:pt x="4222750" y="317500"/>
                </a:cubicBezTo>
                <a:lnTo>
                  <a:pt x="31750" y="317500"/>
                </a:lnTo>
                <a:cubicBezTo>
                  <a:pt x="14227" y="317500"/>
                  <a:pt x="0" y="303273"/>
                  <a:pt x="0" y="285750"/>
                </a:cubicBezTo>
                <a:lnTo>
                  <a:pt x="0" y="31750"/>
                </a:lnTo>
                <a:cubicBezTo>
                  <a:pt x="0" y="14227"/>
                  <a:pt x="14227" y="0"/>
                  <a:pt x="31750" y="0"/>
                </a:cubicBezTo>
                <a:close/>
              </a:path>
            </a:pathLst>
          </a:custGeom>
          <a:solidFill>
            <a:srgbClr val="F9FAFB"/>
          </a:solidFill>
          <a:ln/>
        </p:spPr>
        <p:txBody>
          <a:bodyPr/>
          <a:lstStyle/>
          <a:p>
            <a:endParaRPr lang="en-US"/>
          </a:p>
        </p:txBody>
      </p:sp>
      <p:sp>
        <p:nvSpPr>
          <p:cNvPr id="69" name="Shape 67"/>
          <p:cNvSpPr/>
          <p:nvPr/>
        </p:nvSpPr>
        <p:spPr>
          <a:xfrm>
            <a:off x="7483475" y="4394205"/>
            <a:ext cx="31750" cy="317500"/>
          </a:xfrm>
          <a:custGeom>
            <a:avLst/>
            <a:gdLst/>
            <a:ahLst/>
            <a:cxnLst/>
            <a:rect l="l" t="t" r="r" b="b"/>
            <a:pathLst>
              <a:path w="31750" h="317500">
                <a:moveTo>
                  <a:pt x="31750" y="0"/>
                </a:moveTo>
                <a:lnTo>
                  <a:pt x="31750" y="0"/>
                </a:lnTo>
                <a:lnTo>
                  <a:pt x="31750" y="317500"/>
                </a:lnTo>
                <a:lnTo>
                  <a:pt x="31750" y="317500"/>
                </a:lnTo>
                <a:cubicBezTo>
                  <a:pt x="14227" y="317500"/>
                  <a:pt x="0" y="303273"/>
                  <a:pt x="0" y="285750"/>
                </a:cubicBezTo>
                <a:lnTo>
                  <a:pt x="0" y="31750"/>
                </a:lnTo>
                <a:cubicBezTo>
                  <a:pt x="0" y="14227"/>
                  <a:pt x="14227" y="0"/>
                  <a:pt x="31750" y="0"/>
                </a:cubicBezTo>
                <a:close/>
              </a:path>
            </a:pathLst>
          </a:custGeom>
          <a:solidFill>
            <a:srgbClr val="2B7FFF"/>
          </a:solidFill>
          <a:ln/>
        </p:spPr>
        <p:txBody>
          <a:bodyPr/>
          <a:lstStyle/>
          <a:p>
            <a:endParaRPr lang="en-US"/>
          </a:p>
        </p:txBody>
      </p:sp>
      <p:sp>
        <p:nvSpPr>
          <p:cNvPr id="70" name="Text 68"/>
          <p:cNvSpPr/>
          <p:nvPr/>
        </p:nvSpPr>
        <p:spPr>
          <a:xfrm>
            <a:off x="7467600" y="4394205"/>
            <a:ext cx="4302125" cy="317500"/>
          </a:xfrm>
          <a:prstGeom prst="rect">
            <a:avLst/>
          </a:prstGeom>
          <a:noFill/>
          <a:ln/>
        </p:spPr>
        <p:txBody>
          <a:bodyPr wrap="square" lIns="63500" tIns="63500" rIns="63500" bIns="6350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1ijobj</a:t>
            </a:r>
            <a:r>
              <a:rPr lang="en-US" sz="1000" dirty="0">
                <a:solidFill>
                  <a:srgbClr val="1F2937"/>
                </a:solidFill>
                <a:latin typeface="Quattrocento Sans" pitchFamily="34" charset="0"/>
                <a:ea typeface="Quattrocento Sans" pitchFamily="34" charset="-122"/>
                <a:cs typeface="Quattrocento Sans" pitchFamily="34" charset="-120"/>
              </a:rPr>
              <a:t> = 1 if box j in cell i is responsible</a:t>
            </a:r>
            <a:endParaRPr lang="en-US" sz="1600" dirty="0"/>
          </a:p>
        </p:txBody>
      </p:sp>
      <p:sp>
        <p:nvSpPr>
          <p:cNvPr id="71" name="Shape 69"/>
          <p:cNvSpPr/>
          <p:nvPr/>
        </p:nvSpPr>
        <p:spPr>
          <a:xfrm>
            <a:off x="7343775" y="4946652"/>
            <a:ext cx="4532313" cy="952500"/>
          </a:xfrm>
          <a:custGeom>
            <a:avLst/>
            <a:gdLst/>
            <a:ahLst/>
            <a:cxnLst/>
            <a:rect l="l" t="t" r="r" b="b"/>
            <a:pathLst>
              <a:path w="4532313" h="952500">
                <a:moveTo>
                  <a:pt x="31750" y="0"/>
                </a:moveTo>
                <a:lnTo>
                  <a:pt x="4468809" y="0"/>
                </a:lnTo>
                <a:cubicBezTo>
                  <a:pt x="4503881" y="0"/>
                  <a:pt x="4532312" y="28431"/>
                  <a:pt x="4532312" y="63503"/>
                </a:cubicBezTo>
                <a:lnTo>
                  <a:pt x="4532313" y="888997"/>
                </a:lnTo>
                <a:cubicBezTo>
                  <a:pt x="4532312" y="924069"/>
                  <a:pt x="4503881" y="952500"/>
                  <a:pt x="4468809" y="952500"/>
                </a:cubicBezTo>
                <a:lnTo>
                  <a:pt x="31750" y="952500"/>
                </a:lnTo>
                <a:cubicBezTo>
                  <a:pt x="14227" y="952500"/>
                  <a:pt x="0" y="938273"/>
                  <a:pt x="0" y="920750"/>
                </a:cubicBezTo>
                <a:lnTo>
                  <a:pt x="0" y="31750"/>
                </a:lnTo>
                <a:cubicBezTo>
                  <a:pt x="0" y="14227"/>
                  <a:pt x="14227" y="0"/>
                  <a:pt x="31750" y="0"/>
                </a:cubicBezTo>
                <a:close/>
              </a:path>
            </a:pathLst>
          </a:custGeom>
          <a:solidFill>
            <a:srgbClr val="F9FAFB"/>
          </a:solidFill>
          <a:ln/>
        </p:spPr>
        <p:txBody>
          <a:bodyPr/>
          <a:lstStyle/>
          <a:p>
            <a:endParaRPr lang="en-US"/>
          </a:p>
        </p:txBody>
      </p:sp>
      <p:sp>
        <p:nvSpPr>
          <p:cNvPr id="72" name="Shape 70"/>
          <p:cNvSpPr/>
          <p:nvPr/>
        </p:nvSpPr>
        <p:spPr>
          <a:xfrm>
            <a:off x="7343775" y="4946652"/>
            <a:ext cx="31750" cy="952500"/>
          </a:xfrm>
          <a:custGeom>
            <a:avLst/>
            <a:gdLst/>
            <a:ahLst/>
            <a:cxnLst/>
            <a:rect l="l" t="t" r="r" b="b"/>
            <a:pathLst>
              <a:path w="31750" h="952500">
                <a:moveTo>
                  <a:pt x="31750" y="0"/>
                </a:moveTo>
                <a:lnTo>
                  <a:pt x="31750" y="0"/>
                </a:lnTo>
                <a:lnTo>
                  <a:pt x="31750" y="952500"/>
                </a:lnTo>
                <a:lnTo>
                  <a:pt x="31750" y="952500"/>
                </a:lnTo>
                <a:cubicBezTo>
                  <a:pt x="14227" y="952500"/>
                  <a:pt x="0" y="938273"/>
                  <a:pt x="0" y="920750"/>
                </a:cubicBezTo>
                <a:lnTo>
                  <a:pt x="0" y="31750"/>
                </a:lnTo>
                <a:cubicBezTo>
                  <a:pt x="0" y="14227"/>
                  <a:pt x="14227" y="0"/>
                  <a:pt x="31750" y="0"/>
                </a:cubicBezTo>
                <a:close/>
              </a:path>
            </a:pathLst>
          </a:custGeom>
          <a:solidFill>
            <a:srgbClr val="8B0000"/>
          </a:solidFill>
          <a:ln/>
        </p:spPr>
        <p:txBody>
          <a:bodyPr/>
          <a:lstStyle/>
          <a:p>
            <a:endParaRPr lang="en-US"/>
          </a:p>
        </p:txBody>
      </p:sp>
      <p:sp>
        <p:nvSpPr>
          <p:cNvPr id="73" name="Text 71"/>
          <p:cNvSpPr/>
          <p:nvPr/>
        </p:nvSpPr>
        <p:spPr>
          <a:xfrm>
            <a:off x="7486650" y="5073652"/>
            <a:ext cx="43338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Why These Weights?</a:t>
            </a:r>
            <a:endParaRPr lang="en-US" sz="1600" dirty="0"/>
          </a:p>
        </p:txBody>
      </p:sp>
      <p:sp>
        <p:nvSpPr>
          <p:cNvPr id="74" name="Shape 72"/>
          <p:cNvSpPr/>
          <p:nvPr/>
        </p:nvSpPr>
        <p:spPr>
          <a:xfrm>
            <a:off x="7502525" y="5384803"/>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8B0000"/>
          </a:solidFill>
          <a:ln/>
        </p:spPr>
        <p:txBody>
          <a:bodyPr/>
          <a:lstStyle/>
          <a:p>
            <a:endParaRPr lang="en-US"/>
          </a:p>
        </p:txBody>
      </p:sp>
      <p:sp>
        <p:nvSpPr>
          <p:cNvPr id="75" name="Text 73"/>
          <p:cNvSpPr/>
          <p:nvPr/>
        </p:nvSpPr>
        <p:spPr>
          <a:xfrm>
            <a:off x="7685088" y="5359402"/>
            <a:ext cx="41275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λcoord = 5:</a:t>
            </a:r>
            <a:r>
              <a:rPr lang="en-US" sz="1000" dirty="0">
                <a:solidFill>
                  <a:srgbClr val="1F2937"/>
                </a:solidFill>
                <a:latin typeface="Quattrocento Sans" pitchFamily="34" charset="0"/>
                <a:ea typeface="Quattrocento Sans" pitchFamily="34" charset="-122"/>
                <a:cs typeface="Quattrocento Sans" pitchFamily="34" charset="-120"/>
              </a:rPr>
              <a:t> Localization is more important</a:t>
            </a:r>
            <a:endParaRPr lang="en-US" sz="1600" dirty="0"/>
          </a:p>
        </p:txBody>
      </p:sp>
      <p:sp>
        <p:nvSpPr>
          <p:cNvPr id="76" name="Shape 74"/>
          <p:cNvSpPr/>
          <p:nvPr/>
        </p:nvSpPr>
        <p:spPr>
          <a:xfrm>
            <a:off x="7502525" y="5607053"/>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8B0000"/>
          </a:solidFill>
          <a:ln/>
        </p:spPr>
        <p:txBody>
          <a:bodyPr/>
          <a:lstStyle/>
          <a:p>
            <a:endParaRPr lang="en-US"/>
          </a:p>
        </p:txBody>
      </p:sp>
      <p:sp>
        <p:nvSpPr>
          <p:cNvPr id="77" name="Text 75"/>
          <p:cNvSpPr/>
          <p:nvPr/>
        </p:nvSpPr>
        <p:spPr>
          <a:xfrm>
            <a:off x="7685088" y="5581652"/>
            <a:ext cx="41275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Quattrocento Sans" pitchFamily="34" charset="0"/>
                <a:ea typeface="Quattrocento Sans" pitchFamily="34" charset="-122"/>
                <a:cs typeface="Quattrocento Sans" pitchFamily="34" charset="-120"/>
              </a:rPr>
              <a:t>λnoobj = 0.5:</a:t>
            </a:r>
            <a:r>
              <a:rPr lang="en-US" sz="1000" dirty="0">
                <a:solidFill>
                  <a:srgbClr val="1F2937"/>
                </a:solidFill>
                <a:latin typeface="Quattrocento Sans" pitchFamily="34" charset="0"/>
                <a:ea typeface="Quattrocento Sans" pitchFamily="34" charset="-122"/>
                <a:cs typeface="Quattrocento Sans" pitchFamily="34" charset="-120"/>
              </a:rPr>
              <a:t> Most cells are empty; don't overweight them</a:t>
            </a:r>
            <a:endParaRPr lang="en-US" sz="1600" dirty="0"/>
          </a:p>
        </p:txBody>
      </p:sp>
      <p:sp>
        <p:nvSpPr>
          <p:cNvPr id="78" name="Shape 76"/>
          <p:cNvSpPr/>
          <p:nvPr/>
        </p:nvSpPr>
        <p:spPr>
          <a:xfrm>
            <a:off x="7343775" y="5994402"/>
            <a:ext cx="4532313" cy="571500"/>
          </a:xfrm>
          <a:custGeom>
            <a:avLst/>
            <a:gdLst/>
            <a:ahLst/>
            <a:cxnLst/>
            <a:rect l="l" t="t" r="r" b="b"/>
            <a:pathLst>
              <a:path w="4532313" h="571500">
                <a:moveTo>
                  <a:pt x="31750" y="0"/>
                </a:moveTo>
                <a:lnTo>
                  <a:pt x="4468813" y="0"/>
                </a:lnTo>
                <a:cubicBezTo>
                  <a:pt x="4503883" y="0"/>
                  <a:pt x="4532313" y="28430"/>
                  <a:pt x="4532313" y="63499"/>
                </a:cubicBezTo>
                <a:lnTo>
                  <a:pt x="4532313" y="508001"/>
                </a:lnTo>
                <a:cubicBezTo>
                  <a:pt x="4532313" y="543070"/>
                  <a:pt x="4503883" y="571500"/>
                  <a:pt x="4468813" y="571500"/>
                </a:cubicBezTo>
                <a:lnTo>
                  <a:pt x="31750" y="571500"/>
                </a:lnTo>
                <a:cubicBezTo>
                  <a:pt x="14227" y="571500"/>
                  <a:pt x="0" y="557273"/>
                  <a:pt x="0" y="539750"/>
                </a:cubicBezTo>
                <a:lnTo>
                  <a:pt x="0" y="31750"/>
                </a:lnTo>
                <a:cubicBezTo>
                  <a:pt x="0" y="14227"/>
                  <a:pt x="14227" y="0"/>
                  <a:pt x="31750" y="0"/>
                </a:cubicBezTo>
                <a:close/>
              </a:path>
            </a:pathLst>
          </a:custGeom>
          <a:solidFill>
            <a:srgbClr val="EFF6FF"/>
          </a:solidFill>
          <a:ln/>
        </p:spPr>
        <p:txBody>
          <a:bodyPr/>
          <a:lstStyle/>
          <a:p>
            <a:endParaRPr lang="en-US"/>
          </a:p>
        </p:txBody>
      </p:sp>
      <p:sp>
        <p:nvSpPr>
          <p:cNvPr id="79" name="Shape 77"/>
          <p:cNvSpPr/>
          <p:nvPr/>
        </p:nvSpPr>
        <p:spPr>
          <a:xfrm>
            <a:off x="7343775" y="5994402"/>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2B7FFF"/>
          </a:solidFill>
          <a:ln/>
        </p:spPr>
        <p:txBody>
          <a:bodyPr/>
          <a:lstStyle/>
          <a:p>
            <a:endParaRPr lang="en-US"/>
          </a:p>
        </p:txBody>
      </p:sp>
      <p:sp>
        <p:nvSpPr>
          <p:cNvPr id="80" name="Shape 78"/>
          <p:cNvSpPr/>
          <p:nvPr/>
        </p:nvSpPr>
        <p:spPr>
          <a:xfrm>
            <a:off x="7486650" y="6115053"/>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155DFC"/>
          </a:solidFill>
          <a:ln/>
        </p:spPr>
        <p:txBody>
          <a:bodyPr/>
          <a:lstStyle/>
          <a:p>
            <a:endParaRPr lang="en-US"/>
          </a:p>
        </p:txBody>
      </p:sp>
      <p:sp>
        <p:nvSpPr>
          <p:cNvPr id="81" name="Text 79"/>
          <p:cNvSpPr/>
          <p:nvPr/>
        </p:nvSpPr>
        <p:spPr>
          <a:xfrm>
            <a:off x="7653338" y="6089652"/>
            <a:ext cx="4191000" cy="381000"/>
          </a:xfrm>
          <a:prstGeom prst="rect">
            <a:avLst/>
          </a:prstGeom>
          <a:noFill/>
          <a:ln/>
        </p:spPr>
        <p:txBody>
          <a:bodyPr wrap="square" lIns="0" tIns="0" rIns="0" bIns="0" rtlCol="0" anchor="ctr"/>
          <a:lstStyle/>
          <a:p>
            <a:pPr>
              <a:lnSpc>
                <a:spcPct val="130000"/>
              </a:lnSpc>
            </a:pPr>
            <a:r>
              <a:rPr lang="en-US" sz="1000" b="1" dirty="0">
                <a:solidFill>
                  <a:srgbClr val="1C398E"/>
                </a:solidFill>
                <a:latin typeface="Quattrocento Sans" pitchFamily="34" charset="0"/>
                <a:ea typeface="Quattrocento Sans" pitchFamily="34" charset="-122"/>
                <a:cs typeface="Quattrocento Sans" pitchFamily="34" charset="-120"/>
              </a:rPr>
              <a:t>Note:</a:t>
            </a:r>
            <a:r>
              <a:rPr lang="en-US" sz="1000" dirty="0">
                <a:solidFill>
                  <a:srgbClr val="1C398E"/>
                </a:solidFill>
                <a:latin typeface="Quattrocento Sans" pitchFamily="34" charset="0"/>
                <a:ea typeface="Quattrocento Sans" pitchFamily="34" charset="-122"/>
                <a:cs typeface="Quattrocento Sans" pitchFamily="34" charset="-120"/>
              </a:rPr>
              <a:t> Loss is only computed for the "responsible" predictor (box with highest IoU) in each cell.</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947863"/>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08</a:t>
            </a:r>
            <a:endParaRPr lang="en-US" sz="1600" dirty="0"/>
          </a:p>
        </p:txBody>
      </p:sp>
      <p:sp>
        <p:nvSpPr>
          <p:cNvPr id="3" name="Text 1"/>
          <p:cNvSpPr/>
          <p:nvPr/>
        </p:nvSpPr>
        <p:spPr>
          <a:xfrm>
            <a:off x="381000" y="3395663"/>
            <a:ext cx="11715750" cy="714375"/>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YOLO Evolution</a:t>
            </a:r>
            <a:endParaRPr lang="en-US" sz="1600" dirty="0"/>
          </a:p>
        </p:txBody>
      </p:sp>
      <p:sp>
        <p:nvSpPr>
          <p:cNvPr id="4" name="Shape 2"/>
          <p:cNvSpPr/>
          <p:nvPr/>
        </p:nvSpPr>
        <p:spPr>
          <a:xfrm>
            <a:off x="381000" y="4338638"/>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605338"/>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From YOLOv1 (2015) to YOLOv8 (2023)</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60" dirty="0">
                <a:solidFill>
                  <a:srgbClr val="8B0000"/>
                </a:solidFill>
                <a:latin typeface="Quattrocento Sans" pitchFamily="34" charset="0"/>
                <a:ea typeface="Quattrocento Sans" pitchFamily="34" charset="-122"/>
                <a:cs typeface="Quattrocento Sans" pitchFamily="34" charset="-120"/>
              </a:rPr>
              <a:t>8.1 VERSION COMPARISON</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YOLO Version Comparison</a:t>
            </a:r>
            <a:endParaRPr lang="en-US" sz="1600" dirty="0"/>
          </a:p>
        </p:txBody>
      </p:sp>
      <p:sp>
        <p:nvSpPr>
          <p:cNvPr id="4" name="Shape 2"/>
          <p:cNvSpPr/>
          <p:nvPr/>
        </p:nvSpPr>
        <p:spPr>
          <a:xfrm>
            <a:off x="388620" y="1150620"/>
            <a:ext cx="11416665" cy="3025140"/>
          </a:xfrm>
          <a:custGeom>
            <a:avLst/>
            <a:gdLst/>
            <a:ahLst/>
            <a:cxnLst/>
            <a:rect l="l" t="t" r="r" b="b"/>
            <a:pathLst>
              <a:path w="11416665" h="3025140">
                <a:moveTo>
                  <a:pt x="76203" y="0"/>
                </a:moveTo>
                <a:lnTo>
                  <a:pt x="11340462" y="0"/>
                </a:lnTo>
                <a:cubicBezTo>
                  <a:pt x="11382548" y="0"/>
                  <a:pt x="11416665" y="34117"/>
                  <a:pt x="11416665" y="76203"/>
                </a:cubicBezTo>
                <a:lnTo>
                  <a:pt x="11416665" y="2948937"/>
                </a:lnTo>
                <a:cubicBezTo>
                  <a:pt x="11416665" y="2991023"/>
                  <a:pt x="11382548" y="3025140"/>
                  <a:pt x="11340462" y="3025140"/>
                </a:cubicBezTo>
                <a:lnTo>
                  <a:pt x="76203" y="3025140"/>
                </a:lnTo>
                <a:cubicBezTo>
                  <a:pt x="34117" y="3025140"/>
                  <a:pt x="0" y="2991023"/>
                  <a:pt x="0" y="2948937"/>
                </a:cubicBezTo>
                <a:lnTo>
                  <a:pt x="0" y="76203"/>
                </a:lnTo>
                <a:cubicBezTo>
                  <a:pt x="0" y="34146"/>
                  <a:pt x="34146" y="0"/>
                  <a:pt x="76203" y="0"/>
                </a:cubicBezTo>
                <a:close/>
              </a:path>
            </a:pathLst>
          </a:custGeom>
          <a:solidFill>
            <a:srgbClr val="FFFFFF"/>
          </a:solidFill>
          <a:ln w="20320">
            <a:solidFill>
              <a:srgbClr val="1F2937"/>
            </a:solidFill>
            <a:prstDash val="solid"/>
          </a:ln>
        </p:spPr>
        <p:txBody>
          <a:bodyPr/>
          <a:lstStyle/>
          <a:p>
            <a:endParaRPr lang="en-US"/>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10636"/>
          <a:ext cx="11096625" cy="2705101"/>
        </p:xfrm>
        <a:graphic>
          <a:graphicData uri="http://schemas.openxmlformats.org/drawingml/2006/table">
            <a:tbl>
              <a:tblPr/>
              <a:tblGrid>
                <a:gridCol w="1275255">
                  <a:extLst>
                    <a:ext uri="{9D8B030D-6E8A-4147-A177-3AD203B41FA5}">
                      <a16:colId xmlns:a16="http://schemas.microsoft.com/office/drawing/2014/main" val="20000"/>
                    </a:ext>
                  </a:extLst>
                </a:gridCol>
                <a:gridCol w="913616">
                  <a:extLst>
                    <a:ext uri="{9D8B030D-6E8A-4147-A177-3AD203B41FA5}">
                      <a16:colId xmlns:a16="http://schemas.microsoft.com/office/drawing/2014/main" val="20001"/>
                    </a:ext>
                  </a:extLst>
                </a:gridCol>
                <a:gridCol w="6890186">
                  <a:extLst>
                    <a:ext uri="{9D8B030D-6E8A-4147-A177-3AD203B41FA5}">
                      <a16:colId xmlns:a16="http://schemas.microsoft.com/office/drawing/2014/main" val="20002"/>
                    </a:ext>
                  </a:extLst>
                </a:gridCol>
                <a:gridCol w="1180087">
                  <a:extLst>
                    <a:ext uri="{9D8B030D-6E8A-4147-A177-3AD203B41FA5}">
                      <a16:colId xmlns:a16="http://schemas.microsoft.com/office/drawing/2014/main" val="20003"/>
                    </a:ext>
                  </a:extLst>
                </a:gridCol>
                <a:gridCol w="837481">
                  <a:extLst>
                    <a:ext uri="{9D8B030D-6E8A-4147-A177-3AD203B41FA5}">
                      <a16:colId xmlns:a16="http://schemas.microsoft.com/office/drawing/2014/main" val="20004"/>
                    </a:ext>
                  </a:extLst>
                </a:gridCol>
              </a:tblGrid>
              <a:tr h="386443">
                <a:tc>
                  <a:txBody>
                    <a:bodyPr/>
                    <a:lstStyle/>
                    <a:p>
                      <a:pPr algn="l"/>
                      <a:r>
                        <a:rPr lang="en-US" sz="1200" b="1" u="none" dirty="0">
                          <a:solidFill>
                            <a:srgbClr val="FFFFFF"/>
                          </a:solidFill>
                          <a:latin typeface="微软雅黑" pitchFamily="34" charset="0"/>
                          <a:ea typeface="微软雅黑" pitchFamily="34" charset="-122"/>
                          <a:cs typeface="微软雅黑" pitchFamily="34" charset="-120"/>
                        </a:rPr>
                        <a:t>Version</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1F2937"/>
                    </a:solidFill>
                  </a:tcPr>
                </a:tc>
                <a:tc>
                  <a:txBody>
                    <a:bodyPr/>
                    <a:lstStyle/>
                    <a:p>
                      <a:pPr algn="l"/>
                      <a:r>
                        <a:rPr lang="en-US" sz="1200" b="1" u="none" dirty="0">
                          <a:solidFill>
                            <a:srgbClr val="FFFFFF"/>
                          </a:solidFill>
                          <a:latin typeface="微软雅黑" pitchFamily="34" charset="0"/>
                          <a:ea typeface="微软雅黑" pitchFamily="34" charset="-122"/>
                          <a:cs typeface="微软雅黑" pitchFamily="34" charset="-120"/>
                        </a:rPr>
                        <a:t>Year</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1F2937"/>
                    </a:solidFill>
                  </a:tcPr>
                </a:tc>
                <a:tc>
                  <a:txBody>
                    <a:bodyPr/>
                    <a:lstStyle/>
                    <a:p>
                      <a:pPr algn="l"/>
                      <a:r>
                        <a:rPr lang="en-US" sz="1200" b="1" u="none" dirty="0">
                          <a:solidFill>
                            <a:srgbClr val="FFFFFF"/>
                          </a:solidFill>
                          <a:latin typeface="微软雅黑" pitchFamily="34" charset="0"/>
                          <a:ea typeface="微软雅黑" pitchFamily="34" charset="-122"/>
                          <a:cs typeface="微软雅黑" pitchFamily="34" charset="-120"/>
                        </a:rPr>
                        <a:t>Key Improvements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1F2937"/>
                    </a:solidFill>
                  </a:tcPr>
                </a:tc>
                <a:tc>
                  <a:txBody>
                    <a:bodyPr/>
                    <a:lstStyle/>
                    <a:p>
                      <a:pPr algn="ctr"/>
                      <a:r>
                        <a:rPr lang="en-US" sz="1200" b="1" u="none" dirty="0">
                          <a:solidFill>
                            <a:srgbClr val="FFFFFF"/>
                          </a:solidFill>
                          <a:latin typeface="微软雅黑" pitchFamily="34" charset="0"/>
                          <a:ea typeface="微软雅黑" pitchFamily="34" charset="-122"/>
                          <a:cs typeface="微软雅黑" pitchFamily="34" charset="-120"/>
                        </a:rPr>
                        <a:t>Speed</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1F2937"/>
                    </a:solidFill>
                  </a:tcPr>
                </a:tc>
                <a:tc>
                  <a:txBody>
                    <a:bodyPr/>
                    <a:lstStyle/>
                    <a:p>
                      <a:pPr algn="ctr"/>
                      <a:r>
                        <a:rPr lang="en-US" sz="1200" b="1" u="none" dirty="0">
                          <a:solidFill>
                            <a:srgbClr val="FFFFFF"/>
                          </a:solidFill>
                          <a:latin typeface="微软雅黑" pitchFamily="34" charset="0"/>
                          <a:ea typeface="微软雅黑" pitchFamily="34" charset="-122"/>
                          <a:cs typeface="微软雅黑" pitchFamily="34" charset="-120"/>
                        </a:rPr>
                        <a:t>mAP</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1F2937"/>
                    </a:solidFill>
                  </a:tcPr>
                </a:tc>
                <a:extLst>
                  <a:ext uri="{0D108BD9-81ED-4DB2-BD59-A6C34878D82A}">
                    <a16:rowId xmlns:a16="http://schemas.microsoft.com/office/drawing/2014/main" val="10000"/>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YOLOv1</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2015</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Original single-stage detector, 24 conv layers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45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63.4</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YOLOv2</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2016</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Anchor boxes, batch normalization, multi-scale training</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40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78.6</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extLst>
                  <a:ext uri="{0D108BD9-81ED-4DB2-BD59-A6C34878D82A}">
                    <a16:rowId xmlns:a16="http://schemas.microsoft.com/office/drawing/2014/main" val="10002"/>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YOLOv3</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2018</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Darknet-53, 3-scale detection, independent classifiers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30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81.2</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YOLOv4</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2020</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CSPDarknet53, SPP, PANet, mosaic augmentation</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65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87.3</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9FAFB"/>
                    </a:solidFill>
                  </a:tcPr>
                </a:tc>
                <a:extLst>
                  <a:ext uri="{0D108BD9-81ED-4DB2-BD59-A6C34878D82A}">
                    <a16:rowId xmlns:a16="http://schemas.microsoft.com/office/drawing/2014/main" val="10004"/>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YOLOv5</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2020</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PyTorch implementation, auto-anchor, CSP backbone</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140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88.0</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386443">
                <a:tc>
                  <a:txBody>
                    <a:bodyPr/>
                    <a:lstStyle/>
                    <a:p>
                      <a:r>
                        <a:rPr lang="en-US" sz="1200" b="1" u="none" dirty="0">
                          <a:solidFill>
                            <a:srgbClr val="8B0000"/>
                          </a:solidFill>
                          <a:latin typeface="微软雅黑" pitchFamily="34" charset="0"/>
                          <a:ea typeface="微软雅黑" pitchFamily="34" charset="-122"/>
                          <a:cs typeface="微软雅黑" pitchFamily="34" charset="-120"/>
                        </a:rPr>
                        <a:t>YOLOv8</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2023</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9FAFB"/>
                    </a:solidFill>
                  </a:tcPr>
                </a:tc>
                <a:tc>
                  <a:txBody>
                    <a:bodyPr/>
                    <a:lstStyle/>
                    <a:p>
                      <a:r>
                        <a:rPr lang="en-US" sz="1200" u="none" dirty="0">
                          <a:solidFill>
                            <a:srgbClr val="1F2937"/>
                          </a:solidFill>
                          <a:latin typeface="微软雅黑" pitchFamily="34" charset="0"/>
                          <a:ea typeface="微软雅黑" pitchFamily="34" charset="-122"/>
                          <a:cs typeface="微软雅黑" pitchFamily="34" charset="-120"/>
                        </a:rPr>
                        <a:t>Anchor-free, C2f module, decoupled head, instance seg</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9FAFB"/>
                    </a:solidFill>
                  </a:tcPr>
                </a:tc>
                <a:tc>
                  <a:txBody>
                    <a:bodyPr/>
                    <a:lstStyle/>
                    <a:p>
                      <a:pPr algn="ctr"/>
                      <a:r>
                        <a:rPr lang="en-US" sz="1200" b="1" u="none" dirty="0">
                          <a:solidFill>
                            <a:srgbClr val="1F2937"/>
                          </a:solidFill>
                          <a:latin typeface="微软雅黑" pitchFamily="34" charset="0"/>
                          <a:ea typeface="微软雅黑" pitchFamily="34" charset="-122"/>
                          <a:cs typeface="微软雅黑" pitchFamily="34" charset="-120"/>
                        </a:rPr>
                        <a:t>120 FPS</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9FAFB"/>
                    </a:solidFill>
                  </a:tcPr>
                </a:tc>
                <a:tc>
                  <a:txBody>
                    <a:bodyPr/>
                    <a:lstStyle/>
                    <a:p>
                      <a:pPr algn="ctr"/>
                      <a:r>
                        <a:rPr lang="en-US" sz="1200" u="none" dirty="0">
                          <a:solidFill>
                            <a:srgbClr val="1F2937"/>
                          </a:solidFill>
                          <a:latin typeface="微软雅黑" pitchFamily="34" charset="0"/>
                          <a:ea typeface="微软雅黑" pitchFamily="34" charset="-122"/>
                          <a:cs typeface="微软雅黑" pitchFamily="34" charset="-120"/>
                        </a:rPr>
                        <a:t>88.5</a:t>
                      </a:r>
                      <a:endParaRPr lang="en-US" sz="1200" dirty="0">
                        <a:latin typeface="微软雅黑" charset="0"/>
                        <a:ea typeface="微软雅黑" charset="0"/>
                        <a:cs typeface="微软雅黑" charset="0"/>
                      </a:endParaRPr>
                    </a:p>
                  </a:txBody>
                  <a:tcPr marL="76200" marR="76200" marT="76200" marB="76200"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9FAFB"/>
                    </a:solidFill>
                  </a:tcPr>
                </a:tc>
                <a:extLst>
                  <a:ext uri="{0D108BD9-81ED-4DB2-BD59-A6C34878D82A}">
                    <a16:rowId xmlns:a16="http://schemas.microsoft.com/office/drawing/2014/main" val="10006"/>
                  </a:ext>
                </a:extLst>
              </a:tr>
            </a:tbl>
          </a:graphicData>
        </a:graphic>
      </p:graphicFrame>
      <p:sp>
        <p:nvSpPr>
          <p:cNvPr id="6" name="Shape 3"/>
          <p:cNvSpPr/>
          <p:nvPr/>
        </p:nvSpPr>
        <p:spPr>
          <a:xfrm>
            <a:off x="400050" y="4297691"/>
            <a:ext cx="3686175" cy="1676400"/>
          </a:xfrm>
          <a:custGeom>
            <a:avLst/>
            <a:gdLst/>
            <a:ahLst/>
            <a:cxnLst/>
            <a:rect l="l" t="t" r="r" b="b"/>
            <a:pathLst>
              <a:path w="3686175" h="1676400">
                <a:moveTo>
                  <a:pt x="38100" y="0"/>
                </a:moveTo>
                <a:lnTo>
                  <a:pt x="3609983" y="0"/>
                </a:lnTo>
                <a:cubicBezTo>
                  <a:pt x="3652063" y="0"/>
                  <a:pt x="3686175" y="34112"/>
                  <a:pt x="3686175" y="76192"/>
                </a:cubicBezTo>
                <a:lnTo>
                  <a:pt x="3686175" y="1600208"/>
                </a:lnTo>
                <a:cubicBezTo>
                  <a:pt x="3686175" y="1642288"/>
                  <a:pt x="3652063" y="1676400"/>
                  <a:pt x="3609983" y="1676400"/>
                </a:cubicBezTo>
                <a:lnTo>
                  <a:pt x="38100" y="1676400"/>
                </a:lnTo>
                <a:cubicBezTo>
                  <a:pt x="17058" y="1676400"/>
                  <a:pt x="0" y="1659342"/>
                  <a:pt x="0" y="1638300"/>
                </a:cubicBezTo>
                <a:lnTo>
                  <a:pt x="0" y="38100"/>
                </a:lnTo>
                <a:cubicBezTo>
                  <a:pt x="0" y="17072"/>
                  <a:pt x="17072" y="0"/>
                  <a:pt x="38100" y="0"/>
                </a:cubicBezTo>
                <a:close/>
              </a:path>
            </a:pathLst>
          </a:custGeom>
          <a:solidFill>
            <a:srgbClr val="EFF6FF"/>
          </a:solidFill>
          <a:ln/>
        </p:spPr>
        <p:txBody>
          <a:bodyPr/>
          <a:lstStyle/>
          <a:p>
            <a:endParaRPr lang="en-US"/>
          </a:p>
        </p:txBody>
      </p:sp>
      <p:sp>
        <p:nvSpPr>
          <p:cNvPr id="7" name="Shape 4"/>
          <p:cNvSpPr/>
          <p:nvPr/>
        </p:nvSpPr>
        <p:spPr>
          <a:xfrm>
            <a:off x="400050" y="4297691"/>
            <a:ext cx="38100" cy="1676400"/>
          </a:xfrm>
          <a:custGeom>
            <a:avLst/>
            <a:gdLst/>
            <a:ahLst/>
            <a:cxnLst/>
            <a:rect l="l" t="t" r="r" b="b"/>
            <a:pathLst>
              <a:path w="38100" h="1676400">
                <a:moveTo>
                  <a:pt x="38100" y="0"/>
                </a:moveTo>
                <a:lnTo>
                  <a:pt x="38100" y="0"/>
                </a:lnTo>
                <a:lnTo>
                  <a:pt x="38100" y="1676400"/>
                </a:lnTo>
                <a:lnTo>
                  <a:pt x="38100" y="1676400"/>
                </a:lnTo>
                <a:cubicBezTo>
                  <a:pt x="17072" y="1676400"/>
                  <a:pt x="0" y="1659328"/>
                  <a:pt x="0" y="1638300"/>
                </a:cubicBezTo>
                <a:lnTo>
                  <a:pt x="0" y="38100"/>
                </a:lnTo>
                <a:cubicBezTo>
                  <a:pt x="0" y="17072"/>
                  <a:pt x="17072" y="0"/>
                  <a:pt x="38100" y="0"/>
                </a:cubicBezTo>
                <a:close/>
              </a:path>
            </a:pathLst>
          </a:custGeom>
          <a:solidFill>
            <a:srgbClr val="2B7FFF"/>
          </a:solidFill>
          <a:ln/>
        </p:spPr>
        <p:txBody>
          <a:bodyPr/>
          <a:lstStyle/>
          <a:p>
            <a:endParaRPr lang="en-US"/>
          </a:p>
        </p:txBody>
      </p:sp>
      <p:sp>
        <p:nvSpPr>
          <p:cNvPr id="8" name="Shape 5"/>
          <p:cNvSpPr/>
          <p:nvPr/>
        </p:nvSpPr>
        <p:spPr>
          <a:xfrm>
            <a:off x="584597" y="4497716"/>
            <a:ext cx="192881" cy="171450"/>
          </a:xfrm>
          <a:custGeom>
            <a:avLst/>
            <a:gdLst/>
            <a:ahLst/>
            <a:cxnLst/>
            <a:rect l="l" t="t" r="r" b="b"/>
            <a:pathLst>
              <a:path w="192881" h="171450">
                <a:moveTo>
                  <a:pt x="103640" y="-6329"/>
                </a:moveTo>
                <a:cubicBezTo>
                  <a:pt x="102267" y="-9008"/>
                  <a:pt x="99488" y="-10716"/>
                  <a:pt x="96474" y="-10716"/>
                </a:cubicBezTo>
                <a:cubicBezTo>
                  <a:pt x="93460" y="-10716"/>
                  <a:pt x="90681" y="-9008"/>
                  <a:pt x="89308" y="-6329"/>
                </a:cubicBezTo>
                <a:lnTo>
                  <a:pt x="64662" y="41958"/>
                </a:lnTo>
                <a:lnTo>
                  <a:pt x="11117" y="50464"/>
                </a:lnTo>
                <a:cubicBezTo>
                  <a:pt x="8137" y="50933"/>
                  <a:pt x="5659" y="53042"/>
                  <a:pt x="4722" y="55922"/>
                </a:cubicBezTo>
                <a:cubicBezTo>
                  <a:pt x="3784" y="58802"/>
                  <a:pt x="4554" y="61950"/>
                  <a:pt x="6664" y="64093"/>
                </a:cubicBezTo>
                <a:lnTo>
                  <a:pt x="44972" y="102435"/>
                </a:lnTo>
                <a:lnTo>
                  <a:pt x="36534" y="155979"/>
                </a:lnTo>
                <a:cubicBezTo>
                  <a:pt x="36065" y="158960"/>
                  <a:pt x="37304" y="161973"/>
                  <a:pt x="39748" y="163748"/>
                </a:cubicBezTo>
                <a:cubicBezTo>
                  <a:pt x="42193" y="165523"/>
                  <a:pt x="45407" y="165791"/>
                  <a:pt x="48120" y="164418"/>
                </a:cubicBezTo>
                <a:lnTo>
                  <a:pt x="96474" y="139839"/>
                </a:lnTo>
                <a:lnTo>
                  <a:pt x="144795" y="164418"/>
                </a:lnTo>
                <a:cubicBezTo>
                  <a:pt x="147474" y="165791"/>
                  <a:pt x="150722" y="165523"/>
                  <a:pt x="153166" y="163748"/>
                </a:cubicBezTo>
                <a:cubicBezTo>
                  <a:pt x="155611" y="161973"/>
                  <a:pt x="156850" y="158993"/>
                  <a:pt x="156381" y="155979"/>
                </a:cubicBezTo>
                <a:lnTo>
                  <a:pt x="147909" y="102435"/>
                </a:lnTo>
                <a:lnTo>
                  <a:pt x="186217" y="64093"/>
                </a:lnTo>
                <a:cubicBezTo>
                  <a:pt x="188361" y="61950"/>
                  <a:pt x="189097" y="58802"/>
                  <a:pt x="188160" y="55922"/>
                </a:cubicBezTo>
                <a:cubicBezTo>
                  <a:pt x="187222" y="53042"/>
                  <a:pt x="184778" y="50933"/>
                  <a:pt x="181764" y="50464"/>
                </a:cubicBezTo>
                <a:lnTo>
                  <a:pt x="128253" y="41958"/>
                </a:lnTo>
                <a:lnTo>
                  <a:pt x="103640" y="-6329"/>
                </a:lnTo>
                <a:close/>
              </a:path>
            </a:pathLst>
          </a:custGeom>
          <a:solidFill>
            <a:srgbClr val="1C398E"/>
          </a:solidFill>
          <a:ln/>
        </p:spPr>
        <p:txBody>
          <a:bodyPr/>
          <a:lstStyle/>
          <a:p>
            <a:endParaRPr lang="en-US"/>
          </a:p>
        </p:txBody>
      </p:sp>
      <p:sp>
        <p:nvSpPr>
          <p:cNvPr id="9" name="Text 6"/>
          <p:cNvSpPr/>
          <p:nvPr/>
        </p:nvSpPr>
        <p:spPr>
          <a:xfrm>
            <a:off x="790575" y="4450091"/>
            <a:ext cx="3228975" cy="266700"/>
          </a:xfrm>
          <a:prstGeom prst="rect">
            <a:avLst/>
          </a:prstGeom>
          <a:noFill/>
          <a:ln/>
        </p:spPr>
        <p:txBody>
          <a:bodyPr wrap="square" lIns="0" tIns="0" rIns="0" bIns="0" rtlCol="0" anchor="ctr"/>
          <a:lstStyle/>
          <a:p>
            <a:pPr>
              <a:lnSpc>
                <a:spcPct val="130000"/>
              </a:lnSpc>
            </a:pPr>
            <a:r>
              <a:rPr lang="en-US" sz="1350" b="1" dirty="0">
                <a:solidFill>
                  <a:srgbClr val="1C398E"/>
                </a:solidFill>
                <a:latin typeface="Sorts Mill Goudy" pitchFamily="34" charset="0"/>
                <a:ea typeface="Sorts Mill Goudy" pitchFamily="34" charset="-122"/>
                <a:cs typeface="Sorts Mill Goudy" pitchFamily="34" charset="-120"/>
              </a:rPr>
              <a:t>YOLOv2 Improvements</a:t>
            </a:r>
            <a:endParaRPr lang="en-US" sz="1600" dirty="0"/>
          </a:p>
        </p:txBody>
      </p:sp>
      <p:sp>
        <p:nvSpPr>
          <p:cNvPr id="10" name="Shape 7"/>
          <p:cNvSpPr/>
          <p:nvPr/>
        </p:nvSpPr>
        <p:spPr>
          <a:xfrm>
            <a:off x="600075" y="48234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55DFC"/>
          </a:solidFill>
          <a:ln/>
        </p:spPr>
        <p:txBody>
          <a:bodyPr/>
          <a:lstStyle/>
          <a:p>
            <a:endParaRPr lang="en-US"/>
          </a:p>
        </p:txBody>
      </p:sp>
      <p:sp>
        <p:nvSpPr>
          <p:cNvPr id="11" name="Text 8"/>
          <p:cNvSpPr/>
          <p:nvPr/>
        </p:nvSpPr>
        <p:spPr>
          <a:xfrm>
            <a:off x="819150" y="4792991"/>
            <a:ext cx="3190875" cy="228600"/>
          </a:xfrm>
          <a:prstGeom prst="rect">
            <a:avLst/>
          </a:prstGeom>
          <a:noFill/>
          <a:ln/>
        </p:spPr>
        <p:txBody>
          <a:bodyPr wrap="square" lIns="0" tIns="0" rIns="0" bIns="0" rtlCol="0" anchor="ctr"/>
          <a:lstStyle/>
          <a:p>
            <a:pPr>
              <a:lnSpc>
                <a:spcPct val="130000"/>
              </a:lnSpc>
            </a:pPr>
            <a:r>
              <a:rPr lang="en-US" sz="1200" dirty="0">
                <a:solidFill>
                  <a:srgbClr val="1C398E"/>
                </a:solidFill>
                <a:latin typeface="Quattrocento Sans" pitchFamily="34" charset="0"/>
                <a:ea typeface="Quattrocento Sans" pitchFamily="34" charset="-122"/>
                <a:cs typeface="Quattrocento Sans" pitchFamily="34" charset="-120"/>
              </a:rPr>
              <a:t>Anchor boxes (k-means)</a:t>
            </a:r>
            <a:endParaRPr lang="en-US" sz="1600" dirty="0"/>
          </a:p>
        </p:txBody>
      </p:sp>
      <p:sp>
        <p:nvSpPr>
          <p:cNvPr id="12" name="Shape 9"/>
          <p:cNvSpPr/>
          <p:nvPr/>
        </p:nvSpPr>
        <p:spPr>
          <a:xfrm>
            <a:off x="600075" y="50901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55DFC"/>
          </a:solidFill>
          <a:ln/>
        </p:spPr>
        <p:txBody>
          <a:bodyPr/>
          <a:lstStyle/>
          <a:p>
            <a:endParaRPr lang="en-US"/>
          </a:p>
        </p:txBody>
      </p:sp>
      <p:sp>
        <p:nvSpPr>
          <p:cNvPr id="13" name="Text 10"/>
          <p:cNvSpPr/>
          <p:nvPr/>
        </p:nvSpPr>
        <p:spPr>
          <a:xfrm>
            <a:off x="819150" y="5059691"/>
            <a:ext cx="3190875" cy="228600"/>
          </a:xfrm>
          <a:prstGeom prst="rect">
            <a:avLst/>
          </a:prstGeom>
          <a:noFill/>
          <a:ln/>
        </p:spPr>
        <p:txBody>
          <a:bodyPr wrap="square" lIns="0" tIns="0" rIns="0" bIns="0" rtlCol="0" anchor="ctr"/>
          <a:lstStyle/>
          <a:p>
            <a:pPr>
              <a:lnSpc>
                <a:spcPct val="130000"/>
              </a:lnSpc>
            </a:pPr>
            <a:r>
              <a:rPr lang="en-US" sz="1200" dirty="0">
                <a:solidFill>
                  <a:srgbClr val="1C398E"/>
                </a:solidFill>
                <a:latin typeface="Quattrocento Sans" pitchFamily="34" charset="0"/>
                <a:ea typeface="Quattrocento Sans" pitchFamily="34" charset="-122"/>
                <a:cs typeface="Quattrocento Sans" pitchFamily="34" charset="-120"/>
              </a:rPr>
              <a:t>Batch normalization</a:t>
            </a:r>
            <a:endParaRPr lang="en-US" sz="1600" dirty="0"/>
          </a:p>
        </p:txBody>
      </p:sp>
      <p:sp>
        <p:nvSpPr>
          <p:cNvPr id="14" name="Shape 11"/>
          <p:cNvSpPr/>
          <p:nvPr/>
        </p:nvSpPr>
        <p:spPr>
          <a:xfrm>
            <a:off x="600075" y="53568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55DFC"/>
          </a:solidFill>
          <a:ln/>
        </p:spPr>
        <p:txBody>
          <a:bodyPr/>
          <a:lstStyle/>
          <a:p>
            <a:endParaRPr lang="en-US"/>
          </a:p>
        </p:txBody>
      </p:sp>
      <p:sp>
        <p:nvSpPr>
          <p:cNvPr id="15" name="Text 12"/>
          <p:cNvSpPr/>
          <p:nvPr/>
        </p:nvSpPr>
        <p:spPr>
          <a:xfrm>
            <a:off x="819150" y="5326391"/>
            <a:ext cx="3190875" cy="228600"/>
          </a:xfrm>
          <a:prstGeom prst="rect">
            <a:avLst/>
          </a:prstGeom>
          <a:noFill/>
          <a:ln/>
        </p:spPr>
        <p:txBody>
          <a:bodyPr wrap="square" lIns="0" tIns="0" rIns="0" bIns="0" rtlCol="0" anchor="ctr"/>
          <a:lstStyle/>
          <a:p>
            <a:pPr>
              <a:lnSpc>
                <a:spcPct val="130000"/>
              </a:lnSpc>
            </a:pPr>
            <a:r>
              <a:rPr lang="en-US" sz="1200" dirty="0">
                <a:solidFill>
                  <a:srgbClr val="1C398E"/>
                </a:solidFill>
                <a:latin typeface="Quattrocento Sans" pitchFamily="34" charset="0"/>
                <a:ea typeface="Quattrocento Sans" pitchFamily="34" charset="-122"/>
                <a:cs typeface="Quattrocento Sans" pitchFamily="34" charset="-120"/>
              </a:rPr>
              <a:t>High resolution classifier</a:t>
            </a:r>
            <a:endParaRPr lang="en-US" sz="1600" dirty="0"/>
          </a:p>
        </p:txBody>
      </p:sp>
      <p:sp>
        <p:nvSpPr>
          <p:cNvPr id="16" name="Shape 13"/>
          <p:cNvSpPr/>
          <p:nvPr/>
        </p:nvSpPr>
        <p:spPr>
          <a:xfrm>
            <a:off x="600075" y="56235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55DFC"/>
          </a:solidFill>
          <a:ln/>
        </p:spPr>
        <p:txBody>
          <a:bodyPr/>
          <a:lstStyle/>
          <a:p>
            <a:endParaRPr lang="en-US"/>
          </a:p>
        </p:txBody>
      </p:sp>
      <p:sp>
        <p:nvSpPr>
          <p:cNvPr id="17" name="Text 14"/>
          <p:cNvSpPr/>
          <p:nvPr/>
        </p:nvSpPr>
        <p:spPr>
          <a:xfrm>
            <a:off x="819150" y="5593091"/>
            <a:ext cx="3190875" cy="228600"/>
          </a:xfrm>
          <a:prstGeom prst="rect">
            <a:avLst/>
          </a:prstGeom>
          <a:noFill/>
          <a:ln/>
        </p:spPr>
        <p:txBody>
          <a:bodyPr wrap="square" lIns="0" tIns="0" rIns="0" bIns="0" rtlCol="0" anchor="ctr"/>
          <a:lstStyle/>
          <a:p>
            <a:pPr>
              <a:lnSpc>
                <a:spcPct val="130000"/>
              </a:lnSpc>
            </a:pPr>
            <a:r>
              <a:rPr lang="en-US" sz="1200" dirty="0">
                <a:solidFill>
                  <a:srgbClr val="1C398E"/>
                </a:solidFill>
                <a:latin typeface="Quattrocento Sans" pitchFamily="34" charset="0"/>
                <a:ea typeface="Quattrocento Sans" pitchFamily="34" charset="-122"/>
                <a:cs typeface="Quattrocento Sans" pitchFamily="34" charset="-120"/>
              </a:rPr>
              <a:t>Multi-scale training</a:t>
            </a:r>
            <a:endParaRPr lang="en-US" sz="1600" dirty="0"/>
          </a:p>
        </p:txBody>
      </p:sp>
      <p:sp>
        <p:nvSpPr>
          <p:cNvPr id="18" name="Shape 15"/>
          <p:cNvSpPr/>
          <p:nvPr/>
        </p:nvSpPr>
        <p:spPr>
          <a:xfrm>
            <a:off x="4260771" y="4297691"/>
            <a:ext cx="3686175" cy="1676400"/>
          </a:xfrm>
          <a:custGeom>
            <a:avLst/>
            <a:gdLst/>
            <a:ahLst/>
            <a:cxnLst/>
            <a:rect l="l" t="t" r="r" b="b"/>
            <a:pathLst>
              <a:path w="3686175" h="1676400">
                <a:moveTo>
                  <a:pt x="38100" y="0"/>
                </a:moveTo>
                <a:lnTo>
                  <a:pt x="3609983" y="0"/>
                </a:lnTo>
                <a:cubicBezTo>
                  <a:pt x="3652063" y="0"/>
                  <a:pt x="3686175" y="34112"/>
                  <a:pt x="3686175" y="76192"/>
                </a:cubicBezTo>
                <a:lnTo>
                  <a:pt x="3686175" y="1600208"/>
                </a:lnTo>
                <a:cubicBezTo>
                  <a:pt x="3686175" y="1642288"/>
                  <a:pt x="3652063" y="1676400"/>
                  <a:pt x="3609983" y="1676400"/>
                </a:cubicBezTo>
                <a:lnTo>
                  <a:pt x="38100" y="1676400"/>
                </a:lnTo>
                <a:cubicBezTo>
                  <a:pt x="17058" y="1676400"/>
                  <a:pt x="0" y="1659342"/>
                  <a:pt x="0" y="1638300"/>
                </a:cubicBezTo>
                <a:lnTo>
                  <a:pt x="0" y="38100"/>
                </a:lnTo>
                <a:cubicBezTo>
                  <a:pt x="0" y="17072"/>
                  <a:pt x="17072" y="0"/>
                  <a:pt x="38100" y="0"/>
                </a:cubicBezTo>
                <a:close/>
              </a:path>
            </a:pathLst>
          </a:custGeom>
          <a:solidFill>
            <a:srgbClr val="F0FDF4"/>
          </a:solidFill>
          <a:ln/>
        </p:spPr>
        <p:txBody>
          <a:bodyPr/>
          <a:lstStyle/>
          <a:p>
            <a:endParaRPr lang="en-US"/>
          </a:p>
        </p:txBody>
      </p:sp>
      <p:sp>
        <p:nvSpPr>
          <p:cNvPr id="19" name="Shape 16"/>
          <p:cNvSpPr/>
          <p:nvPr/>
        </p:nvSpPr>
        <p:spPr>
          <a:xfrm>
            <a:off x="4260771" y="4297691"/>
            <a:ext cx="38100" cy="1676400"/>
          </a:xfrm>
          <a:custGeom>
            <a:avLst/>
            <a:gdLst/>
            <a:ahLst/>
            <a:cxnLst/>
            <a:rect l="l" t="t" r="r" b="b"/>
            <a:pathLst>
              <a:path w="38100" h="1676400">
                <a:moveTo>
                  <a:pt x="38100" y="0"/>
                </a:moveTo>
                <a:lnTo>
                  <a:pt x="38100" y="0"/>
                </a:lnTo>
                <a:lnTo>
                  <a:pt x="38100" y="1676400"/>
                </a:lnTo>
                <a:lnTo>
                  <a:pt x="38100" y="1676400"/>
                </a:lnTo>
                <a:cubicBezTo>
                  <a:pt x="17072" y="1676400"/>
                  <a:pt x="0" y="1659328"/>
                  <a:pt x="0" y="1638300"/>
                </a:cubicBezTo>
                <a:lnTo>
                  <a:pt x="0" y="38100"/>
                </a:lnTo>
                <a:cubicBezTo>
                  <a:pt x="0" y="17072"/>
                  <a:pt x="17072" y="0"/>
                  <a:pt x="38100" y="0"/>
                </a:cubicBezTo>
                <a:close/>
              </a:path>
            </a:pathLst>
          </a:custGeom>
          <a:solidFill>
            <a:srgbClr val="00C950"/>
          </a:solidFill>
          <a:ln/>
        </p:spPr>
        <p:txBody>
          <a:bodyPr/>
          <a:lstStyle/>
          <a:p>
            <a:endParaRPr lang="en-US"/>
          </a:p>
        </p:txBody>
      </p:sp>
      <p:sp>
        <p:nvSpPr>
          <p:cNvPr id="20" name="Shape 17"/>
          <p:cNvSpPr/>
          <p:nvPr/>
        </p:nvSpPr>
        <p:spPr>
          <a:xfrm>
            <a:off x="4456033" y="4497716"/>
            <a:ext cx="171450" cy="171450"/>
          </a:xfrm>
          <a:custGeom>
            <a:avLst/>
            <a:gdLst/>
            <a:ahLst/>
            <a:cxnLst/>
            <a:rect l="l" t="t" r="r" b="b"/>
            <a:pathLst>
              <a:path w="171450" h="171450">
                <a:moveTo>
                  <a:pt x="77856" y="1741"/>
                </a:moveTo>
                <a:cubicBezTo>
                  <a:pt x="82845" y="-569"/>
                  <a:pt x="88605" y="-569"/>
                  <a:pt x="93594" y="1741"/>
                </a:cubicBezTo>
                <a:lnTo>
                  <a:pt x="166795" y="35562"/>
                </a:lnTo>
                <a:cubicBezTo>
                  <a:pt x="169642" y="36868"/>
                  <a:pt x="171450" y="39715"/>
                  <a:pt x="171450" y="42863"/>
                </a:cubicBezTo>
                <a:cubicBezTo>
                  <a:pt x="171450" y="46010"/>
                  <a:pt x="169642" y="48857"/>
                  <a:pt x="166795" y="50163"/>
                </a:cubicBezTo>
                <a:lnTo>
                  <a:pt x="93594" y="83984"/>
                </a:lnTo>
                <a:cubicBezTo>
                  <a:pt x="88605" y="86294"/>
                  <a:pt x="82845" y="86294"/>
                  <a:pt x="77856" y="83984"/>
                </a:cubicBezTo>
                <a:lnTo>
                  <a:pt x="4655" y="50163"/>
                </a:lnTo>
                <a:cubicBezTo>
                  <a:pt x="1808" y="48823"/>
                  <a:pt x="0" y="45977"/>
                  <a:pt x="0" y="42863"/>
                </a:cubicBezTo>
                <a:cubicBezTo>
                  <a:pt x="0" y="39748"/>
                  <a:pt x="1808" y="36868"/>
                  <a:pt x="4655" y="35562"/>
                </a:cubicBezTo>
                <a:lnTo>
                  <a:pt x="77856" y="1741"/>
                </a:lnTo>
                <a:close/>
                <a:moveTo>
                  <a:pt x="16107" y="73134"/>
                </a:moveTo>
                <a:lnTo>
                  <a:pt x="71125" y="98550"/>
                </a:lnTo>
                <a:cubicBezTo>
                  <a:pt x="80401" y="102837"/>
                  <a:pt x="91083" y="102837"/>
                  <a:pt x="100359" y="98550"/>
                </a:cubicBezTo>
                <a:lnTo>
                  <a:pt x="155377" y="73134"/>
                </a:lnTo>
                <a:lnTo>
                  <a:pt x="166795" y="78425"/>
                </a:lnTo>
                <a:cubicBezTo>
                  <a:pt x="169642" y="79731"/>
                  <a:pt x="171450" y="82577"/>
                  <a:pt x="171450" y="85725"/>
                </a:cubicBezTo>
                <a:cubicBezTo>
                  <a:pt x="171450" y="88873"/>
                  <a:pt x="169642" y="91719"/>
                  <a:pt x="166795" y="93025"/>
                </a:cubicBezTo>
                <a:lnTo>
                  <a:pt x="93594" y="126846"/>
                </a:lnTo>
                <a:cubicBezTo>
                  <a:pt x="88605" y="129157"/>
                  <a:pt x="82845" y="129157"/>
                  <a:pt x="77856" y="126846"/>
                </a:cubicBezTo>
                <a:lnTo>
                  <a:pt x="4655" y="93025"/>
                </a:lnTo>
                <a:cubicBezTo>
                  <a:pt x="1808" y="91686"/>
                  <a:pt x="0" y="88839"/>
                  <a:pt x="0" y="85725"/>
                </a:cubicBezTo>
                <a:cubicBezTo>
                  <a:pt x="0" y="82611"/>
                  <a:pt x="1808" y="79731"/>
                  <a:pt x="4655" y="78425"/>
                </a:cubicBezTo>
                <a:lnTo>
                  <a:pt x="16073" y="73134"/>
                </a:lnTo>
                <a:close/>
                <a:moveTo>
                  <a:pt x="4655" y="121287"/>
                </a:moveTo>
                <a:lnTo>
                  <a:pt x="16073" y="115997"/>
                </a:lnTo>
                <a:lnTo>
                  <a:pt x="71091" y="141413"/>
                </a:lnTo>
                <a:cubicBezTo>
                  <a:pt x="80367" y="145699"/>
                  <a:pt x="91049" y="145699"/>
                  <a:pt x="100325" y="141413"/>
                </a:cubicBezTo>
                <a:lnTo>
                  <a:pt x="155343" y="115997"/>
                </a:lnTo>
                <a:lnTo>
                  <a:pt x="166762" y="121287"/>
                </a:lnTo>
                <a:cubicBezTo>
                  <a:pt x="169608" y="122593"/>
                  <a:pt x="171417" y="125440"/>
                  <a:pt x="171417" y="128588"/>
                </a:cubicBezTo>
                <a:cubicBezTo>
                  <a:pt x="171417" y="131735"/>
                  <a:pt x="169608" y="134582"/>
                  <a:pt x="166762" y="135888"/>
                </a:cubicBezTo>
                <a:lnTo>
                  <a:pt x="93561" y="169709"/>
                </a:lnTo>
                <a:cubicBezTo>
                  <a:pt x="88571" y="172019"/>
                  <a:pt x="82812" y="172019"/>
                  <a:pt x="77822" y="169709"/>
                </a:cubicBezTo>
                <a:lnTo>
                  <a:pt x="4655" y="135888"/>
                </a:lnTo>
                <a:cubicBezTo>
                  <a:pt x="1808" y="134548"/>
                  <a:pt x="0" y="131702"/>
                  <a:pt x="0" y="128588"/>
                </a:cubicBezTo>
                <a:cubicBezTo>
                  <a:pt x="0" y="125473"/>
                  <a:pt x="1808" y="122593"/>
                  <a:pt x="4655" y="121287"/>
                </a:cubicBezTo>
                <a:close/>
              </a:path>
            </a:pathLst>
          </a:custGeom>
          <a:solidFill>
            <a:srgbClr val="0D542B"/>
          </a:solidFill>
          <a:ln/>
        </p:spPr>
        <p:txBody>
          <a:bodyPr/>
          <a:lstStyle/>
          <a:p>
            <a:endParaRPr lang="en-US"/>
          </a:p>
        </p:txBody>
      </p:sp>
      <p:sp>
        <p:nvSpPr>
          <p:cNvPr id="21" name="Text 18"/>
          <p:cNvSpPr/>
          <p:nvPr/>
        </p:nvSpPr>
        <p:spPr>
          <a:xfrm>
            <a:off x="4651296" y="4450091"/>
            <a:ext cx="3228975" cy="266700"/>
          </a:xfrm>
          <a:prstGeom prst="rect">
            <a:avLst/>
          </a:prstGeom>
          <a:noFill/>
          <a:ln/>
        </p:spPr>
        <p:txBody>
          <a:bodyPr wrap="square" lIns="0" tIns="0" rIns="0" bIns="0" rtlCol="0" anchor="ctr"/>
          <a:lstStyle/>
          <a:p>
            <a:pPr>
              <a:lnSpc>
                <a:spcPct val="130000"/>
              </a:lnSpc>
            </a:pPr>
            <a:r>
              <a:rPr lang="en-US" sz="1350" b="1" dirty="0">
                <a:solidFill>
                  <a:srgbClr val="0D542B"/>
                </a:solidFill>
                <a:latin typeface="Sorts Mill Goudy" pitchFamily="34" charset="0"/>
                <a:ea typeface="Sorts Mill Goudy" pitchFamily="34" charset="-122"/>
                <a:cs typeface="Sorts Mill Goudy" pitchFamily="34" charset="-120"/>
              </a:rPr>
              <a:t>YOLOv3 Improvements</a:t>
            </a:r>
            <a:endParaRPr lang="en-US" sz="1600" dirty="0"/>
          </a:p>
        </p:txBody>
      </p:sp>
      <p:sp>
        <p:nvSpPr>
          <p:cNvPr id="5" name="Shape 19"/>
          <p:cNvSpPr/>
          <p:nvPr/>
        </p:nvSpPr>
        <p:spPr>
          <a:xfrm>
            <a:off x="4460796" y="48234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63E"/>
          </a:solidFill>
          <a:ln/>
        </p:spPr>
        <p:txBody>
          <a:bodyPr/>
          <a:lstStyle/>
          <a:p>
            <a:endParaRPr lang="en-US"/>
          </a:p>
        </p:txBody>
      </p:sp>
      <p:sp>
        <p:nvSpPr>
          <p:cNvPr id="23" name="Text 20"/>
          <p:cNvSpPr/>
          <p:nvPr/>
        </p:nvSpPr>
        <p:spPr>
          <a:xfrm>
            <a:off x="4679871" y="4792991"/>
            <a:ext cx="3190875" cy="228600"/>
          </a:xfrm>
          <a:prstGeom prst="rect">
            <a:avLst/>
          </a:prstGeom>
          <a:noFill/>
          <a:ln/>
        </p:spPr>
        <p:txBody>
          <a:bodyPr wrap="square" lIns="0" tIns="0" rIns="0" bIns="0" rtlCol="0" anchor="ctr"/>
          <a:lstStyle/>
          <a:p>
            <a:pPr>
              <a:lnSpc>
                <a:spcPct val="130000"/>
              </a:lnSpc>
            </a:pPr>
            <a:r>
              <a:rPr lang="en-US" sz="1200" dirty="0">
                <a:solidFill>
                  <a:srgbClr val="0D542B"/>
                </a:solidFill>
                <a:latin typeface="Quattrocento Sans" pitchFamily="34" charset="0"/>
                <a:ea typeface="Quattrocento Sans" pitchFamily="34" charset="-122"/>
                <a:cs typeface="Quattrocento Sans" pitchFamily="34" charset="-120"/>
              </a:rPr>
              <a:t>Darknet-53 backbone</a:t>
            </a:r>
            <a:endParaRPr lang="en-US" sz="1600" dirty="0"/>
          </a:p>
        </p:txBody>
      </p:sp>
      <p:sp>
        <p:nvSpPr>
          <p:cNvPr id="24" name="Shape 21"/>
          <p:cNvSpPr/>
          <p:nvPr/>
        </p:nvSpPr>
        <p:spPr>
          <a:xfrm>
            <a:off x="4460796" y="50901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63E"/>
          </a:solidFill>
          <a:ln/>
        </p:spPr>
        <p:txBody>
          <a:bodyPr/>
          <a:lstStyle/>
          <a:p>
            <a:endParaRPr lang="en-US"/>
          </a:p>
        </p:txBody>
      </p:sp>
      <p:sp>
        <p:nvSpPr>
          <p:cNvPr id="25" name="Text 22"/>
          <p:cNvSpPr/>
          <p:nvPr/>
        </p:nvSpPr>
        <p:spPr>
          <a:xfrm>
            <a:off x="4679871" y="5059691"/>
            <a:ext cx="3190875" cy="228600"/>
          </a:xfrm>
          <a:prstGeom prst="rect">
            <a:avLst/>
          </a:prstGeom>
          <a:noFill/>
          <a:ln/>
        </p:spPr>
        <p:txBody>
          <a:bodyPr wrap="square" lIns="0" tIns="0" rIns="0" bIns="0" rtlCol="0" anchor="ctr"/>
          <a:lstStyle/>
          <a:p>
            <a:pPr>
              <a:lnSpc>
                <a:spcPct val="130000"/>
              </a:lnSpc>
            </a:pPr>
            <a:r>
              <a:rPr lang="en-US" sz="1200" dirty="0">
                <a:solidFill>
                  <a:srgbClr val="0D542B"/>
                </a:solidFill>
                <a:latin typeface="Quattrocento Sans" pitchFamily="34" charset="0"/>
                <a:ea typeface="Quattrocento Sans" pitchFamily="34" charset="-122"/>
                <a:cs typeface="Quattrocento Sans" pitchFamily="34" charset="-120"/>
              </a:rPr>
              <a:t>3-scale detection</a:t>
            </a:r>
            <a:endParaRPr lang="en-US" sz="1600" dirty="0"/>
          </a:p>
        </p:txBody>
      </p:sp>
      <p:sp>
        <p:nvSpPr>
          <p:cNvPr id="26" name="Shape 23"/>
          <p:cNvSpPr/>
          <p:nvPr/>
        </p:nvSpPr>
        <p:spPr>
          <a:xfrm>
            <a:off x="4460796" y="53568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63E"/>
          </a:solidFill>
          <a:ln/>
        </p:spPr>
        <p:txBody>
          <a:bodyPr/>
          <a:lstStyle/>
          <a:p>
            <a:endParaRPr lang="en-US"/>
          </a:p>
        </p:txBody>
      </p:sp>
      <p:sp>
        <p:nvSpPr>
          <p:cNvPr id="27" name="Text 24"/>
          <p:cNvSpPr/>
          <p:nvPr/>
        </p:nvSpPr>
        <p:spPr>
          <a:xfrm>
            <a:off x="4679871" y="5326391"/>
            <a:ext cx="3190875" cy="228600"/>
          </a:xfrm>
          <a:prstGeom prst="rect">
            <a:avLst/>
          </a:prstGeom>
          <a:noFill/>
          <a:ln/>
        </p:spPr>
        <p:txBody>
          <a:bodyPr wrap="square" lIns="0" tIns="0" rIns="0" bIns="0" rtlCol="0" anchor="ctr"/>
          <a:lstStyle/>
          <a:p>
            <a:pPr>
              <a:lnSpc>
                <a:spcPct val="130000"/>
              </a:lnSpc>
            </a:pPr>
            <a:r>
              <a:rPr lang="en-US" sz="1200" dirty="0">
                <a:solidFill>
                  <a:srgbClr val="0D542B"/>
                </a:solidFill>
                <a:latin typeface="Quattrocento Sans" pitchFamily="34" charset="0"/>
                <a:ea typeface="Quattrocento Sans" pitchFamily="34" charset="-122"/>
                <a:cs typeface="Quattrocento Sans" pitchFamily="34" charset="-120"/>
              </a:rPr>
              <a:t>Independent logistic classifiers</a:t>
            </a:r>
            <a:endParaRPr lang="en-US" sz="1600" dirty="0"/>
          </a:p>
        </p:txBody>
      </p:sp>
      <p:sp>
        <p:nvSpPr>
          <p:cNvPr id="28" name="Shape 25"/>
          <p:cNvSpPr/>
          <p:nvPr/>
        </p:nvSpPr>
        <p:spPr>
          <a:xfrm>
            <a:off x="4460796" y="56235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0A63E"/>
          </a:solidFill>
          <a:ln/>
        </p:spPr>
        <p:txBody>
          <a:bodyPr/>
          <a:lstStyle/>
          <a:p>
            <a:endParaRPr lang="en-US"/>
          </a:p>
        </p:txBody>
      </p:sp>
      <p:sp>
        <p:nvSpPr>
          <p:cNvPr id="29" name="Text 26"/>
          <p:cNvSpPr/>
          <p:nvPr/>
        </p:nvSpPr>
        <p:spPr>
          <a:xfrm>
            <a:off x="4679871" y="5593091"/>
            <a:ext cx="3190875" cy="228600"/>
          </a:xfrm>
          <a:prstGeom prst="rect">
            <a:avLst/>
          </a:prstGeom>
          <a:noFill/>
          <a:ln/>
        </p:spPr>
        <p:txBody>
          <a:bodyPr wrap="square" lIns="0" tIns="0" rIns="0" bIns="0" rtlCol="0" anchor="ctr"/>
          <a:lstStyle/>
          <a:p>
            <a:pPr>
              <a:lnSpc>
                <a:spcPct val="130000"/>
              </a:lnSpc>
            </a:pPr>
            <a:r>
              <a:rPr lang="en-US" sz="1200" dirty="0">
                <a:solidFill>
                  <a:srgbClr val="0D542B"/>
                </a:solidFill>
                <a:latin typeface="Quattrocento Sans" pitchFamily="34" charset="0"/>
                <a:ea typeface="Quattrocento Sans" pitchFamily="34" charset="-122"/>
                <a:cs typeface="Quattrocento Sans" pitchFamily="34" charset="-120"/>
              </a:rPr>
              <a:t>Better small object detection</a:t>
            </a:r>
            <a:endParaRPr lang="en-US" sz="1600" dirty="0"/>
          </a:p>
        </p:txBody>
      </p:sp>
      <p:sp>
        <p:nvSpPr>
          <p:cNvPr id="30" name="Shape 27"/>
          <p:cNvSpPr/>
          <p:nvPr/>
        </p:nvSpPr>
        <p:spPr>
          <a:xfrm>
            <a:off x="8121611" y="4297691"/>
            <a:ext cx="3686175" cy="1676400"/>
          </a:xfrm>
          <a:custGeom>
            <a:avLst/>
            <a:gdLst/>
            <a:ahLst/>
            <a:cxnLst/>
            <a:rect l="l" t="t" r="r" b="b"/>
            <a:pathLst>
              <a:path w="3686175" h="1676400">
                <a:moveTo>
                  <a:pt x="38100" y="0"/>
                </a:moveTo>
                <a:lnTo>
                  <a:pt x="3609983" y="0"/>
                </a:lnTo>
                <a:cubicBezTo>
                  <a:pt x="3652063" y="0"/>
                  <a:pt x="3686175" y="34112"/>
                  <a:pt x="3686175" y="76192"/>
                </a:cubicBezTo>
                <a:lnTo>
                  <a:pt x="3686175" y="1600208"/>
                </a:lnTo>
                <a:cubicBezTo>
                  <a:pt x="3686175" y="1642288"/>
                  <a:pt x="3652063" y="1676400"/>
                  <a:pt x="3609983" y="1676400"/>
                </a:cubicBezTo>
                <a:lnTo>
                  <a:pt x="38100" y="1676400"/>
                </a:lnTo>
                <a:cubicBezTo>
                  <a:pt x="17058" y="1676400"/>
                  <a:pt x="0" y="1659342"/>
                  <a:pt x="0" y="1638300"/>
                </a:cubicBezTo>
                <a:lnTo>
                  <a:pt x="0" y="38100"/>
                </a:lnTo>
                <a:cubicBezTo>
                  <a:pt x="0" y="17072"/>
                  <a:pt x="17072" y="0"/>
                  <a:pt x="38100" y="0"/>
                </a:cubicBezTo>
                <a:close/>
              </a:path>
            </a:pathLst>
          </a:custGeom>
          <a:solidFill>
            <a:srgbClr val="FAF5FF"/>
          </a:solidFill>
          <a:ln/>
        </p:spPr>
        <p:txBody>
          <a:bodyPr/>
          <a:lstStyle/>
          <a:p>
            <a:endParaRPr lang="en-US"/>
          </a:p>
        </p:txBody>
      </p:sp>
      <p:sp>
        <p:nvSpPr>
          <p:cNvPr id="31" name="Shape 28"/>
          <p:cNvSpPr/>
          <p:nvPr/>
        </p:nvSpPr>
        <p:spPr>
          <a:xfrm>
            <a:off x="8121611" y="4297691"/>
            <a:ext cx="38100" cy="1676400"/>
          </a:xfrm>
          <a:custGeom>
            <a:avLst/>
            <a:gdLst/>
            <a:ahLst/>
            <a:cxnLst/>
            <a:rect l="l" t="t" r="r" b="b"/>
            <a:pathLst>
              <a:path w="38100" h="1676400">
                <a:moveTo>
                  <a:pt x="38100" y="0"/>
                </a:moveTo>
                <a:lnTo>
                  <a:pt x="38100" y="0"/>
                </a:lnTo>
                <a:lnTo>
                  <a:pt x="38100" y="1676400"/>
                </a:lnTo>
                <a:lnTo>
                  <a:pt x="38100" y="1676400"/>
                </a:lnTo>
                <a:cubicBezTo>
                  <a:pt x="17072" y="1676400"/>
                  <a:pt x="0" y="1659328"/>
                  <a:pt x="0" y="1638300"/>
                </a:cubicBezTo>
                <a:lnTo>
                  <a:pt x="0" y="38100"/>
                </a:lnTo>
                <a:cubicBezTo>
                  <a:pt x="0" y="17072"/>
                  <a:pt x="17072" y="0"/>
                  <a:pt x="38100" y="0"/>
                </a:cubicBezTo>
                <a:close/>
              </a:path>
            </a:pathLst>
          </a:custGeom>
          <a:solidFill>
            <a:srgbClr val="AD46FF"/>
          </a:solidFill>
          <a:ln/>
        </p:spPr>
        <p:txBody>
          <a:bodyPr/>
          <a:lstStyle/>
          <a:p>
            <a:endParaRPr lang="en-US"/>
          </a:p>
        </p:txBody>
      </p:sp>
      <p:sp>
        <p:nvSpPr>
          <p:cNvPr id="32" name="Shape 29"/>
          <p:cNvSpPr/>
          <p:nvPr/>
        </p:nvSpPr>
        <p:spPr>
          <a:xfrm>
            <a:off x="8316873" y="4497716"/>
            <a:ext cx="171450" cy="171450"/>
          </a:xfrm>
          <a:custGeom>
            <a:avLst/>
            <a:gdLst/>
            <a:ahLst/>
            <a:cxnLst/>
            <a:rect l="l" t="t" r="r" b="b"/>
            <a:pathLst>
              <a:path w="171450" h="171450">
                <a:moveTo>
                  <a:pt x="42863" y="107156"/>
                </a:moveTo>
                <a:lnTo>
                  <a:pt x="8204" y="107156"/>
                </a:lnTo>
                <a:cubicBezTo>
                  <a:pt x="-134" y="107156"/>
                  <a:pt x="-5257" y="98081"/>
                  <a:pt x="-971" y="90915"/>
                </a:cubicBezTo>
                <a:lnTo>
                  <a:pt x="16743" y="61380"/>
                </a:lnTo>
                <a:cubicBezTo>
                  <a:pt x="19656" y="56525"/>
                  <a:pt x="24880" y="53578"/>
                  <a:pt x="30540" y="53578"/>
                </a:cubicBezTo>
                <a:lnTo>
                  <a:pt x="62352" y="53578"/>
                </a:lnTo>
                <a:cubicBezTo>
                  <a:pt x="87835" y="10414"/>
                  <a:pt x="125842" y="8238"/>
                  <a:pt x="151258" y="11955"/>
                </a:cubicBezTo>
                <a:cubicBezTo>
                  <a:pt x="155544" y="12591"/>
                  <a:pt x="158893" y="15939"/>
                  <a:pt x="159495" y="20192"/>
                </a:cubicBezTo>
                <a:cubicBezTo>
                  <a:pt x="163212" y="45608"/>
                  <a:pt x="161036" y="83615"/>
                  <a:pt x="117872" y="109098"/>
                </a:cubicBezTo>
                <a:lnTo>
                  <a:pt x="117872" y="140910"/>
                </a:lnTo>
                <a:cubicBezTo>
                  <a:pt x="117872" y="146570"/>
                  <a:pt x="114925" y="151794"/>
                  <a:pt x="110070" y="154707"/>
                </a:cubicBezTo>
                <a:lnTo>
                  <a:pt x="80535" y="172421"/>
                </a:lnTo>
                <a:cubicBezTo>
                  <a:pt x="73402" y="176707"/>
                  <a:pt x="64294" y="171550"/>
                  <a:pt x="64294" y="163246"/>
                </a:cubicBezTo>
                <a:lnTo>
                  <a:pt x="64294" y="128588"/>
                </a:lnTo>
                <a:cubicBezTo>
                  <a:pt x="64294" y="116767"/>
                  <a:pt x="54683" y="107156"/>
                  <a:pt x="42863" y="107156"/>
                </a:cubicBezTo>
                <a:lnTo>
                  <a:pt x="42829" y="107156"/>
                </a:lnTo>
                <a:close/>
                <a:moveTo>
                  <a:pt x="133945" y="53578"/>
                </a:moveTo>
                <a:cubicBezTo>
                  <a:pt x="133945" y="44707"/>
                  <a:pt x="126743" y="37505"/>
                  <a:pt x="117872" y="37505"/>
                </a:cubicBezTo>
                <a:cubicBezTo>
                  <a:pt x="109001" y="37505"/>
                  <a:pt x="101798" y="44707"/>
                  <a:pt x="101798" y="53578"/>
                </a:cubicBezTo>
                <a:cubicBezTo>
                  <a:pt x="101798" y="62449"/>
                  <a:pt x="109001" y="69652"/>
                  <a:pt x="117872" y="69652"/>
                </a:cubicBezTo>
                <a:cubicBezTo>
                  <a:pt x="126743" y="69652"/>
                  <a:pt x="133945" y="62449"/>
                  <a:pt x="133945" y="53578"/>
                </a:cubicBezTo>
                <a:close/>
              </a:path>
            </a:pathLst>
          </a:custGeom>
          <a:solidFill>
            <a:srgbClr val="59168B"/>
          </a:solidFill>
          <a:ln/>
        </p:spPr>
        <p:txBody>
          <a:bodyPr/>
          <a:lstStyle/>
          <a:p>
            <a:endParaRPr lang="en-US"/>
          </a:p>
        </p:txBody>
      </p:sp>
      <p:sp>
        <p:nvSpPr>
          <p:cNvPr id="33" name="Text 30"/>
          <p:cNvSpPr/>
          <p:nvPr/>
        </p:nvSpPr>
        <p:spPr>
          <a:xfrm>
            <a:off x="8512136" y="4450091"/>
            <a:ext cx="3228975" cy="266700"/>
          </a:xfrm>
          <a:prstGeom prst="rect">
            <a:avLst/>
          </a:prstGeom>
          <a:noFill/>
          <a:ln/>
        </p:spPr>
        <p:txBody>
          <a:bodyPr wrap="square" lIns="0" tIns="0" rIns="0" bIns="0" rtlCol="0" anchor="ctr"/>
          <a:lstStyle/>
          <a:p>
            <a:pPr>
              <a:lnSpc>
                <a:spcPct val="130000"/>
              </a:lnSpc>
            </a:pPr>
            <a:r>
              <a:rPr lang="en-US" sz="1350" b="1" dirty="0">
                <a:solidFill>
                  <a:srgbClr val="59168B"/>
                </a:solidFill>
                <a:latin typeface="Sorts Mill Goudy" pitchFamily="34" charset="0"/>
                <a:ea typeface="Sorts Mill Goudy" pitchFamily="34" charset="-122"/>
                <a:cs typeface="Sorts Mill Goudy" pitchFamily="34" charset="-120"/>
              </a:rPr>
              <a:t>YOLOv4/v5/v8</a:t>
            </a:r>
            <a:endParaRPr lang="en-US" sz="1600" dirty="0"/>
          </a:p>
        </p:txBody>
      </p:sp>
      <p:sp>
        <p:nvSpPr>
          <p:cNvPr id="34" name="Shape 31"/>
          <p:cNvSpPr/>
          <p:nvPr/>
        </p:nvSpPr>
        <p:spPr>
          <a:xfrm>
            <a:off x="8321636" y="48234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9810FA"/>
          </a:solidFill>
          <a:ln/>
        </p:spPr>
        <p:txBody>
          <a:bodyPr/>
          <a:lstStyle/>
          <a:p>
            <a:endParaRPr lang="en-US"/>
          </a:p>
        </p:txBody>
      </p:sp>
      <p:sp>
        <p:nvSpPr>
          <p:cNvPr id="35" name="Text 32"/>
          <p:cNvSpPr/>
          <p:nvPr/>
        </p:nvSpPr>
        <p:spPr>
          <a:xfrm>
            <a:off x="8540711" y="4792991"/>
            <a:ext cx="3190875" cy="228600"/>
          </a:xfrm>
          <a:prstGeom prst="rect">
            <a:avLst/>
          </a:prstGeom>
          <a:noFill/>
          <a:ln/>
        </p:spPr>
        <p:txBody>
          <a:bodyPr wrap="square" lIns="0" tIns="0" rIns="0" bIns="0" rtlCol="0" anchor="ctr"/>
          <a:lstStyle/>
          <a:p>
            <a:pPr>
              <a:lnSpc>
                <a:spcPct val="130000"/>
              </a:lnSpc>
            </a:pPr>
            <a:r>
              <a:rPr lang="en-US" sz="1200" dirty="0">
                <a:solidFill>
                  <a:srgbClr val="59168B"/>
                </a:solidFill>
                <a:latin typeface="Quattrocento Sans" pitchFamily="34" charset="0"/>
                <a:ea typeface="Quattrocento Sans" pitchFamily="34" charset="-122"/>
                <a:cs typeface="Quattrocento Sans" pitchFamily="34" charset="-120"/>
              </a:rPr>
              <a:t>CSPDarknet backbone</a:t>
            </a:r>
            <a:endParaRPr lang="en-US" sz="1600" dirty="0"/>
          </a:p>
        </p:txBody>
      </p:sp>
      <p:sp>
        <p:nvSpPr>
          <p:cNvPr id="36" name="Shape 33"/>
          <p:cNvSpPr/>
          <p:nvPr/>
        </p:nvSpPr>
        <p:spPr>
          <a:xfrm>
            <a:off x="8321636" y="50901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9810FA"/>
          </a:solidFill>
          <a:ln/>
        </p:spPr>
        <p:txBody>
          <a:bodyPr/>
          <a:lstStyle/>
          <a:p>
            <a:endParaRPr lang="en-US"/>
          </a:p>
        </p:txBody>
      </p:sp>
      <p:sp>
        <p:nvSpPr>
          <p:cNvPr id="37" name="Text 34"/>
          <p:cNvSpPr/>
          <p:nvPr/>
        </p:nvSpPr>
        <p:spPr>
          <a:xfrm>
            <a:off x="8540711" y="5059691"/>
            <a:ext cx="3190875" cy="228600"/>
          </a:xfrm>
          <a:prstGeom prst="rect">
            <a:avLst/>
          </a:prstGeom>
          <a:noFill/>
          <a:ln/>
        </p:spPr>
        <p:txBody>
          <a:bodyPr wrap="square" lIns="0" tIns="0" rIns="0" bIns="0" rtlCol="0" anchor="ctr"/>
          <a:lstStyle/>
          <a:p>
            <a:pPr>
              <a:lnSpc>
                <a:spcPct val="130000"/>
              </a:lnSpc>
            </a:pPr>
            <a:r>
              <a:rPr lang="en-US" sz="1200" dirty="0">
                <a:solidFill>
                  <a:srgbClr val="59168B"/>
                </a:solidFill>
                <a:latin typeface="Quattrocento Sans" pitchFamily="34" charset="0"/>
                <a:ea typeface="Quattrocento Sans" pitchFamily="34" charset="-122"/>
                <a:cs typeface="Quattrocento Sans" pitchFamily="34" charset="-120"/>
              </a:rPr>
              <a:t>SPP &amp; PANet</a:t>
            </a:r>
            <a:endParaRPr lang="en-US" sz="1600" dirty="0"/>
          </a:p>
        </p:txBody>
      </p:sp>
      <p:sp>
        <p:nvSpPr>
          <p:cNvPr id="38" name="Shape 35"/>
          <p:cNvSpPr/>
          <p:nvPr/>
        </p:nvSpPr>
        <p:spPr>
          <a:xfrm>
            <a:off x="8321636" y="53568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9810FA"/>
          </a:solidFill>
          <a:ln/>
        </p:spPr>
        <p:txBody>
          <a:bodyPr/>
          <a:lstStyle/>
          <a:p>
            <a:endParaRPr lang="en-US"/>
          </a:p>
        </p:txBody>
      </p:sp>
      <p:sp>
        <p:nvSpPr>
          <p:cNvPr id="39" name="Text 36"/>
          <p:cNvSpPr/>
          <p:nvPr/>
        </p:nvSpPr>
        <p:spPr>
          <a:xfrm>
            <a:off x="8540711" y="5326391"/>
            <a:ext cx="3190875" cy="228600"/>
          </a:xfrm>
          <a:prstGeom prst="rect">
            <a:avLst/>
          </a:prstGeom>
          <a:noFill/>
          <a:ln/>
        </p:spPr>
        <p:txBody>
          <a:bodyPr wrap="square" lIns="0" tIns="0" rIns="0" bIns="0" rtlCol="0" anchor="ctr"/>
          <a:lstStyle/>
          <a:p>
            <a:pPr>
              <a:lnSpc>
                <a:spcPct val="130000"/>
              </a:lnSpc>
            </a:pPr>
            <a:r>
              <a:rPr lang="en-US" sz="1200" dirty="0">
                <a:solidFill>
                  <a:srgbClr val="59168B"/>
                </a:solidFill>
                <a:latin typeface="Quattrocento Sans" pitchFamily="34" charset="0"/>
                <a:ea typeface="Quattrocento Sans" pitchFamily="34" charset="-122"/>
                <a:cs typeface="Quattrocento Sans" pitchFamily="34" charset="-120"/>
              </a:rPr>
              <a:t>Mosaic augmentation</a:t>
            </a:r>
            <a:endParaRPr lang="en-US" sz="1600" dirty="0"/>
          </a:p>
        </p:txBody>
      </p:sp>
      <p:sp>
        <p:nvSpPr>
          <p:cNvPr id="40" name="Shape 37"/>
          <p:cNvSpPr/>
          <p:nvPr/>
        </p:nvSpPr>
        <p:spPr>
          <a:xfrm>
            <a:off x="8321636" y="5623564"/>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9810FA"/>
          </a:solidFill>
          <a:ln/>
        </p:spPr>
        <p:txBody>
          <a:bodyPr/>
          <a:lstStyle/>
          <a:p>
            <a:endParaRPr lang="en-US"/>
          </a:p>
        </p:txBody>
      </p:sp>
      <p:sp>
        <p:nvSpPr>
          <p:cNvPr id="41" name="Text 38"/>
          <p:cNvSpPr/>
          <p:nvPr/>
        </p:nvSpPr>
        <p:spPr>
          <a:xfrm>
            <a:off x="8540711" y="5593091"/>
            <a:ext cx="3190875" cy="228600"/>
          </a:xfrm>
          <a:prstGeom prst="rect">
            <a:avLst/>
          </a:prstGeom>
          <a:noFill/>
          <a:ln/>
        </p:spPr>
        <p:txBody>
          <a:bodyPr wrap="square" lIns="0" tIns="0" rIns="0" bIns="0" rtlCol="0" anchor="ctr"/>
          <a:lstStyle/>
          <a:p>
            <a:pPr>
              <a:lnSpc>
                <a:spcPct val="130000"/>
              </a:lnSpc>
            </a:pPr>
            <a:r>
              <a:rPr lang="en-US" sz="1200" dirty="0">
                <a:solidFill>
                  <a:srgbClr val="59168B"/>
                </a:solidFill>
                <a:latin typeface="Quattrocento Sans" pitchFamily="34" charset="0"/>
                <a:ea typeface="Quattrocento Sans" pitchFamily="34" charset="-122"/>
                <a:cs typeface="Quattrocento Sans" pitchFamily="34" charset="-120"/>
              </a:rPr>
              <a:t>Anchor-free (v8)</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09</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Limitations &amp;</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Challenges</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Understanding YOLO's weaknesses</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9.1 LIMITATIONS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YOLO's Key Limitations</a:t>
            </a:r>
            <a:endParaRPr lang="en-US" sz="1600" dirty="0"/>
          </a:p>
        </p:txBody>
      </p:sp>
      <p:sp>
        <p:nvSpPr>
          <p:cNvPr id="4" name="Shape 2"/>
          <p:cNvSpPr/>
          <p:nvPr/>
        </p:nvSpPr>
        <p:spPr>
          <a:xfrm>
            <a:off x="333375" y="952500"/>
            <a:ext cx="5699125" cy="2079625"/>
          </a:xfrm>
          <a:custGeom>
            <a:avLst/>
            <a:gdLst/>
            <a:ahLst/>
            <a:cxnLst/>
            <a:rect l="l" t="t" r="r" b="b"/>
            <a:pathLst>
              <a:path w="5699125" h="2079625">
                <a:moveTo>
                  <a:pt x="31750" y="0"/>
                </a:moveTo>
                <a:lnTo>
                  <a:pt x="5635634" y="0"/>
                </a:lnTo>
                <a:cubicBezTo>
                  <a:pt x="5670699" y="0"/>
                  <a:pt x="5699125" y="28426"/>
                  <a:pt x="5699125" y="63491"/>
                </a:cubicBezTo>
                <a:lnTo>
                  <a:pt x="5699125" y="2016134"/>
                </a:lnTo>
                <a:cubicBezTo>
                  <a:pt x="5699125" y="2051199"/>
                  <a:pt x="5670699" y="2079625"/>
                  <a:pt x="5635634" y="2079625"/>
                </a:cubicBezTo>
                <a:lnTo>
                  <a:pt x="31750" y="2079625"/>
                </a:lnTo>
                <a:cubicBezTo>
                  <a:pt x="14227" y="2079625"/>
                  <a:pt x="0" y="2065398"/>
                  <a:pt x="0" y="2047875"/>
                </a:cubicBezTo>
                <a:lnTo>
                  <a:pt x="0" y="31750"/>
                </a:lnTo>
                <a:cubicBezTo>
                  <a:pt x="0" y="14227"/>
                  <a:pt x="14227" y="0"/>
                  <a:pt x="31750" y="0"/>
                </a:cubicBezTo>
                <a:close/>
              </a:path>
            </a:pathLst>
          </a:custGeom>
          <a:solidFill>
            <a:srgbClr val="FEF2F2"/>
          </a:solidFill>
          <a:ln/>
        </p:spPr>
        <p:txBody>
          <a:bodyPr/>
          <a:lstStyle/>
          <a:p>
            <a:endParaRPr lang="en-US"/>
          </a:p>
        </p:txBody>
      </p:sp>
      <p:sp>
        <p:nvSpPr>
          <p:cNvPr id="5" name="Shape 3"/>
          <p:cNvSpPr/>
          <p:nvPr/>
        </p:nvSpPr>
        <p:spPr>
          <a:xfrm>
            <a:off x="333375" y="952500"/>
            <a:ext cx="31750" cy="2079625"/>
          </a:xfrm>
          <a:custGeom>
            <a:avLst/>
            <a:gdLst/>
            <a:ahLst/>
            <a:cxnLst/>
            <a:rect l="l" t="t" r="r" b="b"/>
            <a:pathLst>
              <a:path w="31750" h="2079625">
                <a:moveTo>
                  <a:pt x="31750" y="0"/>
                </a:moveTo>
                <a:lnTo>
                  <a:pt x="31750" y="0"/>
                </a:lnTo>
                <a:lnTo>
                  <a:pt x="31750" y="2079625"/>
                </a:lnTo>
                <a:lnTo>
                  <a:pt x="31750" y="2079625"/>
                </a:lnTo>
                <a:cubicBezTo>
                  <a:pt x="14227" y="2079625"/>
                  <a:pt x="0" y="2065398"/>
                  <a:pt x="0" y="2047875"/>
                </a:cubicBezTo>
                <a:lnTo>
                  <a:pt x="0" y="31750"/>
                </a:lnTo>
                <a:cubicBezTo>
                  <a:pt x="0" y="14227"/>
                  <a:pt x="14227" y="0"/>
                  <a:pt x="31750" y="0"/>
                </a:cubicBezTo>
                <a:close/>
              </a:path>
            </a:pathLst>
          </a:custGeom>
          <a:solidFill>
            <a:srgbClr val="FB2C36"/>
          </a:solidFill>
          <a:ln/>
        </p:spPr>
        <p:txBody>
          <a:bodyPr/>
          <a:lstStyle/>
          <a:p>
            <a:endParaRPr lang="en-US"/>
          </a:p>
        </p:txBody>
      </p:sp>
      <p:sp>
        <p:nvSpPr>
          <p:cNvPr id="6" name="Shape 4"/>
          <p:cNvSpPr/>
          <p:nvPr/>
        </p:nvSpPr>
        <p:spPr>
          <a:xfrm>
            <a:off x="476250" y="10795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B2C36"/>
          </a:solidFill>
          <a:ln/>
        </p:spPr>
        <p:txBody>
          <a:bodyPr/>
          <a:lstStyle/>
          <a:p>
            <a:endParaRPr lang="en-US"/>
          </a:p>
        </p:txBody>
      </p:sp>
      <p:sp>
        <p:nvSpPr>
          <p:cNvPr id="7" name="Shape 5"/>
          <p:cNvSpPr/>
          <p:nvPr/>
        </p:nvSpPr>
        <p:spPr>
          <a:xfrm>
            <a:off x="583406" y="1174750"/>
            <a:ext cx="166688" cy="190500"/>
          </a:xfrm>
          <a:custGeom>
            <a:avLst/>
            <a:gdLst/>
            <a:ahLst/>
            <a:cxnLst/>
            <a:rect l="l" t="t" r="r" b="b"/>
            <a:pathLst>
              <a:path w="166688" h="190500">
                <a:moveTo>
                  <a:pt x="59531" y="23812"/>
                </a:moveTo>
                <a:cubicBezTo>
                  <a:pt x="59531" y="17227"/>
                  <a:pt x="54211" y="11906"/>
                  <a:pt x="47625" y="11906"/>
                </a:cubicBezTo>
                <a:cubicBezTo>
                  <a:pt x="41039" y="11906"/>
                  <a:pt x="35719" y="17227"/>
                  <a:pt x="35719" y="23812"/>
                </a:cubicBezTo>
                <a:lnTo>
                  <a:pt x="35719" y="47625"/>
                </a:lnTo>
                <a:lnTo>
                  <a:pt x="11906" y="47625"/>
                </a:lnTo>
                <a:cubicBezTo>
                  <a:pt x="5321" y="47625"/>
                  <a:pt x="0" y="52946"/>
                  <a:pt x="0" y="59531"/>
                </a:cubicBezTo>
                <a:cubicBezTo>
                  <a:pt x="0" y="66117"/>
                  <a:pt x="5321" y="71438"/>
                  <a:pt x="11906" y="71438"/>
                </a:cubicBezTo>
                <a:lnTo>
                  <a:pt x="47625" y="71438"/>
                </a:lnTo>
                <a:cubicBezTo>
                  <a:pt x="54211" y="71438"/>
                  <a:pt x="59531" y="66117"/>
                  <a:pt x="59531" y="59531"/>
                </a:cubicBezTo>
                <a:lnTo>
                  <a:pt x="59531" y="23812"/>
                </a:lnTo>
                <a:close/>
                <a:moveTo>
                  <a:pt x="11906" y="119063"/>
                </a:moveTo>
                <a:cubicBezTo>
                  <a:pt x="5321" y="119063"/>
                  <a:pt x="0" y="124383"/>
                  <a:pt x="0" y="130969"/>
                </a:cubicBezTo>
                <a:cubicBezTo>
                  <a:pt x="0" y="137554"/>
                  <a:pt x="5321" y="142875"/>
                  <a:pt x="11906" y="142875"/>
                </a:cubicBezTo>
                <a:lnTo>
                  <a:pt x="35719" y="142875"/>
                </a:lnTo>
                <a:lnTo>
                  <a:pt x="35719" y="166688"/>
                </a:lnTo>
                <a:cubicBezTo>
                  <a:pt x="35719" y="173273"/>
                  <a:pt x="41039" y="178594"/>
                  <a:pt x="47625" y="178594"/>
                </a:cubicBezTo>
                <a:cubicBezTo>
                  <a:pt x="54211" y="178594"/>
                  <a:pt x="59531" y="173273"/>
                  <a:pt x="59531" y="166688"/>
                </a:cubicBezTo>
                <a:lnTo>
                  <a:pt x="59531" y="130969"/>
                </a:lnTo>
                <a:cubicBezTo>
                  <a:pt x="59531" y="124383"/>
                  <a:pt x="54211" y="119063"/>
                  <a:pt x="47625" y="119063"/>
                </a:cubicBezTo>
                <a:lnTo>
                  <a:pt x="11906" y="119063"/>
                </a:lnTo>
                <a:close/>
                <a:moveTo>
                  <a:pt x="130969" y="23812"/>
                </a:moveTo>
                <a:cubicBezTo>
                  <a:pt x="130969" y="17227"/>
                  <a:pt x="125648" y="11906"/>
                  <a:pt x="119063" y="11906"/>
                </a:cubicBezTo>
                <a:cubicBezTo>
                  <a:pt x="112477" y="11906"/>
                  <a:pt x="107156" y="17227"/>
                  <a:pt x="107156" y="23812"/>
                </a:cubicBezTo>
                <a:lnTo>
                  <a:pt x="107156" y="59531"/>
                </a:lnTo>
                <a:cubicBezTo>
                  <a:pt x="107156" y="66117"/>
                  <a:pt x="112477" y="71438"/>
                  <a:pt x="119063" y="71438"/>
                </a:cubicBezTo>
                <a:lnTo>
                  <a:pt x="154781" y="71438"/>
                </a:lnTo>
                <a:cubicBezTo>
                  <a:pt x="161367" y="71438"/>
                  <a:pt x="166688" y="66117"/>
                  <a:pt x="166688" y="59531"/>
                </a:cubicBezTo>
                <a:cubicBezTo>
                  <a:pt x="166688" y="52946"/>
                  <a:pt x="161367" y="47625"/>
                  <a:pt x="154781" y="47625"/>
                </a:cubicBezTo>
                <a:lnTo>
                  <a:pt x="130969" y="47625"/>
                </a:lnTo>
                <a:lnTo>
                  <a:pt x="130969" y="23812"/>
                </a:lnTo>
                <a:close/>
                <a:moveTo>
                  <a:pt x="119063" y="119063"/>
                </a:moveTo>
                <a:cubicBezTo>
                  <a:pt x="112477" y="119063"/>
                  <a:pt x="107156" y="124383"/>
                  <a:pt x="107156" y="130969"/>
                </a:cubicBezTo>
                <a:lnTo>
                  <a:pt x="107156" y="166688"/>
                </a:lnTo>
                <a:cubicBezTo>
                  <a:pt x="107156" y="173273"/>
                  <a:pt x="112477" y="178594"/>
                  <a:pt x="119063" y="178594"/>
                </a:cubicBezTo>
                <a:cubicBezTo>
                  <a:pt x="125648" y="178594"/>
                  <a:pt x="130969" y="173273"/>
                  <a:pt x="130969" y="166688"/>
                </a:cubicBezTo>
                <a:lnTo>
                  <a:pt x="130969" y="142875"/>
                </a:lnTo>
                <a:lnTo>
                  <a:pt x="154781" y="142875"/>
                </a:lnTo>
                <a:cubicBezTo>
                  <a:pt x="161367" y="142875"/>
                  <a:pt x="166688" y="137554"/>
                  <a:pt x="166688" y="130969"/>
                </a:cubicBezTo>
                <a:cubicBezTo>
                  <a:pt x="166688" y="124383"/>
                  <a:pt x="161367" y="119063"/>
                  <a:pt x="154781" y="119063"/>
                </a:cubicBezTo>
                <a:lnTo>
                  <a:pt x="119063" y="119063"/>
                </a:lnTo>
                <a:close/>
              </a:path>
            </a:pathLst>
          </a:custGeom>
          <a:solidFill>
            <a:srgbClr val="FFFFFF"/>
          </a:solidFill>
          <a:ln/>
        </p:spPr>
        <p:txBody>
          <a:bodyPr/>
          <a:lstStyle/>
          <a:p>
            <a:endParaRPr lang="en-US"/>
          </a:p>
        </p:txBody>
      </p:sp>
      <p:sp>
        <p:nvSpPr>
          <p:cNvPr id="8" name="Text 6"/>
          <p:cNvSpPr/>
          <p:nvPr/>
        </p:nvSpPr>
        <p:spPr>
          <a:xfrm>
            <a:off x="952500" y="1158875"/>
            <a:ext cx="1809750" cy="222250"/>
          </a:xfrm>
          <a:prstGeom prst="rect">
            <a:avLst/>
          </a:prstGeom>
          <a:noFill/>
          <a:ln/>
        </p:spPr>
        <p:txBody>
          <a:bodyPr wrap="square" lIns="0" tIns="0" rIns="0" bIns="0" rtlCol="0" anchor="ctr"/>
          <a:lstStyle/>
          <a:p>
            <a:pPr>
              <a:lnSpc>
                <a:spcPct val="120000"/>
              </a:lnSpc>
            </a:pPr>
            <a:r>
              <a:rPr lang="en-US" sz="1250" b="1" dirty="0">
                <a:solidFill>
                  <a:srgbClr val="82181A"/>
                </a:solidFill>
                <a:latin typeface="Sorts Mill Goudy" pitchFamily="34" charset="0"/>
                <a:ea typeface="Sorts Mill Goudy" pitchFamily="34" charset="-122"/>
                <a:cs typeface="Sorts Mill Goudy" pitchFamily="34" charset="-120"/>
              </a:rPr>
              <a:t>1. Small Object Detection</a:t>
            </a:r>
            <a:endParaRPr lang="en-US" sz="1600" dirty="0"/>
          </a:p>
        </p:txBody>
      </p:sp>
      <p:sp>
        <p:nvSpPr>
          <p:cNvPr id="9" name="Text 7"/>
          <p:cNvSpPr/>
          <p:nvPr/>
        </p:nvSpPr>
        <p:spPr>
          <a:xfrm>
            <a:off x="476250" y="1524000"/>
            <a:ext cx="5492750" cy="381000"/>
          </a:xfrm>
          <a:prstGeom prst="rect">
            <a:avLst/>
          </a:prstGeom>
          <a:noFill/>
          <a:ln/>
        </p:spPr>
        <p:txBody>
          <a:bodyPr wrap="square" lIns="0" tIns="0" rIns="0" bIns="0" rtlCol="0" anchor="ctr"/>
          <a:lstStyle/>
          <a:p>
            <a:pPr>
              <a:lnSpc>
                <a:spcPct val="130000"/>
              </a:lnSpc>
            </a:pPr>
            <a:r>
              <a:rPr lang="en-US" sz="1000" b="1" dirty="0">
                <a:solidFill>
                  <a:srgbClr val="9F0712"/>
                </a:solidFill>
                <a:latin typeface="Quattrocento Sans" pitchFamily="34" charset="0"/>
                <a:ea typeface="Quattrocento Sans" pitchFamily="34" charset="-122"/>
                <a:cs typeface="Quattrocento Sans" pitchFamily="34" charset="-120"/>
              </a:rPr>
              <a:t>Problem:</a:t>
            </a:r>
            <a:r>
              <a:rPr lang="en-US" sz="1000" dirty="0">
                <a:solidFill>
                  <a:srgbClr val="9F0712"/>
                </a:solidFill>
                <a:latin typeface="Quattrocento Sans" pitchFamily="34" charset="0"/>
                <a:ea typeface="Quattrocento Sans" pitchFamily="34" charset="-122"/>
                <a:cs typeface="Quattrocento Sans" pitchFamily="34" charset="-120"/>
              </a:rPr>
              <a:t> YOLO struggles with tiny objects or groups of small objects (e.g., flock of birds) due to spatial constraints.</a:t>
            </a:r>
            <a:endParaRPr lang="en-US" sz="1600" dirty="0"/>
          </a:p>
        </p:txBody>
      </p:sp>
      <p:sp>
        <p:nvSpPr>
          <p:cNvPr id="10" name="Shape 8"/>
          <p:cNvSpPr/>
          <p:nvPr/>
        </p:nvSpPr>
        <p:spPr>
          <a:xfrm>
            <a:off x="479425" y="1971675"/>
            <a:ext cx="5419725" cy="577850"/>
          </a:xfrm>
          <a:custGeom>
            <a:avLst/>
            <a:gdLst/>
            <a:ahLst/>
            <a:cxnLst/>
            <a:rect l="l" t="t" r="r" b="b"/>
            <a:pathLst>
              <a:path w="5419725" h="577850">
                <a:moveTo>
                  <a:pt x="31753" y="0"/>
                </a:moveTo>
                <a:lnTo>
                  <a:pt x="5387972" y="0"/>
                </a:lnTo>
                <a:cubicBezTo>
                  <a:pt x="5405497" y="0"/>
                  <a:pt x="5419725" y="14228"/>
                  <a:pt x="5419725" y="31753"/>
                </a:cubicBezTo>
                <a:lnTo>
                  <a:pt x="5419725" y="546097"/>
                </a:lnTo>
                <a:cubicBezTo>
                  <a:pt x="5419725" y="563622"/>
                  <a:pt x="5405497" y="577850"/>
                  <a:pt x="5387972" y="577850"/>
                </a:cubicBezTo>
                <a:lnTo>
                  <a:pt x="31753" y="577850"/>
                </a:lnTo>
                <a:cubicBezTo>
                  <a:pt x="14228" y="577850"/>
                  <a:pt x="0" y="563622"/>
                  <a:pt x="0" y="546097"/>
                </a:cubicBezTo>
                <a:lnTo>
                  <a:pt x="0" y="31753"/>
                </a:lnTo>
                <a:cubicBezTo>
                  <a:pt x="0" y="14228"/>
                  <a:pt x="14228" y="0"/>
                  <a:pt x="31753" y="0"/>
                </a:cubicBezTo>
                <a:close/>
              </a:path>
            </a:pathLst>
          </a:custGeom>
          <a:solidFill>
            <a:srgbClr val="FFFFFF"/>
          </a:solidFill>
          <a:ln w="10160">
            <a:solidFill>
              <a:srgbClr val="FFA2A2"/>
            </a:solidFill>
            <a:prstDash val="solid"/>
          </a:ln>
        </p:spPr>
        <p:txBody>
          <a:bodyPr/>
          <a:lstStyle/>
          <a:p>
            <a:endParaRPr lang="en-US"/>
          </a:p>
        </p:txBody>
      </p:sp>
      <p:sp>
        <p:nvSpPr>
          <p:cNvPr id="11" name="Text 9"/>
          <p:cNvSpPr/>
          <p:nvPr/>
        </p:nvSpPr>
        <p:spPr>
          <a:xfrm>
            <a:off x="577850" y="2070106"/>
            <a:ext cx="5286375" cy="381000"/>
          </a:xfrm>
          <a:prstGeom prst="rect">
            <a:avLst/>
          </a:prstGeom>
          <a:noFill/>
          <a:ln/>
        </p:spPr>
        <p:txBody>
          <a:bodyPr wrap="square" lIns="0" tIns="0" rIns="0" bIns="0" rtlCol="0" anchor="ctr"/>
          <a:lstStyle/>
          <a:p>
            <a:pPr>
              <a:lnSpc>
                <a:spcPct val="130000"/>
              </a:lnSpc>
            </a:pPr>
            <a:r>
              <a:rPr lang="en-US" sz="1000" b="1" dirty="0">
                <a:solidFill>
                  <a:srgbClr val="9F0712"/>
                </a:solidFill>
                <a:latin typeface="Quattrocento Sans" pitchFamily="34" charset="0"/>
                <a:ea typeface="Quattrocento Sans" pitchFamily="34" charset="-122"/>
                <a:cs typeface="Quattrocento Sans" pitchFamily="34" charset="-120"/>
              </a:rPr>
              <a:t>Why:</a:t>
            </a:r>
            <a:r>
              <a:rPr lang="en-US" sz="1000" dirty="0">
                <a:solidFill>
                  <a:srgbClr val="9F0712"/>
                </a:solidFill>
                <a:latin typeface="Quattrocento Sans" pitchFamily="34" charset="0"/>
                <a:ea typeface="Quattrocento Sans" pitchFamily="34" charset="-122"/>
                <a:cs typeface="Quattrocento Sans" pitchFamily="34" charset="-120"/>
              </a:rPr>
              <a:t> Small objects may occupy a single grid cell with insufficient pixel information after downsampling through CNN layers.</a:t>
            </a:r>
            <a:endParaRPr lang="en-US" sz="1600" dirty="0"/>
          </a:p>
        </p:txBody>
      </p:sp>
      <p:sp>
        <p:nvSpPr>
          <p:cNvPr id="12" name="Shape 10"/>
          <p:cNvSpPr/>
          <p:nvPr/>
        </p:nvSpPr>
        <p:spPr>
          <a:xfrm>
            <a:off x="476250" y="2616197"/>
            <a:ext cx="5429250" cy="285750"/>
          </a:xfrm>
          <a:custGeom>
            <a:avLst/>
            <a:gdLst/>
            <a:ahLst/>
            <a:cxnLst/>
            <a:rect l="l" t="t" r="r" b="b"/>
            <a:pathLst>
              <a:path w="5429250" h="285750">
                <a:moveTo>
                  <a:pt x="31750" y="0"/>
                </a:moveTo>
                <a:lnTo>
                  <a:pt x="5397500" y="0"/>
                </a:lnTo>
                <a:cubicBezTo>
                  <a:pt x="5415035" y="0"/>
                  <a:pt x="5429250" y="14215"/>
                  <a:pt x="5429250" y="31750"/>
                </a:cubicBezTo>
                <a:lnTo>
                  <a:pt x="5429250" y="254000"/>
                </a:lnTo>
                <a:cubicBezTo>
                  <a:pt x="5429250" y="271535"/>
                  <a:pt x="5415035" y="285750"/>
                  <a:pt x="5397500" y="285750"/>
                </a:cubicBezTo>
                <a:lnTo>
                  <a:pt x="31750" y="285750"/>
                </a:lnTo>
                <a:cubicBezTo>
                  <a:pt x="14215" y="285750"/>
                  <a:pt x="0" y="271535"/>
                  <a:pt x="0" y="254000"/>
                </a:cubicBezTo>
                <a:lnTo>
                  <a:pt x="0" y="31750"/>
                </a:lnTo>
                <a:cubicBezTo>
                  <a:pt x="0" y="14227"/>
                  <a:pt x="14227" y="0"/>
                  <a:pt x="31750" y="0"/>
                </a:cubicBezTo>
                <a:close/>
              </a:path>
            </a:pathLst>
          </a:custGeom>
          <a:solidFill>
            <a:srgbClr val="DCFCE7"/>
          </a:solidFill>
          <a:ln/>
        </p:spPr>
        <p:txBody>
          <a:bodyPr/>
          <a:lstStyle/>
          <a:p>
            <a:endParaRPr lang="en-US"/>
          </a:p>
        </p:txBody>
      </p:sp>
      <p:sp>
        <p:nvSpPr>
          <p:cNvPr id="13" name="Shape 11"/>
          <p:cNvSpPr/>
          <p:nvPr/>
        </p:nvSpPr>
        <p:spPr>
          <a:xfrm>
            <a:off x="548680" y="2698750"/>
            <a:ext cx="125016" cy="111125"/>
          </a:xfrm>
          <a:custGeom>
            <a:avLst/>
            <a:gdLst/>
            <a:ahLst/>
            <a:cxnLst/>
            <a:rect l="l" t="t" r="r" b="b"/>
            <a:pathLst>
              <a:path w="125016" h="111125">
                <a:moveTo>
                  <a:pt x="110561" y="21400"/>
                </a:moveTo>
                <a:cubicBezTo>
                  <a:pt x="112210" y="19751"/>
                  <a:pt x="114967" y="20163"/>
                  <a:pt x="115791" y="22334"/>
                </a:cubicBezTo>
                <a:cubicBezTo>
                  <a:pt x="117267" y="26175"/>
                  <a:pt x="118070" y="30364"/>
                  <a:pt x="118070" y="34727"/>
                </a:cubicBezTo>
                <a:cubicBezTo>
                  <a:pt x="118070" y="53913"/>
                  <a:pt x="102530" y="69453"/>
                  <a:pt x="83344" y="69453"/>
                </a:cubicBezTo>
                <a:cubicBezTo>
                  <a:pt x="79546" y="69453"/>
                  <a:pt x="75878" y="68845"/>
                  <a:pt x="72448" y="67717"/>
                </a:cubicBezTo>
                <a:lnTo>
                  <a:pt x="31883" y="108282"/>
                </a:lnTo>
                <a:cubicBezTo>
                  <a:pt x="25784" y="114381"/>
                  <a:pt x="15887" y="114381"/>
                  <a:pt x="9789" y="108282"/>
                </a:cubicBezTo>
                <a:cubicBezTo>
                  <a:pt x="3690" y="102183"/>
                  <a:pt x="3690" y="92286"/>
                  <a:pt x="9789" y="86187"/>
                </a:cubicBezTo>
                <a:lnTo>
                  <a:pt x="50354" y="45622"/>
                </a:lnTo>
                <a:cubicBezTo>
                  <a:pt x="49225" y="42193"/>
                  <a:pt x="48617" y="38546"/>
                  <a:pt x="48617" y="34727"/>
                </a:cubicBezTo>
                <a:cubicBezTo>
                  <a:pt x="48617" y="15540"/>
                  <a:pt x="64157" y="0"/>
                  <a:pt x="83344" y="0"/>
                </a:cubicBezTo>
                <a:cubicBezTo>
                  <a:pt x="87706" y="0"/>
                  <a:pt x="91895" y="803"/>
                  <a:pt x="95737" y="2279"/>
                </a:cubicBezTo>
                <a:cubicBezTo>
                  <a:pt x="97907" y="3104"/>
                  <a:pt x="98298" y="5860"/>
                  <a:pt x="96670" y="7510"/>
                </a:cubicBezTo>
                <a:lnTo>
                  <a:pt x="77419" y="26761"/>
                </a:lnTo>
                <a:cubicBezTo>
                  <a:pt x="76767" y="27412"/>
                  <a:pt x="76398" y="28302"/>
                  <a:pt x="76398" y="29214"/>
                </a:cubicBezTo>
                <a:lnTo>
                  <a:pt x="76398" y="38199"/>
                </a:lnTo>
                <a:cubicBezTo>
                  <a:pt x="76398" y="40109"/>
                  <a:pt x="77961" y="41672"/>
                  <a:pt x="79871" y="41672"/>
                </a:cubicBezTo>
                <a:lnTo>
                  <a:pt x="88857" y="41672"/>
                </a:lnTo>
                <a:cubicBezTo>
                  <a:pt x="89768" y="41672"/>
                  <a:pt x="90658" y="41303"/>
                  <a:pt x="91309" y="40652"/>
                </a:cubicBezTo>
                <a:lnTo>
                  <a:pt x="110561" y="21400"/>
                </a:lnTo>
                <a:close/>
              </a:path>
            </a:pathLst>
          </a:custGeom>
          <a:solidFill>
            <a:srgbClr val="016630"/>
          </a:solidFill>
          <a:ln/>
        </p:spPr>
        <p:txBody>
          <a:bodyPr/>
          <a:lstStyle/>
          <a:p>
            <a:endParaRPr lang="en-US"/>
          </a:p>
        </p:txBody>
      </p:sp>
      <p:sp>
        <p:nvSpPr>
          <p:cNvPr id="14" name="Text 12"/>
          <p:cNvSpPr/>
          <p:nvPr/>
        </p:nvSpPr>
        <p:spPr>
          <a:xfrm>
            <a:off x="722313" y="2679697"/>
            <a:ext cx="5175250" cy="158750"/>
          </a:xfrm>
          <a:prstGeom prst="rect">
            <a:avLst/>
          </a:prstGeom>
          <a:noFill/>
          <a:ln/>
        </p:spPr>
        <p:txBody>
          <a:bodyPr wrap="square" lIns="0" tIns="0" rIns="0" bIns="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Solutions:</a:t>
            </a:r>
            <a:r>
              <a:rPr lang="en-US" sz="875" dirty="0">
                <a:solidFill>
                  <a:srgbClr val="016630"/>
                </a:solidFill>
                <a:latin typeface="Quattrocento Sans" pitchFamily="34" charset="0"/>
                <a:ea typeface="Quattrocento Sans" pitchFamily="34" charset="-122"/>
                <a:cs typeface="Quattrocento Sans" pitchFamily="34" charset="-120"/>
              </a:rPr>
              <a:t> Multi-scale training, Feature Pyramid Networks (FPN), higher resolution inputs</a:t>
            </a:r>
            <a:endParaRPr lang="en-US" sz="1600" dirty="0"/>
          </a:p>
        </p:txBody>
      </p:sp>
      <p:sp>
        <p:nvSpPr>
          <p:cNvPr id="15" name="Shape 13"/>
          <p:cNvSpPr/>
          <p:nvPr/>
        </p:nvSpPr>
        <p:spPr>
          <a:xfrm>
            <a:off x="333375" y="3124197"/>
            <a:ext cx="5699125" cy="1889125"/>
          </a:xfrm>
          <a:custGeom>
            <a:avLst/>
            <a:gdLst/>
            <a:ahLst/>
            <a:cxnLst/>
            <a:rect l="l" t="t" r="r" b="b"/>
            <a:pathLst>
              <a:path w="5699125" h="1889125">
                <a:moveTo>
                  <a:pt x="31750" y="0"/>
                </a:moveTo>
                <a:lnTo>
                  <a:pt x="5635632" y="0"/>
                </a:lnTo>
                <a:cubicBezTo>
                  <a:pt x="5670698" y="0"/>
                  <a:pt x="5699125" y="28427"/>
                  <a:pt x="5699125" y="63493"/>
                </a:cubicBezTo>
                <a:lnTo>
                  <a:pt x="5699125" y="1825632"/>
                </a:lnTo>
                <a:cubicBezTo>
                  <a:pt x="5699125" y="1860698"/>
                  <a:pt x="5670698" y="1889125"/>
                  <a:pt x="5635632" y="1889125"/>
                </a:cubicBezTo>
                <a:lnTo>
                  <a:pt x="31750" y="1889125"/>
                </a:lnTo>
                <a:cubicBezTo>
                  <a:pt x="14227" y="1889125"/>
                  <a:pt x="0" y="1874898"/>
                  <a:pt x="0" y="1857375"/>
                </a:cubicBezTo>
                <a:lnTo>
                  <a:pt x="0" y="31750"/>
                </a:lnTo>
                <a:cubicBezTo>
                  <a:pt x="0" y="14227"/>
                  <a:pt x="14227" y="0"/>
                  <a:pt x="31750" y="0"/>
                </a:cubicBezTo>
                <a:close/>
              </a:path>
            </a:pathLst>
          </a:custGeom>
          <a:solidFill>
            <a:srgbClr val="FFF7ED"/>
          </a:solidFill>
          <a:ln/>
        </p:spPr>
        <p:txBody>
          <a:bodyPr/>
          <a:lstStyle/>
          <a:p>
            <a:endParaRPr lang="en-US"/>
          </a:p>
        </p:txBody>
      </p:sp>
      <p:sp>
        <p:nvSpPr>
          <p:cNvPr id="16" name="Shape 14"/>
          <p:cNvSpPr/>
          <p:nvPr/>
        </p:nvSpPr>
        <p:spPr>
          <a:xfrm>
            <a:off x="333375" y="3124197"/>
            <a:ext cx="31750" cy="1889125"/>
          </a:xfrm>
          <a:custGeom>
            <a:avLst/>
            <a:gdLst/>
            <a:ahLst/>
            <a:cxnLst/>
            <a:rect l="l" t="t" r="r" b="b"/>
            <a:pathLst>
              <a:path w="31750" h="1889125">
                <a:moveTo>
                  <a:pt x="31750" y="0"/>
                </a:moveTo>
                <a:lnTo>
                  <a:pt x="31750" y="0"/>
                </a:lnTo>
                <a:lnTo>
                  <a:pt x="31750" y="1889125"/>
                </a:lnTo>
                <a:lnTo>
                  <a:pt x="31750" y="1889125"/>
                </a:lnTo>
                <a:cubicBezTo>
                  <a:pt x="14227" y="1889125"/>
                  <a:pt x="0" y="1874898"/>
                  <a:pt x="0" y="1857375"/>
                </a:cubicBezTo>
                <a:lnTo>
                  <a:pt x="0" y="31750"/>
                </a:lnTo>
                <a:cubicBezTo>
                  <a:pt x="0" y="14227"/>
                  <a:pt x="14227" y="0"/>
                  <a:pt x="31750" y="0"/>
                </a:cubicBezTo>
                <a:close/>
              </a:path>
            </a:pathLst>
          </a:custGeom>
          <a:solidFill>
            <a:srgbClr val="FF6900"/>
          </a:solidFill>
          <a:ln/>
        </p:spPr>
        <p:txBody>
          <a:bodyPr/>
          <a:lstStyle/>
          <a:p>
            <a:endParaRPr lang="en-US"/>
          </a:p>
        </p:txBody>
      </p:sp>
      <p:sp>
        <p:nvSpPr>
          <p:cNvPr id="17" name="Shape 15"/>
          <p:cNvSpPr/>
          <p:nvPr/>
        </p:nvSpPr>
        <p:spPr>
          <a:xfrm>
            <a:off x="476250" y="3251197"/>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6900"/>
          </a:solidFill>
          <a:ln/>
        </p:spPr>
        <p:txBody>
          <a:bodyPr/>
          <a:lstStyle/>
          <a:p>
            <a:endParaRPr lang="en-US"/>
          </a:p>
        </p:txBody>
      </p:sp>
      <p:sp>
        <p:nvSpPr>
          <p:cNvPr id="18" name="Shape 16"/>
          <p:cNvSpPr/>
          <p:nvPr/>
        </p:nvSpPr>
        <p:spPr>
          <a:xfrm>
            <a:off x="559594" y="3346447"/>
            <a:ext cx="214313" cy="190500"/>
          </a:xfrm>
          <a:custGeom>
            <a:avLst/>
            <a:gdLst/>
            <a:ahLst/>
            <a:cxnLst/>
            <a:rect l="l" t="t" r="r" b="b"/>
            <a:pathLst>
              <a:path w="214313" h="190500">
                <a:moveTo>
                  <a:pt x="11906" y="44425"/>
                </a:moveTo>
                <a:cubicBezTo>
                  <a:pt x="4800" y="40332"/>
                  <a:pt x="0" y="32631"/>
                  <a:pt x="0" y="23812"/>
                </a:cubicBezTo>
                <a:cubicBezTo>
                  <a:pt x="0" y="10678"/>
                  <a:pt x="10678" y="0"/>
                  <a:pt x="23812" y="0"/>
                </a:cubicBezTo>
                <a:cubicBezTo>
                  <a:pt x="32631" y="0"/>
                  <a:pt x="40332" y="4800"/>
                  <a:pt x="44425" y="11906"/>
                </a:cubicBezTo>
                <a:lnTo>
                  <a:pt x="169850" y="11906"/>
                </a:lnTo>
                <a:cubicBezTo>
                  <a:pt x="173980" y="4800"/>
                  <a:pt x="181645" y="0"/>
                  <a:pt x="190463" y="0"/>
                </a:cubicBezTo>
                <a:cubicBezTo>
                  <a:pt x="203597" y="0"/>
                  <a:pt x="214275" y="10678"/>
                  <a:pt x="214275" y="23812"/>
                </a:cubicBezTo>
                <a:cubicBezTo>
                  <a:pt x="214275" y="32631"/>
                  <a:pt x="209476" y="40332"/>
                  <a:pt x="202369" y="44425"/>
                </a:cubicBezTo>
                <a:lnTo>
                  <a:pt x="202369" y="146038"/>
                </a:lnTo>
                <a:cubicBezTo>
                  <a:pt x="209476" y="150168"/>
                  <a:pt x="214275" y="157832"/>
                  <a:pt x="214275" y="166650"/>
                </a:cubicBezTo>
                <a:cubicBezTo>
                  <a:pt x="214275" y="179784"/>
                  <a:pt x="203597" y="190463"/>
                  <a:pt x="190463" y="190463"/>
                </a:cubicBezTo>
                <a:cubicBezTo>
                  <a:pt x="181645" y="190463"/>
                  <a:pt x="173943" y="185663"/>
                  <a:pt x="169850" y="178557"/>
                </a:cubicBezTo>
                <a:lnTo>
                  <a:pt x="44425" y="178557"/>
                </a:lnTo>
                <a:cubicBezTo>
                  <a:pt x="40295" y="185663"/>
                  <a:pt x="32631" y="190463"/>
                  <a:pt x="23812" y="190463"/>
                </a:cubicBezTo>
                <a:cubicBezTo>
                  <a:pt x="10678" y="190463"/>
                  <a:pt x="0" y="179784"/>
                  <a:pt x="0" y="166650"/>
                </a:cubicBezTo>
                <a:cubicBezTo>
                  <a:pt x="0" y="157832"/>
                  <a:pt x="4800" y="150130"/>
                  <a:pt x="11906" y="146038"/>
                </a:cubicBezTo>
                <a:lnTo>
                  <a:pt x="11906" y="44425"/>
                </a:lnTo>
                <a:close/>
                <a:moveTo>
                  <a:pt x="178594" y="44425"/>
                </a:moveTo>
                <a:cubicBezTo>
                  <a:pt x="174985" y="42342"/>
                  <a:pt x="171971" y="39328"/>
                  <a:pt x="169887" y="35719"/>
                </a:cubicBezTo>
                <a:lnTo>
                  <a:pt x="44425" y="35719"/>
                </a:lnTo>
                <a:cubicBezTo>
                  <a:pt x="42342" y="39328"/>
                  <a:pt x="39328" y="42342"/>
                  <a:pt x="35719" y="44425"/>
                </a:cubicBezTo>
                <a:lnTo>
                  <a:pt x="35719" y="146038"/>
                </a:lnTo>
                <a:cubicBezTo>
                  <a:pt x="39328" y="148121"/>
                  <a:pt x="42342" y="151135"/>
                  <a:pt x="44425" y="154744"/>
                </a:cubicBezTo>
                <a:lnTo>
                  <a:pt x="169850" y="154744"/>
                </a:lnTo>
                <a:cubicBezTo>
                  <a:pt x="171934" y="151135"/>
                  <a:pt x="174947" y="148121"/>
                  <a:pt x="178557" y="146038"/>
                </a:cubicBezTo>
                <a:lnTo>
                  <a:pt x="178557" y="44425"/>
                </a:lnTo>
                <a:close/>
                <a:moveTo>
                  <a:pt x="53578" y="65484"/>
                </a:moveTo>
                <a:cubicBezTo>
                  <a:pt x="53578" y="58899"/>
                  <a:pt x="58899" y="53578"/>
                  <a:pt x="65484" y="53578"/>
                </a:cubicBezTo>
                <a:lnTo>
                  <a:pt x="107156" y="53578"/>
                </a:lnTo>
                <a:cubicBezTo>
                  <a:pt x="113742" y="53578"/>
                  <a:pt x="119063" y="58899"/>
                  <a:pt x="119063" y="65484"/>
                </a:cubicBezTo>
                <a:lnTo>
                  <a:pt x="119063" y="89297"/>
                </a:lnTo>
                <a:cubicBezTo>
                  <a:pt x="119063" y="95883"/>
                  <a:pt x="113742" y="101203"/>
                  <a:pt x="107156" y="101203"/>
                </a:cubicBezTo>
                <a:lnTo>
                  <a:pt x="65484" y="101203"/>
                </a:lnTo>
                <a:cubicBezTo>
                  <a:pt x="58899" y="101203"/>
                  <a:pt x="53578" y="95883"/>
                  <a:pt x="53578" y="89297"/>
                </a:cubicBezTo>
                <a:lnTo>
                  <a:pt x="53578" y="65484"/>
                </a:lnTo>
                <a:close/>
                <a:moveTo>
                  <a:pt x="95250" y="119063"/>
                </a:moveTo>
                <a:lnTo>
                  <a:pt x="107156" y="119063"/>
                </a:lnTo>
                <a:cubicBezTo>
                  <a:pt x="123602" y="119063"/>
                  <a:pt x="136922" y="105742"/>
                  <a:pt x="136922" y="89297"/>
                </a:cubicBezTo>
                <a:lnTo>
                  <a:pt x="148828" y="89297"/>
                </a:lnTo>
                <a:cubicBezTo>
                  <a:pt x="155414" y="89297"/>
                  <a:pt x="160734" y="94617"/>
                  <a:pt x="160734" y="101203"/>
                </a:cubicBezTo>
                <a:lnTo>
                  <a:pt x="160734" y="125016"/>
                </a:lnTo>
                <a:cubicBezTo>
                  <a:pt x="160734" y="131601"/>
                  <a:pt x="155414" y="136922"/>
                  <a:pt x="148828" y="136922"/>
                </a:cubicBezTo>
                <a:lnTo>
                  <a:pt x="107156" y="136922"/>
                </a:lnTo>
                <a:cubicBezTo>
                  <a:pt x="100571" y="136922"/>
                  <a:pt x="95250" y="131601"/>
                  <a:pt x="95250" y="125016"/>
                </a:cubicBezTo>
                <a:lnTo>
                  <a:pt x="95250" y="119063"/>
                </a:lnTo>
                <a:close/>
              </a:path>
            </a:pathLst>
          </a:custGeom>
          <a:solidFill>
            <a:srgbClr val="FFFFFF"/>
          </a:solidFill>
          <a:ln/>
        </p:spPr>
        <p:txBody>
          <a:bodyPr/>
          <a:lstStyle/>
          <a:p>
            <a:endParaRPr lang="en-US"/>
          </a:p>
        </p:txBody>
      </p:sp>
      <p:sp>
        <p:nvSpPr>
          <p:cNvPr id="19" name="Text 17"/>
          <p:cNvSpPr/>
          <p:nvPr/>
        </p:nvSpPr>
        <p:spPr>
          <a:xfrm>
            <a:off x="952500" y="3330572"/>
            <a:ext cx="1651000" cy="222250"/>
          </a:xfrm>
          <a:prstGeom prst="rect">
            <a:avLst/>
          </a:prstGeom>
          <a:noFill/>
          <a:ln/>
        </p:spPr>
        <p:txBody>
          <a:bodyPr wrap="square" lIns="0" tIns="0" rIns="0" bIns="0" rtlCol="0" anchor="ctr"/>
          <a:lstStyle/>
          <a:p>
            <a:pPr>
              <a:lnSpc>
                <a:spcPct val="120000"/>
              </a:lnSpc>
            </a:pPr>
            <a:r>
              <a:rPr lang="en-US" sz="1250" b="1" dirty="0">
                <a:solidFill>
                  <a:srgbClr val="7E2A0C"/>
                </a:solidFill>
                <a:latin typeface="Sorts Mill Goudy" pitchFamily="34" charset="0"/>
                <a:ea typeface="Sorts Mill Goudy" pitchFamily="34" charset="-122"/>
                <a:cs typeface="Sorts Mill Goudy" pitchFamily="34" charset="-120"/>
              </a:rPr>
              <a:t>2. Overlapping Objects</a:t>
            </a:r>
            <a:endParaRPr lang="en-US" sz="1600" dirty="0"/>
          </a:p>
        </p:txBody>
      </p:sp>
      <p:sp>
        <p:nvSpPr>
          <p:cNvPr id="20" name="Text 18"/>
          <p:cNvSpPr/>
          <p:nvPr/>
        </p:nvSpPr>
        <p:spPr>
          <a:xfrm>
            <a:off x="476250" y="3695697"/>
            <a:ext cx="5492750" cy="190500"/>
          </a:xfrm>
          <a:prstGeom prst="rect">
            <a:avLst/>
          </a:prstGeom>
          <a:noFill/>
          <a:ln/>
        </p:spPr>
        <p:txBody>
          <a:bodyPr wrap="square" lIns="0" tIns="0" rIns="0" bIns="0" rtlCol="0" anchor="ctr"/>
          <a:lstStyle/>
          <a:p>
            <a:pPr>
              <a:lnSpc>
                <a:spcPct val="130000"/>
              </a:lnSpc>
            </a:pPr>
            <a:r>
              <a:rPr lang="en-US" sz="1000" b="1" dirty="0">
                <a:solidFill>
                  <a:srgbClr val="9F2D00"/>
                </a:solidFill>
                <a:latin typeface="Quattrocento Sans" pitchFamily="34" charset="0"/>
                <a:ea typeface="Quattrocento Sans" pitchFamily="34" charset="-122"/>
                <a:cs typeface="Quattrocento Sans" pitchFamily="34" charset="-120"/>
              </a:rPr>
              <a:t>Problem:</a:t>
            </a:r>
            <a:r>
              <a:rPr lang="en-US" sz="1000" dirty="0">
                <a:solidFill>
                  <a:srgbClr val="9F2D00"/>
                </a:solidFill>
                <a:latin typeface="Quattrocento Sans" pitchFamily="34" charset="0"/>
                <a:ea typeface="Quattrocento Sans" pitchFamily="34" charset="-122"/>
                <a:cs typeface="Quattrocento Sans" pitchFamily="34" charset="-120"/>
              </a:rPr>
              <a:t> Difficulty distinguishing closely packed or overlapping objects in the same grid cell.</a:t>
            </a:r>
            <a:endParaRPr lang="en-US" sz="1600" dirty="0"/>
          </a:p>
        </p:txBody>
      </p:sp>
      <p:sp>
        <p:nvSpPr>
          <p:cNvPr id="21" name="Shape 19"/>
          <p:cNvSpPr/>
          <p:nvPr/>
        </p:nvSpPr>
        <p:spPr>
          <a:xfrm>
            <a:off x="479425" y="3952872"/>
            <a:ext cx="5419725" cy="577850"/>
          </a:xfrm>
          <a:custGeom>
            <a:avLst/>
            <a:gdLst/>
            <a:ahLst/>
            <a:cxnLst/>
            <a:rect l="l" t="t" r="r" b="b"/>
            <a:pathLst>
              <a:path w="5419725" h="577850">
                <a:moveTo>
                  <a:pt x="31753" y="0"/>
                </a:moveTo>
                <a:lnTo>
                  <a:pt x="5387972" y="0"/>
                </a:lnTo>
                <a:cubicBezTo>
                  <a:pt x="5405497" y="0"/>
                  <a:pt x="5419725" y="14228"/>
                  <a:pt x="5419725" y="31753"/>
                </a:cubicBezTo>
                <a:lnTo>
                  <a:pt x="5419725" y="546097"/>
                </a:lnTo>
                <a:cubicBezTo>
                  <a:pt x="5419725" y="563622"/>
                  <a:pt x="5405497" y="577850"/>
                  <a:pt x="5387972" y="577850"/>
                </a:cubicBezTo>
                <a:lnTo>
                  <a:pt x="31753" y="577850"/>
                </a:lnTo>
                <a:cubicBezTo>
                  <a:pt x="14228" y="577850"/>
                  <a:pt x="0" y="563622"/>
                  <a:pt x="0" y="546097"/>
                </a:cubicBezTo>
                <a:lnTo>
                  <a:pt x="0" y="31753"/>
                </a:lnTo>
                <a:cubicBezTo>
                  <a:pt x="0" y="14228"/>
                  <a:pt x="14228" y="0"/>
                  <a:pt x="31753" y="0"/>
                </a:cubicBezTo>
                <a:close/>
              </a:path>
            </a:pathLst>
          </a:custGeom>
          <a:solidFill>
            <a:srgbClr val="FFFFFF"/>
          </a:solidFill>
          <a:ln w="10160">
            <a:solidFill>
              <a:srgbClr val="FFB86A"/>
            </a:solidFill>
            <a:prstDash val="solid"/>
          </a:ln>
        </p:spPr>
        <p:txBody>
          <a:bodyPr/>
          <a:lstStyle/>
          <a:p>
            <a:endParaRPr lang="en-US"/>
          </a:p>
        </p:txBody>
      </p:sp>
      <p:sp>
        <p:nvSpPr>
          <p:cNvPr id="22" name="Text 20"/>
          <p:cNvSpPr/>
          <p:nvPr/>
        </p:nvSpPr>
        <p:spPr>
          <a:xfrm>
            <a:off x="577850" y="4051303"/>
            <a:ext cx="5286375" cy="381000"/>
          </a:xfrm>
          <a:prstGeom prst="rect">
            <a:avLst/>
          </a:prstGeom>
          <a:noFill/>
          <a:ln/>
        </p:spPr>
        <p:txBody>
          <a:bodyPr wrap="square" lIns="0" tIns="0" rIns="0" bIns="0" rtlCol="0" anchor="ctr"/>
          <a:lstStyle/>
          <a:p>
            <a:pPr>
              <a:lnSpc>
                <a:spcPct val="130000"/>
              </a:lnSpc>
            </a:pPr>
            <a:r>
              <a:rPr lang="en-US" sz="1000" b="1" dirty="0">
                <a:solidFill>
                  <a:srgbClr val="9F2D00"/>
                </a:solidFill>
                <a:latin typeface="Quattrocento Sans" pitchFamily="34" charset="0"/>
                <a:ea typeface="Quattrocento Sans" pitchFamily="34" charset="-122"/>
                <a:cs typeface="Quattrocento Sans" pitchFamily="34" charset="-120"/>
              </a:rPr>
              <a:t>Example:</a:t>
            </a:r>
            <a:r>
              <a:rPr lang="en-US" sz="1000" dirty="0">
                <a:solidFill>
                  <a:srgbClr val="9F2D00"/>
                </a:solidFill>
                <a:latin typeface="Quattrocento Sans" pitchFamily="34" charset="0"/>
                <a:ea typeface="Quattrocento Sans" pitchFamily="34" charset="-122"/>
                <a:cs typeface="Quattrocento Sans" pitchFamily="34" charset="-120"/>
              </a:rPr>
              <a:t> In a dense crowd, YOLO might struggle to draw distinct bounding boxes for each person.</a:t>
            </a:r>
            <a:endParaRPr lang="en-US" sz="1600" dirty="0"/>
          </a:p>
        </p:txBody>
      </p:sp>
      <p:sp>
        <p:nvSpPr>
          <p:cNvPr id="23" name="Shape 21"/>
          <p:cNvSpPr/>
          <p:nvPr/>
        </p:nvSpPr>
        <p:spPr>
          <a:xfrm>
            <a:off x="476250" y="4597409"/>
            <a:ext cx="5429250" cy="285750"/>
          </a:xfrm>
          <a:custGeom>
            <a:avLst/>
            <a:gdLst/>
            <a:ahLst/>
            <a:cxnLst/>
            <a:rect l="l" t="t" r="r" b="b"/>
            <a:pathLst>
              <a:path w="5429250" h="285750">
                <a:moveTo>
                  <a:pt x="31750" y="0"/>
                </a:moveTo>
                <a:lnTo>
                  <a:pt x="5397500" y="0"/>
                </a:lnTo>
                <a:cubicBezTo>
                  <a:pt x="5415035" y="0"/>
                  <a:pt x="5429250" y="14215"/>
                  <a:pt x="5429250" y="31750"/>
                </a:cubicBezTo>
                <a:lnTo>
                  <a:pt x="5429250" y="254000"/>
                </a:lnTo>
                <a:cubicBezTo>
                  <a:pt x="5429250" y="271535"/>
                  <a:pt x="5415035" y="285750"/>
                  <a:pt x="5397500" y="285750"/>
                </a:cubicBezTo>
                <a:lnTo>
                  <a:pt x="31750" y="285750"/>
                </a:lnTo>
                <a:cubicBezTo>
                  <a:pt x="14215" y="285750"/>
                  <a:pt x="0" y="271535"/>
                  <a:pt x="0" y="254000"/>
                </a:cubicBezTo>
                <a:lnTo>
                  <a:pt x="0" y="31750"/>
                </a:lnTo>
                <a:cubicBezTo>
                  <a:pt x="0" y="14227"/>
                  <a:pt x="14227" y="0"/>
                  <a:pt x="31750" y="0"/>
                </a:cubicBezTo>
                <a:close/>
              </a:path>
            </a:pathLst>
          </a:custGeom>
          <a:solidFill>
            <a:srgbClr val="DCFCE7"/>
          </a:solidFill>
          <a:ln/>
        </p:spPr>
        <p:txBody>
          <a:bodyPr/>
          <a:lstStyle/>
          <a:p>
            <a:endParaRPr lang="en-US"/>
          </a:p>
        </p:txBody>
      </p:sp>
      <p:sp>
        <p:nvSpPr>
          <p:cNvPr id="24" name="Shape 22"/>
          <p:cNvSpPr/>
          <p:nvPr/>
        </p:nvSpPr>
        <p:spPr>
          <a:xfrm>
            <a:off x="548680" y="4679947"/>
            <a:ext cx="125016" cy="111125"/>
          </a:xfrm>
          <a:custGeom>
            <a:avLst/>
            <a:gdLst/>
            <a:ahLst/>
            <a:cxnLst/>
            <a:rect l="l" t="t" r="r" b="b"/>
            <a:pathLst>
              <a:path w="125016" h="111125">
                <a:moveTo>
                  <a:pt x="110561" y="21400"/>
                </a:moveTo>
                <a:cubicBezTo>
                  <a:pt x="112210" y="19751"/>
                  <a:pt x="114967" y="20163"/>
                  <a:pt x="115791" y="22334"/>
                </a:cubicBezTo>
                <a:cubicBezTo>
                  <a:pt x="117267" y="26175"/>
                  <a:pt x="118070" y="30364"/>
                  <a:pt x="118070" y="34727"/>
                </a:cubicBezTo>
                <a:cubicBezTo>
                  <a:pt x="118070" y="53913"/>
                  <a:pt x="102530" y="69453"/>
                  <a:pt x="83344" y="69453"/>
                </a:cubicBezTo>
                <a:cubicBezTo>
                  <a:pt x="79546" y="69453"/>
                  <a:pt x="75878" y="68845"/>
                  <a:pt x="72448" y="67717"/>
                </a:cubicBezTo>
                <a:lnTo>
                  <a:pt x="31883" y="108282"/>
                </a:lnTo>
                <a:cubicBezTo>
                  <a:pt x="25784" y="114381"/>
                  <a:pt x="15887" y="114381"/>
                  <a:pt x="9789" y="108282"/>
                </a:cubicBezTo>
                <a:cubicBezTo>
                  <a:pt x="3690" y="102183"/>
                  <a:pt x="3690" y="92286"/>
                  <a:pt x="9789" y="86187"/>
                </a:cubicBezTo>
                <a:lnTo>
                  <a:pt x="50354" y="45622"/>
                </a:lnTo>
                <a:cubicBezTo>
                  <a:pt x="49225" y="42193"/>
                  <a:pt x="48617" y="38546"/>
                  <a:pt x="48617" y="34727"/>
                </a:cubicBezTo>
                <a:cubicBezTo>
                  <a:pt x="48617" y="15540"/>
                  <a:pt x="64157" y="0"/>
                  <a:pt x="83344" y="0"/>
                </a:cubicBezTo>
                <a:cubicBezTo>
                  <a:pt x="87706" y="0"/>
                  <a:pt x="91895" y="803"/>
                  <a:pt x="95737" y="2279"/>
                </a:cubicBezTo>
                <a:cubicBezTo>
                  <a:pt x="97907" y="3104"/>
                  <a:pt x="98298" y="5860"/>
                  <a:pt x="96670" y="7510"/>
                </a:cubicBezTo>
                <a:lnTo>
                  <a:pt x="77419" y="26761"/>
                </a:lnTo>
                <a:cubicBezTo>
                  <a:pt x="76767" y="27412"/>
                  <a:pt x="76398" y="28302"/>
                  <a:pt x="76398" y="29214"/>
                </a:cubicBezTo>
                <a:lnTo>
                  <a:pt x="76398" y="38199"/>
                </a:lnTo>
                <a:cubicBezTo>
                  <a:pt x="76398" y="40109"/>
                  <a:pt x="77961" y="41672"/>
                  <a:pt x="79871" y="41672"/>
                </a:cubicBezTo>
                <a:lnTo>
                  <a:pt x="88857" y="41672"/>
                </a:lnTo>
                <a:cubicBezTo>
                  <a:pt x="89768" y="41672"/>
                  <a:pt x="90658" y="41303"/>
                  <a:pt x="91309" y="40652"/>
                </a:cubicBezTo>
                <a:lnTo>
                  <a:pt x="110561" y="21400"/>
                </a:lnTo>
                <a:close/>
              </a:path>
            </a:pathLst>
          </a:custGeom>
          <a:solidFill>
            <a:srgbClr val="016630"/>
          </a:solidFill>
          <a:ln/>
        </p:spPr>
        <p:txBody>
          <a:bodyPr/>
          <a:lstStyle/>
          <a:p>
            <a:endParaRPr lang="en-US"/>
          </a:p>
        </p:txBody>
      </p:sp>
      <p:sp>
        <p:nvSpPr>
          <p:cNvPr id="25" name="Text 23"/>
          <p:cNvSpPr/>
          <p:nvPr/>
        </p:nvSpPr>
        <p:spPr>
          <a:xfrm>
            <a:off x="722313" y="4660909"/>
            <a:ext cx="5175250" cy="158750"/>
          </a:xfrm>
          <a:prstGeom prst="rect">
            <a:avLst/>
          </a:prstGeom>
          <a:noFill/>
          <a:ln/>
        </p:spPr>
        <p:txBody>
          <a:bodyPr wrap="square" lIns="0" tIns="0" rIns="0" bIns="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Solutions:</a:t>
            </a:r>
            <a:r>
              <a:rPr lang="en-US" sz="875" dirty="0">
                <a:solidFill>
                  <a:srgbClr val="016630"/>
                </a:solidFill>
                <a:latin typeface="Quattrocento Sans" pitchFamily="34" charset="0"/>
                <a:ea typeface="Quattrocento Sans" pitchFamily="34" charset="-122"/>
                <a:cs typeface="Quattrocento Sans" pitchFamily="34" charset="-120"/>
              </a:rPr>
              <a:t> More anchor boxes, higher grid resolution, instance segmentation</a:t>
            </a:r>
            <a:endParaRPr lang="en-US" sz="1600" dirty="0"/>
          </a:p>
        </p:txBody>
      </p:sp>
      <p:sp>
        <p:nvSpPr>
          <p:cNvPr id="26" name="Shape 24"/>
          <p:cNvSpPr/>
          <p:nvPr/>
        </p:nvSpPr>
        <p:spPr>
          <a:xfrm>
            <a:off x="333375" y="5105409"/>
            <a:ext cx="5699125" cy="1238250"/>
          </a:xfrm>
          <a:custGeom>
            <a:avLst/>
            <a:gdLst/>
            <a:ahLst/>
            <a:cxnLst/>
            <a:rect l="l" t="t" r="r" b="b"/>
            <a:pathLst>
              <a:path w="5699125" h="1238250">
                <a:moveTo>
                  <a:pt x="31750" y="0"/>
                </a:moveTo>
                <a:lnTo>
                  <a:pt x="5635628" y="0"/>
                </a:lnTo>
                <a:cubicBezTo>
                  <a:pt x="5670696" y="0"/>
                  <a:pt x="5699125" y="28429"/>
                  <a:pt x="5699125" y="63497"/>
                </a:cubicBezTo>
                <a:lnTo>
                  <a:pt x="5699125" y="1174753"/>
                </a:lnTo>
                <a:cubicBezTo>
                  <a:pt x="5699125" y="1209821"/>
                  <a:pt x="5670696" y="1238250"/>
                  <a:pt x="5635628" y="1238250"/>
                </a:cubicBezTo>
                <a:lnTo>
                  <a:pt x="31750" y="1238250"/>
                </a:lnTo>
                <a:cubicBezTo>
                  <a:pt x="14227" y="1238250"/>
                  <a:pt x="0" y="1224023"/>
                  <a:pt x="0" y="1206500"/>
                </a:cubicBezTo>
                <a:lnTo>
                  <a:pt x="0" y="31750"/>
                </a:lnTo>
                <a:cubicBezTo>
                  <a:pt x="0" y="14227"/>
                  <a:pt x="14227" y="0"/>
                  <a:pt x="31750" y="0"/>
                </a:cubicBezTo>
                <a:close/>
              </a:path>
            </a:pathLst>
          </a:custGeom>
          <a:solidFill>
            <a:srgbClr val="FEFCE8"/>
          </a:solidFill>
          <a:ln/>
        </p:spPr>
        <p:txBody>
          <a:bodyPr/>
          <a:lstStyle/>
          <a:p>
            <a:endParaRPr lang="en-US"/>
          </a:p>
        </p:txBody>
      </p:sp>
      <p:sp>
        <p:nvSpPr>
          <p:cNvPr id="27" name="Shape 25"/>
          <p:cNvSpPr/>
          <p:nvPr/>
        </p:nvSpPr>
        <p:spPr>
          <a:xfrm>
            <a:off x="333375" y="5105409"/>
            <a:ext cx="31750" cy="1238250"/>
          </a:xfrm>
          <a:custGeom>
            <a:avLst/>
            <a:gdLst/>
            <a:ahLst/>
            <a:cxnLst/>
            <a:rect l="l" t="t" r="r" b="b"/>
            <a:pathLst>
              <a:path w="31750" h="1238250">
                <a:moveTo>
                  <a:pt x="31750" y="0"/>
                </a:moveTo>
                <a:lnTo>
                  <a:pt x="31750" y="0"/>
                </a:lnTo>
                <a:lnTo>
                  <a:pt x="31750" y="1238250"/>
                </a:lnTo>
                <a:lnTo>
                  <a:pt x="31750" y="1238250"/>
                </a:lnTo>
                <a:cubicBezTo>
                  <a:pt x="14227" y="1238250"/>
                  <a:pt x="0" y="1224023"/>
                  <a:pt x="0" y="1206500"/>
                </a:cubicBezTo>
                <a:lnTo>
                  <a:pt x="0" y="31750"/>
                </a:lnTo>
                <a:cubicBezTo>
                  <a:pt x="0" y="14227"/>
                  <a:pt x="14227" y="0"/>
                  <a:pt x="31750" y="0"/>
                </a:cubicBezTo>
                <a:close/>
              </a:path>
            </a:pathLst>
          </a:custGeom>
          <a:solidFill>
            <a:srgbClr val="F0B100"/>
          </a:solidFill>
          <a:ln/>
        </p:spPr>
        <p:txBody>
          <a:bodyPr/>
          <a:lstStyle/>
          <a:p>
            <a:endParaRPr lang="en-US"/>
          </a:p>
        </p:txBody>
      </p:sp>
      <p:sp>
        <p:nvSpPr>
          <p:cNvPr id="28" name="Shape 26"/>
          <p:cNvSpPr/>
          <p:nvPr/>
        </p:nvSpPr>
        <p:spPr>
          <a:xfrm>
            <a:off x="476250" y="5232409"/>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0B100"/>
          </a:solidFill>
          <a:ln/>
        </p:spPr>
        <p:txBody>
          <a:bodyPr/>
          <a:lstStyle/>
          <a:p>
            <a:endParaRPr lang="en-US"/>
          </a:p>
        </p:txBody>
      </p:sp>
      <p:sp>
        <p:nvSpPr>
          <p:cNvPr id="29" name="Shape 27"/>
          <p:cNvSpPr/>
          <p:nvPr/>
        </p:nvSpPr>
        <p:spPr>
          <a:xfrm>
            <a:off x="583406" y="5327659"/>
            <a:ext cx="166688" cy="190500"/>
          </a:xfrm>
          <a:custGeom>
            <a:avLst/>
            <a:gdLst/>
            <a:ahLst/>
            <a:cxnLst/>
            <a:rect l="l" t="t" r="r" b="b"/>
            <a:pathLst>
              <a:path w="166688" h="190500">
                <a:moveTo>
                  <a:pt x="62508" y="11906"/>
                </a:moveTo>
                <a:lnTo>
                  <a:pt x="8930" y="11906"/>
                </a:lnTo>
                <a:cubicBezTo>
                  <a:pt x="3981" y="11906"/>
                  <a:pt x="0" y="15887"/>
                  <a:pt x="0" y="20836"/>
                </a:cubicBezTo>
                <a:lnTo>
                  <a:pt x="0" y="74414"/>
                </a:lnTo>
                <a:cubicBezTo>
                  <a:pt x="0" y="78023"/>
                  <a:pt x="2158" y="81297"/>
                  <a:pt x="5507" y="82674"/>
                </a:cubicBezTo>
                <a:cubicBezTo>
                  <a:pt x="8855" y="84051"/>
                  <a:pt x="12688" y="83269"/>
                  <a:pt x="15255" y="80739"/>
                </a:cubicBezTo>
                <a:lnTo>
                  <a:pt x="30138" y="65856"/>
                </a:lnTo>
                <a:lnTo>
                  <a:pt x="59531" y="95250"/>
                </a:lnTo>
                <a:lnTo>
                  <a:pt x="30138" y="124644"/>
                </a:lnTo>
                <a:lnTo>
                  <a:pt x="15255" y="109761"/>
                </a:lnTo>
                <a:cubicBezTo>
                  <a:pt x="12688" y="107193"/>
                  <a:pt x="8855" y="106449"/>
                  <a:pt x="5507" y="107826"/>
                </a:cubicBezTo>
                <a:cubicBezTo>
                  <a:pt x="2158" y="109203"/>
                  <a:pt x="0" y="112477"/>
                  <a:pt x="0" y="116086"/>
                </a:cubicBezTo>
                <a:lnTo>
                  <a:pt x="0" y="169664"/>
                </a:lnTo>
                <a:cubicBezTo>
                  <a:pt x="0" y="174613"/>
                  <a:pt x="3981" y="178594"/>
                  <a:pt x="8930" y="178594"/>
                </a:cubicBezTo>
                <a:lnTo>
                  <a:pt x="62508" y="178594"/>
                </a:lnTo>
                <a:cubicBezTo>
                  <a:pt x="66117" y="178594"/>
                  <a:pt x="69391" y="176436"/>
                  <a:pt x="70768" y="173087"/>
                </a:cubicBezTo>
                <a:cubicBezTo>
                  <a:pt x="72144" y="169738"/>
                  <a:pt x="71400" y="165906"/>
                  <a:pt x="68833" y="163339"/>
                </a:cubicBezTo>
                <a:lnTo>
                  <a:pt x="53950" y="148456"/>
                </a:lnTo>
                <a:lnTo>
                  <a:pt x="83344" y="119063"/>
                </a:lnTo>
                <a:lnTo>
                  <a:pt x="112737" y="148456"/>
                </a:lnTo>
                <a:lnTo>
                  <a:pt x="97854" y="163339"/>
                </a:lnTo>
                <a:cubicBezTo>
                  <a:pt x="95287" y="165906"/>
                  <a:pt x="94543" y="169738"/>
                  <a:pt x="95920" y="173087"/>
                </a:cubicBezTo>
                <a:cubicBezTo>
                  <a:pt x="97296" y="176436"/>
                  <a:pt x="100571" y="178594"/>
                  <a:pt x="104180" y="178594"/>
                </a:cubicBezTo>
                <a:lnTo>
                  <a:pt x="157758" y="178594"/>
                </a:lnTo>
                <a:cubicBezTo>
                  <a:pt x="162706" y="178594"/>
                  <a:pt x="166688" y="174613"/>
                  <a:pt x="166688" y="169664"/>
                </a:cubicBezTo>
                <a:lnTo>
                  <a:pt x="166688" y="116086"/>
                </a:lnTo>
                <a:cubicBezTo>
                  <a:pt x="166688" y="112477"/>
                  <a:pt x="164529" y="109203"/>
                  <a:pt x="161181" y="107826"/>
                </a:cubicBezTo>
                <a:cubicBezTo>
                  <a:pt x="157832" y="106449"/>
                  <a:pt x="154000" y="107193"/>
                  <a:pt x="151433" y="109761"/>
                </a:cubicBezTo>
                <a:lnTo>
                  <a:pt x="136550" y="124644"/>
                </a:lnTo>
                <a:lnTo>
                  <a:pt x="107156" y="95250"/>
                </a:lnTo>
                <a:lnTo>
                  <a:pt x="136550" y="65856"/>
                </a:lnTo>
                <a:lnTo>
                  <a:pt x="151433" y="80739"/>
                </a:lnTo>
                <a:cubicBezTo>
                  <a:pt x="154000" y="83307"/>
                  <a:pt x="157832" y="84051"/>
                  <a:pt x="161181" y="82674"/>
                </a:cubicBezTo>
                <a:cubicBezTo>
                  <a:pt x="164529" y="81297"/>
                  <a:pt x="166688" y="78023"/>
                  <a:pt x="166688" y="74414"/>
                </a:cubicBezTo>
                <a:lnTo>
                  <a:pt x="166688" y="20836"/>
                </a:lnTo>
                <a:cubicBezTo>
                  <a:pt x="166688" y="15887"/>
                  <a:pt x="162706" y="11906"/>
                  <a:pt x="157758" y="11906"/>
                </a:cubicBezTo>
                <a:lnTo>
                  <a:pt x="104180" y="11906"/>
                </a:lnTo>
                <a:cubicBezTo>
                  <a:pt x="100571" y="11906"/>
                  <a:pt x="97296" y="14064"/>
                  <a:pt x="95920" y="17413"/>
                </a:cubicBezTo>
                <a:cubicBezTo>
                  <a:pt x="94543" y="20762"/>
                  <a:pt x="95324" y="24594"/>
                  <a:pt x="97854" y="27161"/>
                </a:cubicBezTo>
                <a:lnTo>
                  <a:pt x="112737" y="42044"/>
                </a:lnTo>
                <a:lnTo>
                  <a:pt x="83344" y="71438"/>
                </a:lnTo>
                <a:lnTo>
                  <a:pt x="53950" y="42044"/>
                </a:lnTo>
                <a:lnTo>
                  <a:pt x="68833" y="27161"/>
                </a:lnTo>
                <a:cubicBezTo>
                  <a:pt x="71400" y="24594"/>
                  <a:pt x="72144" y="20762"/>
                  <a:pt x="70768" y="17413"/>
                </a:cubicBezTo>
                <a:cubicBezTo>
                  <a:pt x="69391" y="14064"/>
                  <a:pt x="66117" y="11906"/>
                  <a:pt x="62508" y="11906"/>
                </a:cubicBezTo>
                <a:close/>
              </a:path>
            </a:pathLst>
          </a:custGeom>
          <a:solidFill>
            <a:srgbClr val="FFFFFF"/>
          </a:solidFill>
          <a:ln/>
        </p:spPr>
        <p:txBody>
          <a:bodyPr/>
          <a:lstStyle/>
          <a:p>
            <a:endParaRPr lang="en-US"/>
          </a:p>
        </p:txBody>
      </p:sp>
      <p:sp>
        <p:nvSpPr>
          <p:cNvPr id="30" name="Text 28"/>
          <p:cNvSpPr/>
          <p:nvPr/>
        </p:nvSpPr>
        <p:spPr>
          <a:xfrm>
            <a:off x="952500" y="5311784"/>
            <a:ext cx="1785938" cy="222250"/>
          </a:xfrm>
          <a:prstGeom prst="rect">
            <a:avLst/>
          </a:prstGeom>
          <a:noFill/>
          <a:ln/>
        </p:spPr>
        <p:txBody>
          <a:bodyPr wrap="square" lIns="0" tIns="0" rIns="0" bIns="0" rtlCol="0" anchor="ctr"/>
          <a:lstStyle/>
          <a:p>
            <a:pPr>
              <a:lnSpc>
                <a:spcPct val="120000"/>
              </a:lnSpc>
            </a:pPr>
            <a:r>
              <a:rPr lang="en-US" sz="1250" b="1" dirty="0">
                <a:solidFill>
                  <a:srgbClr val="733E0A"/>
                </a:solidFill>
                <a:latin typeface="Sorts Mill Goudy" pitchFamily="34" charset="0"/>
                <a:ea typeface="Sorts Mill Goudy" pitchFamily="34" charset="-122"/>
                <a:cs typeface="Sorts Mill Goudy" pitchFamily="34" charset="-120"/>
              </a:rPr>
              <a:t>3. Unusual Aspect Ratios</a:t>
            </a:r>
            <a:endParaRPr lang="en-US" sz="1600" dirty="0"/>
          </a:p>
        </p:txBody>
      </p:sp>
      <p:sp>
        <p:nvSpPr>
          <p:cNvPr id="31" name="Text 29"/>
          <p:cNvSpPr/>
          <p:nvPr/>
        </p:nvSpPr>
        <p:spPr>
          <a:xfrm>
            <a:off x="476250" y="5676909"/>
            <a:ext cx="5492750" cy="190500"/>
          </a:xfrm>
          <a:prstGeom prst="rect">
            <a:avLst/>
          </a:prstGeom>
          <a:noFill/>
          <a:ln/>
        </p:spPr>
        <p:txBody>
          <a:bodyPr wrap="square" lIns="0" tIns="0" rIns="0" bIns="0" rtlCol="0" anchor="ctr"/>
          <a:lstStyle/>
          <a:p>
            <a:pPr>
              <a:lnSpc>
                <a:spcPct val="130000"/>
              </a:lnSpc>
            </a:pPr>
            <a:r>
              <a:rPr lang="en-US" sz="1000" b="1" dirty="0">
                <a:solidFill>
                  <a:srgbClr val="894B00"/>
                </a:solidFill>
                <a:latin typeface="Quattrocento Sans" pitchFamily="34" charset="0"/>
                <a:ea typeface="Quattrocento Sans" pitchFamily="34" charset="-122"/>
                <a:cs typeface="Quattrocento Sans" pitchFamily="34" charset="-120"/>
              </a:rPr>
              <a:t>Problem:</a:t>
            </a:r>
            <a:r>
              <a:rPr lang="en-US" sz="1000" dirty="0">
                <a:solidFill>
                  <a:srgbClr val="894B00"/>
                </a:solidFill>
                <a:latin typeface="Quattrocento Sans" pitchFamily="34" charset="0"/>
                <a:ea typeface="Quattrocento Sans" pitchFamily="34" charset="-122"/>
                <a:cs typeface="Quattrocento Sans" pitchFamily="34" charset="-120"/>
              </a:rPr>
              <a:t> Predefined anchor boxes may miss objects with extreme shapes (very tall, very wide).</a:t>
            </a:r>
            <a:endParaRPr lang="en-US" sz="1600" dirty="0"/>
          </a:p>
        </p:txBody>
      </p:sp>
      <p:sp>
        <p:nvSpPr>
          <p:cNvPr id="32" name="Shape 30"/>
          <p:cNvSpPr/>
          <p:nvPr/>
        </p:nvSpPr>
        <p:spPr>
          <a:xfrm>
            <a:off x="476250" y="5930909"/>
            <a:ext cx="5429250" cy="285750"/>
          </a:xfrm>
          <a:custGeom>
            <a:avLst/>
            <a:gdLst/>
            <a:ahLst/>
            <a:cxnLst/>
            <a:rect l="l" t="t" r="r" b="b"/>
            <a:pathLst>
              <a:path w="5429250" h="285750">
                <a:moveTo>
                  <a:pt x="31750" y="0"/>
                </a:moveTo>
                <a:lnTo>
                  <a:pt x="5397500" y="0"/>
                </a:lnTo>
                <a:cubicBezTo>
                  <a:pt x="5415035" y="0"/>
                  <a:pt x="5429250" y="14215"/>
                  <a:pt x="5429250" y="31750"/>
                </a:cubicBezTo>
                <a:lnTo>
                  <a:pt x="5429250" y="254000"/>
                </a:lnTo>
                <a:cubicBezTo>
                  <a:pt x="5429250" y="271535"/>
                  <a:pt x="5415035" y="285750"/>
                  <a:pt x="5397500" y="285750"/>
                </a:cubicBezTo>
                <a:lnTo>
                  <a:pt x="31750" y="285750"/>
                </a:lnTo>
                <a:cubicBezTo>
                  <a:pt x="14215" y="285750"/>
                  <a:pt x="0" y="271535"/>
                  <a:pt x="0" y="254000"/>
                </a:cubicBezTo>
                <a:lnTo>
                  <a:pt x="0" y="31750"/>
                </a:lnTo>
                <a:cubicBezTo>
                  <a:pt x="0" y="14227"/>
                  <a:pt x="14227" y="0"/>
                  <a:pt x="31750" y="0"/>
                </a:cubicBezTo>
                <a:close/>
              </a:path>
            </a:pathLst>
          </a:custGeom>
          <a:solidFill>
            <a:srgbClr val="DCFCE7"/>
          </a:solidFill>
          <a:ln/>
        </p:spPr>
        <p:txBody>
          <a:bodyPr/>
          <a:lstStyle/>
          <a:p>
            <a:endParaRPr lang="en-US"/>
          </a:p>
        </p:txBody>
      </p:sp>
      <p:sp>
        <p:nvSpPr>
          <p:cNvPr id="33" name="Shape 31"/>
          <p:cNvSpPr/>
          <p:nvPr/>
        </p:nvSpPr>
        <p:spPr>
          <a:xfrm>
            <a:off x="548680" y="6013447"/>
            <a:ext cx="125016" cy="111125"/>
          </a:xfrm>
          <a:custGeom>
            <a:avLst/>
            <a:gdLst/>
            <a:ahLst/>
            <a:cxnLst/>
            <a:rect l="l" t="t" r="r" b="b"/>
            <a:pathLst>
              <a:path w="125016" h="111125">
                <a:moveTo>
                  <a:pt x="110561" y="21400"/>
                </a:moveTo>
                <a:cubicBezTo>
                  <a:pt x="112210" y="19751"/>
                  <a:pt x="114967" y="20163"/>
                  <a:pt x="115791" y="22334"/>
                </a:cubicBezTo>
                <a:cubicBezTo>
                  <a:pt x="117267" y="26175"/>
                  <a:pt x="118070" y="30364"/>
                  <a:pt x="118070" y="34727"/>
                </a:cubicBezTo>
                <a:cubicBezTo>
                  <a:pt x="118070" y="53913"/>
                  <a:pt x="102530" y="69453"/>
                  <a:pt x="83344" y="69453"/>
                </a:cubicBezTo>
                <a:cubicBezTo>
                  <a:pt x="79546" y="69453"/>
                  <a:pt x="75878" y="68845"/>
                  <a:pt x="72448" y="67717"/>
                </a:cubicBezTo>
                <a:lnTo>
                  <a:pt x="31883" y="108282"/>
                </a:lnTo>
                <a:cubicBezTo>
                  <a:pt x="25784" y="114381"/>
                  <a:pt x="15887" y="114381"/>
                  <a:pt x="9789" y="108282"/>
                </a:cubicBezTo>
                <a:cubicBezTo>
                  <a:pt x="3690" y="102183"/>
                  <a:pt x="3690" y="92286"/>
                  <a:pt x="9789" y="86187"/>
                </a:cubicBezTo>
                <a:lnTo>
                  <a:pt x="50354" y="45622"/>
                </a:lnTo>
                <a:cubicBezTo>
                  <a:pt x="49225" y="42193"/>
                  <a:pt x="48617" y="38546"/>
                  <a:pt x="48617" y="34727"/>
                </a:cubicBezTo>
                <a:cubicBezTo>
                  <a:pt x="48617" y="15540"/>
                  <a:pt x="64157" y="0"/>
                  <a:pt x="83344" y="0"/>
                </a:cubicBezTo>
                <a:cubicBezTo>
                  <a:pt x="87706" y="0"/>
                  <a:pt x="91895" y="803"/>
                  <a:pt x="95737" y="2279"/>
                </a:cubicBezTo>
                <a:cubicBezTo>
                  <a:pt x="97907" y="3104"/>
                  <a:pt x="98298" y="5860"/>
                  <a:pt x="96670" y="7510"/>
                </a:cubicBezTo>
                <a:lnTo>
                  <a:pt x="77419" y="26761"/>
                </a:lnTo>
                <a:cubicBezTo>
                  <a:pt x="76767" y="27412"/>
                  <a:pt x="76398" y="28302"/>
                  <a:pt x="76398" y="29214"/>
                </a:cubicBezTo>
                <a:lnTo>
                  <a:pt x="76398" y="38199"/>
                </a:lnTo>
                <a:cubicBezTo>
                  <a:pt x="76398" y="40109"/>
                  <a:pt x="77961" y="41672"/>
                  <a:pt x="79871" y="41672"/>
                </a:cubicBezTo>
                <a:lnTo>
                  <a:pt x="88857" y="41672"/>
                </a:lnTo>
                <a:cubicBezTo>
                  <a:pt x="89768" y="41672"/>
                  <a:pt x="90658" y="41303"/>
                  <a:pt x="91309" y="40652"/>
                </a:cubicBezTo>
                <a:lnTo>
                  <a:pt x="110561" y="21400"/>
                </a:lnTo>
                <a:close/>
              </a:path>
            </a:pathLst>
          </a:custGeom>
          <a:solidFill>
            <a:srgbClr val="016630"/>
          </a:solidFill>
          <a:ln/>
        </p:spPr>
        <p:txBody>
          <a:bodyPr/>
          <a:lstStyle/>
          <a:p>
            <a:endParaRPr lang="en-US"/>
          </a:p>
        </p:txBody>
      </p:sp>
      <p:sp>
        <p:nvSpPr>
          <p:cNvPr id="34" name="Text 32"/>
          <p:cNvSpPr/>
          <p:nvPr/>
        </p:nvSpPr>
        <p:spPr>
          <a:xfrm>
            <a:off x="722313" y="5994409"/>
            <a:ext cx="5175250" cy="158750"/>
          </a:xfrm>
          <a:prstGeom prst="rect">
            <a:avLst/>
          </a:prstGeom>
          <a:noFill/>
          <a:ln/>
        </p:spPr>
        <p:txBody>
          <a:bodyPr wrap="square" lIns="0" tIns="0" rIns="0" bIns="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Solutions:</a:t>
            </a:r>
            <a:r>
              <a:rPr lang="en-US" sz="875" dirty="0">
                <a:solidFill>
                  <a:srgbClr val="016630"/>
                </a:solidFill>
                <a:latin typeface="Quattrocento Sans" pitchFamily="34" charset="0"/>
                <a:ea typeface="Quattrocento Sans" pitchFamily="34" charset="-122"/>
                <a:cs typeface="Quattrocento Sans" pitchFamily="34" charset="-120"/>
              </a:rPr>
              <a:t> Custom anchor boxes via k-means, anchor-free detectors (YOLOv8)</a:t>
            </a:r>
            <a:endParaRPr lang="en-US" sz="1600" dirty="0"/>
          </a:p>
        </p:txBody>
      </p:sp>
      <p:sp>
        <p:nvSpPr>
          <p:cNvPr id="35" name="Shape 33"/>
          <p:cNvSpPr/>
          <p:nvPr/>
        </p:nvSpPr>
        <p:spPr>
          <a:xfrm>
            <a:off x="6175375" y="952500"/>
            <a:ext cx="5699125" cy="1889125"/>
          </a:xfrm>
          <a:custGeom>
            <a:avLst/>
            <a:gdLst/>
            <a:ahLst/>
            <a:cxnLst/>
            <a:rect l="l" t="t" r="r" b="b"/>
            <a:pathLst>
              <a:path w="5699125" h="1889125">
                <a:moveTo>
                  <a:pt x="31750" y="0"/>
                </a:moveTo>
                <a:lnTo>
                  <a:pt x="5635632" y="0"/>
                </a:lnTo>
                <a:cubicBezTo>
                  <a:pt x="5670698" y="0"/>
                  <a:pt x="5699125" y="28427"/>
                  <a:pt x="5699125" y="63493"/>
                </a:cubicBezTo>
                <a:lnTo>
                  <a:pt x="5699125" y="1825632"/>
                </a:lnTo>
                <a:cubicBezTo>
                  <a:pt x="5699125" y="1860698"/>
                  <a:pt x="5670698" y="1889125"/>
                  <a:pt x="5635632" y="1889125"/>
                </a:cubicBezTo>
                <a:lnTo>
                  <a:pt x="31750" y="1889125"/>
                </a:lnTo>
                <a:cubicBezTo>
                  <a:pt x="14227" y="1889125"/>
                  <a:pt x="0" y="1874898"/>
                  <a:pt x="0" y="1857375"/>
                </a:cubicBezTo>
                <a:lnTo>
                  <a:pt x="0" y="31750"/>
                </a:lnTo>
                <a:cubicBezTo>
                  <a:pt x="0" y="14227"/>
                  <a:pt x="14227" y="0"/>
                  <a:pt x="31750" y="0"/>
                </a:cubicBezTo>
                <a:close/>
              </a:path>
            </a:pathLst>
          </a:custGeom>
          <a:solidFill>
            <a:srgbClr val="FAF5FF"/>
          </a:solidFill>
          <a:ln/>
        </p:spPr>
        <p:txBody>
          <a:bodyPr/>
          <a:lstStyle/>
          <a:p>
            <a:endParaRPr lang="en-US"/>
          </a:p>
        </p:txBody>
      </p:sp>
      <p:sp>
        <p:nvSpPr>
          <p:cNvPr id="36" name="Shape 34"/>
          <p:cNvSpPr/>
          <p:nvPr/>
        </p:nvSpPr>
        <p:spPr>
          <a:xfrm>
            <a:off x="6175375" y="952500"/>
            <a:ext cx="31750" cy="1889125"/>
          </a:xfrm>
          <a:custGeom>
            <a:avLst/>
            <a:gdLst/>
            <a:ahLst/>
            <a:cxnLst/>
            <a:rect l="l" t="t" r="r" b="b"/>
            <a:pathLst>
              <a:path w="31750" h="1889125">
                <a:moveTo>
                  <a:pt x="31750" y="0"/>
                </a:moveTo>
                <a:lnTo>
                  <a:pt x="31750" y="0"/>
                </a:lnTo>
                <a:lnTo>
                  <a:pt x="31750" y="1889125"/>
                </a:lnTo>
                <a:lnTo>
                  <a:pt x="31750" y="1889125"/>
                </a:lnTo>
                <a:cubicBezTo>
                  <a:pt x="14227" y="1889125"/>
                  <a:pt x="0" y="1874898"/>
                  <a:pt x="0" y="1857375"/>
                </a:cubicBezTo>
                <a:lnTo>
                  <a:pt x="0" y="31750"/>
                </a:lnTo>
                <a:cubicBezTo>
                  <a:pt x="0" y="14227"/>
                  <a:pt x="14227" y="0"/>
                  <a:pt x="31750" y="0"/>
                </a:cubicBezTo>
                <a:close/>
              </a:path>
            </a:pathLst>
          </a:custGeom>
          <a:solidFill>
            <a:srgbClr val="AD46FF"/>
          </a:solidFill>
          <a:ln/>
        </p:spPr>
        <p:txBody>
          <a:bodyPr/>
          <a:lstStyle/>
          <a:p>
            <a:endParaRPr lang="en-US"/>
          </a:p>
        </p:txBody>
      </p:sp>
      <p:sp>
        <p:nvSpPr>
          <p:cNvPr id="37" name="Shape 35"/>
          <p:cNvSpPr/>
          <p:nvPr/>
        </p:nvSpPr>
        <p:spPr>
          <a:xfrm>
            <a:off x="6318250" y="10795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AD46FF"/>
          </a:solidFill>
          <a:ln/>
        </p:spPr>
        <p:txBody>
          <a:bodyPr/>
          <a:lstStyle/>
          <a:p>
            <a:endParaRPr lang="en-US"/>
          </a:p>
        </p:txBody>
      </p:sp>
      <p:sp>
        <p:nvSpPr>
          <p:cNvPr id="38" name="Shape 36"/>
          <p:cNvSpPr/>
          <p:nvPr/>
        </p:nvSpPr>
        <p:spPr>
          <a:xfrm>
            <a:off x="6401594" y="1174750"/>
            <a:ext cx="214313" cy="190500"/>
          </a:xfrm>
          <a:custGeom>
            <a:avLst/>
            <a:gdLst/>
            <a:ahLst/>
            <a:cxnLst/>
            <a:rect l="l" t="t" r="r" b="b"/>
            <a:pathLst>
              <a:path w="214313" h="190500">
                <a:moveTo>
                  <a:pt x="107156" y="-5953"/>
                </a:moveTo>
                <a:cubicBezTo>
                  <a:pt x="113742" y="-5953"/>
                  <a:pt x="119063" y="-633"/>
                  <a:pt x="119063" y="5953"/>
                </a:cubicBezTo>
                <a:lnTo>
                  <a:pt x="119063" y="12762"/>
                </a:lnTo>
                <a:cubicBezTo>
                  <a:pt x="155563" y="17971"/>
                  <a:pt x="184435" y="46844"/>
                  <a:pt x="189644" y="83344"/>
                </a:cubicBezTo>
                <a:lnTo>
                  <a:pt x="196453" y="83344"/>
                </a:lnTo>
                <a:cubicBezTo>
                  <a:pt x="203039" y="83344"/>
                  <a:pt x="208359" y="88664"/>
                  <a:pt x="208359" y="95250"/>
                </a:cubicBezTo>
                <a:cubicBezTo>
                  <a:pt x="208359" y="101836"/>
                  <a:pt x="203039" y="107156"/>
                  <a:pt x="196453" y="107156"/>
                </a:cubicBezTo>
                <a:lnTo>
                  <a:pt x="189644" y="107156"/>
                </a:lnTo>
                <a:cubicBezTo>
                  <a:pt x="184435" y="143656"/>
                  <a:pt x="155563" y="172529"/>
                  <a:pt x="119063" y="177738"/>
                </a:cubicBezTo>
                <a:lnTo>
                  <a:pt x="119063" y="184547"/>
                </a:lnTo>
                <a:cubicBezTo>
                  <a:pt x="119063" y="191133"/>
                  <a:pt x="113742" y="196453"/>
                  <a:pt x="107156" y="196453"/>
                </a:cubicBezTo>
                <a:cubicBezTo>
                  <a:pt x="100571" y="196453"/>
                  <a:pt x="95250" y="191133"/>
                  <a:pt x="95250" y="184547"/>
                </a:cubicBezTo>
                <a:lnTo>
                  <a:pt x="95250" y="177738"/>
                </a:lnTo>
                <a:cubicBezTo>
                  <a:pt x="58750" y="172529"/>
                  <a:pt x="29877" y="143656"/>
                  <a:pt x="24668" y="107156"/>
                </a:cubicBezTo>
                <a:lnTo>
                  <a:pt x="17859" y="107156"/>
                </a:lnTo>
                <a:cubicBezTo>
                  <a:pt x="11274" y="107156"/>
                  <a:pt x="5953" y="101836"/>
                  <a:pt x="5953" y="95250"/>
                </a:cubicBezTo>
                <a:cubicBezTo>
                  <a:pt x="5953" y="88664"/>
                  <a:pt x="11274" y="83344"/>
                  <a:pt x="17859" y="83344"/>
                </a:cubicBezTo>
                <a:lnTo>
                  <a:pt x="24668" y="83344"/>
                </a:lnTo>
                <a:cubicBezTo>
                  <a:pt x="29877" y="46844"/>
                  <a:pt x="58750" y="17971"/>
                  <a:pt x="95250" y="12762"/>
                </a:cubicBezTo>
                <a:lnTo>
                  <a:pt x="95250" y="5953"/>
                </a:lnTo>
                <a:cubicBezTo>
                  <a:pt x="95250" y="-633"/>
                  <a:pt x="100571" y="-5953"/>
                  <a:pt x="107156" y="-5953"/>
                </a:cubicBezTo>
                <a:close/>
                <a:moveTo>
                  <a:pt x="48816" y="107156"/>
                </a:moveTo>
                <a:cubicBezTo>
                  <a:pt x="53541" y="130485"/>
                  <a:pt x="71921" y="148865"/>
                  <a:pt x="95250" y="153591"/>
                </a:cubicBezTo>
                <a:lnTo>
                  <a:pt x="95250" y="148828"/>
                </a:lnTo>
                <a:cubicBezTo>
                  <a:pt x="95250" y="142242"/>
                  <a:pt x="100571" y="136922"/>
                  <a:pt x="107156" y="136922"/>
                </a:cubicBezTo>
                <a:cubicBezTo>
                  <a:pt x="113742" y="136922"/>
                  <a:pt x="119063" y="142242"/>
                  <a:pt x="119063" y="148828"/>
                </a:cubicBezTo>
                <a:lnTo>
                  <a:pt x="119063" y="153591"/>
                </a:lnTo>
                <a:cubicBezTo>
                  <a:pt x="142391" y="148865"/>
                  <a:pt x="160772" y="130485"/>
                  <a:pt x="165497" y="107156"/>
                </a:cubicBezTo>
                <a:lnTo>
                  <a:pt x="160734" y="107156"/>
                </a:lnTo>
                <a:cubicBezTo>
                  <a:pt x="154149" y="107156"/>
                  <a:pt x="148828" y="101836"/>
                  <a:pt x="148828" y="95250"/>
                </a:cubicBezTo>
                <a:cubicBezTo>
                  <a:pt x="148828" y="88664"/>
                  <a:pt x="154149" y="83344"/>
                  <a:pt x="160734" y="83344"/>
                </a:cubicBezTo>
                <a:lnTo>
                  <a:pt x="165497" y="83344"/>
                </a:lnTo>
                <a:cubicBezTo>
                  <a:pt x="160772" y="60015"/>
                  <a:pt x="142391" y="41635"/>
                  <a:pt x="119063" y="36909"/>
                </a:cubicBezTo>
                <a:lnTo>
                  <a:pt x="119063" y="41672"/>
                </a:lnTo>
                <a:cubicBezTo>
                  <a:pt x="119063" y="48258"/>
                  <a:pt x="113742" y="53578"/>
                  <a:pt x="107156" y="53578"/>
                </a:cubicBezTo>
                <a:cubicBezTo>
                  <a:pt x="100571" y="53578"/>
                  <a:pt x="95250" y="48258"/>
                  <a:pt x="95250" y="41672"/>
                </a:cubicBezTo>
                <a:lnTo>
                  <a:pt x="95250" y="36909"/>
                </a:lnTo>
                <a:cubicBezTo>
                  <a:pt x="71921" y="41635"/>
                  <a:pt x="53541" y="60015"/>
                  <a:pt x="48816" y="83344"/>
                </a:cubicBezTo>
                <a:lnTo>
                  <a:pt x="53578" y="83344"/>
                </a:lnTo>
                <a:cubicBezTo>
                  <a:pt x="60164" y="83344"/>
                  <a:pt x="65484" y="88664"/>
                  <a:pt x="65484" y="95250"/>
                </a:cubicBezTo>
                <a:cubicBezTo>
                  <a:pt x="65484" y="101836"/>
                  <a:pt x="60164" y="107156"/>
                  <a:pt x="53578" y="107156"/>
                </a:cubicBezTo>
                <a:lnTo>
                  <a:pt x="48816" y="107156"/>
                </a:lnTo>
                <a:close/>
                <a:moveTo>
                  <a:pt x="107156" y="77391"/>
                </a:moveTo>
                <a:cubicBezTo>
                  <a:pt x="117013" y="77391"/>
                  <a:pt x="125016" y="85393"/>
                  <a:pt x="125016" y="95250"/>
                </a:cubicBezTo>
                <a:cubicBezTo>
                  <a:pt x="125016" y="105107"/>
                  <a:pt x="117013" y="113109"/>
                  <a:pt x="107156" y="113109"/>
                </a:cubicBezTo>
                <a:cubicBezTo>
                  <a:pt x="97299" y="113109"/>
                  <a:pt x="89297" y="105107"/>
                  <a:pt x="89297" y="95250"/>
                </a:cubicBezTo>
                <a:cubicBezTo>
                  <a:pt x="89297" y="85393"/>
                  <a:pt x="97299" y="77391"/>
                  <a:pt x="107156" y="77391"/>
                </a:cubicBezTo>
                <a:close/>
              </a:path>
            </a:pathLst>
          </a:custGeom>
          <a:solidFill>
            <a:srgbClr val="FFFFFF"/>
          </a:solidFill>
          <a:ln/>
        </p:spPr>
        <p:txBody>
          <a:bodyPr/>
          <a:lstStyle/>
          <a:p>
            <a:endParaRPr lang="en-US"/>
          </a:p>
        </p:txBody>
      </p:sp>
      <p:sp>
        <p:nvSpPr>
          <p:cNvPr id="39" name="Text 37"/>
          <p:cNvSpPr/>
          <p:nvPr/>
        </p:nvSpPr>
        <p:spPr>
          <a:xfrm>
            <a:off x="6794500" y="1158875"/>
            <a:ext cx="1524000" cy="222250"/>
          </a:xfrm>
          <a:prstGeom prst="rect">
            <a:avLst/>
          </a:prstGeom>
          <a:noFill/>
          <a:ln/>
        </p:spPr>
        <p:txBody>
          <a:bodyPr wrap="square" lIns="0" tIns="0" rIns="0" bIns="0" rtlCol="0" anchor="ctr"/>
          <a:lstStyle/>
          <a:p>
            <a:pPr>
              <a:lnSpc>
                <a:spcPct val="120000"/>
              </a:lnSpc>
            </a:pPr>
            <a:r>
              <a:rPr lang="en-US" sz="1250" b="1" dirty="0">
                <a:solidFill>
                  <a:srgbClr val="59168B"/>
                </a:solidFill>
                <a:latin typeface="Sorts Mill Goudy" pitchFamily="34" charset="0"/>
                <a:ea typeface="Sorts Mill Goudy" pitchFamily="34" charset="-122"/>
                <a:cs typeface="Sorts Mill Goudy" pitchFamily="34" charset="-120"/>
              </a:rPr>
              <a:t>4. Localization Errors</a:t>
            </a:r>
            <a:endParaRPr lang="en-US" sz="1600" dirty="0"/>
          </a:p>
        </p:txBody>
      </p:sp>
      <p:sp>
        <p:nvSpPr>
          <p:cNvPr id="40" name="Text 38"/>
          <p:cNvSpPr/>
          <p:nvPr/>
        </p:nvSpPr>
        <p:spPr>
          <a:xfrm>
            <a:off x="6318250" y="1524000"/>
            <a:ext cx="5492750" cy="190500"/>
          </a:xfrm>
          <a:prstGeom prst="rect">
            <a:avLst/>
          </a:prstGeom>
          <a:noFill/>
          <a:ln/>
        </p:spPr>
        <p:txBody>
          <a:bodyPr wrap="square" lIns="0" tIns="0" rIns="0" bIns="0" rtlCol="0" anchor="ctr"/>
          <a:lstStyle/>
          <a:p>
            <a:pPr>
              <a:lnSpc>
                <a:spcPct val="130000"/>
              </a:lnSpc>
            </a:pPr>
            <a:r>
              <a:rPr lang="en-US" sz="1000" b="1" dirty="0">
                <a:solidFill>
                  <a:srgbClr val="6E11B0"/>
                </a:solidFill>
                <a:latin typeface="Quattrocento Sans" pitchFamily="34" charset="0"/>
                <a:ea typeface="Quattrocento Sans" pitchFamily="34" charset="-122"/>
                <a:cs typeface="Quattrocento Sans" pitchFamily="34" charset="-120"/>
              </a:rPr>
              <a:t>Problem:</a:t>
            </a:r>
            <a:r>
              <a:rPr lang="en-US" sz="1000" dirty="0">
                <a:solidFill>
                  <a:srgbClr val="6E11B0"/>
                </a:solidFill>
                <a:latin typeface="Quattrocento Sans" pitchFamily="34" charset="0"/>
                <a:ea typeface="Quattrocento Sans" pitchFamily="34" charset="-122"/>
                <a:cs typeface="Quattrocento Sans" pitchFamily="34" charset="-120"/>
              </a:rPr>
              <a:t> Loss function treats small and large box errors equally, leading to incorrect localizations.</a:t>
            </a:r>
            <a:endParaRPr lang="en-US" sz="1600" dirty="0"/>
          </a:p>
        </p:txBody>
      </p:sp>
      <p:sp>
        <p:nvSpPr>
          <p:cNvPr id="41" name="Shape 39"/>
          <p:cNvSpPr/>
          <p:nvPr/>
        </p:nvSpPr>
        <p:spPr>
          <a:xfrm>
            <a:off x="6321425" y="1781175"/>
            <a:ext cx="5419725" cy="577850"/>
          </a:xfrm>
          <a:custGeom>
            <a:avLst/>
            <a:gdLst/>
            <a:ahLst/>
            <a:cxnLst/>
            <a:rect l="l" t="t" r="r" b="b"/>
            <a:pathLst>
              <a:path w="5419725" h="577850">
                <a:moveTo>
                  <a:pt x="31753" y="0"/>
                </a:moveTo>
                <a:lnTo>
                  <a:pt x="5387972" y="0"/>
                </a:lnTo>
                <a:cubicBezTo>
                  <a:pt x="5405497" y="0"/>
                  <a:pt x="5419725" y="14228"/>
                  <a:pt x="5419725" y="31753"/>
                </a:cubicBezTo>
                <a:lnTo>
                  <a:pt x="5419725" y="546097"/>
                </a:lnTo>
                <a:cubicBezTo>
                  <a:pt x="5419725" y="563622"/>
                  <a:pt x="5405497" y="577850"/>
                  <a:pt x="5387972" y="577850"/>
                </a:cubicBezTo>
                <a:lnTo>
                  <a:pt x="31753" y="577850"/>
                </a:lnTo>
                <a:cubicBezTo>
                  <a:pt x="14228" y="577850"/>
                  <a:pt x="0" y="563622"/>
                  <a:pt x="0" y="546097"/>
                </a:cubicBezTo>
                <a:lnTo>
                  <a:pt x="0" y="31753"/>
                </a:lnTo>
                <a:cubicBezTo>
                  <a:pt x="0" y="14228"/>
                  <a:pt x="14228" y="0"/>
                  <a:pt x="31753" y="0"/>
                </a:cubicBezTo>
                <a:close/>
              </a:path>
            </a:pathLst>
          </a:custGeom>
          <a:solidFill>
            <a:srgbClr val="FFFFFF"/>
          </a:solidFill>
          <a:ln w="10160">
            <a:solidFill>
              <a:srgbClr val="DAB2FF"/>
            </a:solidFill>
            <a:prstDash val="solid"/>
          </a:ln>
        </p:spPr>
        <p:txBody>
          <a:bodyPr/>
          <a:lstStyle/>
          <a:p>
            <a:endParaRPr lang="en-US"/>
          </a:p>
        </p:txBody>
      </p:sp>
      <p:sp>
        <p:nvSpPr>
          <p:cNvPr id="42" name="Text 40"/>
          <p:cNvSpPr/>
          <p:nvPr/>
        </p:nvSpPr>
        <p:spPr>
          <a:xfrm>
            <a:off x="6419850" y="1879606"/>
            <a:ext cx="5286375" cy="381000"/>
          </a:xfrm>
          <a:prstGeom prst="rect">
            <a:avLst/>
          </a:prstGeom>
          <a:noFill/>
          <a:ln/>
        </p:spPr>
        <p:txBody>
          <a:bodyPr wrap="square" lIns="0" tIns="0" rIns="0" bIns="0" rtlCol="0" anchor="ctr"/>
          <a:lstStyle/>
          <a:p>
            <a:pPr>
              <a:lnSpc>
                <a:spcPct val="130000"/>
              </a:lnSpc>
            </a:pPr>
            <a:r>
              <a:rPr lang="en-US" sz="1000" b="1" dirty="0">
                <a:solidFill>
                  <a:srgbClr val="6E11B0"/>
                </a:solidFill>
                <a:latin typeface="Quattrocento Sans" pitchFamily="34" charset="0"/>
                <a:ea typeface="Quattrocento Sans" pitchFamily="34" charset="-122"/>
                <a:cs typeface="Quattrocento Sans" pitchFamily="34" charset="-120"/>
              </a:rPr>
              <a:t>Why:</a:t>
            </a:r>
            <a:r>
              <a:rPr lang="en-US" sz="1000" dirty="0">
                <a:solidFill>
                  <a:srgbClr val="6E11B0"/>
                </a:solidFill>
                <a:latin typeface="Quattrocento Sans" pitchFamily="34" charset="0"/>
                <a:ea typeface="Quattrocento Sans" pitchFamily="34" charset="-122"/>
                <a:cs typeface="Quattrocento Sans" pitchFamily="34" charset="-120"/>
              </a:rPr>
              <a:t> A 2-pixel error in a 10×10 box (20%) is worse than in a 100×100 box (2%), but loss treats them equally.</a:t>
            </a:r>
            <a:endParaRPr lang="en-US" sz="1600" dirty="0"/>
          </a:p>
        </p:txBody>
      </p:sp>
      <p:sp>
        <p:nvSpPr>
          <p:cNvPr id="43" name="Shape 41"/>
          <p:cNvSpPr/>
          <p:nvPr/>
        </p:nvSpPr>
        <p:spPr>
          <a:xfrm>
            <a:off x="6318250" y="2425697"/>
            <a:ext cx="5429250" cy="285750"/>
          </a:xfrm>
          <a:custGeom>
            <a:avLst/>
            <a:gdLst/>
            <a:ahLst/>
            <a:cxnLst/>
            <a:rect l="l" t="t" r="r" b="b"/>
            <a:pathLst>
              <a:path w="5429250" h="285750">
                <a:moveTo>
                  <a:pt x="31750" y="0"/>
                </a:moveTo>
                <a:lnTo>
                  <a:pt x="5397500" y="0"/>
                </a:lnTo>
                <a:cubicBezTo>
                  <a:pt x="5415035" y="0"/>
                  <a:pt x="5429250" y="14215"/>
                  <a:pt x="5429250" y="31750"/>
                </a:cubicBezTo>
                <a:lnTo>
                  <a:pt x="5429250" y="254000"/>
                </a:lnTo>
                <a:cubicBezTo>
                  <a:pt x="5429250" y="271535"/>
                  <a:pt x="5415035" y="285750"/>
                  <a:pt x="5397500" y="285750"/>
                </a:cubicBezTo>
                <a:lnTo>
                  <a:pt x="31750" y="285750"/>
                </a:lnTo>
                <a:cubicBezTo>
                  <a:pt x="14215" y="285750"/>
                  <a:pt x="0" y="271535"/>
                  <a:pt x="0" y="254000"/>
                </a:cubicBezTo>
                <a:lnTo>
                  <a:pt x="0" y="31750"/>
                </a:lnTo>
                <a:cubicBezTo>
                  <a:pt x="0" y="14227"/>
                  <a:pt x="14227" y="0"/>
                  <a:pt x="31750" y="0"/>
                </a:cubicBezTo>
                <a:close/>
              </a:path>
            </a:pathLst>
          </a:custGeom>
          <a:solidFill>
            <a:srgbClr val="DCFCE7"/>
          </a:solidFill>
          <a:ln/>
        </p:spPr>
        <p:txBody>
          <a:bodyPr/>
          <a:lstStyle/>
          <a:p>
            <a:endParaRPr lang="en-US"/>
          </a:p>
        </p:txBody>
      </p:sp>
      <p:sp>
        <p:nvSpPr>
          <p:cNvPr id="44" name="Shape 42"/>
          <p:cNvSpPr/>
          <p:nvPr/>
        </p:nvSpPr>
        <p:spPr>
          <a:xfrm>
            <a:off x="6390680" y="2508250"/>
            <a:ext cx="125016" cy="111125"/>
          </a:xfrm>
          <a:custGeom>
            <a:avLst/>
            <a:gdLst/>
            <a:ahLst/>
            <a:cxnLst/>
            <a:rect l="l" t="t" r="r" b="b"/>
            <a:pathLst>
              <a:path w="125016" h="111125">
                <a:moveTo>
                  <a:pt x="110561" y="21400"/>
                </a:moveTo>
                <a:cubicBezTo>
                  <a:pt x="112210" y="19751"/>
                  <a:pt x="114967" y="20163"/>
                  <a:pt x="115791" y="22334"/>
                </a:cubicBezTo>
                <a:cubicBezTo>
                  <a:pt x="117267" y="26175"/>
                  <a:pt x="118070" y="30364"/>
                  <a:pt x="118070" y="34727"/>
                </a:cubicBezTo>
                <a:cubicBezTo>
                  <a:pt x="118070" y="53913"/>
                  <a:pt x="102530" y="69453"/>
                  <a:pt x="83344" y="69453"/>
                </a:cubicBezTo>
                <a:cubicBezTo>
                  <a:pt x="79546" y="69453"/>
                  <a:pt x="75878" y="68845"/>
                  <a:pt x="72448" y="67717"/>
                </a:cubicBezTo>
                <a:lnTo>
                  <a:pt x="31883" y="108282"/>
                </a:lnTo>
                <a:cubicBezTo>
                  <a:pt x="25784" y="114381"/>
                  <a:pt x="15887" y="114381"/>
                  <a:pt x="9789" y="108282"/>
                </a:cubicBezTo>
                <a:cubicBezTo>
                  <a:pt x="3690" y="102183"/>
                  <a:pt x="3690" y="92286"/>
                  <a:pt x="9789" y="86187"/>
                </a:cubicBezTo>
                <a:lnTo>
                  <a:pt x="50354" y="45622"/>
                </a:lnTo>
                <a:cubicBezTo>
                  <a:pt x="49225" y="42193"/>
                  <a:pt x="48617" y="38546"/>
                  <a:pt x="48617" y="34727"/>
                </a:cubicBezTo>
                <a:cubicBezTo>
                  <a:pt x="48617" y="15540"/>
                  <a:pt x="64157" y="0"/>
                  <a:pt x="83344" y="0"/>
                </a:cubicBezTo>
                <a:cubicBezTo>
                  <a:pt x="87706" y="0"/>
                  <a:pt x="91895" y="803"/>
                  <a:pt x="95737" y="2279"/>
                </a:cubicBezTo>
                <a:cubicBezTo>
                  <a:pt x="97907" y="3104"/>
                  <a:pt x="98298" y="5860"/>
                  <a:pt x="96670" y="7510"/>
                </a:cubicBezTo>
                <a:lnTo>
                  <a:pt x="77419" y="26761"/>
                </a:lnTo>
                <a:cubicBezTo>
                  <a:pt x="76767" y="27412"/>
                  <a:pt x="76398" y="28302"/>
                  <a:pt x="76398" y="29214"/>
                </a:cubicBezTo>
                <a:lnTo>
                  <a:pt x="76398" y="38199"/>
                </a:lnTo>
                <a:cubicBezTo>
                  <a:pt x="76398" y="40109"/>
                  <a:pt x="77961" y="41672"/>
                  <a:pt x="79871" y="41672"/>
                </a:cubicBezTo>
                <a:lnTo>
                  <a:pt x="88857" y="41672"/>
                </a:lnTo>
                <a:cubicBezTo>
                  <a:pt x="89768" y="41672"/>
                  <a:pt x="90658" y="41303"/>
                  <a:pt x="91309" y="40652"/>
                </a:cubicBezTo>
                <a:lnTo>
                  <a:pt x="110561" y="21400"/>
                </a:lnTo>
                <a:close/>
              </a:path>
            </a:pathLst>
          </a:custGeom>
          <a:solidFill>
            <a:srgbClr val="016630"/>
          </a:solidFill>
          <a:ln/>
        </p:spPr>
        <p:txBody>
          <a:bodyPr/>
          <a:lstStyle/>
          <a:p>
            <a:endParaRPr lang="en-US"/>
          </a:p>
        </p:txBody>
      </p:sp>
      <p:sp>
        <p:nvSpPr>
          <p:cNvPr id="45" name="Text 43"/>
          <p:cNvSpPr/>
          <p:nvPr/>
        </p:nvSpPr>
        <p:spPr>
          <a:xfrm>
            <a:off x="6564313" y="2489197"/>
            <a:ext cx="5175250" cy="158750"/>
          </a:xfrm>
          <a:prstGeom prst="rect">
            <a:avLst/>
          </a:prstGeom>
          <a:noFill/>
          <a:ln/>
        </p:spPr>
        <p:txBody>
          <a:bodyPr wrap="square" lIns="0" tIns="0" rIns="0" bIns="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Solutions:</a:t>
            </a:r>
            <a:r>
              <a:rPr lang="en-US" sz="875" dirty="0">
                <a:solidFill>
                  <a:srgbClr val="016630"/>
                </a:solidFill>
                <a:latin typeface="Quattrocento Sans" pitchFamily="34" charset="0"/>
                <a:ea typeface="Quattrocento Sans" pitchFamily="34" charset="-122"/>
                <a:cs typeface="Quattrocento Sans" pitchFamily="34" charset="-120"/>
              </a:rPr>
              <a:t> Square root of w,h in loss (YOLOv1), GIoU/DIoU/CIoU losses (later versions)</a:t>
            </a:r>
            <a:endParaRPr lang="en-US" sz="1600" dirty="0"/>
          </a:p>
        </p:txBody>
      </p:sp>
      <p:sp>
        <p:nvSpPr>
          <p:cNvPr id="46" name="Shape 44"/>
          <p:cNvSpPr/>
          <p:nvPr/>
        </p:nvSpPr>
        <p:spPr>
          <a:xfrm>
            <a:off x="6175375" y="2933697"/>
            <a:ext cx="5699125" cy="1889125"/>
          </a:xfrm>
          <a:custGeom>
            <a:avLst/>
            <a:gdLst/>
            <a:ahLst/>
            <a:cxnLst/>
            <a:rect l="l" t="t" r="r" b="b"/>
            <a:pathLst>
              <a:path w="5699125" h="1889125">
                <a:moveTo>
                  <a:pt x="31750" y="0"/>
                </a:moveTo>
                <a:lnTo>
                  <a:pt x="5635632" y="0"/>
                </a:lnTo>
                <a:cubicBezTo>
                  <a:pt x="5670698" y="0"/>
                  <a:pt x="5699125" y="28427"/>
                  <a:pt x="5699125" y="63493"/>
                </a:cubicBezTo>
                <a:lnTo>
                  <a:pt x="5699125" y="1825632"/>
                </a:lnTo>
                <a:cubicBezTo>
                  <a:pt x="5699125" y="1860698"/>
                  <a:pt x="5670698" y="1889125"/>
                  <a:pt x="5635632" y="1889125"/>
                </a:cubicBezTo>
                <a:lnTo>
                  <a:pt x="31750" y="1889125"/>
                </a:lnTo>
                <a:cubicBezTo>
                  <a:pt x="14227" y="1889125"/>
                  <a:pt x="0" y="1874898"/>
                  <a:pt x="0" y="1857375"/>
                </a:cubicBezTo>
                <a:lnTo>
                  <a:pt x="0" y="31750"/>
                </a:lnTo>
                <a:cubicBezTo>
                  <a:pt x="0" y="14227"/>
                  <a:pt x="14227" y="0"/>
                  <a:pt x="31750" y="0"/>
                </a:cubicBezTo>
                <a:close/>
              </a:path>
            </a:pathLst>
          </a:custGeom>
          <a:solidFill>
            <a:srgbClr val="EFF6FF"/>
          </a:solidFill>
          <a:ln/>
        </p:spPr>
        <p:txBody>
          <a:bodyPr/>
          <a:lstStyle/>
          <a:p>
            <a:endParaRPr lang="en-US"/>
          </a:p>
        </p:txBody>
      </p:sp>
      <p:sp>
        <p:nvSpPr>
          <p:cNvPr id="47" name="Shape 45"/>
          <p:cNvSpPr/>
          <p:nvPr/>
        </p:nvSpPr>
        <p:spPr>
          <a:xfrm>
            <a:off x="6175375" y="2933697"/>
            <a:ext cx="31750" cy="1889125"/>
          </a:xfrm>
          <a:custGeom>
            <a:avLst/>
            <a:gdLst/>
            <a:ahLst/>
            <a:cxnLst/>
            <a:rect l="l" t="t" r="r" b="b"/>
            <a:pathLst>
              <a:path w="31750" h="1889125">
                <a:moveTo>
                  <a:pt x="31750" y="0"/>
                </a:moveTo>
                <a:lnTo>
                  <a:pt x="31750" y="0"/>
                </a:lnTo>
                <a:lnTo>
                  <a:pt x="31750" y="1889125"/>
                </a:lnTo>
                <a:lnTo>
                  <a:pt x="31750" y="1889125"/>
                </a:lnTo>
                <a:cubicBezTo>
                  <a:pt x="14227" y="1889125"/>
                  <a:pt x="0" y="1874898"/>
                  <a:pt x="0" y="1857375"/>
                </a:cubicBezTo>
                <a:lnTo>
                  <a:pt x="0" y="31750"/>
                </a:lnTo>
                <a:cubicBezTo>
                  <a:pt x="0" y="14227"/>
                  <a:pt x="14227" y="0"/>
                  <a:pt x="31750" y="0"/>
                </a:cubicBezTo>
                <a:close/>
              </a:path>
            </a:pathLst>
          </a:custGeom>
          <a:solidFill>
            <a:srgbClr val="2B7FFF"/>
          </a:solidFill>
          <a:ln/>
        </p:spPr>
        <p:txBody>
          <a:bodyPr/>
          <a:lstStyle/>
          <a:p>
            <a:endParaRPr lang="en-US"/>
          </a:p>
        </p:txBody>
      </p:sp>
      <p:sp>
        <p:nvSpPr>
          <p:cNvPr id="48" name="Shape 46"/>
          <p:cNvSpPr/>
          <p:nvPr/>
        </p:nvSpPr>
        <p:spPr>
          <a:xfrm>
            <a:off x="6318250" y="3060697"/>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B7FFF"/>
          </a:solidFill>
          <a:ln/>
        </p:spPr>
        <p:txBody>
          <a:bodyPr/>
          <a:lstStyle/>
          <a:p>
            <a:endParaRPr lang="en-US"/>
          </a:p>
        </p:txBody>
      </p:sp>
      <p:sp>
        <p:nvSpPr>
          <p:cNvPr id="49" name="Shape 47"/>
          <p:cNvSpPr/>
          <p:nvPr/>
        </p:nvSpPr>
        <p:spPr>
          <a:xfrm>
            <a:off x="6401594" y="3155947"/>
            <a:ext cx="214313" cy="190500"/>
          </a:xfrm>
          <a:custGeom>
            <a:avLst/>
            <a:gdLst/>
            <a:ahLst/>
            <a:cxnLst/>
            <a:rect l="l" t="t" r="r" b="b"/>
            <a:pathLst>
              <a:path w="214313" h="190500">
                <a:moveTo>
                  <a:pt x="15255" y="-9265"/>
                </a:moveTo>
                <a:cubicBezTo>
                  <a:pt x="11757" y="-12762"/>
                  <a:pt x="6102" y="-12762"/>
                  <a:pt x="2642" y="-9265"/>
                </a:cubicBezTo>
                <a:cubicBezTo>
                  <a:pt x="-819" y="-5767"/>
                  <a:pt x="-856" y="-112"/>
                  <a:pt x="2604" y="3386"/>
                </a:cubicBezTo>
                <a:lnTo>
                  <a:pt x="199058" y="199839"/>
                </a:lnTo>
                <a:cubicBezTo>
                  <a:pt x="202555" y="203336"/>
                  <a:pt x="208211" y="203336"/>
                  <a:pt x="211671" y="199839"/>
                </a:cubicBezTo>
                <a:cubicBezTo>
                  <a:pt x="215131" y="196342"/>
                  <a:pt x="215168" y="190686"/>
                  <a:pt x="211671" y="187226"/>
                </a:cubicBezTo>
                <a:lnTo>
                  <a:pt x="175803" y="151358"/>
                </a:lnTo>
                <a:cubicBezTo>
                  <a:pt x="176808" y="150465"/>
                  <a:pt x="177812" y="149572"/>
                  <a:pt x="178780" y="148679"/>
                </a:cubicBezTo>
                <a:cubicBezTo>
                  <a:pt x="196193" y="132494"/>
                  <a:pt x="207838" y="113184"/>
                  <a:pt x="213382" y="99901"/>
                </a:cubicBezTo>
                <a:cubicBezTo>
                  <a:pt x="214610" y="96962"/>
                  <a:pt x="214610" y="93687"/>
                  <a:pt x="213382" y="90748"/>
                </a:cubicBezTo>
                <a:cubicBezTo>
                  <a:pt x="207838" y="77465"/>
                  <a:pt x="196193" y="58117"/>
                  <a:pt x="178780" y="41970"/>
                </a:cubicBezTo>
                <a:cubicBezTo>
                  <a:pt x="161255" y="25710"/>
                  <a:pt x="137182" y="11981"/>
                  <a:pt x="107119" y="11981"/>
                </a:cubicBezTo>
                <a:cubicBezTo>
                  <a:pt x="85985" y="11981"/>
                  <a:pt x="67828" y="18752"/>
                  <a:pt x="52797" y="28426"/>
                </a:cubicBezTo>
                <a:lnTo>
                  <a:pt x="15255" y="-9265"/>
                </a:lnTo>
                <a:close/>
                <a:moveTo>
                  <a:pt x="76088" y="51606"/>
                </a:moveTo>
                <a:cubicBezTo>
                  <a:pt x="84832" y="45355"/>
                  <a:pt x="95585" y="41672"/>
                  <a:pt x="107156" y="41672"/>
                </a:cubicBezTo>
                <a:cubicBezTo>
                  <a:pt x="136736" y="41672"/>
                  <a:pt x="160734" y="65670"/>
                  <a:pt x="160734" y="95250"/>
                </a:cubicBezTo>
                <a:cubicBezTo>
                  <a:pt x="160734" y="106821"/>
                  <a:pt x="157051" y="117537"/>
                  <a:pt x="150800" y="126318"/>
                </a:cubicBezTo>
                <a:lnTo>
                  <a:pt x="137889" y="113407"/>
                </a:lnTo>
                <a:cubicBezTo>
                  <a:pt x="142615" y="105445"/>
                  <a:pt x="144214" y="95659"/>
                  <a:pt x="141647" y="85985"/>
                </a:cubicBezTo>
                <a:cubicBezTo>
                  <a:pt x="136550" y="66935"/>
                  <a:pt x="116942" y="55625"/>
                  <a:pt x="97892" y="60722"/>
                </a:cubicBezTo>
                <a:cubicBezTo>
                  <a:pt x="94692" y="61578"/>
                  <a:pt x="91678" y="62843"/>
                  <a:pt x="88962" y="64443"/>
                </a:cubicBezTo>
                <a:lnTo>
                  <a:pt x="76051" y="51532"/>
                </a:lnTo>
                <a:close/>
                <a:moveTo>
                  <a:pt x="121034" y="147005"/>
                </a:moveTo>
                <a:cubicBezTo>
                  <a:pt x="116607" y="148196"/>
                  <a:pt x="111956" y="148828"/>
                  <a:pt x="107156" y="148828"/>
                </a:cubicBezTo>
                <a:cubicBezTo>
                  <a:pt x="77577" y="148828"/>
                  <a:pt x="53578" y="124830"/>
                  <a:pt x="53578" y="95250"/>
                </a:cubicBezTo>
                <a:cubicBezTo>
                  <a:pt x="53578" y="90450"/>
                  <a:pt x="54211" y="85799"/>
                  <a:pt x="55401" y="81372"/>
                </a:cubicBezTo>
                <a:lnTo>
                  <a:pt x="25822" y="51792"/>
                </a:lnTo>
                <a:cubicBezTo>
                  <a:pt x="13692" y="65484"/>
                  <a:pt x="5358" y="79995"/>
                  <a:pt x="930" y="90674"/>
                </a:cubicBezTo>
                <a:cubicBezTo>
                  <a:pt x="-298" y="93613"/>
                  <a:pt x="-298" y="96887"/>
                  <a:pt x="930" y="99826"/>
                </a:cubicBezTo>
                <a:cubicBezTo>
                  <a:pt x="6474" y="113109"/>
                  <a:pt x="18120" y="132457"/>
                  <a:pt x="35533" y="148605"/>
                </a:cubicBezTo>
                <a:cubicBezTo>
                  <a:pt x="53057" y="164864"/>
                  <a:pt x="77130" y="178594"/>
                  <a:pt x="107193" y="178594"/>
                </a:cubicBezTo>
                <a:cubicBezTo>
                  <a:pt x="121072" y="178594"/>
                  <a:pt x="133685" y="175654"/>
                  <a:pt x="144959" y="170929"/>
                </a:cubicBezTo>
                <a:lnTo>
                  <a:pt x="121072" y="147042"/>
                </a:lnTo>
                <a:close/>
              </a:path>
            </a:pathLst>
          </a:custGeom>
          <a:solidFill>
            <a:srgbClr val="FFFFFF"/>
          </a:solidFill>
          <a:ln/>
        </p:spPr>
        <p:txBody>
          <a:bodyPr/>
          <a:lstStyle/>
          <a:p>
            <a:endParaRPr lang="en-US"/>
          </a:p>
        </p:txBody>
      </p:sp>
      <p:sp>
        <p:nvSpPr>
          <p:cNvPr id="50" name="Text 48"/>
          <p:cNvSpPr/>
          <p:nvPr/>
        </p:nvSpPr>
        <p:spPr>
          <a:xfrm>
            <a:off x="6794500" y="3140072"/>
            <a:ext cx="1357313" cy="222250"/>
          </a:xfrm>
          <a:prstGeom prst="rect">
            <a:avLst/>
          </a:prstGeom>
          <a:noFill/>
          <a:ln/>
        </p:spPr>
        <p:txBody>
          <a:bodyPr wrap="square" lIns="0" tIns="0" rIns="0" bIns="0" rtlCol="0" anchor="ctr"/>
          <a:lstStyle/>
          <a:p>
            <a:pPr>
              <a:lnSpc>
                <a:spcPct val="120000"/>
              </a:lnSpc>
            </a:pPr>
            <a:r>
              <a:rPr lang="en-US" sz="1250" b="1" dirty="0">
                <a:solidFill>
                  <a:srgbClr val="1C398E"/>
                </a:solidFill>
                <a:latin typeface="Sorts Mill Goudy" pitchFamily="34" charset="0"/>
                <a:ea typeface="Sorts Mill Goudy" pitchFamily="34" charset="-122"/>
                <a:cs typeface="Sorts Mill Goudy" pitchFamily="34" charset="-120"/>
              </a:rPr>
              <a:t>5. Limited Context</a:t>
            </a:r>
            <a:endParaRPr lang="en-US" sz="1600" dirty="0"/>
          </a:p>
        </p:txBody>
      </p:sp>
      <p:sp>
        <p:nvSpPr>
          <p:cNvPr id="51" name="Text 49"/>
          <p:cNvSpPr/>
          <p:nvPr/>
        </p:nvSpPr>
        <p:spPr>
          <a:xfrm>
            <a:off x="6318250" y="3505197"/>
            <a:ext cx="5492750" cy="190500"/>
          </a:xfrm>
          <a:prstGeom prst="rect">
            <a:avLst/>
          </a:prstGeom>
          <a:noFill/>
          <a:ln/>
        </p:spPr>
        <p:txBody>
          <a:bodyPr wrap="square" lIns="0" tIns="0" rIns="0" bIns="0" rtlCol="0" anchor="ctr"/>
          <a:lstStyle/>
          <a:p>
            <a:pPr>
              <a:lnSpc>
                <a:spcPct val="130000"/>
              </a:lnSpc>
            </a:pPr>
            <a:r>
              <a:rPr lang="en-US" sz="1000" b="1" dirty="0">
                <a:solidFill>
                  <a:srgbClr val="193CB8"/>
                </a:solidFill>
                <a:latin typeface="Quattrocento Sans" pitchFamily="34" charset="0"/>
                <a:ea typeface="Quattrocento Sans" pitchFamily="34" charset="-122"/>
                <a:cs typeface="Quattrocento Sans" pitchFamily="34" charset="-120"/>
              </a:rPr>
              <a:t>Problem:</a:t>
            </a:r>
            <a:r>
              <a:rPr lang="en-US" sz="1000" dirty="0">
                <a:solidFill>
                  <a:srgbClr val="193CB8"/>
                </a:solidFill>
                <a:latin typeface="Quattrocento Sans" pitchFamily="34" charset="0"/>
                <a:ea typeface="Quattrocento Sans" pitchFamily="34" charset="-122"/>
                <a:cs typeface="Quattrocento Sans" pitchFamily="34" charset="-120"/>
              </a:rPr>
              <a:t> Processes grid cells independently, lacking global context awareness for complex scenes.</a:t>
            </a:r>
            <a:endParaRPr lang="en-US" sz="1600" dirty="0"/>
          </a:p>
        </p:txBody>
      </p:sp>
      <p:sp>
        <p:nvSpPr>
          <p:cNvPr id="52" name="Shape 50"/>
          <p:cNvSpPr/>
          <p:nvPr/>
        </p:nvSpPr>
        <p:spPr>
          <a:xfrm>
            <a:off x="6321425" y="3762372"/>
            <a:ext cx="5419725" cy="577850"/>
          </a:xfrm>
          <a:custGeom>
            <a:avLst/>
            <a:gdLst/>
            <a:ahLst/>
            <a:cxnLst/>
            <a:rect l="l" t="t" r="r" b="b"/>
            <a:pathLst>
              <a:path w="5419725" h="577850">
                <a:moveTo>
                  <a:pt x="31753" y="0"/>
                </a:moveTo>
                <a:lnTo>
                  <a:pt x="5387972" y="0"/>
                </a:lnTo>
                <a:cubicBezTo>
                  <a:pt x="5405497" y="0"/>
                  <a:pt x="5419725" y="14228"/>
                  <a:pt x="5419725" y="31753"/>
                </a:cubicBezTo>
                <a:lnTo>
                  <a:pt x="5419725" y="546097"/>
                </a:lnTo>
                <a:cubicBezTo>
                  <a:pt x="5419725" y="563622"/>
                  <a:pt x="5405497" y="577850"/>
                  <a:pt x="5387972" y="577850"/>
                </a:cubicBezTo>
                <a:lnTo>
                  <a:pt x="31753" y="577850"/>
                </a:lnTo>
                <a:cubicBezTo>
                  <a:pt x="14228" y="577850"/>
                  <a:pt x="0" y="563622"/>
                  <a:pt x="0" y="546097"/>
                </a:cubicBezTo>
                <a:lnTo>
                  <a:pt x="0" y="31753"/>
                </a:lnTo>
                <a:cubicBezTo>
                  <a:pt x="0" y="14228"/>
                  <a:pt x="14228" y="0"/>
                  <a:pt x="31753" y="0"/>
                </a:cubicBezTo>
                <a:close/>
              </a:path>
            </a:pathLst>
          </a:custGeom>
          <a:solidFill>
            <a:srgbClr val="FFFFFF"/>
          </a:solidFill>
          <a:ln w="10160">
            <a:solidFill>
              <a:srgbClr val="8EC5FF"/>
            </a:solidFill>
            <a:prstDash val="solid"/>
          </a:ln>
        </p:spPr>
        <p:txBody>
          <a:bodyPr/>
          <a:lstStyle/>
          <a:p>
            <a:endParaRPr lang="en-US"/>
          </a:p>
        </p:txBody>
      </p:sp>
      <p:sp>
        <p:nvSpPr>
          <p:cNvPr id="53" name="Text 51"/>
          <p:cNvSpPr/>
          <p:nvPr/>
        </p:nvSpPr>
        <p:spPr>
          <a:xfrm>
            <a:off x="6419850" y="3860803"/>
            <a:ext cx="5286375" cy="381000"/>
          </a:xfrm>
          <a:prstGeom prst="rect">
            <a:avLst/>
          </a:prstGeom>
          <a:noFill/>
          <a:ln/>
        </p:spPr>
        <p:txBody>
          <a:bodyPr wrap="square" lIns="0" tIns="0" rIns="0" bIns="0" rtlCol="0" anchor="ctr"/>
          <a:lstStyle/>
          <a:p>
            <a:pPr>
              <a:lnSpc>
                <a:spcPct val="130000"/>
              </a:lnSpc>
            </a:pPr>
            <a:r>
              <a:rPr lang="en-US" sz="1000" b="1" dirty="0">
                <a:solidFill>
                  <a:srgbClr val="193CB8"/>
                </a:solidFill>
                <a:latin typeface="Quattrocento Sans" pitchFamily="34" charset="0"/>
                <a:ea typeface="Quattrocento Sans" pitchFamily="34" charset="-122"/>
                <a:cs typeface="Quattrocento Sans" pitchFamily="34" charset="-120"/>
              </a:rPr>
              <a:t>Example:</a:t>
            </a:r>
            <a:r>
              <a:rPr lang="en-US" sz="1000" dirty="0">
                <a:solidFill>
                  <a:srgbClr val="193CB8"/>
                </a:solidFill>
                <a:latin typeface="Quattrocento Sans" pitchFamily="34" charset="0"/>
                <a:ea typeface="Quattrocento Sans" pitchFamily="34" charset="-122"/>
                <a:cs typeface="Quattrocento Sans" pitchFamily="34" charset="-120"/>
              </a:rPr>
              <a:t> In a scene with a person holding a bicycle, YOLO might misclassify the bicycle as separate or fail to detect it if partially obscured.</a:t>
            </a:r>
            <a:endParaRPr lang="en-US" sz="1600" dirty="0"/>
          </a:p>
        </p:txBody>
      </p:sp>
      <p:sp>
        <p:nvSpPr>
          <p:cNvPr id="54" name="Shape 52"/>
          <p:cNvSpPr/>
          <p:nvPr/>
        </p:nvSpPr>
        <p:spPr>
          <a:xfrm>
            <a:off x="6318250" y="4406909"/>
            <a:ext cx="5429250" cy="285750"/>
          </a:xfrm>
          <a:custGeom>
            <a:avLst/>
            <a:gdLst/>
            <a:ahLst/>
            <a:cxnLst/>
            <a:rect l="l" t="t" r="r" b="b"/>
            <a:pathLst>
              <a:path w="5429250" h="285750">
                <a:moveTo>
                  <a:pt x="31750" y="0"/>
                </a:moveTo>
                <a:lnTo>
                  <a:pt x="5397500" y="0"/>
                </a:lnTo>
                <a:cubicBezTo>
                  <a:pt x="5415035" y="0"/>
                  <a:pt x="5429250" y="14215"/>
                  <a:pt x="5429250" y="31750"/>
                </a:cubicBezTo>
                <a:lnTo>
                  <a:pt x="5429250" y="254000"/>
                </a:lnTo>
                <a:cubicBezTo>
                  <a:pt x="5429250" y="271535"/>
                  <a:pt x="5415035" y="285750"/>
                  <a:pt x="5397500" y="285750"/>
                </a:cubicBezTo>
                <a:lnTo>
                  <a:pt x="31750" y="285750"/>
                </a:lnTo>
                <a:cubicBezTo>
                  <a:pt x="14215" y="285750"/>
                  <a:pt x="0" y="271535"/>
                  <a:pt x="0" y="254000"/>
                </a:cubicBezTo>
                <a:lnTo>
                  <a:pt x="0" y="31750"/>
                </a:lnTo>
                <a:cubicBezTo>
                  <a:pt x="0" y="14227"/>
                  <a:pt x="14227" y="0"/>
                  <a:pt x="31750" y="0"/>
                </a:cubicBezTo>
                <a:close/>
              </a:path>
            </a:pathLst>
          </a:custGeom>
          <a:solidFill>
            <a:srgbClr val="DCFCE7"/>
          </a:solidFill>
          <a:ln/>
        </p:spPr>
        <p:txBody>
          <a:bodyPr/>
          <a:lstStyle/>
          <a:p>
            <a:endParaRPr lang="en-US"/>
          </a:p>
        </p:txBody>
      </p:sp>
      <p:sp>
        <p:nvSpPr>
          <p:cNvPr id="55" name="Shape 53"/>
          <p:cNvSpPr/>
          <p:nvPr/>
        </p:nvSpPr>
        <p:spPr>
          <a:xfrm>
            <a:off x="6390680" y="4489447"/>
            <a:ext cx="125016" cy="111125"/>
          </a:xfrm>
          <a:custGeom>
            <a:avLst/>
            <a:gdLst/>
            <a:ahLst/>
            <a:cxnLst/>
            <a:rect l="l" t="t" r="r" b="b"/>
            <a:pathLst>
              <a:path w="125016" h="111125">
                <a:moveTo>
                  <a:pt x="110561" y="21400"/>
                </a:moveTo>
                <a:cubicBezTo>
                  <a:pt x="112210" y="19751"/>
                  <a:pt x="114967" y="20163"/>
                  <a:pt x="115791" y="22334"/>
                </a:cubicBezTo>
                <a:cubicBezTo>
                  <a:pt x="117267" y="26175"/>
                  <a:pt x="118070" y="30364"/>
                  <a:pt x="118070" y="34727"/>
                </a:cubicBezTo>
                <a:cubicBezTo>
                  <a:pt x="118070" y="53913"/>
                  <a:pt x="102530" y="69453"/>
                  <a:pt x="83344" y="69453"/>
                </a:cubicBezTo>
                <a:cubicBezTo>
                  <a:pt x="79546" y="69453"/>
                  <a:pt x="75878" y="68845"/>
                  <a:pt x="72448" y="67717"/>
                </a:cubicBezTo>
                <a:lnTo>
                  <a:pt x="31883" y="108282"/>
                </a:lnTo>
                <a:cubicBezTo>
                  <a:pt x="25784" y="114381"/>
                  <a:pt x="15887" y="114381"/>
                  <a:pt x="9789" y="108282"/>
                </a:cubicBezTo>
                <a:cubicBezTo>
                  <a:pt x="3690" y="102183"/>
                  <a:pt x="3690" y="92286"/>
                  <a:pt x="9789" y="86187"/>
                </a:cubicBezTo>
                <a:lnTo>
                  <a:pt x="50354" y="45622"/>
                </a:lnTo>
                <a:cubicBezTo>
                  <a:pt x="49225" y="42193"/>
                  <a:pt x="48617" y="38546"/>
                  <a:pt x="48617" y="34727"/>
                </a:cubicBezTo>
                <a:cubicBezTo>
                  <a:pt x="48617" y="15540"/>
                  <a:pt x="64157" y="0"/>
                  <a:pt x="83344" y="0"/>
                </a:cubicBezTo>
                <a:cubicBezTo>
                  <a:pt x="87706" y="0"/>
                  <a:pt x="91895" y="803"/>
                  <a:pt x="95737" y="2279"/>
                </a:cubicBezTo>
                <a:cubicBezTo>
                  <a:pt x="97907" y="3104"/>
                  <a:pt x="98298" y="5860"/>
                  <a:pt x="96670" y="7510"/>
                </a:cubicBezTo>
                <a:lnTo>
                  <a:pt x="77419" y="26761"/>
                </a:lnTo>
                <a:cubicBezTo>
                  <a:pt x="76767" y="27412"/>
                  <a:pt x="76398" y="28302"/>
                  <a:pt x="76398" y="29214"/>
                </a:cubicBezTo>
                <a:lnTo>
                  <a:pt x="76398" y="38199"/>
                </a:lnTo>
                <a:cubicBezTo>
                  <a:pt x="76398" y="40109"/>
                  <a:pt x="77961" y="41672"/>
                  <a:pt x="79871" y="41672"/>
                </a:cubicBezTo>
                <a:lnTo>
                  <a:pt x="88857" y="41672"/>
                </a:lnTo>
                <a:cubicBezTo>
                  <a:pt x="89768" y="41672"/>
                  <a:pt x="90658" y="41303"/>
                  <a:pt x="91309" y="40652"/>
                </a:cubicBezTo>
                <a:lnTo>
                  <a:pt x="110561" y="21400"/>
                </a:lnTo>
                <a:close/>
              </a:path>
            </a:pathLst>
          </a:custGeom>
          <a:solidFill>
            <a:srgbClr val="016630"/>
          </a:solidFill>
          <a:ln/>
        </p:spPr>
        <p:txBody>
          <a:bodyPr/>
          <a:lstStyle/>
          <a:p>
            <a:endParaRPr lang="en-US"/>
          </a:p>
        </p:txBody>
      </p:sp>
      <p:sp>
        <p:nvSpPr>
          <p:cNvPr id="56" name="Text 54"/>
          <p:cNvSpPr/>
          <p:nvPr/>
        </p:nvSpPr>
        <p:spPr>
          <a:xfrm>
            <a:off x="6564313" y="4470409"/>
            <a:ext cx="5175250" cy="158750"/>
          </a:xfrm>
          <a:prstGeom prst="rect">
            <a:avLst/>
          </a:prstGeom>
          <a:noFill/>
          <a:ln/>
        </p:spPr>
        <p:txBody>
          <a:bodyPr wrap="square" lIns="0" tIns="0" rIns="0" bIns="0" rtlCol="0" anchor="ctr"/>
          <a:lstStyle/>
          <a:p>
            <a:pPr>
              <a:lnSpc>
                <a:spcPct val="120000"/>
              </a:lnSpc>
            </a:pPr>
            <a:r>
              <a:rPr lang="en-US" sz="875" b="1" dirty="0">
                <a:solidFill>
                  <a:srgbClr val="016630"/>
                </a:solidFill>
                <a:latin typeface="Quattrocento Sans" pitchFamily="34" charset="0"/>
                <a:ea typeface="Quattrocento Sans" pitchFamily="34" charset="-122"/>
                <a:cs typeface="Quattrocento Sans" pitchFamily="34" charset="-120"/>
              </a:rPr>
              <a:t>Solutions:</a:t>
            </a:r>
            <a:r>
              <a:rPr lang="en-US" sz="875" dirty="0">
                <a:solidFill>
                  <a:srgbClr val="016630"/>
                </a:solidFill>
                <a:latin typeface="Quattrocento Sans" pitchFamily="34" charset="0"/>
                <a:ea typeface="Quattrocento Sans" pitchFamily="34" charset="-122"/>
                <a:cs typeface="Quattrocento Sans" pitchFamily="34" charset="-120"/>
              </a:rPr>
              <a:t> Attention mechanisms, transformer-based detectors, larger receptive fields</a:t>
            </a:r>
            <a:endParaRPr lang="en-US" sz="1600" dirty="0"/>
          </a:p>
        </p:txBody>
      </p:sp>
      <p:sp>
        <p:nvSpPr>
          <p:cNvPr id="57" name="Shape 55"/>
          <p:cNvSpPr/>
          <p:nvPr/>
        </p:nvSpPr>
        <p:spPr>
          <a:xfrm>
            <a:off x="6159500" y="4914909"/>
            <a:ext cx="5715000" cy="1714500"/>
          </a:xfrm>
          <a:custGeom>
            <a:avLst/>
            <a:gdLst/>
            <a:ahLst/>
            <a:cxnLst/>
            <a:rect l="l" t="t" r="r" b="b"/>
            <a:pathLst>
              <a:path w="5715000" h="1714500">
                <a:moveTo>
                  <a:pt x="63505" y="0"/>
                </a:moveTo>
                <a:lnTo>
                  <a:pt x="5651495" y="0"/>
                </a:lnTo>
                <a:cubicBezTo>
                  <a:pt x="5686568" y="0"/>
                  <a:pt x="5715000" y="28432"/>
                  <a:pt x="5715000" y="63505"/>
                </a:cubicBezTo>
                <a:lnTo>
                  <a:pt x="5715000" y="1650995"/>
                </a:lnTo>
                <a:cubicBezTo>
                  <a:pt x="5715000" y="1686068"/>
                  <a:pt x="5686568" y="1714500"/>
                  <a:pt x="5651495" y="1714500"/>
                </a:cubicBezTo>
                <a:lnTo>
                  <a:pt x="63505" y="1714500"/>
                </a:lnTo>
                <a:cubicBezTo>
                  <a:pt x="28432" y="1714500"/>
                  <a:pt x="0" y="1686068"/>
                  <a:pt x="0" y="1650995"/>
                </a:cubicBezTo>
                <a:lnTo>
                  <a:pt x="0" y="63505"/>
                </a:lnTo>
                <a:cubicBezTo>
                  <a:pt x="0" y="28456"/>
                  <a:pt x="28456" y="0"/>
                  <a:pt x="63505" y="0"/>
                </a:cubicBezTo>
                <a:close/>
              </a:path>
            </a:pathLst>
          </a:custGeom>
          <a:solidFill>
            <a:srgbClr val="8B0000"/>
          </a:solidFill>
          <a:ln/>
        </p:spPr>
        <p:txBody>
          <a:bodyPr/>
          <a:lstStyle/>
          <a:p>
            <a:endParaRPr lang="en-US"/>
          </a:p>
        </p:txBody>
      </p:sp>
      <p:sp>
        <p:nvSpPr>
          <p:cNvPr id="58" name="Shape 56"/>
          <p:cNvSpPr/>
          <p:nvPr/>
        </p:nvSpPr>
        <p:spPr>
          <a:xfrm>
            <a:off x="6306344" y="5081597"/>
            <a:ext cx="142875" cy="142875"/>
          </a:xfrm>
          <a:custGeom>
            <a:avLst/>
            <a:gdLst/>
            <a:ahLst/>
            <a:cxnLst/>
            <a:rect l="l" t="t" r="r" b="b"/>
            <a:pathLst>
              <a:path w="142875" h="142875">
                <a:moveTo>
                  <a:pt x="17859" y="17859"/>
                </a:moveTo>
                <a:cubicBezTo>
                  <a:pt x="17859" y="12920"/>
                  <a:pt x="13869" y="8930"/>
                  <a:pt x="8930" y="8930"/>
                </a:cubicBezTo>
                <a:cubicBezTo>
                  <a:pt x="3990" y="8930"/>
                  <a:pt x="0" y="12920"/>
                  <a:pt x="0" y="17859"/>
                </a:cubicBezTo>
                <a:lnTo>
                  <a:pt x="0" y="111621"/>
                </a:lnTo>
                <a:cubicBezTo>
                  <a:pt x="0" y="123955"/>
                  <a:pt x="9990" y="133945"/>
                  <a:pt x="22324" y="133945"/>
                </a:cubicBezTo>
                <a:lnTo>
                  <a:pt x="133945" y="133945"/>
                </a:lnTo>
                <a:cubicBezTo>
                  <a:pt x="138885" y="133945"/>
                  <a:pt x="142875" y="129955"/>
                  <a:pt x="142875" y="125016"/>
                </a:cubicBezTo>
                <a:cubicBezTo>
                  <a:pt x="142875" y="120076"/>
                  <a:pt x="138885" y="116086"/>
                  <a:pt x="133945" y="116086"/>
                </a:cubicBezTo>
                <a:lnTo>
                  <a:pt x="22324" y="116086"/>
                </a:lnTo>
                <a:cubicBezTo>
                  <a:pt x="19869" y="116086"/>
                  <a:pt x="17859" y="114077"/>
                  <a:pt x="17859" y="111621"/>
                </a:cubicBezTo>
                <a:lnTo>
                  <a:pt x="17859" y="17859"/>
                </a:lnTo>
                <a:close/>
                <a:moveTo>
                  <a:pt x="131322" y="42025"/>
                </a:moveTo>
                <a:cubicBezTo>
                  <a:pt x="134810" y="38537"/>
                  <a:pt x="134810" y="32872"/>
                  <a:pt x="131322" y="29384"/>
                </a:cubicBezTo>
                <a:cubicBezTo>
                  <a:pt x="127834" y="25896"/>
                  <a:pt x="122169" y="25896"/>
                  <a:pt x="118681" y="29384"/>
                </a:cubicBezTo>
                <a:lnTo>
                  <a:pt x="89297" y="58796"/>
                </a:lnTo>
                <a:lnTo>
                  <a:pt x="73279" y="42807"/>
                </a:lnTo>
                <a:cubicBezTo>
                  <a:pt x="69791" y="39319"/>
                  <a:pt x="64126" y="39319"/>
                  <a:pt x="60638" y="42807"/>
                </a:cubicBezTo>
                <a:lnTo>
                  <a:pt x="33849" y="69596"/>
                </a:lnTo>
                <a:cubicBezTo>
                  <a:pt x="30361" y="73084"/>
                  <a:pt x="30361" y="78749"/>
                  <a:pt x="33849" y="82237"/>
                </a:cubicBezTo>
                <a:cubicBezTo>
                  <a:pt x="37337" y="85725"/>
                  <a:pt x="43002" y="85725"/>
                  <a:pt x="46490" y="82237"/>
                </a:cubicBezTo>
                <a:lnTo>
                  <a:pt x="66973" y="61754"/>
                </a:lnTo>
                <a:lnTo>
                  <a:pt x="82990" y="77772"/>
                </a:lnTo>
                <a:cubicBezTo>
                  <a:pt x="86478" y="81260"/>
                  <a:pt x="92143" y="81260"/>
                  <a:pt x="95631" y="77772"/>
                </a:cubicBezTo>
                <a:lnTo>
                  <a:pt x="131350" y="42053"/>
                </a:lnTo>
                <a:close/>
              </a:path>
            </a:pathLst>
          </a:custGeom>
          <a:solidFill>
            <a:srgbClr val="FFFFFF"/>
          </a:solidFill>
          <a:ln/>
        </p:spPr>
        <p:txBody>
          <a:bodyPr/>
          <a:lstStyle/>
          <a:p>
            <a:endParaRPr lang="en-US"/>
          </a:p>
        </p:txBody>
      </p:sp>
      <p:sp>
        <p:nvSpPr>
          <p:cNvPr id="59" name="Text 57"/>
          <p:cNvSpPr/>
          <p:nvPr/>
        </p:nvSpPr>
        <p:spPr>
          <a:xfrm>
            <a:off x="6469063" y="5041909"/>
            <a:ext cx="53498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Performance Summary</a:t>
            </a:r>
            <a:endParaRPr lang="en-US" sz="1600" dirty="0"/>
          </a:p>
        </p:txBody>
      </p:sp>
      <p:sp>
        <p:nvSpPr>
          <p:cNvPr id="60" name="Shape 58"/>
          <p:cNvSpPr/>
          <p:nvPr/>
        </p:nvSpPr>
        <p:spPr>
          <a:xfrm>
            <a:off x="6286500" y="5327659"/>
            <a:ext cx="5461000" cy="349250"/>
          </a:xfrm>
          <a:custGeom>
            <a:avLst/>
            <a:gdLst/>
            <a:ahLst/>
            <a:cxnLst/>
            <a:rect l="l" t="t" r="r" b="b"/>
            <a:pathLst>
              <a:path w="5461000" h="349250">
                <a:moveTo>
                  <a:pt x="31750" y="0"/>
                </a:moveTo>
                <a:lnTo>
                  <a:pt x="5429250" y="0"/>
                </a:lnTo>
                <a:cubicBezTo>
                  <a:pt x="5446785" y="0"/>
                  <a:pt x="5461000" y="14215"/>
                  <a:pt x="5461000" y="31750"/>
                </a:cubicBezTo>
                <a:lnTo>
                  <a:pt x="5461000" y="317500"/>
                </a:lnTo>
                <a:cubicBezTo>
                  <a:pt x="5461000" y="335035"/>
                  <a:pt x="5446785" y="349250"/>
                  <a:pt x="5429250" y="349250"/>
                </a:cubicBezTo>
                <a:lnTo>
                  <a:pt x="31750" y="349250"/>
                </a:lnTo>
                <a:cubicBezTo>
                  <a:pt x="14215" y="349250"/>
                  <a:pt x="0" y="335035"/>
                  <a:pt x="0" y="317500"/>
                </a:cubicBezTo>
                <a:lnTo>
                  <a:pt x="0" y="31750"/>
                </a:lnTo>
                <a:cubicBezTo>
                  <a:pt x="0" y="14215"/>
                  <a:pt x="14215" y="0"/>
                  <a:pt x="31750" y="0"/>
                </a:cubicBezTo>
                <a:close/>
              </a:path>
            </a:pathLst>
          </a:custGeom>
          <a:solidFill>
            <a:srgbClr val="FFFFFF">
              <a:alpha val="20000"/>
            </a:srgbClr>
          </a:solidFill>
          <a:ln/>
        </p:spPr>
        <p:txBody>
          <a:bodyPr/>
          <a:lstStyle/>
          <a:p>
            <a:endParaRPr lang="en-US"/>
          </a:p>
        </p:txBody>
      </p:sp>
      <p:sp>
        <p:nvSpPr>
          <p:cNvPr id="61" name="Text 59"/>
          <p:cNvSpPr/>
          <p:nvPr/>
        </p:nvSpPr>
        <p:spPr>
          <a:xfrm>
            <a:off x="6350000" y="5407034"/>
            <a:ext cx="793750"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Small objects</a:t>
            </a:r>
            <a:endParaRPr lang="en-US" sz="1600" dirty="0"/>
          </a:p>
        </p:txBody>
      </p:sp>
      <p:sp>
        <p:nvSpPr>
          <p:cNvPr id="62" name="Shape 60"/>
          <p:cNvSpPr/>
          <p:nvPr/>
        </p:nvSpPr>
        <p:spPr>
          <a:xfrm>
            <a:off x="11271350" y="5391159"/>
            <a:ext cx="412750" cy="222250"/>
          </a:xfrm>
          <a:custGeom>
            <a:avLst/>
            <a:gdLst/>
            <a:ahLst/>
            <a:cxnLst/>
            <a:rect l="l" t="t" r="r" b="b"/>
            <a:pathLst>
              <a:path w="412750" h="222250">
                <a:moveTo>
                  <a:pt x="31751" y="0"/>
                </a:moveTo>
                <a:lnTo>
                  <a:pt x="380999" y="0"/>
                </a:lnTo>
                <a:cubicBezTo>
                  <a:pt x="398535" y="0"/>
                  <a:pt x="412750" y="14215"/>
                  <a:pt x="412750" y="31751"/>
                </a:cubicBezTo>
                <a:lnTo>
                  <a:pt x="412750" y="190499"/>
                </a:lnTo>
                <a:cubicBezTo>
                  <a:pt x="412750" y="208035"/>
                  <a:pt x="398535" y="222250"/>
                  <a:pt x="380999" y="222250"/>
                </a:cubicBezTo>
                <a:lnTo>
                  <a:pt x="31751" y="222250"/>
                </a:lnTo>
                <a:cubicBezTo>
                  <a:pt x="14227" y="222250"/>
                  <a:pt x="0" y="208023"/>
                  <a:pt x="0" y="190499"/>
                </a:cubicBezTo>
                <a:lnTo>
                  <a:pt x="0" y="31751"/>
                </a:lnTo>
                <a:cubicBezTo>
                  <a:pt x="0" y="14227"/>
                  <a:pt x="14227" y="0"/>
                  <a:pt x="31751" y="0"/>
                </a:cubicBezTo>
                <a:close/>
              </a:path>
            </a:pathLst>
          </a:custGeom>
          <a:solidFill>
            <a:srgbClr val="FB2C36"/>
          </a:solidFill>
          <a:ln/>
        </p:spPr>
        <p:txBody>
          <a:bodyPr/>
          <a:lstStyle/>
          <a:p>
            <a:endParaRPr lang="en-US"/>
          </a:p>
        </p:txBody>
      </p:sp>
      <p:sp>
        <p:nvSpPr>
          <p:cNvPr id="63" name="Text 61"/>
          <p:cNvSpPr/>
          <p:nvPr/>
        </p:nvSpPr>
        <p:spPr>
          <a:xfrm>
            <a:off x="11271350" y="5391159"/>
            <a:ext cx="468313" cy="222250"/>
          </a:xfrm>
          <a:prstGeom prst="rect">
            <a:avLst/>
          </a:prstGeom>
          <a:noFill/>
          <a:ln/>
        </p:spPr>
        <p:txBody>
          <a:bodyPr wrap="square" lIns="63500" tIns="31750" rIns="63500" bIns="31750" rtlCol="0" anchor="ctr"/>
          <a:lstStyle/>
          <a:p>
            <a:pPr>
              <a:lnSpc>
                <a:spcPct val="120000"/>
              </a:lnSpc>
            </a:pPr>
            <a:r>
              <a:rPr lang="en-US" sz="875" dirty="0">
                <a:solidFill>
                  <a:srgbClr val="FFFFFF"/>
                </a:solidFill>
                <a:latin typeface="Quattrocento Sans" pitchFamily="34" charset="0"/>
                <a:ea typeface="Quattrocento Sans" pitchFamily="34" charset="-122"/>
                <a:cs typeface="Quattrocento Sans" pitchFamily="34" charset="-120"/>
              </a:rPr>
              <a:t>Weak</a:t>
            </a:r>
            <a:endParaRPr lang="en-US" sz="1600" dirty="0"/>
          </a:p>
        </p:txBody>
      </p:sp>
      <p:sp>
        <p:nvSpPr>
          <p:cNvPr id="64" name="Shape 62"/>
          <p:cNvSpPr/>
          <p:nvPr/>
        </p:nvSpPr>
        <p:spPr>
          <a:xfrm>
            <a:off x="6286500" y="5740409"/>
            <a:ext cx="5461000" cy="349250"/>
          </a:xfrm>
          <a:custGeom>
            <a:avLst/>
            <a:gdLst/>
            <a:ahLst/>
            <a:cxnLst/>
            <a:rect l="l" t="t" r="r" b="b"/>
            <a:pathLst>
              <a:path w="5461000" h="349250">
                <a:moveTo>
                  <a:pt x="31750" y="0"/>
                </a:moveTo>
                <a:lnTo>
                  <a:pt x="5429250" y="0"/>
                </a:lnTo>
                <a:cubicBezTo>
                  <a:pt x="5446785" y="0"/>
                  <a:pt x="5461000" y="14215"/>
                  <a:pt x="5461000" y="31750"/>
                </a:cubicBezTo>
                <a:lnTo>
                  <a:pt x="5461000" y="317500"/>
                </a:lnTo>
                <a:cubicBezTo>
                  <a:pt x="5461000" y="335035"/>
                  <a:pt x="5446785" y="349250"/>
                  <a:pt x="5429250" y="349250"/>
                </a:cubicBezTo>
                <a:lnTo>
                  <a:pt x="31750" y="349250"/>
                </a:lnTo>
                <a:cubicBezTo>
                  <a:pt x="14215" y="349250"/>
                  <a:pt x="0" y="335035"/>
                  <a:pt x="0" y="317500"/>
                </a:cubicBezTo>
                <a:lnTo>
                  <a:pt x="0" y="31750"/>
                </a:lnTo>
                <a:cubicBezTo>
                  <a:pt x="0" y="14215"/>
                  <a:pt x="14215" y="0"/>
                  <a:pt x="31750" y="0"/>
                </a:cubicBezTo>
                <a:close/>
              </a:path>
            </a:pathLst>
          </a:custGeom>
          <a:solidFill>
            <a:srgbClr val="FFFFFF">
              <a:alpha val="20000"/>
            </a:srgbClr>
          </a:solidFill>
          <a:ln/>
        </p:spPr>
        <p:txBody>
          <a:bodyPr/>
          <a:lstStyle/>
          <a:p>
            <a:endParaRPr lang="en-US"/>
          </a:p>
        </p:txBody>
      </p:sp>
      <p:sp>
        <p:nvSpPr>
          <p:cNvPr id="65" name="Text 63"/>
          <p:cNvSpPr/>
          <p:nvPr/>
        </p:nvSpPr>
        <p:spPr>
          <a:xfrm>
            <a:off x="6350000" y="5819784"/>
            <a:ext cx="11668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Overlapping objects</a:t>
            </a:r>
            <a:endParaRPr lang="en-US" sz="1600" dirty="0"/>
          </a:p>
        </p:txBody>
      </p:sp>
      <p:sp>
        <p:nvSpPr>
          <p:cNvPr id="66" name="Shape 64"/>
          <p:cNvSpPr/>
          <p:nvPr/>
        </p:nvSpPr>
        <p:spPr>
          <a:xfrm>
            <a:off x="11092359" y="5803909"/>
            <a:ext cx="595313" cy="222250"/>
          </a:xfrm>
          <a:custGeom>
            <a:avLst/>
            <a:gdLst/>
            <a:ahLst/>
            <a:cxnLst/>
            <a:rect l="l" t="t" r="r" b="b"/>
            <a:pathLst>
              <a:path w="595313" h="222250">
                <a:moveTo>
                  <a:pt x="31751" y="0"/>
                </a:moveTo>
                <a:lnTo>
                  <a:pt x="563562" y="0"/>
                </a:lnTo>
                <a:cubicBezTo>
                  <a:pt x="581097" y="0"/>
                  <a:pt x="595313" y="14215"/>
                  <a:pt x="595313" y="31751"/>
                </a:cubicBezTo>
                <a:lnTo>
                  <a:pt x="595313" y="190499"/>
                </a:lnTo>
                <a:cubicBezTo>
                  <a:pt x="595313" y="208035"/>
                  <a:pt x="581097" y="222250"/>
                  <a:pt x="563562" y="222250"/>
                </a:cubicBezTo>
                <a:lnTo>
                  <a:pt x="31751" y="222250"/>
                </a:lnTo>
                <a:cubicBezTo>
                  <a:pt x="14227" y="222250"/>
                  <a:pt x="0" y="208023"/>
                  <a:pt x="0" y="190499"/>
                </a:cubicBezTo>
                <a:lnTo>
                  <a:pt x="0" y="31751"/>
                </a:lnTo>
                <a:cubicBezTo>
                  <a:pt x="0" y="14227"/>
                  <a:pt x="14227" y="0"/>
                  <a:pt x="31751" y="0"/>
                </a:cubicBezTo>
                <a:close/>
              </a:path>
            </a:pathLst>
          </a:custGeom>
          <a:solidFill>
            <a:srgbClr val="F0B100"/>
          </a:solidFill>
          <a:ln/>
        </p:spPr>
        <p:txBody>
          <a:bodyPr/>
          <a:lstStyle/>
          <a:p>
            <a:endParaRPr lang="en-US"/>
          </a:p>
        </p:txBody>
      </p:sp>
      <p:sp>
        <p:nvSpPr>
          <p:cNvPr id="67" name="Text 65"/>
          <p:cNvSpPr/>
          <p:nvPr/>
        </p:nvSpPr>
        <p:spPr>
          <a:xfrm>
            <a:off x="11092359" y="5803909"/>
            <a:ext cx="650875" cy="222250"/>
          </a:xfrm>
          <a:prstGeom prst="rect">
            <a:avLst/>
          </a:prstGeom>
          <a:noFill/>
          <a:ln/>
        </p:spPr>
        <p:txBody>
          <a:bodyPr wrap="square" lIns="63500" tIns="31750" rIns="63500" bIns="31750" rtlCol="0" anchor="ctr"/>
          <a:lstStyle/>
          <a:p>
            <a:pPr>
              <a:lnSpc>
                <a:spcPct val="120000"/>
              </a:lnSpc>
            </a:pPr>
            <a:r>
              <a:rPr lang="en-US" sz="875" dirty="0">
                <a:solidFill>
                  <a:srgbClr val="FFFFFF"/>
                </a:solidFill>
                <a:latin typeface="Quattrocento Sans" pitchFamily="34" charset="0"/>
                <a:ea typeface="Quattrocento Sans" pitchFamily="34" charset="-122"/>
                <a:cs typeface="Quattrocento Sans" pitchFamily="34" charset="-120"/>
              </a:rPr>
              <a:t>Moderate</a:t>
            </a:r>
            <a:endParaRPr lang="en-US" sz="1600" dirty="0"/>
          </a:p>
        </p:txBody>
      </p:sp>
      <p:sp>
        <p:nvSpPr>
          <p:cNvPr id="68" name="Shape 66"/>
          <p:cNvSpPr/>
          <p:nvPr/>
        </p:nvSpPr>
        <p:spPr>
          <a:xfrm>
            <a:off x="6286500" y="6153159"/>
            <a:ext cx="5461000" cy="349250"/>
          </a:xfrm>
          <a:custGeom>
            <a:avLst/>
            <a:gdLst/>
            <a:ahLst/>
            <a:cxnLst/>
            <a:rect l="l" t="t" r="r" b="b"/>
            <a:pathLst>
              <a:path w="5461000" h="349250">
                <a:moveTo>
                  <a:pt x="31750" y="0"/>
                </a:moveTo>
                <a:lnTo>
                  <a:pt x="5429250" y="0"/>
                </a:lnTo>
                <a:cubicBezTo>
                  <a:pt x="5446785" y="0"/>
                  <a:pt x="5461000" y="14215"/>
                  <a:pt x="5461000" y="31750"/>
                </a:cubicBezTo>
                <a:lnTo>
                  <a:pt x="5461000" y="317500"/>
                </a:lnTo>
                <a:cubicBezTo>
                  <a:pt x="5461000" y="335035"/>
                  <a:pt x="5446785" y="349250"/>
                  <a:pt x="5429250" y="349250"/>
                </a:cubicBezTo>
                <a:lnTo>
                  <a:pt x="31750" y="349250"/>
                </a:lnTo>
                <a:cubicBezTo>
                  <a:pt x="14215" y="349250"/>
                  <a:pt x="0" y="335035"/>
                  <a:pt x="0" y="317500"/>
                </a:cubicBezTo>
                <a:lnTo>
                  <a:pt x="0" y="31750"/>
                </a:lnTo>
                <a:cubicBezTo>
                  <a:pt x="0" y="14215"/>
                  <a:pt x="14215" y="0"/>
                  <a:pt x="31750" y="0"/>
                </a:cubicBezTo>
                <a:close/>
              </a:path>
            </a:pathLst>
          </a:custGeom>
          <a:solidFill>
            <a:srgbClr val="FFFFFF">
              <a:alpha val="20000"/>
            </a:srgbClr>
          </a:solidFill>
          <a:ln/>
        </p:spPr>
        <p:txBody>
          <a:bodyPr/>
          <a:lstStyle/>
          <a:p>
            <a:endParaRPr lang="en-US"/>
          </a:p>
        </p:txBody>
      </p:sp>
      <p:sp>
        <p:nvSpPr>
          <p:cNvPr id="69" name="Text 67"/>
          <p:cNvSpPr/>
          <p:nvPr/>
        </p:nvSpPr>
        <p:spPr>
          <a:xfrm>
            <a:off x="6350000" y="6232534"/>
            <a:ext cx="968375"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Real-time speed</a:t>
            </a:r>
            <a:endParaRPr lang="en-US" sz="1600" dirty="0"/>
          </a:p>
        </p:txBody>
      </p:sp>
      <p:sp>
        <p:nvSpPr>
          <p:cNvPr id="70" name="Shape 68"/>
          <p:cNvSpPr/>
          <p:nvPr/>
        </p:nvSpPr>
        <p:spPr>
          <a:xfrm>
            <a:off x="11122819" y="6216659"/>
            <a:ext cx="563563" cy="222250"/>
          </a:xfrm>
          <a:custGeom>
            <a:avLst/>
            <a:gdLst/>
            <a:ahLst/>
            <a:cxnLst/>
            <a:rect l="l" t="t" r="r" b="b"/>
            <a:pathLst>
              <a:path w="563563" h="222250">
                <a:moveTo>
                  <a:pt x="31751" y="0"/>
                </a:moveTo>
                <a:lnTo>
                  <a:pt x="531812" y="0"/>
                </a:lnTo>
                <a:cubicBezTo>
                  <a:pt x="549347" y="0"/>
                  <a:pt x="563563" y="14215"/>
                  <a:pt x="563563" y="31751"/>
                </a:cubicBezTo>
                <a:lnTo>
                  <a:pt x="563563" y="190499"/>
                </a:lnTo>
                <a:cubicBezTo>
                  <a:pt x="563563" y="208035"/>
                  <a:pt x="549347" y="222250"/>
                  <a:pt x="531812" y="222250"/>
                </a:cubicBezTo>
                <a:lnTo>
                  <a:pt x="31751" y="222250"/>
                </a:lnTo>
                <a:cubicBezTo>
                  <a:pt x="14227" y="222250"/>
                  <a:pt x="0" y="208023"/>
                  <a:pt x="0" y="190499"/>
                </a:cubicBezTo>
                <a:lnTo>
                  <a:pt x="0" y="31751"/>
                </a:lnTo>
                <a:cubicBezTo>
                  <a:pt x="0" y="14227"/>
                  <a:pt x="14227" y="0"/>
                  <a:pt x="31751" y="0"/>
                </a:cubicBezTo>
                <a:close/>
              </a:path>
            </a:pathLst>
          </a:custGeom>
          <a:solidFill>
            <a:srgbClr val="00C950"/>
          </a:solidFill>
          <a:ln/>
        </p:spPr>
        <p:txBody>
          <a:bodyPr/>
          <a:lstStyle/>
          <a:p>
            <a:endParaRPr lang="en-US"/>
          </a:p>
        </p:txBody>
      </p:sp>
      <p:sp>
        <p:nvSpPr>
          <p:cNvPr id="71" name="Text 69"/>
          <p:cNvSpPr/>
          <p:nvPr/>
        </p:nvSpPr>
        <p:spPr>
          <a:xfrm>
            <a:off x="11122819" y="6216659"/>
            <a:ext cx="619125" cy="222250"/>
          </a:xfrm>
          <a:prstGeom prst="rect">
            <a:avLst/>
          </a:prstGeom>
          <a:noFill/>
          <a:ln/>
        </p:spPr>
        <p:txBody>
          <a:bodyPr wrap="square" lIns="63500" tIns="31750" rIns="63500" bIns="31750" rtlCol="0" anchor="ctr"/>
          <a:lstStyle/>
          <a:p>
            <a:pPr>
              <a:lnSpc>
                <a:spcPct val="120000"/>
              </a:lnSpc>
            </a:pPr>
            <a:r>
              <a:rPr lang="en-US" sz="875" dirty="0">
                <a:solidFill>
                  <a:srgbClr val="FFFFFF"/>
                </a:solidFill>
                <a:latin typeface="Quattrocento Sans" pitchFamily="34" charset="0"/>
                <a:ea typeface="Quattrocento Sans" pitchFamily="34" charset="-122"/>
                <a:cs typeface="Quattrocento Sans" pitchFamily="34" charset="-120"/>
              </a:rPr>
              <a:t>Excellent</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2937"/>
        </a:solidFill>
        <a:effectLst/>
      </p:bgPr>
    </p:bg>
    <p:spTree>
      <p:nvGrpSpPr>
        <p:cNvPr id="1" name=""/>
        <p:cNvGrpSpPr/>
        <p:nvPr/>
      </p:nvGrpSpPr>
      <p:grpSpPr>
        <a:xfrm>
          <a:off x="0" y="0"/>
          <a:ext cx="0" cy="0"/>
          <a:chOff x="0" y="0"/>
          <a:chExt cx="0" cy="0"/>
        </a:xfrm>
      </p:grpSpPr>
      <p:sp>
        <p:nvSpPr>
          <p:cNvPr id="2" name="Text 0"/>
          <p:cNvSpPr/>
          <p:nvPr/>
        </p:nvSpPr>
        <p:spPr>
          <a:xfrm>
            <a:off x="381000" y="1590675"/>
            <a:ext cx="12039600" cy="1219200"/>
          </a:xfrm>
          <a:prstGeom prst="rect">
            <a:avLst/>
          </a:prstGeom>
          <a:noFill/>
          <a:ln/>
        </p:spPr>
        <p:txBody>
          <a:bodyPr wrap="square" lIns="0" tIns="0" rIns="0" bIns="0" rtlCol="0" anchor="ctr"/>
          <a:lstStyle/>
          <a:p>
            <a:pPr>
              <a:lnSpc>
                <a:spcPct val="80000"/>
              </a:lnSpc>
            </a:pPr>
            <a:r>
              <a:rPr lang="en-US" sz="9600" b="1" dirty="0">
                <a:solidFill>
                  <a:srgbClr val="8B0000">
                    <a:alpha val="30000"/>
                  </a:srgbClr>
                </a:solidFill>
                <a:latin typeface="Oranienbaum" pitchFamily="34" charset="0"/>
                <a:ea typeface="Oranienbaum" pitchFamily="34" charset="-122"/>
                <a:cs typeface="Oranienbaum" pitchFamily="34" charset="-120"/>
              </a:rPr>
              <a:t>10</a:t>
            </a:r>
            <a:endParaRPr lang="en-US" sz="1600" dirty="0"/>
          </a:p>
        </p:txBody>
      </p:sp>
      <p:sp>
        <p:nvSpPr>
          <p:cNvPr id="3" name="Text 1"/>
          <p:cNvSpPr/>
          <p:nvPr/>
        </p:nvSpPr>
        <p:spPr>
          <a:xfrm>
            <a:off x="381000" y="3038475"/>
            <a:ext cx="11715750" cy="1428750"/>
          </a:xfrm>
          <a:prstGeom prst="rect">
            <a:avLst/>
          </a:prstGeom>
          <a:noFill/>
          <a:ln/>
        </p:spPr>
        <p:txBody>
          <a:bodyPr wrap="square" lIns="0" tIns="0" rIns="0" bIns="0" rtlCol="0" anchor="ctr"/>
          <a:lstStyle/>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Top Interview</a:t>
            </a:r>
            <a:endParaRPr lang="en-US" sz="1600" dirty="0"/>
          </a:p>
          <a:p>
            <a:pPr>
              <a:lnSpc>
                <a:spcPct val="100000"/>
              </a:lnSpc>
            </a:pPr>
            <a:r>
              <a:rPr lang="en-US" sz="4500" b="1" dirty="0">
                <a:solidFill>
                  <a:srgbClr val="FFFFFF"/>
                </a:solidFill>
                <a:latin typeface="Sorts Mill Goudy" pitchFamily="34" charset="0"/>
                <a:ea typeface="Sorts Mill Goudy" pitchFamily="34" charset="-122"/>
                <a:cs typeface="Sorts Mill Goudy" pitchFamily="34" charset="-120"/>
              </a:rPr>
              <a:t>Questions</a:t>
            </a:r>
            <a:endParaRPr lang="en-US" sz="1600" dirty="0"/>
          </a:p>
        </p:txBody>
      </p:sp>
      <p:sp>
        <p:nvSpPr>
          <p:cNvPr id="4" name="Shape 2"/>
          <p:cNvSpPr/>
          <p:nvPr/>
        </p:nvSpPr>
        <p:spPr>
          <a:xfrm>
            <a:off x="381000" y="469582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txBody>
          <a:bodyPr/>
          <a:lstStyle/>
          <a:p>
            <a:endParaRPr lang="en-US"/>
          </a:p>
        </p:txBody>
      </p:sp>
      <p:sp>
        <p:nvSpPr>
          <p:cNvPr id="5" name="Text 3"/>
          <p:cNvSpPr/>
          <p:nvPr/>
        </p:nvSpPr>
        <p:spPr>
          <a:xfrm>
            <a:off x="381000" y="4962525"/>
            <a:ext cx="11544300" cy="304800"/>
          </a:xfrm>
          <a:prstGeom prst="rect">
            <a:avLst/>
          </a:prstGeom>
          <a:noFill/>
          <a:ln/>
        </p:spPr>
        <p:txBody>
          <a:bodyPr wrap="square" lIns="0" tIns="0" rIns="0" bIns="0" rtlCol="0" anchor="ctr"/>
          <a:lstStyle/>
          <a:p>
            <a:pPr>
              <a:lnSpc>
                <a:spcPct val="110000"/>
              </a:lnSpc>
            </a:pPr>
            <a:r>
              <a:rPr lang="en-US" sz="1800" dirty="0">
                <a:solidFill>
                  <a:srgbClr val="D1D5DC"/>
                </a:solidFill>
                <a:latin typeface="Quattrocento Sans" pitchFamily="34" charset="0"/>
                <a:ea typeface="Quattrocento Sans" pitchFamily="34" charset="-122"/>
                <a:cs typeface="Quattrocento Sans" pitchFamily="34" charset="-120"/>
              </a:rPr>
              <a:t>Most frequently asked YOLO questions</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9736" y="329736"/>
            <a:ext cx="11598475" cy="197842"/>
          </a:xfrm>
          <a:prstGeom prst="rect">
            <a:avLst/>
          </a:prstGeom>
          <a:noFill/>
          <a:ln/>
        </p:spPr>
        <p:txBody>
          <a:bodyPr wrap="square" lIns="0" tIns="0" rIns="0" bIns="0" rtlCol="0" anchor="ctr"/>
          <a:lstStyle/>
          <a:p>
            <a:pPr>
              <a:lnSpc>
                <a:spcPct val="130000"/>
              </a:lnSpc>
            </a:pPr>
            <a:r>
              <a:rPr lang="en-US" sz="1039" b="1" kern="0" spc="52" dirty="0">
                <a:solidFill>
                  <a:srgbClr val="8B0000"/>
                </a:solidFill>
                <a:latin typeface="Quattrocento Sans" pitchFamily="34" charset="0"/>
                <a:ea typeface="Quattrocento Sans" pitchFamily="34" charset="-122"/>
                <a:cs typeface="Quattrocento Sans" pitchFamily="34" charset="-120"/>
              </a:rPr>
              <a:t>10.1 INTERVIEW Q&amp;A - PART 1</a:t>
            </a:r>
            <a:endParaRPr lang="en-US" sz="1600" dirty="0"/>
          </a:p>
        </p:txBody>
      </p:sp>
      <p:sp>
        <p:nvSpPr>
          <p:cNvPr id="3" name="Text 1"/>
          <p:cNvSpPr/>
          <p:nvPr/>
        </p:nvSpPr>
        <p:spPr>
          <a:xfrm>
            <a:off x="329736" y="560552"/>
            <a:ext cx="11680909" cy="329736"/>
          </a:xfrm>
          <a:prstGeom prst="rect">
            <a:avLst/>
          </a:prstGeom>
          <a:noFill/>
          <a:ln/>
        </p:spPr>
        <p:txBody>
          <a:bodyPr wrap="square" lIns="0" tIns="0" rIns="0" bIns="0" rtlCol="0" anchor="ctr"/>
          <a:lstStyle/>
          <a:p>
            <a:pPr>
              <a:lnSpc>
                <a:spcPct val="90000"/>
              </a:lnSpc>
            </a:pPr>
            <a:r>
              <a:rPr lang="en-US" sz="2337" b="1" dirty="0">
                <a:solidFill>
                  <a:srgbClr val="1F2937"/>
                </a:solidFill>
                <a:latin typeface="Sorts Mill Goudy" pitchFamily="34" charset="0"/>
                <a:ea typeface="Sorts Mill Goudy" pitchFamily="34" charset="-122"/>
                <a:cs typeface="Sorts Mill Goudy" pitchFamily="34" charset="-120"/>
              </a:rPr>
              <a:t>Essential Interview Q&amp;A (Part 1)</a:t>
            </a:r>
            <a:endParaRPr lang="en-US" sz="1600" dirty="0"/>
          </a:p>
        </p:txBody>
      </p:sp>
      <p:sp>
        <p:nvSpPr>
          <p:cNvPr id="4" name="Shape 2"/>
          <p:cNvSpPr/>
          <p:nvPr/>
        </p:nvSpPr>
        <p:spPr>
          <a:xfrm>
            <a:off x="336331" y="995804"/>
            <a:ext cx="11520987" cy="1002398"/>
          </a:xfrm>
          <a:custGeom>
            <a:avLst/>
            <a:gdLst/>
            <a:ahLst/>
            <a:cxnLst/>
            <a:rect l="l" t="t" r="r" b="b"/>
            <a:pathLst>
              <a:path w="11520987" h="1002398">
                <a:moveTo>
                  <a:pt x="65948" y="0"/>
                </a:moveTo>
                <a:lnTo>
                  <a:pt x="11455039" y="0"/>
                </a:lnTo>
                <a:cubicBezTo>
                  <a:pt x="11491461" y="0"/>
                  <a:pt x="11520987" y="29526"/>
                  <a:pt x="11520987" y="65948"/>
                </a:cubicBezTo>
                <a:lnTo>
                  <a:pt x="11520987" y="936451"/>
                </a:lnTo>
                <a:cubicBezTo>
                  <a:pt x="11520987" y="972873"/>
                  <a:pt x="11491461" y="1002398"/>
                  <a:pt x="11455039" y="1002398"/>
                </a:cubicBezTo>
                <a:lnTo>
                  <a:pt x="65948" y="1002398"/>
                </a:lnTo>
                <a:cubicBezTo>
                  <a:pt x="29526" y="1002398"/>
                  <a:pt x="0" y="972873"/>
                  <a:pt x="0" y="936451"/>
                </a:cubicBezTo>
                <a:lnTo>
                  <a:pt x="0" y="65948"/>
                </a:lnTo>
                <a:cubicBezTo>
                  <a:pt x="0" y="29550"/>
                  <a:pt x="29550" y="0"/>
                  <a:pt x="65948" y="0"/>
                </a:cubicBezTo>
                <a:close/>
              </a:path>
            </a:pathLst>
          </a:custGeom>
          <a:solidFill>
            <a:srgbClr val="FFFFFF"/>
          </a:solidFill>
          <a:ln w="20320">
            <a:solidFill>
              <a:srgbClr val="1F2937"/>
            </a:solidFill>
            <a:prstDash val="solid"/>
          </a:ln>
        </p:spPr>
        <p:txBody>
          <a:bodyPr/>
          <a:lstStyle/>
          <a:p>
            <a:endParaRPr lang="en-US"/>
          </a:p>
        </p:txBody>
      </p:sp>
      <p:sp>
        <p:nvSpPr>
          <p:cNvPr id="5" name="Shape 3"/>
          <p:cNvSpPr/>
          <p:nvPr/>
        </p:nvSpPr>
        <p:spPr>
          <a:xfrm>
            <a:off x="441847" y="1101316"/>
            <a:ext cx="329736" cy="329736"/>
          </a:xfrm>
          <a:custGeom>
            <a:avLst/>
            <a:gdLst/>
            <a:ahLst/>
            <a:cxnLst/>
            <a:rect l="l" t="t" r="r" b="b"/>
            <a:pathLst>
              <a:path w="329736" h="329736">
                <a:moveTo>
                  <a:pt x="164868" y="0"/>
                </a:moveTo>
                <a:lnTo>
                  <a:pt x="164868" y="0"/>
                </a:lnTo>
                <a:cubicBezTo>
                  <a:pt x="255861" y="0"/>
                  <a:pt x="329736" y="73875"/>
                  <a:pt x="329736" y="164868"/>
                </a:cubicBezTo>
                <a:lnTo>
                  <a:pt x="329736" y="164868"/>
                </a:lnTo>
                <a:cubicBezTo>
                  <a:pt x="329736" y="255861"/>
                  <a:pt x="255861" y="329736"/>
                  <a:pt x="164868" y="329736"/>
                </a:cubicBezTo>
                <a:lnTo>
                  <a:pt x="164868" y="329736"/>
                </a:lnTo>
                <a:cubicBezTo>
                  <a:pt x="73875" y="329736"/>
                  <a:pt x="0" y="255861"/>
                  <a:pt x="0" y="164868"/>
                </a:cubicBezTo>
                <a:lnTo>
                  <a:pt x="0" y="164868"/>
                </a:lnTo>
                <a:cubicBezTo>
                  <a:pt x="0" y="73875"/>
                  <a:pt x="73875" y="0"/>
                  <a:pt x="164868" y="0"/>
                </a:cubicBezTo>
                <a:close/>
              </a:path>
            </a:pathLst>
          </a:custGeom>
          <a:solidFill>
            <a:srgbClr val="8B0000"/>
          </a:solidFill>
          <a:ln/>
        </p:spPr>
        <p:txBody>
          <a:bodyPr/>
          <a:lstStyle/>
          <a:p>
            <a:endParaRPr lang="en-US"/>
          </a:p>
        </p:txBody>
      </p:sp>
      <p:sp>
        <p:nvSpPr>
          <p:cNvPr id="6" name="Text 4"/>
          <p:cNvSpPr/>
          <p:nvPr/>
        </p:nvSpPr>
        <p:spPr>
          <a:xfrm>
            <a:off x="404751" y="1101316"/>
            <a:ext cx="403927" cy="329736"/>
          </a:xfrm>
          <a:prstGeom prst="rect">
            <a:avLst/>
          </a:prstGeom>
          <a:noFill/>
          <a:ln/>
        </p:spPr>
        <p:txBody>
          <a:bodyPr wrap="square" lIns="0" tIns="0" rIns="0" bIns="0" rtlCol="0" anchor="ctr"/>
          <a:lstStyle/>
          <a:p>
            <a:pPr algn="ctr">
              <a:lnSpc>
                <a:spcPct val="130000"/>
              </a:lnSpc>
            </a:pPr>
            <a:r>
              <a:rPr lang="en-US" sz="1168" b="1" dirty="0">
                <a:solidFill>
                  <a:srgbClr val="FFFFFF"/>
                </a:solidFill>
                <a:latin typeface="Quattrocento Sans" pitchFamily="34" charset="0"/>
                <a:ea typeface="Quattrocento Sans" pitchFamily="34" charset="-122"/>
                <a:cs typeface="Quattrocento Sans" pitchFamily="34" charset="-120"/>
              </a:rPr>
              <a:t>Q1</a:t>
            </a:r>
            <a:endParaRPr lang="en-US" sz="1600" dirty="0"/>
          </a:p>
        </p:txBody>
      </p:sp>
      <p:sp>
        <p:nvSpPr>
          <p:cNvPr id="7" name="Text 5"/>
          <p:cNvSpPr/>
          <p:nvPr/>
        </p:nvSpPr>
        <p:spPr>
          <a:xfrm>
            <a:off x="870504" y="1101316"/>
            <a:ext cx="10955489" cy="230815"/>
          </a:xfrm>
          <a:prstGeom prst="rect">
            <a:avLst/>
          </a:prstGeom>
          <a:noFill/>
          <a:ln/>
        </p:spPr>
        <p:txBody>
          <a:bodyPr wrap="square" lIns="0" tIns="0" rIns="0" bIns="0" rtlCol="0" anchor="ctr"/>
          <a:lstStyle/>
          <a:p>
            <a:pPr>
              <a:lnSpc>
                <a:spcPct val="130000"/>
              </a:lnSpc>
            </a:pPr>
            <a:r>
              <a:rPr lang="en-US" sz="1168" b="1" dirty="0">
                <a:solidFill>
                  <a:srgbClr val="1F2937"/>
                </a:solidFill>
                <a:latin typeface="Sorts Mill Goudy" pitchFamily="34" charset="0"/>
                <a:ea typeface="Sorts Mill Goudy" pitchFamily="34" charset="-122"/>
                <a:cs typeface="Sorts Mill Goudy" pitchFamily="34" charset="-120"/>
              </a:rPr>
              <a:t>How does YOLO differ from R-CNN?</a:t>
            </a:r>
            <a:endParaRPr lang="en-US" sz="1600" dirty="0"/>
          </a:p>
        </p:txBody>
      </p:sp>
      <p:sp>
        <p:nvSpPr>
          <p:cNvPr id="8" name="Shape 6"/>
          <p:cNvSpPr/>
          <p:nvPr/>
        </p:nvSpPr>
        <p:spPr>
          <a:xfrm>
            <a:off x="886991" y="1365105"/>
            <a:ext cx="10864811" cy="527578"/>
          </a:xfrm>
          <a:custGeom>
            <a:avLst/>
            <a:gdLst/>
            <a:ahLst/>
            <a:cxnLst/>
            <a:rect l="l" t="t" r="r" b="b"/>
            <a:pathLst>
              <a:path w="10864811" h="527578">
                <a:moveTo>
                  <a:pt x="32974" y="0"/>
                </a:moveTo>
                <a:lnTo>
                  <a:pt x="10798864" y="0"/>
                </a:lnTo>
                <a:cubicBezTo>
                  <a:pt x="10835286" y="0"/>
                  <a:pt x="10864811" y="29526"/>
                  <a:pt x="10864811" y="65947"/>
                </a:cubicBezTo>
                <a:lnTo>
                  <a:pt x="10864811" y="461631"/>
                </a:lnTo>
                <a:cubicBezTo>
                  <a:pt x="10864811" y="498052"/>
                  <a:pt x="10835286" y="527578"/>
                  <a:pt x="10798864" y="527578"/>
                </a:cubicBezTo>
                <a:lnTo>
                  <a:pt x="32974" y="527578"/>
                </a:lnTo>
                <a:cubicBezTo>
                  <a:pt x="14763" y="527578"/>
                  <a:pt x="0" y="512815"/>
                  <a:pt x="0" y="494604"/>
                </a:cubicBezTo>
                <a:lnTo>
                  <a:pt x="0" y="32974"/>
                </a:lnTo>
                <a:cubicBezTo>
                  <a:pt x="0" y="14775"/>
                  <a:pt x="14775" y="0"/>
                  <a:pt x="32974" y="0"/>
                </a:cubicBezTo>
                <a:close/>
              </a:path>
            </a:pathLst>
          </a:custGeom>
          <a:solidFill>
            <a:srgbClr val="F0FDF4"/>
          </a:solidFill>
          <a:ln/>
        </p:spPr>
        <p:txBody>
          <a:bodyPr/>
          <a:lstStyle/>
          <a:p>
            <a:endParaRPr lang="en-US"/>
          </a:p>
        </p:txBody>
      </p:sp>
      <p:sp>
        <p:nvSpPr>
          <p:cNvPr id="9" name="Shape 7"/>
          <p:cNvSpPr/>
          <p:nvPr/>
        </p:nvSpPr>
        <p:spPr>
          <a:xfrm>
            <a:off x="886991" y="1365105"/>
            <a:ext cx="32974" cy="527578"/>
          </a:xfrm>
          <a:custGeom>
            <a:avLst/>
            <a:gdLst/>
            <a:ahLst/>
            <a:cxnLst/>
            <a:rect l="l" t="t" r="r" b="b"/>
            <a:pathLst>
              <a:path w="32974" h="527578">
                <a:moveTo>
                  <a:pt x="32974" y="0"/>
                </a:moveTo>
                <a:lnTo>
                  <a:pt x="32974" y="0"/>
                </a:lnTo>
                <a:lnTo>
                  <a:pt x="32974" y="527578"/>
                </a:lnTo>
                <a:lnTo>
                  <a:pt x="32974" y="527578"/>
                </a:lnTo>
                <a:cubicBezTo>
                  <a:pt x="14763" y="527578"/>
                  <a:pt x="0" y="512815"/>
                  <a:pt x="0" y="494604"/>
                </a:cubicBezTo>
                <a:lnTo>
                  <a:pt x="0" y="32974"/>
                </a:lnTo>
                <a:cubicBezTo>
                  <a:pt x="0" y="14775"/>
                  <a:pt x="14775" y="0"/>
                  <a:pt x="32974" y="0"/>
                </a:cubicBezTo>
                <a:close/>
              </a:path>
            </a:pathLst>
          </a:custGeom>
          <a:solidFill>
            <a:srgbClr val="00C950"/>
          </a:solidFill>
          <a:ln/>
        </p:spPr>
        <p:txBody>
          <a:bodyPr/>
          <a:lstStyle/>
          <a:p>
            <a:endParaRPr lang="en-US"/>
          </a:p>
        </p:txBody>
      </p:sp>
      <p:sp>
        <p:nvSpPr>
          <p:cNvPr id="10" name="Text 8"/>
          <p:cNvSpPr/>
          <p:nvPr/>
        </p:nvSpPr>
        <p:spPr>
          <a:xfrm>
            <a:off x="969425" y="1431052"/>
            <a:ext cx="10782377" cy="395684"/>
          </a:xfrm>
          <a:prstGeom prst="rect">
            <a:avLst/>
          </a:prstGeom>
          <a:noFill/>
          <a:ln/>
        </p:spPr>
        <p:txBody>
          <a:bodyPr wrap="square" lIns="0" tIns="0" rIns="0" bIns="0" rtlCol="0" anchor="ctr"/>
          <a:lstStyle/>
          <a:p>
            <a:pPr>
              <a:lnSpc>
                <a:spcPct val="130000"/>
              </a:lnSpc>
            </a:pPr>
            <a:r>
              <a:rPr lang="en-US" sz="1039" b="1" dirty="0">
                <a:solidFill>
                  <a:srgbClr val="0D542B"/>
                </a:solidFill>
                <a:latin typeface="Quattrocento Sans" pitchFamily="34" charset="0"/>
                <a:ea typeface="Quattrocento Sans" pitchFamily="34" charset="-122"/>
                <a:cs typeface="Quattrocento Sans" pitchFamily="34" charset="-120"/>
              </a:rPr>
              <a:t>YOLO is single-stage</a:t>
            </a:r>
            <a:r>
              <a:rPr lang="en-US" sz="1039" dirty="0">
                <a:solidFill>
                  <a:srgbClr val="0D542B"/>
                </a:solidFill>
                <a:latin typeface="Quattrocento Sans" pitchFamily="34" charset="0"/>
                <a:ea typeface="Quattrocento Sans" pitchFamily="34" charset="-122"/>
                <a:cs typeface="Quattrocento Sans" pitchFamily="34" charset="-120"/>
              </a:rPr>
              <a:t>: One forward pass through CNN predicts all bounding boxes and classes simultaneously (45 FPS). </a:t>
            </a:r>
            <a:r>
              <a:rPr lang="en-US" sz="1039" b="1" dirty="0">
                <a:solidFill>
                  <a:srgbClr val="0D542B"/>
                </a:solidFill>
                <a:latin typeface="Quattrocento Sans" pitchFamily="34" charset="0"/>
                <a:ea typeface="Quattrocento Sans" pitchFamily="34" charset="-122"/>
                <a:cs typeface="Quattrocento Sans" pitchFamily="34" charset="-120"/>
              </a:rPr>
              <a:t>R-CNN is two-stage</a:t>
            </a:r>
            <a:r>
              <a:rPr lang="en-US" sz="1039" dirty="0">
                <a:solidFill>
                  <a:srgbClr val="0D542B"/>
                </a:solidFill>
                <a:latin typeface="Quattrocento Sans" pitchFamily="34" charset="0"/>
                <a:ea typeface="Quattrocento Sans" pitchFamily="34" charset="-122"/>
                <a:cs typeface="Quattrocento Sans" pitchFamily="34" charset="-120"/>
              </a:rPr>
              <a:t>: First generates region proposals (2k regions), then classifies each region (~0.5 FPS). YOLO is 90x faster but slightly less accurate on small objects.</a:t>
            </a:r>
            <a:endParaRPr lang="en-US" sz="1600" dirty="0"/>
          </a:p>
        </p:txBody>
      </p:sp>
      <p:sp>
        <p:nvSpPr>
          <p:cNvPr id="11" name="Shape 9"/>
          <p:cNvSpPr/>
          <p:nvPr/>
        </p:nvSpPr>
        <p:spPr>
          <a:xfrm>
            <a:off x="336331" y="2077348"/>
            <a:ext cx="11520987" cy="1002398"/>
          </a:xfrm>
          <a:custGeom>
            <a:avLst/>
            <a:gdLst/>
            <a:ahLst/>
            <a:cxnLst/>
            <a:rect l="l" t="t" r="r" b="b"/>
            <a:pathLst>
              <a:path w="11520987" h="1002398">
                <a:moveTo>
                  <a:pt x="65948" y="0"/>
                </a:moveTo>
                <a:lnTo>
                  <a:pt x="11455039" y="0"/>
                </a:lnTo>
                <a:cubicBezTo>
                  <a:pt x="11491461" y="0"/>
                  <a:pt x="11520987" y="29526"/>
                  <a:pt x="11520987" y="65948"/>
                </a:cubicBezTo>
                <a:lnTo>
                  <a:pt x="11520987" y="936451"/>
                </a:lnTo>
                <a:cubicBezTo>
                  <a:pt x="11520987" y="972873"/>
                  <a:pt x="11491461" y="1002398"/>
                  <a:pt x="11455039" y="1002398"/>
                </a:cubicBezTo>
                <a:lnTo>
                  <a:pt x="65948" y="1002398"/>
                </a:lnTo>
                <a:cubicBezTo>
                  <a:pt x="29526" y="1002398"/>
                  <a:pt x="0" y="972873"/>
                  <a:pt x="0" y="936451"/>
                </a:cubicBezTo>
                <a:lnTo>
                  <a:pt x="0" y="65948"/>
                </a:lnTo>
                <a:cubicBezTo>
                  <a:pt x="0" y="29550"/>
                  <a:pt x="29550" y="0"/>
                  <a:pt x="65948" y="0"/>
                </a:cubicBezTo>
                <a:close/>
              </a:path>
            </a:pathLst>
          </a:custGeom>
          <a:solidFill>
            <a:srgbClr val="FFFFFF"/>
          </a:solidFill>
          <a:ln w="20320">
            <a:solidFill>
              <a:srgbClr val="1F2937"/>
            </a:solidFill>
            <a:prstDash val="solid"/>
          </a:ln>
        </p:spPr>
        <p:txBody>
          <a:bodyPr/>
          <a:lstStyle/>
          <a:p>
            <a:endParaRPr lang="en-US"/>
          </a:p>
        </p:txBody>
      </p:sp>
      <p:sp>
        <p:nvSpPr>
          <p:cNvPr id="12" name="Shape 10"/>
          <p:cNvSpPr/>
          <p:nvPr/>
        </p:nvSpPr>
        <p:spPr>
          <a:xfrm>
            <a:off x="441847" y="2182861"/>
            <a:ext cx="329736" cy="329736"/>
          </a:xfrm>
          <a:custGeom>
            <a:avLst/>
            <a:gdLst/>
            <a:ahLst/>
            <a:cxnLst/>
            <a:rect l="l" t="t" r="r" b="b"/>
            <a:pathLst>
              <a:path w="329736" h="329736">
                <a:moveTo>
                  <a:pt x="164868" y="0"/>
                </a:moveTo>
                <a:lnTo>
                  <a:pt x="164868" y="0"/>
                </a:lnTo>
                <a:cubicBezTo>
                  <a:pt x="255861" y="0"/>
                  <a:pt x="329736" y="73875"/>
                  <a:pt x="329736" y="164868"/>
                </a:cubicBezTo>
                <a:lnTo>
                  <a:pt x="329736" y="164868"/>
                </a:lnTo>
                <a:cubicBezTo>
                  <a:pt x="329736" y="255861"/>
                  <a:pt x="255861" y="329736"/>
                  <a:pt x="164868" y="329736"/>
                </a:cubicBezTo>
                <a:lnTo>
                  <a:pt x="164868" y="329736"/>
                </a:lnTo>
                <a:cubicBezTo>
                  <a:pt x="73875" y="329736"/>
                  <a:pt x="0" y="255861"/>
                  <a:pt x="0" y="164868"/>
                </a:cubicBezTo>
                <a:lnTo>
                  <a:pt x="0" y="164868"/>
                </a:lnTo>
                <a:cubicBezTo>
                  <a:pt x="0" y="73875"/>
                  <a:pt x="73875" y="0"/>
                  <a:pt x="164868" y="0"/>
                </a:cubicBezTo>
                <a:close/>
              </a:path>
            </a:pathLst>
          </a:custGeom>
          <a:solidFill>
            <a:srgbClr val="8B0000"/>
          </a:solidFill>
          <a:ln/>
        </p:spPr>
        <p:txBody>
          <a:bodyPr/>
          <a:lstStyle/>
          <a:p>
            <a:endParaRPr lang="en-US"/>
          </a:p>
        </p:txBody>
      </p:sp>
      <p:sp>
        <p:nvSpPr>
          <p:cNvPr id="13" name="Text 11"/>
          <p:cNvSpPr/>
          <p:nvPr/>
        </p:nvSpPr>
        <p:spPr>
          <a:xfrm>
            <a:off x="404751" y="2182861"/>
            <a:ext cx="403927" cy="329736"/>
          </a:xfrm>
          <a:prstGeom prst="rect">
            <a:avLst/>
          </a:prstGeom>
          <a:noFill/>
          <a:ln/>
        </p:spPr>
        <p:txBody>
          <a:bodyPr wrap="square" lIns="0" tIns="0" rIns="0" bIns="0" rtlCol="0" anchor="ctr"/>
          <a:lstStyle/>
          <a:p>
            <a:pPr algn="ctr">
              <a:lnSpc>
                <a:spcPct val="130000"/>
              </a:lnSpc>
            </a:pPr>
            <a:r>
              <a:rPr lang="en-US" sz="1168" b="1" dirty="0">
                <a:solidFill>
                  <a:srgbClr val="FFFFFF"/>
                </a:solidFill>
                <a:latin typeface="Quattrocento Sans" pitchFamily="34" charset="0"/>
                <a:ea typeface="Quattrocento Sans" pitchFamily="34" charset="-122"/>
                <a:cs typeface="Quattrocento Sans" pitchFamily="34" charset="-120"/>
              </a:rPr>
              <a:t>Q2</a:t>
            </a:r>
            <a:endParaRPr lang="en-US" sz="1600" dirty="0"/>
          </a:p>
        </p:txBody>
      </p:sp>
      <p:sp>
        <p:nvSpPr>
          <p:cNvPr id="14" name="Text 12"/>
          <p:cNvSpPr/>
          <p:nvPr/>
        </p:nvSpPr>
        <p:spPr>
          <a:xfrm>
            <a:off x="870504" y="2182861"/>
            <a:ext cx="10955489" cy="230815"/>
          </a:xfrm>
          <a:prstGeom prst="rect">
            <a:avLst/>
          </a:prstGeom>
          <a:noFill/>
          <a:ln/>
        </p:spPr>
        <p:txBody>
          <a:bodyPr wrap="square" lIns="0" tIns="0" rIns="0" bIns="0" rtlCol="0" anchor="ctr"/>
          <a:lstStyle/>
          <a:p>
            <a:pPr>
              <a:lnSpc>
                <a:spcPct val="130000"/>
              </a:lnSpc>
            </a:pPr>
            <a:r>
              <a:rPr lang="en-US" sz="1168" b="1" dirty="0">
                <a:solidFill>
                  <a:srgbClr val="1F2937"/>
                </a:solidFill>
                <a:latin typeface="Sorts Mill Goudy" pitchFamily="34" charset="0"/>
                <a:ea typeface="Sorts Mill Goudy" pitchFamily="34" charset="-122"/>
                <a:cs typeface="Sorts Mill Goudy" pitchFamily="34" charset="-120"/>
              </a:rPr>
              <a:t>What does "You Only Look Once" mean?</a:t>
            </a:r>
            <a:endParaRPr lang="en-US" sz="1600" dirty="0"/>
          </a:p>
        </p:txBody>
      </p:sp>
      <p:sp>
        <p:nvSpPr>
          <p:cNvPr id="15" name="Shape 13"/>
          <p:cNvSpPr/>
          <p:nvPr/>
        </p:nvSpPr>
        <p:spPr>
          <a:xfrm>
            <a:off x="886991" y="2446650"/>
            <a:ext cx="10864811" cy="527578"/>
          </a:xfrm>
          <a:custGeom>
            <a:avLst/>
            <a:gdLst/>
            <a:ahLst/>
            <a:cxnLst/>
            <a:rect l="l" t="t" r="r" b="b"/>
            <a:pathLst>
              <a:path w="10864811" h="527578">
                <a:moveTo>
                  <a:pt x="32974" y="0"/>
                </a:moveTo>
                <a:lnTo>
                  <a:pt x="10798864" y="0"/>
                </a:lnTo>
                <a:cubicBezTo>
                  <a:pt x="10835286" y="0"/>
                  <a:pt x="10864811" y="29526"/>
                  <a:pt x="10864811" y="65947"/>
                </a:cubicBezTo>
                <a:lnTo>
                  <a:pt x="10864811" y="461631"/>
                </a:lnTo>
                <a:cubicBezTo>
                  <a:pt x="10864811" y="498052"/>
                  <a:pt x="10835286" y="527578"/>
                  <a:pt x="10798864" y="527578"/>
                </a:cubicBezTo>
                <a:lnTo>
                  <a:pt x="32974" y="527578"/>
                </a:lnTo>
                <a:cubicBezTo>
                  <a:pt x="14763" y="527578"/>
                  <a:pt x="0" y="512815"/>
                  <a:pt x="0" y="494604"/>
                </a:cubicBezTo>
                <a:lnTo>
                  <a:pt x="0" y="32974"/>
                </a:lnTo>
                <a:cubicBezTo>
                  <a:pt x="0" y="14775"/>
                  <a:pt x="14775" y="0"/>
                  <a:pt x="32974" y="0"/>
                </a:cubicBezTo>
                <a:close/>
              </a:path>
            </a:pathLst>
          </a:custGeom>
          <a:solidFill>
            <a:srgbClr val="F0FDF4"/>
          </a:solidFill>
          <a:ln/>
        </p:spPr>
        <p:txBody>
          <a:bodyPr/>
          <a:lstStyle/>
          <a:p>
            <a:endParaRPr lang="en-US"/>
          </a:p>
        </p:txBody>
      </p:sp>
      <p:sp>
        <p:nvSpPr>
          <p:cNvPr id="16" name="Shape 14"/>
          <p:cNvSpPr/>
          <p:nvPr/>
        </p:nvSpPr>
        <p:spPr>
          <a:xfrm>
            <a:off x="886991" y="2446650"/>
            <a:ext cx="32974" cy="527578"/>
          </a:xfrm>
          <a:custGeom>
            <a:avLst/>
            <a:gdLst/>
            <a:ahLst/>
            <a:cxnLst/>
            <a:rect l="l" t="t" r="r" b="b"/>
            <a:pathLst>
              <a:path w="32974" h="527578">
                <a:moveTo>
                  <a:pt x="32974" y="0"/>
                </a:moveTo>
                <a:lnTo>
                  <a:pt x="32974" y="0"/>
                </a:lnTo>
                <a:lnTo>
                  <a:pt x="32974" y="527578"/>
                </a:lnTo>
                <a:lnTo>
                  <a:pt x="32974" y="527578"/>
                </a:lnTo>
                <a:cubicBezTo>
                  <a:pt x="14763" y="527578"/>
                  <a:pt x="0" y="512815"/>
                  <a:pt x="0" y="494604"/>
                </a:cubicBezTo>
                <a:lnTo>
                  <a:pt x="0" y="32974"/>
                </a:lnTo>
                <a:cubicBezTo>
                  <a:pt x="0" y="14775"/>
                  <a:pt x="14775" y="0"/>
                  <a:pt x="32974" y="0"/>
                </a:cubicBezTo>
                <a:close/>
              </a:path>
            </a:pathLst>
          </a:custGeom>
          <a:solidFill>
            <a:srgbClr val="00C950"/>
          </a:solidFill>
          <a:ln/>
        </p:spPr>
        <p:txBody>
          <a:bodyPr/>
          <a:lstStyle/>
          <a:p>
            <a:endParaRPr lang="en-US"/>
          </a:p>
        </p:txBody>
      </p:sp>
      <p:sp>
        <p:nvSpPr>
          <p:cNvPr id="17" name="Text 15"/>
          <p:cNvSpPr/>
          <p:nvPr/>
        </p:nvSpPr>
        <p:spPr>
          <a:xfrm>
            <a:off x="969425" y="2512597"/>
            <a:ext cx="10782377" cy="395684"/>
          </a:xfrm>
          <a:prstGeom prst="rect">
            <a:avLst/>
          </a:prstGeom>
          <a:noFill/>
          <a:ln/>
        </p:spPr>
        <p:txBody>
          <a:bodyPr wrap="square" lIns="0" tIns="0" rIns="0" bIns="0" rtlCol="0" anchor="ctr"/>
          <a:lstStyle/>
          <a:p>
            <a:pPr>
              <a:lnSpc>
                <a:spcPct val="130000"/>
              </a:lnSpc>
            </a:pPr>
            <a:r>
              <a:rPr lang="en-US" sz="1039" dirty="0">
                <a:solidFill>
                  <a:srgbClr val="0D542B"/>
                </a:solidFill>
                <a:latin typeface="Quattrocento Sans" pitchFamily="34" charset="0"/>
                <a:ea typeface="Quattrocento Sans" pitchFamily="34" charset="-122"/>
                <a:cs typeface="Quattrocento Sans" pitchFamily="34" charset="-120"/>
              </a:rPr>
              <a:t>It means YOLO processes the </a:t>
            </a:r>
            <a:r>
              <a:rPr lang="en-US" sz="1039" b="1" dirty="0">
                <a:solidFill>
                  <a:srgbClr val="0D542B"/>
                </a:solidFill>
                <a:latin typeface="Quattrocento Sans" pitchFamily="34" charset="0"/>
                <a:ea typeface="Quattrocento Sans" pitchFamily="34" charset="-122"/>
                <a:cs typeface="Quattrocento Sans" pitchFamily="34" charset="-120"/>
              </a:rPr>
              <a:t>entire image in a single forward pass</a:t>
            </a:r>
            <a:r>
              <a:rPr lang="en-US" sz="1039" dirty="0">
                <a:solidFill>
                  <a:srgbClr val="0D542B"/>
                </a:solidFill>
                <a:latin typeface="Quattrocento Sans" pitchFamily="34" charset="0"/>
                <a:ea typeface="Quattrocento Sans" pitchFamily="34" charset="-122"/>
                <a:cs typeface="Quattrocento Sans" pitchFamily="34" charset="-120"/>
              </a:rPr>
              <a:t> through the CNN. Unlike traditional methods that scan the image multiple times (sliding window) or use separate stages (region proposal + classification), YOLO looks at the image once and predicts all objects simultaneously.</a:t>
            </a:r>
            <a:endParaRPr lang="en-US" sz="1600" dirty="0"/>
          </a:p>
        </p:txBody>
      </p:sp>
      <p:sp>
        <p:nvSpPr>
          <p:cNvPr id="18" name="Shape 16"/>
          <p:cNvSpPr/>
          <p:nvPr/>
        </p:nvSpPr>
        <p:spPr>
          <a:xfrm>
            <a:off x="336331" y="3158877"/>
            <a:ext cx="11520987" cy="1002398"/>
          </a:xfrm>
          <a:custGeom>
            <a:avLst/>
            <a:gdLst/>
            <a:ahLst/>
            <a:cxnLst/>
            <a:rect l="l" t="t" r="r" b="b"/>
            <a:pathLst>
              <a:path w="11520987" h="1002398">
                <a:moveTo>
                  <a:pt x="65948" y="0"/>
                </a:moveTo>
                <a:lnTo>
                  <a:pt x="11455039" y="0"/>
                </a:lnTo>
                <a:cubicBezTo>
                  <a:pt x="11491461" y="0"/>
                  <a:pt x="11520987" y="29526"/>
                  <a:pt x="11520987" y="65948"/>
                </a:cubicBezTo>
                <a:lnTo>
                  <a:pt x="11520987" y="936451"/>
                </a:lnTo>
                <a:cubicBezTo>
                  <a:pt x="11520987" y="972873"/>
                  <a:pt x="11491461" y="1002398"/>
                  <a:pt x="11455039" y="1002398"/>
                </a:cubicBezTo>
                <a:lnTo>
                  <a:pt x="65948" y="1002398"/>
                </a:lnTo>
                <a:cubicBezTo>
                  <a:pt x="29526" y="1002398"/>
                  <a:pt x="0" y="972873"/>
                  <a:pt x="0" y="936451"/>
                </a:cubicBezTo>
                <a:lnTo>
                  <a:pt x="0" y="65948"/>
                </a:lnTo>
                <a:cubicBezTo>
                  <a:pt x="0" y="29550"/>
                  <a:pt x="29550" y="0"/>
                  <a:pt x="65948" y="0"/>
                </a:cubicBezTo>
                <a:close/>
              </a:path>
            </a:pathLst>
          </a:custGeom>
          <a:solidFill>
            <a:srgbClr val="FFFFFF"/>
          </a:solidFill>
          <a:ln w="20320">
            <a:solidFill>
              <a:srgbClr val="1F2937"/>
            </a:solidFill>
            <a:prstDash val="solid"/>
          </a:ln>
        </p:spPr>
        <p:txBody>
          <a:bodyPr/>
          <a:lstStyle/>
          <a:p>
            <a:endParaRPr lang="en-US"/>
          </a:p>
        </p:txBody>
      </p:sp>
      <p:sp>
        <p:nvSpPr>
          <p:cNvPr id="19" name="Shape 17"/>
          <p:cNvSpPr/>
          <p:nvPr/>
        </p:nvSpPr>
        <p:spPr>
          <a:xfrm>
            <a:off x="441847" y="3264389"/>
            <a:ext cx="329736" cy="329736"/>
          </a:xfrm>
          <a:custGeom>
            <a:avLst/>
            <a:gdLst/>
            <a:ahLst/>
            <a:cxnLst/>
            <a:rect l="l" t="t" r="r" b="b"/>
            <a:pathLst>
              <a:path w="329736" h="329736">
                <a:moveTo>
                  <a:pt x="164868" y="0"/>
                </a:moveTo>
                <a:lnTo>
                  <a:pt x="164868" y="0"/>
                </a:lnTo>
                <a:cubicBezTo>
                  <a:pt x="255861" y="0"/>
                  <a:pt x="329736" y="73875"/>
                  <a:pt x="329736" y="164868"/>
                </a:cubicBezTo>
                <a:lnTo>
                  <a:pt x="329736" y="164868"/>
                </a:lnTo>
                <a:cubicBezTo>
                  <a:pt x="329736" y="255861"/>
                  <a:pt x="255861" y="329736"/>
                  <a:pt x="164868" y="329736"/>
                </a:cubicBezTo>
                <a:lnTo>
                  <a:pt x="164868" y="329736"/>
                </a:lnTo>
                <a:cubicBezTo>
                  <a:pt x="73875" y="329736"/>
                  <a:pt x="0" y="255861"/>
                  <a:pt x="0" y="164868"/>
                </a:cubicBezTo>
                <a:lnTo>
                  <a:pt x="0" y="164868"/>
                </a:lnTo>
                <a:cubicBezTo>
                  <a:pt x="0" y="73875"/>
                  <a:pt x="73875" y="0"/>
                  <a:pt x="164868" y="0"/>
                </a:cubicBezTo>
                <a:close/>
              </a:path>
            </a:pathLst>
          </a:custGeom>
          <a:solidFill>
            <a:srgbClr val="8B0000"/>
          </a:solidFill>
          <a:ln/>
        </p:spPr>
        <p:txBody>
          <a:bodyPr/>
          <a:lstStyle/>
          <a:p>
            <a:endParaRPr lang="en-US"/>
          </a:p>
        </p:txBody>
      </p:sp>
      <p:sp>
        <p:nvSpPr>
          <p:cNvPr id="20" name="Text 18"/>
          <p:cNvSpPr/>
          <p:nvPr/>
        </p:nvSpPr>
        <p:spPr>
          <a:xfrm>
            <a:off x="404751" y="3264389"/>
            <a:ext cx="403927" cy="329736"/>
          </a:xfrm>
          <a:prstGeom prst="rect">
            <a:avLst/>
          </a:prstGeom>
          <a:noFill/>
          <a:ln/>
        </p:spPr>
        <p:txBody>
          <a:bodyPr wrap="square" lIns="0" tIns="0" rIns="0" bIns="0" rtlCol="0" anchor="ctr"/>
          <a:lstStyle/>
          <a:p>
            <a:pPr algn="ctr">
              <a:lnSpc>
                <a:spcPct val="130000"/>
              </a:lnSpc>
            </a:pPr>
            <a:r>
              <a:rPr lang="en-US" sz="1168" b="1" dirty="0">
                <a:solidFill>
                  <a:srgbClr val="FFFFFF"/>
                </a:solidFill>
                <a:latin typeface="Quattrocento Sans" pitchFamily="34" charset="0"/>
                <a:ea typeface="Quattrocento Sans" pitchFamily="34" charset="-122"/>
                <a:cs typeface="Quattrocento Sans" pitchFamily="34" charset="-120"/>
              </a:rPr>
              <a:t>Q3</a:t>
            </a:r>
            <a:endParaRPr lang="en-US" sz="1600" dirty="0"/>
          </a:p>
        </p:txBody>
      </p:sp>
      <p:sp>
        <p:nvSpPr>
          <p:cNvPr id="21" name="Text 19"/>
          <p:cNvSpPr/>
          <p:nvPr/>
        </p:nvSpPr>
        <p:spPr>
          <a:xfrm>
            <a:off x="870504" y="3264389"/>
            <a:ext cx="10955489" cy="230815"/>
          </a:xfrm>
          <a:prstGeom prst="rect">
            <a:avLst/>
          </a:prstGeom>
          <a:noFill/>
          <a:ln/>
        </p:spPr>
        <p:txBody>
          <a:bodyPr wrap="square" lIns="0" tIns="0" rIns="0" bIns="0" rtlCol="0" anchor="ctr"/>
          <a:lstStyle/>
          <a:p>
            <a:pPr>
              <a:lnSpc>
                <a:spcPct val="130000"/>
              </a:lnSpc>
            </a:pPr>
            <a:r>
              <a:rPr lang="en-US" sz="1168" b="1" dirty="0">
                <a:solidFill>
                  <a:srgbClr val="1F2937"/>
                </a:solidFill>
                <a:latin typeface="Sorts Mill Goudy" pitchFamily="34" charset="0"/>
                <a:ea typeface="Sorts Mill Goudy" pitchFamily="34" charset="-122"/>
                <a:cs typeface="Sorts Mill Goudy" pitchFamily="34" charset="-120"/>
              </a:rPr>
              <a:t>Explain grid cell responsibility.</a:t>
            </a:r>
            <a:endParaRPr lang="en-US" sz="1600" dirty="0"/>
          </a:p>
        </p:txBody>
      </p:sp>
      <p:sp>
        <p:nvSpPr>
          <p:cNvPr id="22" name="Shape 20"/>
          <p:cNvSpPr/>
          <p:nvPr/>
        </p:nvSpPr>
        <p:spPr>
          <a:xfrm>
            <a:off x="886991" y="3528178"/>
            <a:ext cx="10864811" cy="527578"/>
          </a:xfrm>
          <a:custGeom>
            <a:avLst/>
            <a:gdLst/>
            <a:ahLst/>
            <a:cxnLst/>
            <a:rect l="l" t="t" r="r" b="b"/>
            <a:pathLst>
              <a:path w="10864811" h="527578">
                <a:moveTo>
                  <a:pt x="32974" y="0"/>
                </a:moveTo>
                <a:lnTo>
                  <a:pt x="10798864" y="0"/>
                </a:lnTo>
                <a:cubicBezTo>
                  <a:pt x="10835286" y="0"/>
                  <a:pt x="10864811" y="29526"/>
                  <a:pt x="10864811" y="65947"/>
                </a:cubicBezTo>
                <a:lnTo>
                  <a:pt x="10864811" y="461631"/>
                </a:lnTo>
                <a:cubicBezTo>
                  <a:pt x="10864811" y="498052"/>
                  <a:pt x="10835286" y="527578"/>
                  <a:pt x="10798864" y="527578"/>
                </a:cubicBezTo>
                <a:lnTo>
                  <a:pt x="32974" y="527578"/>
                </a:lnTo>
                <a:cubicBezTo>
                  <a:pt x="14763" y="527578"/>
                  <a:pt x="0" y="512815"/>
                  <a:pt x="0" y="494604"/>
                </a:cubicBezTo>
                <a:lnTo>
                  <a:pt x="0" y="32974"/>
                </a:lnTo>
                <a:cubicBezTo>
                  <a:pt x="0" y="14775"/>
                  <a:pt x="14775" y="0"/>
                  <a:pt x="32974" y="0"/>
                </a:cubicBezTo>
                <a:close/>
              </a:path>
            </a:pathLst>
          </a:custGeom>
          <a:solidFill>
            <a:srgbClr val="F0FDF4"/>
          </a:solidFill>
          <a:ln/>
        </p:spPr>
        <p:txBody>
          <a:bodyPr/>
          <a:lstStyle/>
          <a:p>
            <a:endParaRPr lang="en-US"/>
          </a:p>
        </p:txBody>
      </p:sp>
      <p:sp>
        <p:nvSpPr>
          <p:cNvPr id="23" name="Shape 21"/>
          <p:cNvSpPr/>
          <p:nvPr/>
        </p:nvSpPr>
        <p:spPr>
          <a:xfrm>
            <a:off x="886991" y="3528178"/>
            <a:ext cx="32974" cy="527578"/>
          </a:xfrm>
          <a:custGeom>
            <a:avLst/>
            <a:gdLst/>
            <a:ahLst/>
            <a:cxnLst/>
            <a:rect l="l" t="t" r="r" b="b"/>
            <a:pathLst>
              <a:path w="32974" h="527578">
                <a:moveTo>
                  <a:pt x="32974" y="0"/>
                </a:moveTo>
                <a:lnTo>
                  <a:pt x="32974" y="0"/>
                </a:lnTo>
                <a:lnTo>
                  <a:pt x="32974" y="527578"/>
                </a:lnTo>
                <a:lnTo>
                  <a:pt x="32974" y="527578"/>
                </a:lnTo>
                <a:cubicBezTo>
                  <a:pt x="14763" y="527578"/>
                  <a:pt x="0" y="512815"/>
                  <a:pt x="0" y="494604"/>
                </a:cubicBezTo>
                <a:lnTo>
                  <a:pt x="0" y="32974"/>
                </a:lnTo>
                <a:cubicBezTo>
                  <a:pt x="0" y="14775"/>
                  <a:pt x="14775" y="0"/>
                  <a:pt x="32974" y="0"/>
                </a:cubicBezTo>
                <a:close/>
              </a:path>
            </a:pathLst>
          </a:custGeom>
          <a:solidFill>
            <a:srgbClr val="00C950"/>
          </a:solidFill>
          <a:ln/>
        </p:spPr>
        <p:txBody>
          <a:bodyPr/>
          <a:lstStyle/>
          <a:p>
            <a:endParaRPr lang="en-US"/>
          </a:p>
        </p:txBody>
      </p:sp>
      <p:sp>
        <p:nvSpPr>
          <p:cNvPr id="24" name="Text 22"/>
          <p:cNvSpPr/>
          <p:nvPr/>
        </p:nvSpPr>
        <p:spPr>
          <a:xfrm>
            <a:off x="969425" y="3594126"/>
            <a:ext cx="10782377" cy="395684"/>
          </a:xfrm>
          <a:prstGeom prst="rect">
            <a:avLst/>
          </a:prstGeom>
          <a:noFill/>
          <a:ln/>
        </p:spPr>
        <p:txBody>
          <a:bodyPr wrap="square" lIns="0" tIns="0" rIns="0" bIns="0" rtlCol="0" anchor="ctr"/>
          <a:lstStyle/>
          <a:p>
            <a:pPr>
              <a:lnSpc>
                <a:spcPct val="130000"/>
              </a:lnSpc>
            </a:pPr>
            <a:r>
              <a:rPr lang="en-US" sz="1039" dirty="0">
                <a:solidFill>
                  <a:srgbClr val="0D542B"/>
                </a:solidFill>
                <a:latin typeface="Quattrocento Sans" pitchFamily="34" charset="0"/>
                <a:ea typeface="Quattrocento Sans" pitchFamily="34" charset="-122"/>
                <a:cs typeface="Quattrocento Sans" pitchFamily="34" charset="-120"/>
              </a:rPr>
              <a:t>The image is divided into an </a:t>
            </a:r>
            <a:r>
              <a:rPr lang="en-US" sz="1039" b="1" dirty="0">
                <a:solidFill>
                  <a:srgbClr val="0D542B"/>
                </a:solidFill>
                <a:latin typeface="Quattrocento Sans" pitchFamily="34" charset="0"/>
                <a:ea typeface="Quattrocento Sans" pitchFamily="34" charset="-122"/>
                <a:cs typeface="Quattrocento Sans" pitchFamily="34" charset="-120"/>
              </a:rPr>
              <a:t>S×S grid</a:t>
            </a:r>
            <a:r>
              <a:rPr lang="en-US" sz="1039" dirty="0">
                <a:solidFill>
                  <a:srgbClr val="0D542B"/>
                </a:solidFill>
                <a:latin typeface="Quattrocento Sans" pitchFamily="34" charset="0"/>
                <a:ea typeface="Quattrocento Sans" pitchFamily="34" charset="-122"/>
                <a:cs typeface="Quattrocento Sans" pitchFamily="34" charset="-120"/>
              </a:rPr>
              <a:t>. Each grid cell is responsible for detecting objects whose </a:t>
            </a:r>
            <a:r>
              <a:rPr lang="en-US" sz="1039" b="1" dirty="0">
                <a:solidFill>
                  <a:srgbClr val="0D542B"/>
                </a:solidFill>
                <a:latin typeface="Quattrocento Sans" pitchFamily="34" charset="0"/>
                <a:ea typeface="Quattrocento Sans" pitchFamily="34" charset="-122"/>
                <a:cs typeface="Quattrocento Sans" pitchFamily="34" charset="-120"/>
              </a:rPr>
              <a:t>center falls within that cell</a:t>
            </a:r>
            <a:r>
              <a:rPr lang="en-US" sz="1039" dirty="0">
                <a:solidFill>
                  <a:srgbClr val="0D542B"/>
                </a:solidFill>
                <a:latin typeface="Quattrocento Sans" pitchFamily="34" charset="0"/>
                <a:ea typeface="Quattrocento Sans" pitchFamily="34" charset="-122"/>
                <a:cs typeface="Quattrocento Sans" pitchFamily="34" charset="-120"/>
              </a:rPr>
              <a:t>. Each cell predicts B bounding boxes and C class probabilities. This enforces spatial diversity - most objects fall into one cell, while large objects may span multiple cells.</a:t>
            </a:r>
            <a:endParaRPr lang="en-US" sz="1600" dirty="0"/>
          </a:p>
        </p:txBody>
      </p:sp>
      <p:sp>
        <p:nvSpPr>
          <p:cNvPr id="25" name="Shape 23"/>
          <p:cNvSpPr/>
          <p:nvPr/>
        </p:nvSpPr>
        <p:spPr>
          <a:xfrm>
            <a:off x="336331" y="4240406"/>
            <a:ext cx="11520987" cy="1002398"/>
          </a:xfrm>
          <a:custGeom>
            <a:avLst/>
            <a:gdLst/>
            <a:ahLst/>
            <a:cxnLst/>
            <a:rect l="l" t="t" r="r" b="b"/>
            <a:pathLst>
              <a:path w="11520987" h="1002398">
                <a:moveTo>
                  <a:pt x="65948" y="0"/>
                </a:moveTo>
                <a:lnTo>
                  <a:pt x="11455039" y="0"/>
                </a:lnTo>
                <a:cubicBezTo>
                  <a:pt x="11491461" y="0"/>
                  <a:pt x="11520987" y="29526"/>
                  <a:pt x="11520987" y="65948"/>
                </a:cubicBezTo>
                <a:lnTo>
                  <a:pt x="11520987" y="936451"/>
                </a:lnTo>
                <a:cubicBezTo>
                  <a:pt x="11520987" y="972873"/>
                  <a:pt x="11491461" y="1002398"/>
                  <a:pt x="11455039" y="1002398"/>
                </a:cubicBezTo>
                <a:lnTo>
                  <a:pt x="65948" y="1002398"/>
                </a:lnTo>
                <a:cubicBezTo>
                  <a:pt x="29526" y="1002398"/>
                  <a:pt x="0" y="972873"/>
                  <a:pt x="0" y="936451"/>
                </a:cubicBezTo>
                <a:lnTo>
                  <a:pt x="0" y="65948"/>
                </a:lnTo>
                <a:cubicBezTo>
                  <a:pt x="0" y="29550"/>
                  <a:pt x="29550" y="0"/>
                  <a:pt x="65948" y="0"/>
                </a:cubicBezTo>
                <a:close/>
              </a:path>
            </a:pathLst>
          </a:custGeom>
          <a:solidFill>
            <a:srgbClr val="FFFFFF"/>
          </a:solidFill>
          <a:ln w="20320">
            <a:solidFill>
              <a:srgbClr val="1F2937"/>
            </a:solidFill>
            <a:prstDash val="solid"/>
          </a:ln>
        </p:spPr>
        <p:txBody>
          <a:bodyPr/>
          <a:lstStyle/>
          <a:p>
            <a:endParaRPr lang="en-US"/>
          </a:p>
        </p:txBody>
      </p:sp>
      <p:sp>
        <p:nvSpPr>
          <p:cNvPr id="26" name="Shape 24"/>
          <p:cNvSpPr/>
          <p:nvPr/>
        </p:nvSpPr>
        <p:spPr>
          <a:xfrm>
            <a:off x="441847" y="4345934"/>
            <a:ext cx="329736" cy="329736"/>
          </a:xfrm>
          <a:custGeom>
            <a:avLst/>
            <a:gdLst/>
            <a:ahLst/>
            <a:cxnLst/>
            <a:rect l="l" t="t" r="r" b="b"/>
            <a:pathLst>
              <a:path w="329736" h="329736">
                <a:moveTo>
                  <a:pt x="164868" y="0"/>
                </a:moveTo>
                <a:lnTo>
                  <a:pt x="164868" y="0"/>
                </a:lnTo>
                <a:cubicBezTo>
                  <a:pt x="255861" y="0"/>
                  <a:pt x="329736" y="73875"/>
                  <a:pt x="329736" y="164868"/>
                </a:cubicBezTo>
                <a:lnTo>
                  <a:pt x="329736" y="164868"/>
                </a:lnTo>
                <a:cubicBezTo>
                  <a:pt x="329736" y="255861"/>
                  <a:pt x="255861" y="329736"/>
                  <a:pt x="164868" y="329736"/>
                </a:cubicBezTo>
                <a:lnTo>
                  <a:pt x="164868" y="329736"/>
                </a:lnTo>
                <a:cubicBezTo>
                  <a:pt x="73875" y="329736"/>
                  <a:pt x="0" y="255861"/>
                  <a:pt x="0" y="164868"/>
                </a:cubicBezTo>
                <a:lnTo>
                  <a:pt x="0" y="164868"/>
                </a:lnTo>
                <a:cubicBezTo>
                  <a:pt x="0" y="73875"/>
                  <a:pt x="73875" y="0"/>
                  <a:pt x="164868" y="0"/>
                </a:cubicBezTo>
                <a:close/>
              </a:path>
            </a:pathLst>
          </a:custGeom>
          <a:solidFill>
            <a:srgbClr val="8B0000"/>
          </a:solidFill>
          <a:ln/>
        </p:spPr>
        <p:txBody>
          <a:bodyPr/>
          <a:lstStyle/>
          <a:p>
            <a:endParaRPr lang="en-US"/>
          </a:p>
        </p:txBody>
      </p:sp>
      <p:sp>
        <p:nvSpPr>
          <p:cNvPr id="27" name="Text 25"/>
          <p:cNvSpPr/>
          <p:nvPr/>
        </p:nvSpPr>
        <p:spPr>
          <a:xfrm>
            <a:off x="404751" y="4345934"/>
            <a:ext cx="403927" cy="329736"/>
          </a:xfrm>
          <a:prstGeom prst="rect">
            <a:avLst/>
          </a:prstGeom>
          <a:noFill/>
          <a:ln/>
        </p:spPr>
        <p:txBody>
          <a:bodyPr wrap="square" lIns="0" tIns="0" rIns="0" bIns="0" rtlCol="0" anchor="ctr"/>
          <a:lstStyle/>
          <a:p>
            <a:pPr algn="ctr">
              <a:lnSpc>
                <a:spcPct val="130000"/>
              </a:lnSpc>
            </a:pPr>
            <a:r>
              <a:rPr lang="en-US" sz="1168" b="1" dirty="0">
                <a:solidFill>
                  <a:srgbClr val="FFFFFF"/>
                </a:solidFill>
                <a:latin typeface="Quattrocento Sans" pitchFamily="34" charset="0"/>
                <a:ea typeface="Quattrocento Sans" pitchFamily="34" charset="-122"/>
                <a:cs typeface="Quattrocento Sans" pitchFamily="34" charset="-120"/>
              </a:rPr>
              <a:t>Q4</a:t>
            </a:r>
            <a:endParaRPr lang="en-US" sz="1600" dirty="0"/>
          </a:p>
        </p:txBody>
      </p:sp>
      <p:sp>
        <p:nvSpPr>
          <p:cNvPr id="28" name="Text 26"/>
          <p:cNvSpPr/>
          <p:nvPr/>
        </p:nvSpPr>
        <p:spPr>
          <a:xfrm>
            <a:off x="870504" y="4345934"/>
            <a:ext cx="10955489" cy="230815"/>
          </a:xfrm>
          <a:prstGeom prst="rect">
            <a:avLst/>
          </a:prstGeom>
          <a:noFill/>
          <a:ln/>
        </p:spPr>
        <p:txBody>
          <a:bodyPr wrap="square" lIns="0" tIns="0" rIns="0" bIns="0" rtlCol="0" anchor="ctr"/>
          <a:lstStyle/>
          <a:p>
            <a:pPr>
              <a:lnSpc>
                <a:spcPct val="130000"/>
              </a:lnSpc>
            </a:pPr>
            <a:r>
              <a:rPr lang="en-US" sz="1168" b="1" dirty="0">
                <a:solidFill>
                  <a:srgbClr val="1F2937"/>
                </a:solidFill>
                <a:latin typeface="Sorts Mill Goudy" pitchFamily="34" charset="0"/>
                <a:ea typeface="Sorts Mill Goudy" pitchFamily="34" charset="-122"/>
                <a:cs typeface="Sorts Mill Goudy" pitchFamily="34" charset="-120"/>
              </a:rPr>
              <a:t>What is IoU and why is it important?</a:t>
            </a:r>
            <a:endParaRPr lang="en-US" sz="1600" dirty="0"/>
          </a:p>
        </p:txBody>
      </p:sp>
      <p:sp>
        <p:nvSpPr>
          <p:cNvPr id="29" name="Shape 27"/>
          <p:cNvSpPr/>
          <p:nvPr/>
        </p:nvSpPr>
        <p:spPr>
          <a:xfrm>
            <a:off x="886991" y="4609723"/>
            <a:ext cx="10864811" cy="527578"/>
          </a:xfrm>
          <a:custGeom>
            <a:avLst/>
            <a:gdLst/>
            <a:ahLst/>
            <a:cxnLst/>
            <a:rect l="l" t="t" r="r" b="b"/>
            <a:pathLst>
              <a:path w="10864811" h="527578">
                <a:moveTo>
                  <a:pt x="32974" y="0"/>
                </a:moveTo>
                <a:lnTo>
                  <a:pt x="10798864" y="0"/>
                </a:lnTo>
                <a:cubicBezTo>
                  <a:pt x="10835286" y="0"/>
                  <a:pt x="10864811" y="29526"/>
                  <a:pt x="10864811" y="65947"/>
                </a:cubicBezTo>
                <a:lnTo>
                  <a:pt x="10864811" y="461631"/>
                </a:lnTo>
                <a:cubicBezTo>
                  <a:pt x="10864811" y="498052"/>
                  <a:pt x="10835286" y="527578"/>
                  <a:pt x="10798864" y="527578"/>
                </a:cubicBezTo>
                <a:lnTo>
                  <a:pt x="32974" y="527578"/>
                </a:lnTo>
                <a:cubicBezTo>
                  <a:pt x="14763" y="527578"/>
                  <a:pt x="0" y="512815"/>
                  <a:pt x="0" y="494604"/>
                </a:cubicBezTo>
                <a:lnTo>
                  <a:pt x="0" y="32974"/>
                </a:lnTo>
                <a:cubicBezTo>
                  <a:pt x="0" y="14775"/>
                  <a:pt x="14775" y="0"/>
                  <a:pt x="32974" y="0"/>
                </a:cubicBezTo>
                <a:close/>
              </a:path>
            </a:pathLst>
          </a:custGeom>
          <a:solidFill>
            <a:srgbClr val="F0FDF4"/>
          </a:solidFill>
          <a:ln/>
        </p:spPr>
        <p:txBody>
          <a:bodyPr/>
          <a:lstStyle/>
          <a:p>
            <a:endParaRPr lang="en-US"/>
          </a:p>
        </p:txBody>
      </p:sp>
      <p:sp>
        <p:nvSpPr>
          <p:cNvPr id="30" name="Shape 28"/>
          <p:cNvSpPr/>
          <p:nvPr/>
        </p:nvSpPr>
        <p:spPr>
          <a:xfrm>
            <a:off x="886991" y="4609723"/>
            <a:ext cx="32974" cy="527578"/>
          </a:xfrm>
          <a:custGeom>
            <a:avLst/>
            <a:gdLst/>
            <a:ahLst/>
            <a:cxnLst/>
            <a:rect l="l" t="t" r="r" b="b"/>
            <a:pathLst>
              <a:path w="32974" h="527578">
                <a:moveTo>
                  <a:pt x="32974" y="0"/>
                </a:moveTo>
                <a:lnTo>
                  <a:pt x="32974" y="0"/>
                </a:lnTo>
                <a:lnTo>
                  <a:pt x="32974" y="527578"/>
                </a:lnTo>
                <a:lnTo>
                  <a:pt x="32974" y="527578"/>
                </a:lnTo>
                <a:cubicBezTo>
                  <a:pt x="14763" y="527578"/>
                  <a:pt x="0" y="512815"/>
                  <a:pt x="0" y="494604"/>
                </a:cubicBezTo>
                <a:lnTo>
                  <a:pt x="0" y="32974"/>
                </a:lnTo>
                <a:cubicBezTo>
                  <a:pt x="0" y="14775"/>
                  <a:pt x="14775" y="0"/>
                  <a:pt x="32974" y="0"/>
                </a:cubicBezTo>
                <a:close/>
              </a:path>
            </a:pathLst>
          </a:custGeom>
          <a:solidFill>
            <a:srgbClr val="00C950"/>
          </a:solidFill>
          <a:ln/>
        </p:spPr>
        <p:txBody>
          <a:bodyPr/>
          <a:lstStyle/>
          <a:p>
            <a:endParaRPr lang="en-US"/>
          </a:p>
        </p:txBody>
      </p:sp>
      <p:sp>
        <p:nvSpPr>
          <p:cNvPr id="31" name="Text 29"/>
          <p:cNvSpPr/>
          <p:nvPr/>
        </p:nvSpPr>
        <p:spPr>
          <a:xfrm>
            <a:off x="969425" y="4675671"/>
            <a:ext cx="10782377" cy="395684"/>
          </a:xfrm>
          <a:prstGeom prst="rect">
            <a:avLst/>
          </a:prstGeom>
          <a:noFill/>
          <a:ln/>
        </p:spPr>
        <p:txBody>
          <a:bodyPr wrap="square" lIns="0" tIns="0" rIns="0" bIns="0" rtlCol="0" anchor="ctr"/>
          <a:lstStyle/>
          <a:p>
            <a:pPr>
              <a:lnSpc>
                <a:spcPct val="130000"/>
              </a:lnSpc>
            </a:pPr>
            <a:r>
              <a:rPr lang="en-US" sz="1039" b="1" dirty="0">
                <a:solidFill>
                  <a:srgbClr val="0D542B"/>
                </a:solidFill>
                <a:latin typeface="Quattrocento Sans" pitchFamily="34" charset="0"/>
                <a:ea typeface="Quattrocento Sans" pitchFamily="34" charset="-122"/>
                <a:cs typeface="Quattrocento Sans" pitchFamily="34" charset="-120"/>
              </a:rPr>
              <a:t>IoU (Intersection over Union)</a:t>
            </a:r>
            <a:r>
              <a:rPr lang="en-US" sz="1039" dirty="0">
                <a:solidFill>
                  <a:srgbClr val="0D542B"/>
                </a:solidFill>
                <a:latin typeface="Quattrocento Sans" pitchFamily="34" charset="0"/>
                <a:ea typeface="Quattrocento Sans" pitchFamily="34" charset="-122"/>
                <a:cs typeface="Quattrocento Sans" pitchFamily="34" charset="-120"/>
              </a:rPr>
              <a:t> = Area of Intersection / Area of Union. Range: 0 (no overlap) to 1 (perfect match). It's used for: (1) Assigning positive/negative labels during training (IoU &gt; 0.5 = positive), (2) Evaluating prediction accuracy (mAP calculation), (3) NMS algorithm to remove duplicate detections.</a:t>
            </a:r>
            <a:endParaRPr lang="en-US" sz="1600" dirty="0"/>
          </a:p>
        </p:txBody>
      </p:sp>
      <p:sp>
        <p:nvSpPr>
          <p:cNvPr id="32" name="Shape 30"/>
          <p:cNvSpPr/>
          <p:nvPr/>
        </p:nvSpPr>
        <p:spPr>
          <a:xfrm>
            <a:off x="336331" y="5321950"/>
            <a:ext cx="11520987" cy="1002398"/>
          </a:xfrm>
          <a:custGeom>
            <a:avLst/>
            <a:gdLst/>
            <a:ahLst/>
            <a:cxnLst/>
            <a:rect l="l" t="t" r="r" b="b"/>
            <a:pathLst>
              <a:path w="11520987" h="1002398">
                <a:moveTo>
                  <a:pt x="65948" y="0"/>
                </a:moveTo>
                <a:lnTo>
                  <a:pt x="11455039" y="0"/>
                </a:lnTo>
                <a:cubicBezTo>
                  <a:pt x="11491461" y="0"/>
                  <a:pt x="11520987" y="29526"/>
                  <a:pt x="11520987" y="65948"/>
                </a:cubicBezTo>
                <a:lnTo>
                  <a:pt x="11520987" y="936451"/>
                </a:lnTo>
                <a:cubicBezTo>
                  <a:pt x="11520987" y="972873"/>
                  <a:pt x="11491461" y="1002398"/>
                  <a:pt x="11455039" y="1002398"/>
                </a:cubicBezTo>
                <a:lnTo>
                  <a:pt x="65948" y="1002398"/>
                </a:lnTo>
                <a:cubicBezTo>
                  <a:pt x="29526" y="1002398"/>
                  <a:pt x="0" y="972873"/>
                  <a:pt x="0" y="936451"/>
                </a:cubicBezTo>
                <a:lnTo>
                  <a:pt x="0" y="65948"/>
                </a:lnTo>
                <a:cubicBezTo>
                  <a:pt x="0" y="29550"/>
                  <a:pt x="29550" y="0"/>
                  <a:pt x="65948" y="0"/>
                </a:cubicBezTo>
                <a:close/>
              </a:path>
            </a:pathLst>
          </a:custGeom>
          <a:solidFill>
            <a:srgbClr val="FFFFFF"/>
          </a:solidFill>
          <a:ln w="20320">
            <a:solidFill>
              <a:srgbClr val="1F2937"/>
            </a:solidFill>
            <a:prstDash val="solid"/>
          </a:ln>
        </p:spPr>
        <p:txBody>
          <a:bodyPr/>
          <a:lstStyle/>
          <a:p>
            <a:endParaRPr lang="en-US"/>
          </a:p>
        </p:txBody>
      </p:sp>
      <p:sp>
        <p:nvSpPr>
          <p:cNvPr id="33" name="Shape 31"/>
          <p:cNvSpPr/>
          <p:nvPr/>
        </p:nvSpPr>
        <p:spPr>
          <a:xfrm>
            <a:off x="441847" y="5427463"/>
            <a:ext cx="329736" cy="329736"/>
          </a:xfrm>
          <a:custGeom>
            <a:avLst/>
            <a:gdLst/>
            <a:ahLst/>
            <a:cxnLst/>
            <a:rect l="l" t="t" r="r" b="b"/>
            <a:pathLst>
              <a:path w="329736" h="329736">
                <a:moveTo>
                  <a:pt x="164868" y="0"/>
                </a:moveTo>
                <a:lnTo>
                  <a:pt x="164868" y="0"/>
                </a:lnTo>
                <a:cubicBezTo>
                  <a:pt x="255861" y="0"/>
                  <a:pt x="329736" y="73875"/>
                  <a:pt x="329736" y="164868"/>
                </a:cubicBezTo>
                <a:lnTo>
                  <a:pt x="329736" y="164868"/>
                </a:lnTo>
                <a:cubicBezTo>
                  <a:pt x="329736" y="255861"/>
                  <a:pt x="255861" y="329736"/>
                  <a:pt x="164868" y="329736"/>
                </a:cubicBezTo>
                <a:lnTo>
                  <a:pt x="164868" y="329736"/>
                </a:lnTo>
                <a:cubicBezTo>
                  <a:pt x="73875" y="329736"/>
                  <a:pt x="0" y="255861"/>
                  <a:pt x="0" y="164868"/>
                </a:cubicBezTo>
                <a:lnTo>
                  <a:pt x="0" y="164868"/>
                </a:lnTo>
                <a:cubicBezTo>
                  <a:pt x="0" y="73875"/>
                  <a:pt x="73875" y="0"/>
                  <a:pt x="164868" y="0"/>
                </a:cubicBezTo>
                <a:close/>
              </a:path>
            </a:pathLst>
          </a:custGeom>
          <a:solidFill>
            <a:srgbClr val="8B0000"/>
          </a:solidFill>
          <a:ln/>
        </p:spPr>
        <p:txBody>
          <a:bodyPr/>
          <a:lstStyle/>
          <a:p>
            <a:endParaRPr lang="en-US"/>
          </a:p>
        </p:txBody>
      </p:sp>
      <p:sp>
        <p:nvSpPr>
          <p:cNvPr id="34" name="Text 32"/>
          <p:cNvSpPr/>
          <p:nvPr/>
        </p:nvSpPr>
        <p:spPr>
          <a:xfrm>
            <a:off x="404751" y="5427463"/>
            <a:ext cx="403927" cy="329736"/>
          </a:xfrm>
          <a:prstGeom prst="rect">
            <a:avLst/>
          </a:prstGeom>
          <a:noFill/>
          <a:ln/>
        </p:spPr>
        <p:txBody>
          <a:bodyPr wrap="square" lIns="0" tIns="0" rIns="0" bIns="0" rtlCol="0" anchor="ctr"/>
          <a:lstStyle/>
          <a:p>
            <a:pPr algn="ctr">
              <a:lnSpc>
                <a:spcPct val="130000"/>
              </a:lnSpc>
            </a:pPr>
            <a:r>
              <a:rPr lang="en-US" sz="1168" b="1" dirty="0">
                <a:solidFill>
                  <a:srgbClr val="FFFFFF"/>
                </a:solidFill>
                <a:latin typeface="Quattrocento Sans" pitchFamily="34" charset="0"/>
                <a:ea typeface="Quattrocento Sans" pitchFamily="34" charset="-122"/>
                <a:cs typeface="Quattrocento Sans" pitchFamily="34" charset="-120"/>
              </a:rPr>
              <a:t>Q5</a:t>
            </a:r>
            <a:endParaRPr lang="en-US" sz="1600" dirty="0"/>
          </a:p>
        </p:txBody>
      </p:sp>
      <p:sp>
        <p:nvSpPr>
          <p:cNvPr id="35" name="Text 33"/>
          <p:cNvSpPr/>
          <p:nvPr/>
        </p:nvSpPr>
        <p:spPr>
          <a:xfrm>
            <a:off x="870504" y="5427463"/>
            <a:ext cx="10955489" cy="230815"/>
          </a:xfrm>
          <a:prstGeom prst="rect">
            <a:avLst/>
          </a:prstGeom>
          <a:noFill/>
          <a:ln/>
        </p:spPr>
        <p:txBody>
          <a:bodyPr wrap="square" lIns="0" tIns="0" rIns="0" bIns="0" rtlCol="0" anchor="ctr"/>
          <a:lstStyle/>
          <a:p>
            <a:pPr>
              <a:lnSpc>
                <a:spcPct val="130000"/>
              </a:lnSpc>
            </a:pPr>
            <a:r>
              <a:rPr lang="en-US" sz="1168" b="1" dirty="0">
                <a:solidFill>
                  <a:srgbClr val="1F2937"/>
                </a:solidFill>
                <a:latin typeface="Sorts Mill Goudy" pitchFamily="34" charset="0"/>
                <a:ea typeface="Sorts Mill Goudy" pitchFamily="34" charset="-122"/>
                <a:cs typeface="Sorts Mill Goudy" pitchFamily="34" charset="-120"/>
              </a:rPr>
              <a:t>Why use square root for w,h in loss function?</a:t>
            </a:r>
            <a:endParaRPr lang="en-US" sz="1600" dirty="0"/>
          </a:p>
        </p:txBody>
      </p:sp>
      <p:sp>
        <p:nvSpPr>
          <p:cNvPr id="36" name="Shape 34"/>
          <p:cNvSpPr/>
          <p:nvPr/>
        </p:nvSpPr>
        <p:spPr>
          <a:xfrm>
            <a:off x="886991" y="5691252"/>
            <a:ext cx="10864811" cy="527578"/>
          </a:xfrm>
          <a:custGeom>
            <a:avLst/>
            <a:gdLst/>
            <a:ahLst/>
            <a:cxnLst/>
            <a:rect l="l" t="t" r="r" b="b"/>
            <a:pathLst>
              <a:path w="10864811" h="527578">
                <a:moveTo>
                  <a:pt x="32974" y="0"/>
                </a:moveTo>
                <a:lnTo>
                  <a:pt x="10798864" y="0"/>
                </a:lnTo>
                <a:cubicBezTo>
                  <a:pt x="10835286" y="0"/>
                  <a:pt x="10864811" y="29526"/>
                  <a:pt x="10864811" y="65947"/>
                </a:cubicBezTo>
                <a:lnTo>
                  <a:pt x="10864811" y="461631"/>
                </a:lnTo>
                <a:cubicBezTo>
                  <a:pt x="10864811" y="498052"/>
                  <a:pt x="10835286" y="527578"/>
                  <a:pt x="10798864" y="527578"/>
                </a:cubicBezTo>
                <a:lnTo>
                  <a:pt x="32974" y="527578"/>
                </a:lnTo>
                <a:cubicBezTo>
                  <a:pt x="14763" y="527578"/>
                  <a:pt x="0" y="512815"/>
                  <a:pt x="0" y="494604"/>
                </a:cubicBezTo>
                <a:lnTo>
                  <a:pt x="0" y="32974"/>
                </a:lnTo>
                <a:cubicBezTo>
                  <a:pt x="0" y="14775"/>
                  <a:pt x="14775" y="0"/>
                  <a:pt x="32974" y="0"/>
                </a:cubicBezTo>
                <a:close/>
              </a:path>
            </a:pathLst>
          </a:custGeom>
          <a:solidFill>
            <a:srgbClr val="F0FDF4"/>
          </a:solidFill>
          <a:ln/>
        </p:spPr>
        <p:txBody>
          <a:bodyPr/>
          <a:lstStyle/>
          <a:p>
            <a:endParaRPr lang="en-US"/>
          </a:p>
        </p:txBody>
      </p:sp>
      <p:sp>
        <p:nvSpPr>
          <p:cNvPr id="37" name="Shape 35"/>
          <p:cNvSpPr/>
          <p:nvPr/>
        </p:nvSpPr>
        <p:spPr>
          <a:xfrm>
            <a:off x="886991" y="5691252"/>
            <a:ext cx="32974" cy="527578"/>
          </a:xfrm>
          <a:custGeom>
            <a:avLst/>
            <a:gdLst/>
            <a:ahLst/>
            <a:cxnLst/>
            <a:rect l="l" t="t" r="r" b="b"/>
            <a:pathLst>
              <a:path w="32974" h="527578">
                <a:moveTo>
                  <a:pt x="32974" y="0"/>
                </a:moveTo>
                <a:lnTo>
                  <a:pt x="32974" y="0"/>
                </a:lnTo>
                <a:lnTo>
                  <a:pt x="32974" y="527578"/>
                </a:lnTo>
                <a:lnTo>
                  <a:pt x="32974" y="527578"/>
                </a:lnTo>
                <a:cubicBezTo>
                  <a:pt x="14763" y="527578"/>
                  <a:pt x="0" y="512815"/>
                  <a:pt x="0" y="494604"/>
                </a:cubicBezTo>
                <a:lnTo>
                  <a:pt x="0" y="32974"/>
                </a:lnTo>
                <a:cubicBezTo>
                  <a:pt x="0" y="14775"/>
                  <a:pt x="14775" y="0"/>
                  <a:pt x="32974" y="0"/>
                </a:cubicBezTo>
                <a:close/>
              </a:path>
            </a:pathLst>
          </a:custGeom>
          <a:solidFill>
            <a:srgbClr val="00C950"/>
          </a:solidFill>
          <a:ln/>
        </p:spPr>
        <p:txBody>
          <a:bodyPr/>
          <a:lstStyle/>
          <a:p>
            <a:endParaRPr lang="en-US"/>
          </a:p>
        </p:txBody>
      </p:sp>
      <p:sp>
        <p:nvSpPr>
          <p:cNvPr id="38" name="Text 36"/>
          <p:cNvSpPr/>
          <p:nvPr/>
        </p:nvSpPr>
        <p:spPr>
          <a:xfrm>
            <a:off x="969425" y="5757199"/>
            <a:ext cx="10782377" cy="395684"/>
          </a:xfrm>
          <a:prstGeom prst="rect">
            <a:avLst/>
          </a:prstGeom>
          <a:noFill/>
          <a:ln/>
        </p:spPr>
        <p:txBody>
          <a:bodyPr wrap="square" lIns="0" tIns="0" rIns="0" bIns="0" rtlCol="0" anchor="ctr"/>
          <a:lstStyle/>
          <a:p>
            <a:pPr>
              <a:lnSpc>
                <a:spcPct val="130000"/>
              </a:lnSpc>
            </a:pPr>
            <a:r>
              <a:rPr lang="en-US" sz="1039" dirty="0">
                <a:solidFill>
                  <a:srgbClr val="0D542B"/>
                </a:solidFill>
                <a:latin typeface="Quattrocento Sans" pitchFamily="34" charset="0"/>
                <a:ea typeface="Quattrocento Sans" pitchFamily="34" charset="-122"/>
                <a:cs typeface="Quattrocento Sans" pitchFamily="34" charset="-120"/>
              </a:rPr>
              <a:t>A </a:t>
            </a:r>
            <a:r>
              <a:rPr lang="en-US" sz="1039" b="1" dirty="0">
                <a:solidFill>
                  <a:srgbClr val="0D542B"/>
                </a:solidFill>
                <a:latin typeface="Quattrocento Sans" pitchFamily="34" charset="0"/>
                <a:ea typeface="Quattrocento Sans" pitchFamily="34" charset="-122"/>
                <a:cs typeface="Quattrocento Sans" pitchFamily="34" charset="-120"/>
              </a:rPr>
              <a:t>small deviation matters more for small boxes</a:t>
            </a:r>
            <a:r>
              <a:rPr lang="en-US" sz="1039" dirty="0">
                <a:solidFill>
                  <a:srgbClr val="0D542B"/>
                </a:solidFill>
                <a:latin typeface="Quattrocento Sans" pitchFamily="34" charset="0"/>
                <a:ea typeface="Quattrocento Sans" pitchFamily="34" charset="-122"/>
                <a:cs typeface="Quattrocento Sans" pitchFamily="34" charset="-120"/>
              </a:rPr>
              <a:t> than large boxes. Example: 2-pixel error in 10×10 box = 20% deviation (significant), but in 100×100 box = 2% deviation (minor). Using √w and √h reduces the impact of large box errors while preserving sensitivity to small box errors, ensuring fair penalization across all box sizes.</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50" dirty="0">
                <a:solidFill>
                  <a:srgbClr val="8B0000"/>
                </a:solidFill>
                <a:latin typeface="Quattrocento Sans" pitchFamily="34" charset="0"/>
                <a:ea typeface="Quattrocento Sans" pitchFamily="34" charset="-122"/>
                <a:cs typeface="Quattrocento Sans" pitchFamily="34" charset="-120"/>
              </a:rPr>
              <a:t>10.2 INTERVIEW Q&amp;A - PART 2</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Essential Interview Q&amp;A (Part 2)</a:t>
            </a:r>
            <a:endParaRPr lang="en-US" sz="1600" dirty="0"/>
          </a:p>
        </p:txBody>
      </p:sp>
      <p:sp>
        <p:nvSpPr>
          <p:cNvPr id="4" name="Shape 2"/>
          <p:cNvSpPr/>
          <p:nvPr/>
        </p:nvSpPr>
        <p:spPr>
          <a:xfrm>
            <a:off x="323850" y="958850"/>
            <a:ext cx="11545888" cy="965200"/>
          </a:xfrm>
          <a:custGeom>
            <a:avLst/>
            <a:gdLst/>
            <a:ahLst/>
            <a:cxnLst/>
            <a:rect l="l" t="t" r="r" b="b"/>
            <a:pathLst>
              <a:path w="11545888" h="965200">
                <a:moveTo>
                  <a:pt x="63501" y="0"/>
                </a:moveTo>
                <a:lnTo>
                  <a:pt x="11482387" y="0"/>
                </a:lnTo>
                <a:cubicBezTo>
                  <a:pt x="11517457" y="0"/>
                  <a:pt x="11545888" y="28430"/>
                  <a:pt x="11545888" y="63501"/>
                </a:cubicBezTo>
                <a:lnTo>
                  <a:pt x="11545888" y="901699"/>
                </a:lnTo>
                <a:cubicBezTo>
                  <a:pt x="11545888" y="936770"/>
                  <a:pt x="11517457" y="965200"/>
                  <a:pt x="11482387" y="965200"/>
                </a:cubicBezTo>
                <a:lnTo>
                  <a:pt x="63501" y="965200"/>
                </a:lnTo>
                <a:cubicBezTo>
                  <a:pt x="28430" y="965200"/>
                  <a:pt x="0" y="936770"/>
                  <a:pt x="0" y="901699"/>
                </a:cubicBezTo>
                <a:lnTo>
                  <a:pt x="0" y="63501"/>
                </a:lnTo>
                <a:cubicBezTo>
                  <a:pt x="0" y="28430"/>
                  <a:pt x="28430" y="0"/>
                  <a:pt x="63501" y="0"/>
                </a:cubicBezTo>
                <a:close/>
              </a:path>
            </a:pathLst>
          </a:custGeom>
          <a:solidFill>
            <a:srgbClr val="FFFFFF"/>
          </a:solidFill>
          <a:ln w="20320">
            <a:solidFill>
              <a:srgbClr val="1F2937"/>
            </a:solidFill>
            <a:prstDash val="solid"/>
          </a:ln>
        </p:spPr>
        <p:txBody>
          <a:bodyPr/>
          <a:lstStyle/>
          <a:p>
            <a:endParaRPr lang="en-US"/>
          </a:p>
        </p:txBody>
      </p:sp>
      <p:sp>
        <p:nvSpPr>
          <p:cNvPr id="5" name="Shape 3"/>
          <p:cNvSpPr/>
          <p:nvPr/>
        </p:nvSpPr>
        <p:spPr>
          <a:xfrm>
            <a:off x="425450" y="1060447"/>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B0000"/>
          </a:solidFill>
          <a:ln/>
        </p:spPr>
        <p:txBody>
          <a:bodyPr/>
          <a:lstStyle/>
          <a:p>
            <a:endParaRPr lang="en-US"/>
          </a:p>
        </p:txBody>
      </p:sp>
      <p:sp>
        <p:nvSpPr>
          <p:cNvPr id="6" name="Text 4"/>
          <p:cNvSpPr/>
          <p:nvPr/>
        </p:nvSpPr>
        <p:spPr>
          <a:xfrm>
            <a:off x="389731" y="1060447"/>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Q6</a:t>
            </a:r>
            <a:endParaRPr lang="en-US" sz="1600" dirty="0"/>
          </a:p>
        </p:txBody>
      </p:sp>
      <p:sp>
        <p:nvSpPr>
          <p:cNvPr id="7" name="Text 5"/>
          <p:cNvSpPr/>
          <p:nvPr/>
        </p:nvSpPr>
        <p:spPr>
          <a:xfrm>
            <a:off x="838200" y="1060447"/>
            <a:ext cx="110013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How does NMS work and why is it needed?</a:t>
            </a:r>
            <a:endParaRPr lang="en-US" sz="1600" dirty="0"/>
          </a:p>
        </p:txBody>
      </p:sp>
      <p:sp>
        <p:nvSpPr>
          <p:cNvPr id="8" name="Shape 6"/>
          <p:cNvSpPr/>
          <p:nvPr/>
        </p:nvSpPr>
        <p:spPr>
          <a:xfrm>
            <a:off x="854075" y="1314447"/>
            <a:ext cx="10914063" cy="508000"/>
          </a:xfrm>
          <a:custGeom>
            <a:avLst/>
            <a:gdLst/>
            <a:ahLst/>
            <a:cxnLst/>
            <a:rect l="l" t="t" r="r" b="b"/>
            <a:pathLst>
              <a:path w="10914063" h="508000">
                <a:moveTo>
                  <a:pt x="31750" y="0"/>
                </a:moveTo>
                <a:lnTo>
                  <a:pt x="10850563" y="0"/>
                </a:lnTo>
                <a:cubicBezTo>
                  <a:pt x="10885609" y="0"/>
                  <a:pt x="10914063" y="28453"/>
                  <a:pt x="10914063" y="63500"/>
                </a:cubicBezTo>
                <a:lnTo>
                  <a:pt x="10914063" y="444500"/>
                </a:lnTo>
                <a:cubicBezTo>
                  <a:pt x="10914063" y="479547"/>
                  <a:pt x="10885609" y="508000"/>
                  <a:pt x="10850563" y="508000"/>
                </a:cubicBezTo>
                <a:lnTo>
                  <a:pt x="31750" y="508000"/>
                </a:lnTo>
                <a:cubicBezTo>
                  <a:pt x="14227" y="508000"/>
                  <a:pt x="0" y="493773"/>
                  <a:pt x="0" y="476250"/>
                </a:cubicBezTo>
                <a:lnTo>
                  <a:pt x="0" y="31750"/>
                </a:lnTo>
                <a:cubicBezTo>
                  <a:pt x="0" y="14227"/>
                  <a:pt x="14227" y="0"/>
                  <a:pt x="31750" y="0"/>
                </a:cubicBezTo>
                <a:close/>
              </a:path>
            </a:pathLst>
          </a:custGeom>
          <a:solidFill>
            <a:srgbClr val="F0FDF4"/>
          </a:solidFill>
          <a:ln/>
        </p:spPr>
        <p:txBody>
          <a:bodyPr/>
          <a:lstStyle/>
          <a:p>
            <a:endParaRPr lang="en-US"/>
          </a:p>
        </p:txBody>
      </p:sp>
      <p:sp>
        <p:nvSpPr>
          <p:cNvPr id="9" name="Shape 7"/>
          <p:cNvSpPr/>
          <p:nvPr/>
        </p:nvSpPr>
        <p:spPr>
          <a:xfrm>
            <a:off x="854075" y="1314447"/>
            <a:ext cx="31750" cy="508000"/>
          </a:xfrm>
          <a:custGeom>
            <a:avLst/>
            <a:gdLst/>
            <a:ahLst/>
            <a:cxnLst/>
            <a:rect l="l" t="t" r="r" b="b"/>
            <a:pathLst>
              <a:path w="31750" h="508000">
                <a:moveTo>
                  <a:pt x="31750" y="0"/>
                </a:moveTo>
                <a:lnTo>
                  <a:pt x="31750" y="0"/>
                </a:lnTo>
                <a:lnTo>
                  <a:pt x="31750" y="508000"/>
                </a:lnTo>
                <a:lnTo>
                  <a:pt x="31750" y="508000"/>
                </a:lnTo>
                <a:cubicBezTo>
                  <a:pt x="14227" y="508000"/>
                  <a:pt x="0" y="493773"/>
                  <a:pt x="0" y="476250"/>
                </a:cubicBezTo>
                <a:lnTo>
                  <a:pt x="0" y="31750"/>
                </a:lnTo>
                <a:cubicBezTo>
                  <a:pt x="0" y="14227"/>
                  <a:pt x="14227" y="0"/>
                  <a:pt x="31750" y="0"/>
                </a:cubicBezTo>
                <a:close/>
              </a:path>
            </a:pathLst>
          </a:custGeom>
          <a:solidFill>
            <a:srgbClr val="00C950"/>
          </a:solidFill>
          <a:ln/>
        </p:spPr>
        <p:txBody>
          <a:bodyPr/>
          <a:lstStyle/>
          <a:p>
            <a:endParaRPr lang="en-US"/>
          </a:p>
        </p:txBody>
      </p:sp>
      <p:sp>
        <p:nvSpPr>
          <p:cNvPr id="10" name="Text 8"/>
          <p:cNvSpPr/>
          <p:nvPr/>
        </p:nvSpPr>
        <p:spPr>
          <a:xfrm>
            <a:off x="933450" y="1377947"/>
            <a:ext cx="10834688" cy="3810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NMS (Non-Maximum Suppression)</a:t>
            </a:r>
            <a:r>
              <a:rPr lang="en-US" sz="1000" dirty="0">
                <a:solidFill>
                  <a:srgbClr val="0D542B"/>
                </a:solidFill>
                <a:latin typeface="Quattrocento Sans" pitchFamily="34" charset="0"/>
                <a:ea typeface="Quattrocento Sans" pitchFamily="34" charset="-122"/>
                <a:cs typeface="Quattrocento Sans" pitchFamily="34" charset="-120"/>
              </a:rPr>
              <a:t> removes duplicate detections: (1) Sort boxes by confidence, (2) Select highest confidence box, (3) Remove boxes with IoU &gt; threshold (typically 0.5), (4) Repeat until no boxes remain. It's needed because YOLO predicts hundreds of boxes, but most detect the same objects. NMS improves mAP by 23% in YOLOv1.</a:t>
            </a:r>
            <a:endParaRPr lang="en-US" sz="1600" dirty="0"/>
          </a:p>
        </p:txBody>
      </p:sp>
      <p:sp>
        <p:nvSpPr>
          <p:cNvPr id="11" name="Shape 9"/>
          <p:cNvSpPr/>
          <p:nvPr/>
        </p:nvSpPr>
        <p:spPr>
          <a:xfrm>
            <a:off x="323850" y="2000259"/>
            <a:ext cx="11545888" cy="965200"/>
          </a:xfrm>
          <a:custGeom>
            <a:avLst/>
            <a:gdLst/>
            <a:ahLst/>
            <a:cxnLst/>
            <a:rect l="l" t="t" r="r" b="b"/>
            <a:pathLst>
              <a:path w="11545888" h="965200">
                <a:moveTo>
                  <a:pt x="63501" y="0"/>
                </a:moveTo>
                <a:lnTo>
                  <a:pt x="11482387" y="0"/>
                </a:lnTo>
                <a:cubicBezTo>
                  <a:pt x="11517457" y="0"/>
                  <a:pt x="11545888" y="28430"/>
                  <a:pt x="11545888" y="63501"/>
                </a:cubicBezTo>
                <a:lnTo>
                  <a:pt x="11545888" y="901699"/>
                </a:lnTo>
                <a:cubicBezTo>
                  <a:pt x="11545888" y="936770"/>
                  <a:pt x="11517457" y="965200"/>
                  <a:pt x="11482387" y="965200"/>
                </a:cubicBezTo>
                <a:lnTo>
                  <a:pt x="63501" y="965200"/>
                </a:lnTo>
                <a:cubicBezTo>
                  <a:pt x="28430" y="965200"/>
                  <a:pt x="0" y="936770"/>
                  <a:pt x="0" y="901699"/>
                </a:cubicBezTo>
                <a:lnTo>
                  <a:pt x="0" y="63501"/>
                </a:lnTo>
                <a:cubicBezTo>
                  <a:pt x="0" y="28430"/>
                  <a:pt x="28430" y="0"/>
                  <a:pt x="63501" y="0"/>
                </a:cubicBezTo>
                <a:close/>
              </a:path>
            </a:pathLst>
          </a:custGeom>
          <a:solidFill>
            <a:srgbClr val="FFFFFF"/>
          </a:solidFill>
          <a:ln w="20320">
            <a:solidFill>
              <a:srgbClr val="1F2937"/>
            </a:solidFill>
            <a:prstDash val="solid"/>
          </a:ln>
        </p:spPr>
        <p:txBody>
          <a:bodyPr/>
          <a:lstStyle/>
          <a:p>
            <a:endParaRPr lang="en-US"/>
          </a:p>
        </p:txBody>
      </p:sp>
      <p:sp>
        <p:nvSpPr>
          <p:cNvPr id="12" name="Shape 10"/>
          <p:cNvSpPr/>
          <p:nvPr/>
        </p:nvSpPr>
        <p:spPr>
          <a:xfrm>
            <a:off x="425450" y="2101856"/>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B0000"/>
          </a:solidFill>
          <a:ln/>
        </p:spPr>
        <p:txBody>
          <a:bodyPr/>
          <a:lstStyle/>
          <a:p>
            <a:endParaRPr lang="en-US"/>
          </a:p>
        </p:txBody>
      </p:sp>
      <p:sp>
        <p:nvSpPr>
          <p:cNvPr id="13" name="Text 11"/>
          <p:cNvSpPr/>
          <p:nvPr/>
        </p:nvSpPr>
        <p:spPr>
          <a:xfrm>
            <a:off x="389731" y="2101856"/>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Q7</a:t>
            </a:r>
            <a:endParaRPr lang="en-US" sz="1600" dirty="0"/>
          </a:p>
        </p:txBody>
      </p:sp>
      <p:sp>
        <p:nvSpPr>
          <p:cNvPr id="14" name="Text 12"/>
          <p:cNvSpPr/>
          <p:nvPr/>
        </p:nvSpPr>
        <p:spPr>
          <a:xfrm>
            <a:off x="838200" y="2101856"/>
            <a:ext cx="110013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What are anchor boxes?</a:t>
            </a:r>
            <a:endParaRPr lang="en-US" sz="1600" dirty="0"/>
          </a:p>
        </p:txBody>
      </p:sp>
      <p:sp>
        <p:nvSpPr>
          <p:cNvPr id="15" name="Shape 13"/>
          <p:cNvSpPr/>
          <p:nvPr/>
        </p:nvSpPr>
        <p:spPr>
          <a:xfrm>
            <a:off x="854075" y="2355856"/>
            <a:ext cx="10914063" cy="508000"/>
          </a:xfrm>
          <a:custGeom>
            <a:avLst/>
            <a:gdLst/>
            <a:ahLst/>
            <a:cxnLst/>
            <a:rect l="l" t="t" r="r" b="b"/>
            <a:pathLst>
              <a:path w="10914063" h="508000">
                <a:moveTo>
                  <a:pt x="31750" y="0"/>
                </a:moveTo>
                <a:lnTo>
                  <a:pt x="10850563" y="0"/>
                </a:lnTo>
                <a:cubicBezTo>
                  <a:pt x="10885609" y="0"/>
                  <a:pt x="10914063" y="28453"/>
                  <a:pt x="10914063" y="63500"/>
                </a:cubicBezTo>
                <a:lnTo>
                  <a:pt x="10914063" y="444500"/>
                </a:lnTo>
                <a:cubicBezTo>
                  <a:pt x="10914063" y="479547"/>
                  <a:pt x="10885609" y="508000"/>
                  <a:pt x="10850563" y="508000"/>
                </a:cubicBezTo>
                <a:lnTo>
                  <a:pt x="31750" y="508000"/>
                </a:lnTo>
                <a:cubicBezTo>
                  <a:pt x="14227" y="508000"/>
                  <a:pt x="0" y="493773"/>
                  <a:pt x="0" y="476250"/>
                </a:cubicBezTo>
                <a:lnTo>
                  <a:pt x="0" y="31750"/>
                </a:lnTo>
                <a:cubicBezTo>
                  <a:pt x="0" y="14227"/>
                  <a:pt x="14227" y="0"/>
                  <a:pt x="31750" y="0"/>
                </a:cubicBezTo>
                <a:close/>
              </a:path>
            </a:pathLst>
          </a:custGeom>
          <a:solidFill>
            <a:srgbClr val="F0FDF4"/>
          </a:solidFill>
          <a:ln/>
        </p:spPr>
        <p:txBody>
          <a:bodyPr/>
          <a:lstStyle/>
          <a:p>
            <a:endParaRPr lang="en-US"/>
          </a:p>
        </p:txBody>
      </p:sp>
      <p:sp>
        <p:nvSpPr>
          <p:cNvPr id="16" name="Shape 14"/>
          <p:cNvSpPr/>
          <p:nvPr/>
        </p:nvSpPr>
        <p:spPr>
          <a:xfrm>
            <a:off x="854075" y="2355856"/>
            <a:ext cx="31750" cy="508000"/>
          </a:xfrm>
          <a:custGeom>
            <a:avLst/>
            <a:gdLst/>
            <a:ahLst/>
            <a:cxnLst/>
            <a:rect l="l" t="t" r="r" b="b"/>
            <a:pathLst>
              <a:path w="31750" h="508000">
                <a:moveTo>
                  <a:pt x="31750" y="0"/>
                </a:moveTo>
                <a:lnTo>
                  <a:pt x="31750" y="0"/>
                </a:lnTo>
                <a:lnTo>
                  <a:pt x="31750" y="508000"/>
                </a:lnTo>
                <a:lnTo>
                  <a:pt x="31750" y="508000"/>
                </a:lnTo>
                <a:cubicBezTo>
                  <a:pt x="14227" y="508000"/>
                  <a:pt x="0" y="493773"/>
                  <a:pt x="0" y="476250"/>
                </a:cubicBezTo>
                <a:lnTo>
                  <a:pt x="0" y="31750"/>
                </a:lnTo>
                <a:cubicBezTo>
                  <a:pt x="0" y="14227"/>
                  <a:pt x="14227" y="0"/>
                  <a:pt x="31750" y="0"/>
                </a:cubicBezTo>
                <a:close/>
              </a:path>
            </a:pathLst>
          </a:custGeom>
          <a:solidFill>
            <a:srgbClr val="00C950"/>
          </a:solidFill>
          <a:ln/>
        </p:spPr>
        <p:txBody>
          <a:bodyPr/>
          <a:lstStyle/>
          <a:p>
            <a:endParaRPr lang="en-US"/>
          </a:p>
        </p:txBody>
      </p:sp>
      <p:sp>
        <p:nvSpPr>
          <p:cNvPr id="17" name="Text 15"/>
          <p:cNvSpPr/>
          <p:nvPr/>
        </p:nvSpPr>
        <p:spPr>
          <a:xfrm>
            <a:off x="933450" y="2419356"/>
            <a:ext cx="10834688" cy="3810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Anchor boxes</a:t>
            </a:r>
            <a:r>
              <a:rPr lang="en-US" sz="1000" dirty="0">
                <a:solidFill>
                  <a:srgbClr val="0D542B"/>
                </a:solidFill>
                <a:latin typeface="Quattrocento Sans" pitchFamily="34" charset="0"/>
                <a:ea typeface="Quattrocento Sans" pitchFamily="34" charset="-122"/>
                <a:cs typeface="Quattrocento Sans" pitchFamily="34" charset="-120"/>
              </a:rPr>
              <a:t> are pre-defined bounding box shapes learned via k-means clustering on training data. Introduced in YOLOv2, they have different aspect ratios (tall, wide, square) to handle diverse object shapes. Each anchor specializes in detecting specific shapes. The network predicts offsets from anchor dimensions, and the anchor with highest IoU becomes the "responsible predictor."</a:t>
            </a:r>
            <a:endParaRPr lang="en-US" sz="1600" dirty="0"/>
          </a:p>
        </p:txBody>
      </p:sp>
      <p:sp>
        <p:nvSpPr>
          <p:cNvPr id="18" name="Shape 16"/>
          <p:cNvSpPr/>
          <p:nvPr/>
        </p:nvSpPr>
        <p:spPr>
          <a:xfrm>
            <a:off x="323850" y="3041653"/>
            <a:ext cx="11545888" cy="965200"/>
          </a:xfrm>
          <a:custGeom>
            <a:avLst/>
            <a:gdLst/>
            <a:ahLst/>
            <a:cxnLst/>
            <a:rect l="l" t="t" r="r" b="b"/>
            <a:pathLst>
              <a:path w="11545888" h="965200">
                <a:moveTo>
                  <a:pt x="63501" y="0"/>
                </a:moveTo>
                <a:lnTo>
                  <a:pt x="11482387" y="0"/>
                </a:lnTo>
                <a:cubicBezTo>
                  <a:pt x="11517457" y="0"/>
                  <a:pt x="11545888" y="28430"/>
                  <a:pt x="11545888" y="63501"/>
                </a:cubicBezTo>
                <a:lnTo>
                  <a:pt x="11545888" y="901699"/>
                </a:lnTo>
                <a:cubicBezTo>
                  <a:pt x="11545888" y="936770"/>
                  <a:pt x="11517457" y="965200"/>
                  <a:pt x="11482387" y="965200"/>
                </a:cubicBezTo>
                <a:lnTo>
                  <a:pt x="63501" y="965200"/>
                </a:lnTo>
                <a:cubicBezTo>
                  <a:pt x="28430" y="965200"/>
                  <a:pt x="0" y="936770"/>
                  <a:pt x="0" y="901699"/>
                </a:cubicBezTo>
                <a:lnTo>
                  <a:pt x="0" y="63501"/>
                </a:lnTo>
                <a:cubicBezTo>
                  <a:pt x="0" y="28430"/>
                  <a:pt x="28430" y="0"/>
                  <a:pt x="63501" y="0"/>
                </a:cubicBezTo>
                <a:close/>
              </a:path>
            </a:pathLst>
          </a:custGeom>
          <a:solidFill>
            <a:srgbClr val="FFFFFF"/>
          </a:solidFill>
          <a:ln w="20320">
            <a:solidFill>
              <a:srgbClr val="1F2937"/>
            </a:solidFill>
            <a:prstDash val="solid"/>
          </a:ln>
        </p:spPr>
        <p:txBody>
          <a:bodyPr/>
          <a:lstStyle/>
          <a:p>
            <a:endParaRPr lang="en-US"/>
          </a:p>
        </p:txBody>
      </p:sp>
      <p:sp>
        <p:nvSpPr>
          <p:cNvPr id="19" name="Shape 17"/>
          <p:cNvSpPr/>
          <p:nvPr/>
        </p:nvSpPr>
        <p:spPr>
          <a:xfrm>
            <a:off x="425450" y="314325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B0000"/>
          </a:solidFill>
          <a:ln/>
        </p:spPr>
        <p:txBody>
          <a:bodyPr/>
          <a:lstStyle/>
          <a:p>
            <a:endParaRPr lang="en-US"/>
          </a:p>
        </p:txBody>
      </p:sp>
      <p:sp>
        <p:nvSpPr>
          <p:cNvPr id="20" name="Text 18"/>
          <p:cNvSpPr/>
          <p:nvPr/>
        </p:nvSpPr>
        <p:spPr>
          <a:xfrm>
            <a:off x="389731" y="31432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Q8</a:t>
            </a:r>
            <a:endParaRPr lang="en-US" sz="1600" dirty="0"/>
          </a:p>
        </p:txBody>
      </p:sp>
      <p:sp>
        <p:nvSpPr>
          <p:cNvPr id="21" name="Text 19"/>
          <p:cNvSpPr/>
          <p:nvPr/>
        </p:nvSpPr>
        <p:spPr>
          <a:xfrm>
            <a:off x="838200" y="3143250"/>
            <a:ext cx="110013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Explain confidence score formula.</a:t>
            </a:r>
            <a:endParaRPr lang="en-US" sz="1600" dirty="0"/>
          </a:p>
        </p:txBody>
      </p:sp>
      <p:sp>
        <p:nvSpPr>
          <p:cNvPr id="22" name="Shape 20"/>
          <p:cNvSpPr/>
          <p:nvPr/>
        </p:nvSpPr>
        <p:spPr>
          <a:xfrm>
            <a:off x="854075" y="3397250"/>
            <a:ext cx="10914063" cy="508000"/>
          </a:xfrm>
          <a:custGeom>
            <a:avLst/>
            <a:gdLst/>
            <a:ahLst/>
            <a:cxnLst/>
            <a:rect l="l" t="t" r="r" b="b"/>
            <a:pathLst>
              <a:path w="10914063" h="508000">
                <a:moveTo>
                  <a:pt x="31750" y="0"/>
                </a:moveTo>
                <a:lnTo>
                  <a:pt x="10850563" y="0"/>
                </a:lnTo>
                <a:cubicBezTo>
                  <a:pt x="10885609" y="0"/>
                  <a:pt x="10914063" y="28453"/>
                  <a:pt x="10914063" y="63500"/>
                </a:cubicBezTo>
                <a:lnTo>
                  <a:pt x="10914063" y="444500"/>
                </a:lnTo>
                <a:cubicBezTo>
                  <a:pt x="10914063" y="479547"/>
                  <a:pt x="10885609" y="508000"/>
                  <a:pt x="10850563" y="508000"/>
                </a:cubicBezTo>
                <a:lnTo>
                  <a:pt x="31750" y="508000"/>
                </a:lnTo>
                <a:cubicBezTo>
                  <a:pt x="14227" y="508000"/>
                  <a:pt x="0" y="493773"/>
                  <a:pt x="0" y="476250"/>
                </a:cubicBezTo>
                <a:lnTo>
                  <a:pt x="0" y="31750"/>
                </a:lnTo>
                <a:cubicBezTo>
                  <a:pt x="0" y="14227"/>
                  <a:pt x="14227" y="0"/>
                  <a:pt x="31750" y="0"/>
                </a:cubicBezTo>
                <a:close/>
              </a:path>
            </a:pathLst>
          </a:custGeom>
          <a:solidFill>
            <a:srgbClr val="F0FDF4"/>
          </a:solidFill>
          <a:ln/>
        </p:spPr>
        <p:txBody>
          <a:bodyPr/>
          <a:lstStyle/>
          <a:p>
            <a:endParaRPr lang="en-US"/>
          </a:p>
        </p:txBody>
      </p:sp>
      <p:sp>
        <p:nvSpPr>
          <p:cNvPr id="23" name="Shape 21"/>
          <p:cNvSpPr/>
          <p:nvPr/>
        </p:nvSpPr>
        <p:spPr>
          <a:xfrm>
            <a:off x="854075" y="3397250"/>
            <a:ext cx="31750" cy="508000"/>
          </a:xfrm>
          <a:custGeom>
            <a:avLst/>
            <a:gdLst/>
            <a:ahLst/>
            <a:cxnLst/>
            <a:rect l="l" t="t" r="r" b="b"/>
            <a:pathLst>
              <a:path w="31750" h="508000">
                <a:moveTo>
                  <a:pt x="31750" y="0"/>
                </a:moveTo>
                <a:lnTo>
                  <a:pt x="31750" y="0"/>
                </a:lnTo>
                <a:lnTo>
                  <a:pt x="31750" y="508000"/>
                </a:lnTo>
                <a:lnTo>
                  <a:pt x="31750" y="508000"/>
                </a:lnTo>
                <a:cubicBezTo>
                  <a:pt x="14227" y="508000"/>
                  <a:pt x="0" y="493773"/>
                  <a:pt x="0" y="476250"/>
                </a:cubicBezTo>
                <a:lnTo>
                  <a:pt x="0" y="31750"/>
                </a:lnTo>
                <a:cubicBezTo>
                  <a:pt x="0" y="14227"/>
                  <a:pt x="14227" y="0"/>
                  <a:pt x="31750" y="0"/>
                </a:cubicBezTo>
                <a:close/>
              </a:path>
            </a:pathLst>
          </a:custGeom>
          <a:solidFill>
            <a:srgbClr val="00C950"/>
          </a:solidFill>
          <a:ln/>
        </p:spPr>
        <p:txBody>
          <a:bodyPr/>
          <a:lstStyle/>
          <a:p>
            <a:endParaRPr lang="en-US"/>
          </a:p>
        </p:txBody>
      </p:sp>
      <p:sp>
        <p:nvSpPr>
          <p:cNvPr id="24" name="Text 22"/>
          <p:cNvSpPr/>
          <p:nvPr/>
        </p:nvSpPr>
        <p:spPr>
          <a:xfrm>
            <a:off x="933450" y="3460750"/>
            <a:ext cx="10834688" cy="3810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Confidence = P(object) × IoU(pred, truth)</a:t>
            </a:r>
            <a:r>
              <a:rPr lang="en-US" sz="1000" dirty="0">
                <a:solidFill>
                  <a:srgbClr val="0D542B"/>
                </a:solidFill>
                <a:latin typeface="Quattrocento Sans" pitchFamily="34" charset="0"/>
                <a:ea typeface="Quattrocento Sans" pitchFamily="34" charset="-122"/>
                <a:cs typeface="Quattrocento Sans" pitchFamily="34" charset="-120"/>
              </a:rPr>
              <a:t>. It combines: (1) P(object) - probability that box contains an object, (2) IoU(pred, truth) - how accurate the predicted box is compared to ground truth. During training, it's trained to equal IoU. During inference, it becomes the model's estimate of object presence and box quality. Final class score = confidence × P(class|object).</a:t>
            </a:r>
            <a:endParaRPr lang="en-US" sz="1600" dirty="0"/>
          </a:p>
        </p:txBody>
      </p:sp>
      <p:sp>
        <p:nvSpPr>
          <p:cNvPr id="25" name="Shape 23"/>
          <p:cNvSpPr/>
          <p:nvPr/>
        </p:nvSpPr>
        <p:spPr>
          <a:xfrm>
            <a:off x="323850" y="4083047"/>
            <a:ext cx="11545888" cy="965200"/>
          </a:xfrm>
          <a:custGeom>
            <a:avLst/>
            <a:gdLst/>
            <a:ahLst/>
            <a:cxnLst/>
            <a:rect l="l" t="t" r="r" b="b"/>
            <a:pathLst>
              <a:path w="11545888" h="965200">
                <a:moveTo>
                  <a:pt x="63501" y="0"/>
                </a:moveTo>
                <a:lnTo>
                  <a:pt x="11482387" y="0"/>
                </a:lnTo>
                <a:cubicBezTo>
                  <a:pt x="11517457" y="0"/>
                  <a:pt x="11545888" y="28430"/>
                  <a:pt x="11545888" y="63501"/>
                </a:cubicBezTo>
                <a:lnTo>
                  <a:pt x="11545888" y="901699"/>
                </a:lnTo>
                <a:cubicBezTo>
                  <a:pt x="11545888" y="936770"/>
                  <a:pt x="11517457" y="965200"/>
                  <a:pt x="11482387" y="965200"/>
                </a:cubicBezTo>
                <a:lnTo>
                  <a:pt x="63501" y="965200"/>
                </a:lnTo>
                <a:cubicBezTo>
                  <a:pt x="28430" y="965200"/>
                  <a:pt x="0" y="936770"/>
                  <a:pt x="0" y="901699"/>
                </a:cubicBezTo>
                <a:lnTo>
                  <a:pt x="0" y="63501"/>
                </a:lnTo>
                <a:cubicBezTo>
                  <a:pt x="0" y="28430"/>
                  <a:pt x="28430" y="0"/>
                  <a:pt x="63501" y="0"/>
                </a:cubicBezTo>
                <a:close/>
              </a:path>
            </a:pathLst>
          </a:custGeom>
          <a:solidFill>
            <a:srgbClr val="FFFFFF"/>
          </a:solidFill>
          <a:ln w="20320">
            <a:solidFill>
              <a:srgbClr val="1F2937"/>
            </a:solidFill>
            <a:prstDash val="solid"/>
          </a:ln>
        </p:spPr>
        <p:txBody>
          <a:bodyPr/>
          <a:lstStyle/>
          <a:p>
            <a:endParaRPr lang="en-US"/>
          </a:p>
        </p:txBody>
      </p:sp>
      <p:sp>
        <p:nvSpPr>
          <p:cNvPr id="26" name="Shape 24"/>
          <p:cNvSpPr/>
          <p:nvPr/>
        </p:nvSpPr>
        <p:spPr>
          <a:xfrm>
            <a:off x="425450" y="4184659"/>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B0000"/>
          </a:solidFill>
          <a:ln/>
        </p:spPr>
        <p:txBody>
          <a:bodyPr/>
          <a:lstStyle/>
          <a:p>
            <a:endParaRPr lang="en-US"/>
          </a:p>
        </p:txBody>
      </p:sp>
      <p:sp>
        <p:nvSpPr>
          <p:cNvPr id="27" name="Text 25"/>
          <p:cNvSpPr/>
          <p:nvPr/>
        </p:nvSpPr>
        <p:spPr>
          <a:xfrm>
            <a:off x="389731" y="4184659"/>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Q9</a:t>
            </a:r>
            <a:endParaRPr lang="en-US" sz="1600" dirty="0"/>
          </a:p>
        </p:txBody>
      </p:sp>
      <p:sp>
        <p:nvSpPr>
          <p:cNvPr id="28" name="Text 26"/>
          <p:cNvSpPr/>
          <p:nvPr/>
        </p:nvSpPr>
        <p:spPr>
          <a:xfrm>
            <a:off x="838200" y="4184659"/>
            <a:ext cx="110013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Why does YOLO struggle with small objects?</a:t>
            </a:r>
            <a:endParaRPr lang="en-US" sz="1600" dirty="0"/>
          </a:p>
        </p:txBody>
      </p:sp>
      <p:sp>
        <p:nvSpPr>
          <p:cNvPr id="29" name="Shape 27"/>
          <p:cNvSpPr/>
          <p:nvPr/>
        </p:nvSpPr>
        <p:spPr>
          <a:xfrm>
            <a:off x="854075" y="4438659"/>
            <a:ext cx="10914063" cy="508000"/>
          </a:xfrm>
          <a:custGeom>
            <a:avLst/>
            <a:gdLst/>
            <a:ahLst/>
            <a:cxnLst/>
            <a:rect l="l" t="t" r="r" b="b"/>
            <a:pathLst>
              <a:path w="10914063" h="508000">
                <a:moveTo>
                  <a:pt x="31750" y="0"/>
                </a:moveTo>
                <a:lnTo>
                  <a:pt x="10850563" y="0"/>
                </a:lnTo>
                <a:cubicBezTo>
                  <a:pt x="10885609" y="0"/>
                  <a:pt x="10914063" y="28453"/>
                  <a:pt x="10914063" y="63500"/>
                </a:cubicBezTo>
                <a:lnTo>
                  <a:pt x="10914063" y="444500"/>
                </a:lnTo>
                <a:cubicBezTo>
                  <a:pt x="10914063" y="479547"/>
                  <a:pt x="10885609" y="508000"/>
                  <a:pt x="10850563" y="508000"/>
                </a:cubicBezTo>
                <a:lnTo>
                  <a:pt x="31750" y="508000"/>
                </a:lnTo>
                <a:cubicBezTo>
                  <a:pt x="14227" y="508000"/>
                  <a:pt x="0" y="493773"/>
                  <a:pt x="0" y="476250"/>
                </a:cubicBezTo>
                <a:lnTo>
                  <a:pt x="0" y="31750"/>
                </a:lnTo>
                <a:cubicBezTo>
                  <a:pt x="0" y="14227"/>
                  <a:pt x="14227" y="0"/>
                  <a:pt x="31750" y="0"/>
                </a:cubicBezTo>
                <a:close/>
              </a:path>
            </a:pathLst>
          </a:custGeom>
          <a:solidFill>
            <a:srgbClr val="F0FDF4"/>
          </a:solidFill>
          <a:ln/>
        </p:spPr>
        <p:txBody>
          <a:bodyPr/>
          <a:lstStyle/>
          <a:p>
            <a:endParaRPr lang="en-US"/>
          </a:p>
        </p:txBody>
      </p:sp>
      <p:sp>
        <p:nvSpPr>
          <p:cNvPr id="30" name="Shape 28"/>
          <p:cNvSpPr/>
          <p:nvPr/>
        </p:nvSpPr>
        <p:spPr>
          <a:xfrm>
            <a:off x="854075" y="4438659"/>
            <a:ext cx="31750" cy="508000"/>
          </a:xfrm>
          <a:custGeom>
            <a:avLst/>
            <a:gdLst/>
            <a:ahLst/>
            <a:cxnLst/>
            <a:rect l="l" t="t" r="r" b="b"/>
            <a:pathLst>
              <a:path w="31750" h="508000">
                <a:moveTo>
                  <a:pt x="31750" y="0"/>
                </a:moveTo>
                <a:lnTo>
                  <a:pt x="31750" y="0"/>
                </a:lnTo>
                <a:lnTo>
                  <a:pt x="31750" y="508000"/>
                </a:lnTo>
                <a:lnTo>
                  <a:pt x="31750" y="508000"/>
                </a:lnTo>
                <a:cubicBezTo>
                  <a:pt x="14227" y="508000"/>
                  <a:pt x="0" y="493773"/>
                  <a:pt x="0" y="476250"/>
                </a:cubicBezTo>
                <a:lnTo>
                  <a:pt x="0" y="31750"/>
                </a:lnTo>
                <a:cubicBezTo>
                  <a:pt x="0" y="14227"/>
                  <a:pt x="14227" y="0"/>
                  <a:pt x="31750" y="0"/>
                </a:cubicBezTo>
                <a:close/>
              </a:path>
            </a:pathLst>
          </a:custGeom>
          <a:solidFill>
            <a:srgbClr val="00C950"/>
          </a:solidFill>
          <a:ln/>
        </p:spPr>
        <p:txBody>
          <a:bodyPr/>
          <a:lstStyle/>
          <a:p>
            <a:endParaRPr lang="en-US"/>
          </a:p>
        </p:txBody>
      </p:sp>
      <p:sp>
        <p:nvSpPr>
          <p:cNvPr id="31" name="Text 29"/>
          <p:cNvSpPr/>
          <p:nvPr/>
        </p:nvSpPr>
        <p:spPr>
          <a:xfrm>
            <a:off x="933450" y="4502159"/>
            <a:ext cx="10834688" cy="381000"/>
          </a:xfrm>
          <a:prstGeom prst="rect">
            <a:avLst/>
          </a:prstGeom>
          <a:noFill/>
          <a:ln/>
        </p:spPr>
        <p:txBody>
          <a:bodyPr wrap="square" lIns="0" tIns="0" rIns="0" bIns="0" rtlCol="0" anchor="ctr"/>
          <a:lstStyle/>
          <a:p>
            <a:pPr>
              <a:lnSpc>
                <a:spcPct val="130000"/>
              </a:lnSpc>
            </a:pPr>
            <a:r>
              <a:rPr lang="en-US" sz="1000" dirty="0">
                <a:solidFill>
                  <a:srgbClr val="0D542B"/>
                </a:solidFill>
                <a:latin typeface="Quattrocento Sans" pitchFamily="34" charset="0"/>
                <a:ea typeface="Quattrocento Sans" pitchFamily="34" charset="-122"/>
                <a:cs typeface="Quattrocento Sans" pitchFamily="34" charset="-120"/>
              </a:rPr>
              <a:t>YOLO struggles with small objects due to: (1) </a:t>
            </a:r>
            <a:r>
              <a:rPr lang="en-US" sz="1000" b="1" dirty="0">
                <a:solidFill>
                  <a:srgbClr val="0D542B"/>
                </a:solidFill>
                <a:latin typeface="Quattrocento Sans" pitchFamily="34" charset="0"/>
                <a:ea typeface="Quattrocento Sans" pitchFamily="34" charset="-122"/>
                <a:cs typeface="Quattrocento Sans" pitchFamily="34" charset="-120"/>
              </a:rPr>
              <a:t>Spatial constraints</a:t>
            </a:r>
            <a:r>
              <a:rPr lang="en-US" sz="1000" dirty="0">
                <a:solidFill>
                  <a:srgbClr val="0D542B"/>
                </a:solidFill>
                <a:latin typeface="Quattrocento Sans" pitchFamily="34" charset="0"/>
                <a:ea typeface="Quattrocento Sans" pitchFamily="34" charset="-122"/>
                <a:cs typeface="Quattrocento Sans" pitchFamily="34" charset="-120"/>
              </a:rPr>
              <a:t> - small objects may occupy a single grid cell, (2) </a:t>
            </a:r>
            <a:r>
              <a:rPr lang="en-US" sz="1000" b="1" dirty="0">
                <a:solidFill>
                  <a:srgbClr val="0D542B"/>
                </a:solidFill>
                <a:latin typeface="Quattrocento Sans" pitchFamily="34" charset="0"/>
                <a:ea typeface="Quattrocento Sans" pitchFamily="34" charset="-122"/>
                <a:cs typeface="Quattrocento Sans" pitchFamily="34" charset="-120"/>
              </a:rPr>
              <a:t>Downsampling</a:t>
            </a:r>
            <a:r>
              <a:rPr lang="en-US" sz="1000" dirty="0">
                <a:solidFill>
                  <a:srgbClr val="0D542B"/>
                </a:solidFill>
                <a:latin typeface="Quattrocento Sans" pitchFamily="34" charset="0"/>
                <a:ea typeface="Quattrocento Sans" pitchFamily="34" charset="-122"/>
                <a:cs typeface="Quattrocento Sans" pitchFamily="34" charset="-120"/>
              </a:rPr>
              <a:t> - CNN pooling layers reduce spatial resolution, losing fine details, (3) </a:t>
            </a:r>
            <a:r>
              <a:rPr lang="en-US" sz="1000" b="1" dirty="0">
                <a:solidFill>
                  <a:srgbClr val="0D542B"/>
                </a:solidFill>
                <a:latin typeface="Quattrocento Sans" pitchFamily="34" charset="0"/>
                <a:ea typeface="Quattrocento Sans" pitchFamily="34" charset="-122"/>
                <a:cs typeface="Quattrocento Sans" pitchFamily="34" charset="-120"/>
              </a:rPr>
              <a:t>Feature loss</a:t>
            </a:r>
            <a:r>
              <a:rPr lang="en-US" sz="1000" dirty="0">
                <a:solidFill>
                  <a:srgbClr val="0D542B"/>
                </a:solidFill>
                <a:latin typeface="Quattrocento Sans" pitchFamily="34" charset="0"/>
                <a:ea typeface="Quattrocento Sans" pitchFamily="34" charset="-122"/>
                <a:cs typeface="Quattrocento Sans" pitchFamily="34" charset="-120"/>
              </a:rPr>
              <a:t> - small objects have fewer pixels, making feature extraction difficult. Solutions: Multi-scale training, Feature Pyramid Networks (FPN), higher resolution inputs.</a:t>
            </a:r>
            <a:endParaRPr lang="en-US" sz="1600" dirty="0"/>
          </a:p>
        </p:txBody>
      </p:sp>
      <p:sp>
        <p:nvSpPr>
          <p:cNvPr id="32" name="Shape 30"/>
          <p:cNvSpPr/>
          <p:nvPr/>
        </p:nvSpPr>
        <p:spPr>
          <a:xfrm>
            <a:off x="323850" y="5124456"/>
            <a:ext cx="11545888" cy="1155700"/>
          </a:xfrm>
          <a:custGeom>
            <a:avLst/>
            <a:gdLst/>
            <a:ahLst/>
            <a:cxnLst/>
            <a:rect l="l" t="t" r="r" b="b"/>
            <a:pathLst>
              <a:path w="11545888" h="1155700">
                <a:moveTo>
                  <a:pt x="63506" y="0"/>
                </a:moveTo>
                <a:lnTo>
                  <a:pt x="11482382" y="0"/>
                </a:lnTo>
                <a:cubicBezTo>
                  <a:pt x="11517432" y="0"/>
                  <a:pt x="11545888" y="28456"/>
                  <a:pt x="11545888" y="63506"/>
                </a:cubicBezTo>
                <a:lnTo>
                  <a:pt x="11545888" y="1092194"/>
                </a:lnTo>
                <a:cubicBezTo>
                  <a:pt x="11545888" y="1127244"/>
                  <a:pt x="11517432" y="1155700"/>
                  <a:pt x="11482382" y="1155700"/>
                </a:cubicBezTo>
                <a:lnTo>
                  <a:pt x="63506" y="1155700"/>
                </a:lnTo>
                <a:cubicBezTo>
                  <a:pt x="28456" y="1155700"/>
                  <a:pt x="0" y="1127244"/>
                  <a:pt x="0" y="1092194"/>
                </a:cubicBezTo>
                <a:lnTo>
                  <a:pt x="0" y="63506"/>
                </a:lnTo>
                <a:cubicBezTo>
                  <a:pt x="0" y="28456"/>
                  <a:pt x="28456" y="0"/>
                  <a:pt x="63506" y="0"/>
                </a:cubicBezTo>
                <a:close/>
              </a:path>
            </a:pathLst>
          </a:custGeom>
          <a:solidFill>
            <a:srgbClr val="FFFFFF"/>
          </a:solidFill>
          <a:ln w="20320">
            <a:solidFill>
              <a:srgbClr val="1F2937"/>
            </a:solidFill>
            <a:prstDash val="solid"/>
          </a:ln>
        </p:spPr>
        <p:txBody>
          <a:bodyPr/>
          <a:lstStyle/>
          <a:p>
            <a:endParaRPr lang="en-US"/>
          </a:p>
        </p:txBody>
      </p:sp>
      <p:sp>
        <p:nvSpPr>
          <p:cNvPr id="33" name="Shape 31"/>
          <p:cNvSpPr/>
          <p:nvPr/>
        </p:nvSpPr>
        <p:spPr>
          <a:xfrm>
            <a:off x="425450" y="5226053"/>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B0000"/>
          </a:solidFill>
          <a:ln/>
        </p:spPr>
        <p:txBody>
          <a:bodyPr/>
          <a:lstStyle/>
          <a:p>
            <a:endParaRPr lang="en-US"/>
          </a:p>
        </p:txBody>
      </p:sp>
      <p:sp>
        <p:nvSpPr>
          <p:cNvPr id="34" name="Text 32"/>
          <p:cNvSpPr/>
          <p:nvPr/>
        </p:nvSpPr>
        <p:spPr>
          <a:xfrm>
            <a:off x="389731" y="5226053"/>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Q10</a:t>
            </a:r>
            <a:endParaRPr lang="en-US" sz="1600" dirty="0"/>
          </a:p>
        </p:txBody>
      </p:sp>
      <p:sp>
        <p:nvSpPr>
          <p:cNvPr id="35" name="Text 33"/>
          <p:cNvSpPr/>
          <p:nvPr/>
        </p:nvSpPr>
        <p:spPr>
          <a:xfrm>
            <a:off x="838200" y="5226053"/>
            <a:ext cx="11001375"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Compare YOLOv3 and YOLOv4.</a:t>
            </a:r>
            <a:endParaRPr lang="en-US" sz="1600" dirty="0"/>
          </a:p>
        </p:txBody>
      </p:sp>
      <p:sp>
        <p:nvSpPr>
          <p:cNvPr id="36" name="Shape 34"/>
          <p:cNvSpPr/>
          <p:nvPr/>
        </p:nvSpPr>
        <p:spPr>
          <a:xfrm>
            <a:off x="854075" y="5480053"/>
            <a:ext cx="10914063" cy="698500"/>
          </a:xfrm>
          <a:custGeom>
            <a:avLst/>
            <a:gdLst/>
            <a:ahLst/>
            <a:cxnLst/>
            <a:rect l="l" t="t" r="r" b="b"/>
            <a:pathLst>
              <a:path w="10914063" h="698500">
                <a:moveTo>
                  <a:pt x="31750" y="0"/>
                </a:moveTo>
                <a:lnTo>
                  <a:pt x="10850562" y="0"/>
                </a:lnTo>
                <a:cubicBezTo>
                  <a:pt x="10885632" y="0"/>
                  <a:pt x="10914062" y="28430"/>
                  <a:pt x="10914062" y="63501"/>
                </a:cubicBezTo>
                <a:lnTo>
                  <a:pt x="10914063" y="634999"/>
                </a:lnTo>
                <a:cubicBezTo>
                  <a:pt x="10914062" y="670070"/>
                  <a:pt x="10885632" y="698500"/>
                  <a:pt x="10850562" y="698500"/>
                </a:cubicBezTo>
                <a:lnTo>
                  <a:pt x="31750" y="698500"/>
                </a:lnTo>
                <a:cubicBezTo>
                  <a:pt x="14215" y="698500"/>
                  <a:pt x="0" y="684285"/>
                  <a:pt x="0" y="666750"/>
                </a:cubicBezTo>
                <a:lnTo>
                  <a:pt x="0" y="31750"/>
                </a:lnTo>
                <a:cubicBezTo>
                  <a:pt x="0" y="14227"/>
                  <a:pt x="14227" y="0"/>
                  <a:pt x="31750" y="0"/>
                </a:cubicBezTo>
                <a:close/>
              </a:path>
            </a:pathLst>
          </a:custGeom>
          <a:solidFill>
            <a:srgbClr val="F0FDF4"/>
          </a:solidFill>
          <a:ln/>
        </p:spPr>
        <p:txBody>
          <a:bodyPr/>
          <a:lstStyle/>
          <a:p>
            <a:endParaRPr lang="en-US"/>
          </a:p>
        </p:txBody>
      </p:sp>
      <p:sp>
        <p:nvSpPr>
          <p:cNvPr id="37" name="Shape 35"/>
          <p:cNvSpPr/>
          <p:nvPr/>
        </p:nvSpPr>
        <p:spPr>
          <a:xfrm>
            <a:off x="854075" y="5480053"/>
            <a:ext cx="31750" cy="698500"/>
          </a:xfrm>
          <a:custGeom>
            <a:avLst/>
            <a:gdLst/>
            <a:ahLst/>
            <a:cxnLst/>
            <a:rect l="l" t="t" r="r" b="b"/>
            <a:pathLst>
              <a:path w="31750" h="698500">
                <a:moveTo>
                  <a:pt x="31750" y="0"/>
                </a:moveTo>
                <a:lnTo>
                  <a:pt x="31750" y="0"/>
                </a:lnTo>
                <a:lnTo>
                  <a:pt x="31750" y="698500"/>
                </a:lnTo>
                <a:lnTo>
                  <a:pt x="31750" y="698500"/>
                </a:lnTo>
                <a:cubicBezTo>
                  <a:pt x="14227" y="698500"/>
                  <a:pt x="0" y="684273"/>
                  <a:pt x="0" y="666750"/>
                </a:cubicBezTo>
                <a:lnTo>
                  <a:pt x="0" y="31750"/>
                </a:lnTo>
                <a:cubicBezTo>
                  <a:pt x="0" y="14227"/>
                  <a:pt x="14227" y="0"/>
                  <a:pt x="31750" y="0"/>
                </a:cubicBezTo>
                <a:close/>
              </a:path>
            </a:pathLst>
          </a:custGeom>
          <a:solidFill>
            <a:srgbClr val="00C950"/>
          </a:solidFill>
          <a:ln/>
        </p:spPr>
        <p:txBody>
          <a:bodyPr/>
          <a:lstStyle/>
          <a:p>
            <a:endParaRPr lang="en-US"/>
          </a:p>
        </p:txBody>
      </p:sp>
      <p:sp>
        <p:nvSpPr>
          <p:cNvPr id="38" name="Text 36"/>
          <p:cNvSpPr/>
          <p:nvPr/>
        </p:nvSpPr>
        <p:spPr>
          <a:xfrm>
            <a:off x="933450" y="5543553"/>
            <a:ext cx="10834688" cy="571500"/>
          </a:xfrm>
          <a:prstGeom prst="rect">
            <a:avLst/>
          </a:prstGeom>
          <a:noFill/>
          <a:ln/>
        </p:spPr>
        <p:txBody>
          <a:bodyPr wrap="square" lIns="0" tIns="0" rIns="0" bIns="0" rtlCol="0" anchor="ctr"/>
          <a:lstStyle/>
          <a:p>
            <a:pPr>
              <a:lnSpc>
                <a:spcPct val="130000"/>
              </a:lnSpc>
            </a:pPr>
            <a:r>
              <a:rPr lang="en-US" sz="1000" b="1" dirty="0">
                <a:solidFill>
                  <a:srgbClr val="0D542B"/>
                </a:solidFill>
                <a:latin typeface="Quattrocento Sans" pitchFamily="34" charset="0"/>
                <a:ea typeface="Quattrocento Sans" pitchFamily="34" charset="-122"/>
                <a:cs typeface="Quattrocento Sans" pitchFamily="34" charset="-120"/>
              </a:rPr>
              <a:t>YOLOv3:</a:t>
            </a:r>
            <a:r>
              <a:rPr lang="en-US" sz="1000" dirty="0">
                <a:solidFill>
                  <a:srgbClr val="0D542B"/>
                </a:solidFill>
                <a:latin typeface="Quattrocento Sans" pitchFamily="34" charset="0"/>
                <a:ea typeface="Quattrocento Sans" pitchFamily="34" charset="-122"/>
                <a:cs typeface="Quattrocento Sans" pitchFamily="34" charset="-120"/>
              </a:rPr>
              <a:t> Darknet-53 backbone, 3-scale detection, independent logistic classifiers, anchor boxes. </a:t>
            </a:r>
            <a:r>
              <a:rPr lang="en-US" sz="1000" b="1" dirty="0">
                <a:solidFill>
                  <a:srgbClr val="0D542B"/>
                </a:solidFill>
                <a:latin typeface="Quattrocento Sans" pitchFamily="34" charset="0"/>
                <a:ea typeface="Quattrocento Sans" pitchFamily="34" charset="-122"/>
                <a:cs typeface="Quattrocento Sans" pitchFamily="34" charset="-120"/>
              </a:rPr>
              <a:t>YOLOv4:</a:t>
            </a:r>
            <a:r>
              <a:rPr lang="en-US" sz="1000" dirty="0">
                <a:solidFill>
                  <a:srgbClr val="0D542B"/>
                </a:solidFill>
                <a:latin typeface="Quattrocento Sans" pitchFamily="34" charset="0"/>
                <a:ea typeface="Quattrocento Sans" pitchFamily="34" charset="-122"/>
                <a:cs typeface="Quattrocento Sans" pitchFamily="34" charset="-120"/>
              </a:rPr>
              <a:t> Adds CSPDarknet53 backbone (better gradient flow), SPP (Spatial Pyramid Pooling), PANet (Path Aggregation Network), mosaic augmentation, CIOU loss, and various training tricks (drop block, label smoothing). YOLOv4 achieves higher accuracy (87.3 vs 81.2 mAP) while maintaining real-time speed.</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2937"/>
        </a:solidFill>
        <a:effectLst/>
      </p:bgPr>
    </p:bg>
    <p:spTree>
      <p:nvGrpSpPr>
        <p:cNvPr id="1" name=""/>
        <p:cNvGrpSpPr/>
        <p:nvPr/>
      </p:nvGrpSpPr>
      <p:grpSpPr>
        <a:xfrm>
          <a:off x="0" y="0"/>
          <a:ext cx="0" cy="0"/>
          <a:chOff x="0" y="0"/>
          <a:chExt cx="0" cy="0"/>
        </a:xfrm>
      </p:grpSpPr>
      <p:sp>
        <p:nvSpPr>
          <p:cNvPr id="2" name="Shape 0"/>
          <p:cNvSpPr/>
          <p:nvPr/>
        </p:nvSpPr>
        <p:spPr>
          <a:xfrm>
            <a:off x="-1524000" y="-1524000"/>
            <a:ext cx="3048000" cy="3048000"/>
          </a:xfrm>
          <a:custGeom>
            <a:avLst/>
            <a:gdLst/>
            <a:ahLst/>
            <a:cxnLst/>
            <a:rect l="l" t="t" r="r" b="b"/>
            <a:pathLst>
              <a:path w="3048000" h="3048000">
                <a:moveTo>
                  <a:pt x="1524000" y="0"/>
                </a:moveTo>
                <a:lnTo>
                  <a:pt x="1524000" y="0"/>
                </a:lnTo>
                <a:cubicBezTo>
                  <a:pt x="2365118" y="0"/>
                  <a:pt x="3048000" y="682882"/>
                  <a:pt x="3048000" y="1524000"/>
                </a:cubicBezTo>
                <a:lnTo>
                  <a:pt x="3048000" y="1524000"/>
                </a:lnTo>
                <a:cubicBezTo>
                  <a:pt x="3048000" y="2365118"/>
                  <a:pt x="2365118" y="3048000"/>
                  <a:pt x="1524000" y="3048000"/>
                </a:cubicBezTo>
                <a:lnTo>
                  <a:pt x="1524000" y="3048000"/>
                </a:lnTo>
                <a:cubicBezTo>
                  <a:pt x="682882" y="3048000"/>
                  <a:pt x="0" y="2365118"/>
                  <a:pt x="0" y="1524000"/>
                </a:cubicBezTo>
                <a:lnTo>
                  <a:pt x="0" y="1524000"/>
                </a:lnTo>
                <a:cubicBezTo>
                  <a:pt x="0" y="682882"/>
                  <a:pt x="682882" y="0"/>
                  <a:pt x="1524000" y="0"/>
                </a:cubicBezTo>
                <a:close/>
              </a:path>
            </a:pathLst>
          </a:custGeom>
          <a:solidFill>
            <a:srgbClr val="8B0000"/>
          </a:solidFill>
          <a:ln/>
        </p:spPr>
        <p:txBody>
          <a:bodyPr/>
          <a:lstStyle/>
          <a:p>
            <a:endParaRPr lang="en-US"/>
          </a:p>
        </p:txBody>
      </p:sp>
      <p:sp>
        <p:nvSpPr>
          <p:cNvPr id="3" name="Shape 1"/>
          <p:cNvSpPr/>
          <p:nvPr/>
        </p:nvSpPr>
        <p:spPr>
          <a:xfrm>
            <a:off x="10922000" y="5588000"/>
            <a:ext cx="2540000" cy="2540000"/>
          </a:xfrm>
          <a:custGeom>
            <a:avLst/>
            <a:gdLst/>
            <a:ahLst/>
            <a:cxnLst/>
            <a:rect l="l" t="t" r="r" b="b"/>
            <a:pathLst>
              <a:path w="2540000" h="2540000">
                <a:moveTo>
                  <a:pt x="1270000" y="0"/>
                </a:moveTo>
                <a:lnTo>
                  <a:pt x="1270000" y="0"/>
                </a:lnTo>
                <a:cubicBezTo>
                  <a:pt x="1970932" y="0"/>
                  <a:pt x="2540000" y="569068"/>
                  <a:pt x="2540000" y="1270000"/>
                </a:cubicBezTo>
                <a:lnTo>
                  <a:pt x="2540000" y="1270000"/>
                </a:lnTo>
                <a:cubicBezTo>
                  <a:pt x="2540000" y="1970932"/>
                  <a:pt x="1970932" y="2540000"/>
                  <a:pt x="1270000" y="2540000"/>
                </a:cubicBezTo>
                <a:lnTo>
                  <a:pt x="1270000" y="2540000"/>
                </a:lnTo>
                <a:cubicBezTo>
                  <a:pt x="569068" y="2540000"/>
                  <a:pt x="0" y="1970932"/>
                  <a:pt x="0" y="1270000"/>
                </a:cubicBezTo>
                <a:lnTo>
                  <a:pt x="0" y="1270000"/>
                </a:lnTo>
                <a:cubicBezTo>
                  <a:pt x="0" y="569068"/>
                  <a:pt x="569068" y="0"/>
                  <a:pt x="1270000" y="0"/>
                </a:cubicBezTo>
                <a:close/>
              </a:path>
            </a:pathLst>
          </a:custGeom>
          <a:solidFill>
            <a:srgbClr val="8B0000"/>
          </a:solidFill>
          <a:ln/>
        </p:spPr>
        <p:txBody>
          <a:bodyPr/>
          <a:lstStyle/>
          <a:p>
            <a:endParaRPr lang="en-US"/>
          </a:p>
        </p:txBody>
      </p:sp>
      <p:sp>
        <p:nvSpPr>
          <p:cNvPr id="4" name="Shape 2"/>
          <p:cNvSpPr/>
          <p:nvPr/>
        </p:nvSpPr>
        <p:spPr>
          <a:xfrm>
            <a:off x="5333405" y="727072"/>
            <a:ext cx="1524000" cy="317500"/>
          </a:xfrm>
          <a:custGeom>
            <a:avLst/>
            <a:gdLst/>
            <a:ahLst/>
            <a:cxnLst/>
            <a:rect l="l" t="t" r="r" b="b"/>
            <a:pathLst>
              <a:path w="1524000" h="317500">
                <a:moveTo>
                  <a:pt x="0" y="0"/>
                </a:moveTo>
                <a:lnTo>
                  <a:pt x="1524000" y="0"/>
                </a:lnTo>
                <a:lnTo>
                  <a:pt x="1524000" y="317500"/>
                </a:lnTo>
                <a:lnTo>
                  <a:pt x="0" y="317500"/>
                </a:lnTo>
                <a:lnTo>
                  <a:pt x="0" y="0"/>
                </a:lnTo>
                <a:close/>
              </a:path>
            </a:pathLst>
          </a:custGeom>
          <a:solidFill>
            <a:srgbClr val="8B0000"/>
          </a:solidFill>
          <a:ln/>
        </p:spPr>
        <p:txBody>
          <a:bodyPr/>
          <a:lstStyle/>
          <a:p>
            <a:endParaRPr lang="en-US"/>
          </a:p>
        </p:txBody>
      </p:sp>
      <p:sp>
        <p:nvSpPr>
          <p:cNvPr id="5" name="Text 3"/>
          <p:cNvSpPr/>
          <p:nvPr/>
        </p:nvSpPr>
        <p:spPr>
          <a:xfrm>
            <a:off x="5301655" y="727072"/>
            <a:ext cx="1587500" cy="317500"/>
          </a:xfrm>
          <a:prstGeom prst="rect">
            <a:avLst/>
          </a:prstGeom>
          <a:noFill/>
          <a:ln/>
        </p:spPr>
        <p:txBody>
          <a:bodyPr wrap="square" lIns="190500" tIns="63500" rIns="190500" bIns="63500" rtlCol="0" anchor="ctr"/>
          <a:lstStyle/>
          <a:p>
            <a:pPr algn="ctr">
              <a:lnSpc>
                <a:spcPct val="130000"/>
              </a:lnSpc>
            </a:pPr>
            <a:r>
              <a:rPr lang="en-US" sz="1000" b="1" kern="0" spc="100" dirty="0">
                <a:solidFill>
                  <a:srgbClr val="FFFFFF"/>
                </a:solidFill>
                <a:latin typeface="Quattrocento Sans" pitchFamily="34" charset="0"/>
                <a:ea typeface="Quattrocento Sans" pitchFamily="34" charset="-122"/>
                <a:cs typeface="Quattrocento Sans" pitchFamily="34" charset="-120"/>
              </a:rPr>
              <a:t>KEY TAKEAWAYS</a:t>
            </a:r>
            <a:endParaRPr lang="en-US" sz="1600" dirty="0"/>
          </a:p>
        </p:txBody>
      </p:sp>
      <p:sp>
        <p:nvSpPr>
          <p:cNvPr id="6" name="Text 4"/>
          <p:cNvSpPr/>
          <p:nvPr/>
        </p:nvSpPr>
        <p:spPr>
          <a:xfrm>
            <a:off x="4383584" y="1425572"/>
            <a:ext cx="3421063" cy="952500"/>
          </a:xfrm>
          <a:prstGeom prst="rect">
            <a:avLst/>
          </a:prstGeom>
          <a:noFill/>
          <a:ln/>
        </p:spPr>
        <p:txBody>
          <a:bodyPr wrap="square" lIns="0" tIns="0" rIns="0" bIns="0" rtlCol="0" anchor="ctr"/>
          <a:lstStyle/>
          <a:p>
            <a:pPr algn="ctr">
              <a:lnSpc>
                <a:spcPct val="100000"/>
              </a:lnSpc>
            </a:pPr>
            <a:r>
              <a:rPr lang="en-US" sz="3000" b="1" dirty="0">
                <a:solidFill>
                  <a:srgbClr val="FFFFFF"/>
                </a:solidFill>
                <a:latin typeface="Sorts Mill Goudy" pitchFamily="34" charset="0"/>
                <a:ea typeface="Sorts Mill Goudy" pitchFamily="34" charset="-122"/>
                <a:cs typeface="Sorts Mill Goudy" pitchFamily="34" charset="-120"/>
              </a:rPr>
              <a:t>Master YOLO,</a:t>
            </a:r>
            <a:endParaRPr lang="en-US" sz="1600" dirty="0"/>
          </a:p>
          <a:p>
            <a:pPr algn="ctr">
              <a:lnSpc>
                <a:spcPct val="100000"/>
              </a:lnSpc>
            </a:pPr>
            <a:r>
              <a:rPr lang="en-US" sz="3000" b="1" dirty="0">
                <a:solidFill>
                  <a:srgbClr val="FFFFFF"/>
                </a:solidFill>
                <a:latin typeface="Sorts Mill Goudy" pitchFamily="34" charset="0"/>
                <a:ea typeface="Sorts Mill Goudy" pitchFamily="34" charset="-122"/>
                <a:cs typeface="Sorts Mill Goudy" pitchFamily="34" charset="-120"/>
              </a:rPr>
              <a:t>Ace Your Interview</a:t>
            </a:r>
            <a:endParaRPr lang="en-US" sz="1600" dirty="0"/>
          </a:p>
        </p:txBody>
      </p:sp>
      <p:sp>
        <p:nvSpPr>
          <p:cNvPr id="7" name="Shape 5"/>
          <p:cNvSpPr/>
          <p:nvPr/>
        </p:nvSpPr>
        <p:spPr>
          <a:xfrm>
            <a:off x="5588000" y="2632072"/>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solidFill>
            <a:srgbClr val="8B0000"/>
          </a:solidFill>
          <a:ln/>
        </p:spPr>
        <p:txBody>
          <a:bodyPr/>
          <a:lstStyle/>
          <a:p>
            <a:endParaRPr lang="en-US"/>
          </a:p>
        </p:txBody>
      </p:sp>
      <p:sp>
        <p:nvSpPr>
          <p:cNvPr id="8" name="Shape 6"/>
          <p:cNvSpPr/>
          <p:nvPr/>
        </p:nvSpPr>
        <p:spPr>
          <a:xfrm>
            <a:off x="3125688" y="2920997"/>
            <a:ext cx="2903537" cy="736600"/>
          </a:xfrm>
          <a:custGeom>
            <a:avLst/>
            <a:gdLst/>
            <a:ahLst/>
            <a:cxnLst/>
            <a:rect l="l" t="t" r="r" b="b"/>
            <a:pathLst>
              <a:path w="2903537" h="736600">
                <a:moveTo>
                  <a:pt x="63502" y="0"/>
                </a:moveTo>
                <a:lnTo>
                  <a:pt x="2840035" y="0"/>
                </a:lnTo>
                <a:cubicBezTo>
                  <a:pt x="2875083" y="0"/>
                  <a:pt x="2903537" y="28454"/>
                  <a:pt x="2903537" y="63502"/>
                </a:cubicBezTo>
                <a:lnTo>
                  <a:pt x="2903537" y="673098"/>
                </a:lnTo>
                <a:cubicBezTo>
                  <a:pt x="2903537" y="708146"/>
                  <a:pt x="2875083" y="736600"/>
                  <a:pt x="2840035" y="736600"/>
                </a:cubicBezTo>
                <a:lnTo>
                  <a:pt x="63502" y="736600"/>
                </a:lnTo>
                <a:cubicBezTo>
                  <a:pt x="28454" y="736600"/>
                  <a:pt x="0" y="708146"/>
                  <a:pt x="0" y="673098"/>
                </a:cubicBezTo>
                <a:lnTo>
                  <a:pt x="0" y="63502"/>
                </a:lnTo>
                <a:cubicBezTo>
                  <a:pt x="0" y="28454"/>
                  <a:pt x="28454" y="0"/>
                  <a:pt x="63502" y="0"/>
                </a:cubicBezTo>
                <a:close/>
              </a:path>
            </a:pathLst>
          </a:custGeom>
          <a:solidFill>
            <a:srgbClr val="FFFFFF">
              <a:alpha val="10196"/>
            </a:srgbClr>
          </a:solidFill>
          <a:ln w="10160">
            <a:solidFill>
              <a:srgbClr val="FFFFFF">
                <a:alpha val="20000"/>
              </a:srgbClr>
            </a:solidFill>
            <a:prstDash val="solid"/>
          </a:ln>
        </p:spPr>
        <p:txBody>
          <a:bodyPr/>
          <a:lstStyle/>
          <a:p>
            <a:endParaRPr lang="en-US"/>
          </a:p>
        </p:txBody>
      </p:sp>
      <p:sp>
        <p:nvSpPr>
          <p:cNvPr id="9" name="Shape 7"/>
          <p:cNvSpPr/>
          <p:nvPr/>
        </p:nvSpPr>
        <p:spPr>
          <a:xfrm>
            <a:off x="3291582" y="3067053"/>
            <a:ext cx="166688" cy="190500"/>
          </a:xfrm>
          <a:custGeom>
            <a:avLst/>
            <a:gdLst/>
            <a:ahLst/>
            <a:cxnLst/>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a:srgbClr val="8B0000"/>
          </a:solidFill>
          <a:ln/>
        </p:spPr>
        <p:txBody>
          <a:bodyPr/>
          <a:lstStyle/>
          <a:p>
            <a:endParaRPr lang="en-US"/>
          </a:p>
        </p:txBody>
      </p:sp>
      <p:sp>
        <p:nvSpPr>
          <p:cNvPr id="10" name="Text 8"/>
          <p:cNvSpPr/>
          <p:nvPr/>
        </p:nvSpPr>
        <p:spPr>
          <a:xfrm>
            <a:off x="3549551" y="3051178"/>
            <a:ext cx="1651000"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Single-Stage Detection</a:t>
            </a:r>
            <a:endParaRPr lang="en-US" sz="1600" dirty="0"/>
          </a:p>
        </p:txBody>
      </p:sp>
      <p:sp>
        <p:nvSpPr>
          <p:cNvPr id="11" name="Text 9"/>
          <p:cNvSpPr/>
          <p:nvPr/>
        </p:nvSpPr>
        <p:spPr>
          <a:xfrm>
            <a:off x="3224113" y="3336928"/>
            <a:ext cx="2706688" cy="190500"/>
          </a:xfrm>
          <a:prstGeom prst="rect">
            <a:avLst/>
          </a:prstGeom>
          <a:noFill/>
          <a:ln/>
        </p:spPr>
        <p:txBody>
          <a:bodyPr wrap="square" lIns="0" tIns="0" rIns="0" bIns="0" rtlCol="0" anchor="ctr"/>
          <a:lstStyle/>
          <a:p>
            <a:pPr algn="ctr">
              <a:lnSpc>
                <a:spcPct val="130000"/>
              </a:lnSpc>
            </a:pPr>
            <a:r>
              <a:rPr lang="en-US" sz="1000" dirty="0">
                <a:solidFill>
                  <a:srgbClr val="D1D5DC"/>
                </a:solidFill>
                <a:latin typeface="Quattrocento Sans" pitchFamily="34" charset="0"/>
                <a:ea typeface="Quattrocento Sans" pitchFamily="34" charset="-122"/>
                <a:cs typeface="Quattrocento Sans" pitchFamily="34" charset="-120"/>
              </a:rPr>
              <a:t>Real-time speed through one CNN forward pass</a:t>
            </a:r>
            <a:endParaRPr lang="en-US" sz="1600" dirty="0"/>
          </a:p>
        </p:txBody>
      </p:sp>
      <p:sp>
        <p:nvSpPr>
          <p:cNvPr id="12" name="Shape 10"/>
          <p:cNvSpPr/>
          <p:nvPr/>
        </p:nvSpPr>
        <p:spPr>
          <a:xfrm>
            <a:off x="6162675" y="2920997"/>
            <a:ext cx="2903537" cy="736600"/>
          </a:xfrm>
          <a:custGeom>
            <a:avLst/>
            <a:gdLst/>
            <a:ahLst/>
            <a:cxnLst/>
            <a:rect l="l" t="t" r="r" b="b"/>
            <a:pathLst>
              <a:path w="2903537" h="736600">
                <a:moveTo>
                  <a:pt x="63502" y="0"/>
                </a:moveTo>
                <a:lnTo>
                  <a:pt x="2840035" y="0"/>
                </a:lnTo>
                <a:cubicBezTo>
                  <a:pt x="2875083" y="0"/>
                  <a:pt x="2903537" y="28454"/>
                  <a:pt x="2903537" y="63502"/>
                </a:cubicBezTo>
                <a:lnTo>
                  <a:pt x="2903537" y="673098"/>
                </a:lnTo>
                <a:cubicBezTo>
                  <a:pt x="2903537" y="708146"/>
                  <a:pt x="2875083" y="736600"/>
                  <a:pt x="2840035" y="736600"/>
                </a:cubicBezTo>
                <a:lnTo>
                  <a:pt x="63502" y="736600"/>
                </a:lnTo>
                <a:cubicBezTo>
                  <a:pt x="28454" y="736600"/>
                  <a:pt x="0" y="708146"/>
                  <a:pt x="0" y="673098"/>
                </a:cubicBezTo>
                <a:lnTo>
                  <a:pt x="0" y="63502"/>
                </a:lnTo>
                <a:cubicBezTo>
                  <a:pt x="0" y="28454"/>
                  <a:pt x="28454" y="0"/>
                  <a:pt x="63502" y="0"/>
                </a:cubicBezTo>
                <a:close/>
              </a:path>
            </a:pathLst>
          </a:custGeom>
          <a:solidFill>
            <a:srgbClr val="FFFFFF">
              <a:alpha val="10196"/>
            </a:srgbClr>
          </a:solidFill>
          <a:ln w="10160">
            <a:solidFill>
              <a:srgbClr val="FFFFFF">
                <a:alpha val="20000"/>
              </a:srgbClr>
            </a:solidFill>
            <a:prstDash val="solid"/>
          </a:ln>
        </p:spPr>
        <p:txBody>
          <a:bodyPr/>
          <a:lstStyle/>
          <a:p>
            <a:endParaRPr lang="en-US"/>
          </a:p>
        </p:txBody>
      </p:sp>
      <p:sp>
        <p:nvSpPr>
          <p:cNvPr id="13" name="Shape 11"/>
          <p:cNvSpPr/>
          <p:nvPr/>
        </p:nvSpPr>
        <p:spPr>
          <a:xfrm>
            <a:off x="6328569" y="3067053"/>
            <a:ext cx="166688" cy="190500"/>
          </a:xfrm>
          <a:custGeom>
            <a:avLst/>
            <a:gdLst/>
            <a:ahLst/>
            <a:cxnLst/>
            <a:rect l="l" t="t" r="r" b="b"/>
            <a:pathLst>
              <a:path w="166688" h="190500">
                <a:moveTo>
                  <a:pt x="142875" y="35719"/>
                </a:moveTo>
                <a:lnTo>
                  <a:pt x="142875" y="59531"/>
                </a:lnTo>
                <a:lnTo>
                  <a:pt x="119063" y="59531"/>
                </a:lnTo>
                <a:lnTo>
                  <a:pt x="119063" y="35719"/>
                </a:lnTo>
                <a:lnTo>
                  <a:pt x="142875" y="35719"/>
                </a:lnTo>
                <a:close/>
                <a:moveTo>
                  <a:pt x="142875" y="83344"/>
                </a:moveTo>
                <a:lnTo>
                  <a:pt x="142875" y="107156"/>
                </a:lnTo>
                <a:lnTo>
                  <a:pt x="119063" y="107156"/>
                </a:lnTo>
                <a:lnTo>
                  <a:pt x="119063" y="83344"/>
                </a:lnTo>
                <a:lnTo>
                  <a:pt x="142875" y="83344"/>
                </a:lnTo>
                <a:close/>
                <a:moveTo>
                  <a:pt x="142875" y="130969"/>
                </a:moveTo>
                <a:lnTo>
                  <a:pt x="142875" y="154781"/>
                </a:lnTo>
                <a:lnTo>
                  <a:pt x="119063" y="154781"/>
                </a:lnTo>
                <a:lnTo>
                  <a:pt x="119063" y="130969"/>
                </a:lnTo>
                <a:lnTo>
                  <a:pt x="142875" y="130969"/>
                </a:lnTo>
                <a:close/>
                <a:moveTo>
                  <a:pt x="95250" y="107156"/>
                </a:moveTo>
                <a:lnTo>
                  <a:pt x="71438" y="107156"/>
                </a:lnTo>
                <a:lnTo>
                  <a:pt x="71438" y="83344"/>
                </a:lnTo>
                <a:lnTo>
                  <a:pt x="95250" y="83344"/>
                </a:lnTo>
                <a:lnTo>
                  <a:pt x="95250" y="107156"/>
                </a:lnTo>
                <a:close/>
                <a:moveTo>
                  <a:pt x="71438" y="130969"/>
                </a:moveTo>
                <a:lnTo>
                  <a:pt x="95250" y="130969"/>
                </a:lnTo>
                <a:lnTo>
                  <a:pt x="95250" y="154781"/>
                </a:lnTo>
                <a:lnTo>
                  <a:pt x="71438" y="154781"/>
                </a:lnTo>
                <a:lnTo>
                  <a:pt x="71438" y="130969"/>
                </a:lnTo>
                <a:close/>
                <a:moveTo>
                  <a:pt x="47625" y="107156"/>
                </a:moveTo>
                <a:lnTo>
                  <a:pt x="23812" y="107156"/>
                </a:lnTo>
                <a:lnTo>
                  <a:pt x="23812" y="83344"/>
                </a:lnTo>
                <a:lnTo>
                  <a:pt x="47625" y="83344"/>
                </a:lnTo>
                <a:lnTo>
                  <a:pt x="47625" y="107156"/>
                </a:lnTo>
                <a:close/>
                <a:moveTo>
                  <a:pt x="23812" y="130969"/>
                </a:moveTo>
                <a:lnTo>
                  <a:pt x="47625" y="130969"/>
                </a:lnTo>
                <a:lnTo>
                  <a:pt x="47625" y="154781"/>
                </a:lnTo>
                <a:lnTo>
                  <a:pt x="23812" y="154781"/>
                </a:lnTo>
                <a:lnTo>
                  <a:pt x="23812" y="130969"/>
                </a:lnTo>
                <a:close/>
                <a:moveTo>
                  <a:pt x="23812" y="59531"/>
                </a:moveTo>
                <a:lnTo>
                  <a:pt x="23812" y="35719"/>
                </a:lnTo>
                <a:lnTo>
                  <a:pt x="47625" y="35719"/>
                </a:lnTo>
                <a:lnTo>
                  <a:pt x="47625" y="59531"/>
                </a:lnTo>
                <a:lnTo>
                  <a:pt x="23812" y="59531"/>
                </a:lnTo>
                <a:close/>
                <a:moveTo>
                  <a:pt x="71438" y="59531"/>
                </a:moveTo>
                <a:lnTo>
                  <a:pt x="71438" y="35719"/>
                </a:lnTo>
                <a:lnTo>
                  <a:pt x="95250" y="35719"/>
                </a:lnTo>
                <a:lnTo>
                  <a:pt x="95250" y="59531"/>
                </a:lnTo>
                <a:lnTo>
                  <a:pt x="71438" y="59531"/>
                </a:lnTo>
                <a:close/>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path>
            </a:pathLst>
          </a:custGeom>
          <a:solidFill>
            <a:srgbClr val="8B0000"/>
          </a:solidFill>
          <a:ln/>
        </p:spPr>
        <p:txBody>
          <a:bodyPr/>
          <a:lstStyle/>
          <a:p>
            <a:endParaRPr lang="en-US"/>
          </a:p>
        </p:txBody>
      </p:sp>
      <p:sp>
        <p:nvSpPr>
          <p:cNvPr id="14" name="Text 12"/>
          <p:cNvSpPr/>
          <p:nvPr/>
        </p:nvSpPr>
        <p:spPr>
          <a:xfrm>
            <a:off x="6586537" y="3051178"/>
            <a:ext cx="1658938"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Grid-Based Predictions</a:t>
            </a:r>
            <a:endParaRPr lang="en-US" sz="1600" dirty="0"/>
          </a:p>
        </p:txBody>
      </p:sp>
      <p:sp>
        <p:nvSpPr>
          <p:cNvPr id="15" name="Text 13"/>
          <p:cNvSpPr/>
          <p:nvPr/>
        </p:nvSpPr>
        <p:spPr>
          <a:xfrm>
            <a:off x="6261100" y="3336928"/>
            <a:ext cx="2706688" cy="190500"/>
          </a:xfrm>
          <a:prstGeom prst="rect">
            <a:avLst/>
          </a:prstGeom>
          <a:noFill/>
          <a:ln/>
        </p:spPr>
        <p:txBody>
          <a:bodyPr wrap="square" lIns="0" tIns="0" rIns="0" bIns="0" rtlCol="0" anchor="ctr"/>
          <a:lstStyle/>
          <a:p>
            <a:pPr algn="ctr">
              <a:lnSpc>
                <a:spcPct val="130000"/>
              </a:lnSpc>
            </a:pPr>
            <a:r>
              <a:rPr lang="en-US" sz="1000" dirty="0">
                <a:solidFill>
                  <a:srgbClr val="D1D5DC"/>
                </a:solidFill>
                <a:latin typeface="Quattrocento Sans" pitchFamily="34" charset="0"/>
                <a:ea typeface="Quattrocento Sans" pitchFamily="34" charset="-122"/>
                <a:cs typeface="Quattrocento Sans" pitchFamily="34" charset="-120"/>
              </a:rPr>
              <a:t>Each cell responsible for objects in its region</a:t>
            </a:r>
            <a:endParaRPr lang="en-US" sz="1600" dirty="0"/>
          </a:p>
        </p:txBody>
      </p:sp>
      <p:sp>
        <p:nvSpPr>
          <p:cNvPr id="16" name="Shape 14"/>
          <p:cNvSpPr/>
          <p:nvPr/>
        </p:nvSpPr>
        <p:spPr>
          <a:xfrm>
            <a:off x="3125688" y="3790959"/>
            <a:ext cx="2903537" cy="736600"/>
          </a:xfrm>
          <a:custGeom>
            <a:avLst/>
            <a:gdLst/>
            <a:ahLst/>
            <a:cxnLst/>
            <a:rect l="l" t="t" r="r" b="b"/>
            <a:pathLst>
              <a:path w="2903537" h="736600">
                <a:moveTo>
                  <a:pt x="63502" y="0"/>
                </a:moveTo>
                <a:lnTo>
                  <a:pt x="2840035" y="0"/>
                </a:lnTo>
                <a:cubicBezTo>
                  <a:pt x="2875083" y="0"/>
                  <a:pt x="2903537" y="28454"/>
                  <a:pt x="2903537" y="63502"/>
                </a:cubicBezTo>
                <a:lnTo>
                  <a:pt x="2903537" y="673098"/>
                </a:lnTo>
                <a:cubicBezTo>
                  <a:pt x="2903537" y="708146"/>
                  <a:pt x="2875083" y="736600"/>
                  <a:pt x="2840035" y="736600"/>
                </a:cubicBezTo>
                <a:lnTo>
                  <a:pt x="63502" y="736600"/>
                </a:lnTo>
                <a:cubicBezTo>
                  <a:pt x="28454" y="736600"/>
                  <a:pt x="0" y="708146"/>
                  <a:pt x="0" y="673098"/>
                </a:cubicBezTo>
                <a:lnTo>
                  <a:pt x="0" y="63502"/>
                </a:lnTo>
                <a:cubicBezTo>
                  <a:pt x="0" y="28454"/>
                  <a:pt x="28454" y="0"/>
                  <a:pt x="63502" y="0"/>
                </a:cubicBezTo>
                <a:close/>
              </a:path>
            </a:pathLst>
          </a:custGeom>
          <a:solidFill>
            <a:srgbClr val="FFFFFF">
              <a:alpha val="10196"/>
            </a:srgbClr>
          </a:solidFill>
          <a:ln w="10160">
            <a:solidFill>
              <a:srgbClr val="FFFFFF">
                <a:alpha val="20000"/>
              </a:srgbClr>
            </a:solidFill>
            <a:prstDash val="solid"/>
          </a:ln>
        </p:spPr>
        <p:txBody>
          <a:bodyPr/>
          <a:lstStyle/>
          <a:p>
            <a:endParaRPr lang="en-US"/>
          </a:p>
        </p:txBody>
      </p:sp>
      <p:sp>
        <p:nvSpPr>
          <p:cNvPr id="17" name="Shape 15"/>
          <p:cNvSpPr/>
          <p:nvPr/>
        </p:nvSpPr>
        <p:spPr>
          <a:xfrm>
            <a:off x="3279676" y="3937000"/>
            <a:ext cx="190500" cy="190500"/>
          </a:xfrm>
          <a:custGeom>
            <a:avLst/>
            <a:gdLst/>
            <a:ahLst/>
            <a:cxnLst/>
            <a:rect l="l" t="t" r="r" b="b"/>
            <a:pathLst>
              <a:path w="190500" h="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a:srgbClr val="8B0000"/>
          </a:solidFill>
          <a:ln/>
        </p:spPr>
        <p:txBody>
          <a:bodyPr/>
          <a:lstStyle/>
          <a:p>
            <a:endParaRPr lang="en-US"/>
          </a:p>
        </p:txBody>
      </p:sp>
      <p:sp>
        <p:nvSpPr>
          <p:cNvPr id="18" name="Text 16"/>
          <p:cNvSpPr/>
          <p:nvPr/>
        </p:nvSpPr>
        <p:spPr>
          <a:xfrm>
            <a:off x="3549551" y="3921125"/>
            <a:ext cx="1055688"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Anchor Boxes</a:t>
            </a:r>
            <a:endParaRPr lang="en-US" sz="1600" dirty="0"/>
          </a:p>
        </p:txBody>
      </p:sp>
      <p:sp>
        <p:nvSpPr>
          <p:cNvPr id="19" name="Text 17"/>
          <p:cNvSpPr/>
          <p:nvPr/>
        </p:nvSpPr>
        <p:spPr>
          <a:xfrm>
            <a:off x="3224113" y="4206875"/>
            <a:ext cx="2706688" cy="190500"/>
          </a:xfrm>
          <a:prstGeom prst="rect">
            <a:avLst/>
          </a:prstGeom>
          <a:noFill/>
          <a:ln/>
        </p:spPr>
        <p:txBody>
          <a:bodyPr wrap="square" lIns="0" tIns="0" rIns="0" bIns="0" rtlCol="0" anchor="ctr"/>
          <a:lstStyle/>
          <a:p>
            <a:pPr algn="ctr">
              <a:lnSpc>
                <a:spcPct val="130000"/>
              </a:lnSpc>
            </a:pPr>
            <a:r>
              <a:rPr lang="en-US" sz="1000" dirty="0">
                <a:solidFill>
                  <a:srgbClr val="D1D5DC"/>
                </a:solidFill>
                <a:latin typeface="Quattrocento Sans" pitchFamily="34" charset="0"/>
                <a:ea typeface="Quattrocento Sans" pitchFamily="34" charset="-122"/>
                <a:cs typeface="Quattrocento Sans" pitchFamily="34" charset="-120"/>
              </a:rPr>
              <a:t>Handle diverse object shapes and sizes</a:t>
            </a:r>
            <a:endParaRPr lang="en-US" sz="1600" dirty="0"/>
          </a:p>
        </p:txBody>
      </p:sp>
      <p:sp>
        <p:nvSpPr>
          <p:cNvPr id="20" name="Shape 18"/>
          <p:cNvSpPr/>
          <p:nvPr/>
        </p:nvSpPr>
        <p:spPr>
          <a:xfrm>
            <a:off x="6162675" y="3790959"/>
            <a:ext cx="2903537" cy="736600"/>
          </a:xfrm>
          <a:custGeom>
            <a:avLst/>
            <a:gdLst/>
            <a:ahLst/>
            <a:cxnLst/>
            <a:rect l="l" t="t" r="r" b="b"/>
            <a:pathLst>
              <a:path w="2903537" h="736600">
                <a:moveTo>
                  <a:pt x="63502" y="0"/>
                </a:moveTo>
                <a:lnTo>
                  <a:pt x="2840035" y="0"/>
                </a:lnTo>
                <a:cubicBezTo>
                  <a:pt x="2875083" y="0"/>
                  <a:pt x="2903537" y="28454"/>
                  <a:pt x="2903537" y="63502"/>
                </a:cubicBezTo>
                <a:lnTo>
                  <a:pt x="2903537" y="673098"/>
                </a:lnTo>
                <a:cubicBezTo>
                  <a:pt x="2903537" y="708146"/>
                  <a:pt x="2875083" y="736600"/>
                  <a:pt x="2840035" y="736600"/>
                </a:cubicBezTo>
                <a:lnTo>
                  <a:pt x="63502" y="736600"/>
                </a:lnTo>
                <a:cubicBezTo>
                  <a:pt x="28454" y="736600"/>
                  <a:pt x="0" y="708146"/>
                  <a:pt x="0" y="673098"/>
                </a:cubicBezTo>
                <a:lnTo>
                  <a:pt x="0" y="63502"/>
                </a:lnTo>
                <a:cubicBezTo>
                  <a:pt x="0" y="28454"/>
                  <a:pt x="28454" y="0"/>
                  <a:pt x="63502" y="0"/>
                </a:cubicBezTo>
                <a:close/>
              </a:path>
            </a:pathLst>
          </a:custGeom>
          <a:solidFill>
            <a:srgbClr val="FFFFFF">
              <a:alpha val="10196"/>
            </a:srgbClr>
          </a:solidFill>
          <a:ln w="10160">
            <a:solidFill>
              <a:srgbClr val="FFFFFF">
                <a:alpha val="20000"/>
              </a:srgbClr>
            </a:solidFill>
            <a:prstDash val="solid"/>
          </a:ln>
        </p:spPr>
        <p:txBody>
          <a:bodyPr/>
          <a:lstStyle/>
          <a:p>
            <a:endParaRPr lang="en-US"/>
          </a:p>
        </p:txBody>
      </p:sp>
      <p:sp>
        <p:nvSpPr>
          <p:cNvPr id="21" name="Shape 19"/>
          <p:cNvSpPr/>
          <p:nvPr/>
        </p:nvSpPr>
        <p:spPr>
          <a:xfrm>
            <a:off x="6316662" y="3937000"/>
            <a:ext cx="190500" cy="190500"/>
          </a:xfrm>
          <a:custGeom>
            <a:avLst/>
            <a:gdLst/>
            <a:ahLst/>
            <a:cxnLst/>
            <a:rect l="l" t="t" r="r" b="b"/>
            <a:pathLst>
              <a:path w="190500" h="190500">
                <a:moveTo>
                  <a:pt x="11906" y="23812"/>
                </a:moveTo>
                <a:cubicBezTo>
                  <a:pt x="7107" y="23812"/>
                  <a:pt x="2753" y="26715"/>
                  <a:pt x="893" y="31179"/>
                </a:cubicBezTo>
                <a:cubicBezTo>
                  <a:pt x="-967" y="35644"/>
                  <a:pt x="74" y="40742"/>
                  <a:pt x="3497" y="44128"/>
                </a:cubicBezTo>
                <a:lnTo>
                  <a:pt x="71438" y="112105"/>
                </a:lnTo>
                <a:lnTo>
                  <a:pt x="71438" y="154781"/>
                </a:lnTo>
                <a:cubicBezTo>
                  <a:pt x="71438" y="157944"/>
                  <a:pt x="72703" y="160958"/>
                  <a:pt x="74935" y="163190"/>
                </a:cubicBezTo>
                <a:lnTo>
                  <a:pt x="98747" y="187003"/>
                </a:lnTo>
                <a:cubicBezTo>
                  <a:pt x="102171" y="190426"/>
                  <a:pt x="107268" y="191430"/>
                  <a:pt x="111733" y="189570"/>
                </a:cubicBezTo>
                <a:cubicBezTo>
                  <a:pt x="116198" y="187709"/>
                  <a:pt x="119063" y="183393"/>
                  <a:pt x="119063" y="178594"/>
                </a:cubicBezTo>
                <a:lnTo>
                  <a:pt x="119063" y="112105"/>
                </a:lnTo>
                <a:lnTo>
                  <a:pt x="187003" y="44165"/>
                </a:lnTo>
                <a:cubicBezTo>
                  <a:pt x="190426" y="40742"/>
                  <a:pt x="191430" y="35644"/>
                  <a:pt x="189570" y="31179"/>
                </a:cubicBezTo>
                <a:cubicBezTo>
                  <a:pt x="187709" y="26715"/>
                  <a:pt x="183393" y="23812"/>
                  <a:pt x="178594" y="23812"/>
                </a:cubicBezTo>
                <a:lnTo>
                  <a:pt x="11906" y="23812"/>
                </a:lnTo>
                <a:close/>
              </a:path>
            </a:pathLst>
          </a:custGeom>
          <a:solidFill>
            <a:srgbClr val="8B0000"/>
          </a:solidFill>
          <a:ln/>
        </p:spPr>
        <p:txBody>
          <a:bodyPr/>
          <a:lstStyle/>
          <a:p>
            <a:endParaRPr lang="en-US"/>
          </a:p>
        </p:txBody>
      </p:sp>
      <p:sp>
        <p:nvSpPr>
          <p:cNvPr id="22" name="Text 20"/>
          <p:cNvSpPr/>
          <p:nvPr/>
        </p:nvSpPr>
        <p:spPr>
          <a:xfrm>
            <a:off x="6586537" y="3921125"/>
            <a:ext cx="444500"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NMS</a:t>
            </a:r>
            <a:endParaRPr lang="en-US" sz="1600" dirty="0"/>
          </a:p>
        </p:txBody>
      </p:sp>
      <p:sp>
        <p:nvSpPr>
          <p:cNvPr id="23" name="Text 21"/>
          <p:cNvSpPr/>
          <p:nvPr/>
        </p:nvSpPr>
        <p:spPr>
          <a:xfrm>
            <a:off x="6261100" y="4206875"/>
            <a:ext cx="2706688" cy="190500"/>
          </a:xfrm>
          <a:prstGeom prst="rect">
            <a:avLst/>
          </a:prstGeom>
          <a:noFill/>
          <a:ln/>
        </p:spPr>
        <p:txBody>
          <a:bodyPr wrap="square" lIns="0" tIns="0" rIns="0" bIns="0" rtlCol="0" anchor="ctr"/>
          <a:lstStyle/>
          <a:p>
            <a:pPr algn="ctr">
              <a:lnSpc>
                <a:spcPct val="130000"/>
              </a:lnSpc>
            </a:pPr>
            <a:r>
              <a:rPr lang="en-US" sz="1000" dirty="0">
                <a:solidFill>
                  <a:srgbClr val="D1D5DC"/>
                </a:solidFill>
                <a:latin typeface="Quattrocento Sans" pitchFamily="34" charset="0"/>
                <a:ea typeface="Quattrocento Sans" pitchFamily="34" charset="-122"/>
                <a:cs typeface="Quattrocento Sans" pitchFamily="34" charset="-120"/>
              </a:rPr>
              <a:t>Eliminates duplicate detections</a:t>
            </a:r>
            <a:endParaRPr lang="en-US" sz="1600" dirty="0"/>
          </a:p>
        </p:txBody>
      </p:sp>
      <p:sp>
        <p:nvSpPr>
          <p:cNvPr id="24" name="Shape 22"/>
          <p:cNvSpPr/>
          <p:nvPr/>
        </p:nvSpPr>
        <p:spPr>
          <a:xfrm>
            <a:off x="3125688" y="4660906"/>
            <a:ext cx="5943600" cy="736600"/>
          </a:xfrm>
          <a:custGeom>
            <a:avLst/>
            <a:gdLst/>
            <a:ahLst/>
            <a:cxnLst/>
            <a:rect l="l" t="t" r="r" b="b"/>
            <a:pathLst>
              <a:path w="5943600" h="736600">
                <a:moveTo>
                  <a:pt x="63502" y="0"/>
                </a:moveTo>
                <a:lnTo>
                  <a:pt x="5880098" y="0"/>
                </a:lnTo>
                <a:cubicBezTo>
                  <a:pt x="5915146" y="0"/>
                  <a:pt x="5943600" y="28454"/>
                  <a:pt x="5943600" y="63502"/>
                </a:cubicBezTo>
                <a:lnTo>
                  <a:pt x="5943600" y="673098"/>
                </a:lnTo>
                <a:cubicBezTo>
                  <a:pt x="5943600" y="708146"/>
                  <a:pt x="5915146" y="736600"/>
                  <a:pt x="5880098" y="736600"/>
                </a:cubicBezTo>
                <a:lnTo>
                  <a:pt x="63502" y="736600"/>
                </a:lnTo>
                <a:cubicBezTo>
                  <a:pt x="28454" y="736600"/>
                  <a:pt x="0" y="708146"/>
                  <a:pt x="0" y="673098"/>
                </a:cubicBezTo>
                <a:lnTo>
                  <a:pt x="0" y="63502"/>
                </a:lnTo>
                <a:cubicBezTo>
                  <a:pt x="0" y="28454"/>
                  <a:pt x="28454" y="0"/>
                  <a:pt x="63502" y="0"/>
                </a:cubicBezTo>
                <a:close/>
              </a:path>
            </a:pathLst>
          </a:custGeom>
          <a:solidFill>
            <a:srgbClr val="FFFFFF">
              <a:alpha val="10196"/>
            </a:srgbClr>
          </a:solidFill>
          <a:ln w="10160">
            <a:solidFill>
              <a:srgbClr val="FFFFFF">
                <a:alpha val="20000"/>
              </a:srgbClr>
            </a:solidFill>
            <a:prstDash val="solid"/>
          </a:ln>
        </p:spPr>
        <p:txBody>
          <a:bodyPr/>
          <a:lstStyle/>
          <a:p>
            <a:endParaRPr lang="en-US"/>
          </a:p>
        </p:txBody>
      </p:sp>
      <p:sp>
        <p:nvSpPr>
          <p:cNvPr id="25" name="Shape 23"/>
          <p:cNvSpPr/>
          <p:nvPr/>
        </p:nvSpPr>
        <p:spPr>
          <a:xfrm>
            <a:off x="3255863" y="4806947"/>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8B0000"/>
          </a:solidFill>
          <a:ln/>
        </p:spPr>
        <p:txBody>
          <a:bodyPr/>
          <a:lstStyle/>
          <a:p>
            <a:endParaRPr lang="en-US"/>
          </a:p>
        </p:txBody>
      </p:sp>
      <p:sp>
        <p:nvSpPr>
          <p:cNvPr id="26" name="Text 24"/>
          <p:cNvSpPr/>
          <p:nvPr/>
        </p:nvSpPr>
        <p:spPr>
          <a:xfrm>
            <a:off x="3549551" y="4791072"/>
            <a:ext cx="1135063"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Multi-Part Loss</a:t>
            </a:r>
            <a:endParaRPr lang="en-US" sz="1600" dirty="0"/>
          </a:p>
        </p:txBody>
      </p:sp>
      <p:sp>
        <p:nvSpPr>
          <p:cNvPr id="27" name="Text 25"/>
          <p:cNvSpPr/>
          <p:nvPr/>
        </p:nvSpPr>
        <p:spPr>
          <a:xfrm>
            <a:off x="3224113" y="5076822"/>
            <a:ext cx="5746750" cy="190500"/>
          </a:xfrm>
          <a:prstGeom prst="rect">
            <a:avLst/>
          </a:prstGeom>
          <a:noFill/>
          <a:ln/>
        </p:spPr>
        <p:txBody>
          <a:bodyPr wrap="square" lIns="0" tIns="0" rIns="0" bIns="0" rtlCol="0" anchor="ctr"/>
          <a:lstStyle/>
          <a:p>
            <a:pPr algn="ctr">
              <a:lnSpc>
                <a:spcPct val="130000"/>
              </a:lnSpc>
            </a:pPr>
            <a:r>
              <a:rPr lang="en-US" sz="1000" dirty="0">
                <a:solidFill>
                  <a:srgbClr val="D1D5DC"/>
                </a:solidFill>
                <a:latin typeface="Quattrocento Sans" pitchFamily="34" charset="0"/>
                <a:ea typeface="Quattrocento Sans" pitchFamily="34" charset="-122"/>
                <a:cs typeface="Quattrocento Sans" pitchFamily="34" charset="-120"/>
              </a:rPr>
              <a:t>Balances coordinates (λ</a:t>
            </a:r>
            <a:r>
              <a:rPr lang="en-US" sz="750" dirty="0">
                <a:solidFill>
                  <a:srgbClr val="D1D5DC"/>
                </a:solidFill>
                <a:latin typeface="Quattrocento Sans" pitchFamily="34" charset="0"/>
                <a:ea typeface="Quattrocento Sans" pitchFamily="34" charset="-122"/>
                <a:cs typeface="Quattrocento Sans" pitchFamily="34" charset="-120"/>
              </a:rPr>
              <a:t>coord</a:t>
            </a:r>
            <a:r>
              <a:rPr lang="en-US" sz="1000" dirty="0">
                <a:solidFill>
                  <a:srgbClr val="D1D5DC"/>
                </a:solidFill>
                <a:latin typeface="Quattrocento Sans" pitchFamily="34" charset="0"/>
                <a:ea typeface="Quattrocento Sans" pitchFamily="34" charset="-122"/>
                <a:cs typeface="Quattrocento Sans" pitchFamily="34" charset="-120"/>
              </a:rPr>
              <a:t>=5), confidence, and classification</a:t>
            </a:r>
            <a:endParaRPr lang="en-US" sz="1600" dirty="0"/>
          </a:p>
        </p:txBody>
      </p:sp>
      <p:sp>
        <p:nvSpPr>
          <p:cNvPr id="28" name="Text 26"/>
          <p:cNvSpPr/>
          <p:nvPr/>
        </p:nvSpPr>
        <p:spPr>
          <a:xfrm>
            <a:off x="4563070" y="5654678"/>
            <a:ext cx="3063875" cy="222250"/>
          </a:xfrm>
          <a:prstGeom prst="rect">
            <a:avLst/>
          </a:prstGeom>
          <a:noFill/>
          <a:ln/>
        </p:spPr>
        <p:txBody>
          <a:bodyPr wrap="square" lIns="0" tIns="0" rIns="0" bIns="0" rtlCol="0" anchor="ctr"/>
          <a:lstStyle/>
          <a:p>
            <a:pPr algn="ctr">
              <a:lnSpc>
                <a:spcPct val="130000"/>
              </a:lnSpc>
            </a:pPr>
            <a:r>
              <a:rPr lang="en-US" sz="1125" dirty="0">
                <a:solidFill>
                  <a:srgbClr val="99A1AF"/>
                </a:solidFill>
                <a:latin typeface="Quattrocento Sans" pitchFamily="34" charset="0"/>
                <a:ea typeface="Quattrocento Sans" pitchFamily="34" charset="-122"/>
                <a:cs typeface="Quattrocento Sans" pitchFamily="34" charset="-120"/>
              </a:rPr>
              <a:t>Good luck with your interviews!</a:t>
            </a:r>
            <a:endParaRPr lang="en-US" sz="1600" dirty="0"/>
          </a:p>
        </p:txBody>
      </p:sp>
      <p:sp>
        <p:nvSpPr>
          <p:cNvPr id="29" name="Shape 27"/>
          <p:cNvSpPr/>
          <p:nvPr/>
        </p:nvSpPr>
        <p:spPr>
          <a:xfrm>
            <a:off x="4606727" y="5972178"/>
            <a:ext cx="142875" cy="127000"/>
          </a:xfrm>
          <a:custGeom>
            <a:avLst/>
            <a:gdLst/>
            <a:ahLst/>
            <a:cxnLst/>
            <a:rect l="l" t="t" r="r" b="b"/>
            <a:pathLst>
              <a:path w="142875" h="127000">
                <a:moveTo>
                  <a:pt x="11906" y="48568"/>
                </a:moveTo>
                <a:lnTo>
                  <a:pt x="63798" y="69924"/>
                </a:lnTo>
                <a:cubicBezTo>
                  <a:pt x="66229" y="70917"/>
                  <a:pt x="68808" y="71438"/>
                  <a:pt x="71438" y="71438"/>
                </a:cubicBezTo>
                <a:cubicBezTo>
                  <a:pt x="74067" y="71438"/>
                  <a:pt x="76646" y="70917"/>
                  <a:pt x="79077" y="69924"/>
                </a:cubicBezTo>
                <a:lnTo>
                  <a:pt x="139204" y="45169"/>
                </a:lnTo>
                <a:cubicBezTo>
                  <a:pt x="141436" y="44252"/>
                  <a:pt x="142875" y="42094"/>
                  <a:pt x="142875" y="39687"/>
                </a:cubicBezTo>
                <a:cubicBezTo>
                  <a:pt x="142875" y="37281"/>
                  <a:pt x="141436" y="35123"/>
                  <a:pt x="139204" y="34206"/>
                </a:cubicBezTo>
                <a:lnTo>
                  <a:pt x="79077" y="9451"/>
                </a:lnTo>
                <a:cubicBezTo>
                  <a:pt x="76646" y="8458"/>
                  <a:pt x="74067" y="7938"/>
                  <a:pt x="71438" y="7938"/>
                </a:cubicBezTo>
                <a:cubicBezTo>
                  <a:pt x="68808" y="7938"/>
                  <a:pt x="66229" y="8458"/>
                  <a:pt x="63798" y="9451"/>
                </a:cubicBezTo>
                <a:lnTo>
                  <a:pt x="3671" y="34206"/>
                </a:lnTo>
                <a:cubicBezTo>
                  <a:pt x="1439" y="35123"/>
                  <a:pt x="0" y="37281"/>
                  <a:pt x="0" y="39688"/>
                </a:cubicBezTo>
                <a:lnTo>
                  <a:pt x="0" y="113109"/>
                </a:lnTo>
                <a:cubicBezTo>
                  <a:pt x="0" y="116408"/>
                  <a:pt x="2654" y="119063"/>
                  <a:pt x="5953" y="119063"/>
                </a:cubicBezTo>
                <a:cubicBezTo>
                  <a:pt x="9252" y="119063"/>
                  <a:pt x="11906" y="116408"/>
                  <a:pt x="11906" y="113109"/>
                </a:cubicBezTo>
                <a:lnTo>
                  <a:pt x="11906" y="48568"/>
                </a:lnTo>
                <a:close/>
                <a:moveTo>
                  <a:pt x="23812" y="66353"/>
                </a:moveTo>
                <a:lnTo>
                  <a:pt x="23812" y="95250"/>
                </a:lnTo>
                <a:cubicBezTo>
                  <a:pt x="23812" y="108396"/>
                  <a:pt x="45145" y="119063"/>
                  <a:pt x="71438" y="119063"/>
                </a:cubicBezTo>
                <a:cubicBezTo>
                  <a:pt x="97730" y="119063"/>
                  <a:pt x="119063" y="108396"/>
                  <a:pt x="119063" y="95250"/>
                </a:cubicBezTo>
                <a:lnTo>
                  <a:pt x="119063" y="66328"/>
                </a:lnTo>
                <a:lnTo>
                  <a:pt x="83617" y="80938"/>
                </a:lnTo>
                <a:cubicBezTo>
                  <a:pt x="79747" y="82525"/>
                  <a:pt x="75629" y="83344"/>
                  <a:pt x="71438" y="83344"/>
                </a:cubicBezTo>
                <a:cubicBezTo>
                  <a:pt x="67246" y="83344"/>
                  <a:pt x="63128" y="82525"/>
                  <a:pt x="59258" y="80938"/>
                </a:cubicBezTo>
                <a:lnTo>
                  <a:pt x="23812" y="66328"/>
                </a:lnTo>
                <a:close/>
              </a:path>
            </a:pathLst>
          </a:custGeom>
          <a:solidFill>
            <a:srgbClr val="8B0000"/>
          </a:solidFill>
          <a:ln/>
        </p:spPr>
        <p:txBody>
          <a:bodyPr/>
          <a:lstStyle/>
          <a:p>
            <a:endParaRPr lang="en-US"/>
          </a:p>
        </p:txBody>
      </p:sp>
      <p:sp>
        <p:nvSpPr>
          <p:cNvPr id="30" name="Text 28"/>
          <p:cNvSpPr/>
          <p:nvPr/>
        </p:nvSpPr>
        <p:spPr>
          <a:xfrm>
            <a:off x="4789289" y="5940428"/>
            <a:ext cx="682625"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Study Hard</a:t>
            </a:r>
            <a:endParaRPr lang="en-US" sz="1600" dirty="0"/>
          </a:p>
        </p:txBody>
      </p:sp>
      <p:sp>
        <p:nvSpPr>
          <p:cNvPr id="31" name="Shape 29"/>
          <p:cNvSpPr/>
          <p:nvPr/>
        </p:nvSpPr>
        <p:spPr>
          <a:xfrm>
            <a:off x="5639396" y="5972178"/>
            <a:ext cx="142875" cy="127000"/>
          </a:xfrm>
          <a:custGeom>
            <a:avLst/>
            <a:gdLst/>
            <a:ahLst/>
            <a:cxnLst/>
            <a:rect l="l" t="t" r="r" b="b"/>
            <a:pathLst>
              <a:path w="142875" h="127000">
                <a:moveTo>
                  <a:pt x="89495" y="298"/>
                </a:moveTo>
                <a:cubicBezTo>
                  <a:pt x="85279" y="-918"/>
                  <a:pt x="80888" y="1538"/>
                  <a:pt x="79673" y="5755"/>
                </a:cubicBezTo>
                <a:lnTo>
                  <a:pt x="47923" y="116880"/>
                </a:lnTo>
                <a:cubicBezTo>
                  <a:pt x="46707" y="121096"/>
                  <a:pt x="49163" y="125487"/>
                  <a:pt x="53380" y="126702"/>
                </a:cubicBezTo>
                <a:cubicBezTo>
                  <a:pt x="57596" y="127918"/>
                  <a:pt x="61987" y="125462"/>
                  <a:pt x="63202" y="121245"/>
                </a:cubicBezTo>
                <a:lnTo>
                  <a:pt x="94952" y="10120"/>
                </a:lnTo>
                <a:cubicBezTo>
                  <a:pt x="96168" y="5904"/>
                  <a:pt x="93712" y="1513"/>
                  <a:pt x="89495" y="298"/>
                </a:cubicBezTo>
                <a:close/>
                <a:moveTo>
                  <a:pt x="105519" y="34057"/>
                </a:moveTo>
                <a:cubicBezTo>
                  <a:pt x="102419" y="37157"/>
                  <a:pt x="102419" y="42193"/>
                  <a:pt x="105519" y="45293"/>
                </a:cubicBezTo>
                <a:lnTo>
                  <a:pt x="123726" y="63500"/>
                </a:lnTo>
                <a:lnTo>
                  <a:pt x="105519" y="81707"/>
                </a:lnTo>
                <a:cubicBezTo>
                  <a:pt x="102419" y="84807"/>
                  <a:pt x="102419" y="89843"/>
                  <a:pt x="105519" y="92943"/>
                </a:cubicBezTo>
                <a:cubicBezTo>
                  <a:pt x="108620" y="96044"/>
                  <a:pt x="113655" y="96044"/>
                  <a:pt x="116756" y="92943"/>
                </a:cubicBezTo>
                <a:lnTo>
                  <a:pt x="140568" y="69131"/>
                </a:lnTo>
                <a:cubicBezTo>
                  <a:pt x="143669" y="66030"/>
                  <a:pt x="143669" y="60995"/>
                  <a:pt x="140568" y="57894"/>
                </a:cubicBezTo>
                <a:lnTo>
                  <a:pt x="116756" y="34082"/>
                </a:lnTo>
                <a:cubicBezTo>
                  <a:pt x="113655" y="30981"/>
                  <a:pt x="108620" y="30981"/>
                  <a:pt x="105519" y="34082"/>
                </a:cubicBezTo>
                <a:close/>
                <a:moveTo>
                  <a:pt x="37381" y="34057"/>
                </a:moveTo>
                <a:cubicBezTo>
                  <a:pt x="34280" y="30956"/>
                  <a:pt x="29245" y="30956"/>
                  <a:pt x="26144" y="34057"/>
                </a:cubicBezTo>
                <a:lnTo>
                  <a:pt x="2332" y="57869"/>
                </a:lnTo>
                <a:cubicBezTo>
                  <a:pt x="-769" y="60970"/>
                  <a:pt x="-769" y="66005"/>
                  <a:pt x="2332" y="69106"/>
                </a:cubicBezTo>
                <a:lnTo>
                  <a:pt x="26144" y="92918"/>
                </a:lnTo>
                <a:cubicBezTo>
                  <a:pt x="29245" y="96019"/>
                  <a:pt x="34280" y="96019"/>
                  <a:pt x="37381" y="92918"/>
                </a:cubicBezTo>
                <a:cubicBezTo>
                  <a:pt x="40481" y="89818"/>
                  <a:pt x="40481" y="84782"/>
                  <a:pt x="37381" y="81682"/>
                </a:cubicBezTo>
                <a:lnTo>
                  <a:pt x="19174" y="63500"/>
                </a:lnTo>
                <a:lnTo>
                  <a:pt x="37356" y="45293"/>
                </a:lnTo>
                <a:cubicBezTo>
                  <a:pt x="40456" y="42193"/>
                  <a:pt x="40456" y="37157"/>
                  <a:pt x="37356" y="34057"/>
                </a:cubicBezTo>
                <a:close/>
              </a:path>
            </a:pathLst>
          </a:custGeom>
          <a:solidFill>
            <a:srgbClr val="8B0000"/>
          </a:solidFill>
          <a:ln/>
        </p:spPr>
        <p:txBody>
          <a:bodyPr/>
          <a:lstStyle/>
          <a:p>
            <a:endParaRPr lang="en-US"/>
          </a:p>
        </p:txBody>
      </p:sp>
      <p:sp>
        <p:nvSpPr>
          <p:cNvPr id="32" name="Text 30"/>
          <p:cNvSpPr/>
          <p:nvPr/>
        </p:nvSpPr>
        <p:spPr>
          <a:xfrm>
            <a:off x="5821958" y="5940428"/>
            <a:ext cx="920750"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Practice Coding</a:t>
            </a:r>
            <a:endParaRPr lang="en-US" sz="1600" dirty="0"/>
          </a:p>
        </p:txBody>
      </p:sp>
      <p:sp>
        <p:nvSpPr>
          <p:cNvPr id="33" name="Shape 31"/>
          <p:cNvSpPr/>
          <p:nvPr/>
        </p:nvSpPr>
        <p:spPr>
          <a:xfrm>
            <a:off x="6916341" y="5972178"/>
            <a:ext cx="127000" cy="127000"/>
          </a:xfrm>
          <a:custGeom>
            <a:avLst/>
            <a:gdLst/>
            <a:ahLst/>
            <a:cxnLst/>
            <a:rect l="l" t="t" r="r" b="b"/>
            <a:pathLst>
              <a:path w="127000" h="127000">
                <a:moveTo>
                  <a:pt x="35793" y="0"/>
                </a:moveTo>
                <a:lnTo>
                  <a:pt x="91356" y="0"/>
                </a:lnTo>
                <a:cubicBezTo>
                  <a:pt x="97929" y="0"/>
                  <a:pt x="103287" y="5407"/>
                  <a:pt x="103039" y="11956"/>
                </a:cubicBezTo>
                <a:cubicBezTo>
                  <a:pt x="102989" y="13271"/>
                  <a:pt x="102939" y="14585"/>
                  <a:pt x="102865" y="15875"/>
                </a:cubicBezTo>
                <a:lnTo>
                  <a:pt x="115168" y="15875"/>
                </a:lnTo>
                <a:cubicBezTo>
                  <a:pt x="121642" y="15875"/>
                  <a:pt x="127347" y="21233"/>
                  <a:pt x="126851" y="28228"/>
                </a:cubicBezTo>
                <a:cubicBezTo>
                  <a:pt x="124991" y="53950"/>
                  <a:pt x="111844" y="68089"/>
                  <a:pt x="97582" y="75481"/>
                </a:cubicBezTo>
                <a:cubicBezTo>
                  <a:pt x="93663" y="77515"/>
                  <a:pt x="89669" y="79028"/>
                  <a:pt x="85874" y="80144"/>
                </a:cubicBezTo>
                <a:cubicBezTo>
                  <a:pt x="80863" y="87238"/>
                  <a:pt x="75654" y="90984"/>
                  <a:pt x="71512" y="92993"/>
                </a:cubicBezTo>
                <a:lnTo>
                  <a:pt x="71512" y="111125"/>
                </a:lnTo>
                <a:lnTo>
                  <a:pt x="87387" y="111125"/>
                </a:lnTo>
                <a:cubicBezTo>
                  <a:pt x="91777" y="111125"/>
                  <a:pt x="95324" y="114672"/>
                  <a:pt x="95324" y="119063"/>
                </a:cubicBezTo>
                <a:cubicBezTo>
                  <a:pt x="95324" y="123453"/>
                  <a:pt x="91777" y="127000"/>
                  <a:pt x="87387" y="127000"/>
                </a:cubicBezTo>
                <a:lnTo>
                  <a:pt x="39762" y="127000"/>
                </a:lnTo>
                <a:cubicBezTo>
                  <a:pt x="35371" y="127000"/>
                  <a:pt x="31824" y="123453"/>
                  <a:pt x="31824" y="119063"/>
                </a:cubicBezTo>
                <a:cubicBezTo>
                  <a:pt x="31824" y="114672"/>
                  <a:pt x="35371" y="111125"/>
                  <a:pt x="39762" y="111125"/>
                </a:cubicBezTo>
                <a:lnTo>
                  <a:pt x="55637" y="111125"/>
                </a:lnTo>
                <a:lnTo>
                  <a:pt x="55637" y="92993"/>
                </a:lnTo>
                <a:cubicBezTo>
                  <a:pt x="51668" y="91083"/>
                  <a:pt x="46732" y="87536"/>
                  <a:pt x="41920" y="81012"/>
                </a:cubicBezTo>
                <a:cubicBezTo>
                  <a:pt x="37356" y="79821"/>
                  <a:pt x="32395" y="78011"/>
                  <a:pt x="27558" y="75282"/>
                </a:cubicBezTo>
                <a:cubicBezTo>
                  <a:pt x="14139" y="67766"/>
                  <a:pt x="2034" y="53603"/>
                  <a:pt x="298" y="28178"/>
                </a:cubicBezTo>
                <a:cubicBezTo>
                  <a:pt x="-174" y="21208"/>
                  <a:pt x="5507" y="15850"/>
                  <a:pt x="11981" y="15850"/>
                </a:cubicBezTo>
                <a:lnTo>
                  <a:pt x="24284" y="15850"/>
                </a:lnTo>
                <a:cubicBezTo>
                  <a:pt x="24209" y="14560"/>
                  <a:pt x="24160" y="13271"/>
                  <a:pt x="24110" y="11931"/>
                </a:cubicBezTo>
                <a:cubicBezTo>
                  <a:pt x="23862" y="5358"/>
                  <a:pt x="29220" y="-25"/>
                  <a:pt x="35793" y="-25"/>
                </a:cubicBezTo>
                <a:close/>
                <a:moveTo>
                  <a:pt x="25177" y="27781"/>
                </a:moveTo>
                <a:lnTo>
                  <a:pt x="12179" y="27781"/>
                </a:lnTo>
                <a:cubicBezTo>
                  <a:pt x="13717" y="48791"/>
                  <a:pt x="23366" y="59308"/>
                  <a:pt x="33313" y="64889"/>
                </a:cubicBezTo>
                <a:cubicBezTo>
                  <a:pt x="29741" y="55637"/>
                  <a:pt x="26789" y="43557"/>
                  <a:pt x="25177" y="27781"/>
                </a:cubicBezTo>
                <a:close/>
                <a:moveTo>
                  <a:pt x="94258" y="63698"/>
                </a:moveTo>
                <a:cubicBezTo>
                  <a:pt x="104304" y="57795"/>
                  <a:pt x="113382" y="47303"/>
                  <a:pt x="114920" y="27781"/>
                </a:cubicBezTo>
                <a:lnTo>
                  <a:pt x="101947" y="27781"/>
                </a:lnTo>
                <a:cubicBezTo>
                  <a:pt x="100409" y="42887"/>
                  <a:pt x="97631" y="54620"/>
                  <a:pt x="94258" y="63698"/>
                </a:cubicBezTo>
                <a:close/>
              </a:path>
            </a:pathLst>
          </a:custGeom>
          <a:solidFill>
            <a:srgbClr val="8B0000"/>
          </a:solidFill>
          <a:ln/>
        </p:spPr>
        <p:txBody>
          <a:bodyPr/>
          <a:lstStyle/>
          <a:p>
            <a:endParaRPr lang="en-US"/>
          </a:p>
        </p:txBody>
      </p:sp>
      <p:sp>
        <p:nvSpPr>
          <p:cNvPr id="34" name="Text 32"/>
          <p:cNvSpPr/>
          <p:nvPr/>
        </p:nvSpPr>
        <p:spPr>
          <a:xfrm>
            <a:off x="7090966" y="5940428"/>
            <a:ext cx="531813" cy="190500"/>
          </a:xfrm>
          <a:prstGeom prst="rect">
            <a:avLst/>
          </a:prstGeom>
          <a:noFill/>
          <a:ln/>
        </p:spPr>
        <p:txBody>
          <a:bodyPr wrap="square" lIns="0" tIns="0" rIns="0" bIns="0" rtlCol="0" anchor="ctr"/>
          <a:lstStyle/>
          <a:p>
            <a:pPr algn="ctr">
              <a:lnSpc>
                <a:spcPct val="130000"/>
              </a:lnSpc>
            </a:pPr>
            <a:r>
              <a:rPr lang="en-US" sz="1000" dirty="0">
                <a:solidFill>
                  <a:srgbClr val="99A1AF"/>
                </a:solidFill>
                <a:latin typeface="Quattrocento Sans" pitchFamily="34" charset="0"/>
                <a:ea typeface="Quattrocento Sans" pitchFamily="34" charset="-122"/>
                <a:cs typeface="Quattrocento Sans" pitchFamily="34" charset="-120"/>
              </a:rPr>
              <a:t>Succeed</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3488</Words>
  <Application>Microsoft Office PowerPoint</Application>
  <PresentationFormat>Widescreen</PresentationFormat>
  <Paragraphs>546</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Quattrocento Sans</vt:lpstr>
      <vt:lpstr>Arial</vt:lpstr>
      <vt:lpstr>Oranienbaum</vt:lpstr>
      <vt:lpstr>微软雅黑</vt:lpstr>
      <vt:lpstr>Noto Sans SC</vt:lpstr>
      <vt:lpstr>MiSans</vt:lpstr>
      <vt:lpstr>Sorts Mill Goudy</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YOLO Object Detection: A Deep Learning Deep Dive</dc:title>
  <dc:subject>YOLO Object Detection: A Deep Learning Deep Dive</dc:subject>
  <dc:creator>Kimi</dc:creator>
  <cp:lastModifiedBy>Kinza Afzal</cp:lastModifiedBy>
  <cp:revision>3</cp:revision>
  <dcterms:created xsi:type="dcterms:W3CDTF">2026-03-17T18:18:25Z</dcterms:created>
  <dcterms:modified xsi:type="dcterms:W3CDTF">2026-04-18T11:53:48Z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{"Label":"YOLO Object Detection: A Deep Learning Deep Dive","ContentProducer":"001191110108MACG2KBH8F10000","ProduceID":"19cfbdef-3e92-8cac-8000-0000ca0a4927","ReservedCode1":"","ContentPropagator":"001191110108MACG2KBH8F20000","PropagateID":"19cfbdef-3e92-8cac-8000-0000ca0a4927","ReservedCode2":""}</vt:lpwstr>
  </property>
</Properties>
</file>