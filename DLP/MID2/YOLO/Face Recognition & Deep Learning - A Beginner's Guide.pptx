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微软雅黑" panose="020B0503020204020204" pitchFamily="34" charset="-122"/>
      <p:regular r:id="rId21"/>
      <p:bold r:id="rId22"/>
    </p:embeddedFont>
    <p:embeddedFont>
      <p:font typeface="MiSans" panose="020B0604020202020204" charset="-122"/>
      <p:regular r:id="rId23"/>
    </p:embeddedFont>
    <p:embeddedFont>
      <p:font typeface="Liter" panose="020B0604020202020204" charset="0"/>
      <p:regular r:id="rId24"/>
    </p:embeddedFont>
    <p:embeddedFont>
      <p:font typeface="Quattrocento Sans" panose="020B0502050000020003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6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ndfonline.com/c21339c9f54b3310b0c424e4ced989247684d44f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1" r="1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282065"/>
            <a:ext cx="2122170" cy="388620"/>
          </a:xfrm>
          <a:custGeom>
            <a:avLst/>
            <a:gdLst/>
            <a:ahLst/>
            <a:cxnLst/>
            <a:rect l="l" t="t" r="r" b="b"/>
            <a:pathLst>
              <a:path w="2122170" h="388620">
                <a:moveTo>
                  <a:pt x="194310" y="0"/>
                </a:moveTo>
                <a:lnTo>
                  <a:pt x="1927860" y="0"/>
                </a:lnTo>
                <a:cubicBezTo>
                  <a:pt x="2035174" y="0"/>
                  <a:pt x="2122170" y="86996"/>
                  <a:pt x="2122170" y="194310"/>
                </a:cubicBezTo>
                <a:lnTo>
                  <a:pt x="2122170" y="194310"/>
                </a:lnTo>
                <a:cubicBezTo>
                  <a:pt x="2122170" y="301624"/>
                  <a:pt x="2035174" y="388620"/>
                  <a:pt x="19278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1392555"/>
            <a:ext cx="18104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SERIES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79295"/>
            <a:ext cx="55721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Deep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2239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Beginner's Guide to Siamese Networks, One-Shot Learning &amp; Triplet Loss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1225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14350" y="52558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2500" y="5236845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92429" y="51225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01967" y="525589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63930" y="5236845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10764" y="51225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32208" y="525589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82264" y="523684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&amp; Interview Prep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Learn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51610"/>
            <a:ext cx="5589270" cy="1684020"/>
          </a:xfrm>
          <a:custGeom>
            <a:avLst/>
            <a:gdLst/>
            <a:ahLst/>
            <a:cxnLst/>
            <a:rect l="l" t="t" r="r" b="b"/>
            <a:pathLst>
              <a:path w="5589270" h="168402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569726"/>
                </a:lnTo>
                <a:cubicBezTo>
                  <a:pt x="5589270" y="1632849"/>
                  <a:pt x="5538099" y="1684020"/>
                  <a:pt x="54749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7220" y="1684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5215" y="179832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3020" y="168402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 vs Verification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3020" y="202692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fundamental differences between 1:N identification and 1:1 verification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4110" y="1451610"/>
            <a:ext cx="5589270" cy="1684020"/>
          </a:xfrm>
          <a:custGeom>
            <a:avLst/>
            <a:gdLst/>
            <a:ahLst/>
            <a:cxnLst/>
            <a:rect l="l" t="t" r="r" b="b"/>
            <a:pathLst>
              <a:path w="5589270" h="168402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569726"/>
                </a:lnTo>
                <a:cubicBezTo>
                  <a:pt x="5589270" y="1632849"/>
                  <a:pt x="5538099" y="1684020"/>
                  <a:pt x="54749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684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3798" y="17983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68402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One-Shot Learning Problem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026920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traditional deep learning fails with single examples per class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369231"/>
            <a:ext cx="5589270" cy="1436370"/>
          </a:xfrm>
          <a:custGeom>
            <a:avLst/>
            <a:gdLst/>
            <a:ahLst/>
            <a:cxnLst/>
            <a:rect l="l" t="t" r="r" b="b"/>
            <a:pathLst>
              <a:path w="5589270" h="1436370">
                <a:moveTo>
                  <a:pt x="114306" y="0"/>
                </a:moveTo>
                <a:lnTo>
                  <a:pt x="5474964" y="0"/>
                </a:lnTo>
                <a:cubicBezTo>
                  <a:pt x="5538093" y="0"/>
                  <a:pt x="5589270" y="51177"/>
                  <a:pt x="5589270" y="114306"/>
                </a:cubicBezTo>
                <a:lnTo>
                  <a:pt x="5589270" y="1322064"/>
                </a:lnTo>
                <a:cubicBezTo>
                  <a:pt x="5589270" y="1385193"/>
                  <a:pt x="5538093" y="1436370"/>
                  <a:pt x="547496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" y="36016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3545" y="371594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3020" y="360164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Siamese Networks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3020" y="3944541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for learning similarity functions with shared weights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3369231"/>
            <a:ext cx="5589270" cy="1436370"/>
          </a:xfrm>
          <a:custGeom>
            <a:avLst/>
            <a:gdLst/>
            <a:ahLst/>
            <a:cxnLst/>
            <a:rect l="l" t="t" r="r" b="b"/>
            <a:pathLst>
              <a:path w="5589270" h="1436370">
                <a:moveTo>
                  <a:pt x="114306" y="0"/>
                </a:moveTo>
                <a:lnTo>
                  <a:pt x="5474964" y="0"/>
                </a:lnTo>
                <a:cubicBezTo>
                  <a:pt x="5538093" y="0"/>
                  <a:pt x="5589270" y="51177"/>
                  <a:pt x="5589270" y="114306"/>
                </a:cubicBezTo>
                <a:lnTo>
                  <a:pt x="5589270" y="1322064"/>
                </a:lnTo>
                <a:cubicBezTo>
                  <a:pt x="5589270" y="1385193"/>
                  <a:pt x="5538093" y="1436370"/>
                  <a:pt x="547496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6016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72964" y="371594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60164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Encodings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944541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faces to numerical embeddings in vector space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5039320"/>
            <a:ext cx="5589270" cy="1436370"/>
          </a:xfrm>
          <a:custGeom>
            <a:avLst/>
            <a:gdLst/>
            <a:ahLst/>
            <a:cxnLst/>
            <a:rect l="l" t="t" r="r" b="b"/>
            <a:pathLst>
              <a:path w="5589270" h="1436370">
                <a:moveTo>
                  <a:pt x="114306" y="0"/>
                </a:moveTo>
                <a:lnTo>
                  <a:pt x="5474964" y="0"/>
                </a:lnTo>
                <a:cubicBezTo>
                  <a:pt x="5538093" y="0"/>
                  <a:pt x="5589270" y="51177"/>
                  <a:pt x="5589270" y="114306"/>
                </a:cubicBezTo>
                <a:lnTo>
                  <a:pt x="5589270" y="1322064"/>
                </a:lnTo>
                <a:cubicBezTo>
                  <a:pt x="5589270" y="1385193"/>
                  <a:pt x="5538093" y="1436370"/>
                  <a:pt x="547496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" y="5271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5093" y="538603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3020" y="527173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 Loss Function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3020" y="5614631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strategy with anchor, positive, and negative samples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4110" y="5039320"/>
            <a:ext cx="5589270" cy="1436370"/>
          </a:xfrm>
          <a:custGeom>
            <a:avLst/>
            <a:gdLst/>
            <a:ahLst/>
            <a:cxnLst/>
            <a:rect l="l" t="t" r="r" b="b"/>
            <a:pathLst>
              <a:path w="5589270" h="1436370">
                <a:moveTo>
                  <a:pt x="114306" y="0"/>
                </a:moveTo>
                <a:lnTo>
                  <a:pt x="5474964" y="0"/>
                </a:lnTo>
                <a:cubicBezTo>
                  <a:pt x="5538093" y="0"/>
                  <a:pt x="5589270" y="51177"/>
                  <a:pt x="5589270" y="114306"/>
                </a:cubicBezTo>
                <a:lnTo>
                  <a:pt x="5589270" y="1322064"/>
                </a:lnTo>
                <a:cubicBezTo>
                  <a:pt x="5589270" y="1385193"/>
                  <a:pt x="5538093" y="1436370"/>
                  <a:pt x="547496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46520" y="5271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71893" y="5386031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527173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&amp; Interview Questions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614631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Q&amp;A to test and reinforce your understanding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s.norton.com/b0457ccb9d02a66268f58337eef78ce3ccd49f35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30263" b="3026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944053"/>
            <a:ext cx="1398270" cy="426720"/>
          </a:xfrm>
          <a:custGeom>
            <a:avLst/>
            <a:gdLst/>
            <a:ahLst/>
            <a:cxnLst/>
            <a:rect l="l" t="t" r="r" b="b"/>
            <a:pathLst>
              <a:path w="1398270" h="426720">
                <a:moveTo>
                  <a:pt x="213360" y="0"/>
                </a:moveTo>
                <a:lnTo>
                  <a:pt x="1184910" y="0"/>
                </a:lnTo>
                <a:cubicBezTo>
                  <a:pt x="1302745" y="0"/>
                  <a:pt x="1398270" y="95525"/>
                  <a:pt x="1398270" y="213360"/>
                </a:cubicBezTo>
                <a:lnTo>
                  <a:pt x="1398270" y="213360"/>
                </a:lnTo>
                <a:cubicBezTo>
                  <a:pt x="1398270" y="331195"/>
                  <a:pt x="1302745" y="426720"/>
                  <a:pt x="11849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2062163"/>
            <a:ext cx="10935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3183"/>
            <a:ext cx="57626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6283"/>
            <a:ext cx="5534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 vs Face Verification - Key Differences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 vs Face Verification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6694170" cy="2541270"/>
          </a:xfrm>
          <a:custGeom>
            <a:avLst/>
            <a:gdLst/>
            <a:ahLst/>
            <a:cxnLst/>
            <a:rect l="l" t="t" r="r" b="b"/>
            <a:pathLst>
              <a:path w="6694170" h="2541270">
                <a:moveTo>
                  <a:pt x="114306" y="0"/>
                </a:moveTo>
                <a:lnTo>
                  <a:pt x="6579864" y="0"/>
                </a:lnTo>
                <a:cubicBezTo>
                  <a:pt x="6642993" y="0"/>
                  <a:pt x="6694170" y="51177"/>
                  <a:pt x="6694170" y="114306"/>
                </a:cubicBezTo>
                <a:lnTo>
                  <a:pt x="6694170" y="2426964"/>
                </a:lnTo>
                <a:cubicBezTo>
                  <a:pt x="6694170" y="2490093"/>
                  <a:pt x="6642993" y="2541270"/>
                  <a:pt x="657986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91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8658" y="15506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0620" y="1493520"/>
            <a:ext cx="1819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Verification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820"/>
            <a:ext cx="638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"Are you who you claim to be?"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170" y="23888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5820" y="2350770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 Matching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Compares one face against one stored template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170" y="26936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820" y="2655570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Output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Returns YES/NO decision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170" y="29984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" y="296037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Consent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Requires active participation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170" y="33032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820" y="3265170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Phone unlock, banking KYC, secure access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928110"/>
            <a:ext cx="6694170" cy="2541270"/>
          </a:xfrm>
          <a:custGeom>
            <a:avLst/>
            <a:gdLst/>
            <a:ahLst/>
            <a:cxnLst/>
            <a:rect l="l" t="t" r="r" b="b"/>
            <a:pathLst>
              <a:path w="6694170" h="2541270">
                <a:moveTo>
                  <a:pt x="114306" y="0"/>
                </a:moveTo>
                <a:lnTo>
                  <a:pt x="6579864" y="0"/>
                </a:lnTo>
                <a:cubicBezTo>
                  <a:pt x="6642993" y="0"/>
                  <a:pt x="6694170" y="51177"/>
                  <a:pt x="6694170" y="114306"/>
                </a:cubicBezTo>
                <a:lnTo>
                  <a:pt x="6694170" y="2426964"/>
                </a:lnTo>
                <a:cubicBezTo>
                  <a:pt x="6694170" y="2490093"/>
                  <a:pt x="6642993" y="2541270"/>
                  <a:pt x="657986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016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9120" y="4122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8658" y="42557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50620" y="4198620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4693920"/>
            <a:ext cx="638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"Who is this person?"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8170" y="50939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5820" y="505587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 Matching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Searches across entire database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8170" y="53987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5820" y="536067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Output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Returns name/ID from database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170" y="57035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" y="566547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Operation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Can work without user awareness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170" y="60083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5820" y="597027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Surveillance, watchlists, crowd monitoring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42810" y="1223010"/>
            <a:ext cx="4560570" cy="5246370"/>
          </a:xfrm>
          <a:custGeom>
            <a:avLst/>
            <a:gdLst/>
            <a:ahLst/>
            <a:cxnLst/>
            <a:rect l="l" t="t" r="r" b="b"/>
            <a:pathLst>
              <a:path w="4560570" h="5246370">
                <a:moveTo>
                  <a:pt x="114288" y="0"/>
                </a:moveTo>
                <a:lnTo>
                  <a:pt x="4446282" y="0"/>
                </a:lnTo>
                <a:cubicBezTo>
                  <a:pt x="4509402" y="0"/>
                  <a:pt x="4560570" y="51168"/>
                  <a:pt x="4560570" y="114288"/>
                </a:cubicBezTo>
                <a:lnTo>
                  <a:pt x="4560570" y="5132082"/>
                </a:lnTo>
                <a:cubicBezTo>
                  <a:pt x="4560570" y="5195202"/>
                  <a:pt x="4509402" y="5246370"/>
                  <a:pt x="4446282" y="5246370"/>
                </a:cubicBezTo>
                <a:lnTo>
                  <a:pt x="114288" y="5246370"/>
                </a:lnTo>
                <a:cubicBezTo>
                  <a:pt x="51168" y="5246370"/>
                  <a:pt x="0" y="5195202"/>
                  <a:pt x="0" y="5132082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72839" y="145542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75245" y="141732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Summary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37120" y="2145030"/>
            <a:ext cx="4171950" cy="7620"/>
          </a:xfrm>
          <a:custGeom>
            <a:avLst/>
            <a:gdLst/>
            <a:ahLst/>
            <a:cxnLst/>
            <a:rect l="l" t="t" r="r" b="b"/>
            <a:pathLst>
              <a:path w="4171950" h="7620">
                <a:moveTo>
                  <a:pt x="0" y="0"/>
                </a:moveTo>
                <a:lnTo>
                  <a:pt x="4171950" y="0"/>
                </a:lnTo>
                <a:lnTo>
                  <a:pt x="4171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37120" y="18364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Aspect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54440" y="18364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71760" y="18364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37120" y="2533651"/>
            <a:ext cx="4171950" cy="7620"/>
          </a:xfrm>
          <a:custGeom>
            <a:avLst/>
            <a:gdLst/>
            <a:ahLst/>
            <a:cxnLst/>
            <a:rect l="l" t="t" r="r" b="b"/>
            <a:pathLst>
              <a:path w="4171950" h="7620">
                <a:moveTo>
                  <a:pt x="0" y="0"/>
                </a:moveTo>
                <a:lnTo>
                  <a:pt x="4171950" y="0"/>
                </a:lnTo>
                <a:lnTo>
                  <a:pt x="4171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37120" y="226314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Matching Type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54440" y="226314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71760" y="226314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37120" y="2922271"/>
            <a:ext cx="4171950" cy="7620"/>
          </a:xfrm>
          <a:custGeom>
            <a:avLst/>
            <a:gdLst/>
            <a:ahLst/>
            <a:cxnLst/>
            <a:rect l="l" t="t" r="r" b="b"/>
            <a:pathLst>
              <a:path w="4171950" h="7620">
                <a:moveTo>
                  <a:pt x="0" y="0"/>
                </a:moveTo>
                <a:lnTo>
                  <a:pt x="4171950" y="0"/>
                </a:lnTo>
                <a:lnTo>
                  <a:pt x="4171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37120" y="265176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54440" y="265176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Yes/No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71760" y="2651761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37120" y="3310890"/>
            <a:ext cx="4171950" cy="7620"/>
          </a:xfrm>
          <a:custGeom>
            <a:avLst/>
            <a:gdLst/>
            <a:ahLst/>
            <a:cxnLst/>
            <a:rect l="l" t="t" r="r" b="b"/>
            <a:pathLst>
              <a:path w="4171950" h="7620">
                <a:moveTo>
                  <a:pt x="0" y="0"/>
                </a:moveTo>
                <a:lnTo>
                  <a:pt x="4171950" y="0"/>
                </a:lnTo>
                <a:lnTo>
                  <a:pt x="4171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37120" y="304038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54440" y="304038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71760" y="304038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No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37120" y="3699510"/>
            <a:ext cx="4171950" cy="7620"/>
          </a:xfrm>
          <a:custGeom>
            <a:avLst/>
            <a:gdLst/>
            <a:ahLst/>
            <a:cxnLst/>
            <a:rect l="l" t="t" r="r" b="b"/>
            <a:pathLst>
              <a:path w="4171950" h="7620">
                <a:moveTo>
                  <a:pt x="0" y="0"/>
                </a:moveTo>
                <a:lnTo>
                  <a:pt x="4171950" y="0"/>
                </a:lnTo>
                <a:lnTo>
                  <a:pt x="4171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37120" y="34290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54440" y="34290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Risk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271760" y="34290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Risk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37120" y="38176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854440" y="38176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271760" y="381762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40930" y="4240530"/>
            <a:ext cx="4170045" cy="693420"/>
          </a:xfrm>
          <a:custGeom>
            <a:avLst/>
            <a:gdLst/>
            <a:ahLst/>
            <a:cxnLst/>
            <a:rect l="l" t="t" r="r" b="b"/>
            <a:pathLst>
              <a:path w="4170045" h="693420">
                <a:moveTo>
                  <a:pt x="76200" y="0"/>
                </a:moveTo>
                <a:lnTo>
                  <a:pt x="4093845" y="0"/>
                </a:lnTo>
                <a:cubicBezTo>
                  <a:pt x="4135929" y="0"/>
                  <a:pt x="4170045" y="34116"/>
                  <a:pt x="4170045" y="76200"/>
                </a:cubicBezTo>
                <a:lnTo>
                  <a:pt x="4170045" y="617220"/>
                </a:lnTo>
                <a:cubicBezTo>
                  <a:pt x="4170045" y="659304"/>
                  <a:pt x="4135929" y="693420"/>
                  <a:pt x="4093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597140" y="43891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06690" y="4358641"/>
            <a:ext cx="3762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underlying technology, different applications and implications!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354" y="351354"/>
            <a:ext cx="1155956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kern="0" spc="55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354" y="632438"/>
            <a:ext cx="11647401" cy="35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One-Shot Learning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868" y="1127848"/>
            <a:ext cx="7657771" cy="2308399"/>
          </a:xfrm>
          <a:custGeom>
            <a:avLst/>
            <a:gdLst/>
            <a:ahLst/>
            <a:cxnLst/>
            <a:rect l="l" t="t" r="r" b="b"/>
            <a:pathLst>
              <a:path w="7657771" h="2308399">
                <a:moveTo>
                  <a:pt x="105401" y="0"/>
                </a:moveTo>
                <a:lnTo>
                  <a:pt x="7552369" y="0"/>
                </a:lnTo>
                <a:cubicBezTo>
                  <a:pt x="7610581" y="0"/>
                  <a:pt x="7657771" y="47190"/>
                  <a:pt x="7657771" y="105401"/>
                </a:cubicBezTo>
                <a:lnTo>
                  <a:pt x="7657771" y="2202997"/>
                </a:lnTo>
                <a:cubicBezTo>
                  <a:pt x="7657771" y="2261209"/>
                  <a:pt x="7610581" y="2308399"/>
                  <a:pt x="7552369" y="2308399"/>
                </a:cubicBezTo>
                <a:lnTo>
                  <a:pt x="105401" y="2308399"/>
                </a:lnTo>
                <a:cubicBezTo>
                  <a:pt x="47190" y="2308399"/>
                  <a:pt x="0" y="2261209"/>
                  <a:pt x="0" y="2202997"/>
                </a:cubicBezTo>
                <a:lnTo>
                  <a:pt x="0" y="105401"/>
                </a:lnTo>
                <a:cubicBezTo>
                  <a:pt x="0" y="47190"/>
                  <a:pt x="47190" y="0"/>
                  <a:pt x="10540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6018" y="1342174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87839" y="0"/>
                </a:moveTo>
                <a:cubicBezTo>
                  <a:pt x="92882" y="0"/>
                  <a:pt x="97515" y="2779"/>
                  <a:pt x="99916" y="7206"/>
                </a:cubicBezTo>
                <a:lnTo>
                  <a:pt x="174030" y="144453"/>
                </a:lnTo>
                <a:cubicBezTo>
                  <a:pt x="176329" y="148708"/>
                  <a:pt x="176226" y="153855"/>
                  <a:pt x="173756" y="158007"/>
                </a:cubicBezTo>
                <a:cubicBezTo>
                  <a:pt x="171285" y="162158"/>
                  <a:pt x="166790" y="164697"/>
                  <a:pt x="161952" y="164697"/>
                </a:cubicBezTo>
                <a:lnTo>
                  <a:pt x="13725" y="164697"/>
                </a:lnTo>
                <a:cubicBezTo>
                  <a:pt x="8887" y="164697"/>
                  <a:pt x="4426" y="162158"/>
                  <a:pt x="1921" y="158007"/>
                </a:cubicBezTo>
                <a:cubicBezTo>
                  <a:pt x="-583" y="153855"/>
                  <a:pt x="-652" y="148708"/>
                  <a:pt x="1647" y="144453"/>
                </a:cubicBezTo>
                <a:lnTo>
                  <a:pt x="75761" y="7206"/>
                </a:lnTo>
                <a:cubicBezTo>
                  <a:pt x="78163" y="2779"/>
                  <a:pt x="82795" y="0"/>
                  <a:pt x="87839" y="0"/>
                </a:cubicBezTo>
                <a:close/>
                <a:moveTo>
                  <a:pt x="87839" y="57644"/>
                </a:moveTo>
                <a:cubicBezTo>
                  <a:pt x="83275" y="57644"/>
                  <a:pt x="79604" y="61315"/>
                  <a:pt x="79604" y="65879"/>
                </a:cubicBezTo>
                <a:lnTo>
                  <a:pt x="79604" y="104308"/>
                </a:lnTo>
                <a:cubicBezTo>
                  <a:pt x="79604" y="108872"/>
                  <a:pt x="83275" y="112543"/>
                  <a:pt x="87839" y="112543"/>
                </a:cubicBezTo>
                <a:cubicBezTo>
                  <a:pt x="92402" y="112543"/>
                  <a:pt x="96073" y="108872"/>
                  <a:pt x="96073" y="104308"/>
                </a:cubicBezTo>
                <a:lnTo>
                  <a:pt x="96073" y="65879"/>
                </a:lnTo>
                <a:cubicBezTo>
                  <a:pt x="96073" y="61315"/>
                  <a:pt x="92402" y="57644"/>
                  <a:pt x="87839" y="57644"/>
                </a:cubicBezTo>
                <a:close/>
                <a:moveTo>
                  <a:pt x="97000" y="131758"/>
                </a:moveTo>
                <a:cubicBezTo>
                  <a:pt x="97208" y="128357"/>
                  <a:pt x="95512" y="125122"/>
                  <a:pt x="92597" y="123359"/>
                </a:cubicBezTo>
                <a:cubicBezTo>
                  <a:pt x="89682" y="121595"/>
                  <a:pt x="86029" y="121595"/>
                  <a:pt x="83114" y="123359"/>
                </a:cubicBezTo>
                <a:cubicBezTo>
                  <a:pt x="80199" y="125122"/>
                  <a:pt x="78503" y="128357"/>
                  <a:pt x="78712" y="131758"/>
                </a:cubicBezTo>
                <a:cubicBezTo>
                  <a:pt x="78503" y="135158"/>
                  <a:pt x="80199" y="138394"/>
                  <a:pt x="83114" y="140157"/>
                </a:cubicBezTo>
                <a:cubicBezTo>
                  <a:pt x="86029" y="141920"/>
                  <a:pt x="89682" y="141920"/>
                  <a:pt x="92597" y="140157"/>
                </a:cubicBezTo>
                <a:cubicBezTo>
                  <a:pt x="95512" y="138394"/>
                  <a:pt x="97208" y="135158"/>
                  <a:pt x="97000" y="13175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3655" y="1307039"/>
            <a:ext cx="7167631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One-Shot Learning?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059" y="1658394"/>
            <a:ext cx="7369660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One-shot learning refers to the phenomenon where we have </a:t>
            </a:r>
            <a:r>
              <a:rPr lang="en-US" sz="110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a single image</a:t>
            </a: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learn or recognize a person. This is common in real-world scenarios: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4059" y="2238128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3114" y="2308399"/>
            <a:ext cx="122974" cy="140542"/>
          </a:xfrm>
          <a:custGeom>
            <a:avLst/>
            <a:gdLst/>
            <a:ahLst/>
            <a:cxnLst/>
            <a:rect l="l" t="t" r="r" b="b"/>
            <a:pathLst>
              <a:path w="122974" h="140542">
                <a:moveTo>
                  <a:pt x="17568" y="8784"/>
                </a:moveTo>
                <a:cubicBezTo>
                  <a:pt x="7878" y="8784"/>
                  <a:pt x="0" y="16662"/>
                  <a:pt x="0" y="26352"/>
                </a:cubicBezTo>
                <a:lnTo>
                  <a:pt x="0" y="114190"/>
                </a:lnTo>
                <a:cubicBezTo>
                  <a:pt x="0" y="123880"/>
                  <a:pt x="7878" y="131758"/>
                  <a:pt x="17568" y="131758"/>
                </a:cubicBezTo>
                <a:lnTo>
                  <a:pt x="105406" y="131758"/>
                </a:lnTo>
                <a:cubicBezTo>
                  <a:pt x="115096" y="131758"/>
                  <a:pt x="122974" y="123880"/>
                  <a:pt x="122974" y="114190"/>
                </a:cubicBezTo>
                <a:lnTo>
                  <a:pt x="122974" y="26352"/>
                </a:lnTo>
                <a:cubicBezTo>
                  <a:pt x="122974" y="16662"/>
                  <a:pt x="115096" y="8784"/>
                  <a:pt x="105406" y="8784"/>
                </a:cubicBezTo>
                <a:lnTo>
                  <a:pt x="17568" y="8784"/>
                </a:lnTo>
                <a:close/>
                <a:moveTo>
                  <a:pt x="35135" y="30744"/>
                </a:moveTo>
                <a:cubicBezTo>
                  <a:pt x="42407" y="30744"/>
                  <a:pt x="48311" y="36647"/>
                  <a:pt x="48311" y="43919"/>
                </a:cubicBezTo>
                <a:cubicBezTo>
                  <a:pt x="48311" y="51191"/>
                  <a:pt x="42407" y="57095"/>
                  <a:pt x="35135" y="57095"/>
                </a:cubicBezTo>
                <a:cubicBezTo>
                  <a:pt x="27864" y="57095"/>
                  <a:pt x="21960" y="51191"/>
                  <a:pt x="21960" y="43919"/>
                </a:cubicBezTo>
                <a:cubicBezTo>
                  <a:pt x="21960" y="36647"/>
                  <a:pt x="27864" y="30744"/>
                  <a:pt x="35135" y="30744"/>
                </a:cubicBezTo>
                <a:close/>
                <a:moveTo>
                  <a:pt x="74663" y="61487"/>
                </a:moveTo>
                <a:cubicBezTo>
                  <a:pt x="76969" y="61487"/>
                  <a:pt x="79082" y="62695"/>
                  <a:pt x="80290" y="64644"/>
                </a:cubicBezTo>
                <a:lnTo>
                  <a:pt x="104446" y="104171"/>
                </a:lnTo>
                <a:cubicBezTo>
                  <a:pt x="105681" y="106202"/>
                  <a:pt x="105736" y="108755"/>
                  <a:pt x="104583" y="110841"/>
                </a:cubicBezTo>
                <a:cubicBezTo>
                  <a:pt x="103430" y="112928"/>
                  <a:pt x="101207" y="114190"/>
                  <a:pt x="98818" y="114190"/>
                </a:cubicBezTo>
                <a:lnTo>
                  <a:pt x="24156" y="114190"/>
                </a:lnTo>
                <a:cubicBezTo>
                  <a:pt x="21713" y="114190"/>
                  <a:pt x="19434" y="112818"/>
                  <a:pt x="18309" y="110649"/>
                </a:cubicBezTo>
                <a:cubicBezTo>
                  <a:pt x="17183" y="108481"/>
                  <a:pt x="17348" y="105846"/>
                  <a:pt x="18748" y="103842"/>
                </a:cubicBezTo>
                <a:lnTo>
                  <a:pt x="34120" y="81882"/>
                </a:lnTo>
                <a:cubicBezTo>
                  <a:pt x="35355" y="80125"/>
                  <a:pt x="37359" y="79082"/>
                  <a:pt x="39527" y="79082"/>
                </a:cubicBezTo>
                <a:cubicBezTo>
                  <a:pt x="41696" y="79082"/>
                  <a:pt x="43700" y="80125"/>
                  <a:pt x="44935" y="81882"/>
                </a:cubicBezTo>
                <a:lnTo>
                  <a:pt x="52182" y="92258"/>
                </a:lnTo>
                <a:lnTo>
                  <a:pt x="69036" y="64671"/>
                </a:lnTo>
                <a:cubicBezTo>
                  <a:pt x="70243" y="62722"/>
                  <a:pt x="72357" y="61514"/>
                  <a:pt x="74663" y="61514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0549" y="2220561"/>
            <a:ext cx="291624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database with one photo per person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059" y="2607051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897" y="2677321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0" y="17568"/>
                </a:moveTo>
                <a:cubicBezTo>
                  <a:pt x="0" y="7878"/>
                  <a:pt x="7878" y="0"/>
                  <a:pt x="17568" y="0"/>
                </a:cubicBezTo>
                <a:lnTo>
                  <a:pt x="87839" y="0"/>
                </a:lnTo>
                <a:cubicBezTo>
                  <a:pt x="97528" y="0"/>
                  <a:pt x="105406" y="7878"/>
                  <a:pt x="105406" y="17568"/>
                </a:cubicBezTo>
                <a:lnTo>
                  <a:pt x="105406" y="122974"/>
                </a:lnTo>
                <a:cubicBezTo>
                  <a:pt x="105406" y="132664"/>
                  <a:pt x="97528" y="140542"/>
                  <a:pt x="87839" y="140542"/>
                </a:cubicBezTo>
                <a:lnTo>
                  <a:pt x="17568" y="140542"/>
                </a:lnTo>
                <a:cubicBezTo>
                  <a:pt x="7878" y="140542"/>
                  <a:pt x="0" y="132664"/>
                  <a:pt x="0" y="122974"/>
                </a:cubicBezTo>
                <a:lnTo>
                  <a:pt x="0" y="17568"/>
                </a:lnTo>
                <a:close/>
                <a:moveTo>
                  <a:pt x="26352" y="111994"/>
                </a:moveTo>
                <a:cubicBezTo>
                  <a:pt x="26352" y="115645"/>
                  <a:pt x="29289" y="118582"/>
                  <a:pt x="32939" y="118582"/>
                </a:cubicBezTo>
                <a:lnTo>
                  <a:pt x="72467" y="118582"/>
                </a:lnTo>
                <a:cubicBezTo>
                  <a:pt x="76118" y="118582"/>
                  <a:pt x="79055" y="115645"/>
                  <a:pt x="79055" y="111994"/>
                </a:cubicBezTo>
                <a:cubicBezTo>
                  <a:pt x="79055" y="108343"/>
                  <a:pt x="76118" y="105406"/>
                  <a:pt x="72467" y="105406"/>
                </a:cubicBezTo>
                <a:lnTo>
                  <a:pt x="32939" y="105406"/>
                </a:lnTo>
                <a:cubicBezTo>
                  <a:pt x="29289" y="105406"/>
                  <a:pt x="26352" y="108343"/>
                  <a:pt x="26352" y="111994"/>
                </a:cubicBezTo>
                <a:close/>
                <a:moveTo>
                  <a:pt x="76474" y="57095"/>
                </a:moveTo>
                <a:cubicBezTo>
                  <a:pt x="75157" y="64342"/>
                  <a:pt x="70573" y="70463"/>
                  <a:pt x="64342" y="73894"/>
                </a:cubicBezTo>
                <a:cubicBezTo>
                  <a:pt x="66181" y="69228"/>
                  <a:pt x="67416" y="63463"/>
                  <a:pt x="67800" y="57095"/>
                </a:cubicBezTo>
                <a:lnTo>
                  <a:pt x="76474" y="57095"/>
                </a:lnTo>
                <a:close/>
                <a:moveTo>
                  <a:pt x="28959" y="57095"/>
                </a:moveTo>
                <a:lnTo>
                  <a:pt x="37633" y="57095"/>
                </a:lnTo>
                <a:cubicBezTo>
                  <a:pt x="38018" y="63436"/>
                  <a:pt x="39280" y="69228"/>
                  <a:pt x="41092" y="73894"/>
                </a:cubicBezTo>
                <a:cubicBezTo>
                  <a:pt x="34861" y="70463"/>
                  <a:pt x="30277" y="64342"/>
                  <a:pt x="28959" y="57095"/>
                </a:cubicBezTo>
                <a:close/>
                <a:moveTo>
                  <a:pt x="49931" y="72192"/>
                </a:moveTo>
                <a:cubicBezTo>
                  <a:pt x="48229" y="68514"/>
                  <a:pt x="46884" y="63271"/>
                  <a:pt x="46445" y="57095"/>
                </a:cubicBezTo>
                <a:lnTo>
                  <a:pt x="59017" y="57095"/>
                </a:lnTo>
                <a:cubicBezTo>
                  <a:pt x="58577" y="63271"/>
                  <a:pt x="57232" y="68514"/>
                  <a:pt x="55530" y="72192"/>
                </a:cubicBezTo>
                <a:cubicBezTo>
                  <a:pt x="54295" y="74828"/>
                  <a:pt x="53280" y="75980"/>
                  <a:pt x="52731" y="76447"/>
                </a:cubicBezTo>
                <a:cubicBezTo>
                  <a:pt x="52182" y="75980"/>
                  <a:pt x="51166" y="74855"/>
                  <a:pt x="49931" y="72192"/>
                </a:cubicBezTo>
                <a:close/>
                <a:moveTo>
                  <a:pt x="49931" y="33214"/>
                </a:moveTo>
                <a:cubicBezTo>
                  <a:pt x="51166" y="30579"/>
                  <a:pt x="52182" y="29426"/>
                  <a:pt x="52731" y="28959"/>
                </a:cubicBezTo>
                <a:cubicBezTo>
                  <a:pt x="53280" y="29426"/>
                  <a:pt x="54295" y="30551"/>
                  <a:pt x="55530" y="33214"/>
                </a:cubicBezTo>
                <a:cubicBezTo>
                  <a:pt x="57232" y="36892"/>
                  <a:pt x="58577" y="42135"/>
                  <a:pt x="59017" y="48311"/>
                </a:cubicBezTo>
                <a:lnTo>
                  <a:pt x="46445" y="48311"/>
                </a:lnTo>
                <a:cubicBezTo>
                  <a:pt x="46884" y="42135"/>
                  <a:pt x="48229" y="36892"/>
                  <a:pt x="49931" y="33214"/>
                </a:cubicBezTo>
                <a:close/>
                <a:moveTo>
                  <a:pt x="76474" y="48311"/>
                </a:moveTo>
                <a:lnTo>
                  <a:pt x="67800" y="48311"/>
                </a:lnTo>
                <a:cubicBezTo>
                  <a:pt x="67416" y="41970"/>
                  <a:pt x="66153" y="36179"/>
                  <a:pt x="64342" y="31512"/>
                </a:cubicBezTo>
                <a:cubicBezTo>
                  <a:pt x="70573" y="34943"/>
                  <a:pt x="75157" y="41065"/>
                  <a:pt x="76474" y="48311"/>
                </a:cubicBezTo>
                <a:close/>
                <a:moveTo>
                  <a:pt x="37606" y="48311"/>
                </a:moveTo>
                <a:lnTo>
                  <a:pt x="28932" y="48311"/>
                </a:lnTo>
                <a:cubicBezTo>
                  <a:pt x="30249" y="41065"/>
                  <a:pt x="34834" y="34943"/>
                  <a:pt x="41065" y="31512"/>
                </a:cubicBezTo>
                <a:cubicBezTo>
                  <a:pt x="39225" y="36179"/>
                  <a:pt x="37990" y="41943"/>
                  <a:pt x="37606" y="48311"/>
                </a:cubicBezTo>
                <a:close/>
                <a:moveTo>
                  <a:pt x="87839" y="52703"/>
                </a:moveTo>
                <a:cubicBezTo>
                  <a:pt x="87839" y="33311"/>
                  <a:pt x="72095" y="17568"/>
                  <a:pt x="52703" y="17568"/>
                </a:cubicBezTo>
                <a:cubicBezTo>
                  <a:pt x="33311" y="17568"/>
                  <a:pt x="17568" y="33311"/>
                  <a:pt x="17568" y="52703"/>
                </a:cubicBezTo>
                <a:cubicBezTo>
                  <a:pt x="17568" y="72095"/>
                  <a:pt x="33311" y="87839"/>
                  <a:pt x="52703" y="87839"/>
                </a:cubicBezTo>
                <a:cubicBezTo>
                  <a:pt x="72095" y="87839"/>
                  <a:pt x="87839" y="72095"/>
                  <a:pt x="87839" y="52703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549" y="2589483"/>
            <a:ext cx="254732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 verification systems (passport photos)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059" y="2975973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114" y="3046244"/>
            <a:ext cx="122974" cy="140542"/>
          </a:xfrm>
          <a:custGeom>
            <a:avLst/>
            <a:gdLst/>
            <a:ahLst/>
            <a:cxnLst/>
            <a:rect l="l" t="t" r="r" b="b"/>
            <a:pathLst>
              <a:path w="122974" h="140542">
                <a:moveTo>
                  <a:pt x="66236" y="-3568"/>
                </a:moveTo>
                <a:cubicBezTo>
                  <a:pt x="63107" y="-4200"/>
                  <a:pt x="59895" y="-4200"/>
                  <a:pt x="56766" y="-3568"/>
                </a:cubicBezTo>
                <a:lnTo>
                  <a:pt x="5298" y="6725"/>
                </a:lnTo>
                <a:cubicBezTo>
                  <a:pt x="2223" y="7329"/>
                  <a:pt x="0" y="10047"/>
                  <a:pt x="0" y="13176"/>
                </a:cubicBezTo>
                <a:cubicBezTo>
                  <a:pt x="0" y="16003"/>
                  <a:pt x="1784" y="18474"/>
                  <a:pt x="4392" y="19379"/>
                </a:cubicBezTo>
                <a:lnTo>
                  <a:pt x="4392" y="39527"/>
                </a:lnTo>
                <a:lnTo>
                  <a:pt x="82" y="61103"/>
                </a:lnTo>
                <a:cubicBezTo>
                  <a:pt x="27" y="61350"/>
                  <a:pt x="0" y="61624"/>
                  <a:pt x="0" y="61899"/>
                </a:cubicBezTo>
                <a:cubicBezTo>
                  <a:pt x="0" y="64095"/>
                  <a:pt x="1784" y="65906"/>
                  <a:pt x="4008" y="65906"/>
                </a:cubicBezTo>
                <a:lnTo>
                  <a:pt x="13588" y="65906"/>
                </a:lnTo>
                <a:cubicBezTo>
                  <a:pt x="15784" y="65906"/>
                  <a:pt x="17595" y="64122"/>
                  <a:pt x="17595" y="61899"/>
                </a:cubicBezTo>
                <a:cubicBezTo>
                  <a:pt x="17595" y="61624"/>
                  <a:pt x="17568" y="61377"/>
                  <a:pt x="17513" y="61103"/>
                </a:cubicBezTo>
                <a:lnTo>
                  <a:pt x="13176" y="39527"/>
                </a:lnTo>
                <a:lnTo>
                  <a:pt x="13176" y="21219"/>
                </a:lnTo>
                <a:lnTo>
                  <a:pt x="26352" y="23854"/>
                </a:lnTo>
                <a:lnTo>
                  <a:pt x="26352" y="39527"/>
                </a:lnTo>
                <a:cubicBezTo>
                  <a:pt x="26352" y="58934"/>
                  <a:pt x="42080" y="74663"/>
                  <a:pt x="61487" y="74663"/>
                </a:cubicBezTo>
                <a:cubicBezTo>
                  <a:pt x="80894" y="74663"/>
                  <a:pt x="96622" y="58934"/>
                  <a:pt x="96622" y="39527"/>
                </a:cubicBezTo>
                <a:lnTo>
                  <a:pt x="96622" y="23854"/>
                </a:lnTo>
                <a:lnTo>
                  <a:pt x="117676" y="19654"/>
                </a:lnTo>
                <a:cubicBezTo>
                  <a:pt x="120751" y="19023"/>
                  <a:pt x="122974" y="16305"/>
                  <a:pt x="122974" y="13176"/>
                </a:cubicBezTo>
                <a:cubicBezTo>
                  <a:pt x="122974" y="10047"/>
                  <a:pt x="120751" y="7329"/>
                  <a:pt x="117676" y="6725"/>
                </a:cubicBezTo>
                <a:lnTo>
                  <a:pt x="66236" y="-3568"/>
                </a:lnTo>
                <a:close/>
                <a:moveTo>
                  <a:pt x="61487" y="61487"/>
                </a:moveTo>
                <a:cubicBezTo>
                  <a:pt x="49354" y="61487"/>
                  <a:pt x="39527" y="51660"/>
                  <a:pt x="39527" y="39527"/>
                </a:cubicBezTo>
                <a:lnTo>
                  <a:pt x="83447" y="39527"/>
                </a:lnTo>
                <a:cubicBezTo>
                  <a:pt x="83447" y="51660"/>
                  <a:pt x="73620" y="61487"/>
                  <a:pt x="61487" y="61487"/>
                </a:cubicBezTo>
                <a:close/>
                <a:moveTo>
                  <a:pt x="32967" y="87866"/>
                </a:moveTo>
                <a:cubicBezTo>
                  <a:pt x="16113" y="95607"/>
                  <a:pt x="4392" y="112626"/>
                  <a:pt x="4392" y="132389"/>
                </a:cubicBezTo>
                <a:cubicBezTo>
                  <a:pt x="4392" y="136891"/>
                  <a:pt x="8043" y="140542"/>
                  <a:pt x="12544" y="140542"/>
                </a:cubicBezTo>
                <a:lnTo>
                  <a:pt x="54899" y="140542"/>
                </a:lnTo>
                <a:lnTo>
                  <a:pt x="54899" y="100465"/>
                </a:lnTo>
                <a:lnTo>
                  <a:pt x="39143" y="88662"/>
                </a:lnTo>
                <a:cubicBezTo>
                  <a:pt x="37359" y="87317"/>
                  <a:pt x="34971" y="86960"/>
                  <a:pt x="32939" y="87894"/>
                </a:cubicBezTo>
                <a:close/>
                <a:moveTo>
                  <a:pt x="68075" y="140542"/>
                </a:moveTo>
                <a:lnTo>
                  <a:pt x="110430" y="140542"/>
                </a:lnTo>
                <a:cubicBezTo>
                  <a:pt x="114931" y="140542"/>
                  <a:pt x="118582" y="136891"/>
                  <a:pt x="118582" y="132389"/>
                </a:cubicBezTo>
                <a:cubicBezTo>
                  <a:pt x="118582" y="112626"/>
                  <a:pt x="106861" y="95607"/>
                  <a:pt x="90007" y="87894"/>
                </a:cubicBezTo>
                <a:cubicBezTo>
                  <a:pt x="87976" y="86960"/>
                  <a:pt x="85588" y="87317"/>
                  <a:pt x="83804" y="88662"/>
                </a:cubicBezTo>
                <a:lnTo>
                  <a:pt x="68047" y="100465"/>
                </a:lnTo>
                <a:lnTo>
                  <a:pt x="68047" y="14054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0549" y="2958405"/>
            <a:ext cx="287232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attendance with single enrollment photo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4868" y="3583816"/>
            <a:ext cx="7657771" cy="2923269"/>
          </a:xfrm>
          <a:custGeom>
            <a:avLst/>
            <a:gdLst/>
            <a:ahLst/>
            <a:cxnLst/>
            <a:rect l="l" t="t" r="r" b="b"/>
            <a:pathLst>
              <a:path w="7657771" h="2923269">
                <a:moveTo>
                  <a:pt x="105413" y="0"/>
                </a:moveTo>
                <a:lnTo>
                  <a:pt x="7552358" y="0"/>
                </a:lnTo>
                <a:cubicBezTo>
                  <a:pt x="7610576" y="0"/>
                  <a:pt x="7657771" y="47195"/>
                  <a:pt x="7657771" y="105413"/>
                </a:cubicBezTo>
                <a:lnTo>
                  <a:pt x="7657771" y="2817856"/>
                </a:lnTo>
                <a:cubicBezTo>
                  <a:pt x="7657771" y="2876074"/>
                  <a:pt x="7610576" y="2923269"/>
                  <a:pt x="7552358" y="2923269"/>
                </a:cubicBezTo>
                <a:lnTo>
                  <a:pt x="105413" y="2923269"/>
                </a:lnTo>
                <a:cubicBezTo>
                  <a:pt x="47195" y="2923269"/>
                  <a:pt x="0" y="2876074"/>
                  <a:pt x="0" y="2817856"/>
                </a:cubicBezTo>
                <a:lnTo>
                  <a:pt x="0" y="105413"/>
                </a:lnTo>
                <a:cubicBezTo>
                  <a:pt x="0" y="47234"/>
                  <a:pt x="47234" y="0"/>
                  <a:pt x="105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016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6018" y="3798143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87839" y="175677"/>
                </a:moveTo>
                <a:cubicBezTo>
                  <a:pt x="136318" y="175677"/>
                  <a:pt x="175677" y="136318"/>
                  <a:pt x="175677" y="87839"/>
                </a:cubicBezTo>
                <a:cubicBezTo>
                  <a:pt x="175677" y="39359"/>
                  <a:pt x="136318" y="0"/>
                  <a:pt x="87839" y="0"/>
                </a:cubicBezTo>
                <a:cubicBezTo>
                  <a:pt x="39359" y="0"/>
                  <a:pt x="0" y="39359"/>
                  <a:pt x="0" y="87839"/>
                </a:cubicBezTo>
                <a:cubicBezTo>
                  <a:pt x="0" y="136318"/>
                  <a:pt x="39359" y="175677"/>
                  <a:pt x="87839" y="175677"/>
                </a:cubicBezTo>
                <a:close/>
                <a:moveTo>
                  <a:pt x="57301" y="57301"/>
                </a:moveTo>
                <a:cubicBezTo>
                  <a:pt x="60526" y="54076"/>
                  <a:pt x="65742" y="54076"/>
                  <a:pt x="68933" y="57301"/>
                </a:cubicBezTo>
                <a:lnTo>
                  <a:pt x="87804" y="76173"/>
                </a:lnTo>
                <a:lnTo>
                  <a:pt x="106676" y="57301"/>
                </a:lnTo>
                <a:cubicBezTo>
                  <a:pt x="109901" y="54076"/>
                  <a:pt x="115117" y="54076"/>
                  <a:pt x="118308" y="57301"/>
                </a:cubicBezTo>
                <a:cubicBezTo>
                  <a:pt x="121499" y="60526"/>
                  <a:pt x="121533" y="65742"/>
                  <a:pt x="118308" y="68933"/>
                </a:cubicBezTo>
                <a:lnTo>
                  <a:pt x="99436" y="87804"/>
                </a:lnTo>
                <a:lnTo>
                  <a:pt x="118308" y="106676"/>
                </a:lnTo>
                <a:cubicBezTo>
                  <a:pt x="121533" y="109901"/>
                  <a:pt x="121533" y="115117"/>
                  <a:pt x="118308" y="118308"/>
                </a:cubicBezTo>
                <a:cubicBezTo>
                  <a:pt x="115082" y="121499"/>
                  <a:pt x="109867" y="121533"/>
                  <a:pt x="106676" y="118308"/>
                </a:cubicBezTo>
                <a:lnTo>
                  <a:pt x="87804" y="99436"/>
                </a:lnTo>
                <a:lnTo>
                  <a:pt x="68933" y="118308"/>
                </a:lnTo>
                <a:cubicBezTo>
                  <a:pt x="65707" y="121533"/>
                  <a:pt x="60492" y="121533"/>
                  <a:pt x="57301" y="118308"/>
                </a:cubicBezTo>
                <a:cubicBezTo>
                  <a:pt x="54110" y="115082"/>
                  <a:pt x="54076" y="109867"/>
                  <a:pt x="57301" y="106676"/>
                </a:cubicBezTo>
                <a:lnTo>
                  <a:pt x="76173" y="87804"/>
                </a:lnTo>
                <a:lnTo>
                  <a:pt x="57301" y="68933"/>
                </a:lnTo>
                <a:cubicBezTo>
                  <a:pt x="54076" y="65707"/>
                  <a:pt x="54076" y="60492"/>
                  <a:pt x="57301" y="5730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3655" y="3763008"/>
            <a:ext cx="7167631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Traditional Approaches Fail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4059" y="4114362"/>
            <a:ext cx="7299389" cy="667573"/>
          </a:xfrm>
          <a:custGeom>
            <a:avLst/>
            <a:gdLst/>
            <a:ahLst/>
            <a:cxnLst/>
            <a:rect l="l" t="t" r="r" b="b"/>
            <a:pathLst>
              <a:path w="7299389" h="667573">
                <a:moveTo>
                  <a:pt x="70269" y="0"/>
                </a:moveTo>
                <a:lnTo>
                  <a:pt x="7229120" y="0"/>
                </a:lnTo>
                <a:cubicBezTo>
                  <a:pt x="7267929" y="0"/>
                  <a:pt x="7299389" y="31460"/>
                  <a:pt x="7299389" y="70269"/>
                </a:cubicBezTo>
                <a:lnTo>
                  <a:pt x="7299389" y="597305"/>
                </a:lnTo>
                <a:cubicBezTo>
                  <a:pt x="7299389" y="636113"/>
                  <a:pt x="7267929" y="667573"/>
                  <a:pt x="7229120" y="667573"/>
                </a:cubicBezTo>
                <a:lnTo>
                  <a:pt x="70269" y="667573"/>
                </a:lnTo>
                <a:cubicBezTo>
                  <a:pt x="31460" y="667573"/>
                  <a:pt x="0" y="636113"/>
                  <a:pt x="0" y="597305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9465" y="4219768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1: Softmax Instability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465" y="4465717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many people, softmax outputs become unstable. Adding new people requires retraining the entire network!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4059" y="4852206"/>
            <a:ext cx="7299389" cy="667573"/>
          </a:xfrm>
          <a:custGeom>
            <a:avLst/>
            <a:gdLst/>
            <a:ahLst/>
            <a:cxnLst/>
            <a:rect l="l" t="t" r="r" b="b"/>
            <a:pathLst>
              <a:path w="7299389" h="667573">
                <a:moveTo>
                  <a:pt x="70269" y="0"/>
                </a:moveTo>
                <a:lnTo>
                  <a:pt x="7229120" y="0"/>
                </a:lnTo>
                <a:cubicBezTo>
                  <a:pt x="7267929" y="0"/>
                  <a:pt x="7299389" y="31460"/>
                  <a:pt x="7299389" y="70269"/>
                </a:cubicBezTo>
                <a:lnTo>
                  <a:pt x="7299389" y="597305"/>
                </a:lnTo>
                <a:cubicBezTo>
                  <a:pt x="7299389" y="636113"/>
                  <a:pt x="7267929" y="667573"/>
                  <a:pt x="7229120" y="667573"/>
                </a:cubicBezTo>
                <a:lnTo>
                  <a:pt x="70269" y="667573"/>
                </a:lnTo>
                <a:cubicBezTo>
                  <a:pt x="31460" y="667573"/>
                  <a:pt x="0" y="636113"/>
                  <a:pt x="0" y="597305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9465" y="4957613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2: Insufficient Data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465" y="5203561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typically needs hundreds of examples per class. One image is not enough to learn robust features.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4059" y="5590051"/>
            <a:ext cx="7299389" cy="667573"/>
          </a:xfrm>
          <a:custGeom>
            <a:avLst/>
            <a:gdLst/>
            <a:ahLst/>
            <a:cxnLst/>
            <a:rect l="l" t="t" r="r" b="b"/>
            <a:pathLst>
              <a:path w="7299389" h="667573">
                <a:moveTo>
                  <a:pt x="70269" y="0"/>
                </a:moveTo>
                <a:lnTo>
                  <a:pt x="7229120" y="0"/>
                </a:lnTo>
                <a:cubicBezTo>
                  <a:pt x="7267929" y="0"/>
                  <a:pt x="7299389" y="31460"/>
                  <a:pt x="7299389" y="70269"/>
                </a:cubicBezTo>
                <a:lnTo>
                  <a:pt x="7299389" y="597305"/>
                </a:lnTo>
                <a:cubicBezTo>
                  <a:pt x="7299389" y="636113"/>
                  <a:pt x="7267929" y="667573"/>
                  <a:pt x="7229120" y="667573"/>
                </a:cubicBezTo>
                <a:lnTo>
                  <a:pt x="70269" y="667573"/>
                </a:lnTo>
                <a:cubicBezTo>
                  <a:pt x="31460" y="667573"/>
                  <a:pt x="0" y="636113"/>
                  <a:pt x="0" y="597305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9465" y="5695457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3: Scalability Issues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9465" y="5941405"/>
            <a:ext cx="715884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database grows, classification becomes harder. Output layer size changes with each new person.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58780" y="1127848"/>
            <a:ext cx="3678681" cy="2325967"/>
          </a:xfrm>
          <a:custGeom>
            <a:avLst/>
            <a:gdLst/>
            <a:ahLst/>
            <a:cxnLst/>
            <a:rect l="l" t="t" r="r" b="b"/>
            <a:pathLst>
              <a:path w="3678681" h="2325967">
                <a:moveTo>
                  <a:pt x="105413" y="0"/>
                </a:moveTo>
                <a:lnTo>
                  <a:pt x="3573268" y="0"/>
                </a:lnTo>
                <a:cubicBezTo>
                  <a:pt x="3631486" y="0"/>
                  <a:pt x="3678681" y="47195"/>
                  <a:pt x="3678681" y="105413"/>
                </a:cubicBezTo>
                <a:lnTo>
                  <a:pt x="3678681" y="2220554"/>
                </a:lnTo>
                <a:cubicBezTo>
                  <a:pt x="3678681" y="2278772"/>
                  <a:pt x="3631486" y="2325967"/>
                  <a:pt x="3573268" y="2325967"/>
                </a:cubicBezTo>
                <a:lnTo>
                  <a:pt x="105413" y="2325967"/>
                </a:lnTo>
                <a:cubicBezTo>
                  <a:pt x="47195" y="2325967"/>
                  <a:pt x="0" y="2278772"/>
                  <a:pt x="0" y="2220554"/>
                </a:cubicBezTo>
                <a:lnTo>
                  <a:pt x="0" y="105413"/>
                </a:lnTo>
                <a:cubicBezTo>
                  <a:pt x="0" y="47234"/>
                  <a:pt x="47234" y="0"/>
                  <a:pt x="105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1890" y="1342174"/>
            <a:ext cx="131758" cy="175677"/>
          </a:xfrm>
          <a:custGeom>
            <a:avLst/>
            <a:gdLst/>
            <a:ahLst/>
            <a:cxnLst/>
            <a:rect l="l" t="t" r="r" b="b"/>
            <a:pathLst>
              <a:path w="131758" h="175677">
                <a:moveTo>
                  <a:pt x="100500" y="131758"/>
                </a:moveTo>
                <a:cubicBezTo>
                  <a:pt x="103005" y="124106"/>
                  <a:pt x="108014" y="117175"/>
                  <a:pt x="113676" y="111205"/>
                </a:cubicBezTo>
                <a:cubicBezTo>
                  <a:pt x="124896" y="99402"/>
                  <a:pt x="131758" y="83447"/>
                  <a:pt x="131758" y="65879"/>
                </a:cubicBezTo>
                <a:cubicBezTo>
                  <a:pt x="131758" y="29508"/>
                  <a:pt x="102250" y="0"/>
                  <a:pt x="65879" y="0"/>
                </a:cubicBezTo>
                <a:cubicBezTo>
                  <a:pt x="29508" y="0"/>
                  <a:pt x="0" y="29508"/>
                  <a:pt x="0" y="65879"/>
                </a:cubicBezTo>
                <a:cubicBezTo>
                  <a:pt x="0" y="83447"/>
                  <a:pt x="6862" y="99402"/>
                  <a:pt x="18082" y="111205"/>
                </a:cubicBezTo>
                <a:cubicBezTo>
                  <a:pt x="23744" y="117175"/>
                  <a:pt x="28788" y="124106"/>
                  <a:pt x="31258" y="131758"/>
                </a:cubicBezTo>
                <a:lnTo>
                  <a:pt x="100465" y="131758"/>
                </a:lnTo>
                <a:close/>
                <a:moveTo>
                  <a:pt x="98818" y="148228"/>
                </a:moveTo>
                <a:lnTo>
                  <a:pt x="32939" y="148228"/>
                </a:lnTo>
                <a:lnTo>
                  <a:pt x="32939" y="153718"/>
                </a:lnTo>
                <a:cubicBezTo>
                  <a:pt x="32939" y="168883"/>
                  <a:pt x="45223" y="181167"/>
                  <a:pt x="60389" y="181167"/>
                </a:cubicBezTo>
                <a:lnTo>
                  <a:pt x="71369" y="181167"/>
                </a:lnTo>
                <a:cubicBezTo>
                  <a:pt x="86535" y="181167"/>
                  <a:pt x="98818" y="168883"/>
                  <a:pt x="98818" y="153718"/>
                </a:cubicBezTo>
                <a:lnTo>
                  <a:pt x="98818" y="148228"/>
                </a:lnTo>
                <a:close/>
                <a:moveTo>
                  <a:pt x="63134" y="38429"/>
                </a:moveTo>
                <a:cubicBezTo>
                  <a:pt x="49478" y="38429"/>
                  <a:pt x="38429" y="49478"/>
                  <a:pt x="38429" y="63134"/>
                </a:cubicBezTo>
                <a:cubicBezTo>
                  <a:pt x="38429" y="67697"/>
                  <a:pt x="34758" y="71369"/>
                  <a:pt x="30195" y="71369"/>
                </a:cubicBezTo>
                <a:cubicBezTo>
                  <a:pt x="25631" y="71369"/>
                  <a:pt x="21960" y="67697"/>
                  <a:pt x="21960" y="63134"/>
                </a:cubicBezTo>
                <a:cubicBezTo>
                  <a:pt x="21960" y="40385"/>
                  <a:pt x="40385" y="21960"/>
                  <a:pt x="63134" y="21960"/>
                </a:cubicBezTo>
                <a:cubicBezTo>
                  <a:pt x="67697" y="21960"/>
                  <a:pt x="71369" y="25631"/>
                  <a:pt x="71369" y="30195"/>
                </a:cubicBezTo>
                <a:cubicBezTo>
                  <a:pt x="71369" y="34758"/>
                  <a:pt x="67697" y="38429"/>
                  <a:pt x="63134" y="38429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57567" y="1307039"/>
            <a:ext cx="318854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7971" y="1658394"/>
            <a:ext cx="3390571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classification, we need to learn a </a:t>
            </a:r>
            <a:r>
              <a:rPr lang="en-US" sz="1107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function</a:t>
            </a: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55539" y="2255696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76474"/>
                </a:moveTo>
                <a:cubicBezTo>
                  <a:pt x="141393" y="73043"/>
                  <a:pt x="141393" y="67471"/>
                  <a:pt x="137962" y="64040"/>
                </a:cubicBezTo>
                <a:lnTo>
                  <a:pt x="94042" y="20121"/>
                </a:lnTo>
                <a:cubicBezTo>
                  <a:pt x="90611" y="16689"/>
                  <a:pt x="85039" y="16689"/>
                  <a:pt x="81608" y="20121"/>
                </a:cubicBezTo>
                <a:cubicBezTo>
                  <a:pt x="78176" y="23552"/>
                  <a:pt x="78176" y="29124"/>
                  <a:pt x="81608" y="32555"/>
                </a:cubicBezTo>
                <a:lnTo>
                  <a:pt x="110539" y="61487"/>
                </a:lnTo>
                <a:lnTo>
                  <a:pt x="8784" y="61487"/>
                </a:lnTo>
                <a:cubicBezTo>
                  <a:pt x="3925" y="61487"/>
                  <a:pt x="0" y="65412"/>
                  <a:pt x="0" y="70271"/>
                </a:cubicBezTo>
                <a:cubicBezTo>
                  <a:pt x="0" y="75129"/>
                  <a:pt x="3925" y="79055"/>
                  <a:pt x="8784" y="79055"/>
                </a:cubicBezTo>
                <a:lnTo>
                  <a:pt x="110539" y="79055"/>
                </a:lnTo>
                <a:lnTo>
                  <a:pt x="81608" y="107987"/>
                </a:lnTo>
                <a:cubicBezTo>
                  <a:pt x="78176" y="111418"/>
                  <a:pt x="78176" y="116990"/>
                  <a:pt x="81608" y="120421"/>
                </a:cubicBezTo>
                <a:cubicBezTo>
                  <a:pt x="85039" y="123852"/>
                  <a:pt x="90611" y="123852"/>
                  <a:pt x="94042" y="120421"/>
                </a:cubicBezTo>
                <a:lnTo>
                  <a:pt x="137962" y="7650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83919" y="2220561"/>
            <a:ext cx="186217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two images directly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55539" y="2536780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76474"/>
                </a:moveTo>
                <a:cubicBezTo>
                  <a:pt x="141393" y="73043"/>
                  <a:pt x="141393" y="67471"/>
                  <a:pt x="137962" y="64040"/>
                </a:cubicBezTo>
                <a:lnTo>
                  <a:pt x="94042" y="20121"/>
                </a:lnTo>
                <a:cubicBezTo>
                  <a:pt x="90611" y="16689"/>
                  <a:pt x="85039" y="16689"/>
                  <a:pt x="81608" y="20121"/>
                </a:cubicBezTo>
                <a:cubicBezTo>
                  <a:pt x="78176" y="23552"/>
                  <a:pt x="78176" y="29124"/>
                  <a:pt x="81608" y="32555"/>
                </a:cubicBezTo>
                <a:lnTo>
                  <a:pt x="110539" y="61487"/>
                </a:lnTo>
                <a:lnTo>
                  <a:pt x="8784" y="61487"/>
                </a:lnTo>
                <a:cubicBezTo>
                  <a:pt x="3925" y="61487"/>
                  <a:pt x="0" y="65412"/>
                  <a:pt x="0" y="70271"/>
                </a:cubicBezTo>
                <a:cubicBezTo>
                  <a:pt x="0" y="75129"/>
                  <a:pt x="3925" y="79055"/>
                  <a:pt x="8784" y="79055"/>
                </a:cubicBezTo>
                <a:lnTo>
                  <a:pt x="110539" y="79055"/>
                </a:lnTo>
                <a:lnTo>
                  <a:pt x="81608" y="107987"/>
                </a:lnTo>
                <a:cubicBezTo>
                  <a:pt x="78176" y="111418"/>
                  <a:pt x="78176" y="116990"/>
                  <a:pt x="81608" y="120421"/>
                </a:cubicBezTo>
                <a:cubicBezTo>
                  <a:pt x="85039" y="123852"/>
                  <a:pt x="90611" y="123852"/>
                  <a:pt x="94042" y="120421"/>
                </a:cubicBezTo>
                <a:lnTo>
                  <a:pt x="137962" y="7650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83919" y="2501644"/>
            <a:ext cx="175677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degree of difference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55539" y="2817863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76474"/>
                </a:moveTo>
                <a:cubicBezTo>
                  <a:pt x="141393" y="73043"/>
                  <a:pt x="141393" y="67471"/>
                  <a:pt x="137962" y="64040"/>
                </a:cubicBezTo>
                <a:lnTo>
                  <a:pt x="94042" y="20121"/>
                </a:lnTo>
                <a:cubicBezTo>
                  <a:pt x="90611" y="16689"/>
                  <a:pt x="85039" y="16689"/>
                  <a:pt x="81608" y="20121"/>
                </a:cubicBezTo>
                <a:cubicBezTo>
                  <a:pt x="78176" y="23552"/>
                  <a:pt x="78176" y="29124"/>
                  <a:pt x="81608" y="32555"/>
                </a:cubicBezTo>
                <a:lnTo>
                  <a:pt x="110539" y="61487"/>
                </a:lnTo>
                <a:lnTo>
                  <a:pt x="8784" y="61487"/>
                </a:lnTo>
                <a:cubicBezTo>
                  <a:pt x="3925" y="61487"/>
                  <a:pt x="0" y="65412"/>
                  <a:pt x="0" y="70271"/>
                </a:cubicBezTo>
                <a:cubicBezTo>
                  <a:pt x="0" y="75129"/>
                  <a:pt x="3925" y="79055"/>
                  <a:pt x="8784" y="79055"/>
                </a:cubicBezTo>
                <a:lnTo>
                  <a:pt x="110539" y="79055"/>
                </a:lnTo>
                <a:lnTo>
                  <a:pt x="81608" y="107987"/>
                </a:lnTo>
                <a:cubicBezTo>
                  <a:pt x="78176" y="111418"/>
                  <a:pt x="78176" y="116990"/>
                  <a:pt x="81608" y="120421"/>
                </a:cubicBezTo>
                <a:cubicBezTo>
                  <a:pt x="85039" y="123852"/>
                  <a:pt x="90611" y="123852"/>
                  <a:pt x="94042" y="120421"/>
                </a:cubicBezTo>
                <a:lnTo>
                  <a:pt x="137962" y="7650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83919" y="2782728"/>
            <a:ext cx="1835827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threshold (τ) for decision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55539" y="3098947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76474"/>
                </a:moveTo>
                <a:cubicBezTo>
                  <a:pt x="141393" y="73043"/>
                  <a:pt x="141393" y="67471"/>
                  <a:pt x="137962" y="64040"/>
                </a:cubicBezTo>
                <a:lnTo>
                  <a:pt x="94042" y="20121"/>
                </a:lnTo>
                <a:cubicBezTo>
                  <a:pt x="90611" y="16689"/>
                  <a:pt x="85039" y="16689"/>
                  <a:pt x="81608" y="20121"/>
                </a:cubicBezTo>
                <a:cubicBezTo>
                  <a:pt x="78176" y="23552"/>
                  <a:pt x="78176" y="29124"/>
                  <a:pt x="81608" y="32555"/>
                </a:cubicBezTo>
                <a:lnTo>
                  <a:pt x="110539" y="61487"/>
                </a:lnTo>
                <a:lnTo>
                  <a:pt x="8784" y="61487"/>
                </a:lnTo>
                <a:cubicBezTo>
                  <a:pt x="3925" y="61487"/>
                  <a:pt x="0" y="65412"/>
                  <a:pt x="0" y="70271"/>
                </a:cubicBezTo>
                <a:cubicBezTo>
                  <a:pt x="0" y="75129"/>
                  <a:pt x="3925" y="79055"/>
                  <a:pt x="8784" y="79055"/>
                </a:cubicBezTo>
                <a:lnTo>
                  <a:pt x="110539" y="79055"/>
                </a:lnTo>
                <a:lnTo>
                  <a:pt x="81608" y="107987"/>
                </a:lnTo>
                <a:cubicBezTo>
                  <a:pt x="78176" y="111418"/>
                  <a:pt x="78176" y="116990"/>
                  <a:pt x="81608" y="120421"/>
                </a:cubicBezTo>
                <a:cubicBezTo>
                  <a:pt x="85039" y="123852"/>
                  <a:pt x="90611" y="123852"/>
                  <a:pt x="94042" y="120421"/>
                </a:cubicBezTo>
                <a:lnTo>
                  <a:pt x="137962" y="7650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83919" y="3063811"/>
            <a:ext cx="2345291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retraining needed for new people!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58780" y="3601384"/>
            <a:ext cx="3678681" cy="2905701"/>
          </a:xfrm>
          <a:custGeom>
            <a:avLst/>
            <a:gdLst/>
            <a:ahLst/>
            <a:cxnLst/>
            <a:rect l="l" t="t" r="r" b="b"/>
            <a:pathLst>
              <a:path w="3678681" h="2905701">
                <a:moveTo>
                  <a:pt x="105419" y="0"/>
                </a:moveTo>
                <a:lnTo>
                  <a:pt x="3573262" y="0"/>
                </a:lnTo>
                <a:cubicBezTo>
                  <a:pt x="3631484" y="0"/>
                  <a:pt x="3678681" y="47198"/>
                  <a:pt x="3678681" y="105419"/>
                </a:cubicBezTo>
                <a:lnTo>
                  <a:pt x="3678681" y="2800283"/>
                </a:lnTo>
                <a:cubicBezTo>
                  <a:pt x="3678681" y="2858504"/>
                  <a:pt x="3631484" y="2905701"/>
                  <a:pt x="3573262" y="2905701"/>
                </a:cubicBezTo>
                <a:lnTo>
                  <a:pt x="105419" y="2905701"/>
                </a:lnTo>
                <a:cubicBezTo>
                  <a:pt x="47198" y="2905701"/>
                  <a:pt x="0" y="2858504"/>
                  <a:pt x="0" y="2800283"/>
                </a:cubicBezTo>
                <a:lnTo>
                  <a:pt x="0" y="105419"/>
                </a:lnTo>
                <a:cubicBezTo>
                  <a:pt x="0" y="47198"/>
                  <a:pt x="47198" y="0"/>
                  <a:pt x="10541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37971" y="3780575"/>
            <a:ext cx="3408138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Logic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41484" y="4135443"/>
            <a:ext cx="3318543" cy="674601"/>
          </a:xfrm>
          <a:custGeom>
            <a:avLst/>
            <a:gdLst/>
            <a:ahLst/>
            <a:cxnLst/>
            <a:rect l="l" t="t" r="r" b="b"/>
            <a:pathLst>
              <a:path w="3318543" h="674601">
                <a:moveTo>
                  <a:pt x="70273" y="0"/>
                </a:moveTo>
                <a:lnTo>
                  <a:pt x="3248270" y="0"/>
                </a:lnTo>
                <a:cubicBezTo>
                  <a:pt x="3287081" y="0"/>
                  <a:pt x="3318543" y="31462"/>
                  <a:pt x="3318543" y="70273"/>
                </a:cubicBezTo>
                <a:lnTo>
                  <a:pt x="3318543" y="604327"/>
                </a:lnTo>
                <a:cubicBezTo>
                  <a:pt x="3318543" y="643138"/>
                  <a:pt x="3287081" y="674601"/>
                  <a:pt x="3248270" y="674601"/>
                </a:cubicBezTo>
                <a:lnTo>
                  <a:pt x="70273" y="674601"/>
                </a:lnTo>
                <a:cubicBezTo>
                  <a:pt x="31462" y="674601"/>
                  <a:pt x="0" y="643138"/>
                  <a:pt x="0" y="604327"/>
                </a:cubicBezTo>
                <a:lnTo>
                  <a:pt x="0" y="70273"/>
                </a:lnTo>
                <a:cubicBezTo>
                  <a:pt x="0" y="31462"/>
                  <a:pt x="31462" y="0"/>
                  <a:pt x="7027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450405" y="4244362"/>
            <a:ext cx="317097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distance &lt; τ: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50405" y="4490310"/>
            <a:ext cx="317097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person 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41484" y="4922476"/>
            <a:ext cx="3318543" cy="674601"/>
          </a:xfrm>
          <a:custGeom>
            <a:avLst/>
            <a:gdLst/>
            <a:ahLst/>
            <a:cxnLst/>
            <a:rect l="l" t="t" r="r" b="b"/>
            <a:pathLst>
              <a:path w="3318543" h="674601">
                <a:moveTo>
                  <a:pt x="70273" y="0"/>
                </a:moveTo>
                <a:lnTo>
                  <a:pt x="3248270" y="0"/>
                </a:lnTo>
                <a:cubicBezTo>
                  <a:pt x="3287081" y="0"/>
                  <a:pt x="3318543" y="31462"/>
                  <a:pt x="3318543" y="70273"/>
                </a:cubicBezTo>
                <a:lnTo>
                  <a:pt x="3318543" y="604327"/>
                </a:lnTo>
                <a:cubicBezTo>
                  <a:pt x="3318543" y="643138"/>
                  <a:pt x="3287081" y="674601"/>
                  <a:pt x="3248270" y="674601"/>
                </a:cubicBezTo>
                <a:lnTo>
                  <a:pt x="70273" y="674601"/>
                </a:lnTo>
                <a:cubicBezTo>
                  <a:pt x="31462" y="674601"/>
                  <a:pt x="0" y="643138"/>
                  <a:pt x="0" y="604327"/>
                </a:cubicBezTo>
                <a:lnTo>
                  <a:pt x="0" y="70273"/>
                </a:lnTo>
                <a:cubicBezTo>
                  <a:pt x="0" y="31462"/>
                  <a:pt x="31462" y="0"/>
                  <a:pt x="7027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50405" y="5031396"/>
            <a:ext cx="317097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distance ≥ τ: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50405" y="5277345"/>
            <a:ext cx="317097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person 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37971" y="5705997"/>
            <a:ext cx="3320300" cy="421625"/>
          </a:xfrm>
          <a:custGeom>
            <a:avLst/>
            <a:gdLst/>
            <a:ahLst/>
            <a:cxnLst/>
            <a:rect l="l" t="t" r="r" b="b"/>
            <a:pathLst>
              <a:path w="3320300" h="421625">
                <a:moveTo>
                  <a:pt x="70272" y="0"/>
                </a:moveTo>
                <a:lnTo>
                  <a:pt x="3250027" y="0"/>
                </a:lnTo>
                <a:cubicBezTo>
                  <a:pt x="3288838" y="0"/>
                  <a:pt x="3320300" y="31462"/>
                  <a:pt x="3320300" y="70272"/>
                </a:cubicBezTo>
                <a:lnTo>
                  <a:pt x="3320300" y="351353"/>
                </a:lnTo>
                <a:cubicBezTo>
                  <a:pt x="3320300" y="390163"/>
                  <a:pt x="3288838" y="421625"/>
                  <a:pt x="3250027" y="421625"/>
                </a:cubicBezTo>
                <a:lnTo>
                  <a:pt x="70272" y="421625"/>
                </a:lnTo>
                <a:cubicBezTo>
                  <a:pt x="31488" y="421625"/>
                  <a:pt x="0" y="390137"/>
                  <a:pt x="0" y="351353"/>
                </a:cubicBezTo>
                <a:lnTo>
                  <a:pt x="0" y="70272"/>
                </a:lnTo>
                <a:cubicBezTo>
                  <a:pt x="0" y="31462"/>
                  <a:pt x="31462" y="0"/>
                  <a:pt x="70272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460945" y="5839512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140542"/>
                </a:moveTo>
                <a:cubicBezTo>
                  <a:pt x="109054" y="140542"/>
                  <a:pt x="140542" y="109054"/>
                  <a:pt x="140542" y="70271"/>
                </a:cubicBezTo>
                <a:cubicBezTo>
                  <a:pt x="140542" y="31487"/>
                  <a:pt x="109054" y="0"/>
                  <a:pt x="70271" y="0"/>
                </a:cubicBezTo>
                <a:cubicBezTo>
                  <a:pt x="31487" y="0"/>
                  <a:pt x="0" y="31487"/>
                  <a:pt x="0" y="70271"/>
                </a:cubicBezTo>
                <a:cubicBezTo>
                  <a:pt x="0" y="109054"/>
                  <a:pt x="31487" y="140542"/>
                  <a:pt x="70271" y="140542"/>
                </a:cubicBezTo>
                <a:close/>
                <a:moveTo>
                  <a:pt x="61487" y="43919"/>
                </a:moveTo>
                <a:cubicBezTo>
                  <a:pt x="61487" y="39071"/>
                  <a:pt x="65423" y="35135"/>
                  <a:pt x="70271" y="35135"/>
                </a:cubicBezTo>
                <a:cubicBezTo>
                  <a:pt x="75119" y="35135"/>
                  <a:pt x="79055" y="39071"/>
                  <a:pt x="79055" y="43919"/>
                </a:cubicBezTo>
                <a:cubicBezTo>
                  <a:pt x="79055" y="48767"/>
                  <a:pt x="75119" y="52703"/>
                  <a:pt x="70271" y="52703"/>
                </a:cubicBezTo>
                <a:cubicBezTo>
                  <a:pt x="65423" y="52703"/>
                  <a:pt x="61487" y="48767"/>
                  <a:pt x="61487" y="43919"/>
                </a:cubicBezTo>
                <a:close/>
                <a:moveTo>
                  <a:pt x="59291" y="61487"/>
                </a:moveTo>
                <a:lnTo>
                  <a:pt x="72467" y="61487"/>
                </a:lnTo>
                <a:cubicBezTo>
                  <a:pt x="76118" y="61487"/>
                  <a:pt x="79055" y="64424"/>
                  <a:pt x="79055" y="68075"/>
                </a:cubicBezTo>
                <a:lnTo>
                  <a:pt x="79055" y="92231"/>
                </a:lnTo>
                <a:lnTo>
                  <a:pt x="81251" y="92231"/>
                </a:lnTo>
                <a:cubicBezTo>
                  <a:pt x="84902" y="92231"/>
                  <a:pt x="87839" y="95168"/>
                  <a:pt x="87839" y="98818"/>
                </a:cubicBezTo>
                <a:cubicBezTo>
                  <a:pt x="87839" y="102469"/>
                  <a:pt x="84902" y="105406"/>
                  <a:pt x="81251" y="105406"/>
                </a:cubicBezTo>
                <a:lnTo>
                  <a:pt x="59291" y="105406"/>
                </a:lnTo>
                <a:cubicBezTo>
                  <a:pt x="55640" y="105406"/>
                  <a:pt x="52703" y="102469"/>
                  <a:pt x="52703" y="98818"/>
                </a:cubicBezTo>
                <a:cubicBezTo>
                  <a:pt x="52703" y="95168"/>
                  <a:pt x="55640" y="92231"/>
                  <a:pt x="59291" y="92231"/>
                </a:cubicBezTo>
                <a:lnTo>
                  <a:pt x="65879" y="92231"/>
                </a:lnTo>
                <a:lnTo>
                  <a:pt x="65879" y="74663"/>
                </a:lnTo>
                <a:lnTo>
                  <a:pt x="59291" y="74663"/>
                </a:lnTo>
                <a:cubicBezTo>
                  <a:pt x="55640" y="74663"/>
                  <a:pt x="52703" y="71726"/>
                  <a:pt x="52703" y="68075"/>
                </a:cubicBezTo>
                <a:cubicBezTo>
                  <a:pt x="52703" y="64424"/>
                  <a:pt x="55640" y="61487"/>
                  <a:pt x="59291" y="61487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67657" y="5811404"/>
            <a:ext cx="2955478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τ (tau)</a:t>
            </a:r>
            <a:r>
              <a:rPr lang="en-US" sz="1107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threshold hyperparameter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yimagesearch.com/f7713a0a9fcfe7ea581bff22f4d59f7ebcc8378f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4741" b="474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944054"/>
            <a:ext cx="1426845" cy="426720"/>
          </a:xfrm>
          <a:custGeom>
            <a:avLst/>
            <a:gdLst/>
            <a:ahLst/>
            <a:cxnLst/>
            <a:rect l="l" t="t" r="r" b="b"/>
            <a:pathLst>
              <a:path w="1426845" h="426720">
                <a:moveTo>
                  <a:pt x="213360" y="0"/>
                </a:moveTo>
                <a:lnTo>
                  <a:pt x="1213485" y="0"/>
                </a:lnTo>
                <a:cubicBezTo>
                  <a:pt x="1331320" y="0"/>
                  <a:pt x="1426845" y="95525"/>
                  <a:pt x="1426845" y="213360"/>
                </a:cubicBezTo>
                <a:lnTo>
                  <a:pt x="1426845" y="213360"/>
                </a:lnTo>
                <a:cubicBezTo>
                  <a:pt x="1426845" y="331195"/>
                  <a:pt x="1331320" y="426720"/>
                  <a:pt x="12134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2062163"/>
            <a:ext cx="112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3185"/>
            <a:ext cx="37623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Siamese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6285"/>
            <a:ext cx="35337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for Learning Similarity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777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54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614293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Siamese Network?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86" y="1095488"/>
            <a:ext cx="6934680" cy="2660228"/>
          </a:xfrm>
          <a:custGeom>
            <a:avLst/>
            <a:gdLst/>
            <a:ahLst/>
            <a:cxnLst/>
            <a:rect l="l" t="t" r="r" b="b"/>
            <a:pathLst>
              <a:path w="6934680" h="2660228">
                <a:moveTo>
                  <a:pt x="102392" y="0"/>
                </a:moveTo>
                <a:lnTo>
                  <a:pt x="6832288" y="0"/>
                </a:lnTo>
                <a:cubicBezTo>
                  <a:pt x="6888837" y="0"/>
                  <a:pt x="6934680" y="45843"/>
                  <a:pt x="6934680" y="102392"/>
                </a:cubicBezTo>
                <a:lnTo>
                  <a:pt x="6934680" y="2557836"/>
                </a:lnTo>
                <a:cubicBezTo>
                  <a:pt x="6934680" y="2614385"/>
                  <a:pt x="6888837" y="2660228"/>
                  <a:pt x="6832288" y="2660228"/>
                </a:cubicBezTo>
                <a:lnTo>
                  <a:pt x="102392" y="2660228"/>
                </a:lnTo>
                <a:cubicBezTo>
                  <a:pt x="45843" y="2660228"/>
                  <a:pt x="0" y="2614385"/>
                  <a:pt x="0" y="2557836"/>
                </a:cubicBezTo>
                <a:lnTo>
                  <a:pt x="0" y="102392"/>
                </a:lnTo>
                <a:cubicBezTo>
                  <a:pt x="0" y="45880"/>
                  <a:pt x="45880" y="0"/>
                  <a:pt x="10239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8736" y="1269540"/>
            <a:ext cx="667189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736" y="1610814"/>
            <a:ext cx="6654836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Siamese Network consists of </a:t>
            </a: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identical neural networks</a:t>
            </a:r>
            <a:r>
              <a:rPr lang="en-US" sz="1075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share the same weights and architecture. They process two different inputs simultaneously and learn to compare them.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2149" y="2160265"/>
            <a:ext cx="3231861" cy="655245"/>
          </a:xfrm>
          <a:custGeom>
            <a:avLst/>
            <a:gdLst/>
            <a:ahLst/>
            <a:cxnLst/>
            <a:rect l="l" t="t" r="r" b="b"/>
            <a:pathLst>
              <a:path w="3231861" h="655245">
                <a:moveTo>
                  <a:pt x="68257" y="0"/>
                </a:moveTo>
                <a:lnTo>
                  <a:pt x="3163604" y="0"/>
                </a:lnTo>
                <a:cubicBezTo>
                  <a:pt x="3201302" y="0"/>
                  <a:pt x="3231861" y="30560"/>
                  <a:pt x="3231861" y="68257"/>
                </a:cubicBezTo>
                <a:lnTo>
                  <a:pt x="3231861" y="586988"/>
                </a:lnTo>
                <a:cubicBezTo>
                  <a:pt x="3231861" y="624686"/>
                  <a:pt x="3201302" y="655245"/>
                  <a:pt x="3163604" y="655245"/>
                </a:cubicBezTo>
                <a:lnTo>
                  <a:pt x="68257" y="655245"/>
                </a:lnTo>
                <a:cubicBezTo>
                  <a:pt x="30560" y="655245"/>
                  <a:pt x="0" y="624686"/>
                  <a:pt x="0" y="586988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7943" y="2266058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Twin Networks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7943" y="2504949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identical CNNs with shared weights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5457" y="2160265"/>
            <a:ext cx="3231861" cy="655245"/>
          </a:xfrm>
          <a:custGeom>
            <a:avLst/>
            <a:gdLst/>
            <a:ahLst/>
            <a:cxnLst/>
            <a:rect l="l" t="t" r="r" b="b"/>
            <a:pathLst>
              <a:path w="3231861" h="655245">
                <a:moveTo>
                  <a:pt x="68257" y="0"/>
                </a:moveTo>
                <a:lnTo>
                  <a:pt x="3163604" y="0"/>
                </a:lnTo>
                <a:cubicBezTo>
                  <a:pt x="3201302" y="0"/>
                  <a:pt x="3231861" y="30560"/>
                  <a:pt x="3231861" y="68257"/>
                </a:cubicBezTo>
                <a:lnTo>
                  <a:pt x="3231861" y="586988"/>
                </a:lnTo>
                <a:cubicBezTo>
                  <a:pt x="3231861" y="624686"/>
                  <a:pt x="3201302" y="655245"/>
                  <a:pt x="3163604" y="655245"/>
                </a:cubicBezTo>
                <a:lnTo>
                  <a:pt x="68257" y="655245"/>
                </a:lnTo>
                <a:cubicBezTo>
                  <a:pt x="30560" y="655245"/>
                  <a:pt x="0" y="624686"/>
                  <a:pt x="0" y="586988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1252" y="2266058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Sharing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1252" y="2504949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parameters for both branches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2149" y="2924714"/>
            <a:ext cx="3231861" cy="655245"/>
          </a:xfrm>
          <a:custGeom>
            <a:avLst/>
            <a:gdLst/>
            <a:ahLst/>
            <a:cxnLst/>
            <a:rect l="l" t="t" r="r" b="b"/>
            <a:pathLst>
              <a:path w="3231861" h="655245">
                <a:moveTo>
                  <a:pt x="68257" y="0"/>
                </a:moveTo>
                <a:lnTo>
                  <a:pt x="3163604" y="0"/>
                </a:lnTo>
                <a:cubicBezTo>
                  <a:pt x="3201302" y="0"/>
                  <a:pt x="3231861" y="30560"/>
                  <a:pt x="3231861" y="68257"/>
                </a:cubicBezTo>
                <a:lnTo>
                  <a:pt x="3231861" y="586988"/>
                </a:lnTo>
                <a:cubicBezTo>
                  <a:pt x="3231861" y="624686"/>
                  <a:pt x="3201302" y="655245"/>
                  <a:pt x="3163604" y="655245"/>
                </a:cubicBezTo>
                <a:lnTo>
                  <a:pt x="68257" y="655245"/>
                </a:lnTo>
                <a:cubicBezTo>
                  <a:pt x="30560" y="655245"/>
                  <a:pt x="0" y="624686"/>
                  <a:pt x="0" y="586988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943" y="3030511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943" y="3269403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inputs processed simultaneously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65457" y="2924714"/>
            <a:ext cx="3231861" cy="655245"/>
          </a:xfrm>
          <a:custGeom>
            <a:avLst/>
            <a:gdLst/>
            <a:ahLst/>
            <a:cxnLst/>
            <a:rect l="l" t="t" r="r" b="b"/>
            <a:pathLst>
              <a:path w="3231861" h="655245">
                <a:moveTo>
                  <a:pt x="68257" y="0"/>
                </a:moveTo>
                <a:lnTo>
                  <a:pt x="3163604" y="0"/>
                </a:lnTo>
                <a:cubicBezTo>
                  <a:pt x="3201302" y="0"/>
                  <a:pt x="3231861" y="30560"/>
                  <a:pt x="3231861" y="68257"/>
                </a:cubicBezTo>
                <a:lnTo>
                  <a:pt x="3231861" y="586988"/>
                </a:lnTo>
                <a:cubicBezTo>
                  <a:pt x="3231861" y="624686"/>
                  <a:pt x="3201302" y="655245"/>
                  <a:pt x="3163604" y="655245"/>
                </a:cubicBezTo>
                <a:lnTo>
                  <a:pt x="68257" y="655245"/>
                </a:lnTo>
                <a:cubicBezTo>
                  <a:pt x="30560" y="655245"/>
                  <a:pt x="0" y="624686"/>
                  <a:pt x="0" y="586988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71252" y="3030511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Metric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1252" y="3269403"/>
            <a:ext cx="308852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output embeddings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4686" y="3900760"/>
            <a:ext cx="6934680" cy="2617569"/>
          </a:xfrm>
          <a:custGeom>
            <a:avLst/>
            <a:gdLst/>
            <a:ahLst/>
            <a:cxnLst/>
            <a:rect l="l" t="t" r="r" b="b"/>
            <a:pathLst>
              <a:path w="6934680" h="2617569">
                <a:moveTo>
                  <a:pt x="102373" y="0"/>
                </a:moveTo>
                <a:lnTo>
                  <a:pt x="6832307" y="0"/>
                </a:lnTo>
                <a:cubicBezTo>
                  <a:pt x="6888846" y="0"/>
                  <a:pt x="6934680" y="45834"/>
                  <a:pt x="6934680" y="102373"/>
                </a:cubicBezTo>
                <a:lnTo>
                  <a:pt x="6934680" y="2515196"/>
                </a:lnTo>
                <a:cubicBezTo>
                  <a:pt x="6934680" y="2571735"/>
                  <a:pt x="6888846" y="2617569"/>
                  <a:pt x="6832307" y="2617569"/>
                </a:cubicBezTo>
                <a:lnTo>
                  <a:pt x="102373" y="2617569"/>
                </a:lnTo>
                <a:cubicBezTo>
                  <a:pt x="45834" y="2617569"/>
                  <a:pt x="0" y="2571735"/>
                  <a:pt x="0" y="2515196"/>
                </a:cubicBezTo>
                <a:lnTo>
                  <a:pt x="0" y="102373"/>
                </a:lnTo>
                <a:cubicBezTo>
                  <a:pt x="0" y="45872"/>
                  <a:pt x="45872" y="0"/>
                  <a:pt x="10237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8736" y="4074808"/>
            <a:ext cx="667189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736" y="4416081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09" y="4416081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4137" y="4416081"/>
            <a:ext cx="223534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Two Images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4137" y="4620846"/>
            <a:ext cx="223534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 anchor and comparison images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736" y="4893865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09" y="4893865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4137" y="4893865"/>
            <a:ext cx="221827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Embeddings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4137" y="5098629"/>
            <a:ext cx="221827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CNN produces a feature vector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736" y="5371648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09" y="5371648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4137" y="5371648"/>
            <a:ext cx="246570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Distance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4137" y="5576412"/>
            <a:ext cx="246570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similarity using distance metric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8736" y="5849431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09" y="5849431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4137" y="5849431"/>
            <a:ext cx="19708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Decision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4137" y="6054195"/>
            <a:ext cx="197085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distance to threshold 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20355" y="1095488"/>
            <a:ext cx="4426319" cy="5416012"/>
          </a:xfrm>
          <a:custGeom>
            <a:avLst/>
            <a:gdLst/>
            <a:ahLst/>
            <a:cxnLst/>
            <a:rect l="l" t="t" r="r" b="b"/>
            <a:pathLst>
              <a:path w="4426319" h="5416012">
                <a:moveTo>
                  <a:pt x="102381" y="0"/>
                </a:moveTo>
                <a:lnTo>
                  <a:pt x="4323938" y="0"/>
                </a:lnTo>
                <a:cubicBezTo>
                  <a:pt x="4380481" y="0"/>
                  <a:pt x="4426319" y="45837"/>
                  <a:pt x="4426319" y="102381"/>
                </a:cubicBezTo>
                <a:lnTo>
                  <a:pt x="4426319" y="5313632"/>
                </a:lnTo>
                <a:cubicBezTo>
                  <a:pt x="4426319" y="5370175"/>
                  <a:pt x="4380481" y="5416012"/>
                  <a:pt x="4323938" y="5416012"/>
                </a:cubicBezTo>
                <a:lnTo>
                  <a:pt x="102381" y="5416012"/>
                </a:lnTo>
                <a:cubicBezTo>
                  <a:pt x="45837" y="5416012"/>
                  <a:pt x="0" y="5370175"/>
                  <a:pt x="0" y="5313632"/>
                </a:cubicBezTo>
                <a:lnTo>
                  <a:pt x="0" y="102381"/>
                </a:lnTo>
                <a:cubicBezTo>
                  <a:pt x="0" y="45837"/>
                  <a:pt x="45837" y="0"/>
                  <a:pt x="10238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51745" y="1269540"/>
            <a:ext cx="416353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Siamese Network Architecture</a:t>
            </a:r>
            <a:endParaRPr lang="en-US" sz="1600" dirty="0"/>
          </a:p>
        </p:txBody>
      </p:sp>
      <p:pic>
        <p:nvPicPr>
          <p:cNvPr id="39" name="Image 0" descr="https://kimi-web-img.moonshot.cn/img/pyimagesearch.com/f7713a0a9fcfe7ea581bff22f4d59f7ebcc8378f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7594404" y="1644941"/>
            <a:ext cx="4078220" cy="2533957"/>
          </a:xfrm>
          <a:prstGeom prst="roundRect">
            <a:avLst>
              <a:gd name="adj" fmla="val 2694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7597817" y="4321270"/>
            <a:ext cx="4076513" cy="1371920"/>
          </a:xfrm>
          <a:custGeom>
            <a:avLst/>
            <a:gdLst/>
            <a:ahLst/>
            <a:cxnLst/>
            <a:rect l="l" t="t" r="r" b="b"/>
            <a:pathLst>
              <a:path w="4076513" h="1371920">
                <a:moveTo>
                  <a:pt x="68253" y="0"/>
                </a:moveTo>
                <a:lnTo>
                  <a:pt x="4008260" y="0"/>
                </a:lnTo>
                <a:cubicBezTo>
                  <a:pt x="4045955" y="0"/>
                  <a:pt x="4076513" y="30558"/>
                  <a:pt x="4076513" y="68253"/>
                </a:cubicBezTo>
                <a:lnTo>
                  <a:pt x="4076513" y="1303667"/>
                </a:lnTo>
                <a:cubicBezTo>
                  <a:pt x="4076513" y="1341362"/>
                  <a:pt x="4045955" y="1371920"/>
                  <a:pt x="4008260" y="1371920"/>
                </a:cubicBezTo>
                <a:lnTo>
                  <a:pt x="68253" y="1371920"/>
                </a:lnTo>
                <a:cubicBezTo>
                  <a:pt x="30558" y="1371920"/>
                  <a:pt x="0" y="1341362"/>
                  <a:pt x="0" y="1303667"/>
                </a:cubicBezTo>
                <a:lnTo>
                  <a:pt x="0" y="68253"/>
                </a:lnTo>
                <a:cubicBezTo>
                  <a:pt x="0" y="30558"/>
                  <a:pt x="30558" y="0"/>
                  <a:pt x="6825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703612" y="4427067"/>
            <a:ext cx="39331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703612" y="4665959"/>
            <a:ext cx="39331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Face verification/recognition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703612" y="4904850"/>
            <a:ext cx="39331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Signature verification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703612" y="5143742"/>
            <a:ext cx="39331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 tracking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703612" y="5382633"/>
            <a:ext cx="393317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 similarity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597817" y="5768271"/>
            <a:ext cx="4076513" cy="416354"/>
          </a:xfrm>
          <a:custGeom>
            <a:avLst/>
            <a:gdLst/>
            <a:ahLst/>
            <a:cxnLst/>
            <a:rect l="l" t="t" r="r" b="b"/>
            <a:pathLst>
              <a:path w="4076513" h="416354">
                <a:moveTo>
                  <a:pt x="68253" y="0"/>
                </a:moveTo>
                <a:lnTo>
                  <a:pt x="4008260" y="0"/>
                </a:lnTo>
                <a:cubicBezTo>
                  <a:pt x="4045956" y="0"/>
                  <a:pt x="4076513" y="30558"/>
                  <a:pt x="4076513" y="68253"/>
                </a:cubicBezTo>
                <a:lnTo>
                  <a:pt x="4076513" y="348101"/>
                </a:lnTo>
                <a:cubicBezTo>
                  <a:pt x="4076513" y="385796"/>
                  <a:pt x="4045956" y="416354"/>
                  <a:pt x="4008260" y="416354"/>
                </a:cubicBezTo>
                <a:lnTo>
                  <a:pt x="68253" y="416354"/>
                </a:lnTo>
                <a:cubicBezTo>
                  <a:pt x="30583" y="416354"/>
                  <a:pt x="0" y="385771"/>
                  <a:pt x="0" y="348101"/>
                </a:cubicBezTo>
                <a:lnTo>
                  <a:pt x="0" y="68253"/>
                </a:lnTo>
                <a:cubicBezTo>
                  <a:pt x="0" y="30558"/>
                  <a:pt x="30558" y="0"/>
                  <a:pt x="6825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712144" y="5901367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920102" y="5874068"/>
            <a:ext cx="371668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r>
              <a:rPr lang="en-US" sz="1075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Learns similarity, not classification!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kern="0" spc="55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Encodings &amp; Embeddings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575" y="1117382"/>
            <a:ext cx="7169000" cy="2565454"/>
          </a:xfrm>
          <a:custGeom>
            <a:avLst/>
            <a:gdLst/>
            <a:ahLst/>
            <a:cxnLst/>
            <a:rect l="l" t="t" r="r" b="b"/>
            <a:pathLst>
              <a:path w="7169000" h="2565454">
                <a:moveTo>
                  <a:pt x="104440" y="0"/>
                </a:moveTo>
                <a:lnTo>
                  <a:pt x="7064561" y="0"/>
                </a:lnTo>
                <a:cubicBezTo>
                  <a:pt x="7122241" y="0"/>
                  <a:pt x="7169000" y="46759"/>
                  <a:pt x="7169000" y="104440"/>
                </a:cubicBezTo>
                <a:lnTo>
                  <a:pt x="7169000" y="2461015"/>
                </a:lnTo>
                <a:cubicBezTo>
                  <a:pt x="7169000" y="2518695"/>
                  <a:pt x="7122241" y="2565454"/>
                  <a:pt x="7064561" y="2565454"/>
                </a:cubicBezTo>
                <a:lnTo>
                  <a:pt x="104440" y="2565454"/>
                </a:lnTo>
                <a:cubicBezTo>
                  <a:pt x="46759" y="2565454"/>
                  <a:pt x="0" y="2518695"/>
                  <a:pt x="0" y="2461015"/>
                </a:cubicBezTo>
                <a:lnTo>
                  <a:pt x="0" y="104440"/>
                </a:lnTo>
                <a:cubicBezTo>
                  <a:pt x="0" y="46798"/>
                  <a:pt x="46798" y="0"/>
                  <a:pt x="10444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9103" y="1294913"/>
            <a:ext cx="690096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Facial Embeddings?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9103" y="1643007"/>
            <a:ext cx="6883563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embeddings are </a:t>
            </a:r>
            <a:r>
              <a:rPr lang="en-US" sz="109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representations</a:t>
            </a:r>
            <a:r>
              <a:rPr lang="en-US" sz="1096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faces in a high-dimensional vector space. FaceNet generates </a:t>
            </a: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128-dimensional vectors</a:t>
            </a:r>
            <a:r>
              <a:rPr lang="en-US" sz="1096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face.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584" y="2203439"/>
            <a:ext cx="6812204" cy="1190482"/>
          </a:xfrm>
          <a:custGeom>
            <a:avLst/>
            <a:gdLst/>
            <a:ahLst/>
            <a:cxnLst/>
            <a:rect l="l" t="t" r="r" b="b"/>
            <a:pathLst>
              <a:path w="6812204" h="1190482">
                <a:moveTo>
                  <a:pt x="69619" y="0"/>
                </a:moveTo>
                <a:lnTo>
                  <a:pt x="6742584" y="0"/>
                </a:lnTo>
                <a:cubicBezTo>
                  <a:pt x="6781034" y="0"/>
                  <a:pt x="6812204" y="31170"/>
                  <a:pt x="6812204" y="69619"/>
                </a:cubicBezTo>
                <a:lnTo>
                  <a:pt x="6812204" y="1120863"/>
                </a:lnTo>
                <a:cubicBezTo>
                  <a:pt x="6812204" y="1159313"/>
                  <a:pt x="6781034" y="1190482"/>
                  <a:pt x="6742584" y="1190482"/>
                </a:cubicBezTo>
                <a:lnTo>
                  <a:pt x="69619" y="1190482"/>
                </a:lnTo>
                <a:cubicBezTo>
                  <a:pt x="31170" y="1190482"/>
                  <a:pt x="0" y="1159313"/>
                  <a:pt x="0" y="1120863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493" y="2311346"/>
            <a:ext cx="666600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Properties: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493" y="2589822"/>
            <a:ext cx="666600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Compact:</a:t>
            </a: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128 numbers represent a face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493" y="2833488"/>
            <a:ext cx="666600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Comparable:</a:t>
            </a: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distance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493" y="3077154"/>
            <a:ext cx="666600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Robust:</a:t>
            </a: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Invariant to pose, lighting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1575" y="3825557"/>
            <a:ext cx="7169000" cy="3026679"/>
          </a:xfrm>
          <a:custGeom>
            <a:avLst/>
            <a:gdLst/>
            <a:ahLst/>
            <a:cxnLst/>
            <a:rect l="l" t="t" r="r" b="b"/>
            <a:pathLst>
              <a:path w="7169000" h="3026679">
                <a:moveTo>
                  <a:pt x="104420" y="0"/>
                </a:moveTo>
                <a:lnTo>
                  <a:pt x="7064580" y="0"/>
                </a:lnTo>
                <a:cubicBezTo>
                  <a:pt x="7122250" y="0"/>
                  <a:pt x="7169000" y="46751"/>
                  <a:pt x="7169000" y="104420"/>
                </a:cubicBezTo>
                <a:lnTo>
                  <a:pt x="7169000" y="2922259"/>
                </a:lnTo>
                <a:cubicBezTo>
                  <a:pt x="7169000" y="2979929"/>
                  <a:pt x="7122250" y="3026679"/>
                  <a:pt x="7064580" y="3026679"/>
                </a:cubicBezTo>
                <a:lnTo>
                  <a:pt x="104420" y="3026679"/>
                </a:lnTo>
                <a:cubicBezTo>
                  <a:pt x="46751" y="3026679"/>
                  <a:pt x="0" y="2979929"/>
                  <a:pt x="0" y="2922259"/>
                </a:cubicBezTo>
                <a:lnTo>
                  <a:pt x="0" y="104420"/>
                </a:lnTo>
                <a:cubicBezTo>
                  <a:pt x="0" y="46789"/>
                  <a:pt x="46789" y="0"/>
                  <a:pt x="1044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9103" y="4003084"/>
            <a:ext cx="690096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Space Properties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9103" y="4351178"/>
            <a:ext cx="6813944" cy="661379"/>
          </a:xfrm>
          <a:custGeom>
            <a:avLst/>
            <a:gdLst/>
            <a:ahLst/>
            <a:cxnLst/>
            <a:rect l="l" t="t" r="r" b="b"/>
            <a:pathLst>
              <a:path w="6813944" h="661379">
                <a:moveTo>
                  <a:pt x="69617" y="0"/>
                </a:moveTo>
                <a:lnTo>
                  <a:pt x="6744328" y="0"/>
                </a:lnTo>
                <a:cubicBezTo>
                  <a:pt x="6782776" y="0"/>
                  <a:pt x="6813944" y="31168"/>
                  <a:pt x="6813944" y="69617"/>
                </a:cubicBezTo>
                <a:lnTo>
                  <a:pt x="6813944" y="591762"/>
                </a:lnTo>
                <a:cubicBezTo>
                  <a:pt x="6813944" y="630211"/>
                  <a:pt x="6782776" y="661379"/>
                  <a:pt x="674432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532" y="4455606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Faces = Close Embeddings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532" y="4699272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person → Small Euclidean distance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9103" y="5116985"/>
            <a:ext cx="6813944" cy="661379"/>
          </a:xfrm>
          <a:custGeom>
            <a:avLst/>
            <a:gdLst/>
            <a:ahLst/>
            <a:cxnLst/>
            <a:rect l="l" t="t" r="r" b="b"/>
            <a:pathLst>
              <a:path w="6813944" h="661379">
                <a:moveTo>
                  <a:pt x="69617" y="0"/>
                </a:moveTo>
                <a:lnTo>
                  <a:pt x="6744328" y="0"/>
                </a:lnTo>
                <a:cubicBezTo>
                  <a:pt x="6782776" y="0"/>
                  <a:pt x="6813944" y="31168"/>
                  <a:pt x="6813944" y="69617"/>
                </a:cubicBezTo>
                <a:lnTo>
                  <a:pt x="6813944" y="591762"/>
                </a:lnTo>
                <a:cubicBezTo>
                  <a:pt x="6813944" y="630211"/>
                  <a:pt x="6782776" y="661379"/>
                  <a:pt x="674432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3532" y="5221413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Faces = Far Embeddings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532" y="5465079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people → Large Euclidean distance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9103" y="5882792"/>
            <a:ext cx="6813944" cy="661379"/>
          </a:xfrm>
          <a:custGeom>
            <a:avLst/>
            <a:gdLst/>
            <a:ahLst/>
            <a:cxnLst/>
            <a:rect l="l" t="t" r="r" b="b"/>
            <a:pathLst>
              <a:path w="6813944" h="661379">
                <a:moveTo>
                  <a:pt x="69617" y="0"/>
                </a:moveTo>
                <a:lnTo>
                  <a:pt x="6744328" y="0"/>
                </a:lnTo>
                <a:cubicBezTo>
                  <a:pt x="6782776" y="0"/>
                  <a:pt x="6813944" y="31168"/>
                  <a:pt x="6813944" y="69617"/>
                </a:cubicBezTo>
                <a:lnTo>
                  <a:pt x="6813944" y="591762"/>
                </a:lnTo>
                <a:cubicBezTo>
                  <a:pt x="6813944" y="630211"/>
                  <a:pt x="6782776" y="661379"/>
                  <a:pt x="674432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3532" y="5987221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 by Identity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532" y="6230887"/>
            <a:ext cx="667470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person forms a cluster in embedding space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69277" y="1117382"/>
            <a:ext cx="4166688" cy="3017977"/>
          </a:xfrm>
          <a:custGeom>
            <a:avLst/>
            <a:gdLst/>
            <a:ahLst/>
            <a:cxnLst/>
            <a:rect l="l" t="t" r="r" b="b"/>
            <a:pathLst>
              <a:path w="4166688" h="3017977">
                <a:moveTo>
                  <a:pt x="104422" y="0"/>
                </a:moveTo>
                <a:lnTo>
                  <a:pt x="4062266" y="0"/>
                </a:lnTo>
                <a:cubicBezTo>
                  <a:pt x="4119936" y="0"/>
                  <a:pt x="4166688" y="46751"/>
                  <a:pt x="4166688" y="104422"/>
                </a:cubicBezTo>
                <a:lnTo>
                  <a:pt x="4166688" y="2913555"/>
                </a:lnTo>
                <a:cubicBezTo>
                  <a:pt x="4166688" y="2971226"/>
                  <a:pt x="4119936" y="3017977"/>
                  <a:pt x="4062266" y="3017977"/>
                </a:cubicBezTo>
                <a:lnTo>
                  <a:pt x="104422" y="3017977"/>
                </a:lnTo>
                <a:cubicBezTo>
                  <a:pt x="46751" y="3017977"/>
                  <a:pt x="0" y="2971226"/>
                  <a:pt x="0" y="2913555"/>
                </a:cubicBezTo>
                <a:lnTo>
                  <a:pt x="0" y="104422"/>
                </a:lnTo>
                <a:cubicBezTo>
                  <a:pt x="0" y="46790"/>
                  <a:pt x="46790" y="0"/>
                  <a:pt x="10442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03293" y="1294913"/>
            <a:ext cx="389865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Space Visualization</a:t>
            </a:r>
            <a:endParaRPr lang="en-US" sz="1600" dirty="0"/>
          </a:p>
        </p:txBody>
      </p:sp>
      <p:pic>
        <p:nvPicPr>
          <p:cNvPr id="25" name="Image 0" descr="https://kimi-web-img.moonshot.cn/img/blogger.googleusercontent.com/6bc7f3a99126e3c86b1fe22021403f41490d2446.gif"/>
          <p:cNvPicPr>
            <a:picLocks noChangeAspect="1"/>
          </p:cNvPicPr>
          <p:nvPr/>
        </p:nvPicPr>
        <p:blipFill>
          <a:blip r:embed="rId3"/>
          <a:srcRect l="72" r="72"/>
          <a:stretch/>
        </p:blipFill>
        <p:spPr>
          <a:xfrm>
            <a:off x="7846805" y="1643007"/>
            <a:ext cx="3811632" cy="2001542"/>
          </a:xfrm>
          <a:prstGeom prst="roundRect">
            <a:avLst>
              <a:gd name="adj" fmla="val 3478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7811996" y="3747889"/>
            <a:ext cx="388125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MNIST digits clustered by class in 2D embedding space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69277" y="4280472"/>
            <a:ext cx="4166688" cy="2574157"/>
          </a:xfrm>
          <a:custGeom>
            <a:avLst/>
            <a:gdLst/>
            <a:ahLst/>
            <a:cxnLst/>
            <a:rect l="l" t="t" r="r" b="b"/>
            <a:pathLst>
              <a:path w="4166688" h="2574157">
                <a:moveTo>
                  <a:pt x="104434" y="0"/>
                </a:moveTo>
                <a:lnTo>
                  <a:pt x="4062254" y="0"/>
                </a:lnTo>
                <a:cubicBezTo>
                  <a:pt x="4119931" y="0"/>
                  <a:pt x="4166688" y="46756"/>
                  <a:pt x="4166688" y="104434"/>
                </a:cubicBezTo>
                <a:lnTo>
                  <a:pt x="4166688" y="2469723"/>
                </a:lnTo>
                <a:cubicBezTo>
                  <a:pt x="4166688" y="2527400"/>
                  <a:pt x="4119931" y="2574157"/>
                  <a:pt x="4062254" y="2574157"/>
                </a:cubicBezTo>
                <a:lnTo>
                  <a:pt x="104434" y="2574157"/>
                </a:lnTo>
                <a:cubicBezTo>
                  <a:pt x="46756" y="2574157"/>
                  <a:pt x="0" y="2527400"/>
                  <a:pt x="0" y="2469723"/>
                </a:cubicBezTo>
                <a:lnTo>
                  <a:pt x="0" y="104434"/>
                </a:lnTo>
                <a:cubicBezTo>
                  <a:pt x="0" y="46795"/>
                  <a:pt x="46795" y="0"/>
                  <a:pt x="10443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016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846805" y="4457998"/>
            <a:ext cx="389865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Distance Metrics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850286" y="4809573"/>
            <a:ext cx="3809891" cy="877197"/>
          </a:xfrm>
          <a:custGeom>
            <a:avLst/>
            <a:gdLst/>
            <a:ahLst/>
            <a:cxnLst/>
            <a:rect l="l" t="t" r="r" b="b"/>
            <a:pathLst>
              <a:path w="3809891" h="877197">
                <a:moveTo>
                  <a:pt x="69623" y="0"/>
                </a:moveTo>
                <a:lnTo>
                  <a:pt x="3740268" y="0"/>
                </a:lnTo>
                <a:cubicBezTo>
                  <a:pt x="3778720" y="0"/>
                  <a:pt x="3809891" y="31171"/>
                  <a:pt x="3809891" y="69623"/>
                </a:cubicBezTo>
                <a:lnTo>
                  <a:pt x="3809891" y="807574"/>
                </a:lnTo>
                <a:cubicBezTo>
                  <a:pt x="3809891" y="846026"/>
                  <a:pt x="3778720" y="877197"/>
                  <a:pt x="3740268" y="877197"/>
                </a:cubicBezTo>
                <a:lnTo>
                  <a:pt x="69623" y="877197"/>
                </a:lnTo>
                <a:cubicBezTo>
                  <a:pt x="31171" y="877197"/>
                  <a:pt x="0" y="846026"/>
                  <a:pt x="0" y="807574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958195" y="4917485"/>
            <a:ext cx="36636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Euclidean Distance (L2)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958195" y="5161151"/>
            <a:ext cx="365498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d(x,y) = √Σ(xᵢ - yᵢ)²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958195" y="5370008"/>
            <a:ext cx="36636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commonly used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850286" y="5798162"/>
            <a:ext cx="3809891" cy="877197"/>
          </a:xfrm>
          <a:custGeom>
            <a:avLst/>
            <a:gdLst/>
            <a:ahLst/>
            <a:cxnLst/>
            <a:rect l="l" t="t" r="r" b="b"/>
            <a:pathLst>
              <a:path w="3809891" h="877197">
                <a:moveTo>
                  <a:pt x="69623" y="0"/>
                </a:moveTo>
                <a:lnTo>
                  <a:pt x="3740268" y="0"/>
                </a:lnTo>
                <a:cubicBezTo>
                  <a:pt x="3778720" y="0"/>
                  <a:pt x="3809891" y="31171"/>
                  <a:pt x="3809891" y="69623"/>
                </a:cubicBezTo>
                <a:lnTo>
                  <a:pt x="3809891" y="807574"/>
                </a:lnTo>
                <a:cubicBezTo>
                  <a:pt x="3809891" y="846026"/>
                  <a:pt x="3778720" y="877197"/>
                  <a:pt x="3740268" y="877197"/>
                </a:cubicBezTo>
                <a:lnTo>
                  <a:pt x="69623" y="877197"/>
                </a:lnTo>
                <a:cubicBezTo>
                  <a:pt x="31171" y="877197"/>
                  <a:pt x="0" y="846026"/>
                  <a:pt x="0" y="807574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958195" y="5906074"/>
            <a:ext cx="36636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958195" y="6149740"/>
            <a:ext cx="365498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 = (x·y) / (||x|| ||y||)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958195" y="6358596"/>
            <a:ext cx="36636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angle between vectors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lawlite.me/e7ff9da74d2c0a82f79cd0cbffcd4f42ebe453a6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549" b="1254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944054"/>
            <a:ext cx="1436370" cy="426720"/>
          </a:xfrm>
          <a:custGeom>
            <a:avLst/>
            <a:gdLst/>
            <a:ahLst/>
            <a:cxnLst/>
            <a:rect l="l" t="t" r="r" b="b"/>
            <a:pathLst>
              <a:path w="1436370" h="426720">
                <a:moveTo>
                  <a:pt x="213360" y="0"/>
                </a:moveTo>
                <a:lnTo>
                  <a:pt x="1223010" y="0"/>
                </a:lnTo>
                <a:cubicBezTo>
                  <a:pt x="1340845" y="0"/>
                  <a:pt x="1436370" y="95525"/>
                  <a:pt x="1436370" y="213360"/>
                </a:cubicBezTo>
                <a:lnTo>
                  <a:pt x="1436370" y="213360"/>
                </a:lnTo>
                <a:cubicBezTo>
                  <a:pt x="1436370" y="331195"/>
                  <a:pt x="1340845" y="426720"/>
                  <a:pt x="12230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2062163"/>
            <a:ext cx="113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3185"/>
            <a:ext cx="4105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6285"/>
            <a:ext cx="38766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Siamese Networks Effectively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Triplet Loss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7610475" cy="2784475"/>
          </a:xfrm>
          <a:custGeom>
            <a:avLst/>
            <a:gdLst/>
            <a:ahLst/>
            <a:cxnLst/>
            <a:rect l="l" t="t" r="r" b="b"/>
            <a:pathLst>
              <a:path w="7610475" h="2784475">
                <a:moveTo>
                  <a:pt x="95257" y="0"/>
                </a:moveTo>
                <a:lnTo>
                  <a:pt x="7515218" y="0"/>
                </a:lnTo>
                <a:cubicBezTo>
                  <a:pt x="7567827" y="0"/>
                  <a:pt x="7610475" y="42648"/>
                  <a:pt x="7610475" y="95257"/>
                </a:cubicBezTo>
                <a:lnTo>
                  <a:pt x="7610475" y="2689218"/>
                </a:lnTo>
                <a:cubicBezTo>
                  <a:pt x="7610475" y="2741827"/>
                  <a:pt x="7567827" y="2784475"/>
                  <a:pt x="7515218" y="2784475"/>
                </a:cubicBezTo>
                <a:lnTo>
                  <a:pt x="95257" y="2784475"/>
                </a:lnTo>
                <a:cubicBezTo>
                  <a:pt x="42648" y="2784475"/>
                  <a:pt x="0" y="2741827"/>
                  <a:pt x="0" y="2689218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2600" y="1181102"/>
            <a:ext cx="736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Triplet Concept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600" y="1498602"/>
            <a:ext cx="7350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Triplet loss uses </a:t>
            </a: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images</a:t>
            </a: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training: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8475" y="1800227"/>
            <a:ext cx="7270750" cy="571500"/>
          </a:xfrm>
          <a:custGeom>
            <a:avLst/>
            <a:gdLst/>
            <a:ahLst/>
            <a:cxnLst/>
            <a:rect l="l" t="t" r="r" b="b"/>
            <a:pathLst>
              <a:path w="7270750" h="571500">
                <a:moveTo>
                  <a:pt x="31750" y="0"/>
                </a:moveTo>
                <a:lnTo>
                  <a:pt x="7207251" y="0"/>
                </a:lnTo>
                <a:cubicBezTo>
                  <a:pt x="7242320" y="0"/>
                  <a:pt x="7270750" y="28430"/>
                  <a:pt x="7270750" y="63499"/>
                </a:cubicBezTo>
                <a:lnTo>
                  <a:pt x="7270750" y="508001"/>
                </a:lnTo>
                <a:cubicBezTo>
                  <a:pt x="7270750" y="543070"/>
                  <a:pt x="7242320" y="571500"/>
                  <a:pt x="720725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475" y="1800227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600" y="18954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7571" y="195897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2350" y="1895477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2350" y="2085977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image of a person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475" y="2435227"/>
            <a:ext cx="7270750" cy="571500"/>
          </a:xfrm>
          <a:custGeom>
            <a:avLst/>
            <a:gdLst/>
            <a:ahLst/>
            <a:cxnLst/>
            <a:rect l="l" t="t" r="r" b="b"/>
            <a:pathLst>
              <a:path w="7270750" h="571500">
                <a:moveTo>
                  <a:pt x="31750" y="0"/>
                </a:moveTo>
                <a:lnTo>
                  <a:pt x="7207251" y="0"/>
                </a:lnTo>
                <a:cubicBezTo>
                  <a:pt x="7242320" y="0"/>
                  <a:pt x="7270750" y="28430"/>
                  <a:pt x="7270750" y="63499"/>
                </a:cubicBezTo>
                <a:lnTo>
                  <a:pt x="7270750" y="508001"/>
                </a:lnTo>
                <a:cubicBezTo>
                  <a:pt x="7270750" y="543070"/>
                  <a:pt x="7242320" y="571500"/>
                  <a:pt x="720725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8475" y="2435227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600" y="25304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4715" y="2593977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2350" y="2530477"/>
            <a:ext cx="174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2350" y="2720977"/>
            <a:ext cx="174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Another image of same person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475" y="3070227"/>
            <a:ext cx="7270750" cy="571500"/>
          </a:xfrm>
          <a:custGeom>
            <a:avLst/>
            <a:gdLst/>
            <a:ahLst/>
            <a:cxnLst/>
            <a:rect l="l" t="t" r="r" b="b"/>
            <a:pathLst>
              <a:path w="7270750" h="571500">
                <a:moveTo>
                  <a:pt x="31750" y="0"/>
                </a:moveTo>
                <a:lnTo>
                  <a:pt x="7207251" y="0"/>
                </a:lnTo>
                <a:cubicBezTo>
                  <a:pt x="7242320" y="0"/>
                  <a:pt x="7270750" y="28430"/>
                  <a:pt x="7270750" y="63499"/>
                </a:cubicBezTo>
                <a:lnTo>
                  <a:pt x="7270750" y="508001"/>
                </a:lnTo>
                <a:cubicBezTo>
                  <a:pt x="7270750" y="543070"/>
                  <a:pt x="7242320" y="571500"/>
                  <a:pt x="720725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475" y="3070227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9600" y="31654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3602" y="3228977"/>
            <a:ext cx="15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2350" y="3165477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2350" y="3355977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of a different person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675" y="3937001"/>
            <a:ext cx="7527925" cy="2708473"/>
          </a:xfrm>
          <a:custGeom>
            <a:avLst/>
            <a:gdLst/>
            <a:ahLst/>
            <a:cxnLst/>
            <a:rect l="l" t="t" r="r" b="b"/>
            <a:pathLst>
              <a:path w="7527925" h="2708473">
                <a:moveTo>
                  <a:pt x="94210" y="0"/>
                </a:moveTo>
                <a:lnTo>
                  <a:pt x="7433715" y="0"/>
                </a:lnTo>
                <a:cubicBezTo>
                  <a:pt x="7485746" y="0"/>
                  <a:pt x="7527925" y="36949"/>
                  <a:pt x="7527925" y="82527"/>
                </a:cubicBezTo>
                <a:lnTo>
                  <a:pt x="7527925" y="2625946"/>
                </a:lnTo>
                <a:cubicBezTo>
                  <a:pt x="7527925" y="2671525"/>
                  <a:pt x="7485746" y="2708473"/>
                  <a:pt x="7433715" y="2708473"/>
                </a:cubicBezTo>
                <a:lnTo>
                  <a:pt x="94210" y="2708473"/>
                </a:lnTo>
                <a:cubicBezTo>
                  <a:pt x="42179" y="2708473"/>
                  <a:pt x="0" y="2671525"/>
                  <a:pt x="0" y="2625946"/>
                </a:cubicBezTo>
                <a:lnTo>
                  <a:pt x="0" y="82527"/>
                </a:lnTo>
                <a:cubicBezTo>
                  <a:pt x="0" y="36979"/>
                  <a:pt x="42214" y="0"/>
                  <a:pt x="94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600" y="4098924"/>
            <a:ext cx="736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Goals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2600" y="4416424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7850" y="4511674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1: Minimize d(A,P)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7850" y="4733924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anchor and positive embeddings closer together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2600" y="5083174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7850" y="5178424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2: Maximize d(A,N)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7850" y="5400674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anchor and negative embeddings farther apart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5775" y="5753099"/>
            <a:ext cx="7285038" cy="387350"/>
          </a:xfrm>
          <a:custGeom>
            <a:avLst/>
            <a:gdLst/>
            <a:ahLst/>
            <a:cxnLst/>
            <a:rect l="l" t="t" r="r" b="b"/>
            <a:pathLst>
              <a:path w="7285038" h="387350">
                <a:moveTo>
                  <a:pt x="63498" y="0"/>
                </a:moveTo>
                <a:lnTo>
                  <a:pt x="7221539" y="0"/>
                </a:lnTo>
                <a:cubicBezTo>
                  <a:pt x="7256585" y="0"/>
                  <a:pt x="7285038" y="28453"/>
                  <a:pt x="7285038" y="63498"/>
                </a:cubicBezTo>
                <a:lnTo>
                  <a:pt x="7285038" y="323852"/>
                </a:lnTo>
                <a:cubicBezTo>
                  <a:pt x="7285038" y="358897"/>
                  <a:pt x="7256585" y="387350"/>
                  <a:pt x="7221539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5950" y="587692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2637" y="5851527"/>
            <a:ext cx="695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person embeddings cluster together, different people are separated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67675" y="1019175"/>
            <a:ext cx="3800475" cy="3538537"/>
          </a:xfrm>
          <a:custGeom>
            <a:avLst/>
            <a:gdLst/>
            <a:ahLst/>
            <a:cxnLst/>
            <a:rect l="l" t="t" r="r" b="b"/>
            <a:pathLst>
              <a:path w="3800475" h="3538537">
                <a:moveTo>
                  <a:pt x="95257" y="0"/>
                </a:moveTo>
                <a:lnTo>
                  <a:pt x="3705218" y="0"/>
                </a:lnTo>
                <a:cubicBezTo>
                  <a:pt x="3757827" y="0"/>
                  <a:pt x="3800475" y="42648"/>
                  <a:pt x="3800475" y="95257"/>
                </a:cubicBezTo>
                <a:lnTo>
                  <a:pt x="3800475" y="3443280"/>
                </a:lnTo>
                <a:cubicBezTo>
                  <a:pt x="3800475" y="3495889"/>
                  <a:pt x="3757827" y="3538537"/>
                  <a:pt x="3705218" y="3538537"/>
                </a:cubicBezTo>
                <a:lnTo>
                  <a:pt x="95257" y="3538537"/>
                </a:lnTo>
                <a:cubicBezTo>
                  <a:pt x="42648" y="3538537"/>
                  <a:pt x="0" y="3495889"/>
                  <a:pt x="0" y="3443280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89913" y="1181102"/>
            <a:ext cx="355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 Loss Architecture</a:t>
            </a:r>
            <a:endParaRPr lang="en-US" sz="1600" dirty="0"/>
          </a:p>
        </p:txBody>
      </p:sp>
      <p:pic>
        <p:nvPicPr>
          <p:cNvPr id="38" name="Image 0" descr="https://kimi-web-img.moonshot.cn/img/lawlite.me/e7ff9da74d2c0a82f79cd0cbffcd4f42ebe453a6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8229600" y="1498602"/>
            <a:ext cx="3476625" cy="2611438"/>
          </a:xfrm>
          <a:prstGeom prst="roundRect">
            <a:avLst>
              <a:gd name="adj" fmla="val 2432"/>
            </a:avLst>
          </a:prstGeom>
        </p:spPr>
      </p:pic>
      <p:sp>
        <p:nvSpPr>
          <p:cNvPr id="39" name="Text 36"/>
          <p:cNvSpPr/>
          <p:nvPr/>
        </p:nvSpPr>
        <p:spPr>
          <a:xfrm>
            <a:off x="8197850" y="4207073"/>
            <a:ext cx="354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inputs processed through shared CNN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067675" y="4692850"/>
            <a:ext cx="3800475" cy="1952624"/>
          </a:xfrm>
          <a:custGeom>
            <a:avLst/>
            <a:gdLst/>
            <a:ahLst/>
            <a:cxnLst/>
            <a:rect l="l" t="t" r="r" b="b"/>
            <a:pathLst>
              <a:path w="3800475" h="1952624">
                <a:moveTo>
                  <a:pt x="95248" y="0"/>
                </a:moveTo>
                <a:lnTo>
                  <a:pt x="3705227" y="0"/>
                </a:lnTo>
                <a:cubicBezTo>
                  <a:pt x="3757831" y="0"/>
                  <a:pt x="3800475" y="35109"/>
                  <a:pt x="3800475" y="78417"/>
                </a:cubicBezTo>
                <a:lnTo>
                  <a:pt x="3800475" y="1874207"/>
                </a:lnTo>
                <a:cubicBezTo>
                  <a:pt x="3800475" y="1917516"/>
                  <a:pt x="3757831" y="1952624"/>
                  <a:pt x="3705227" y="1952624"/>
                </a:cubicBezTo>
                <a:lnTo>
                  <a:pt x="95248" y="1952624"/>
                </a:lnTo>
                <a:cubicBezTo>
                  <a:pt x="42644" y="1952624"/>
                  <a:pt x="0" y="1917516"/>
                  <a:pt x="0" y="1874207"/>
                </a:cubicBezTo>
                <a:lnTo>
                  <a:pt x="0" y="78417"/>
                </a:lnTo>
                <a:cubicBezTo>
                  <a:pt x="0" y="35138"/>
                  <a:pt x="42679" y="0"/>
                  <a:pt x="9524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016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29600" y="4854773"/>
            <a:ext cx="355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 Loss Formula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232775" y="5175448"/>
            <a:ext cx="3475037" cy="701476"/>
          </a:xfrm>
          <a:custGeom>
            <a:avLst/>
            <a:gdLst/>
            <a:ahLst/>
            <a:cxnLst/>
            <a:rect l="l" t="t" r="r" b="b"/>
            <a:pathLst>
              <a:path w="3475037" h="701476">
                <a:moveTo>
                  <a:pt x="63497" y="0"/>
                </a:moveTo>
                <a:lnTo>
                  <a:pt x="3411540" y="0"/>
                </a:lnTo>
                <a:cubicBezTo>
                  <a:pt x="3446609" y="0"/>
                  <a:pt x="3475037" y="21510"/>
                  <a:pt x="3475037" y="48044"/>
                </a:cubicBezTo>
                <a:lnTo>
                  <a:pt x="3475037" y="653432"/>
                </a:lnTo>
                <a:cubicBezTo>
                  <a:pt x="3475037" y="679966"/>
                  <a:pt x="3446609" y="701476"/>
                  <a:pt x="3411540" y="701476"/>
                </a:cubicBezTo>
                <a:lnTo>
                  <a:pt x="63497" y="701476"/>
                </a:lnTo>
                <a:cubicBezTo>
                  <a:pt x="28429" y="701476"/>
                  <a:pt x="0" y="679966"/>
                  <a:pt x="0" y="653432"/>
                </a:cubicBezTo>
                <a:lnTo>
                  <a:pt x="0" y="48044"/>
                </a:lnTo>
                <a:cubicBezTo>
                  <a:pt x="0" y="21528"/>
                  <a:pt x="28452" y="0"/>
                  <a:pt x="63497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362950" y="5305626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Function: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328819" y="5384799"/>
            <a:ext cx="32781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L(A,P,N) = max(||f(A) - f(P)||² - ||f(A) - f(N)||² + α, 0)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189913" y="5949949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||f(A) - f(P)||²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975725" y="5949949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Squared distance between anchor and positive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189913" y="6140449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||f(A) - f(N)||²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983663" y="6140449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Squared distance between anchor and negative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362950" y="633094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475663" y="6330949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Margin (hyperparameter)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228600" y="82590"/>
            <a:ext cx="7620000" cy="33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L(A,P,N) = max(||f(A) - f(P)||² - ||f(A) - f(N)||² + α, 0)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 Selection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7610475" cy="2879725"/>
          </a:xfrm>
          <a:custGeom>
            <a:avLst/>
            <a:gdLst/>
            <a:ahLst/>
            <a:cxnLst/>
            <a:rect l="l" t="t" r="r" b="b"/>
            <a:pathLst>
              <a:path w="7610475" h="2879725">
                <a:moveTo>
                  <a:pt x="95261" y="0"/>
                </a:moveTo>
                <a:lnTo>
                  <a:pt x="7515214" y="0"/>
                </a:lnTo>
                <a:cubicBezTo>
                  <a:pt x="7567825" y="0"/>
                  <a:pt x="7610475" y="42650"/>
                  <a:pt x="7610475" y="95261"/>
                </a:cubicBezTo>
                <a:lnTo>
                  <a:pt x="7610475" y="2784464"/>
                </a:lnTo>
                <a:cubicBezTo>
                  <a:pt x="7610475" y="2837075"/>
                  <a:pt x="7567825" y="2879725"/>
                  <a:pt x="7515214" y="2879725"/>
                </a:cubicBezTo>
                <a:lnTo>
                  <a:pt x="95261" y="2879725"/>
                </a:lnTo>
                <a:cubicBezTo>
                  <a:pt x="42685" y="2879725"/>
                  <a:pt x="0" y="2837040"/>
                  <a:pt x="0" y="278446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016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444" y="12128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1037" y="1181102"/>
            <a:ext cx="716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with Random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2600" y="1498602"/>
            <a:ext cx="7350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Randomly selecting triplets is </a:t>
            </a: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</a:t>
            </a: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80022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7850" y="189547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Triplets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" y="211772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d(A,P) ≪ d(A,N) - Network learns nothing new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2600" y="246697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7850" y="256222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Wasted Computation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850" y="278447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random triplets produce zero loss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313372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7850" y="322897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Convergence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850" y="345122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takes much longer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7500" y="4032255"/>
            <a:ext cx="7613650" cy="2717798"/>
          </a:xfrm>
          <a:custGeom>
            <a:avLst/>
            <a:gdLst/>
            <a:ahLst/>
            <a:cxnLst/>
            <a:rect l="l" t="t" r="r" b="b"/>
            <a:pathLst>
              <a:path w="7613650" h="2717798">
                <a:moveTo>
                  <a:pt x="95303" y="0"/>
                </a:moveTo>
                <a:lnTo>
                  <a:pt x="7518347" y="0"/>
                </a:lnTo>
                <a:cubicBezTo>
                  <a:pt x="7570981" y="0"/>
                  <a:pt x="7613650" y="24470"/>
                  <a:pt x="7613650" y="54655"/>
                </a:cubicBezTo>
                <a:lnTo>
                  <a:pt x="7613650" y="2663144"/>
                </a:lnTo>
                <a:cubicBezTo>
                  <a:pt x="7613650" y="2693329"/>
                  <a:pt x="7570981" y="2717798"/>
                  <a:pt x="7518347" y="2717798"/>
                </a:cubicBezTo>
                <a:lnTo>
                  <a:pt x="95303" y="2717798"/>
                </a:lnTo>
                <a:cubicBezTo>
                  <a:pt x="42669" y="2717798"/>
                  <a:pt x="0" y="2693329"/>
                  <a:pt x="0" y="2663144"/>
                </a:cubicBezTo>
                <a:lnTo>
                  <a:pt x="0" y="54655"/>
                </a:lnTo>
                <a:cubicBezTo>
                  <a:pt x="0" y="24490"/>
                  <a:pt x="42704" y="0"/>
                  <a:pt x="95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444" y="42259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037" y="4194178"/>
            <a:ext cx="716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Negative Mining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600" y="4511678"/>
            <a:ext cx="7350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triplets where </a:t>
            </a: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d(A,P) ≈ d(A,N)</a:t>
            </a: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2600" y="481330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7850" y="490855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Negatives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850" y="513080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looks similar to anchor - forces learning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2600" y="548005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7850" y="557530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Training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7850" y="579755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learns subtle distinctions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2600" y="6146803"/>
            <a:ext cx="7286625" cy="603250"/>
          </a:xfrm>
          <a:custGeom>
            <a:avLst/>
            <a:gdLst/>
            <a:ahLst/>
            <a:cxnLst/>
            <a:rect l="l" t="t" r="r" b="b"/>
            <a:pathLst>
              <a:path w="7286625" h="603250">
                <a:moveTo>
                  <a:pt x="63498" y="0"/>
                </a:moveTo>
                <a:lnTo>
                  <a:pt x="7223127" y="0"/>
                </a:lnTo>
                <a:cubicBezTo>
                  <a:pt x="7258196" y="0"/>
                  <a:pt x="7286625" y="28429"/>
                  <a:pt x="7286625" y="63498"/>
                </a:cubicBezTo>
                <a:lnTo>
                  <a:pt x="7286625" y="539752"/>
                </a:lnTo>
                <a:cubicBezTo>
                  <a:pt x="7286625" y="574821"/>
                  <a:pt x="7258196" y="603250"/>
                  <a:pt x="7223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7850" y="624205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Convergence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7850" y="6464303"/>
            <a:ext cx="715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informative gradients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67675" y="443455"/>
            <a:ext cx="3800475" cy="3661821"/>
          </a:xfrm>
          <a:custGeom>
            <a:avLst/>
            <a:gdLst/>
            <a:ahLst/>
            <a:cxnLst/>
            <a:rect l="l" t="t" r="r" b="b"/>
            <a:pathLst>
              <a:path w="3800475" h="3661821">
                <a:moveTo>
                  <a:pt x="95240" y="0"/>
                </a:moveTo>
                <a:lnTo>
                  <a:pt x="3705235" y="0"/>
                </a:lnTo>
                <a:cubicBezTo>
                  <a:pt x="3757835" y="0"/>
                  <a:pt x="3800475" y="37270"/>
                  <a:pt x="3800475" y="83246"/>
                </a:cubicBezTo>
                <a:lnTo>
                  <a:pt x="3800475" y="3578575"/>
                </a:lnTo>
                <a:cubicBezTo>
                  <a:pt x="3800475" y="3624550"/>
                  <a:pt x="3757835" y="3661821"/>
                  <a:pt x="3705235" y="3661821"/>
                </a:cubicBezTo>
                <a:lnTo>
                  <a:pt x="95240" y="3661821"/>
                </a:lnTo>
                <a:cubicBezTo>
                  <a:pt x="42640" y="3661821"/>
                  <a:pt x="0" y="3624550"/>
                  <a:pt x="0" y="3578575"/>
                </a:cubicBezTo>
                <a:lnTo>
                  <a:pt x="0" y="83246"/>
                </a:lnTo>
                <a:cubicBezTo>
                  <a:pt x="0" y="37301"/>
                  <a:pt x="42676" y="0"/>
                  <a:pt x="9524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89912" y="571500"/>
            <a:ext cx="355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Visualization</a:t>
            </a:r>
            <a:endParaRPr lang="en-US" sz="1600" dirty="0"/>
          </a:p>
        </p:txBody>
      </p:sp>
      <p:pic>
        <p:nvPicPr>
          <p:cNvPr id="32" name="Image 0" descr="https://kimi-web-img.moonshot.cn/img/framerusercontent.com/4edd004b91380dfafc80325664e3b28ea39f289d.jpeg"/>
          <p:cNvPicPr>
            <a:picLocks noChangeAspect="1"/>
          </p:cNvPicPr>
          <p:nvPr/>
        </p:nvPicPr>
        <p:blipFill>
          <a:blip r:embed="rId3"/>
          <a:srcRect l="25" r="25"/>
          <a:stretch/>
        </p:blipFill>
        <p:spPr>
          <a:xfrm>
            <a:off x="8229600" y="889000"/>
            <a:ext cx="3476625" cy="2727326"/>
          </a:xfrm>
          <a:prstGeom prst="roundRect">
            <a:avLst>
              <a:gd name="adj" fmla="val 2067"/>
            </a:avLst>
          </a:prstGeom>
        </p:spPr>
      </p:pic>
      <p:sp>
        <p:nvSpPr>
          <p:cNvPr id="33" name="Text 30"/>
          <p:cNvSpPr/>
          <p:nvPr/>
        </p:nvSpPr>
        <p:spPr>
          <a:xfrm>
            <a:off x="8197850" y="3641723"/>
            <a:ext cx="354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vs After training - positive moves closer, negative moves farther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067675" y="4225928"/>
            <a:ext cx="3870325" cy="2524125"/>
          </a:xfrm>
          <a:custGeom>
            <a:avLst/>
            <a:gdLst/>
            <a:ahLst/>
            <a:cxnLst/>
            <a:rect l="l" t="t" r="r" b="b"/>
            <a:pathLst>
              <a:path w="3870325" h="2524125">
                <a:moveTo>
                  <a:pt x="97018" y="0"/>
                </a:moveTo>
                <a:lnTo>
                  <a:pt x="3773307" y="0"/>
                </a:lnTo>
                <a:cubicBezTo>
                  <a:pt x="3826889" y="0"/>
                  <a:pt x="3870325" y="31484"/>
                  <a:pt x="3870325" y="70322"/>
                </a:cubicBezTo>
                <a:lnTo>
                  <a:pt x="3870325" y="2453803"/>
                </a:lnTo>
                <a:cubicBezTo>
                  <a:pt x="3870325" y="2492641"/>
                  <a:pt x="3826889" y="2524125"/>
                  <a:pt x="3773307" y="2524125"/>
                </a:cubicBezTo>
                <a:lnTo>
                  <a:pt x="97018" y="2524125"/>
                </a:lnTo>
                <a:cubicBezTo>
                  <a:pt x="43436" y="2524125"/>
                  <a:pt x="0" y="2492641"/>
                  <a:pt x="0" y="2453803"/>
                </a:cubicBezTo>
                <a:lnTo>
                  <a:pt x="0" y="70322"/>
                </a:lnTo>
                <a:cubicBezTo>
                  <a:pt x="0" y="31484"/>
                  <a:pt x="43436" y="0"/>
                  <a:pt x="9701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189912" y="4273553"/>
            <a:ext cx="355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89912" y="4511678"/>
            <a:ext cx="3475037" cy="478154"/>
          </a:xfrm>
          <a:custGeom>
            <a:avLst/>
            <a:gdLst/>
            <a:ahLst/>
            <a:cxnLst/>
            <a:rect l="l" t="t" r="r" b="b"/>
            <a:pathLst>
              <a:path w="3475037" h="478154">
                <a:moveTo>
                  <a:pt x="63500" y="0"/>
                </a:moveTo>
                <a:lnTo>
                  <a:pt x="3411537" y="0"/>
                </a:lnTo>
                <a:cubicBezTo>
                  <a:pt x="3446608" y="0"/>
                  <a:pt x="3475037" y="21196"/>
                  <a:pt x="3475037" y="47342"/>
                </a:cubicBezTo>
                <a:lnTo>
                  <a:pt x="3475037" y="430812"/>
                </a:lnTo>
                <a:cubicBezTo>
                  <a:pt x="3475038" y="456959"/>
                  <a:pt x="3446608" y="478154"/>
                  <a:pt x="3411537" y="478154"/>
                </a:cubicBezTo>
                <a:lnTo>
                  <a:pt x="63500" y="478154"/>
                </a:lnTo>
                <a:cubicBezTo>
                  <a:pt x="28430" y="478154"/>
                  <a:pt x="0" y="456959"/>
                  <a:pt x="0" y="430812"/>
                </a:cubicBezTo>
                <a:lnTo>
                  <a:pt x="0" y="47342"/>
                </a:lnTo>
                <a:cubicBezTo>
                  <a:pt x="0" y="21196"/>
                  <a:pt x="28430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97069" y="4511678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Select Triplets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297069" y="4718053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A, P, N intelligently (hard negatives)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189912" y="5114928"/>
            <a:ext cx="3475037" cy="480487"/>
          </a:xfrm>
          <a:custGeom>
            <a:avLst/>
            <a:gdLst/>
            <a:ahLst/>
            <a:cxnLst/>
            <a:rect l="l" t="t" r="r" b="b"/>
            <a:pathLst>
              <a:path w="3475037" h="480487">
                <a:moveTo>
                  <a:pt x="63500" y="0"/>
                </a:moveTo>
                <a:lnTo>
                  <a:pt x="3411537" y="0"/>
                </a:lnTo>
                <a:cubicBezTo>
                  <a:pt x="3446608" y="0"/>
                  <a:pt x="3475037" y="21299"/>
                  <a:pt x="3475037" y="47573"/>
                </a:cubicBezTo>
                <a:lnTo>
                  <a:pt x="3475037" y="432914"/>
                </a:lnTo>
                <a:cubicBezTo>
                  <a:pt x="3475038" y="459188"/>
                  <a:pt x="3446608" y="480487"/>
                  <a:pt x="3411537" y="480487"/>
                </a:cubicBezTo>
                <a:lnTo>
                  <a:pt x="63500" y="480487"/>
                </a:lnTo>
                <a:cubicBezTo>
                  <a:pt x="28430" y="480487"/>
                  <a:pt x="0" y="459188"/>
                  <a:pt x="0" y="432914"/>
                </a:cubicBezTo>
                <a:lnTo>
                  <a:pt x="0" y="47573"/>
                </a:lnTo>
                <a:cubicBezTo>
                  <a:pt x="0" y="21299"/>
                  <a:pt x="28430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297069" y="5114928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Forward Pass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297069" y="5321303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embeddings f(A), f(P), f(N)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89912" y="5670553"/>
            <a:ext cx="3475037" cy="476250"/>
          </a:xfrm>
          <a:custGeom>
            <a:avLst/>
            <a:gdLst/>
            <a:ahLst/>
            <a:cxnLst/>
            <a:rect l="l" t="t" r="r" b="b"/>
            <a:pathLst>
              <a:path w="3475037" h="476250">
                <a:moveTo>
                  <a:pt x="63500" y="0"/>
                </a:moveTo>
                <a:lnTo>
                  <a:pt x="3411537" y="0"/>
                </a:lnTo>
                <a:cubicBezTo>
                  <a:pt x="3446608" y="0"/>
                  <a:pt x="3475037" y="21111"/>
                  <a:pt x="3475037" y="47154"/>
                </a:cubicBezTo>
                <a:lnTo>
                  <a:pt x="3475037" y="429096"/>
                </a:lnTo>
                <a:cubicBezTo>
                  <a:pt x="3475038" y="455139"/>
                  <a:pt x="3446608" y="476250"/>
                  <a:pt x="3411537" y="476250"/>
                </a:cubicBezTo>
                <a:lnTo>
                  <a:pt x="63500" y="476250"/>
                </a:lnTo>
                <a:cubicBezTo>
                  <a:pt x="28430" y="476250"/>
                  <a:pt x="0" y="455139"/>
                  <a:pt x="0" y="429096"/>
                </a:cubicBezTo>
                <a:lnTo>
                  <a:pt x="0" y="47154"/>
                </a:lnTo>
                <a:cubicBezTo>
                  <a:pt x="0" y="21111"/>
                  <a:pt x="28430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97069" y="5686428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Calculate Loss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297069" y="5892803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triplet loss formula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189912" y="6242053"/>
            <a:ext cx="3475037" cy="412750"/>
          </a:xfrm>
          <a:custGeom>
            <a:avLst/>
            <a:gdLst/>
            <a:ahLst/>
            <a:cxnLst/>
            <a:rect l="l" t="t" r="r" b="b"/>
            <a:pathLst>
              <a:path w="3475037" h="412750">
                <a:moveTo>
                  <a:pt x="63500" y="0"/>
                </a:moveTo>
                <a:lnTo>
                  <a:pt x="3411537" y="0"/>
                </a:lnTo>
                <a:cubicBezTo>
                  <a:pt x="3446608" y="0"/>
                  <a:pt x="3475037" y="18297"/>
                  <a:pt x="3475037" y="40866"/>
                </a:cubicBezTo>
                <a:lnTo>
                  <a:pt x="3475037" y="371884"/>
                </a:lnTo>
                <a:cubicBezTo>
                  <a:pt x="3475038" y="394453"/>
                  <a:pt x="3446608" y="412750"/>
                  <a:pt x="3411537" y="412750"/>
                </a:cubicBezTo>
                <a:lnTo>
                  <a:pt x="63500" y="412750"/>
                </a:lnTo>
                <a:cubicBezTo>
                  <a:pt x="28430" y="412750"/>
                  <a:pt x="0" y="394453"/>
                  <a:pt x="0" y="371884"/>
                </a:cubicBezTo>
                <a:lnTo>
                  <a:pt x="0" y="40866"/>
                </a:lnTo>
                <a:cubicBezTo>
                  <a:pt x="0" y="18297"/>
                  <a:pt x="28430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297069" y="6210305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Backpropagation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297069" y="6400805"/>
            <a:ext cx="334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shared CNN weights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FaceNet: Putting It All Together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8086725" cy="2268537"/>
          </a:xfrm>
          <a:custGeom>
            <a:avLst/>
            <a:gdLst/>
            <a:ahLst/>
            <a:cxnLst/>
            <a:rect l="l" t="t" r="r" b="b"/>
            <a:pathLst>
              <a:path w="8086725" h="2268537">
                <a:moveTo>
                  <a:pt x="95256" y="0"/>
                </a:moveTo>
                <a:lnTo>
                  <a:pt x="7991469" y="0"/>
                </a:lnTo>
                <a:cubicBezTo>
                  <a:pt x="8044077" y="0"/>
                  <a:pt x="8086725" y="42648"/>
                  <a:pt x="8086725" y="95256"/>
                </a:cubicBezTo>
                <a:lnTo>
                  <a:pt x="8086725" y="2173282"/>
                </a:lnTo>
                <a:cubicBezTo>
                  <a:pt x="8086725" y="2225890"/>
                  <a:pt x="8044077" y="2268538"/>
                  <a:pt x="7991469" y="2268537"/>
                </a:cubicBezTo>
                <a:lnTo>
                  <a:pt x="95256" y="2268537"/>
                </a:lnTo>
                <a:cubicBezTo>
                  <a:pt x="42648" y="2268537"/>
                  <a:pt x="0" y="2225890"/>
                  <a:pt x="0" y="2173282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2600" y="1181098"/>
            <a:ext cx="784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Google's FaceNet (2015)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600" y="1498598"/>
            <a:ext cx="7826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FaceNet is a </a:t>
            </a: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embedding system</a:t>
            </a:r>
            <a:r>
              <a:rPr lang="en-US" sz="10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achieved state-of-the-art results on LFW benchmark using: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5775" y="1803398"/>
            <a:ext cx="3832225" cy="609600"/>
          </a:xfrm>
          <a:custGeom>
            <a:avLst/>
            <a:gdLst/>
            <a:ahLst/>
            <a:cxnLst/>
            <a:rect l="l" t="t" r="r" b="b"/>
            <a:pathLst>
              <a:path w="3832225" h="609600">
                <a:moveTo>
                  <a:pt x="63502" y="0"/>
                </a:moveTo>
                <a:lnTo>
                  <a:pt x="3768723" y="0"/>
                </a:lnTo>
                <a:cubicBezTo>
                  <a:pt x="3803794" y="0"/>
                  <a:pt x="3832225" y="28431"/>
                  <a:pt x="3832225" y="63502"/>
                </a:cubicBezTo>
                <a:lnTo>
                  <a:pt x="3832225" y="546098"/>
                </a:lnTo>
                <a:cubicBezTo>
                  <a:pt x="3832225" y="581169"/>
                  <a:pt x="3803794" y="609600"/>
                  <a:pt x="3768723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4200" y="1901830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00" y="2124080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Inception/ResNet CNN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6425" y="1803398"/>
            <a:ext cx="3832225" cy="609600"/>
          </a:xfrm>
          <a:custGeom>
            <a:avLst/>
            <a:gdLst/>
            <a:ahLst/>
            <a:cxnLst/>
            <a:rect l="l" t="t" r="r" b="b"/>
            <a:pathLst>
              <a:path w="3832225" h="609600">
                <a:moveTo>
                  <a:pt x="63502" y="0"/>
                </a:moveTo>
                <a:lnTo>
                  <a:pt x="3768723" y="0"/>
                </a:lnTo>
                <a:cubicBezTo>
                  <a:pt x="3803794" y="0"/>
                  <a:pt x="3832225" y="28431"/>
                  <a:pt x="3832225" y="63502"/>
                </a:cubicBezTo>
                <a:lnTo>
                  <a:pt x="3832225" y="546098"/>
                </a:lnTo>
                <a:cubicBezTo>
                  <a:pt x="3832225" y="581169"/>
                  <a:pt x="3803794" y="609600"/>
                  <a:pt x="3768723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14850" y="1901830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4850" y="2124080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Triplet Loss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775" y="2514603"/>
            <a:ext cx="3832225" cy="609600"/>
          </a:xfrm>
          <a:custGeom>
            <a:avLst/>
            <a:gdLst/>
            <a:ahLst/>
            <a:cxnLst/>
            <a:rect l="l" t="t" r="r" b="b"/>
            <a:pathLst>
              <a:path w="3832225" h="609600">
                <a:moveTo>
                  <a:pt x="63502" y="0"/>
                </a:moveTo>
                <a:lnTo>
                  <a:pt x="3768723" y="0"/>
                </a:lnTo>
                <a:cubicBezTo>
                  <a:pt x="3803794" y="0"/>
                  <a:pt x="3832225" y="28431"/>
                  <a:pt x="3832225" y="63502"/>
                </a:cubicBezTo>
                <a:lnTo>
                  <a:pt x="3832225" y="546098"/>
                </a:lnTo>
                <a:cubicBezTo>
                  <a:pt x="3832225" y="581169"/>
                  <a:pt x="3803794" y="609600"/>
                  <a:pt x="3768723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200" y="2613027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" y="2835277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128-d embedding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6425" y="2514603"/>
            <a:ext cx="3832225" cy="609600"/>
          </a:xfrm>
          <a:custGeom>
            <a:avLst/>
            <a:gdLst/>
            <a:ahLst/>
            <a:cxnLst/>
            <a:rect l="l" t="t" r="r" b="b"/>
            <a:pathLst>
              <a:path w="3832225" h="609600">
                <a:moveTo>
                  <a:pt x="63502" y="0"/>
                </a:moveTo>
                <a:lnTo>
                  <a:pt x="3768723" y="0"/>
                </a:lnTo>
                <a:cubicBezTo>
                  <a:pt x="3803794" y="0"/>
                  <a:pt x="3832225" y="28431"/>
                  <a:pt x="3832225" y="63502"/>
                </a:cubicBezTo>
                <a:lnTo>
                  <a:pt x="3832225" y="546098"/>
                </a:lnTo>
                <a:cubicBezTo>
                  <a:pt x="3832225" y="581169"/>
                  <a:pt x="3803794" y="609600"/>
                  <a:pt x="3768723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14850" y="2613027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4850" y="2835277"/>
            <a:ext cx="369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learning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675" y="3422648"/>
            <a:ext cx="7809633" cy="2801939"/>
          </a:xfrm>
          <a:custGeom>
            <a:avLst/>
            <a:gdLst/>
            <a:ahLst/>
            <a:cxnLst/>
            <a:rect l="l" t="t" r="r" b="b"/>
            <a:pathLst>
              <a:path w="7809633" h="2801939">
                <a:moveTo>
                  <a:pt x="91980" y="0"/>
                </a:moveTo>
                <a:lnTo>
                  <a:pt x="7717653" y="0"/>
                </a:lnTo>
                <a:cubicBezTo>
                  <a:pt x="7768452" y="0"/>
                  <a:pt x="7809633" y="21665"/>
                  <a:pt x="7809633" y="48389"/>
                </a:cubicBezTo>
                <a:lnTo>
                  <a:pt x="7809633" y="2753550"/>
                </a:lnTo>
                <a:cubicBezTo>
                  <a:pt x="7809633" y="2780274"/>
                  <a:pt x="7768452" y="2801939"/>
                  <a:pt x="7717653" y="2801939"/>
                </a:cubicBezTo>
                <a:lnTo>
                  <a:pt x="91980" y="2801939"/>
                </a:lnTo>
                <a:cubicBezTo>
                  <a:pt x="41181" y="2801939"/>
                  <a:pt x="0" y="2780274"/>
                  <a:pt x="0" y="2753550"/>
                </a:cubicBezTo>
                <a:lnTo>
                  <a:pt x="0" y="48389"/>
                </a:lnTo>
                <a:cubicBezTo>
                  <a:pt x="0" y="21665"/>
                  <a:pt x="41181" y="0"/>
                  <a:pt x="919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600" y="3584580"/>
            <a:ext cx="784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2600" y="39020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0850" y="39020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5350" y="3902080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5350" y="4092580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Locate and crop face from image (MTCNN)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2600" y="43465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0850" y="43465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5350" y="4346580"/>
            <a:ext cx="199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5350" y="4537080"/>
            <a:ext cx="199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 pose, scale, and position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2600" y="47910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0850" y="47910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5350" y="4791080"/>
            <a:ext cx="215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5350" y="4981580"/>
            <a:ext cx="215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128-dimensional embedding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2600" y="52355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0850" y="52355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5350" y="523558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5350" y="542608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Euclidean distance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82600" y="56800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0850" y="56800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5350" y="5680080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5350" y="5870580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to threshold 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43925" y="1019175"/>
            <a:ext cx="3324225" cy="5205413"/>
          </a:xfrm>
          <a:custGeom>
            <a:avLst/>
            <a:gdLst/>
            <a:ahLst/>
            <a:cxnLst/>
            <a:rect l="l" t="t" r="r" b="b"/>
            <a:pathLst>
              <a:path w="3324225" h="5205413">
                <a:moveTo>
                  <a:pt x="95239" y="0"/>
                </a:moveTo>
                <a:lnTo>
                  <a:pt x="3228986" y="0"/>
                </a:lnTo>
                <a:cubicBezTo>
                  <a:pt x="3281585" y="0"/>
                  <a:pt x="3324225" y="42640"/>
                  <a:pt x="3324225" y="95239"/>
                </a:cubicBezTo>
                <a:lnTo>
                  <a:pt x="3324225" y="5110173"/>
                </a:lnTo>
                <a:cubicBezTo>
                  <a:pt x="3324225" y="5162773"/>
                  <a:pt x="3281585" y="5205413"/>
                  <a:pt x="3228986" y="5205413"/>
                </a:cubicBezTo>
                <a:lnTo>
                  <a:pt x="95239" y="5205413"/>
                </a:lnTo>
                <a:cubicBezTo>
                  <a:pt x="42640" y="5205413"/>
                  <a:pt x="0" y="5162773"/>
                  <a:pt x="0" y="5110173"/>
                </a:cubicBezTo>
                <a:lnTo>
                  <a:pt x="0" y="95239"/>
                </a:lnTo>
                <a:cubicBezTo>
                  <a:pt x="0" y="42640"/>
                  <a:pt x="42640" y="0"/>
                  <a:pt x="9523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66163" y="1181098"/>
            <a:ext cx="307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Recognition Pipeline</a:t>
            </a:r>
            <a:endParaRPr lang="en-US" sz="1600" dirty="0"/>
          </a:p>
        </p:txBody>
      </p:sp>
      <p:pic>
        <p:nvPicPr>
          <p:cNvPr id="43" name="Image 0" descr="https://kimi-web-img.moonshot.cn/img/us.norton.com/b0457ccb9d02a66268f58337eef78ce3ccd49f35.png"/>
          <p:cNvPicPr>
            <a:picLocks noChangeAspect="1"/>
          </p:cNvPicPr>
          <p:nvPr/>
        </p:nvPicPr>
        <p:blipFill>
          <a:blip r:embed="rId3"/>
          <a:srcRect l="32" r="32"/>
          <a:stretch/>
        </p:blipFill>
        <p:spPr>
          <a:xfrm>
            <a:off x="8705850" y="1498598"/>
            <a:ext cx="3000375" cy="4278313"/>
          </a:xfrm>
          <a:prstGeom prst="roundRect">
            <a:avLst>
              <a:gd name="adj" fmla="val 2116"/>
            </a:avLst>
          </a:prstGeom>
        </p:spPr>
      </p:pic>
      <p:sp>
        <p:nvSpPr>
          <p:cNvPr id="44" name="Text 41"/>
          <p:cNvSpPr/>
          <p:nvPr/>
        </p:nvSpPr>
        <p:spPr>
          <a:xfrm>
            <a:off x="8674100" y="5873851"/>
            <a:ext cx="306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5-step verification process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/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810" y="1944054"/>
            <a:ext cx="1426845" cy="426720"/>
          </a:xfrm>
          <a:custGeom>
            <a:avLst/>
            <a:gdLst/>
            <a:ahLst/>
            <a:cxnLst/>
            <a:rect l="l" t="t" r="r" b="b"/>
            <a:pathLst>
              <a:path w="1426845" h="426720">
                <a:moveTo>
                  <a:pt x="213360" y="0"/>
                </a:moveTo>
                <a:lnTo>
                  <a:pt x="1213485" y="0"/>
                </a:lnTo>
                <a:cubicBezTo>
                  <a:pt x="1331320" y="0"/>
                  <a:pt x="1426845" y="95525"/>
                  <a:pt x="1426845" y="213360"/>
                </a:cubicBezTo>
                <a:lnTo>
                  <a:pt x="1426845" y="213360"/>
                </a:lnTo>
                <a:cubicBezTo>
                  <a:pt x="1426845" y="331195"/>
                  <a:pt x="1331320" y="426720"/>
                  <a:pt x="12134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101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9120" y="2062163"/>
            <a:ext cx="1126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603181"/>
            <a:ext cx="4686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4546281"/>
            <a:ext cx="4457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Understanding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QUESTIONS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Conceptual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627370" cy="2807970"/>
          </a:xfrm>
          <a:custGeom>
            <a:avLst/>
            <a:gdLst/>
            <a:ahLst/>
            <a:cxnLst/>
            <a:rect l="l" t="t" r="r" b="b"/>
            <a:pathLst>
              <a:path w="5627370" h="2807970">
                <a:moveTo>
                  <a:pt x="114312" y="0"/>
                </a:moveTo>
                <a:lnTo>
                  <a:pt x="5513058" y="0"/>
                </a:lnTo>
                <a:cubicBezTo>
                  <a:pt x="5576191" y="0"/>
                  <a:pt x="5627370" y="51179"/>
                  <a:pt x="5627370" y="114312"/>
                </a:cubicBezTo>
                <a:lnTo>
                  <a:pt x="5627370" y="2693658"/>
                </a:lnTo>
                <a:cubicBezTo>
                  <a:pt x="5627370" y="2756791"/>
                  <a:pt x="5576191" y="2807970"/>
                  <a:pt x="5513058" y="2807970"/>
                </a:cubicBezTo>
                <a:lnTo>
                  <a:pt x="114312" y="2807970"/>
                </a:lnTo>
                <a:cubicBezTo>
                  <a:pt x="51179" y="2807970"/>
                  <a:pt x="0" y="2756791"/>
                  <a:pt x="0" y="269365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9120" y="14173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1020" y="1417318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4420" y="1455418"/>
            <a:ext cx="48291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difference between face recognition and face verification?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170" y="2103118"/>
            <a:ext cx="5219700" cy="1733550"/>
          </a:xfrm>
          <a:custGeom>
            <a:avLst/>
            <a:gdLst/>
            <a:ahLst/>
            <a:cxnLst/>
            <a:rect l="l" t="t" r="r" b="b"/>
            <a:pathLst>
              <a:path w="5219700" h="1733550">
                <a:moveTo>
                  <a:pt x="38100" y="0"/>
                </a:moveTo>
                <a:lnTo>
                  <a:pt x="5143493" y="0"/>
                </a:lnTo>
                <a:cubicBezTo>
                  <a:pt x="5185581" y="0"/>
                  <a:pt x="5219700" y="34119"/>
                  <a:pt x="5219700" y="76207"/>
                </a:cubicBezTo>
                <a:lnTo>
                  <a:pt x="5219700" y="1657343"/>
                </a:lnTo>
                <a:cubicBezTo>
                  <a:pt x="5219700" y="1699431"/>
                  <a:pt x="5185581" y="1733550"/>
                  <a:pt x="5143493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8170" y="2103118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2174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484118"/>
            <a:ext cx="5048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(1:1):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Confirms if a person is who they claim to be by comparing against one stored template. Returns YES/NO.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Recognition (1:N):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who a person is by searching across an entire database. Returns identity.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6010" y="1223010"/>
            <a:ext cx="5627370" cy="2807970"/>
          </a:xfrm>
          <a:custGeom>
            <a:avLst/>
            <a:gdLst/>
            <a:ahLst/>
            <a:cxnLst/>
            <a:rect l="l" t="t" r="r" b="b"/>
            <a:pathLst>
              <a:path w="5627370" h="2807970">
                <a:moveTo>
                  <a:pt x="114312" y="0"/>
                </a:moveTo>
                <a:lnTo>
                  <a:pt x="5513058" y="0"/>
                </a:lnTo>
                <a:cubicBezTo>
                  <a:pt x="5576191" y="0"/>
                  <a:pt x="5627370" y="51179"/>
                  <a:pt x="5627370" y="114312"/>
                </a:cubicBezTo>
                <a:lnTo>
                  <a:pt x="5627370" y="2693658"/>
                </a:lnTo>
                <a:cubicBezTo>
                  <a:pt x="5627370" y="2756791"/>
                  <a:pt x="5576191" y="2807970"/>
                  <a:pt x="5513058" y="2807970"/>
                </a:cubicBezTo>
                <a:lnTo>
                  <a:pt x="114312" y="2807970"/>
                </a:lnTo>
                <a:cubicBezTo>
                  <a:pt x="51179" y="2807970"/>
                  <a:pt x="0" y="2756791"/>
                  <a:pt x="0" y="269365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70320" y="14173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2220" y="1417318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65620" y="1455418"/>
            <a:ext cx="48291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can't we use standard classification for face recognition with many people?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89370" y="2103118"/>
            <a:ext cx="5219700" cy="1524000"/>
          </a:xfrm>
          <a:custGeom>
            <a:avLst/>
            <a:gdLst/>
            <a:ahLst/>
            <a:cxnLst/>
            <a:rect l="l" t="t" r="r" b="b"/>
            <a:pathLst>
              <a:path w="5219700" h="1524000">
                <a:moveTo>
                  <a:pt x="381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1447800"/>
                </a:lnTo>
                <a:cubicBezTo>
                  <a:pt x="5219700" y="1489856"/>
                  <a:pt x="5185556" y="1524000"/>
                  <a:pt x="5143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89370" y="2103118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2720" y="22174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2720" y="24841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Softmax becomes unstable with many classes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2720" y="27508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Need to retrain entire network for new people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22720" y="30175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Insufficient data (one image per person)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22720" y="32842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 layer size keeps changing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191006"/>
            <a:ext cx="5627370" cy="2369820"/>
          </a:xfrm>
          <a:custGeom>
            <a:avLst/>
            <a:gdLst/>
            <a:ahLst/>
            <a:cxnLst/>
            <a:rect l="l" t="t" r="r" b="b"/>
            <a:pathLst>
              <a:path w="5627370" h="23698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2255524"/>
                </a:lnTo>
                <a:cubicBezTo>
                  <a:pt x="5627370" y="2318648"/>
                  <a:pt x="5576198" y="2369820"/>
                  <a:pt x="55130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9120" y="43853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1020" y="43853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4420" y="4423414"/>
            <a:ext cx="38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one-shot learning and why is it important?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8170" y="4880614"/>
            <a:ext cx="5219700" cy="1485900"/>
          </a:xfrm>
          <a:custGeom>
            <a:avLst/>
            <a:gdLst/>
            <a:ahLst/>
            <a:cxnLst/>
            <a:rect l="l" t="t" r="r" b="b"/>
            <a:pathLst>
              <a:path w="5219700" h="1485900">
                <a:moveTo>
                  <a:pt x="38100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1409703"/>
                </a:lnTo>
                <a:cubicBezTo>
                  <a:pt x="5219700" y="1451785"/>
                  <a:pt x="5185585" y="1485900"/>
                  <a:pt x="5143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170" y="488061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994914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5261614"/>
            <a:ext cx="5048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One-shot learning is recognizing a person from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one example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It's crucial because real-world scenarios often have only one image per person (ID photos, employee databases). Traditional deep learning needs hundreds of examples per class.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4191006"/>
            <a:ext cx="5627370" cy="2369820"/>
          </a:xfrm>
          <a:custGeom>
            <a:avLst/>
            <a:gdLst/>
            <a:ahLst/>
            <a:cxnLst/>
            <a:rect l="l" t="t" r="r" b="b"/>
            <a:pathLst>
              <a:path w="5627370" h="23698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2255524"/>
                </a:lnTo>
                <a:cubicBezTo>
                  <a:pt x="5627370" y="2318648"/>
                  <a:pt x="5576198" y="2369820"/>
                  <a:pt x="55130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70320" y="43853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32220" y="43853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65620" y="4423414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does a Siamese network work?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9370" y="4880614"/>
            <a:ext cx="5219700" cy="1485900"/>
          </a:xfrm>
          <a:custGeom>
            <a:avLst/>
            <a:gdLst/>
            <a:ahLst/>
            <a:cxnLst/>
            <a:rect l="l" t="t" r="r" b="b"/>
            <a:pathLst>
              <a:path w="5219700" h="1485900">
                <a:moveTo>
                  <a:pt x="38100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1409703"/>
                </a:lnTo>
                <a:cubicBezTo>
                  <a:pt x="5219700" y="1451785"/>
                  <a:pt x="5185585" y="1485900"/>
                  <a:pt x="5143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89370" y="488061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22720" y="4994914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22720" y="5261614"/>
            <a:ext cx="5048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Siamese network has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identical CNNs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shared weights. It takes two images, generates embeddings for both, calculates the distance between them, and decides if they're the same person based on a threshold.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QUESTIONS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Questions &amp; Formulas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627370" cy="2788920"/>
          </a:xfrm>
          <a:custGeom>
            <a:avLst/>
            <a:gdLst/>
            <a:ahLst/>
            <a:cxnLst/>
            <a:rect l="l" t="t" r="r" b="b"/>
            <a:pathLst>
              <a:path w="5627370" h="2788920">
                <a:moveTo>
                  <a:pt x="114290" y="0"/>
                </a:moveTo>
                <a:lnTo>
                  <a:pt x="5513080" y="0"/>
                </a:lnTo>
                <a:cubicBezTo>
                  <a:pt x="5576201" y="0"/>
                  <a:pt x="5627370" y="51169"/>
                  <a:pt x="5627370" y="114290"/>
                </a:cubicBezTo>
                <a:lnTo>
                  <a:pt x="5627370" y="2674630"/>
                </a:lnTo>
                <a:cubicBezTo>
                  <a:pt x="5627370" y="2737751"/>
                  <a:pt x="5576201" y="2788920"/>
                  <a:pt x="5513080" y="2788920"/>
                </a:cubicBezTo>
                <a:lnTo>
                  <a:pt x="114290" y="2788920"/>
                </a:lnTo>
                <a:cubicBezTo>
                  <a:pt x="51169" y="2788920"/>
                  <a:pt x="0" y="2737751"/>
                  <a:pt x="0" y="2674630"/>
                </a:cubicBezTo>
                <a:lnTo>
                  <a:pt x="0" y="114290"/>
                </a:lnTo>
                <a:cubicBezTo>
                  <a:pt x="0" y="51169"/>
                  <a:pt x="51169" y="0"/>
                  <a:pt x="11429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9120" y="14173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1020" y="1417318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4420" y="1455418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the triplet loss formula and explain each term.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170" y="1912618"/>
            <a:ext cx="5219700" cy="1905000"/>
          </a:xfrm>
          <a:custGeom>
            <a:avLst/>
            <a:gdLst/>
            <a:ahLst/>
            <a:cxnLst/>
            <a:rect l="l" t="t" r="r" b="b"/>
            <a:pathLst>
              <a:path w="5219700" h="1905000">
                <a:moveTo>
                  <a:pt x="381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1828800"/>
                </a:lnTo>
                <a:cubicBezTo>
                  <a:pt x="5219700" y="1870856"/>
                  <a:pt x="5185556" y="1905000"/>
                  <a:pt x="514350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8170" y="1912618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269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3317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max(||f(A)-f(P)||² - ||f(A)-f(N)||² + α, 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746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f(A):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Embedding of anchor 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9413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f(P):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Embedding of positive (same person)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2080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f(N):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Embedding of negative (different person)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α: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Margin hyperparameter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171956"/>
            <a:ext cx="5627370" cy="2369820"/>
          </a:xfrm>
          <a:custGeom>
            <a:avLst/>
            <a:gdLst/>
            <a:ahLst/>
            <a:cxnLst/>
            <a:rect l="l" t="t" r="r" b="b"/>
            <a:pathLst>
              <a:path w="5627370" h="23698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2255524"/>
                </a:lnTo>
                <a:cubicBezTo>
                  <a:pt x="5627370" y="2318648"/>
                  <a:pt x="5576198" y="2369820"/>
                  <a:pt x="55130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9120" y="43662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1020" y="436626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4420" y="4404364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role of margin α in triplet loss?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70" y="4861564"/>
            <a:ext cx="5219700" cy="1485900"/>
          </a:xfrm>
          <a:custGeom>
            <a:avLst/>
            <a:gdLst/>
            <a:ahLst/>
            <a:cxnLst/>
            <a:rect l="l" t="t" r="r" b="b"/>
            <a:pathLst>
              <a:path w="5219700" h="1485900">
                <a:moveTo>
                  <a:pt x="38100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1409703"/>
                </a:lnTo>
                <a:cubicBezTo>
                  <a:pt x="5219700" y="1451785"/>
                  <a:pt x="5185585" y="1485900"/>
                  <a:pt x="5143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8170" y="486156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975864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242564"/>
            <a:ext cx="5048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margin α ensures that the distance between anchor and positive is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smaller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the distance between anchor and negative. It prevents the model from learning trivial solutions and forces a clear separation between classes.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010" y="1223010"/>
            <a:ext cx="5627370" cy="2122170"/>
          </a:xfrm>
          <a:custGeom>
            <a:avLst/>
            <a:gdLst/>
            <a:ahLst/>
            <a:cxnLst/>
            <a:rect l="l" t="t" r="r" b="b"/>
            <a:pathLst>
              <a:path w="5627370" h="21221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2007870"/>
                </a:lnTo>
                <a:cubicBezTo>
                  <a:pt x="5627370" y="2070954"/>
                  <a:pt x="5576154" y="2122170"/>
                  <a:pt x="5513070" y="2122170"/>
                </a:cubicBezTo>
                <a:lnTo>
                  <a:pt x="114300" y="2122170"/>
                </a:lnTo>
                <a:cubicBezTo>
                  <a:pt x="51174" y="2122170"/>
                  <a:pt x="0" y="2070996"/>
                  <a:pt x="0" y="20078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70320" y="14173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32220" y="1417318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5620" y="1455418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 we use hard negative mining?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9370" y="1912618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38100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1162048"/>
                </a:lnTo>
                <a:cubicBezTo>
                  <a:pt x="5219700" y="1204133"/>
                  <a:pt x="5185583" y="1238250"/>
                  <a:pt x="5143498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89370" y="1912618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22720" y="2026918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22720" y="2293618"/>
            <a:ext cx="5048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triplets often produce zero loss (easy negatives). Hard negative mining selects triplets where d(A,P) ≈ d(A,N), forcing the network to learn subtle distinctions and improving training efficiency.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6010" y="3505206"/>
            <a:ext cx="5627370" cy="2569845"/>
          </a:xfrm>
          <a:custGeom>
            <a:avLst/>
            <a:gdLst/>
            <a:ahLst/>
            <a:cxnLst/>
            <a:rect l="l" t="t" r="r" b="b"/>
            <a:pathLst>
              <a:path w="5627370" h="2569845">
                <a:moveTo>
                  <a:pt x="114307" y="0"/>
                </a:moveTo>
                <a:lnTo>
                  <a:pt x="5513063" y="0"/>
                </a:lnTo>
                <a:cubicBezTo>
                  <a:pt x="5576193" y="0"/>
                  <a:pt x="5627370" y="51177"/>
                  <a:pt x="5627370" y="114307"/>
                </a:cubicBezTo>
                <a:lnTo>
                  <a:pt x="5627370" y="2455538"/>
                </a:lnTo>
                <a:cubicBezTo>
                  <a:pt x="5627370" y="2518668"/>
                  <a:pt x="5576193" y="2569845"/>
                  <a:pt x="5513063" y="2569845"/>
                </a:cubicBezTo>
                <a:lnTo>
                  <a:pt x="114307" y="2569845"/>
                </a:lnTo>
                <a:cubicBezTo>
                  <a:pt x="51177" y="2569845"/>
                  <a:pt x="0" y="2518668"/>
                  <a:pt x="0" y="245553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70320" y="36995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32220" y="36995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65620" y="3737614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we decide if two faces match?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9370" y="4194814"/>
            <a:ext cx="5219700" cy="1685925"/>
          </a:xfrm>
          <a:custGeom>
            <a:avLst/>
            <a:gdLst/>
            <a:ahLst/>
            <a:cxnLst/>
            <a:rect l="l" t="t" r="r" b="b"/>
            <a:pathLst>
              <a:path w="5219700" h="1685925">
                <a:moveTo>
                  <a:pt x="38100" y="0"/>
                </a:moveTo>
                <a:lnTo>
                  <a:pt x="5143496" y="0"/>
                </a:lnTo>
                <a:cubicBezTo>
                  <a:pt x="5185582" y="0"/>
                  <a:pt x="5219700" y="34118"/>
                  <a:pt x="5219700" y="76204"/>
                </a:cubicBezTo>
                <a:lnTo>
                  <a:pt x="5219700" y="1609721"/>
                </a:lnTo>
                <a:cubicBezTo>
                  <a:pt x="5219700" y="1651807"/>
                  <a:pt x="5185582" y="1685925"/>
                  <a:pt x="5143496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89370" y="4194814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22720" y="4309114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22720" y="4575814"/>
            <a:ext cx="504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Euclidean distance d between embeddings: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26530" y="4903474"/>
            <a:ext cx="4970145" cy="388620"/>
          </a:xfrm>
          <a:custGeom>
            <a:avLst/>
            <a:gdLst/>
            <a:ahLst/>
            <a:cxnLst/>
            <a:rect l="l" t="t" r="r" b="b"/>
            <a:pathLst>
              <a:path w="4970145" h="388620">
                <a:moveTo>
                  <a:pt x="38100" y="0"/>
                </a:moveTo>
                <a:lnTo>
                  <a:pt x="4932045" y="0"/>
                </a:lnTo>
                <a:cubicBezTo>
                  <a:pt x="4953087" y="0"/>
                  <a:pt x="4970145" y="17058"/>
                  <a:pt x="4970145" y="38100"/>
                </a:cubicBezTo>
                <a:lnTo>
                  <a:pt x="4970145" y="350520"/>
                </a:lnTo>
                <a:cubicBezTo>
                  <a:pt x="4970145" y="371562"/>
                  <a:pt x="4953087" y="388620"/>
                  <a:pt x="493204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06540" y="4983482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d &lt; τ → Same person 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26530" y="5375910"/>
            <a:ext cx="4970145" cy="388620"/>
          </a:xfrm>
          <a:custGeom>
            <a:avLst/>
            <a:gdLst/>
            <a:ahLst/>
            <a:cxnLst/>
            <a:rect l="l" t="t" r="r" b="b"/>
            <a:pathLst>
              <a:path w="4970145" h="388620">
                <a:moveTo>
                  <a:pt x="38100" y="0"/>
                </a:moveTo>
                <a:lnTo>
                  <a:pt x="4932045" y="0"/>
                </a:lnTo>
                <a:cubicBezTo>
                  <a:pt x="4953087" y="0"/>
                  <a:pt x="4970145" y="17058"/>
                  <a:pt x="4970145" y="38100"/>
                </a:cubicBezTo>
                <a:lnTo>
                  <a:pt x="4970145" y="350520"/>
                </a:lnTo>
                <a:cubicBezTo>
                  <a:pt x="4970145" y="371562"/>
                  <a:pt x="4953087" y="388620"/>
                  <a:pt x="493204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06540" y="5455918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d ≥ τ → Different person 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856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kern="0" spc="54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TEST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797" y="613434"/>
            <a:ext cx="11663765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5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Choice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205" y="1093957"/>
            <a:ext cx="5681080" cy="1915277"/>
          </a:xfrm>
          <a:custGeom>
            <a:avLst/>
            <a:gdLst/>
            <a:ahLst/>
            <a:cxnLst/>
            <a:rect l="l" t="t" r="r" b="b"/>
            <a:pathLst>
              <a:path w="5681080" h="1915277">
                <a:moveTo>
                  <a:pt x="102237" y="0"/>
                </a:moveTo>
                <a:lnTo>
                  <a:pt x="5578843" y="0"/>
                </a:lnTo>
                <a:cubicBezTo>
                  <a:pt x="5635307" y="0"/>
                  <a:pt x="5681080" y="45773"/>
                  <a:pt x="5681080" y="102237"/>
                </a:cubicBezTo>
                <a:lnTo>
                  <a:pt x="5681080" y="1813040"/>
                </a:lnTo>
                <a:cubicBezTo>
                  <a:pt x="5681080" y="1869504"/>
                  <a:pt x="5635307" y="1915277"/>
                  <a:pt x="5578843" y="1915277"/>
                </a:cubicBezTo>
                <a:lnTo>
                  <a:pt x="102237" y="1915277"/>
                </a:lnTo>
                <a:cubicBezTo>
                  <a:pt x="45773" y="1915277"/>
                  <a:pt x="0" y="1869504"/>
                  <a:pt x="0" y="1813040"/>
                </a:cubicBezTo>
                <a:lnTo>
                  <a:pt x="0" y="102237"/>
                </a:lnTo>
                <a:cubicBezTo>
                  <a:pt x="0" y="45811"/>
                  <a:pt x="45811" y="0"/>
                  <a:pt x="10223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8011" y="1267762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3931" y="1267762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1047" y="1267762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verification is a ___ matching problem.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1047" y="1540399"/>
            <a:ext cx="42599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1:N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1047" y="1778957"/>
            <a:ext cx="51971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1:1 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1047" y="2017514"/>
            <a:ext cx="47711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N:N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1047" y="2256072"/>
            <a:ext cx="43451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N:1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7993" y="1093957"/>
            <a:ext cx="5681080" cy="1915277"/>
          </a:xfrm>
          <a:custGeom>
            <a:avLst/>
            <a:gdLst/>
            <a:ahLst/>
            <a:cxnLst/>
            <a:rect l="l" t="t" r="r" b="b"/>
            <a:pathLst>
              <a:path w="5681080" h="1915277">
                <a:moveTo>
                  <a:pt x="102237" y="0"/>
                </a:moveTo>
                <a:lnTo>
                  <a:pt x="5578843" y="0"/>
                </a:lnTo>
                <a:cubicBezTo>
                  <a:pt x="5635307" y="0"/>
                  <a:pt x="5681080" y="45773"/>
                  <a:pt x="5681080" y="102237"/>
                </a:cubicBezTo>
                <a:lnTo>
                  <a:pt x="5681080" y="1813040"/>
                </a:lnTo>
                <a:cubicBezTo>
                  <a:pt x="5681080" y="1869504"/>
                  <a:pt x="5635307" y="1915277"/>
                  <a:pt x="5578843" y="1915277"/>
                </a:cubicBezTo>
                <a:lnTo>
                  <a:pt x="102237" y="1915277"/>
                </a:lnTo>
                <a:cubicBezTo>
                  <a:pt x="45773" y="1915277"/>
                  <a:pt x="0" y="1869504"/>
                  <a:pt x="0" y="1813040"/>
                </a:cubicBezTo>
                <a:lnTo>
                  <a:pt x="0" y="102237"/>
                </a:lnTo>
                <a:cubicBezTo>
                  <a:pt x="0" y="45811"/>
                  <a:pt x="45811" y="0"/>
                  <a:pt x="10223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41800" y="1267762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7720" y="1267762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4836" y="1267762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Triplet loss uses how many images?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84836" y="1540399"/>
            <a:ext cx="32375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4836" y="1778957"/>
            <a:ext cx="34079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84836" y="2017514"/>
            <a:ext cx="46007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3 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4836" y="2256072"/>
            <a:ext cx="34079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4836" y="2528709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Anchor, Positive, Negative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4205" y="3152374"/>
            <a:ext cx="5681080" cy="1915277"/>
          </a:xfrm>
          <a:custGeom>
            <a:avLst/>
            <a:gdLst/>
            <a:ahLst/>
            <a:cxnLst/>
            <a:rect l="l" t="t" r="r" b="b"/>
            <a:pathLst>
              <a:path w="5681080" h="1915277">
                <a:moveTo>
                  <a:pt x="102237" y="0"/>
                </a:moveTo>
                <a:lnTo>
                  <a:pt x="5578843" y="0"/>
                </a:lnTo>
                <a:cubicBezTo>
                  <a:pt x="5635307" y="0"/>
                  <a:pt x="5681080" y="45773"/>
                  <a:pt x="5681080" y="102237"/>
                </a:cubicBezTo>
                <a:lnTo>
                  <a:pt x="5681080" y="1813040"/>
                </a:lnTo>
                <a:cubicBezTo>
                  <a:pt x="5681080" y="1869504"/>
                  <a:pt x="5635307" y="1915277"/>
                  <a:pt x="5578843" y="1915277"/>
                </a:cubicBezTo>
                <a:lnTo>
                  <a:pt x="102237" y="1915277"/>
                </a:lnTo>
                <a:cubicBezTo>
                  <a:pt x="45773" y="1915277"/>
                  <a:pt x="0" y="1869504"/>
                  <a:pt x="0" y="1813040"/>
                </a:cubicBezTo>
                <a:lnTo>
                  <a:pt x="0" y="102237"/>
                </a:lnTo>
                <a:cubicBezTo>
                  <a:pt x="0" y="45811"/>
                  <a:pt x="45811" y="0"/>
                  <a:pt x="10223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8011" y="3326179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3931" y="3326179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1047" y="3326179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distance metric is commonly used?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1047" y="3598816"/>
            <a:ext cx="87755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Manhattan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1047" y="3837374"/>
            <a:ext cx="971270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Euclidean 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1047" y="4075931"/>
            <a:ext cx="65603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Cosine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1047" y="4314489"/>
            <a:ext cx="1184268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All of the above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7993" y="3152374"/>
            <a:ext cx="5681080" cy="1915277"/>
          </a:xfrm>
          <a:custGeom>
            <a:avLst/>
            <a:gdLst/>
            <a:ahLst/>
            <a:cxnLst/>
            <a:rect l="l" t="t" r="r" b="b"/>
            <a:pathLst>
              <a:path w="5681080" h="1915277">
                <a:moveTo>
                  <a:pt x="102237" y="0"/>
                </a:moveTo>
                <a:lnTo>
                  <a:pt x="5578843" y="0"/>
                </a:lnTo>
                <a:cubicBezTo>
                  <a:pt x="5635307" y="0"/>
                  <a:pt x="5681080" y="45773"/>
                  <a:pt x="5681080" y="102237"/>
                </a:cubicBezTo>
                <a:lnTo>
                  <a:pt x="5681080" y="1813040"/>
                </a:lnTo>
                <a:cubicBezTo>
                  <a:pt x="5681080" y="1869504"/>
                  <a:pt x="5635307" y="1915277"/>
                  <a:pt x="5578843" y="1915277"/>
                </a:cubicBezTo>
                <a:lnTo>
                  <a:pt x="102237" y="1915277"/>
                </a:lnTo>
                <a:cubicBezTo>
                  <a:pt x="45773" y="1915277"/>
                  <a:pt x="0" y="1869504"/>
                  <a:pt x="0" y="1813040"/>
                </a:cubicBezTo>
                <a:lnTo>
                  <a:pt x="0" y="102237"/>
                </a:lnTo>
                <a:cubicBezTo>
                  <a:pt x="0" y="45811"/>
                  <a:pt x="45811" y="0"/>
                  <a:pt x="10223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41800" y="3326179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7720" y="3326179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4836" y="3326179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 requires user consent?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4836" y="3598816"/>
            <a:ext cx="68159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Always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4836" y="3837374"/>
            <a:ext cx="75827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Never 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4836" y="4075931"/>
            <a:ext cx="91163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Sometimes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84836" y="4314489"/>
            <a:ext cx="76679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Optional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84836" y="4587126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work passively in surveillance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4205" y="5210782"/>
            <a:ext cx="5681080" cy="1531518"/>
          </a:xfrm>
          <a:custGeom>
            <a:avLst/>
            <a:gdLst/>
            <a:ahLst/>
            <a:cxnLst/>
            <a:rect l="l" t="t" r="r" b="b"/>
            <a:pathLst>
              <a:path w="5681080" h="1531518">
                <a:moveTo>
                  <a:pt x="102238" y="0"/>
                </a:moveTo>
                <a:lnTo>
                  <a:pt x="5578842" y="0"/>
                </a:lnTo>
                <a:cubicBezTo>
                  <a:pt x="5635307" y="0"/>
                  <a:pt x="5681080" y="42677"/>
                  <a:pt x="5681080" y="95322"/>
                </a:cubicBezTo>
                <a:lnTo>
                  <a:pt x="5681080" y="1436196"/>
                </a:lnTo>
                <a:cubicBezTo>
                  <a:pt x="5681080" y="1488841"/>
                  <a:pt x="5635307" y="1531518"/>
                  <a:pt x="5578842" y="1531518"/>
                </a:cubicBezTo>
                <a:lnTo>
                  <a:pt x="102238" y="1531518"/>
                </a:lnTo>
                <a:cubicBezTo>
                  <a:pt x="45773" y="1531518"/>
                  <a:pt x="0" y="1488841"/>
                  <a:pt x="0" y="1436196"/>
                </a:cubicBezTo>
                <a:lnTo>
                  <a:pt x="0" y="95322"/>
                </a:lnTo>
                <a:cubicBezTo>
                  <a:pt x="0" y="42677"/>
                  <a:pt x="45773" y="0"/>
                  <a:pt x="10223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8011" y="5384587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3931" y="5384587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1047" y="5384587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output dimension of FaceNet embeddings?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1047" y="5657224"/>
            <a:ext cx="40043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64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1047" y="5895782"/>
            <a:ext cx="58787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128 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1047" y="6134340"/>
            <a:ext cx="46859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256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61047" y="6372897"/>
            <a:ext cx="45155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512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7993" y="5210782"/>
            <a:ext cx="5681080" cy="1531518"/>
          </a:xfrm>
          <a:custGeom>
            <a:avLst/>
            <a:gdLst/>
            <a:ahLst/>
            <a:cxnLst/>
            <a:rect l="l" t="t" r="r" b="b"/>
            <a:pathLst>
              <a:path w="5681080" h="1531518">
                <a:moveTo>
                  <a:pt x="102238" y="0"/>
                </a:moveTo>
                <a:lnTo>
                  <a:pt x="5578842" y="0"/>
                </a:lnTo>
                <a:cubicBezTo>
                  <a:pt x="5635307" y="0"/>
                  <a:pt x="5681080" y="42677"/>
                  <a:pt x="5681080" y="95322"/>
                </a:cubicBezTo>
                <a:lnTo>
                  <a:pt x="5681080" y="1436196"/>
                </a:lnTo>
                <a:cubicBezTo>
                  <a:pt x="5681080" y="1488841"/>
                  <a:pt x="5635307" y="1531518"/>
                  <a:pt x="5578842" y="1531518"/>
                </a:cubicBezTo>
                <a:lnTo>
                  <a:pt x="102238" y="1531518"/>
                </a:lnTo>
                <a:cubicBezTo>
                  <a:pt x="45773" y="1531518"/>
                  <a:pt x="0" y="1488841"/>
                  <a:pt x="0" y="1436196"/>
                </a:cubicBezTo>
                <a:lnTo>
                  <a:pt x="0" y="95322"/>
                </a:lnTo>
                <a:cubicBezTo>
                  <a:pt x="0" y="42677"/>
                  <a:pt x="45773" y="0"/>
                  <a:pt x="10223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41800" y="5384587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07720" y="5384587"/>
            <a:ext cx="40895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84836" y="5384587"/>
            <a:ext cx="495859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Siamese networks have ___ weights.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84836" y="5657224"/>
            <a:ext cx="76679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(a) Different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84836" y="5895782"/>
            <a:ext cx="81791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(b) Shared 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84836" y="6134340"/>
            <a:ext cx="74975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(c) Random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84836" y="6372897"/>
            <a:ext cx="57935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(d) Fixed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Coding &amp; Implementation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5705475" cy="2212975"/>
          </a:xfrm>
          <a:custGeom>
            <a:avLst/>
            <a:gdLst/>
            <a:ahLst/>
            <a:cxnLst/>
            <a:rect l="l" t="t" r="r" b="b"/>
            <a:pathLst>
              <a:path w="5705475" h="2212975">
                <a:moveTo>
                  <a:pt x="95246" y="0"/>
                </a:moveTo>
                <a:lnTo>
                  <a:pt x="5610229" y="0"/>
                </a:lnTo>
                <a:cubicBezTo>
                  <a:pt x="5662832" y="0"/>
                  <a:pt x="5705475" y="42643"/>
                  <a:pt x="5705475" y="95246"/>
                </a:cubicBezTo>
                <a:lnTo>
                  <a:pt x="5705475" y="2117729"/>
                </a:lnTo>
                <a:cubicBezTo>
                  <a:pt x="5705475" y="2170332"/>
                  <a:pt x="5662832" y="2212975"/>
                  <a:pt x="5610229" y="2212975"/>
                </a:cubicBezTo>
                <a:lnTo>
                  <a:pt x="95246" y="2212975"/>
                </a:lnTo>
                <a:cubicBezTo>
                  <a:pt x="42643" y="2212975"/>
                  <a:pt x="0" y="2170332"/>
                  <a:pt x="0" y="2117729"/>
                </a:cubicBezTo>
                <a:lnTo>
                  <a:pt x="0" y="95246"/>
                </a:lnTo>
                <a:cubicBezTo>
                  <a:pt x="0" y="42679"/>
                  <a:pt x="42679" y="0"/>
                  <a:pt x="9524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2600" y="118109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0850" y="118109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5350" y="1212848"/>
            <a:ext cx="246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Pseudocode for triplet loss calculation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5775" y="1597023"/>
            <a:ext cx="5380038" cy="1466850"/>
          </a:xfrm>
          <a:custGeom>
            <a:avLst/>
            <a:gdLst/>
            <a:ahLst/>
            <a:cxnLst/>
            <a:rect l="l" t="t" r="r" b="b"/>
            <a:pathLst>
              <a:path w="5380038" h="1466850">
                <a:moveTo>
                  <a:pt x="63500" y="0"/>
                </a:moveTo>
                <a:lnTo>
                  <a:pt x="5316538" y="0"/>
                </a:lnTo>
                <a:cubicBezTo>
                  <a:pt x="5351608" y="0"/>
                  <a:pt x="5380038" y="28430"/>
                  <a:pt x="5380038" y="63500"/>
                </a:cubicBezTo>
                <a:lnTo>
                  <a:pt x="5380038" y="1403350"/>
                </a:lnTo>
                <a:cubicBezTo>
                  <a:pt x="5380038" y="1438420"/>
                  <a:pt x="5351608" y="1466850"/>
                  <a:pt x="5316538" y="1466850"/>
                </a:cubicBezTo>
                <a:lnTo>
                  <a:pt x="63500" y="1466850"/>
                </a:lnTo>
                <a:cubicBezTo>
                  <a:pt x="28430" y="1466850"/>
                  <a:pt x="0" y="1438420"/>
                  <a:pt x="0" y="1403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D4A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4200" y="1708152"/>
            <a:ext cx="3232646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triplet_loss(anchor, positive, negative, alpha): # Calculate squared distances d_ap = sum((a - p) ** 2) d_an = sum((a - n) ** 2) # Compute loss loss = max(d_ap - d_an + alpha, 0) return loss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675" y="3362327"/>
            <a:ext cx="5705475" cy="2047121"/>
          </a:xfrm>
          <a:custGeom>
            <a:avLst/>
            <a:gdLst/>
            <a:ahLst/>
            <a:cxnLst/>
            <a:rect l="l" t="t" r="r" b="b"/>
            <a:pathLst>
              <a:path w="5705475" h="2047121">
                <a:moveTo>
                  <a:pt x="95261" y="0"/>
                </a:moveTo>
                <a:lnTo>
                  <a:pt x="5610214" y="0"/>
                </a:lnTo>
                <a:cubicBezTo>
                  <a:pt x="5662825" y="0"/>
                  <a:pt x="5705475" y="23564"/>
                  <a:pt x="5705475" y="52631"/>
                </a:cubicBezTo>
                <a:lnTo>
                  <a:pt x="5705475" y="1994490"/>
                </a:lnTo>
                <a:cubicBezTo>
                  <a:pt x="5705475" y="2023557"/>
                  <a:pt x="5662825" y="2047121"/>
                  <a:pt x="5610214" y="2047121"/>
                </a:cubicBezTo>
                <a:lnTo>
                  <a:pt x="95261" y="2047121"/>
                </a:lnTo>
                <a:cubicBezTo>
                  <a:pt x="42650" y="2047121"/>
                  <a:pt x="0" y="2023557"/>
                  <a:pt x="0" y="1994490"/>
                </a:cubicBezTo>
                <a:lnTo>
                  <a:pt x="0" y="52631"/>
                </a:lnTo>
                <a:cubicBezTo>
                  <a:pt x="0" y="23583"/>
                  <a:pt x="42685" y="0"/>
                  <a:pt x="9526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2600" y="3524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0850" y="35242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5350" y="3556000"/>
            <a:ext cx="235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steps for face images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475" y="3937000"/>
            <a:ext cx="5365750" cy="1270000"/>
          </a:xfrm>
          <a:custGeom>
            <a:avLst/>
            <a:gdLst/>
            <a:ahLst/>
            <a:cxnLst/>
            <a:rect l="l" t="t" r="r" b="b"/>
            <a:pathLst>
              <a:path w="5365750" h="1270000">
                <a:moveTo>
                  <a:pt x="3175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1206500"/>
                </a:lnTo>
                <a:cubicBezTo>
                  <a:pt x="5365750" y="1241547"/>
                  <a:pt x="5337297" y="1270000"/>
                  <a:pt x="5302250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8475" y="393700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4032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Detection:</a:t>
            </a: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Locate face using MTCNN/Haar cascade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254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Alignment:</a:t>
            </a: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Normalize eye positions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476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Resizing:</a:t>
            </a: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size (e.g., 160x160)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699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</a:t>
            </a: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Normalization:</a:t>
            </a: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 pixel values [0,1] or [-1,1]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921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</a:t>
            </a: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Augmentation:</a:t>
            </a: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(Optional) Random flips, rotations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2675" y="1019175"/>
            <a:ext cx="5705475" cy="3340100"/>
          </a:xfrm>
          <a:custGeom>
            <a:avLst/>
            <a:gdLst/>
            <a:ahLst/>
            <a:cxnLst/>
            <a:rect l="l" t="t" r="r" b="b"/>
            <a:pathLst>
              <a:path w="5705475" h="3340100">
                <a:moveTo>
                  <a:pt x="95260" y="0"/>
                </a:moveTo>
                <a:lnTo>
                  <a:pt x="5610215" y="0"/>
                </a:lnTo>
                <a:cubicBezTo>
                  <a:pt x="5662826" y="0"/>
                  <a:pt x="5705475" y="42649"/>
                  <a:pt x="5705475" y="95260"/>
                </a:cubicBezTo>
                <a:lnTo>
                  <a:pt x="5705475" y="3244840"/>
                </a:lnTo>
                <a:cubicBezTo>
                  <a:pt x="5705475" y="3297451"/>
                  <a:pt x="5662826" y="3340100"/>
                  <a:pt x="5610215" y="3340100"/>
                </a:cubicBezTo>
                <a:lnTo>
                  <a:pt x="95260" y="3340100"/>
                </a:lnTo>
                <a:cubicBezTo>
                  <a:pt x="42649" y="3340100"/>
                  <a:pt x="0" y="3297451"/>
                  <a:pt x="0" y="324484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4600" y="118109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2850" y="118109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7350" y="1212848"/>
            <a:ext cx="247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 for face verification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0475" y="1593848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40475" y="1593848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51600" y="168909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 (False Acceptance Rate)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1600" y="191134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of different people incorrectly accepted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0475" y="2260598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40475" y="2260598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51600" y="235584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FRR (False Rejection Rate)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1600" y="257809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 of same people incorrectly rejected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0475" y="2927348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0475" y="2927348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51600" y="302259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1600" y="324484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correct predictions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0475" y="3594098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40475" y="3594098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51600" y="368934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1600" y="391159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under ROC curve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2675" y="4492630"/>
            <a:ext cx="5705475" cy="2320923"/>
          </a:xfrm>
          <a:custGeom>
            <a:avLst/>
            <a:gdLst/>
            <a:ahLst/>
            <a:cxnLst/>
            <a:rect l="l" t="t" r="r" b="b"/>
            <a:pathLst>
              <a:path w="5705475" h="2320923">
                <a:moveTo>
                  <a:pt x="95261" y="0"/>
                </a:moveTo>
                <a:lnTo>
                  <a:pt x="5610214" y="0"/>
                </a:lnTo>
                <a:cubicBezTo>
                  <a:pt x="5662825" y="0"/>
                  <a:pt x="5705475" y="38395"/>
                  <a:pt x="5705475" y="85758"/>
                </a:cubicBezTo>
                <a:lnTo>
                  <a:pt x="5705475" y="2235165"/>
                </a:lnTo>
                <a:cubicBezTo>
                  <a:pt x="5705475" y="2282528"/>
                  <a:pt x="5662825" y="2320923"/>
                  <a:pt x="5610214" y="2320923"/>
                </a:cubicBezTo>
                <a:lnTo>
                  <a:pt x="95261" y="2320923"/>
                </a:lnTo>
                <a:cubicBezTo>
                  <a:pt x="42650" y="2320923"/>
                  <a:pt x="0" y="2282528"/>
                  <a:pt x="0" y="2235165"/>
                </a:cubicBezTo>
                <a:lnTo>
                  <a:pt x="0" y="85758"/>
                </a:lnTo>
                <a:cubicBezTo>
                  <a:pt x="0" y="38427"/>
                  <a:pt x="42685" y="0"/>
                  <a:pt x="9526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5000"/>
                </a:srgbClr>
              </a:gs>
            </a:gsLst>
            <a:lin ang="2700000" scaled="1"/>
          </a:gradFill>
          <a:ln w="1016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24600" y="4654553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Implementation Tips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4600" y="4972053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19850" y="506730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Pretrained Models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9850" y="528955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FaceNet, OpenFace, or DeepFace weights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4600" y="5638803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19850" y="573405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 Threshold τ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595630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optimal balance between FAR and FRR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4600" y="6305553"/>
            <a:ext cx="5381625" cy="432076"/>
          </a:xfrm>
          <a:custGeom>
            <a:avLst/>
            <a:gdLst/>
            <a:ahLst/>
            <a:cxnLst/>
            <a:rect l="l" t="t" r="r" b="b"/>
            <a:pathLst>
              <a:path w="5381625" h="432076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0362"/>
                  <a:pt x="5381625" y="45480"/>
                </a:cubicBezTo>
                <a:lnTo>
                  <a:pt x="5381625" y="386596"/>
                </a:lnTo>
                <a:cubicBezTo>
                  <a:pt x="5381625" y="411714"/>
                  <a:pt x="5353196" y="432076"/>
                  <a:pt x="5318127" y="432076"/>
                </a:cubicBezTo>
                <a:lnTo>
                  <a:pt x="63498" y="432076"/>
                </a:lnTo>
                <a:cubicBezTo>
                  <a:pt x="28429" y="432076"/>
                  <a:pt x="0" y="411714"/>
                  <a:pt x="0" y="386596"/>
                </a:cubicBezTo>
                <a:lnTo>
                  <a:pt x="0" y="45480"/>
                </a:lnTo>
                <a:cubicBezTo>
                  <a:pt x="0" y="20379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88100" y="630555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Edge Cases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8100" y="6521591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Occlusions, lighting variations, pose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ndfonline.com/c21339c9f54b3310b0c424e4ced989247684d44f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111" r="1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D4A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66700" y="302893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33375" y="912493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You Should Remember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23010" y="1487803"/>
            <a:ext cx="4789170" cy="1226820"/>
          </a:xfrm>
          <a:custGeom>
            <a:avLst/>
            <a:gdLst/>
            <a:ahLst/>
            <a:cxnLst/>
            <a:rect l="l" t="t" r="r" b="b"/>
            <a:pathLst>
              <a:path w="4789170" h="1226820">
                <a:moveTo>
                  <a:pt x="114303" y="0"/>
                </a:moveTo>
                <a:lnTo>
                  <a:pt x="4674867" y="0"/>
                </a:lnTo>
                <a:cubicBezTo>
                  <a:pt x="4737995" y="0"/>
                  <a:pt x="4789170" y="51175"/>
                  <a:pt x="4789170" y="114303"/>
                </a:cubicBezTo>
                <a:lnTo>
                  <a:pt x="4789170" y="1112517"/>
                </a:lnTo>
                <a:cubicBezTo>
                  <a:pt x="4789170" y="1175603"/>
                  <a:pt x="4737953" y="1226820"/>
                  <a:pt x="46748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17320" y="16821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7215" y="1758321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26920" y="168212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Verification vs Recognition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26920" y="2025021"/>
            <a:ext cx="3867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is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 matching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(confirms identity), Recognition is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 search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(identifies from database)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6010" y="1487803"/>
            <a:ext cx="4789170" cy="1226820"/>
          </a:xfrm>
          <a:custGeom>
            <a:avLst/>
            <a:gdLst/>
            <a:ahLst/>
            <a:cxnLst/>
            <a:rect l="l" t="t" r="r" b="b"/>
            <a:pathLst>
              <a:path w="4789170" h="1226820">
                <a:moveTo>
                  <a:pt x="114303" y="0"/>
                </a:moveTo>
                <a:lnTo>
                  <a:pt x="4674867" y="0"/>
                </a:lnTo>
                <a:cubicBezTo>
                  <a:pt x="4737995" y="0"/>
                  <a:pt x="4789170" y="51175"/>
                  <a:pt x="4789170" y="114303"/>
                </a:cubicBezTo>
                <a:lnTo>
                  <a:pt x="4789170" y="1112517"/>
                </a:lnTo>
                <a:cubicBezTo>
                  <a:pt x="4789170" y="1175603"/>
                  <a:pt x="4737953" y="1226820"/>
                  <a:pt x="46748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70320" y="16821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59498" y="175832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79920" y="168212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One-Shot Learning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79920" y="2025021"/>
            <a:ext cx="3867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Recognizing from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example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class. Essential for real-world scenarios with limited training data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23010" y="2874649"/>
            <a:ext cx="4789170" cy="1474470"/>
          </a:xfrm>
          <a:custGeom>
            <a:avLst/>
            <a:gdLst/>
            <a:ahLst/>
            <a:cxnLst/>
            <a:rect l="l" t="t" r="r" b="b"/>
            <a:pathLst>
              <a:path w="4789170" h="1474470">
                <a:moveTo>
                  <a:pt x="114301" y="0"/>
                </a:moveTo>
                <a:lnTo>
                  <a:pt x="4674869" y="0"/>
                </a:lnTo>
                <a:cubicBezTo>
                  <a:pt x="4737996" y="0"/>
                  <a:pt x="4789170" y="51174"/>
                  <a:pt x="4789170" y="114301"/>
                </a:cubicBezTo>
                <a:lnTo>
                  <a:pt x="4789170" y="1360169"/>
                </a:lnTo>
                <a:cubicBezTo>
                  <a:pt x="4789170" y="1423296"/>
                  <a:pt x="4737996" y="1474470"/>
                  <a:pt x="46748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417320" y="306895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05545" y="3145157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26920" y="3068957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Siamese Networks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26920" y="3411857"/>
            <a:ext cx="3867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identical CNNs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shared weights that learn similarity functions instead of classification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6010" y="2874649"/>
            <a:ext cx="4789170" cy="1474470"/>
          </a:xfrm>
          <a:custGeom>
            <a:avLst/>
            <a:gdLst/>
            <a:ahLst/>
            <a:cxnLst/>
            <a:rect l="l" t="t" r="r" b="b"/>
            <a:pathLst>
              <a:path w="4789170" h="1474470">
                <a:moveTo>
                  <a:pt x="114301" y="0"/>
                </a:moveTo>
                <a:lnTo>
                  <a:pt x="4674869" y="0"/>
                </a:lnTo>
                <a:cubicBezTo>
                  <a:pt x="4737996" y="0"/>
                  <a:pt x="4789170" y="51174"/>
                  <a:pt x="4789170" y="114301"/>
                </a:cubicBezTo>
                <a:lnTo>
                  <a:pt x="4789170" y="1360169"/>
                </a:lnTo>
                <a:cubicBezTo>
                  <a:pt x="4789170" y="1423296"/>
                  <a:pt x="4737996" y="1474470"/>
                  <a:pt x="46748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70320" y="306895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58664" y="3145157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79920" y="3068957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Triplet Loss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79920" y="3411857"/>
            <a:ext cx="3867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Anchor, Positive, Negative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push same-person embeddings together and different-person embeddings apart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23010" y="4509135"/>
            <a:ext cx="9742170" cy="1226820"/>
          </a:xfrm>
          <a:custGeom>
            <a:avLst/>
            <a:gdLst/>
            <a:ahLst/>
            <a:cxnLst/>
            <a:rect l="l" t="t" r="r" b="b"/>
            <a:pathLst>
              <a:path w="9742170" h="1226820">
                <a:moveTo>
                  <a:pt x="114303" y="0"/>
                </a:moveTo>
                <a:lnTo>
                  <a:pt x="9627867" y="0"/>
                </a:lnTo>
                <a:cubicBezTo>
                  <a:pt x="9690995" y="0"/>
                  <a:pt x="9742170" y="51175"/>
                  <a:pt x="9742170" y="114303"/>
                </a:cubicBezTo>
                <a:lnTo>
                  <a:pt x="9742170" y="1112517"/>
                </a:lnTo>
                <a:cubicBezTo>
                  <a:pt x="9742170" y="1175603"/>
                  <a:pt x="9690953" y="1226820"/>
                  <a:pt x="96278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417320" y="47034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507093" y="477964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026920" y="4703443"/>
            <a:ext cx="883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Encodings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026920" y="5046343"/>
            <a:ext cx="882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Faces converted to </a:t>
            </a:r>
            <a:r>
              <a:rPr lang="en-US" sz="1200" b="1" dirty="0">
                <a:solidFill>
                  <a:srgbClr val="E8EC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128-dimensional vectors</a:t>
            </a: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(FaceNet). Similar faces have small Euclidean distance, different faces have large distance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96345" y="6048381"/>
            <a:ext cx="3998595" cy="502920"/>
          </a:xfrm>
          <a:custGeom>
            <a:avLst/>
            <a:gdLst/>
            <a:ahLst/>
            <a:cxnLst/>
            <a:rect l="l" t="t" r="r" b="b"/>
            <a:pathLst>
              <a:path w="3998595" h="502920">
                <a:moveTo>
                  <a:pt x="251460" y="0"/>
                </a:moveTo>
                <a:lnTo>
                  <a:pt x="3747135" y="0"/>
                </a:lnTo>
                <a:cubicBezTo>
                  <a:pt x="3886013" y="0"/>
                  <a:pt x="3998595" y="112582"/>
                  <a:pt x="3998595" y="251460"/>
                </a:cubicBezTo>
                <a:lnTo>
                  <a:pt x="3998595" y="251460"/>
                </a:lnTo>
                <a:cubicBezTo>
                  <a:pt x="3998595" y="390338"/>
                  <a:pt x="3886013" y="502920"/>
                  <a:pt x="3747135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016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341852" y="621220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62118" y="6166489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luck with your exams and interviews!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2182</Words>
  <Application>Microsoft Office PowerPoint</Application>
  <PresentationFormat>Widescreen</PresentationFormat>
  <Paragraphs>400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Liter</vt:lpstr>
      <vt:lpstr>微软雅黑</vt:lpstr>
      <vt:lpstr>Quattrocento Sans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&amp; Deep Learning - A Beginner's Guide</dc:title>
  <dc:subject>Face Recognition &amp; Deep Learning - A Beginner's Guide</dc:subject>
  <dc:creator>Kimi</dc:creator>
  <cp:lastModifiedBy>Kinza Afzal</cp:lastModifiedBy>
  <cp:revision>2</cp:revision>
  <dcterms:created xsi:type="dcterms:W3CDTF">2026-03-17T20:06:36Z</dcterms:created>
  <dcterms:modified xsi:type="dcterms:W3CDTF">2026-03-17T20:07:30Z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{"Label":"Face Recognition &amp; Deep Learning - A Beginner's Guide","ContentProducer":"001191110108MACG2KBH8F10000","ProduceID":"19cfd355-82e2-84ff-8000-0000cb42a7f7","ReservedCode1":"","ContentPropagator":"001191110108MACG2KBH8F20000","PropagateID":"19cfd355-82e2-84ff-8000-0000cb42a7f7","ReservedCode2":""}</vt:lpwstr>
  </property>
</Properties>
</file>