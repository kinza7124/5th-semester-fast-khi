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20"/>
  </p:notesMasterIdLst>
  <p:sldIdLst>
    <p:sldId id="256" r:id="rId2"/>
    <p:sldId id="343" r:id="rId3"/>
    <p:sldId id="344" r:id="rId4"/>
    <p:sldId id="353" r:id="rId5"/>
    <p:sldId id="354" r:id="rId6"/>
    <p:sldId id="345" r:id="rId7"/>
    <p:sldId id="350" r:id="rId8"/>
    <p:sldId id="346" r:id="rId9"/>
    <p:sldId id="347" r:id="rId10"/>
    <p:sldId id="349" r:id="rId11"/>
    <p:sldId id="351" r:id="rId12"/>
    <p:sldId id="352" r:id="rId13"/>
    <p:sldId id="356" r:id="rId14"/>
    <p:sldId id="358" r:id="rId15"/>
    <p:sldId id="360" r:id="rId16"/>
    <p:sldId id="361" r:id="rId17"/>
    <p:sldId id="362" r:id="rId18"/>
    <p:sldId id="342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0749944-E19B-4A81-9E28-3EA3D0E81E23}" type="datetimeFigureOut">
              <a:rPr lang="en-GB"/>
              <a:pPr>
                <a:defRPr/>
              </a:pPr>
              <a:t>28/11/2025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CB9D389-BCE0-4DB8-BC6A-35114D0BBF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4149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GB"/>
              <a:t>Working on Machine Learning for 8 years now and feel that Machine Learning is one of the most exciting field in Computer Science. So I decided to give a lecture on Machine Learning. 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679B036-A8BE-49D8-AC22-F4CAAFEC3D34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681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https://www.youtube.com/watch?v=ToswH_dA7KU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B9D389-BCE0-4DB8-BC6A-35114D0BBF49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20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5800"/>
            <a:ext cx="4568825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1813"/>
            <a:ext cx="5029200" cy="41163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89893" tIns="44945" rIns="89893" bIns="44945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1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en-US" sz="240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en-US" sz="2400">
                <a:latin typeface="Times New Roman" pitchFamily="18" charset="0"/>
                <a:cs typeface="Arial" pitchFamily="34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444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University of the West of England</a:t>
            </a:r>
          </a:p>
          <a:p>
            <a:pPr>
              <a:defRPr/>
            </a:pPr>
            <a:r>
              <a:rPr lang="en-GB"/>
              <a:t>Katholieke Universiteit Leuven</a:t>
            </a:r>
            <a:endParaRPr lang="en-US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0CA728AF-A0DA-459C-9D85-81075BBF3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aseline="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CEE88-F9FC-456D-B47E-A59E4279B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BF54E-F61B-4F75-8BA8-C5D2FFCE0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57400"/>
            <a:ext cx="3770313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057400"/>
            <a:ext cx="3770312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DE29E-9299-4F31-AEAF-DB57B41CC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C91E6-53BB-4A86-8376-4071A95D9B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F603F-0023-426D-90D9-9F889421DD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D268F-7D7E-4AF6-BC44-FFD0E3EF4A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7D747-F605-4D92-B5E3-AC486157E0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F277C-BF54-4190-9BEF-99C0670E3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DBC82-6D2A-481D-A88A-EBB188FD17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A7E11-B381-45D1-B5F8-350B6660C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5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6" name="Freeform 5"/>
            <p:cNvSpPr>
              <a:spLocks/>
            </p:cNvSpPr>
            <p:nvPr userDrawn="1"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/>
            <a:lstStyle/>
            <a:p>
              <a:pPr>
                <a:defRPr/>
              </a:pPr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5363" name="Group 6"/>
          <p:cNvGrpSpPr>
            <a:grpSpLocks/>
          </p:cNvGrpSpPr>
          <p:nvPr/>
        </p:nvGrpSpPr>
        <p:grpSpPr bwMode="auto">
          <a:xfrm>
            <a:off x="228600" y="1524000"/>
            <a:ext cx="7391400" cy="319088"/>
            <a:chOff x="144" y="1248"/>
            <a:chExt cx="4656" cy="201"/>
          </a:xfrm>
        </p:grpSpPr>
        <p:sp>
          <p:nvSpPr>
            <p:cNvPr id="1033" name="AutoShape 7"/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4" name="AutoShape 8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5364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609600"/>
          </a:xfrm>
          <a:prstGeom prst="roundRect">
            <a:avLst>
              <a:gd name="adj" fmla="val 21667"/>
            </a:avLst>
          </a:pr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36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057400"/>
            <a:ext cx="769302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248400"/>
            <a:ext cx="37306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Dynavis mid-term review,</a:t>
            </a:r>
          </a:p>
          <a:p>
            <a:pPr>
              <a:defRPr/>
            </a:pPr>
            <a:r>
              <a:rPr lang="en-US"/>
              <a:t> Siegen, 17</a:t>
            </a:r>
            <a:r>
              <a:rPr lang="en-US" baseline="30000"/>
              <a:t>th</a:t>
            </a:r>
            <a:r>
              <a:rPr lang="en-US"/>
              <a:t> April 2007</a:t>
            </a: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00600" y="6248400"/>
            <a:ext cx="3735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Task 4.2: Predicting the Success of Learning UWE &amp;  KUL  </a:t>
            </a: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C692F24-3C4E-4023-AC28-8F2EF4199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6" r:id="rId12"/>
  </p:sldLayoutIdLst>
  <p:transition spd="med">
    <p:fade thruBlk="1"/>
  </p:transition>
  <p:hf sldNum="0"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alibri" pitchFamily="34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alibri" pitchFamily="34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alibri" pitchFamily="34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Calibri" pitchFamily="34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e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png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sz="3200" dirty="0"/>
              <a:t>Association Rule Mining</a:t>
            </a:r>
            <a:endParaRPr lang="en-US" sz="32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927350"/>
            <a:ext cx="4114800" cy="1822450"/>
          </a:xfrm>
        </p:spPr>
        <p:txBody>
          <a:bodyPr/>
          <a:lstStyle/>
          <a:p>
            <a:pPr eaLnBrk="1" hangingPunct="1"/>
            <a:r>
              <a:rPr lang="en-GB" sz="2400" dirty="0"/>
              <a:t>Dr S</a:t>
            </a:r>
            <a:r>
              <a:rPr lang="en-GB" sz="2400" dirty="0" smtClean="0"/>
              <a:t>yed Ali Raza</a:t>
            </a:r>
            <a:endParaRPr lang="en-GB" sz="2400" dirty="0"/>
          </a:p>
          <a:p>
            <a:pPr eaLnBrk="1" hangingPunct="1"/>
            <a:r>
              <a:rPr lang="en-GB" sz="2400" dirty="0" smtClean="0"/>
              <a:t>Assistant Professor</a:t>
            </a:r>
            <a:endParaRPr lang="en-GB" sz="2400" dirty="0"/>
          </a:p>
          <a:p>
            <a:pPr eaLnBrk="1" hangingPunct="1"/>
            <a:r>
              <a:rPr lang="en-GB" sz="2400" dirty="0"/>
              <a:t>FAST, Karachi Campus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7924800" cy="609600"/>
          </a:xfrm>
        </p:spPr>
        <p:txBody>
          <a:bodyPr/>
          <a:lstStyle/>
          <a:p>
            <a:r>
              <a:rPr lang="en-US" dirty="0"/>
              <a:t>Association Rule Mining</a:t>
            </a:r>
          </a:p>
        </p:txBody>
      </p:sp>
      <p:sp>
        <p:nvSpPr>
          <p:cNvPr id="1230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Given a set of transactions, find rules that will predict the occurrence of an item based on the occurrences of other items in the transaction</a:t>
            </a:r>
          </a:p>
        </p:txBody>
      </p:sp>
      <p:sp>
        <p:nvSpPr>
          <p:cNvPr id="1230852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4191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C6D9C"/>
                </a:solidFill>
              </a:rPr>
              <a:t>Market-Basket transactions</a:t>
            </a:r>
          </a:p>
        </p:txBody>
      </p:sp>
      <p:graphicFrame>
        <p:nvGraphicFramePr>
          <p:cNvPr id="1230853" name="Object 5"/>
          <p:cNvGraphicFramePr>
            <a:graphicFrameLocks noChangeAspect="1"/>
          </p:cNvGraphicFramePr>
          <p:nvPr/>
        </p:nvGraphicFramePr>
        <p:xfrm>
          <a:off x="228600" y="3429000"/>
          <a:ext cx="43434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37" name="Document" r:id="rId3" imgW="3433292" imgH="1998228" progId="Word.Document.8">
                  <p:embed/>
                </p:oleObj>
              </mc:Choice>
              <mc:Fallback>
                <p:oleObj name="Document" r:id="rId3" imgW="3433292" imgH="1998228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429000"/>
                        <a:ext cx="4343400" cy="2532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854" name="Text Box 6"/>
          <p:cNvSpPr txBox="1">
            <a:spLocks noChangeArrowheads="1"/>
          </p:cNvSpPr>
          <p:nvPr/>
        </p:nvSpPr>
        <p:spPr bwMode="auto">
          <a:xfrm>
            <a:off x="4876800" y="3048000"/>
            <a:ext cx="3810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Example of Association Rules</a:t>
            </a:r>
          </a:p>
        </p:txBody>
      </p:sp>
      <p:sp>
        <p:nvSpPr>
          <p:cNvPr id="1230855" name="Text Box 7"/>
          <p:cNvSpPr txBox="1">
            <a:spLocks noChangeArrowheads="1"/>
          </p:cNvSpPr>
          <p:nvPr/>
        </p:nvSpPr>
        <p:spPr bwMode="auto">
          <a:xfrm>
            <a:off x="5334000" y="3657600"/>
            <a:ext cx="3276600" cy="915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0" dirty="0"/>
              <a:t>{Diaper} </a:t>
            </a:r>
            <a:r>
              <a:rPr lang="en-US" sz="1800" b="0" dirty="0">
                <a:sym typeface="Symbol" pitchFamily="18" charset="2"/>
              </a:rPr>
              <a:t> {Beer},</a:t>
            </a:r>
            <a:br>
              <a:rPr lang="en-US" sz="1800" b="0" dirty="0">
                <a:sym typeface="Symbol" pitchFamily="18" charset="2"/>
              </a:rPr>
            </a:br>
            <a:r>
              <a:rPr lang="en-US" sz="1800" b="0" dirty="0">
                <a:sym typeface="Symbol" pitchFamily="18" charset="2"/>
              </a:rPr>
              <a:t>{Milk, Bread}  {</a:t>
            </a:r>
            <a:r>
              <a:rPr lang="en-US" sz="1800" b="0" dirty="0" err="1">
                <a:sym typeface="Symbol" pitchFamily="18" charset="2"/>
              </a:rPr>
              <a:t>Eggs,Coke</a:t>
            </a:r>
            <a:r>
              <a:rPr lang="en-US" sz="1800" b="0" dirty="0">
                <a:sym typeface="Symbol" pitchFamily="18" charset="2"/>
              </a:rPr>
              <a:t>},</a:t>
            </a:r>
            <a:br>
              <a:rPr lang="en-US" sz="1800" b="0" dirty="0">
                <a:sym typeface="Symbol" pitchFamily="18" charset="2"/>
              </a:rPr>
            </a:br>
            <a:r>
              <a:rPr lang="en-US" sz="1800" b="0" dirty="0">
                <a:sym typeface="Symbol" pitchFamily="18" charset="2"/>
              </a:rPr>
              <a:t>{Beer, Bread}  {Milk},</a:t>
            </a:r>
          </a:p>
        </p:txBody>
      </p:sp>
      <p:sp>
        <p:nvSpPr>
          <p:cNvPr id="1230856" name="Text Box 8"/>
          <p:cNvSpPr txBox="1">
            <a:spLocks noChangeArrowheads="1"/>
          </p:cNvSpPr>
          <p:nvPr/>
        </p:nvSpPr>
        <p:spPr bwMode="auto">
          <a:xfrm>
            <a:off x="4876800" y="4953000"/>
            <a:ext cx="403860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0"/>
              <a:t>Implication means co-occurrence, not causality!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30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30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30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30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0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30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851" grpId="0" build="p"/>
      <p:bldP spid="1230852" grpId="0"/>
      <p:bldP spid="1230854" grpId="0"/>
      <p:bldP spid="1230855" grpId="0"/>
      <p:bldP spid="12308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88640"/>
            <a:ext cx="7924800" cy="609600"/>
          </a:xfrm>
        </p:spPr>
        <p:txBody>
          <a:bodyPr/>
          <a:lstStyle/>
          <a:p>
            <a:r>
              <a:rPr lang="en-US" dirty="0"/>
              <a:t>Definition: Association Rule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784725" y="3657600"/>
            <a:ext cx="3978275" cy="2527300"/>
            <a:chOff x="3014" y="2304"/>
            <a:chExt cx="2506" cy="1592"/>
          </a:xfrm>
        </p:grpSpPr>
        <p:sp>
          <p:nvSpPr>
            <p:cNvPr id="1210379" name="Text Box 11"/>
            <p:cNvSpPr txBox="1">
              <a:spLocks noChangeArrowheads="1"/>
            </p:cNvSpPr>
            <p:nvPr/>
          </p:nvSpPr>
          <p:spPr bwMode="auto">
            <a:xfrm>
              <a:off x="3264" y="2304"/>
              <a:ext cx="72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0">
                  <a:solidFill>
                    <a:srgbClr val="FF0000"/>
                  </a:solidFill>
                  <a:latin typeface="Times New Roman" pitchFamily="18" charset="0"/>
                </a:rPr>
                <a:t>Example:</a:t>
              </a:r>
              <a:endParaRPr lang="en-US" sz="2800" b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210380" name="Object 12"/>
            <p:cNvGraphicFramePr>
              <a:graphicFrameLocks noChangeAspect="1"/>
            </p:cNvGraphicFramePr>
            <p:nvPr/>
          </p:nvGraphicFramePr>
          <p:xfrm>
            <a:off x="3779" y="2545"/>
            <a:ext cx="174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98" name="Equation" r:id="rId3" imgW="1460160" imgH="203040" progId="Equation.3">
                    <p:embed/>
                  </p:oleObj>
                </mc:Choice>
                <mc:Fallback>
                  <p:oleObj name="Equation" r:id="rId3" imgW="1460160" imgH="2030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2545"/>
                          <a:ext cx="1741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0381" name="Object 13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99" name="Equation" r:id="rId5" imgW="4317840" imgH="787320" progId="Equation.3">
                    <p:embed/>
                  </p:oleObj>
                </mc:Choice>
                <mc:Fallback>
                  <p:oleObj name="Equation" r:id="rId5" imgW="4317840" imgH="78732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0382" name="Object 14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00" name="Equation" r:id="rId7" imgW="4470120" imgH="787320" progId="Equation.3">
                    <p:embed/>
                  </p:oleObj>
                </mc:Choice>
                <mc:Fallback>
                  <p:oleObj name="Equation" r:id="rId7" imgW="4470120" imgH="78732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0387" name="Rectangle 19"/>
          <p:cNvSpPr>
            <a:spLocks noChangeArrowheads="1"/>
          </p:cNvSpPr>
          <p:nvPr/>
        </p:nvSpPr>
        <p:spPr bwMode="auto">
          <a:xfrm>
            <a:off x="304800" y="1066800"/>
            <a:ext cx="4876800" cy="533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000" dirty="0"/>
              <a:t>Association Rule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Char char="–"/>
            </a:pPr>
            <a:r>
              <a:rPr lang="en-US" sz="1800" b="0" dirty="0"/>
              <a:t>An implication expression of the form X </a:t>
            </a:r>
            <a:r>
              <a:rPr lang="en-US" sz="1800" b="0" dirty="0">
                <a:sym typeface="Symbol" pitchFamily="18" charset="2"/>
              </a:rPr>
              <a:t> Y, where X and Y are </a:t>
            </a:r>
            <a:r>
              <a:rPr lang="en-US" sz="1800" b="0" dirty="0" err="1">
                <a:sym typeface="Symbol" pitchFamily="18" charset="2"/>
              </a:rPr>
              <a:t>itemsets</a:t>
            </a:r>
            <a:endParaRPr lang="en-US" sz="1800" b="0" dirty="0">
              <a:sym typeface="Symbol" pitchFamily="18" charset="2"/>
            </a:endParaRP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Char char="–"/>
            </a:pPr>
            <a:r>
              <a:rPr lang="en-US" sz="1800" b="0" dirty="0"/>
              <a:t>Example:</a:t>
            </a:r>
            <a:br>
              <a:rPr lang="en-US" sz="1800" b="0" dirty="0"/>
            </a:br>
            <a:r>
              <a:rPr lang="en-US" sz="1800" b="0" dirty="0"/>
              <a:t>   {Milk, Diaper} </a:t>
            </a:r>
            <a:r>
              <a:rPr lang="en-US" sz="1800" b="0" dirty="0">
                <a:sym typeface="Symbol" pitchFamily="18" charset="2"/>
              </a:rPr>
              <a:t> {Beer}</a:t>
            </a:r>
            <a:r>
              <a:rPr lang="en-US" sz="1800" b="0" dirty="0"/>
              <a:t> 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None/>
            </a:pPr>
            <a:endParaRPr lang="en-US" sz="1800" dirty="0"/>
          </a:p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000" dirty="0"/>
              <a:t>Rule Evaluation Metrics</a:t>
            </a:r>
            <a:endParaRPr lang="en-US" sz="2000" dirty="0">
              <a:sym typeface="Symbol" pitchFamily="18" charset="2"/>
            </a:endParaRP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Char char="–"/>
            </a:pPr>
            <a:r>
              <a:rPr lang="en-US" sz="1800" b="0" dirty="0"/>
              <a:t>Support (</a:t>
            </a:r>
            <a:r>
              <a:rPr lang="en-US" sz="1800" b="0" dirty="0" smtClean="0"/>
              <a:t>s)</a:t>
            </a:r>
            <a:endParaRPr lang="en-US" sz="1800" b="0" dirty="0"/>
          </a:p>
          <a:p>
            <a:pPr marL="1143000" lvl="2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</a:pPr>
            <a:r>
              <a:rPr lang="en-US" sz="1600" b="0" dirty="0"/>
              <a:t>Fraction of transactions that contain both X and Y</a:t>
            </a:r>
          </a:p>
          <a:p>
            <a:pPr marL="742950" lvl="1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Char char="–"/>
            </a:pPr>
            <a:r>
              <a:rPr lang="en-US" sz="1800" b="0" dirty="0"/>
              <a:t>Confidence (c)</a:t>
            </a:r>
          </a:p>
          <a:p>
            <a:pPr marL="1143000" lvl="2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</a:pPr>
            <a:r>
              <a:rPr lang="en-US" sz="1600" b="0" dirty="0"/>
              <a:t>Measures how often items in Y </a:t>
            </a:r>
            <a:br>
              <a:rPr lang="en-US" sz="1600" b="0" dirty="0"/>
            </a:br>
            <a:r>
              <a:rPr lang="en-US" sz="1600" b="0" dirty="0"/>
              <a:t>appear in transactions that</a:t>
            </a:r>
            <a:br>
              <a:rPr lang="en-US" sz="1600" b="0" dirty="0"/>
            </a:br>
            <a:r>
              <a:rPr lang="en-US" sz="1600" b="0" dirty="0"/>
              <a:t>contain X</a:t>
            </a:r>
          </a:p>
        </p:txBody>
      </p:sp>
      <p:graphicFrame>
        <p:nvGraphicFramePr>
          <p:cNvPr id="1210389" name="Object 21"/>
          <p:cNvGraphicFramePr>
            <a:graphicFrameLocks noGrp="1" noChangeAspect="1"/>
          </p:cNvGraphicFramePr>
          <p:nvPr>
            <p:ph idx="1"/>
          </p:nvPr>
        </p:nvGraphicFramePr>
        <p:xfrm>
          <a:off x="5410200" y="1295400"/>
          <a:ext cx="3587750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1" name="Document" r:id="rId9" imgW="3359338" imgH="2015504" progId="Word.Document.8">
                  <p:embed/>
                </p:oleObj>
              </mc:Choice>
              <mc:Fallback>
                <p:oleObj name="Document" r:id="rId9" imgW="3359338" imgH="2015504" progId="Word.Document.8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3587750" cy="215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is an important </a:t>
            </a:r>
            <a:r>
              <a:rPr lang="en-US" dirty="0" smtClean="0"/>
              <a:t>measure because </a:t>
            </a:r>
            <a:r>
              <a:rPr lang="en-US" dirty="0"/>
              <a:t>a rule that has very low support may occur simply by </a:t>
            </a:r>
            <a:r>
              <a:rPr lang="en-US" dirty="0" smtClean="0"/>
              <a:t>chance </a:t>
            </a:r>
          </a:p>
          <a:p>
            <a:endParaRPr lang="en-US" dirty="0"/>
          </a:p>
          <a:p>
            <a:r>
              <a:rPr lang="en-US" dirty="0" smtClean="0"/>
              <a:t>Support </a:t>
            </a:r>
            <a:r>
              <a:rPr lang="en-US" dirty="0"/>
              <a:t>is often used to eliminate uninteresting </a:t>
            </a:r>
            <a:r>
              <a:rPr lang="en-US" dirty="0" smtClean="0"/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67888888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Confidence measures </a:t>
            </a:r>
            <a:r>
              <a:rPr lang="en-US" dirty="0"/>
              <a:t>the reliability of the </a:t>
            </a:r>
            <a:r>
              <a:rPr lang="en-US" dirty="0" smtClean="0"/>
              <a:t>inference made </a:t>
            </a:r>
            <a:r>
              <a:rPr lang="en-US" dirty="0"/>
              <a:t>by a </a:t>
            </a:r>
            <a:r>
              <a:rPr lang="en-US" dirty="0" smtClean="0"/>
              <a:t>rule</a:t>
            </a:r>
            <a:endParaRPr lang="en-US" dirty="0"/>
          </a:p>
          <a:p>
            <a:r>
              <a:rPr lang="en-US" dirty="0"/>
              <a:t>For a given rule </a:t>
            </a:r>
            <a:r>
              <a:rPr lang="en-US" i="1" dirty="0"/>
              <a:t>X </a:t>
            </a:r>
            <a:r>
              <a:rPr lang="en-US" i="1" dirty="0" smtClean="0"/>
              <a:t>→ </a:t>
            </a:r>
            <a:r>
              <a:rPr lang="en-US" i="1" dirty="0"/>
              <a:t>Y </a:t>
            </a:r>
            <a:r>
              <a:rPr lang="en-US" dirty="0"/>
              <a:t>, the higher the confidence, the </a:t>
            </a:r>
            <a:r>
              <a:rPr lang="en-US" dirty="0" smtClean="0"/>
              <a:t>more likely </a:t>
            </a:r>
            <a:r>
              <a:rPr lang="en-US" dirty="0"/>
              <a:t>it is for </a:t>
            </a:r>
            <a:r>
              <a:rPr lang="en-US" i="1" dirty="0"/>
              <a:t>Y </a:t>
            </a:r>
            <a:r>
              <a:rPr lang="en-US" dirty="0"/>
              <a:t>to be present in transactions that contain </a:t>
            </a:r>
            <a:r>
              <a:rPr lang="en-US" i="1" dirty="0"/>
              <a:t>X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Confidence also provides </a:t>
            </a:r>
            <a:r>
              <a:rPr lang="en-US" dirty="0"/>
              <a:t>an estimate of the conditional probability of </a:t>
            </a:r>
            <a:r>
              <a:rPr lang="en-US" i="1" dirty="0"/>
              <a:t>Y </a:t>
            </a:r>
            <a:r>
              <a:rPr lang="en-US" dirty="0"/>
              <a:t>given </a:t>
            </a:r>
            <a:r>
              <a:rPr lang="en-US" i="1" dirty="0"/>
              <a:t>X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434367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Association Rule Mining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69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576" y="1412776"/>
                <a:ext cx="7693025" cy="4029075"/>
              </a:xfrm>
            </p:spPr>
            <p:txBody>
              <a:bodyPr/>
              <a:lstStyle/>
              <a:p>
                <a:r>
                  <a:rPr lang="en-US" dirty="0" smtClean="0"/>
                  <a:t>Given a set of transactions T, the goal of association rule mining is to find all rules having </a:t>
                </a:r>
              </a:p>
              <a:p>
                <a:pPr lvl="1"/>
                <a:r>
                  <a:rPr lang="en-US" dirty="0"/>
                  <a:t>support </a:t>
                </a:r>
                <a:r>
                  <a:rPr lang="en-US" dirty="0">
                    <a:cs typeface="Arial" pitchFamily="34" charset="0"/>
                  </a:rPr>
                  <a:t>≥ </a:t>
                </a:r>
                <a:r>
                  <a:rPr lang="en-US" i="1" dirty="0" err="1">
                    <a:cs typeface="Arial" pitchFamily="34" charset="0"/>
                  </a:rPr>
                  <a:t>minsup</a:t>
                </a:r>
                <a:r>
                  <a:rPr lang="en-US" i="1" dirty="0">
                    <a:cs typeface="Arial" pitchFamily="34" charset="0"/>
                  </a:rPr>
                  <a:t> </a:t>
                </a:r>
                <a:r>
                  <a:rPr lang="en-US" dirty="0">
                    <a:cs typeface="Arial" pitchFamily="34" charset="0"/>
                  </a:rPr>
                  <a:t>threshold</a:t>
                </a:r>
              </a:p>
              <a:p>
                <a:pPr lvl="1"/>
                <a:r>
                  <a:rPr lang="en-US" dirty="0">
                    <a:cs typeface="Arial" pitchFamily="34" charset="0"/>
                  </a:rPr>
                  <a:t>confidence ≥ </a:t>
                </a:r>
                <a:r>
                  <a:rPr lang="en-US" i="1" dirty="0" err="1">
                    <a:cs typeface="Arial" pitchFamily="34" charset="0"/>
                  </a:rPr>
                  <a:t>minconf</a:t>
                </a:r>
                <a:r>
                  <a:rPr lang="en-US" i="1" dirty="0">
                    <a:cs typeface="Arial" pitchFamily="34" charset="0"/>
                  </a:rPr>
                  <a:t> </a:t>
                </a:r>
                <a:r>
                  <a:rPr lang="en-US" dirty="0">
                    <a:cs typeface="Arial" pitchFamily="34" charset="0"/>
                  </a:rPr>
                  <a:t>threshold</a:t>
                </a:r>
              </a:p>
              <a:p>
                <a:pPr lvl="1"/>
                <a:endParaRPr lang="en-US" dirty="0">
                  <a:cs typeface="Arial" pitchFamily="34" charset="0"/>
                </a:endParaRPr>
              </a:p>
              <a:p>
                <a:r>
                  <a:rPr lang="en-US" dirty="0">
                    <a:cs typeface="Arial" pitchFamily="34" charset="0"/>
                  </a:rPr>
                  <a:t>Brute-force approach:</a:t>
                </a:r>
              </a:p>
              <a:p>
                <a:pPr lvl="1"/>
                <a:r>
                  <a:rPr lang="en-US" dirty="0">
                    <a:cs typeface="Arial" pitchFamily="34" charset="0"/>
                  </a:rPr>
                  <a:t>List all possible association rules</a:t>
                </a:r>
              </a:p>
              <a:p>
                <a:pPr lvl="1"/>
                <a:r>
                  <a:rPr lang="en-US" dirty="0">
                    <a:cs typeface="Arial" pitchFamily="34" charset="0"/>
                  </a:rPr>
                  <a:t>Compute the support and confidence for each rule</a:t>
                </a:r>
              </a:p>
              <a:p>
                <a:pPr lvl="1"/>
                <a:r>
                  <a:rPr lang="en-US" dirty="0">
                    <a:cs typeface="Arial" pitchFamily="34" charset="0"/>
                  </a:rPr>
                  <a:t>Prune rules that fail the </a:t>
                </a:r>
                <a:r>
                  <a:rPr lang="en-US" i="1" dirty="0" err="1">
                    <a:cs typeface="Arial" pitchFamily="34" charset="0"/>
                  </a:rPr>
                  <a:t>minsup</a:t>
                </a:r>
                <a:r>
                  <a:rPr lang="en-US" dirty="0">
                    <a:cs typeface="Arial" pitchFamily="34" charset="0"/>
                  </a:rPr>
                  <a:t> and </a:t>
                </a:r>
                <a:r>
                  <a:rPr lang="en-US" i="1" dirty="0" err="1">
                    <a:cs typeface="Arial" pitchFamily="34" charset="0"/>
                  </a:rPr>
                  <a:t>minconf</a:t>
                </a:r>
                <a:r>
                  <a:rPr lang="en-US" dirty="0">
                    <a:cs typeface="Arial" pitchFamily="34" charset="0"/>
                  </a:rPr>
                  <a:t> thresholds</a:t>
                </a:r>
              </a:p>
              <a:p>
                <a:pPr lvl="1">
                  <a:buFont typeface="Symbol" panose="05050102010706020507" pitchFamily="18" charset="2"/>
                  <a:buChar char="Þ"/>
                </a:pPr>
                <a:r>
                  <a:rPr lang="en-US" dirty="0" smtClean="0">
                    <a:solidFill>
                      <a:srgbClr val="FF0000"/>
                    </a:solidFill>
                    <a:cs typeface="Arial" pitchFamily="34" charset="0"/>
                  </a:rPr>
                  <a:t>Computationally </a:t>
                </a:r>
                <a:r>
                  <a:rPr lang="en-US" dirty="0">
                    <a:solidFill>
                      <a:srgbClr val="FF0000"/>
                    </a:solidFill>
                    <a:cs typeface="Arial" pitchFamily="34" charset="0"/>
                  </a:rPr>
                  <a:t>prohibitive</a:t>
                </a:r>
                <a:r>
                  <a:rPr lang="en-US" dirty="0" smtClean="0">
                    <a:cs typeface="Arial" pitchFamily="34" charset="0"/>
                  </a:rPr>
                  <a:t>!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+1</m:t>
                    </m:r>
                  </m:oMath>
                </a14:m>
                <a:r>
                  <a:rPr lang="en-US" dirty="0" smtClean="0">
                    <a:cs typeface="Arial" pitchFamily="34" charset="0"/>
                  </a:rPr>
                  <a:t> possible rules if there are d items)</a:t>
                </a:r>
              </a:p>
            </p:txBody>
          </p:sp>
        </mc:Choice>
        <mc:Fallback xmlns="">
          <p:sp>
            <p:nvSpPr>
              <p:cNvPr id="12369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576" y="1412776"/>
                <a:ext cx="7693025" cy="4029075"/>
              </a:xfrm>
              <a:blipFill>
                <a:blip r:embed="rId2"/>
                <a:stretch>
                  <a:fillRect l="-792" t="-1513" b="-34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924800" cy="609600"/>
          </a:xfrm>
        </p:spPr>
        <p:txBody>
          <a:bodyPr/>
          <a:lstStyle/>
          <a:p>
            <a:r>
              <a:rPr lang="en-US" dirty="0"/>
              <a:t>Computational Complexity</a:t>
            </a:r>
          </a:p>
        </p:txBody>
      </p:sp>
      <p:sp>
        <p:nvSpPr>
          <p:cNvPr id="1215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137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Given d unique items: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Total number of </a:t>
            </a:r>
            <a:r>
              <a:rPr lang="en-US" dirty="0" err="1"/>
              <a:t>itemsets</a:t>
            </a:r>
            <a:r>
              <a:rPr lang="en-US" dirty="0"/>
              <a:t> = 2</a:t>
            </a:r>
            <a:r>
              <a:rPr lang="en-US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Total number of possible association rules: </a:t>
            </a:r>
          </a:p>
        </p:txBody>
      </p:sp>
      <p:graphicFrame>
        <p:nvGraphicFramePr>
          <p:cNvPr id="1215492" name="Object 4"/>
          <p:cNvGraphicFramePr>
            <a:graphicFrameLocks noChangeAspect="1"/>
          </p:cNvGraphicFramePr>
          <p:nvPr/>
        </p:nvGraphicFramePr>
        <p:xfrm>
          <a:off x="5257800" y="2514600"/>
          <a:ext cx="36623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57" name="Equation" r:id="rId3" imgW="2831760" imgH="1269720" progId="Equation.3">
                  <p:embed/>
                </p:oleObj>
              </mc:Choice>
              <mc:Fallback>
                <p:oleObj name="Equation" r:id="rId3" imgW="2831760" imgH="1269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14600"/>
                        <a:ext cx="3662363" cy="164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5493" name="Text Box 5"/>
          <p:cNvSpPr txBox="1">
            <a:spLocks noChangeArrowheads="1"/>
          </p:cNvSpPr>
          <p:nvPr/>
        </p:nvSpPr>
        <p:spPr bwMode="auto">
          <a:xfrm>
            <a:off x="5410200" y="4648200"/>
            <a:ext cx="32004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If d=</a:t>
            </a:r>
            <a:r>
              <a:rPr lang="en-US" sz="2000">
                <a:sym typeface="Symbol" pitchFamily="18" charset="2"/>
              </a:rPr>
              <a:t>6,  R = 602 rules</a:t>
            </a:r>
          </a:p>
        </p:txBody>
      </p:sp>
      <p:pic>
        <p:nvPicPr>
          <p:cNvPr id="1215494" name="Picture 6"/>
          <p:cNvPicPr>
            <a:picLocks noChangeAspect="1" noChangeArrowheads="1"/>
          </p:cNvPicPr>
          <p:nvPr/>
        </p:nvPicPr>
        <p:blipFill>
          <a:blip r:embed="rId5" cstate="print"/>
          <a:srcRect l="5714" t="1904" r="7143" b="952"/>
          <a:stretch>
            <a:fillRect/>
          </a:stretch>
        </p:blipFill>
        <p:spPr bwMode="auto">
          <a:xfrm>
            <a:off x="152400" y="2324100"/>
            <a:ext cx="4876800" cy="407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Mining Association Rules</a:t>
            </a:r>
          </a:p>
        </p:txBody>
      </p:sp>
      <p:sp>
        <p:nvSpPr>
          <p:cNvPr id="1211396" name="Text Box 4"/>
          <p:cNvSpPr txBox="1">
            <a:spLocks noChangeArrowheads="1"/>
          </p:cNvSpPr>
          <p:nvPr/>
        </p:nvSpPr>
        <p:spPr bwMode="auto">
          <a:xfrm>
            <a:off x="4267200" y="1219200"/>
            <a:ext cx="47244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b="0">
                <a:solidFill>
                  <a:srgbClr val="CC3300"/>
                </a:solidFill>
                <a:sym typeface="Symbol" pitchFamily="18" charset="2"/>
              </a:rPr>
              <a:t>Example of Rules:</a:t>
            </a:r>
            <a:br>
              <a:rPr lang="en-US" sz="2400" b="0">
                <a:solidFill>
                  <a:srgbClr val="CC3300"/>
                </a:solidFill>
                <a:sym typeface="Symbol" pitchFamily="18" charset="2"/>
              </a:rPr>
            </a:br>
            <a:endParaRPr lang="en-US" sz="1000" b="0">
              <a:solidFill>
                <a:srgbClr val="CC3300"/>
              </a:solidFill>
              <a:sym typeface="Symbol" pitchFamily="18" charset="2"/>
            </a:endParaRPr>
          </a:p>
          <a:p>
            <a:r>
              <a:rPr lang="en-US" sz="2000" b="0"/>
              <a:t>{Milk,Diaper} </a:t>
            </a:r>
            <a:r>
              <a:rPr lang="en-US" sz="2000" b="0">
                <a:sym typeface="Symbol" pitchFamily="18" charset="2"/>
              </a:rPr>
              <a:t> {Beer} (s=0.4, c=0.67)</a:t>
            </a:r>
            <a:br>
              <a:rPr lang="en-US" sz="2000" b="0">
                <a:sym typeface="Symbol" pitchFamily="18" charset="2"/>
              </a:rPr>
            </a:br>
            <a:r>
              <a:rPr lang="en-US" sz="2000" b="0"/>
              <a:t>{Milk,Beer} </a:t>
            </a:r>
            <a:r>
              <a:rPr lang="en-US" sz="2000" b="0">
                <a:sym typeface="Symbol" pitchFamily="18" charset="2"/>
              </a:rPr>
              <a:t> {Diaper} (s=0.4, c=1.0)</a:t>
            </a:r>
          </a:p>
          <a:p>
            <a:r>
              <a:rPr lang="en-US" sz="2000" b="0"/>
              <a:t>{Diaper,Beer} </a:t>
            </a:r>
            <a:r>
              <a:rPr lang="en-US" sz="2000" b="0">
                <a:sym typeface="Symbol" pitchFamily="18" charset="2"/>
              </a:rPr>
              <a:t> {Milk} (s=0.4, c=0.67)</a:t>
            </a:r>
          </a:p>
          <a:p>
            <a:r>
              <a:rPr lang="en-US" sz="2000" b="0">
                <a:sym typeface="Symbol" pitchFamily="18" charset="2"/>
              </a:rPr>
              <a:t>{Beer}  {Milk,Diaper} (s=0.4, c=0.67) </a:t>
            </a:r>
            <a:br>
              <a:rPr lang="en-US" sz="2000" b="0">
                <a:sym typeface="Symbol" pitchFamily="18" charset="2"/>
              </a:rPr>
            </a:br>
            <a:r>
              <a:rPr lang="en-US" sz="2000" b="0">
                <a:sym typeface="Symbol" pitchFamily="18" charset="2"/>
              </a:rPr>
              <a:t>{Diaper}  {Milk,Beer} (s=0.4, c=0.5) </a:t>
            </a:r>
          </a:p>
          <a:p>
            <a:r>
              <a:rPr lang="en-US" sz="2000" b="0">
                <a:sym typeface="Symbol" pitchFamily="18" charset="2"/>
              </a:rPr>
              <a:t>{Milk}  {Diaper,Beer} (s=0.4, c=0.5)</a:t>
            </a:r>
          </a:p>
        </p:txBody>
      </p:sp>
      <p:graphicFrame>
        <p:nvGraphicFramePr>
          <p:cNvPr id="1211397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04800" y="1524000"/>
          <a:ext cx="37338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85"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0"/>
                        <a:ext cx="3733800" cy="224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1399" name="Text Box 7"/>
          <p:cNvSpPr txBox="1">
            <a:spLocks noChangeArrowheads="1"/>
          </p:cNvSpPr>
          <p:nvPr/>
        </p:nvSpPr>
        <p:spPr bwMode="auto">
          <a:xfrm>
            <a:off x="381000" y="3886200"/>
            <a:ext cx="792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b="0">
                <a:solidFill>
                  <a:srgbClr val="CC3300"/>
                </a:solidFill>
                <a:sym typeface="Symbol" pitchFamily="18" charset="2"/>
              </a:rPr>
              <a:t>Observations: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b="0">
                <a:sym typeface="Symbol" pitchFamily="18" charset="2"/>
              </a:rPr>
              <a:t> All the above rules are binary partitions of the same itemset: </a:t>
            </a:r>
            <a:br>
              <a:rPr lang="en-US" sz="2000" b="0">
                <a:sym typeface="Symbol" pitchFamily="18" charset="2"/>
              </a:rPr>
            </a:br>
            <a:r>
              <a:rPr lang="en-US" sz="2000" b="0">
                <a:sym typeface="Symbol" pitchFamily="18" charset="2"/>
              </a:rPr>
              <a:t>	{Milk, Diaper, Beer}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b="0">
                <a:sym typeface="Symbol" pitchFamily="18" charset="2"/>
              </a:rPr>
              <a:t> Rules originating from the same itemset have identical support but</a:t>
            </a:r>
            <a:br>
              <a:rPr lang="en-US" sz="2000" b="0">
                <a:sym typeface="Symbol" pitchFamily="18" charset="2"/>
              </a:rPr>
            </a:br>
            <a:r>
              <a:rPr lang="en-US" sz="2000" b="0">
                <a:sym typeface="Symbol" pitchFamily="18" charset="2"/>
              </a:rPr>
              <a:t>  can have different confidence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b="0">
                <a:sym typeface="Symbol" pitchFamily="18" charset="2"/>
              </a:rPr>
              <a:t> Thus, we may decouple the support and confidence requirements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7924800" cy="609600"/>
          </a:xfrm>
        </p:spPr>
        <p:txBody>
          <a:bodyPr/>
          <a:lstStyle/>
          <a:p>
            <a:r>
              <a:rPr lang="en-US" dirty="0"/>
              <a:t>Mining Association Rules</a:t>
            </a:r>
          </a:p>
        </p:txBody>
      </p:sp>
      <p:sp>
        <p:nvSpPr>
          <p:cNvPr id="1212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96752"/>
            <a:ext cx="7693025" cy="4029075"/>
          </a:xfrm>
        </p:spPr>
        <p:txBody>
          <a:bodyPr/>
          <a:lstStyle/>
          <a:p>
            <a:pPr marL="533400" indent="-533400"/>
            <a:r>
              <a:rPr lang="en-US" dirty="0"/>
              <a:t>Two-step approach: </a:t>
            </a:r>
          </a:p>
          <a:p>
            <a:pPr marL="914400" lvl="1" indent="-457200">
              <a:buFont typeface="Arial" pitchFamily="34" charset="0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Frequent </a:t>
            </a:r>
            <a:r>
              <a:rPr lang="en-US" dirty="0" err="1">
                <a:solidFill>
                  <a:srgbClr val="FF0000"/>
                </a:solidFill>
              </a:rPr>
              <a:t>Itemset</a:t>
            </a:r>
            <a:r>
              <a:rPr lang="en-US" dirty="0">
                <a:solidFill>
                  <a:srgbClr val="FF0000"/>
                </a:solidFill>
              </a:rPr>
              <a:t> Generation</a:t>
            </a:r>
            <a:endParaRPr lang="en-US" dirty="0"/>
          </a:p>
          <a:p>
            <a:pPr marL="1295400" lvl="2" indent="-381000">
              <a:buFont typeface="Arial" pitchFamily="34" charset="0"/>
              <a:buChar char="–"/>
            </a:pPr>
            <a:r>
              <a:rPr lang="en-US" dirty="0"/>
              <a:t>Generate all </a:t>
            </a:r>
            <a:r>
              <a:rPr lang="en-US" dirty="0" err="1"/>
              <a:t>itemsets</a:t>
            </a:r>
            <a:r>
              <a:rPr lang="en-US" dirty="0"/>
              <a:t> whose support </a:t>
            </a:r>
            <a:r>
              <a:rPr lang="en-US" dirty="0">
                <a:sym typeface="Symbol" pitchFamily="18" charset="2"/>
              </a:rPr>
              <a:t> </a:t>
            </a:r>
            <a:r>
              <a:rPr lang="en-US" dirty="0" err="1"/>
              <a:t>minsup</a:t>
            </a:r>
            <a:endParaRPr lang="en-US" dirty="0"/>
          </a:p>
          <a:p>
            <a:pPr marL="1295400" lvl="2" indent="-381000">
              <a:buFont typeface="Arial" pitchFamily="34" charset="0"/>
              <a:buNone/>
            </a:pPr>
            <a:endParaRPr lang="en-US" dirty="0"/>
          </a:p>
          <a:p>
            <a:pPr marL="914400" lvl="1" indent="-457200">
              <a:buFont typeface="Arial" pitchFamily="34" charset="0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Rule Generation</a:t>
            </a:r>
            <a:endParaRPr lang="en-US" dirty="0"/>
          </a:p>
          <a:p>
            <a:pPr marL="1295400" lvl="2" indent="-381000">
              <a:buFont typeface="Arial" pitchFamily="34" charset="0"/>
              <a:buChar char="–"/>
            </a:pPr>
            <a:r>
              <a:rPr lang="en-US" dirty="0"/>
              <a:t>Generate high confidence rules from each frequent </a:t>
            </a:r>
            <a:r>
              <a:rPr lang="en-US" dirty="0" err="1"/>
              <a:t>itemset</a:t>
            </a:r>
            <a:r>
              <a:rPr lang="en-US" dirty="0"/>
              <a:t>, where each rule is a binary partitioning of a frequent </a:t>
            </a:r>
            <a:r>
              <a:rPr lang="en-US" dirty="0" err="1"/>
              <a:t>itemset</a:t>
            </a:r>
            <a:endParaRPr lang="en-US" dirty="0"/>
          </a:p>
          <a:p>
            <a:pPr marL="533400" indent="-533400"/>
            <a:endParaRPr lang="en-US" dirty="0"/>
          </a:p>
          <a:p>
            <a:pPr marL="533400" indent="-533400"/>
            <a:r>
              <a:rPr lang="en-US" dirty="0"/>
              <a:t>Frequent </a:t>
            </a:r>
            <a:r>
              <a:rPr lang="en-US" dirty="0" err="1"/>
              <a:t>itemset</a:t>
            </a:r>
            <a:r>
              <a:rPr lang="en-US" dirty="0"/>
              <a:t> generation is still computationally expensive</a:t>
            </a:r>
          </a:p>
          <a:p>
            <a:pPr marL="533400" indent="-533400">
              <a:buFont typeface="Monotype Sorts" pitchFamily="2" charset="2"/>
              <a:buNone/>
            </a:pPr>
            <a:endParaRPr lang="en-US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1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1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1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21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21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21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4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924800" cy="609600"/>
          </a:xfrm>
        </p:spPr>
        <p:txBody>
          <a:bodyPr/>
          <a:lstStyle/>
          <a:p>
            <a:r>
              <a:rPr lang="en-US" dirty="0"/>
              <a:t>Frequent </a:t>
            </a:r>
            <a:r>
              <a:rPr lang="en-US" dirty="0" err="1"/>
              <a:t>Itemset</a:t>
            </a:r>
            <a:r>
              <a:rPr lang="en-US" dirty="0"/>
              <a:t> Generation</a:t>
            </a:r>
          </a:p>
        </p:txBody>
      </p:sp>
      <p:sp>
        <p:nvSpPr>
          <p:cNvPr id="1214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/>
          <a:lstStyle/>
          <a:p>
            <a:r>
              <a:rPr lang="en-US" dirty="0"/>
              <a:t>Brute-force approach: </a:t>
            </a:r>
          </a:p>
          <a:p>
            <a:pPr lvl="1"/>
            <a:r>
              <a:rPr lang="en-US" dirty="0"/>
              <a:t>Each </a:t>
            </a:r>
            <a:r>
              <a:rPr lang="en-US" dirty="0" err="1"/>
              <a:t>itemset</a:t>
            </a:r>
            <a:r>
              <a:rPr lang="en-US" dirty="0"/>
              <a:t> in the lattice is a </a:t>
            </a:r>
            <a:r>
              <a:rPr lang="en-US" dirty="0">
                <a:solidFill>
                  <a:srgbClr val="FF0000"/>
                </a:solidFill>
              </a:rPr>
              <a:t>candidate</a:t>
            </a:r>
            <a:r>
              <a:rPr lang="en-US" dirty="0"/>
              <a:t> frequent </a:t>
            </a:r>
            <a:r>
              <a:rPr lang="en-US" dirty="0" err="1"/>
              <a:t>itemset</a:t>
            </a:r>
            <a:endParaRPr lang="en-US" dirty="0"/>
          </a:p>
          <a:p>
            <a:pPr lvl="1"/>
            <a:r>
              <a:rPr lang="en-US" dirty="0"/>
              <a:t>Count the support of each candidate by scanning the database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Match each transaction against every candidate</a:t>
            </a:r>
          </a:p>
          <a:p>
            <a:pPr lvl="1"/>
            <a:r>
              <a:rPr lang="en-US" dirty="0"/>
              <a:t>Complexity ~ O(</a:t>
            </a:r>
            <a:r>
              <a:rPr lang="en-US" dirty="0" err="1"/>
              <a:t>NMw</a:t>
            </a:r>
            <a:r>
              <a:rPr lang="en-US" dirty="0"/>
              <a:t>) =&gt; </a:t>
            </a:r>
            <a:r>
              <a:rPr lang="en-US" dirty="0">
                <a:solidFill>
                  <a:srgbClr val="FF0000"/>
                </a:solidFill>
              </a:rPr>
              <a:t>Expensive since M = 2</a:t>
            </a:r>
            <a:r>
              <a:rPr lang="en-US" baseline="30000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!!!</a:t>
            </a:r>
          </a:p>
        </p:txBody>
      </p:sp>
      <p:graphicFrame>
        <p:nvGraphicFramePr>
          <p:cNvPr id="1214468" name="Object 4"/>
          <p:cNvGraphicFramePr>
            <a:graphicFrameLocks noChangeAspect="1"/>
          </p:cNvGraphicFramePr>
          <p:nvPr/>
        </p:nvGraphicFramePr>
        <p:xfrm>
          <a:off x="1115616" y="2420888"/>
          <a:ext cx="7281862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33" name="Visio" r:id="rId3" imgW="7643978" imgH="2744343" progId="Visio.Drawing.6">
                  <p:embed/>
                </p:oleObj>
              </mc:Choice>
              <mc:Fallback>
                <p:oleObj name="Visio" r:id="rId3" imgW="7643978" imgH="2744343" progId="Visio.Drawing.6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420888"/>
                        <a:ext cx="7281862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/>
              <a:t>Frequent Itemset Generation Strategies</a:t>
            </a:r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Reduce the </a:t>
            </a:r>
            <a:r>
              <a:rPr lang="en-US" dirty="0">
                <a:solidFill>
                  <a:srgbClr val="FF0000"/>
                </a:solidFill>
              </a:rPr>
              <a:t>number of candidates</a:t>
            </a:r>
            <a:r>
              <a:rPr lang="en-US" dirty="0"/>
              <a:t> (M</a:t>
            </a:r>
            <a:r>
              <a:rPr lang="en-US" dirty="0" smtClean="0"/>
              <a:t>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Complete search: M=2</a:t>
            </a:r>
            <a:r>
              <a:rPr lang="en-US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Use pruning techniques to reduce </a:t>
            </a:r>
            <a:r>
              <a:rPr lang="en-US" dirty="0" smtClean="0"/>
              <a:t>M</a:t>
            </a:r>
          </a:p>
          <a:p>
            <a:pPr lvl="1">
              <a:lnSpc>
                <a:spcPct val="90000"/>
              </a:lnSpc>
            </a:pPr>
            <a:r>
              <a:rPr lang="en-US" dirty="0" err="1">
                <a:solidFill>
                  <a:srgbClr val="CC3300"/>
                </a:solidFill>
              </a:rPr>
              <a:t>Apriori</a:t>
            </a:r>
            <a:r>
              <a:rPr lang="en-US" dirty="0">
                <a:solidFill>
                  <a:srgbClr val="CC3300"/>
                </a:solidFill>
              </a:rPr>
              <a:t> principle</a:t>
            </a:r>
          </a:p>
          <a:p>
            <a:pPr lvl="4"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dirty="0"/>
              <a:t>Reduce the </a:t>
            </a:r>
            <a:r>
              <a:rPr lang="en-US" dirty="0">
                <a:solidFill>
                  <a:srgbClr val="FF0000"/>
                </a:solidFill>
              </a:rPr>
              <a:t>number of transactions </a:t>
            </a:r>
            <a:r>
              <a:rPr lang="en-US" dirty="0"/>
              <a:t>(N)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Reduce size of N as the size of </a:t>
            </a:r>
            <a:r>
              <a:rPr lang="en-US" dirty="0" err="1"/>
              <a:t>itemset</a:t>
            </a:r>
            <a:r>
              <a:rPr lang="en-US" dirty="0"/>
              <a:t> increases</a:t>
            </a:r>
          </a:p>
          <a:p>
            <a:pPr marL="1828800" lvl="4" indent="0">
              <a:lnSpc>
                <a:spcPct val="90000"/>
              </a:lnSpc>
              <a:buNone/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dirty="0"/>
              <a:t>Reduce the </a:t>
            </a:r>
            <a:r>
              <a:rPr lang="en-US" dirty="0">
                <a:solidFill>
                  <a:srgbClr val="FF0000"/>
                </a:solidFill>
              </a:rPr>
              <a:t>number of comparisons</a:t>
            </a:r>
            <a:r>
              <a:rPr lang="en-US" dirty="0"/>
              <a:t> (NM)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Use efficient data structures to store the candidates or transactions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 need to match every candidate against every </a:t>
            </a:r>
            <a:r>
              <a:rPr lang="en-US" dirty="0" smtClean="0"/>
              <a:t>transaction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C3300"/>
                </a:solidFill>
              </a:rPr>
              <a:t>FP Tree </a:t>
            </a:r>
            <a:r>
              <a:rPr lang="en-US" dirty="0" smtClean="0">
                <a:solidFill>
                  <a:srgbClr val="CC3300"/>
                </a:solidFill>
              </a:rPr>
              <a:t>Generation</a:t>
            </a:r>
            <a:endParaRPr lang="en-US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1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1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1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1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16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16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216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dirty="0" err="1" smtClean="0"/>
              <a:t>Apriori</a:t>
            </a:r>
            <a:r>
              <a:rPr lang="en-US" dirty="0" smtClean="0"/>
              <a:t> Principle</a:t>
            </a:r>
            <a:endParaRPr lang="en-US" dirty="0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r>
              <a:rPr lang="en-US" b="1" i="1" dirty="0" err="1"/>
              <a:t>Apriori</a:t>
            </a:r>
            <a:r>
              <a:rPr lang="en-US" b="1" i="1" dirty="0"/>
              <a:t> </a:t>
            </a:r>
            <a:r>
              <a:rPr lang="en-US" b="1" dirty="0" smtClean="0"/>
              <a:t>Principle</a:t>
            </a:r>
            <a:r>
              <a:rPr lang="en-US" b="1" dirty="0"/>
              <a:t>:</a:t>
            </a:r>
            <a:r>
              <a:rPr lang="en-US" b="1" dirty="0" smtClean="0"/>
              <a:t> </a:t>
            </a:r>
            <a:r>
              <a:rPr lang="en-US" i="1" dirty="0"/>
              <a:t>If an </a:t>
            </a:r>
            <a:r>
              <a:rPr lang="en-US" i="1" dirty="0" err="1"/>
              <a:t>itemset</a:t>
            </a:r>
            <a:r>
              <a:rPr lang="en-US" i="1" dirty="0"/>
              <a:t> is frequent, then all of </a:t>
            </a:r>
            <a:r>
              <a:rPr lang="en-US" i="1" dirty="0" smtClean="0"/>
              <a:t>its subsets </a:t>
            </a:r>
            <a:r>
              <a:rPr lang="en-US" i="1" dirty="0"/>
              <a:t>must also be </a:t>
            </a:r>
            <a:r>
              <a:rPr lang="en-US" i="1" dirty="0" smtClean="0"/>
              <a:t>frequent</a:t>
            </a:r>
          </a:p>
          <a:p>
            <a:r>
              <a:rPr lang="en-US" dirty="0"/>
              <a:t>Suppose </a:t>
            </a:r>
            <a:r>
              <a:rPr lang="en-US" i="1" dirty="0"/>
              <a:t>{c, d, e} </a:t>
            </a:r>
            <a:r>
              <a:rPr lang="en-US" dirty="0"/>
              <a:t>is a frequent </a:t>
            </a:r>
            <a:r>
              <a:rPr lang="en-US" dirty="0" err="1" smtClean="0"/>
              <a:t>itemset</a:t>
            </a:r>
            <a:r>
              <a:rPr lang="en-US" dirty="0" smtClean="0"/>
              <a:t> as shown in the next Figure </a:t>
            </a:r>
          </a:p>
          <a:p>
            <a:r>
              <a:rPr lang="en-US" dirty="0" smtClean="0"/>
              <a:t>Clearly, any </a:t>
            </a:r>
            <a:r>
              <a:rPr lang="en-US" dirty="0"/>
              <a:t>transaction that contains </a:t>
            </a:r>
            <a:r>
              <a:rPr lang="en-US" i="1" dirty="0"/>
              <a:t>{c, d, e} </a:t>
            </a:r>
            <a:r>
              <a:rPr lang="en-US" dirty="0"/>
              <a:t>must also contain its subsets, </a:t>
            </a:r>
            <a:r>
              <a:rPr lang="en-US" i="1" dirty="0"/>
              <a:t>{c, d</a:t>
            </a:r>
            <a:r>
              <a:rPr lang="en-US" i="1" dirty="0" smtClean="0"/>
              <a:t>}</a:t>
            </a:r>
            <a:r>
              <a:rPr lang="en-US" dirty="0" smtClean="0"/>
              <a:t>, </a:t>
            </a:r>
            <a:r>
              <a:rPr lang="en-US" i="1" dirty="0" smtClean="0"/>
              <a:t>{</a:t>
            </a:r>
            <a:r>
              <a:rPr lang="en-US" i="1" dirty="0"/>
              <a:t>c, e}</a:t>
            </a:r>
            <a:r>
              <a:rPr lang="en-US" dirty="0"/>
              <a:t>, </a:t>
            </a:r>
            <a:r>
              <a:rPr lang="en-US" i="1" dirty="0"/>
              <a:t>{d, e}</a:t>
            </a:r>
            <a:r>
              <a:rPr lang="en-US" dirty="0"/>
              <a:t>, </a:t>
            </a:r>
            <a:r>
              <a:rPr lang="en-US" i="1" dirty="0"/>
              <a:t>{c}</a:t>
            </a:r>
            <a:r>
              <a:rPr lang="en-US" dirty="0"/>
              <a:t>, </a:t>
            </a:r>
            <a:r>
              <a:rPr lang="en-US" i="1" dirty="0"/>
              <a:t>{d}</a:t>
            </a:r>
            <a:r>
              <a:rPr lang="en-US" dirty="0"/>
              <a:t>, and </a:t>
            </a:r>
            <a:r>
              <a:rPr lang="en-US" i="1" dirty="0"/>
              <a:t>{e}</a:t>
            </a:r>
            <a:r>
              <a:rPr lang="en-US" dirty="0"/>
              <a:t>. As a result, if </a:t>
            </a:r>
            <a:r>
              <a:rPr lang="en-US" i="1" dirty="0"/>
              <a:t>{c, d, e} </a:t>
            </a:r>
            <a:r>
              <a:rPr lang="en-US" dirty="0"/>
              <a:t>is frequent, </a:t>
            </a:r>
            <a:r>
              <a:rPr lang="en-US" dirty="0" smtClean="0"/>
              <a:t>then all </a:t>
            </a:r>
            <a:r>
              <a:rPr lang="en-US" dirty="0"/>
              <a:t>subsets of </a:t>
            </a:r>
            <a:r>
              <a:rPr lang="en-US" i="1" dirty="0"/>
              <a:t>{c, d, e} </a:t>
            </a:r>
            <a:r>
              <a:rPr lang="en-US" dirty="0"/>
              <a:t>(i.e., the shaded </a:t>
            </a:r>
            <a:r>
              <a:rPr lang="en-US" dirty="0" err="1"/>
              <a:t>itemsets</a:t>
            </a:r>
            <a:r>
              <a:rPr lang="en-US" dirty="0"/>
              <a:t> in this figure) must also </a:t>
            </a:r>
            <a:r>
              <a:rPr lang="en-US" dirty="0" smtClean="0"/>
              <a:t>be frequent</a:t>
            </a:r>
            <a:endParaRPr lang="en-US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1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dirty="0" err="1" smtClean="0"/>
              <a:t>Apriori</a:t>
            </a:r>
            <a:r>
              <a:rPr lang="en-US" dirty="0" smtClean="0"/>
              <a:t> Principle</a:t>
            </a:r>
            <a:endParaRPr lang="en-US" dirty="0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r>
              <a:rPr lang="en-US" dirty="0"/>
              <a:t>Conversely, if an </a:t>
            </a:r>
            <a:r>
              <a:rPr lang="en-US" dirty="0" err="1"/>
              <a:t>itemset</a:t>
            </a:r>
            <a:r>
              <a:rPr lang="en-US" dirty="0"/>
              <a:t> such as </a:t>
            </a:r>
            <a:r>
              <a:rPr lang="en-US" i="1" dirty="0"/>
              <a:t>{a, b} </a:t>
            </a:r>
            <a:r>
              <a:rPr lang="en-US" dirty="0"/>
              <a:t>is infrequent, then all of its </a:t>
            </a:r>
            <a:r>
              <a:rPr lang="en-US" dirty="0" smtClean="0"/>
              <a:t>supersets must </a:t>
            </a:r>
            <a:r>
              <a:rPr lang="en-US" dirty="0"/>
              <a:t>be infrequent too. As illustrated in </a:t>
            </a:r>
            <a:r>
              <a:rPr lang="en-US" dirty="0" smtClean="0"/>
              <a:t>the next Figure, </a:t>
            </a:r>
            <a:r>
              <a:rPr lang="en-US" dirty="0"/>
              <a:t>the entire </a:t>
            </a:r>
            <a:r>
              <a:rPr lang="en-US" dirty="0" smtClean="0"/>
              <a:t>subgraph containing </a:t>
            </a:r>
            <a:r>
              <a:rPr lang="en-US" dirty="0"/>
              <a:t>the supersets of </a:t>
            </a:r>
            <a:r>
              <a:rPr lang="en-US" i="1" dirty="0"/>
              <a:t>{a, b} </a:t>
            </a:r>
            <a:r>
              <a:rPr lang="en-US" dirty="0"/>
              <a:t>can be pruned immediately once </a:t>
            </a:r>
            <a:r>
              <a:rPr lang="en-US" i="1" dirty="0"/>
              <a:t>{a, b} </a:t>
            </a:r>
            <a:r>
              <a:rPr lang="en-US" dirty="0" smtClean="0"/>
              <a:t>is found </a:t>
            </a:r>
            <a:r>
              <a:rPr lang="en-US" dirty="0"/>
              <a:t>to be infrequent. This strategy of trimming the exponential </a:t>
            </a:r>
            <a:r>
              <a:rPr lang="en-US" dirty="0" smtClean="0"/>
              <a:t>search space </a:t>
            </a:r>
            <a:r>
              <a:rPr lang="en-US" dirty="0"/>
              <a:t>based on the support measure is known as </a:t>
            </a:r>
            <a:r>
              <a:rPr lang="en-US" b="1" dirty="0"/>
              <a:t>support-based pruning</a:t>
            </a:r>
            <a:r>
              <a:rPr lang="en-US" dirty="0"/>
              <a:t>.</a:t>
            </a:r>
          </a:p>
          <a:p>
            <a:r>
              <a:rPr lang="en-US" dirty="0" smtClean="0"/>
              <a:t>It follows a property </a:t>
            </a:r>
            <a:r>
              <a:rPr lang="en-US" dirty="0"/>
              <a:t>of the </a:t>
            </a:r>
            <a:r>
              <a:rPr lang="en-US" dirty="0" smtClean="0"/>
              <a:t>support measure</a:t>
            </a:r>
            <a:r>
              <a:rPr lang="en-US" dirty="0"/>
              <a:t>, namely, that the support for an </a:t>
            </a:r>
            <a:r>
              <a:rPr lang="en-US" dirty="0" err="1"/>
              <a:t>itemset</a:t>
            </a:r>
            <a:r>
              <a:rPr lang="en-US" dirty="0"/>
              <a:t> never exceeds the </a:t>
            </a:r>
            <a:r>
              <a:rPr lang="en-US" dirty="0" smtClean="0"/>
              <a:t>support for </a:t>
            </a:r>
            <a:r>
              <a:rPr lang="en-US" dirty="0"/>
              <a:t>its </a:t>
            </a:r>
            <a:r>
              <a:rPr lang="en-US" dirty="0" smtClean="0"/>
              <a:t>subsets, also </a:t>
            </a:r>
            <a:r>
              <a:rPr lang="en-US" dirty="0"/>
              <a:t>known as the </a:t>
            </a:r>
            <a:r>
              <a:rPr lang="en-US" b="1" dirty="0"/>
              <a:t>anti-monotone </a:t>
            </a:r>
            <a:r>
              <a:rPr lang="en-US" dirty="0" smtClean="0"/>
              <a:t>property of </a:t>
            </a:r>
            <a:r>
              <a:rPr lang="en-US" dirty="0"/>
              <a:t>the support measure.</a:t>
            </a:r>
          </a:p>
        </p:txBody>
      </p:sp>
    </p:spTree>
    <p:extLst>
      <p:ext uri="{BB962C8B-B14F-4D97-AF65-F5344CB8AC3E}">
        <p14:creationId xmlns:p14="http://schemas.microsoft.com/office/powerpoint/2010/main" val="312936615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1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19336"/>
            <a:ext cx="8534400" cy="533400"/>
          </a:xfrm>
        </p:spPr>
        <p:txBody>
          <a:bodyPr/>
          <a:lstStyle/>
          <a:p>
            <a:r>
              <a:rPr lang="en-US" dirty="0"/>
              <a:t>Example of F</a:t>
            </a:r>
            <a:r>
              <a:rPr lang="en-US" dirty="0" smtClean="0"/>
              <a:t>requent </a:t>
            </a:r>
            <a:r>
              <a:rPr lang="en-US" dirty="0" err="1"/>
              <a:t>I</a:t>
            </a:r>
            <a:r>
              <a:rPr lang="en-US" dirty="0" err="1" smtClean="0"/>
              <a:t>temset</a:t>
            </a:r>
            <a:r>
              <a:rPr lang="en-US" dirty="0" smtClean="0"/>
              <a:t> Generation Using </a:t>
            </a:r>
            <a:r>
              <a:rPr lang="en-US" dirty="0" err="1" smtClean="0"/>
              <a:t>Apriori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ssume </a:t>
            </a:r>
            <a:r>
              <a:rPr lang="en-US" dirty="0"/>
              <a:t>that the support threshold is 60</a:t>
            </a:r>
            <a:r>
              <a:rPr lang="en-US" dirty="0" smtClean="0"/>
              <a:t>% (3/5) ( i.e. </a:t>
            </a:r>
            <a:r>
              <a:rPr lang="en-US" dirty="0"/>
              <a:t>a minimum support count equal to </a:t>
            </a:r>
            <a:r>
              <a:rPr lang="en-US" dirty="0" smtClean="0"/>
              <a:t>3)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204864"/>
            <a:ext cx="6988287" cy="436641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12974" y="4203407"/>
            <a:ext cx="2716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Here the </a:t>
            </a:r>
            <a:r>
              <a:rPr lang="en-US" dirty="0" err="1" smtClean="0"/>
              <a:t>Apriori</a:t>
            </a:r>
            <a:r>
              <a:rPr lang="en-US" dirty="0" smtClean="0"/>
              <a:t> principle is applied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732240" y="4849738"/>
            <a:ext cx="0" cy="595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1994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1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Frequent </a:t>
            </a:r>
            <a:r>
              <a:rPr lang="en-US" dirty="0" err="1"/>
              <a:t>Itemset</a:t>
            </a:r>
            <a:r>
              <a:rPr lang="en-US" dirty="0"/>
              <a:t> Generation Using </a:t>
            </a:r>
            <a:r>
              <a:rPr lang="en-US" dirty="0" err="1"/>
              <a:t>Apriori</a:t>
            </a:r>
            <a:r>
              <a:rPr lang="en-US" dirty="0"/>
              <a:t> </a:t>
            </a:r>
            <a:r>
              <a:rPr lang="en-US" dirty="0" smtClean="0"/>
              <a:t>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61" y="2132856"/>
            <a:ext cx="8204677" cy="418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8605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Frequent </a:t>
            </a:r>
            <a:r>
              <a:rPr lang="en-US" dirty="0" err="1"/>
              <a:t>Itemset</a:t>
            </a:r>
            <a:r>
              <a:rPr lang="en-US" dirty="0"/>
              <a:t> Generation Using </a:t>
            </a:r>
            <a:r>
              <a:rPr lang="en-US" dirty="0" err="1"/>
              <a:t>Apriori</a:t>
            </a:r>
            <a:r>
              <a:rPr lang="en-US" dirty="0"/>
              <a:t> </a:t>
            </a:r>
            <a:r>
              <a:rPr lang="en-US" dirty="0" smtClean="0"/>
              <a:t>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initially makes a single pass over the data set to </a:t>
            </a:r>
            <a:r>
              <a:rPr lang="en-US" dirty="0" smtClean="0"/>
              <a:t>determine the </a:t>
            </a:r>
            <a:r>
              <a:rPr lang="en-US" dirty="0"/>
              <a:t>support of each item. Upon completion of this step, the set of </a:t>
            </a:r>
            <a:r>
              <a:rPr lang="en-US" dirty="0" smtClean="0"/>
              <a:t>all frequent </a:t>
            </a:r>
            <a:r>
              <a:rPr lang="en-US" dirty="0"/>
              <a:t>1-itemsets, </a:t>
            </a:r>
            <a:r>
              <a:rPr lang="en-US" i="1" dirty="0"/>
              <a:t>F</a:t>
            </a:r>
            <a:r>
              <a:rPr lang="en-US" dirty="0"/>
              <a:t>1, will be known (steps 1 and 2</a:t>
            </a:r>
            <a:r>
              <a:rPr lang="en-US" dirty="0" smtClean="0"/>
              <a:t>)</a:t>
            </a:r>
          </a:p>
          <a:p>
            <a:r>
              <a:rPr lang="en-US" dirty="0"/>
              <a:t>Next, the algorithm will iteratively generate new candidate </a:t>
            </a:r>
            <a:r>
              <a:rPr lang="en-US" i="1" dirty="0" smtClean="0"/>
              <a:t>k</a:t>
            </a:r>
            <a:r>
              <a:rPr lang="en-US" dirty="0" smtClean="0"/>
              <a:t>-</a:t>
            </a:r>
            <a:r>
              <a:rPr lang="en-US" dirty="0" err="1" smtClean="0"/>
              <a:t>itemsets</a:t>
            </a:r>
            <a:r>
              <a:rPr lang="en-US" dirty="0" smtClean="0"/>
              <a:t> using </a:t>
            </a:r>
            <a:r>
              <a:rPr lang="en-US" dirty="0"/>
              <a:t>the frequent (</a:t>
            </a:r>
            <a:r>
              <a:rPr lang="en-US" i="1" dirty="0"/>
              <a:t>k − </a:t>
            </a:r>
            <a:r>
              <a:rPr lang="en-US" dirty="0"/>
              <a:t>1)-</a:t>
            </a:r>
            <a:r>
              <a:rPr lang="en-US" dirty="0" err="1"/>
              <a:t>itemsets</a:t>
            </a:r>
            <a:r>
              <a:rPr lang="en-US" dirty="0"/>
              <a:t> found in the previous iteration (</a:t>
            </a:r>
            <a:r>
              <a:rPr lang="en-US" dirty="0" smtClean="0"/>
              <a:t>step 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9042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Frequent </a:t>
            </a:r>
            <a:r>
              <a:rPr lang="en-US" dirty="0" err="1"/>
              <a:t>Itemset</a:t>
            </a:r>
            <a:r>
              <a:rPr lang="en-US" dirty="0"/>
              <a:t> Generation Using </a:t>
            </a:r>
            <a:r>
              <a:rPr lang="en-US" dirty="0" err="1"/>
              <a:t>Apriori</a:t>
            </a:r>
            <a:r>
              <a:rPr lang="en-US" dirty="0"/>
              <a:t> </a:t>
            </a:r>
            <a:r>
              <a:rPr lang="en-US" dirty="0" smtClean="0"/>
              <a:t>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count the support of the candidates, the algorithm needs to make </a:t>
            </a:r>
            <a:r>
              <a:rPr lang="en-US" dirty="0" smtClean="0"/>
              <a:t>an additional </a:t>
            </a:r>
            <a:r>
              <a:rPr lang="en-US" dirty="0"/>
              <a:t>pass over the data set (steps 6–10). The subset function </a:t>
            </a:r>
            <a:r>
              <a:rPr lang="en-US" dirty="0" smtClean="0"/>
              <a:t>is used </a:t>
            </a:r>
            <a:r>
              <a:rPr lang="en-US" dirty="0"/>
              <a:t>to determine all the candidate </a:t>
            </a:r>
            <a:r>
              <a:rPr lang="en-US" dirty="0" err="1"/>
              <a:t>itemsets</a:t>
            </a:r>
            <a:r>
              <a:rPr lang="en-US" dirty="0"/>
              <a:t> in </a:t>
            </a:r>
            <a:r>
              <a:rPr lang="en-US" i="1" dirty="0" err="1"/>
              <a:t>Ck</a:t>
            </a:r>
            <a:r>
              <a:rPr lang="en-US" i="1" dirty="0"/>
              <a:t> </a:t>
            </a:r>
            <a:r>
              <a:rPr lang="en-US" dirty="0"/>
              <a:t>that are contained </a:t>
            </a:r>
            <a:r>
              <a:rPr lang="en-US" dirty="0" smtClean="0"/>
              <a:t>in each </a:t>
            </a:r>
            <a:r>
              <a:rPr lang="en-US" dirty="0"/>
              <a:t>transaction </a:t>
            </a:r>
            <a:r>
              <a:rPr lang="en-US" i="1" dirty="0" smtClean="0"/>
              <a:t>t</a:t>
            </a:r>
          </a:p>
          <a:p>
            <a:r>
              <a:rPr lang="en-US" dirty="0"/>
              <a:t>After counting their supports, the algorithm eliminates all </a:t>
            </a:r>
            <a:r>
              <a:rPr lang="en-US" dirty="0" smtClean="0"/>
              <a:t>candidate </a:t>
            </a:r>
            <a:r>
              <a:rPr lang="en-US" dirty="0" err="1" smtClean="0"/>
              <a:t>itemsets</a:t>
            </a:r>
            <a:r>
              <a:rPr lang="en-US" dirty="0" smtClean="0"/>
              <a:t> </a:t>
            </a:r>
            <a:r>
              <a:rPr lang="en-US" dirty="0"/>
              <a:t>whose support counts are less than </a:t>
            </a:r>
            <a:r>
              <a:rPr lang="en-US" i="1" dirty="0" err="1" smtClean="0"/>
              <a:t>minsup</a:t>
            </a:r>
            <a:endParaRPr lang="en-US" i="1" dirty="0" smtClean="0"/>
          </a:p>
          <a:p>
            <a:r>
              <a:rPr lang="en-US" dirty="0"/>
              <a:t>The algorithm terminates when there are no new frequent </a:t>
            </a:r>
            <a:r>
              <a:rPr lang="en-US" dirty="0" err="1"/>
              <a:t>itemsets</a:t>
            </a:r>
            <a:r>
              <a:rPr lang="en-US" dirty="0"/>
              <a:t> </a:t>
            </a:r>
            <a:r>
              <a:rPr lang="en-US" dirty="0" smtClean="0"/>
              <a:t>generated, i.e</a:t>
            </a:r>
            <a:r>
              <a:rPr lang="en-US" dirty="0"/>
              <a:t>., </a:t>
            </a:r>
            <a:r>
              <a:rPr lang="en-US" i="1" dirty="0" err="1"/>
              <a:t>Fk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/>
              <a:t>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59550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48131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908720"/>
            <a:ext cx="8229600" cy="51816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buSzPct val="60000"/>
            </a:pPr>
            <a:endParaRPr lang="en-US" sz="2400" dirty="0"/>
          </a:p>
          <a:p>
            <a:pPr eaLnBrk="1" hangingPunct="1">
              <a:buClr>
                <a:schemeClr val="folHlink"/>
              </a:buClr>
              <a:buSzPct val="60000"/>
            </a:pPr>
            <a:r>
              <a:rPr lang="en-US" dirty="0">
                <a:latin typeface="+mj-lt"/>
              </a:rPr>
              <a:t>Lecture Notes for Chapter 6, Introduction to Data Mining, by Tan, Steinbach, Kumar</a:t>
            </a:r>
          </a:p>
          <a:p>
            <a:pPr eaLnBrk="1" hangingPunct="1">
              <a:buClr>
                <a:schemeClr val="folHlink"/>
              </a:buClr>
              <a:buSzPct val="60000"/>
            </a:pPr>
            <a:endParaRPr lang="en-US" sz="2400" dirty="0"/>
          </a:p>
          <a:p>
            <a:pPr eaLnBrk="1" hangingPunct="1">
              <a:buClr>
                <a:schemeClr val="folHlink"/>
              </a:buClr>
              <a:buSzPct val="60000"/>
            </a:pPr>
            <a:endParaRPr lang="en-GB" sz="2400" dirty="0"/>
          </a:p>
          <a:p>
            <a:endParaRPr lang="en-US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27852</TotalTime>
  <Words>950</Words>
  <Application>Microsoft Office PowerPoint</Application>
  <PresentationFormat>On-screen Show (4:3)</PresentationFormat>
  <Paragraphs>114</Paragraphs>
  <Slides>18</Slides>
  <Notes>3</Notes>
  <HiddenSlides>3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Cambria Math</vt:lpstr>
      <vt:lpstr>Monotype Sorts</vt:lpstr>
      <vt:lpstr>Symbol</vt:lpstr>
      <vt:lpstr>Times New Roman</vt:lpstr>
      <vt:lpstr>Wingdings</vt:lpstr>
      <vt:lpstr>Capsules</vt:lpstr>
      <vt:lpstr>Document</vt:lpstr>
      <vt:lpstr>Equation</vt:lpstr>
      <vt:lpstr>Visio</vt:lpstr>
      <vt:lpstr>Association Rule Mining</vt:lpstr>
      <vt:lpstr>Association Rule Mining</vt:lpstr>
      <vt:lpstr>Definition: Association Rule</vt:lpstr>
      <vt:lpstr>Support</vt:lpstr>
      <vt:lpstr>Confidence</vt:lpstr>
      <vt:lpstr>Association Rule Mining Task</vt:lpstr>
      <vt:lpstr>Computational Complexity</vt:lpstr>
      <vt:lpstr>Mining Association Rules</vt:lpstr>
      <vt:lpstr>Mining Association Rules</vt:lpstr>
      <vt:lpstr>Frequent Itemset Generation</vt:lpstr>
      <vt:lpstr>Frequent Itemset Generation Strategies</vt:lpstr>
      <vt:lpstr>Apriori Principle</vt:lpstr>
      <vt:lpstr>Apriori Principle</vt:lpstr>
      <vt:lpstr>Example of Frequent Itemset Generation Using Apriori Algorithm</vt:lpstr>
      <vt:lpstr>Algorithm for Frequent Itemset Generation Using Apriori Principle</vt:lpstr>
      <vt:lpstr>Algorithm for Frequent Itemset Generation Using Apriori Principle</vt:lpstr>
      <vt:lpstr>Algorithm for Frequent Itemset Generation Using Apriori Principle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Tahir</dc:creator>
  <cp:lastModifiedBy>HP PAVILION</cp:lastModifiedBy>
  <cp:revision>615</cp:revision>
  <cp:lastPrinted>1601-01-01T00:00:00Z</cp:lastPrinted>
  <dcterms:created xsi:type="dcterms:W3CDTF">1601-01-01T00:00:00Z</dcterms:created>
  <dcterms:modified xsi:type="dcterms:W3CDTF">2025-11-28T14:15:06Z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