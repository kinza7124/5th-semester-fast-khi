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</p:sldIdLst>
  <p:sldSz cx="9144000" cy="6858000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0825" cy="1089025"/>
          </a:xfrm>
          <a:custGeom>
            <a:avLst/>
            <a:gdLst/>
            <a:ahLst/>
            <a:cxnLst/>
            <a:rect l="l" t="t" r="r" b="b"/>
            <a:pathLst>
              <a:path w="9140825" h="1089025">
                <a:moveTo>
                  <a:pt x="0" y="1088999"/>
                </a:moveTo>
                <a:lnTo>
                  <a:pt x="9140761" y="1088999"/>
                </a:lnTo>
                <a:lnTo>
                  <a:pt x="9140761" y="0"/>
                </a:lnTo>
                <a:lnTo>
                  <a:pt x="0" y="0"/>
                </a:lnTo>
                <a:lnTo>
                  <a:pt x="0" y="1088999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088999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4">
                <a:moveTo>
                  <a:pt x="9143631" y="0"/>
                </a:moveTo>
                <a:lnTo>
                  <a:pt x="0" y="0"/>
                </a:lnTo>
                <a:lnTo>
                  <a:pt x="0" y="216001"/>
                </a:lnTo>
                <a:lnTo>
                  <a:pt x="9143631" y="216001"/>
                </a:lnTo>
                <a:lnTo>
                  <a:pt x="9143631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0"/>
                </a:move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lnTo>
                  <a:pt x="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96" y="6192354"/>
            <a:ext cx="1799996" cy="503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333984"/>
            <a:ext cx="661035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6414" y="1430309"/>
            <a:ext cx="8091170" cy="4604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hyperlink" Target="http://tusharkute.com/" TargetMode="Externa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jpe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jpeg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hyperlink" Target="http://www.stephacking.com/" TargetMode="External"/><Relationship Id="rId8" Type="http://schemas.openxmlformats.org/officeDocument/2006/relationships/hyperlink" Target="http://www.kaggle.com/" TargetMode="External"/><Relationship Id="rId7" Type="http://schemas.openxmlformats.org/officeDocument/2006/relationships/hyperlink" Target="http://www.analyticsvidhya.com/" TargetMode="External"/><Relationship Id="rId6" Type="http://schemas.openxmlformats.org/officeDocument/2006/relationships/hyperlink" Target="http://www.medium.com/" TargetMode="External"/><Relationship Id="rId5" Type="http://schemas.openxmlformats.org/officeDocument/2006/relationships/hyperlink" Target="http://www.towardsdatascience.com/" TargetMode="External"/><Relationship Id="rId4" Type="http://schemas.openxmlformats.org/officeDocument/2006/relationships/hyperlink" Target="http://www.scikit-learn.org/" TargetMode="External"/><Relationship Id="rId3" Type="http://schemas.openxmlformats.org/officeDocument/2006/relationships/hyperlink" Target="http://www.pythonprogramminglanguage.com/" TargetMode="External"/><Relationship Id="rId2" Type="http://schemas.openxmlformats.org/officeDocument/2006/relationships/hyperlink" Target="http://www.mitu.co.in/" TargetMode="External"/><Relationship Id="rId11" Type="http://schemas.openxmlformats.org/officeDocument/2006/relationships/slideLayout" Target="../slideLayouts/slideLayout2.xml"/><Relationship Id="rId10" Type="http://schemas.openxmlformats.org/officeDocument/2006/relationships/hyperlink" Target="http://www.github.com/" TargetMode="Externa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5"/>
            <a:ext cx="9144000" cy="2421255"/>
          </a:xfrm>
          <a:custGeom>
            <a:avLst/>
            <a:gdLst/>
            <a:ahLst/>
            <a:cxnLst/>
            <a:rect l="l" t="t" r="r" b="b"/>
            <a:pathLst>
              <a:path w="9144000" h="2421255">
                <a:moveTo>
                  <a:pt x="9144000" y="0"/>
                </a:moveTo>
                <a:lnTo>
                  <a:pt x="0" y="0"/>
                </a:lnTo>
                <a:lnTo>
                  <a:pt x="0" y="2421001"/>
                </a:lnTo>
                <a:lnTo>
                  <a:pt x="4572000" y="2421001"/>
                </a:lnTo>
                <a:lnTo>
                  <a:pt x="9144000" y="2421001"/>
                </a:lnTo>
                <a:lnTo>
                  <a:pt x="91440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0"/>
                </a:move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lnTo>
                  <a:pt x="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2421001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5">
                <a:moveTo>
                  <a:pt x="9143644" y="0"/>
                </a:moveTo>
                <a:lnTo>
                  <a:pt x="0" y="0"/>
                </a:lnTo>
                <a:lnTo>
                  <a:pt x="0" y="216001"/>
                </a:lnTo>
                <a:lnTo>
                  <a:pt x="9143644" y="216001"/>
                </a:lnTo>
                <a:lnTo>
                  <a:pt x="9143644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7458" y="838339"/>
            <a:ext cx="5300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/>
                <a:cs typeface="Times New Roman" panose="02020603050405020304"/>
              </a:rPr>
              <a:t>Ensemble</a:t>
            </a:r>
            <a:r>
              <a:rPr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</a:rPr>
              <a:t>Methods</a:t>
            </a:r>
            <a:endParaRPr spc="-1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32003" y="6191643"/>
            <a:ext cx="1799996" cy="5039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85622" y="4815624"/>
            <a:ext cx="257810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0" dirty="0">
                <a:latin typeface="Georgia" panose="02040502050405020303"/>
                <a:cs typeface="Georgia" panose="02040502050405020303"/>
              </a:rPr>
              <a:t>Tushar</a:t>
            </a:r>
            <a:r>
              <a:rPr sz="2400" spc="200" dirty="0">
                <a:latin typeface="Georgia" panose="02040502050405020303"/>
                <a:cs typeface="Georgia" panose="02040502050405020303"/>
              </a:rPr>
              <a:t> </a:t>
            </a:r>
            <a:r>
              <a:rPr sz="2400" spc="145" dirty="0">
                <a:latin typeface="Georgia" panose="02040502050405020303"/>
                <a:cs typeface="Georgia" panose="02040502050405020303"/>
              </a:rPr>
              <a:t>B.</a:t>
            </a:r>
            <a:r>
              <a:rPr sz="2400" spc="200" dirty="0">
                <a:latin typeface="Georgia" panose="02040502050405020303"/>
                <a:cs typeface="Georgia" panose="02040502050405020303"/>
              </a:rPr>
              <a:t> </a:t>
            </a:r>
            <a:r>
              <a:rPr sz="2400" spc="65" dirty="0">
                <a:latin typeface="Georgia" panose="02040502050405020303"/>
                <a:cs typeface="Georgia" panose="02040502050405020303"/>
              </a:rPr>
              <a:t>Kute,</a:t>
            </a:r>
            <a:endParaRPr sz="24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ct val="100000"/>
              </a:lnSpc>
            </a:pPr>
            <a:r>
              <a:rPr sz="1800" spc="75" dirty="0">
                <a:latin typeface="Georgia" panose="02040502050405020303"/>
                <a:cs typeface="Georgia" panose="02040502050405020303"/>
                <a:hlinkClick r:id="rId2"/>
              </a:rPr>
              <a:t>http://tusharkute.com</a:t>
            </a:r>
            <a:endParaRPr sz="18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Ensemble</a:t>
            </a:r>
            <a:r>
              <a:rPr spc="-155" dirty="0"/>
              <a:t> </a:t>
            </a:r>
            <a:r>
              <a:rPr spc="-10" dirty="0"/>
              <a:t>Learning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75930" cy="4256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2730" marR="61595" indent="-240665">
              <a:lnSpc>
                <a:spcPct val="100000"/>
              </a:lnSpc>
              <a:spcBef>
                <a:spcPts val="105"/>
              </a:spcBef>
              <a:buClr>
                <a:srgbClr val="6697CC"/>
              </a:buClr>
              <a:buFont typeface="Arial MT"/>
              <a:buChar char="•"/>
              <a:tabLst>
                <a:tab pos="252095" algn="l"/>
              </a:tabLst>
            </a:pP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An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ensemble</a:t>
            </a:r>
            <a:r>
              <a:rPr sz="19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19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7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19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composite</a:t>
            </a:r>
            <a:r>
              <a:rPr sz="19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model,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combines</a:t>
            </a:r>
            <a:r>
              <a:rPr sz="19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7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19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series</a:t>
            </a:r>
            <a:r>
              <a:rPr sz="19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13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19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50" dirty="0">
                <a:latin typeface="Microsoft Sans Serif" panose="020B0604020202020204"/>
                <a:cs typeface="Microsoft Sans Serif" panose="020B0604020202020204"/>
              </a:rPr>
              <a:t>low </a:t>
            </a:r>
            <a:r>
              <a:rPr sz="1950" spc="65" dirty="0">
                <a:latin typeface="Microsoft Sans Serif" panose="020B0604020202020204"/>
                <a:cs typeface="Microsoft Sans Serif" panose="020B0604020202020204"/>
              </a:rPr>
              <a:t>performing</a:t>
            </a:r>
            <a:r>
              <a:rPr sz="19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classifiers</a:t>
            </a:r>
            <a:r>
              <a:rPr sz="1950" spc="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100" dirty="0">
                <a:latin typeface="Microsoft Sans Serif" panose="020B0604020202020204"/>
                <a:cs typeface="Microsoft Sans Serif" panose="020B0604020202020204"/>
              </a:rPr>
              <a:t>with</a:t>
            </a:r>
            <a:r>
              <a:rPr sz="19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9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9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aim</a:t>
            </a:r>
            <a:r>
              <a:rPr sz="19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14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 creating</a:t>
            </a:r>
            <a:r>
              <a:rPr sz="19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an</a:t>
            </a:r>
            <a:r>
              <a:rPr sz="195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improved 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classifier.</a:t>
            </a:r>
            <a:endParaRPr sz="1950">
              <a:latin typeface="Microsoft Sans Serif" panose="020B0604020202020204"/>
              <a:cs typeface="Microsoft Sans Serif" panose="020B0604020202020204"/>
            </a:endParaRPr>
          </a:p>
          <a:p>
            <a:pPr marL="252730" marR="5080" indent="-240665">
              <a:lnSpc>
                <a:spcPct val="100000"/>
              </a:lnSpc>
              <a:spcBef>
                <a:spcPts val="575"/>
              </a:spcBef>
              <a:buClr>
                <a:srgbClr val="6697CC"/>
              </a:buClr>
              <a:buFont typeface="Arial MT"/>
              <a:buChar char="•"/>
              <a:tabLst>
                <a:tab pos="252095" algn="l"/>
              </a:tabLst>
            </a:pP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Here,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individual</a:t>
            </a:r>
            <a:r>
              <a:rPr sz="19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classifier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70" dirty="0">
                <a:latin typeface="Microsoft Sans Serif" panose="020B0604020202020204"/>
                <a:cs typeface="Microsoft Sans Serif" panose="020B0604020202020204"/>
              </a:rPr>
              <a:t>vote</a:t>
            </a:r>
            <a:r>
              <a:rPr sz="19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and </a:t>
            </a:r>
            <a:r>
              <a:rPr sz="1950" spc="60" dirty="0">
                <a:latin typeface="Microsoft Sans Serif" panose="020B0604020202020204"/>
                <a:cs typeface="Microsoft Sans Serif" panose="020B0604020202020204"/>
              </a:rPr>
              <a:t>final</a:t>
            </a:r>
            <a:r>
              <a:rPr sz="19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55" dirty="0">
                <a:latin typeface="Microsoft Sans Serif" panose="020B0604020202020204"/>
                <a:cs typeface="Microsoft Sans Serif" panose="020B0604020202020204"/>
              </a:rPr>
              <a:t>prediction</a:t>
            </a:r>
            <a:r>
              <a:rPr sz="19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label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70" dirty="0">
                <a:latin typeface="Microsoft Sans Serif" panose="020B0604020202020204"/>
                <a:cs typeface="Microsoft Sans Serif" panose="020B0604020202020204"/>
              </a:rPr>
              <a:t>returned</a:t>
            </a:r>
            <a:r>
              <a:rPr sz="19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90" dirty="0">
                <a:latin typeface="Microsoft Sans Serif" panose="020B0604020202020204"/>
                <a:cs typeface="Microsoft Sans Serif" panose="020B0604020202020204"/>
              </a:rPr>
              <a:t>that </a:t>
            </a:r>
            <a:r>
              <a:rPr sz="1950" spc="55" dirty="0">
                <a:latin typeface="Microsoft Sans Serif" panose="020B0604020202020204"/>
                <a:cs typeface="Microsoft Sans Serif" panose="020B0604020202020204"/>
              </a:rPr>
              <a:t>performs</a:t>
            </a:r>
            <a:r>
              <a:rPr sz="19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55" dirty="0">
                <a:latin typeface="Microsoft Sans Serif" panose="020B0604020202020204"/>
                <a:cs typeface="Microsoft Sans Serif" panose="020B0604020202020204"/>
              </a:rPr>
              <a:t>majority</a:t>
            </a:r>
            <a:r>
              <a:rPr sz="19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35" dirty="0">
                <a:latin typeface="Microsoft Sans Serif" panose="020B0604020202020204"/>
                <a:cs typeface="Microsoft Sans Serif" panose="020B0604020202020204"/>
              </a:rPr>
              <a:t>voting.</a:t>
            </a:r>
            <a:endParaRPr sz="1950">
              <a:latin typeface="Microsoft Sans Serif" panose="020B0604020202020204"/>
              <a:cs typeface="Microsoft Sans Serif" panose="020B0604020202020204"/>
            </a:endParaRPr>
          </a:p>
          <a:p>
            <a:pPr marL="252730" indent="-240030">
              <a:lnSpc>
                <a:spcPct val="100000"/>
              </a:lnSpc>
              <a:spcBef>
                <a:spcPts val="570"/>
              </a:spcBef>
              <a:buClr>
                <a:srgbClr val="6697CC"/>
              </a:buClr>
              <a:buFont typeface="Arial MT"/>
              <a:buChar char="•"/>
              <a:tabLst>
                <a:tab pos="252095" algn="l"/>
              </a:tabLst>
            </a:pPr>
            <a:r>
              <a:rPr sz="1950" spc="-25" dirty="0">
                <a:latin typeface="Microsoft Sans Serif" panose="020B0604020202020204"/>
                <a:cs typeface="Microsoft Sans Serif" panose="020B0604020202020204"/>
              </a:rPr>
              <a:t>Ensembles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114" dirty="0">
                <a:latin typeface="Microsoft Sans Serif" panose="020B0604020202020204"/>
                <a:cs typeface="Microsoft Sans Serif" panose="020B0604020202020204"/>
              </a:rPr>
              <a:t>offer</a:t>
            </a:r>
            <a:r>
              <a:rPr sz="19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more</a:t>
            </a:r>
            <a:r>
              <a:rPr sz="19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30" dirty="0">
                <a:latin typeface="Microsoft Sans Serif" panose="020B0604020202020204"/>
                <a:cs typeface="Microsoft Sans Serif" panose="020B0604020202020204"/>
              </a:rPr>
              <a:t>accuracy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55" dirty="0">
                <a:latin typeface="Microsoft Sans Serif" panose="020B0604020202020204"/>
                <a:cs typeface="Microsoft Sans Serif" panose="020B0604020202020204"/>
              </a:rPr>
              <a:t>than</a:t>
            </a:r>
            <a:r>
              <a:rPr sz="19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individual</a:t>
            </a:r>
            <a:r>
              <a:rPr sz="19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75" dirty="0">
                <a:latin typeface="Microsoft Sans Serif" panose="020B0604020202020204"/>
                <a:cs typeface="Microsoft Sans Serif" panose="020B0604020202020204"/>
              </a:rPr>
              <a:t>or</a:t>
            </a:r>
            <a:r>
              <a:rPr sz="19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25" dirty="0">
                <a:latin typeface="Microsoft Sans Serif" panose="020B0604020202020204"/>
                <a:cs typeface="Microsoft Sans Serif" panose="020B0604020202020204"/>
              </a:rPr>
              <a:t>base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 classifier.</a:t>
            </a:r>
            <a:endParaRPr sz="1950">
              <a:latin typeface="Microsoft Sans Serif" panose="020B0604020202020204"/>
              <a:cs typeface="Microsoft Sans Serif" panose="020B0604020202020204"/>
            </a:endParaRPr>
          </a:p>
          <a:p>
            <a:pPr marL="252730" marR="174625" indent="-240665">
              <a:lnSpc>
                <a:spcPct val="100000"/>
              </a:lnSpc>
              <a:spcBef>
                <a:spcPts val="570"/>
              </a:spcBef>
              <a:buClr>
                <a:srgbClr val="6697CC"/>
              </a:buClr>
              <a:buFont typeface="Arial MT"/>
              <a:buChar char="•"/>
              <a:tabLst>
                <a:tab pos="252095" algn="l"/>
              </a:tabLst>
            </a:pP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Ensemble</a:t>
            </a:r>
            <a:r>
              <a:rPr sz="1950" spc="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methods</a:t>
            </a:r>
            <a:r>
              <a:rPr sz="1950" spc="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20" dirty="0">
                <a:latin typeface="Microsoft Sans Serif" panose="020B0604020202020204"/>
                <a:cs typeface="Microsoft Sans Serif" panose="020B0604020202020204"/>
              </a:rPr>
              <a:t>can</a:t>
            </a:r>
            <a:r>
              <a:rPr sz="1950" spc="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parallelize</a:t>
            </a:r>
            <a:r>
              <a:rPr sz="1950" spc="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by</a:t>
            </a:r>
            <a:r>
              <a:rPr sz="1950" spc="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allocating</a:t>
            </a:r>
            <a:r>
              <a:rPr sz="1950" spc="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25" dirty="0">
                <a:latin typeface="Microsoft Sans Serif" panose="020B0604020202020204"/>
                <a:cs typeface="Microsoft Sans Serif" panose="020B0604020202020204"/>
              </a:rPr>
              <a:t>each</a:t>
            </a:r>
            <a:r>
              <a:rPr sz="1950" spc="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20" dirty="0">
                <a:latin typeface="Microsoft Sans Serif" panose="020B0604020202020204"/>
                <a:cs typeface="Microsoft Sans Serif" panose="020B0604020202020204"/>
              </a:rPr>
              <a:t>base</a:t>
            </a:r>
            <a:r>
              <a:rPr sz="1950" spc="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learner</a:t>
            </a:r>
            <a:r>
              <a:rPr sz="1950" spc="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125" dirty="0">
                <a:latin typeface="Microsoft Sans Serif" panose="020B0604020202020204"/>
                <a:cs typeface="Microsoft Sans Serif" panose="020B0604020202020204"/>
              </a:rPr>
              <a:t>to </a:t>
            </a:r>
            <a:r>
              <a:rPr sz="1950" spc="80" dirty="0">
                <a:latin typeface="Microsoft Sans Serif" panose="020B0604020202020204"/>
                <a:cs typeface="Microsoft Sans Serif" panose="020B0604020202020204"/>
              </a:rPr>
              <a:t>different-</a:t>
            </a:r>
            <a:r>
              <a:rPr sz="1950" spc="95" dirty="0">
                <a:latin typeface="Microsoft Sans Serif" panose="020B0604020202020204"/>
                <a:cs typeface="Microsoft Sans Serif" panose="020B0604020202020204"/>
              </a:rPr>
              <a:t>different</a:t>
            </a:r>
            <a:r>
              <a:rPr sz="19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machines.</a:t>
            </a:r>
            <a:endParaRPr sz="1950">
              <a:latin typeface="Microsoft Sans Serif" panose="020B0604020202020204"/>
              <a:cs typeface="Microsoft Sans Serif" panose="020B0604020202020204"/>
            </a:endParaRPr>
          </a:p>
          <a:p>
            <a:pPr marL="252730" marR="154305" indent="-240665">
              <a:lnSpc>
                <a:spcPct val="100000"/>
              </a:lnSpc>
              <a:spcBef>
                <a:spcPts val="570"/>
              </a:spcBef>
              <a:buClr>
                <a:srgbClr val="6697CC"/>
              </a:buClr>
              <a:buFont typeface="Arial MT"/>
              <a:buChar char="•"/>
              <a:tabLst>
                <a:tab pos="252095" algn="l"/>
              </a:tabLst>
            </a:pP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Finally,</a:t>
            </a:r>
            <a:r>
              <a:rPr sz="19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you</a:t>
            </a:r>
            <a:r>
              <a:rPr sz="19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25" dirty="0">
                <a:latin typeface="Microsoft Sans Serif" panose="020B0604020202020204"/>
                <a:cs typeface="Microsoft Sans Serif" panose="020B0604020202020204"/>
              </a:rPr>
              <a:t>can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70" dirty="0">
                <a:latin typeface="Microsoft Sans Serif" panose="020B0604020202020204"/>
                <a:cs typeface="Microsoft Sans Serif" panose="020B0604020202020204"/>
              </a:rPr>
              <a:t>say</a:t>
            </a:r>
            <a:r>
              <a:rPr sz="19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Ensemble</a:t>
            </a:r>
            <a:r>
              <a:rPr sz="19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learning</a:t>
            </a:r>
            <a:r>
              <a:rPr sz="19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45" dirty="0">
                <a:latin typeface="Microsoft Sans Serif" panose="020B0604020202020204"/>
                <a:cs typeface="Microsoft Sans Serif" panose="020B0604020202020204"/>
              </a:rPr>
              <a:t>methods</a:t>
            </a:r>
            <a:r>
              <a:rPr sz="19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19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meta-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algorithms </a:t>
            </a:r>
            <a:r>
              <a:rPr sz="1950" spc="105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195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combine</a:t>
            </a:r>
            <a:r>
              <a:rPr sz="195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several</a:t>
            </a:r>
            <a:r>
              <a:rPr sz="19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machine</a:t>
            </a:r>
            <a:r>
              <a:rPr sz="195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learning</a:t>
            </a:r>
            <a:r>
              <a:rPr sz="1950" spc="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methods</a:t>
            </a:r>
            <a:r>
              <a:rPr sz="1950" spc="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90" dirty="0">
                <a:latin typeface="Microsoft Sans Serif" panose="020B0604020202020204"/>
                <a:cs typeface="Microsoft Sans Serif" panose="020B0604020202020204"/>
              </a:rPr>
              <a:t>into</a:t>
            </a:r>
            <a:r>
              <a:rPr sz="195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7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1950" spc="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single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predictive</a:t>
            </a:r>
            <a:r>
              <a:rPr sz="1950" spc="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1950" spc="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150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1950" spc="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increase</a:t>
            </a:r>
            <a:r>
              <a:rPr sz="1950" spc="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performance.</a:t>
            </a:r>
            <a:endParaRPr sz="1950">
              <a:latin typeface="Microsoft Sans Serif" panose="020B0604020202020204"/>
              <a:cs typeface="Microsoft Sans Serif" panose="020B0604020202020204"/>
            </a:endParaRPr>
          </a:p>
          <a:p>
            <a:pPr marL="252730" marR="29210" indent="-240665">
              <a:lnSpc>
                <a:spcPct val="100000"/>
              </a:lnSpc>
              <a:spcBef>
                <a:spcPts val="575"/>
              </a:spcBef>
              <a:buClr>
                <a:srgbClr val="6697CC"/>
              </a:buClr>
              <a:buFont typeface="Arial MT"/>
              <a:buChar char="•"/>
              <a:tabLst>
                <a:tab pos="252095" algn="l"/>
              </a:tabLst>
            </a:pP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Ensemble</a:t>
            </a:r>
            <a:r>
              <a:rPr sz="19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methods</a:t>
            </a:r>
            <a:r>
              <a:rPr sz="19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20" dirty="0">
                <a:latin typeface="Microsoft Sans Serif" panose="020B0604020202020204"/>
                <a:cs typeface="Microsoft Sans Serif" panose="020B0604020202020204"/>
              </a:rPr>
              <a:t>can</a:t>
            </a:r>
            <a:r>
              <a:rPr sz="19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decrease</a:t>
            </a:r>
            <a:r>
              <a:rPr sz="19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variance</a:t>
            </a:r>
            <a:r>
              <a:rPr sz="19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using</a:t>
            </a:r>
            <a:r>
              <a:rPr sz="19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bagging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 approach, bias</a:t>
            </a:r>
            <a:r>
              <a:rPr sz="1950" spc="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using</a:t>
            </a:r>
            <a:r>
              <a:rPr sz="195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7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1950" spc="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50" dirty="0">
                <a:latin typeface="Microsoft Sans Serif" panose="020B0604020202020204"/>
                <a:cs typeface="Microsoft Sans Serif" panose="020B0604020202020204"/>
              </a:rPr>
              <a:t>boosting</a:t>
            </a:r>
            <a:r>
              <a:rPr sz="1950" spc="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approach,</a:t>
            </a:r>
            <a:r>
              <a:rPr sz="195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75" dirty="0">
                <a:latin typeface="Microsoft Sans Serif" panose="020B0604020202020204"/>
                <a:cs typeface="Microsoft Sans Serif" panose="020B0604020202020204"/>
              </a:rPr>
              <a:t>or</a:t>
            </a:r>
            <a:r>
              <a:rPr sz="1950" spc="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improve</a:t>
            </a:r>
            <a:r>
              <a:rPr sz="1950" spc="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predictions</a:t>
            </a:r>
            <a:r>
              <a:rPr sz="1950" spc="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using</a:t>
            </a:r>
            <a:r>
              <a:rPr sz="1950" spc="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10" dirty="0">
                <a:latin typeface="Microsoft Sans Serif" panose="020B0604020202020204"/>
                <a:cs typeface="Microsoft Sans Serif" panose="020B0604020202020204"/>
              </a:rPr>
              <a:t>stacking approach.</a:t>
            </a:r>
            <a:endParaRPr sz="19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Real</a:t>
            </a:r>
            <a:r>
              <a:rPr spc="-140" dirty="0"/>
              <a:t> </a:t>
            </a:r>
            <a:r>
              <a:rPr spc="155" dirty="0"/>
              <a:t>life</a:t>
            </a:r>
            <a:r>
              <a:rPr spc="-135" dirty="0"/>
              <a:t> </a:t>
            </a:r>
            <a:r>
              <a:rPr spc="-10" dirty="0"/>
              <a:t>examples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17436"/>
            <a:ext cx="8024495" cy="383794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Let's</a:t>
            </a:r>
            <a:r>
              <a:rPr sz="28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70" dirty="0">
                <a:latin typeface="Microsoft Sans Serif" panose="020B0604020202020204"/>
                <a:cs typeface="Microsoft Sans Serif" panose="020B0604020202020204"/>
              </a:rPr>
              <a:t>take</a:t>
            </a:r>
            <a:r>
              <a:rPr sz="28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11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8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real</a:t>
            </a:r>
            <a:r>
              <a:rPr sz="28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example</a:t>
            </a:r>
            <a:r>
              <a:rPr sz="28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204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8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70" dirty="0">
                <a:latin typeface="Microsoft Sans Serif" panose="020B0604020202020204"/>
                <a:cs typeface="Microsoft Sans Serif" panose="020B0604020202020204"/>
              </a:rPr>
              <a:t>build</a:t>
            </a:r>
            <a:r>
              <a:rPr sz="28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8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85" dirty="0">
                <a:latin typeface="Microsoft Sans Serif" panose="020B0604020202020204"/>
                <a:cs typeface="Microsoft Sans Serif" panose="020B0604020202020204"/>
              </a:rPr>
              <a:t>intuition.</a:t>
            </a:r>
            <a:endParaRPr sz="2800">
              <a:latin typeface="Microsoft Sans Serif" panose="020B0604020202020204"/>
              <a:cs typeface="Microsoft Sans Serif" panose="020B0604020202020204"/>
            </a:endParaRPr>
          </a:p>
          <a:p>
            <a:pPr marL="355600" marR="508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spc="-45" dirty="0">
                <a:latin typeface="Microsoft Sans Serif" panose="020B0604020202020204"/>
                <a:cs typeface="Microsoft Sans Serif" panose="020B0604020202020204"/>
              </a:rPr>
              <a:t>Suppose,</a:t>
            </a:r>
            <a:r>
              <a:rPr sz="28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you</a:t>
            </a:r>
            <a:r>
              <a:rPr sz="28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95" dirty="0">
                <a:latin typeface="Microsoft Sans Serif" panose="020B0604020202020204"/>
                <a:cs typeface="Microsoft Sans Serif" panose="020B0604020202020204"/>
              </a:rPr>
              <a:t>want</a:t>
            </a:r>
            <a:r>
              <a:rPr sz="28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210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8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invest</a:t>
            </a:r>
            <a:r>
              <a:rPr sz="280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55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8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11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80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company</a:t>
            </a:r>
            <a:r>
              <a:rPr sz="28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20" dirty="0">
                <a:latin typeface="Microsoft Sans Serif" panose="020B0604020202020204"/>
                <a:cs typeface="Microsoft Sans Serif" panose="020B0604020202020204"/>
              </a:rPr>
              <a:t>XYZ. You</a:t>
            </a:r>
            <a:r>
              <a:rPr sz="2800" spc="-1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2800" spc="-1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150" dirty="0">
                <a:latin typeface="Microsoft Sans Serif" panose="020B0604020202020204"/>
                <a:cs typeface="Microsoft Sans Serif" panose="020B0604020202020204"/>
              </a:rPr>
              <a:t>not</a:t>
            </a:r>
            <a:r>
              <a:rPr sz="280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sure</a:t>
            </a:r>
            <a:r>
              <a:rPr sz="2800" spc="-114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80" dirty="0">
                <a:latin typeface="Microsoft Sans Serif" panose="020B0604020202020204"/>
                <a:cs typeface="Microsoft Sans Serif" panose="020B0604020202020204"/>
              </a:rPr>
              <a:t>about</a:t>
            </a:r>
            <a:r>
              <a:rPr sz="280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85" dirty="0">
                <a:latin typeface="Microsoft Sans Serif" panose="020B0604020202020204"/>
                <a:cs typeface="Microsoft Sans Serif" panose="020B0604020202020204"/>
              </a:rPr>
              <a:t>its</a:t>
            </a:r>
            <a:r>
              <a:rPr sz="2800" spc="-10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55" dirty="0">
                <a:latin typeface="Microsoft Sans Serif" panose="020B0604020202020204"/>
                <a:cs typeface="Microsoft Sans Serif" panose="020B0604020202020204"/>
              </a:rPr>
              <a:t>performance</a:t>
            </a:r>
            <a:r>
              <a:rPr sz="2800" spc="-1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50" dirty="0">
                <a:latin typeface="Microsoft Sans Serif" panose="020B0604020202020204"/>
                <a:cs typeface="Microsoft Sans Serif" panose="020B0604020202020204"/>
              </a:rPr>
              <a:t>though.</a:t>
            </a:r>
            <a:endParaRPr sz="2800">
              <a:latin typeface="Microsoft Sans Serif" panose="020B0604020202020204"/>
              <a:cs typeface="Microsoft Sans Serif" panose="020B0604020202020204"/>
            </a:endParaRPr>
          </a:p>
          <a:p>
            <a:pPr marL="355600" marR="184785" indent="-343535">
              <a:lnSpc>
                <a:spcPct val="100000"/>
              </a:lnSpc>
              <a:spcBef>
                <a:spcPts val="78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spc="-145" dirty="0">
                <a:latin typeface="Microsoft Sans Serif" panose="020B0604020202020204"/>
                <a:cs typeface="Microsoft Sans Serif" panose="020B0604020202020204"/>
              </a:rPr>
              <a:t>So,</a:t>
            </a:r>
            <a:r>
              <a:rPr sz="280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you</a:t>
            </a:r>
            <a:r>
              <a:rPr sz="28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75" dirty="0">
                <a:latin typeface="Microsoft Sans Serif" panose="020B0604020202020204"/>
                <a:cs typeface="Microsoft Sans Serif" panose="020B0604020202020204"/>
              </a:rPr>
              <a:t>look</a:t>
            </a:r>
            <a:r>
              <a:rPr sz="28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165" dirty="0"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8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10" dirty="0">
                <a:latin typeface="Microsoft Sans Serif" panose="020B0604020202020204"/>
                <a:cs typeface="Microsoft Sans Serif" panose="020B0604020202020204"/>
              </a:rPr>
              <a:t>advice</a:t>
            </a:r>
            <a:r>
              <a:rPr sz="28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on</a:t>
            </a:r>
            <a:r>
              <a:rPr sz="28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90" dirty="0">
                <a:latin typeface="Microsoft Sans Serif" panose="020B0604020202020204"/>
                <a:cs typeface="Microsoft Sans Serif" panose="020B0604020202020204"/>
              </a:rPr>
              <a:t>whether</a:t>
            </a:r>
            <a:r>
              <a:rPr sz="28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8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10" dirty="0">
                <a:latin typeface="Microsoft Sans Serif" panose="020B0604020202020204"/>
                <a:cs typeface="Microsoft Sans Serif" panose="020B0604020202020204"/>
              </a:rPr>
              <a:t>stock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price</a:t>
            </a:r>
            <a:r>
              <a:rPr sz="2800" spc="-10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110" dirty="0">
                <a:latin typeface="Microsoft Sans Serif" panose="020B0604020202020204"/>
                <a:cs typeface="Microsoft Sans Serif" panose="020B0604020202020204"/>
              </a:rPr>
              <a:t>will</a:t>
            </a:r>
            <a:r>
              <a:rPr sz="28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20" dirty="0">
                <a:latin typeface="Microsoft Sans Serif" panose="020B0604020202020204"/>
                <a:cs typeface="Microsoft Sans Serif" panose="020B0604020202020204"/>
              </a:rPr>
              <a:t>increase</a:t>
            </a:r>
            <a:r>
              <a:rPr sz="280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by</a:t>
            </a:r>
            <a:r>
              <a:rPr sz="280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65" dirty="0">
                <a:latin typeface="Microsoft Sans Serif" panose="020B0604020202020204"/>
                <a:cs typeface="Microsoft Sans Serif" panose="020B0604020202020204"/>
              </a:rPr>
              <a:t>more</a:t>
            </a:r>
            <a:r>
              <a:rPr sz="280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70" dirty="0">
                <a:latin typeface="Microsoft Sans Serif" panose="020B0604020202020204"/>
                <a:cs typeface="Microsoft Sans Serif" panose="020B0604020202020204"/>
              </a:rPr>
              <a:t>than</a:t>
            </a:r>
            <a:r>
              <a:rPr sz="280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10" dirty="0">
                <a:latin typeface="Microsoft Sans Serif" panose="020B0604020202020204"/>
                <a:cs typeface="Microsoft Sans Serif" panose="020B0604020202020204"/>
              </a:rPr>
              <a:t>6%</a:t>
            </a:r>
            <a:r>
              <a:rPr sz="28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60" dirty="0">
                <a:latin typeface="Microsoft Sans Serif" panose="020B0604020202020204"/>
                <a:cs typeface="Microsoft Sans Serif" panose="020B0604020202020204"/>
              </a:rPr>
              <a:t>per</a:t>
            </a:r>
            <a:r>
              <a:rPr sz="280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10" dirty="0">
                <a:latin typeface="Microsoft Sans Serif" panose="020B0604020202020204"/>
                <a:cs typeface="Microsoft Sans Serif" panose="020B0604020202020204"/>
              </a:rPr>
              <a:t>annum </a:t>
            </a:r>
            <a:r>
              <a:rPr sz="2800" spc="100" dirty="0">
                <a:latin typeface="Microsoft Sans Serif" panose="020B0604020202020204"/>
                <a:cs typeface="Microsoft Sans Serif" panose="020B0604020202020204"/>
              </a:rPr>
              <a:t>or</a:t>
            </a:r>
            <a:r>
              <a:rPr sz="280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20" dirty="0">
                <a:latin typeface="Microsoft Sans Serif" panose="020B0604020202020204"/>
                <a:cs typeface="Microsoft Sans Serif" panose="020B0604020202020204"/>
              </a:rPr>
              <a:t>not?</a:t>
            </a:r>
            <a:endParaRPr sz="2800">
              <a:latin typeface="Microsoft Sans Serif" panose="020B0604020202020204"/>
              <a:cs typeface="Microsoft Sans Serif" panose="020B0604020202020204"/>
            </a:endParaRPr>
          </a:p>
          <a:p>
            <a:pPr marL="355600" marR="167640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spc="-20" dirty="0">
                <a:latin typeface="Microsoft Sans Serif" panose="020B0604020202020204"/>
                <a:cs typeface="Microsoft Sans Serif" panose="020B0604020202020204"/>
              </a:rPr>
              <a:t>You</a:t>
            </a:r>
            <a:r>
              <a:rPr sz="28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decide</a:t>
            </a:r>
            <a:r>
              <a:rPr sz="28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204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8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approach</a:t>
            </a:r>
            <a:r>
              <a:rPr sz="28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various</a:t>
            </a:r>
            <a:r>
              <a:rPr sz="28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50" dirty="0">
                <a:latin typeface="Microsoft Sans Serif" panose="020B0604020202020204"/>
                <a:cs typeface="Microsoft Sans Serif" panose="020B0604020202020204"/>
              </a:rPr>
              <a:t>experts</a:t>
            </a:r>
            <a:r>
              <a:rPr sz="28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10" dirty="0">
                <a:latin typeface="Microsoft Sans Serif" panose="020B0604020202020204"/>
                <a:cs typeface="Microsoft Sans Serif" panose="020B0604020202020204"/>
              </a:rPr>
              <a:t>having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diverse</a:t>
            </a:r>
            <a:r>
              <a:rPr sz="2800" spc="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domain</a:t>
            </a:r>
            <a:r>
              <a:rPr sz="2800" spc="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10" dirty="0">
                <a:latin typeface="Microsoft Sans Serif" panose="020B0604020202020204"/>
                <a:cs typeface="Microsoft Sans Serif" panose="020B0604020202020204"/>
              </a:rPr>
              <a:t>experience:</a:t>
            </a:r>
            <a:endParaRPr sz="280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The</a:t>
            </a:r>
            <a:r>
              <a:rPr spc="-180" dirty="0"/>
              <a:t> </a:t>
            </a:r>
            <a:r>
              <a:rPr dirty="0"/>
              <a:t>survey</a:t>
            </a:r>
            <a:r>
              <a:rPr spc="-175" dirty="0"/>
              <a:t> </a:t>
            </a:r>
            <a:r>
              <a:rPr spc="95" dirty="0"/>
              <a:t>prediction</a:t>
            </a:r>
            <a:endParaRPr spc="9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54287"/>
            <a:ext cx="5480050" cy="456946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62255" indent="-249555">
              <a:lnSpc>
                <a:spcPct val="100000"/>
              </a:lnSpc>
              <a:spcBef>
                <a:spcPts val="590"/>
              </a:spcBef>
              <a:buClr>
                <a:srgbClr val="6697CC"/>
              </a:buClr>
              <a:buFont typeface="Arial MT"/>
              <a:buChar char="•"/>
              <a:tabLst>
                <a:tab pos="262255" algn="l"/>
              </a:tabLst>
            </a:pP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Employee</a:t>
            </a:r>
            <a:r>
              <a:rPr sz="20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13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0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25" dirty="0">
                <a:latin typeface="Microsoft Sans Serif" panose="020B0604020202020204"/>
                <a:cs typeface="Microsoft Sans Serif" panose="020B0604020202020204"/>
              </a:rPr>
              <a:t>Company</a:t>
            </a:r>
            <a:r>
              <a:rPr sz="20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20" dirty="0">
                <a:latin typeface="Microsoft Sans Serif" panose="020B0604020202020204"/>
                <a:cs typeface="Microsoft Sans Serif" panose="020B0604020202020204"/>
              </a:rPr>
              <a:t>XYZ:</a:t>
            </a:r>
            <a:endParaRPr sz="2050">
              <a:latin typeface="Microsoft Sans Serif" panose="020B0604020202020204"/>
              <a:cs typeface="Microsoft Sans Serif" panose="020B0604020202020204"/>
            </a:endParaRPr>
          </a:p>
          <a:p>
            <a:pPr marL="554990" lvl="1" indent="-208280">
              <a:lnSpc>
                <a:spcPct val="100000"/>
              </a:lnSpc>
              <a:spcBef>
                <a:spcPts val="485"/>
              </a:spcBef>
              <a:buClr>
                <a:srgbClr val="6697CC"/>
              </a:buClr>
              <a:buFont typeface="Arial MT"/>
              <a:buChar char="–"/>
              <a:tabLst>
                <a:tab pos="554990" algn="l"/>
              </a:tabLst>
            </a:pP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8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past,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he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has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been</a:t>
            </a:r>
            <a:r>
              <a:rPr sz="20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85" dirty="0">
                <a:latin typeface="Microsoft Sans Serif" panose="020B0604020202020204"/>
                <a:cs typeface="Microsoft Sans Serif" panose="020B0604020202020204"/>
              </a:rPr>
              <a:t>right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20" dirty="0">
                <a:latin typeface="Microsoft Sans Serif" panose="020B0604020202020204"/>
                <a:cs typeface="Microsoft Sans Serif" panose="020B0604020202020204"/>
              </a:rPr>
              <a:t>70%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10" dirty="0">
                <a:latin typeface="Microsoft Sans Serif" panose="020B0604020202020204"/>
                <a:cs typeface="Microsoft Sans Serif" panose="020B0604020202020204"/>
              </a:rPr>
              <a:t>times.</a:t>
            </a:r>
            <a:endParaRPr sz="2050">
              <a:latin typeface="Microsoft Sans Serif" panose="020B0604020202020204"/>
              <a:cs typeface="Microsoft Sans Serif" panose="020B0604020202020204"/>
            </a:endParaRPr>
          </a:p>
          <a:p>
            <a:pPr marL="262255" indent="-249555">
              <a:lnSpc>
                <a:spcPct val="100000"/>
              </a:lnSpc>
              <a:spcBef>
                <a:spcPts val="570"/>
              </a:spcBef>
              <a:buClr>
                <a:srgbClr val="6697CC"/>
              </a:buClr>
              <a:buFont typeface="Arial MT"/>
              <a:buChar char="•"/>
              <a:tabLst>
                <a:tab pos="262255" algn="l"/>
              </a:tabLst>
            </a:pPr>
            <a:r>
              <a:rPr sz="2050" spc="-20" dirty="0">
                <a:latin typeface="Microsoft Sans Serif" panose="020B0604020202020204"/>
                <a:cs typeface="Microsoft Sans Serif" panose="020B0604020202020204"/>
              </a:rPr>
              <a:t>Financial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Advisor</a:t>
            </a:r>
            <a:r>
              <a:rPr sz="20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13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0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25" dirty="0">
                <a:latin typeface="Microsoft Sans Serif" panose="020B0604020202020204"/>
                <a:cs typeface="Microsoft Sans Serif" panose="020B0604020202020204"/>
              </a:rPr>
              <a:t>Company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20" dirty="0">
                <a:latin typeface="Microsoft Sans Serif" panose="020B0604020202020204"/>
                <a:cs typeface="Microsoft Sans Serif" panose="020B0604020202020204"/>
              </a:rPr>
              <a:t>XYZ:</a:t>
            </a:r>
            <a:endParaRPr sz="2050">
              <a:latin typeface="Microsoft Sans Serif" panose="020B0604020202020204"/>
              <a:cs typeface="Microsoft Sans Serif" panose="020B0604020202020204"/>
            </a:endParaRPr>
          </a:p>
          <a:p>
            <a:pPr marL="554990" lvl="1" indent="-208280">
              <a:lnSpc>
                <a:spcPct val="100000"/>
              </a:lnSpc>
              <a:spcBef>
                <a:spcPts val="495"/>
              </a:spcBef>
              <a:buClr>
                <a:srgbClr val="6697CC"/>
              </a:buClr>
              <a:buFont typeface="Arial MT"/>
              <a:buChar char="–"/>
              <a:tabLst>
                <a:tab pos="554990" algn="l"/>
              </a:tabLst>
            </a:pP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8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past,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he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has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been</a:t>
            </a:r>
            <a:r>
              <a:rPr sz="20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85" dirty="0">
                <a:latin typeface="Microsoft Sans Serif" panose="020B0604020202020204"/>
                <a:cs typeface="Microsoft Sans Serif" panose="020B0604020202020204"/>
              </a:rPr>
              <a:t>right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20" dirty="0">
                <a:latin typeface="Microsoft Sans Serif" panose="020B0604020202020204"/>
                <a:cs typeface="Microsoft Sans Serif" panose="020B0604020202020204"/>
              </a:rPr>
              <a:t>75%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10" dirty="0">
                <a:latin typeface="Microsoft Sans Serif" panose="020B0604020202020204"/>
                <a:cs typeface="Microsoft Sans Serif" panose="020B0604020202020204"/>
              </a:rPr>
              <a:t>times.</a:t>
            </a:r>
            <a:endParaRPr sz="2050">
              <a:latin typeface="Microsoft Sans Serif" panose="020B0604020202020204"/>
              <a:cs typeface="Microsoft Sans Serif" panose="020B0604020202020204"/>
            </a:endParaRPr>
          </a:p>
          <a:p>
            <a:pPr marL="262255" indent="-249555">
              <a:lnSpc>
                <a:spcPct val="100000"/>
              </a:lnSpc>
              <a:spcBef>
                <a:spcPts val="555"/>
              </a:spcBef>
              <a:buClr>
                <a:srgbClr val="6697CC"/>
              </a:buClr>
              <a:buFont typeface="Arial MT"/>
              <a:buChar char="•"/>
              <a:tabLst>
                <a:tab pos="262255" algn="l"/>
              </a:tabLst>
            </a:pP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Stock</a:t>
            </a:r>
            <a:r>
              <a:rPr sz="2050" spc="-10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55" dirty="0">
                <a:latin typeface="Microsoft Sans Serif" panose="020B0604020202020204"/>
                <a:cs typeface="Microsoft Sans Serif" panose="020B0604020202020204"/>
              </a:rPr>
              <a:t>Market</a:t>
            </a:r>
            <a:r>
              <a:rPr sz="2050" spc="-114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10" dirty="0">
                <a:latin typeface="Microsoft Sans Serif" panose="020B0604020202020204"/>
                <a:cs typeface="Microsoft Sans Serif" panose="020B0604020202020204"/>
              </a:rPr>
              <a:t>Trader:</a:t>
            </a:r>
            <a:endParaRPr sz="2050">
              <a:latin typeface="Microsoft Sans Serif" panose="020B0604020202020204"/>
              <a:cs typeface="Microsoft Sans Serif" panose="020B0604020202020204"/>
            </a:endParaRPr>
          </a:p>
          <a:p>
            <a:pPr marL="554990" lvl="1" indent="-208280">
              <a:lnSpc>
                <a:spcPct val="100000"/>
              </a:lnSpc>
              <a:spcBef>
                <a:spcPts val="490"/>
              </a:spcBef>
              <a:buClr>
                <a:srgbClr val="6697CC"/>
              </a:buClr>
              <a:buFont typeface="Arial MT"/>
              <a:buChar char="–"/>
              <a:tabLst>
                <a:tab pos="554990" algn="l"/>
              </a:tabLst>
            </a:pP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8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past,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he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has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been</a:t>
            </a:r>
            <a:r>
              <a:rPr sz="20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85" dirty="0">
                <a:latin typeface="Microsoft Sans Serif" panose="020B0604020202020204"/>
                <a:cs typeface="Microsoft Sans Serif" panose="020B0604020202020204"/>
              </a:rPr>
              <a:t>right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20" dirty="0">
                <a:latin typeface="Microsoft Sans Serif" panose="020B0604020202020204"/>
                <a:cs typeface="Microsoft Sans Serif" panose="020B0604020202020204"/>
              </a:rPr>
              <a:t>70%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10" dirty="0">
                <a:latin typeface="Microsoft Sans Serif" panose="020B0604020202020204"/>
                <a:cs typeface="Microsoft Sans Serif" panose="020B0604020202020204"/>
              </a:rPr>
              <a:t>times.</a:t>
            </a:r>
            <a:endParaRPr sz="2050">
              <a:latin typeface="Microsoft Sans Serif" panose="020B0604020202020204"/>
              <a:cs typeface="Microsoft Sans Serif" panose="020B0604020202020204"/>
            </a:endParaRPr>
          </a:p>
          <a:p>
            <a:pPr marL="262255" indent="-249555">
              <a:lnSpc>
                <a:spcPct val="100000"/>
              </a:lnSpc>
              <a:spcBef>
                <a:spcPts val="575"/>
              </a:spcBef>
              <a:buClr>
                <a:srgbClr val="6697CC"/>
              </a:buClr>
              <a:buFont typeface="Arial MT"/>
              <a:buChar char="•"/>
              <a:tabLst>
                <a:tab pos="262255" algn="l"/>
              </a:tabLst>
            </a:pP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Employee</a:t>
            </a:r>
            <a:r>
              <a:rPr sz="20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13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050" spc="-85" dirty="0">
                <a:latin typeface="Microsoft Sans Serif" panose="020B0604020202020204"/>
                <a:cs typeface="Microsoft Sans Serif" panose="020B0604020202020204"/>
              </a:rPr>
              <a:t> a</a:t>
            </a:r>
            <a:r>
              <a:rPr sz="20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45" dirty="0">
                <a:latin typeface="Microsoft Sans Serif" panose="020B0604020202020204"/>
                <a:cs typeface="Microsoft Sans Serif" panose="020B0604020202020204"/>
              </a:rPr>
              <a:t>competitor:</a:t>
            </a:r>
            <a:endParaRPr sz="2050">
              <a:latin typeface="Microsoft Sans Serif" panose="020B0604020202020204"/>
              <a:cs typeface="Microsoft Sans Serif" panose="020B0604020202020204"/>
            </a:endParaRPr>
          </a:p>
          <a:p>
            <a:pPr marL="554990" lvl="1" indent="-208280">
              <a:lnSpc>
                <a:spcPct val="100000"/>
              </a:lnSpc>
              <a:spcBef>
                <a:spcPts val="490"/>
              </a:spcBef>
              <a:buClr>
                <a:srgbClr val="6697CC"/>
              </a:buClr>
              <a:buFont typeface="Arial MT"/>
              <a:buChar char="–"/>
              <a:tabLst>
                <a:tab pos="554990" algn="l"/>
              </a:tabLst>
            </a:pP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8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past,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he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has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been</a:t>
            </a:r>
            <a:r>
              <a:rPr sz="20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85" dirty="0">
                <a:latin typeface="Microsoft Sans Serif" panose="020B0604020202020204"/>
                <a:cs typeface="Microsoft Sans Serif" panose="020B0604020202020204"/>
              </a:rPr>
              <a:t>right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20" dirty="0">
                <a:latin typeface="Microsoft Sans Serif" panose="020B0604020202020204"/>
                <a:cs typeface="Microsoft Sans Serif" panose="020B0604020202020204"/>
              </a:rPr>
              <a:t>60%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10" dirty="0">
                <a:latin typeface="Microsoft Sans Serif" panose="020B0604020202020204"/>
                <a:cs typeface="Microsoft Sans Serif" panose="020B0604020202020204"/>
              </a:rPr>
              <a:t>times.</a:t>
            </a:r>
            <a:endParaRPr sz="2050">
              <a:latin typeface="Microsoft Sans Serif" panose="020B0604020202020204"/>
              <a:cs typeface="Microsoft Sans Serif" panose="020B0604020202020204"/>
            </a:endParaRPr>
          </a:p>
          <a:p>
            <a:pPr marL="262255" indent="-249555">
              <a:lnSpc>
                <a:spcPct val="100000"/>
              </a:lnSpc>
              <a:spcBef>
                <a:spcPts val="555"/>
              </a:spcBef>
              <a:buClr>
                <a:srgbClr val="6697CC"/>
              </a:buClr>
              <a:buFont typeface="Arial MT"/>
              <a:buChar char="•"/>
              <a:tabLst>
                <a:tab pos="262255" algn="l"/>
              </a:tabLst>
            </a:pPr>
            <a:r>
              <a:rPr sz="2050" spc="55" dirty="0">
                <a:latin typeface="Microsoft Sans Serif" panose="020B0604020202020204"/>
                <a:cs typeface="Microsoft Sans Serif" panose="020B0604020202020204"/>
              </a:rPr>
              <a:t>Market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50" dirty="0">
                <a:latin typeface="Microsoft Sans Serif" panose="020B0604020202020204"/>
                <a:cs typeface="Microsoft Sans Serif" panose="020B0604020202020204"/>
              </a:rPr>
              <a:t>Research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50" dirty="0">
                <a:latin typeface="Microsoft Sans Serif" panose="020B0604020202020204"/>
                <a:cs typeface="Microsoft Sans Serif" panose="020B0604020202020204"/>
              </a:rPr>
              <a:t>team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0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8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45" dirty="0">
                <a:latin typeface="Microsoft Sans Serif" panose="020B0604020202020204"/>
                <a:cs typeface="Microsoft Sans Serif" panose="020B0604020202020204"/>
              </a:rPr>
              <a:t>same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10" dirty="0">
                <a:latin typeface="Microsoft Sans Serif" panose="020B0604020202020204"/>
                <a:cs typeface="Microsoft Sans Serif" panose="020B0604020202020204"/>
              </a:rPr>
              <a:t>segment:</a:t>
            </a:r>
            <a:endParaRPr sz="2050">
              <a:latin typeface="Microsoft Sans Serif" panose="020B0604020202020204"/>
              <a:cs typeface="Microsoft Sans Serif" panose="020B0604020202020204"/>
            </a:endParaRPr>
          </a:p>
          <a:p>
            <a:pPr marL="554990" lvl="1" indent="-208280">
              <a:lnSpc>
                <a:spcPct val="100000"/>
              </a:lnSpc>
              <a:spcBef>
                <a:spcPts val="495"/>
              </a:spcBef>
              <a:buClr>
                <a:srgbClr val="6697CC"/>
              </a:buClr>
              <a:buFont typeface="Arial MT"/>
              <a:buChar char="–"/>
              <a:tabLst>
                <a:tab pos="554990" algn="l"/>
              </a:tabLst>
            </a:pP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8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past,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he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has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been</a:t>
            </a:r>
            <a:r>
              <a:rPr sz="20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85" dirty="0">
                <a:latin typeface="Microsoft Sans Serif" panose="020B0604020202020204"/>
                <a:cs typeface="Microsoft Sans Serif" panose="020B0604020202020204"/>
              </a:rPr>
              <a:t>right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20" dirty="0">
                <a:latin typeface="Microsoft Sans Serif" panose="020B0604020202020204"/>
                <a:cs typeface="Microsoft Sans Serif" panose="020B0604020202020204"/>
              </a:rPr>
              <a:t>75%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10" dirty="0">
                <a:latin typeface="Microsoft Sans Serif" panose="020B0604020202020204"/>
                <a:cs typeface="Microsoft Sans Serif" panose="020B0604020202020204"/>
              </a:rPr>
              <a:t>times.</a:t>
            </a:r>
            <a:endParaRPr sz="2050">
              <a:latin typeface="Microsoft Sans Serif" panose="020B0604020202020204"/>
              <a:cs typeface="Microsoft Sans Serif" panose="020B0604020202020204"/>
            </a:endParaRPr>
          </a:p>
          <a:p>
            <a:pPr marL="262255" indent="-249555">
              <a:lnSpc>
                <a:spcPct val="100000"/>
              </a:lnSpc>
              <a:spcBef>
                <a:spcPts val="570"/>
              </a:spcBef>
              <a:buClr>
                <a:srgbClr val="6697CC"/>
              </a:buClr>
              <a:buFont typeface="Arial MT"/>
              <a:buChar char="•"/>
              <a:tabLst>
                <a:tab pos="262255" algn="l"/>
              </a:tabLst>
            </a:pPr>
            <a:r>
              <a:rPr sz="2050" spc="-45" dirty="0">
                <a:latin typeface="Microsoft Sans Serif" panose="020B0604020202020204"/>
                <a:cs typeface="Microsoft Sans Serif" panose="020B0604020202020204"/>
              </a:rPr>
              <a:t>Social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Media</a:t>
            </a:r>
            <a:r>
              <a:rPr sz="20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10" dirty="0">
                <a:latin typeface="Microsoft Sans Serif" panose="020B0604020202020204"/>
                <a:cs typeface="Microsoft Sans Serif" panose="020B0604020202020204"/>
              </a:rPr>
              <a:t>Expert:</a:t>
            </a:r>
            <a:endParaRPr sz="2050">
              <a:latin typeface="Microsoft Sans Serif" panose="020B0604020202020204"/>
              <a:cs typeface="Microsoft Sans Serif" panose="020B0604020202020204"/>
            </a:endParaRPr>
          </a:p>
          <a:p>
            <a:pPr marL="554990" lvl="1" indent="-208280">
              <a:lnSpc>
                <a:spcPct val="100000"/>
              </a:lnSpc>
              <a:spcBef>
                <a:spcPts val="485"/>
              </a:spcBef>
              <a:buClr>
                <a:srgbClr val="6697CC"/>
              </a:buClr>
              <a:buFont typeface="Arial MT"/>
              <a:buChar char="–"/>
              <a:tabLst>
                <a:tab pos="554990" algn="l"/>
              </a:tabLst>
            </a:pP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8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past,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he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has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dirty="0">
                <a:latin typeface="Microsoft Sans Serif" panose="020B0604020202020204"/>
                <a:cs typeface="Microsoft Sans Serif" panose="020B0604020202020204"/>
              </a:rPr>
              <a:t>been</a:t>
            </a:r>
            <a:r>
              <a:rPr sz="20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85" dirty="0">
                <a:latin typeface="Microsoft Sans Serif" panose="020B0604020202020204"/>
                <a:cs typeface="Microsoft Sans Serif" panose="020B0604020202020204"/>
              </a:rPr>
              <a:t>right</a:t>
            </a:r>
            <a:r>
              <a:rPr sz="20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20" dirty="0">
                <a:latin typeface="Microsoft Sans Serif" panose="020B0604020202020204"/>
                <a:cs typeface="Microsoft Sans Serif" panose="020B0604020202020204"/>
              </a:rPr>
              <a:t>65%</a:t>
            </a:r>
            <a:r>
              <a:rPr sz="20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50" spc="-10" dirty="0">
                <a:latin typeface="Microsoft Sans Serif" panose="020B0604020202020204"/>
                <a:cs typeface="Microsoft Sans Serif" panose="020B0604020202020204"/>
              </a:rPr>
              <a:t>times.</a:t>
            </a:r>
            <a:endParaRPr sz="20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107680" cy="42456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9400" marR="291465" indent="-267335">
              <a:lnSpc>
                <a:spcPct val="101000"/>
              </a:lnSpc>
              <a:spcBef>
                <a:spcPts val="90"/>
              </a:spcBef>
              <a:buClr>
                <a:srgbClr val="6697CC"/>
              </a:buClr>
              <a:buFont typeface="Arial MT"/>
              <a:buChar char="•"/>
              <a:tabLst>
                <a:tab pos="279400" algn="l"/>
              </a:tabLst>
            </a:pPr>
            <a:r>
              <a:rPr sz="2150" spc="-10" dirty="0">
                <a:latin typeface="Microsoft Sans Serif" panose="020B0604020202020204"/>
                <a:cs typeface="Microsoft Sans Serif" panose="020B0604020202020204"/>
              </a:rPr>
              <a:t>Given</a:t>
            </a:r>
            <a:r>
              <a:rPr sz="21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10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1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50" dirty="0">
                <a:latin typeface="Microsoft Sans Serif" panose="020B0604020202020204"/>
                <a:cs typeface="Microsoft Sans Serif" panose="020B0604020202020204"/>
              </a:rPr>
              <a:t>broad</a:t>
            </a:r>
            <a:r>
              <a:rPr sz="21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50" dirty="0">
                <a:latin typeface="Microsoft Sans Serif" panose="020B0604020202020204"/>
                <a:cs typeface="Microsoft Sans Serif" panose="020B0604020202020204"/>
              </a:rPr>
              <a:t>spectrum</a:t>
            </a:r>
            <a:r>
              <a:rPr sz="21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15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1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-75" dirty="0">
                <a:latin typeface="Microsoft Sans Serif" panose="020B0604020202020204"/>
                <a:cs typeface="Microsoft Sans Serif" panose="020B0604020202020204"/>
              </a:rPr>
              <a:t>access</a:t>
            </a:r>
            <a:r>
              <a:rPr sz="21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you</a:t>
            </a:r>
            <a:r>
              <a:rPr sz="21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have,</a:t>
            </a:r>
            <a:r>
              <a:rPr sz="21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you</a:t>
            </a:r>
            <a:r>
              <a:rPr sz="21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-25" dirty="0">
                <a:latin typeface="Microsoft Sans Serif" panose="020B0604020202020204"/>
                <a:cs typeface="Microsoft Sans Serif" panose="020B0604020202020204"/>
              </a:rPr>
              <a:t>can </a:t>
            </a:r>
            <a:r>
              <a:rPr sz="2150" spc="55" dirty="0">
                <a:latin typeface="Microsoft Sans Serif" panose="020B0604020202020204"/>
                <a:cs typeface="Microsoft Sans Serif" panose="020B0604020202020204"/>
              </a:rPr>
              <a:t>probably</a:t>
            </a:r>
            <a:r>
              <a:rPr sz="21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combine</a:t>
            </a:r>
            <a:r>
              <a:rPr sz="2150" spc="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all</a:t>
            </a:r>
            <a:r>
              <a:rPr sz="21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10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1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90" dirty="0">
                <a:latin typeface="Microsoft Sans Serif" panose="020B0604020202020204"/>
                <a:cs typeface="Microsoft Sans Serif" panose="020B0604020202020204"/>
              </a:rPr>
              <a:t>information</a:t>
            </a:r>
            <a:r>
              <a:rPr sz="21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1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make</a:t>
            </a:r>
            <a:r>
              <a:rPr sz="21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an</a:t>
            </a:r>
            <a:r>
              <a:rPr sz="21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75" dirty="0">
                <a:latin typeface="Microsoft Sans Serif" panose="020B0604020202020204"/>
                <a:cs typeface="Microsoft Sans Serif" panose="020B0604020202020204"/>
              </a:rPr>
              <a:t>informed </a:t>
            </a:r>
            <a:r>
              <a:rPr sz="2150" spc="-10" dirty="0">
                <a:latin typeface="Microsoft Sans Serif" panose="020B0604020202020204"/>
                <a:cs typeface="Microsoft Sans Serif" panose="020B0604020202020204"/>
              </a:rPr>
              <a:t>decision.</a:t>
            </a:r>
            <a:endParaRPr sz="2150">
              <a:latin typeface="Microsoft Sans Serif" panose="020B0604020202020204"/>
              <a:cs typeface="Microsoft Sans Serif" panose="020B0604020202020204"/>
            </a:endParaRPr>
          </a:p>
          <a:p>
            <a:pPr marL="279400" marR="5080" indent="-267335">
              <a:lnSpc>
                <a:spcPct val="101000"/>
              </a:lnSpc>
              <a:spcBef>
                <a:spcPts val="620"/>
              </a:spcBef>
              <a:buClr>
                <a:srgbClr val="6697CC"/>
              </a:buClr>
              <a:buFont typeface="Arial MT"/>
              <a:buChar char="•"/>
              <a:tabLst>
                <a:tab pos="279400" algn="l"/>
              </a:tabLst>
            </a:pP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1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1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scenario</a:t>
            </a:r>
            <a:r>
              <a:rPr sz="21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50" dirty="0">
                <a:latin typeface="Microsoft Sans Serif" panose="020B0604020202020204"/>
                <a:cs typeface="Microsoft Sans Serif" panose="020B0604020202020204"/>
              </a:rPr>
              <a:t>when</a:t>
            </a:r>
            <a:r>
              <a:rPr sz="21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all</a:t>
            </a:r>
            <a:r>
              <a:rPr sz="21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10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1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6</a:t>
            </a:r>
            <a:r>
              <a:rPr sz="21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60" dirty="0">
                <a:latin typeface="Microsoft Sans Serif" panose="020B0604020202020204"/>
                <a:cs typeface="Microsoft Sans Serif" panose="020B0604020202020204"/>
              </a:rPr>
              <a:t>experts/teams</a:t>
            </a:r>
            <a:r>
              <a:rPr sz="21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70" dirty="0">
                <a:latin typeface="Microsoft Sans Serif" panose="020B0604020202020204"/>
                <a:cs typeface="Microsoft Sans Serif" panose="020B0604020202020204"/>
              </a:rPr>
              <a:t>verify</a:t>
            </a:r>
            <a:r>
              <a:rPr sz="21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125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1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60" dirty="0">
                <a:latin typeface="Microsoft Sans Serif" panose="020B0604020202020204"/>
                <a:cs typeface="Microsoft Sans Serif" panose="020B0604020202020204"/>
              </a:rPr>
              <a:t>it’s</a:t>
            </a:r>
            <a:r>
              <a:rPr sz="21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-50" dirty="0">
                <a:latin typeface="Microsoft Sans Serif" panose="020B0604020202020204"/>
                <a:cs typeface="Microsoft Sans Serif" panose="020B0604020202020204"/>
              </a:rPr>
              <a:t>a </a:t>
            </a:r>
            <a:r>
              <a:rPr sz="2150" spc="70" dirty="0">
                <a:latin typeface="Microsoft Sans Serif" panose="020B0604020202020204"/>
                <a:cs typeface="Microsoft Sans Serif" panose="020B0604020202020204"/>
              </a:rPr>
              <a:t>good</a:t>
            </a:r>
            <a:r>
              <a:rPr sz="21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decision(assuming</a:t>
            </a:r>
            <a:r>
              <a:rPr sz="21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all</a:t>
            </a:r>
            <a:r>
              <a:rPr sz="21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10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1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55" dirty="0">
                <a:latin typeface="Microsoft Sans Serif" panose="020B0604020202020204"/>
                <a:cs typeface="Microsoft Sans Serif" panose="020B0604020202020204"/>
              </a:rPr>
              <a:t>predictions</a:t>
            </a:r>
            <a:r>
              <a:rPr sz="21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21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60" dirty="0">
                <a:latin typeface="Microsoft Sans Serif" panose="020B0604020202020204"/>
                <a:cs typeface="Microsoft Sans Serif" panose="020B0604020202020204"/>
              </a:rPr>
              <a:t>independent</a:t>
            </a:r>
            <a:r>
              <a:rPr sz="21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130" dirty="0">
                <a:latin typeface="Microsoft Sans Serif" panose="020B0604020202020204"/>
                <a:cs typeface="Microsoft Sans Serif" panose="020B0604020202020204"/>
              </a:rPr>
              <a:t>of </a:t>
            </a:r>
            <a:r>
              <a:rPr sz="2150" spc="-10" dirty="0">
                <a:latin typeface="Microsoft Sans Serif" panose="020B0604020202020204"/>
                <a:cs typeface="Microsoft Sans Serif" panose="020B0604020202020204"/>
              </a:rPr>
              <a:t>each</a:t>
            </a:r>
            <a:r>
              <a:rPr sz="21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60" dirty="0">
                <a:latin typeface="Microsoft Sans Serif" panose="020B0604020202020204"/>
                <a:cs typeface="Microsoft Sans Serif" panose="020B0604020202020204"/>
              </a:rPr>
              <a:t>other),</a:t>
            </a:r>
            <a:r>
              <a:rPr sz="21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you</a:t>
            </a:r>
            <a:r>
              <a:rPr sz="21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100" dirty="0">
                <a:latin typeface="Microsoft Sans Serif" panose="020B0604020202020204"/>
                <a:cs typeface="Microsoft Sans Serif" panose="020B0604020202020204"/>
              </a:rPr>
              <a:t>will</a:t>
            </a:r>
            <a:r>
              <a:rPr sz="21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110" dirty="0">
                <a:latin typeface="Microsoft Sans Serif" panose="020B0604020202020204"/>
                <a:cs typeface="Microsoft Sans Serif" panose="020B0604020202020204"/>
              </a:rPr>
              <a:t>get</a:t>
            </a:r>
            <a:r>
              <a:rPr sz="21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-8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1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combined</a:t>
            </a:r>
            <a:r>
              <a:rPr sz="21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-20" dirty="0">
                <a:latin typeface="Microsoft Sans Serif" panose="020B0604020202020204"/>
                <a:cs typeface="Microsoft Sans Serif" panose="020B0604020202020204"/>
              </a:rPr>
              <a:t>accuracy</a:t>
            </a:r>
            <a:r>
              <a:rPr sz="21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80" dirty="0">
                <a:latin typeface="Microsoft Sans Serif" panose="020B0604020202020204"/>
                <a:cs typeface="Microsoft Sans Serif" panose="020B0604020202020204"/>
              </a:rPr>
              <a:t>rate</a:t>
            </a:r>
            <a:r>
              <a:rPr sz="21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15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150" spc="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1</a:t>
            </a:r>
            <a:r>
              <a:rPr sz="2150" spc="-3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-</a:t>
            </a:r>
            <a:r>
              <a:rPr sz="2150" spc="-4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(30%</a:t>
            </a:r>
            <a:r>
              <a:rPr sz="2150" spc="-4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-5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. </a:t>
            </a:r>
            <a:r>
              <a:rPr sz="215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25%</a:t>
            </a:r>
            <a:r>
              <a:rPr sz="2150" spc="-95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.</a:t>
            </a:r>
            <a:r>
              <a:rPr sz="2150" spc="-85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30%</a:t>
            </a:r>
            <a:r>
              <a:rPr sz="2150" spc="-95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.</a:t>
            </a:r>
            <a:r>
              <a:rPr sz="2150" spc="-85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40%</a:t>
            </a:r>
            <a:r>
              <a:rPr sz="2150" spc="-9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.</a:t>
            </a:r>
            <a:r>
              <a:rPr sz="2150" spc="-85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25%</a:t>
            </a:r>
            <a:r>
              <a:rPr sz="2150" spc="-85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.</a:t>
            </a:r>
            <a:r>
              <a:rPr sz="2150" spc="-9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35%)</a:t>
            </a:r>
            <a:r>
              <a:rPr sz="2150" spc="-85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=</a:t>
            </a:r>
            <a:r>
              <a:rPr sz="2150" spc="-85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1</a:t>
            </a:r>
            <a:r>
              <a:rPr sz="2150" spc="-85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-</a:t>
            </a:r>
            <a:r>
              <a:rPr sz="2150" spc="-95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0.07875</a:t>
            </a:r>
            <a:r>
              <a:rPr sz="2150" spc="-85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=</a:t>
            </a:r>
            <a:r>
              <a:rPr sz="2150" spc="-8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-10" dirty="0">
                <a:solidFill>
                  <a:srgbClr val="FF0000"/>
                </a:solidFill>
                <a:latin typeface="Microsoft Sans Serif" panose="020B0604020202020204"/>
                <a:cs typeface="Microsoft Sans Serif" panose="020B0604020202020204"/>
              </a:rPr>
              <a:t>99.92125%</a:t>
            </a:r>
            <a:endParaRPr sz="2150">
              <a:latin typeface="Microsoft Sans Serif" panose="020B0604020202020204"/>
              <a:cs typeface="Microsoft Sans Serif" panose="020B0604020202020204"/>
            </a:endParaRPr>
          </a:p>
          <a:p>
            <a:pPr marL="279400" marR="177800" indent="-267335">
              <a:lnSpc>
                <a:spcPct val="101000"/>
              </a:lnSpc>
              <a:spcBef>
                <a:spcPts val="625"/>
              </a:spcBef>
              <a:buClr>
                <a:srgbClr val="6697CC"/>
              </a:buClr>
              <a:buFont typeface="Arial MT"/>
              <a:buChar char="•"/>
              <a:tabLst>
                <a:tab pos="279400" algn="l"/>
              </a:tabLst>
            </a:pP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150" spc="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assumption</a:t>
            </a:r>
            <a:r>
              <a:rPr sz="2150" spc="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15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here</a:t>
            </a:r>
            <a:r>
              <a:rPr sz="2150" spc="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125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15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all</a:t>
            </a:r>
            <a:r>
              <a:rPr sz="2150" spc="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10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150" spc="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55" dirty="0">
                <a:latin typeface="Microsoft Sans Serif" panose="020B0604020202020204"/>
                <a:cs typeface="Microsoft Sans Serif" panose="020B0604020202020204"/>
              </a:rPr>
              <a:t>predictions</a:t>
            </a:r>
            <a:r>
              <a:rPr sz="215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-25" dirty="0">
                <a:latin typeface="Microsoft Sans Serif" panose="020B0604020202020204"/>
                <a:cs typeface="Microsoft Sans Serif" panose="020B0604020202020204"/>
              </a:rPr>
              <a:t>are </a:t>
            </a:r>
            <a:r>
              <a:rPr sz="2150" spc="65" dirty="0">
                <a:latin typeface="Microsoft Sans Serif" panose="020B0604020202020204"/>
                <a:cs typeface="Microsoft Sans Serif" panose="020B0604020202020204"/>
              </a:rPr>
              <a:t>completely</a:t>
            </a:r>
            <a:r>
              <a:rPr sz="21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60" dirty="0">
                <a:latin typeface="Microsoft Sans Serif" panose="020B0604020202020204"/>
                <a:cs typeface="Microsoft Sans Serif" panose="020B0604020202020204"/>
              </a:rPr>
              <a:t>independent</a:t>
            </a:r>
            <a:r>
              <a:rPr sz="21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1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65" dirty="0">
                <a:latin typeface="Microsoft Sans Serif" panose="020B0604020202020204"/>
                <a:cs typeface="Microsoft Sans Serif" panose="020B0604020202020204"/>
              </a:rPr>
              <a:t>slightly</a:t>
            </a:r>
            <a:r>
              <a:rPr sz="21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75" dirty="0">
                <a:latin typeface="Microsoft Sans Serif" panose="020B0604020202020204"/>
                <a:cs typeface="Microsoft Sans Serif" panose="020B0604020202020204"/>
              </a:rPr>
              <a:t>extreme</a:t>
            </a:r>
            <a:r>
              <a:rPr sz="21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-100" dirty="0">
                <a:latin typeface="Microsoft Sans Serif" panose="020B0604020202020204"/>
                <a:cs typeface="Microsoft Sans Serif" panose="020B0604020202020204"/>
              </a:rPr>
              <a:t>as</a:t>
            </a:r>
            <a:r>
              <a:rPr sz="21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80" dirty="0">
                <a:latin typeface="Microsoft Sans Serif" panose="020B0604020202020204"/>
                <a:cs typeface="Microsoft Sans Serif" panose="020B0604020202020204"/>
              </a:rPr>
              <a:t>they</a:t>
            </a:r>
            <a:r>
              <a:rPr sz="21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-25" dirty="0">
                <a:latin typeface="Microsoft Sans Serif" panose="020B0604020202020204"/>
                <a:cs typeface="Microsoft Sans Serif" panose="020B0604020202020204"/>
              </a:rPr>
              <a:t>are </a:t>
            </a:r>
            <a:r>
              <a:rPr sz="2150" spc="55" dirty="0">
                <a:latin typeface="Microsoft Sans Serif" panose="020B0604020202020204"/>
                <a:cs typeface="Microsoft Sans Serif" panose="020B0604020202020204"/>
              </a:rPr>
              <a:t>expected</a:t>
            </a:r>
            <a:r>
              <a:rPr sz="21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180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1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be</a:t>
            </a:r>
            <a:r>
              <a:rPr sz="21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50" dirty="0">
                <a:latin typeface="Microsoft Sans Serif" panose="020B0604020202020204"/>
                <a:cs typeface="Microsoft Sans Serif" panose="020B0604020202020204"/>
              </a:rPr>
              <a:t>correlated.</a:t>
            </a:r>
            <a:r>
              <a:rPr sz="21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However,</a:t>
            </a:r>
            <a:r>
              <a:rPr sz="21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you</a:t>
            </a:r>
            <a:r>
              <a:rPr sz="21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-10" dirty="0">
                <a:latin typeface="Microsoft Sans Serif" panose="020B0604020202020204"/>
                <a:cs typeface="Microsoft Sans Serif" panose="020B0604020202020204"/>
              </a:rPr>
              <a:t>can</a:t>
            </a:r>
            <a:r>
              <a:rPr sz="21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-10" dirty="0">
                <a:latin typeface="Microsoft Sans Serif" panose="020B0604020202020204"/>
                <a:cs typeface="Microsoft Sans Serif" panose="020B0604020202020204"/>
              </a:rPr>
              <a:t>see</a:t>
            </a:r>
            <a:r>
              <a:rPr sz="21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80" dirty="0">
                <a:latin typeface="Microsoft Sans Serif" panose="020B0604020202020204"/>
                <a:cs typeface="Microsoft Sans Serif" panose="020B0604020202020204"/>
              </a:rPr>
              <a:t>how</a:t>
            </a:r>
            <a:r>
              <a:rPr sz="21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70" dirty="0">
                <a:latin typeface="Microsoft Sans Serif" panose="020B0604020202020204"/>
                <a:cs typeface="Microsoft Sans Serif" panose="020B0604020202020204"/>
              </a:rPr>
              <a:t>we</a:t>
            </a:r>
            <a:r>
              <a:rPr sz="21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-25" dirty="0">
                <a:latin typeface="Microsoft Sans Serif" panose="020B0604020202020204"/>
                <a:cs typeface="Microsoft Sans Serif" panose="020B0604020202020204"/>
              </a:rPr>
              <a:t>can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be</a:t>
            </a:r>
            <a:r>
              <a:rPr sz="2150" spc="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so</a:t>
            </a:r>
            <a:r>
              <a:rPr sz="2150" spc="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sure</a:t>
            </a:r>
            <a:r>
              <a:rPr sz="2150" spc="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by</a:t>
            </a:r>
            <a:r>
              <a:rPr sz="2150" spc="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45" dirty="0">
                <a:latin typeface="Microsoft Sans Serif" panose="020B0604020202020204"/>
                <a:cs typeface="Microsoft Sans Serif" panose="020B0604020202020204"/>
              </a:rPr>
              <a:t>combining</a:t>
            </a:r>
            <a:r>
              <a:rPr sz="2150" spc="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various</a:t>
            </a:r>
            <a:r>
              <a:rPr sz="2150" spc="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forecasts</a:t>
            </a:r>
            <a:r>
              <a:rPr sz="2150" spc="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spc="75" dirty="0">
                <a:latin typeface="Microsoft Sans Serif" panose="020B0604020202020204"/>
                <a:cs typeface="Microsoft Sans Serif" panose="020B0604020202020204"/>
              </a:rPr>
              <a:t>together.</a:t>
            </a:r>
            <a:endParaRPr sz="2150">
              <a:latin typeface="Microsoft Sans Serif" panose="020B0604020202020204"/>
              <a:cs typeface="Microsoft Sans Serif" panose="020B0604020202020204"/>
            </a:endParaRPr>
          </a:p>
          <a:p>
            <a:pPr marL="279400" indent="-266700">
              <a:lnSpc>
                <a:spcPct val="100000"/>
              </a:lnSpc>
              <a:spcBef>
                <a:spcPts val="655"/>
              </a:spcBef>
              <a:buClr>
                <a:srgbClr val="6697CC"/>
              </a:buClr>
              <a:buFont typeface="Arial MT"/>
              <a:buChar char="•"/>
              <a:tabLst>
                <a:tab pos="279400" algn="l"/>
              </a:tabLst>
            </a:pP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Well,</a:t>
            </a:r>
            <a:r>
              <a:rPr sz="2150" spc="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Ensemble</a:t>
            </a:r>
            <a:r>
              <a:rPr sz="2150" spc="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learning</a:t>
            </a:r>
            <a:r>
              <a:rPr sz="215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150" spc="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50" b="1" dirty="0">
                <a:latin typeface="Arial" panose="020B0604020202020204"/>
                <a:cs typeface="Arial" panose="020B0604020202020204"/>
              </a:rPr>
              <a:t>no</a:t>
            </a:r>
            <a:r>
              <a:rPr sz="21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150" spc="85" dirty="0">
                <a:latin typeface="Microsoft Sans Serif" panose="020B0604020202020204"/>
                <a:cs typeface="Microsoft Sans Serif" panose="020B0604020202020204"/>
              </a:rPr>
              <a:t>different.</a:t>
            </a:r>
            <a:endParaRPr sz="21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Ensembling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0675" rIns="0" bIns="0" rtlCol="0">
            <a:spAutoFit/>
          </a:bodyPr>
          <a:lstStyle/>
          <a:p>
            <a:pPr marL="340360" marR="34925" indent="-318770">
              <a:lnSpc>
                <a:spcPct val="100000"/>
              </a:lnSpc>
              <a:spcBef>
                <a:spcPts val="105"/>
              </a:spcBef>
              <a:buClr>
                <a:srgbClr val="6697CC"/>
              </a:buClr>
              <a:buFont typeface="Arial MT"/>
              <a:buChar char="•"/>
              <a:tabLst>
                <a:tab pos="340360" algn="l"/>
              </a:tabLst>
            </a:pPr>
            <a:r>
              <a:rPr sz="2600" dirty="0"/>
              <a:t>An</a:t>
            </a:r>
            <a:r>
              <a:rPr sz="2600" spc="-45" dirty="0"/>
              <a:t> </a:t>
            </a:r>
            <a:r>
              <a:rPr sz="2600" dirty="0"/>
              <a:t>ensemble</a:t>
            </a:r>
            <a:r>
              <a:rPr sz="2600" spc="-40" dirty="0"/>
              <a:t> </a:t>
            </a:r>
            <a:r>
              <a:rPr sz="2600" spc="-10" dirty="0"/>
              <a:t>is</a:t>
            </a:r>
            <a:r>
              <a:rPr sz="2600" spc="-55" dirty="0"/>
              <a:t> </a:t>
            </a:r>
            <a:r>
              <a:rPr sz="2600" spc="105" dirty="0"/>
              <a:t>the</a:t>
            </a:r>
            <a:r>
              <a:rPr sz="2600" spc="-30" dirty="0"/>
              <a:t> </a:t>
            </a:r>
            <a:r>
              <a:rPr sz="2600" spc="110" dirty="0"/>
              <a:t>art</a:t>
            </a:r>
            <a:r>
              <a:rPr sz="2600" spc="-50" dirty="0"/>
              <a:t> </a:t>
            </a:r>
            <a:r>
              <a:rPr sz="2600" spc="165" dirty="0"/>
              <a:t>of</a:t>
            </a:r>
            <a:r>
              <a:rPr sz="2600" spc="-55" dirty="0"/>
              <a:t> </a:t>
            </a:r>
            <a:r>
              <a:rPr sz="2600" dirty="0"/>
              <a:t>combining</a:t>
            </a:r>
            <a:r>
              <a:rPr sz="2600" spc="-40" dirty="0"/>
              <a:t> </a:t>
            </a:r>
            <a:r>
              <a:rPr sz="2600" spc="-110" dirty="0"/>
              <a:t>a</a:t>
            </a:r>
            <a:r>
              <a:rPr sz="2600" spc="-50" dirty="0"/>
              <a:t> </a:t>
            </a:r>
            <a:r>
              <a:rPr sz="2600" dirty="0"/>
              <a:t>diverse</a:t>
            </a:r>
            <a:r>
              <a:rPr sz="2600" spc="-40" dirty="0"/>
              <a:t> </a:t>
            </a:r>
            <a:r>
              <a:rPr sz="2600" spc="50" dirty="0"/>
              <a:t>set</a:t>
            </a:r>
            <a:r>
              <a:rPr sz="2600" spc="-50" dirty="0"/>
              <a:t> </a:t>
            </a:r>
            <a:r>
              <a:rPr sz="2600" spc="140" dirty="0"/>
              <a:t>of </a:t>
            </a:r>
            <a:r>
              <a:rPr sz="2600" dirty="0"/>
              <a:t>learners</a:t>
            </a:r>
            <a:r>
              <a:rPr sz="2600" spc="20" dirty="0"/>
              <a:t> </a:t>
            </a:r>
            <a:r>
              <a:rPr sz="2600" dirty="0"/>
              <a:t>(individual</a:t>
            </a:r>
            <a:r>
              <a:rPr sz="2600" spc="20" dirty="0"/>
              <a:t> </a:t>
            </a:r>
            <a:r>
              <a:rPr sz="2600" dirty="0"/>
              <a:t>models)</a:t>
            </a:r>
            <a:r>
              <a:rPr sz="2600" spc="30" dirty="0"/>
              <a:t> </a:t>
            </a:r>
            <a:r>
              <a:rPr sz="2600" spc="110" dirty="0"/>
              <a:t>together</a:t>
            </a:r>
            <a:r>
              <a:rPr sz="2600" spc="20" dirty="0"/>
              <a:t> </a:t>
            </a:r>
            <a:r>
              <a:rPr sz="2600" spc="195" dirty="0"/>
              <a:t>to</a:t>
            </a:r>
            <a:r>
              <a:rPr sz="2600" spc="20" dirty="0"/>
              <a:t> </a:t>
            </a:r>
            <a:r>
              <a:rPr sz="2600" spc="-10" dirty="0"/>
              <a:t>improvise </a:t>
            </a:r>
            <a:r>
              <a:rPr sz="2600" dirty="0"/>
              <a:t>on</a:t>
            </a:r>
            <a:r>
              <a:rPr sz="2600" spc="-70" dirty="0"/>
              <a:t> </a:t>
            </a:r>
            <a:r>
              <a:rPr sz="2600" spc="105" dirty="0"/>
              <a:t>the</a:t>
            </a:r>
            <a:r>
              <a:rPr sz="2600" spc="-70" dirty="0"/>
              <a:t> </a:t>
            </a:r>
            <a:r>
              <a:rPr sz="2600" spc="70" dirty="0"/>
              <a:t>stability</a:t>
            </a:r>
            <a:r>
              <a:rPr sz="2600" spc="-80" dirty="0"/>
              <a:t> </a:t>
            </a:r>
            <a:r>
              <a:rPr sz="2600" dirty="0"/>
              <a:t>and</a:t>
            </a:r>
            <a:r>
              <a:rPr sz="2600" spc="-80" dirty="0"/>
              <a:t> </a:t>
            </a:r>
            <a:r>
              <a:rPr sz="2600" spc="55" dirty="0"/>
              <a:t>predictive</a:t>
            </a:r>
            <a:r>
              <a:rPr sz="2600" spc="-70" dirty="0"/>
              <a:t> </a:t>
            </a:r>
            <a:r>
              <a:rPr sz="2600" spc="75" dirty="0"/>
              <a:t>power</a:t>
            </a:r>
            <a:r>
              <a:rPr sz="2600" spc="-80" dirty="0"/>
              <a:t> </a:t>
            </a:r>
            <a:r>
              <a:rPr sz="2600" spc="165" dirty="0"/>
              <a:t>of</a:t>
            </a:r>
            <a:r>
              <a:rPr sz="2600" spc="-80" dirty="0"/>
              <a:t> </a:t>
            </a:r>
            <a:r>
              <a:rPr sz="2600" spc="105" dirty="0"/>
              <a:t>the</a:t>
            </a:r>
            <a:r>
              <a:rPr sz="2600" spc="-75" dirty="0"/>
              <a:t> </a:t>
            </a:r>
            <a:r>
              <a:rPr sz="2600" spc="-10" dirty="0"/>
              <a:t>model.</a:t>
            </a:r>
            <a:endParaRPr sz="2600"/>
          </a:p>
          <a:p>
            <a:pPr marL="340360" marR="147955" indent="-318770">
              <a:lnSpc>
                <a:spcPct val="100000"/>
              </a:lnSpc>
              <a:spcBef>
                <a:spcPts val="745"/>
              </a:spcBef>
              <a:buClr>
                <a:srgbClr val="6697CC"/>
              </a:buClr>
              <a:buFont typeface="Arial MT"/>
              <a:buChar char="•"/>
              <a:tabLst>
                <a:tab pos="340360" algn="l"/>
              </a:tabLst>
            </a:pPr>
            <a:r>
              <a:rPr sz="2600" dirty="0"/>
              <a:t>In</a:t>
            </a:r>
            <a:r>
              <a:rPr sz="2600" spc="-60" dirty="0"/>
              <a:t> </a:t>
            </a:r>
            <a:r>
              <a:rPr sz="2600" spc="70" dirty="0"/>
              <a:t>our</a:t>
            </a:r>
            <a:r>
              <a:rPr sz="2600" spc="-60" dirty="0"/>
              <a:t> </a:t>
            </a:r>
            <a:r>
              <a:rPr sz="2600" dirty="0"/>
              <a:t>example,</a:t>
            </a:r>
            <a:r>
              <a:rPr sz="2600" spc="-50" dirty="0"/>
              <a:t> </a:t>
            </a:r>
            <a:r>
              <a:rPr sz="2600" spc="105" dirty="0"/>
              <a:t>the</a:t>
            </a:r>
            <a:r>
              <a:rPr sz="2600" spc="-45" dirty="0"/>
              <a:t> </a:t>
            </a:r>
            <a:r>
              <a:rPr sz="2600" dirty="0"/>
              <a:t>way</a:t>
            </a:r>
            <a:r>
              <a:rPr sz="2600" spc="-60" dirty="0"/>
              <a:t> </a:t>
            </a:r>
            <a:r>
              <a:rPr sz="2600" spc="55" dirty="0"/>
              <a:t>we</a:t>
            </a:r>
            <a:r>
              <a:rPr sz="2600" spc="-35" dirty="0"/>
              <a:t> </a:t>
            </a:r>
            <a:r>
              <a:rPr sz="2600" dirty="0"/>
              <a:t>combine</a:t>
            </a:r>
            <a:r>
              <a:rPr sz="2600" spc="-40" dirty="0"/>
              <a:t> </a:t>
            </a:r>
            <a:r>
              <a:rPr sz="2600" dirty="0"/>
              <a:t>all</a:t>
            </a:r>
            <a:r>
              <a:rPr sz="2600" spc="-45" dirty="0"/>
              <a:t> </a:t>
            </a:r>
            <a:r>
              <a:rPr sz="2600" spc="80" dirty="0"/>
              <a:t>the </a:t>
            </a:r>
            <a:r>
              <a:rPr sz="2600" spc="45" dirty="0"/>
              <a:t>predictions</a:t>
            </a:r>
            <a:r>
              <a:rPr sz="2600" spc="-85" dirty="0"/>
              <a:t> </a:t>
            </a:r>
            <a:r>
              <a:rPr sz="2600" spc="45" dirty="0"/>
              <a:t>collectively</a:t>
            </a:r>
            <a:r>
              <a:rPr sz="2600" spc="-70" dirty="0"/>
              <a:t> </a:t>
            </a:r>
            <a:r>
              <a:rPr sz="2600" spc="100" dirty="0"/>
              <a:t>will</a:t>
            </a:r>
            <a:r>
              <a:rPr sz="2600" spc="-70" dirty="0"/>
              <a:t> </a:t>
            </a:r>
            <a:r>
              <a:rPr sz="2600" dirty="0"/>
              <a:t>be</a:t>
            </a:r>
            <a:r>
              <a:rPr sz="2600" spc="-70" dirty="0"/>
              <a:t> </a:t>
            </a:r>
            <a:r>
              <a:rPr sz="2600" spc="90" dirty="0"/>
              <a:t>termed</a:t>
            </a:r>
            <a:r>
              <a:rPr sz="2600" spc="-70" dirty="0"/>
              <a:t> </a:t>
            </a:r>
            <a:r>
              <a:rPr sz="2600" spc="-135" dirty="0"/>
              <a:t>as</a:t>
            </a:r>
            <a:r>
              <a:rPr sz="2600" spc="-70" dirty="0"/>
              <a:t> </a:t>
            </a:r>
            <a:r>
              <a:rPr sz="2600" spc="-10" dirty="0"/>
              <a:t>Ensemble learning.</a:t>
            </a:r>
            <a:endParaRPr sz="2600"/>
          </a:p>
          <a:p>
            <a:pPr marL="340360" marR="5080" indent="-318770">
              <a:lnSpc>
                <a:spcPct val="100000"/>
              </a:lnSpc>
              <a:spcBef>
                <a:spcPts val="745"/>
              </a:spcBef>
              <a:buClr>
                <a:srgbClr val="6697CC"/>
              </a:buClr>
              <a:buFont typeface="Arial MT"/>
              <a:buChar char="•"/>
              <a:tabLst>
                <a:tab pos="340360" algn="l"/>
              </a:tabLst>
            </a:pPr>
            <a:r>
              <a:rPr sz="2600" dirty="0"/>
              <a:t>Moreover,</a:t>
            </a:r>
            <a:r>
              <a:rPr sz="2600" spc="20" dirty="0"/>
              <a:t> </a:t>
            </a:r>
            <a:r>
              <a:rPr sz="2600" spc="-35" dirty="0"/>
              <a:t>Ensemble-</a:t>
            </a:r>
            <a:r>
              <a:rPr sz="2600" spc="-20" dirty="0"/>
              <a:t>based</a:t>
            </a:r>
            <a:r>
              <a:rPr sz="2600" spc="20" dirty="0"/>
              <a:t> </a:t>
            </a:r>
            <a:r>
              <a:rPr sz="2600" dirty="0"/>
              <a:t>models</a:t>
            </a:r>
            <a:r>
              <a:rPr sz="2600" spc="30" dirty="0"/>
              <a:t> </a:t>
            </a:r>
            <a:r>
              <a:rPr sz="2600" spc="-50" dirty="0"/>
              <a:t>can</a:t>
            </a:r>
            <a:r>
              <a:rPr sz="2600" spc="35" dirty="0"/>
              <a:t> </a:t>
            </a:r>
            <a:r>
              <a:rPr sz="2600" spc="-25" dirty="0"/>
              <a:t>be </a:t>
            </a:r>
            <a:r>
              <a:rPr sz="2600" spc="55" dirty="0"/>
              <a:t>incorporated</a:t>
            </a:r>
            <a:r>
              <a:rPr sz="2600" spc="-85" dirty="0"/>
              <a:t> </a:t>
            </a:r>
            <a:r>
              <a:rPr sz="2600" spc="50" dirty="0"/>
              <a:t>in</a:t>
            </a:r>
            <a:r>
              <a:rPr sz="2600" spc="-95" dirty="0"/>
              <a:t> </a:t>
            </a:r>
            <a:r>
              <a:rPr sz="2600" spc="114" dirty="0"/>
              <a:t>both</a:t>
            </a:r>
            <a:r>
              <a:rPr sz="2600" spc="-100" dirty="0"/>
              <a:t> </a:t>
            </a:r>
            <a:r>
              <a:rPr sz="2600" spc="165" dirty="0"/>
              <a:t>of</a:t>
            </a:r>
            <a:r>
              <a:rPr sz="2600" spc="-95" dirty="0"/>
              <a:t> </a:t>
            </a:r>
            <a:r>
              <a:rPr sz="2600" spc="105" dirty="0"/>
              <a:t>the</a:t>
            </a:r>
            <a:r>
              <a:rPr sz="2600" spc="-75" dirty="0"/>
              <a:t> </a:t>
            </a:r>
            <a:r>
              <a:rPr sz="2600" spc="165" dirty="0"/>
              <a:t>two</a:t>
            </a:r>
            <a:r>
              <a:rPr sz="2600" spc="-90" dirty="0"/>
              <a:t> </a:t>
            </a:r>
            <a:r>
              <a:rPr sz="2600" spc="-35" dirty="0"/>
              <a:t>scenarios,</a:t>
            </a:r>
            <a:r>
              <a:rPr sz="2600" spc="-95" dirty="0"/>
              <a:t> </a:t>
            </a:r>
            <a:r>
              <a:rPr sz="2600" spc="-35" dirty="0"/>
              <a:t>i.e.,</a:t>
            </a:r>
            <a:r>
              <a:rPr sz="2600" spc="-90" dirty="0"/>
              <a:t> </a:t>
            </a:r>
            <a:r>
              <a:rPr sz="2600" spc="-20" dirty="0"/>
              <a:t>when </a:t>
            </a:r>
            <a:r>
              <a:rPr sz="2600" dirty="0"/>
              <a:t>data</a:t>
            </a:r>
            <a:r>
              <a:rPr sz="2600" spc="-25" dirty="0"/>
              <a:t> </a:t>
            </a:r>
            <a:r>
              <a:rPr sz="2600" spc="-10" dirty="0"/>
              <a:t>is</a:t>
            </a:r>
            <a:r>
              <a:rPr sz="2600" spc="-20" dirty="0"/>
              <a:t> </a:t>
            </a:r>
            <a:r>
              <a:rPr sz="2600" spc="165" dirty="0"/>
              <a:t>of</a:t>
            </a:r>
            <a:r>
              <a:rPr sz="2600" spc="-20" dirty="0"/>
              <a:t> </a:t>
            </a:r>
            <a:r>
              <a:rPr sz="2600" dirty="0"/>
              <a:t>large</a:t>
            </a:r>
            <a:r>
              <a:rPr sz="2600" spc="-10" dirty="0"/>
              <a:t> </a:t>
            </a:r>
            <a:r>
              <a:rPr sz="2600" dirty="0"/>
              <a:t>volume</a:t>
            </a:r>
            <a:r>
              <a:rPr sz="2600" spc="-10" dirty="0"/>
              <a:t> </a:t>
            </a:r>
            <a:r>
              <a:rPr sz="2600" dirty="0"/>
              <a:t>and</a:t>
            </a:r>
            <a:r>
              <a:rPr sz="2600" spc="-25" dirty="0"/>
              <a:t> </a:t>
            </a:r>
            <a:r>
              <a:rPr sz="2600" dirty="0"/>
              <a:t>when</a:t>
            </a:r>
            <a:r>
              <a:rPr sz="2600" spc="-10" dirty="0"/>
              <a:t> </a:t>
            </a:r>
            <a:r>
              <a:rPr sz="2600" dirty="0"/>
              <a:t>data</a:t>
            </a:r>
            <a:r>
              <a:rPr sz="2600" spc="-15" dirty="0"/>
              <a:t> </a:t>
            </a:r>
            <a:r>
              <a:rPr sz="2600" dirty="0"/>
              <a:t>is</a:t>
            </a:r>
            <a:r>
              <a:rPr sz="2600" spc="-10" dirty="0"/>
              <a:t> </a:t>
            </a:r>
            <a:r>
              <a:rPr sz="2600" spc="145" dirty="0"/>
              <a:t>too</a:t>
            </a:r>
            <a:r>
              <a:rPr sz="2600" spc="-15" dirty="0"/>
              <a:t> </a:t>
            </a:r>
            <a:r>
              <a:rPr sz="2600" spc="105" dirty="0"/>
              <a:t>little.</a:t>
            </a:r>
            <a:endParaRPr sz="260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79995" y="1369796"/>
            <a:ext cx="6643801" cy="48938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Ensemble</a:t>
            </a:r>
            <a:r>
              <a:rPr spc="-155" dirty="0"/>
              <a:t> </a:t>
            </a:r>
            <a:r>
              <a:rPr spc="-10" dirty="0"/>
              <a:t>Schematic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55991" y="1512011"/>
            <a:ext cx="5759996" cy="47469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Basic</a:t>
            </a:r>
            <a:r>
              <a:rPr spc="-160" dirty="0"/>
              <a:t> </a:t>
            </a:r>
            <a:r>
              <a:rPr spc="-10" dirty="0"/>
              <a:t>Ensemble</a:t>
            </a:r>
            <a:r>
              <a:rPr spc="-185" dirty="0"/>
              <a:t> </a:t>
            </a:r>
            <a:r>
              <a:rPr spc="75" dirty="0"/>
              <a:t>Structure</a:t>
            </a:r>
            <a:endParaRPr spc="7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Summary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31122"/>
            <a:ext cx="150495" cy="254444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7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7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7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8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8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447327"/>
            <a:ext cx="7190740" cy="4606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16635">
              <a:lnSpc>
                <a:spcPct val="117000"/>
              </a:lnSpc>
              <a:spcBef>
                <a:spcPts val="95"/>
              </a:spcBef>
            </a:pPr>
            <a:r>
              <a:rPr sz="2700" dirty="0">
                <a:latin typeface="Calibri" panose="020F0502020204030204"/>
                <a:cs typeface="Calibri" panose="020F0502020204030204"/>
              </a:rPr>
              <a:t>Use</a:t>
            </a:r>
            <a:r>
              <a:rPr sz="27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dirty="0">
                <a:latin typeface="Calibri" panose="020F0502020204030204"/>
                <a:cs typeface="Calibri" panose="020F0502020204030204"/>
              </a:rPr>
              <a:t>multiple</a:t>
            </a:r>
            <a:r>
              <a:rPr sz="27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dirty="0">
                <a:latin typeface="Calibri" panose="020F0502020204030204"/>
                <a:cs typeface="Calibri" panose="020F0502020204030204"/>
              </a:rPr>
              <a:t>learning</a:t>
            </a:r>
            <a:r>
              <a:rPr sz="27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dirty="0">
                <a:latin typeface="Calibri" panose="020F0502020204030204"/>
                <a:cs typeface="Calibri" panose="020F0502020204030204"/>
              </a:rPr>
              <a:t>algorithms</a:t>
            </a:r>
            <a:r>
              <a:rPr sz="27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spc="-10" dirty="0">
                <a:latin typeface="Calibri" panose="020F0502020204030204"/>
                <a:cs typeface="Calibri" panose="020F0502020204030204"/>
              </a:rPr>
              <a:t>(classifiers) </a:t>
            </a:r>
            <a:r>
              <a:rPr sz="2700" dirty="0">
                <a:latin typeface="Calibri" panose="020F0502020204030204"/>
                <a:cs typeface="Calibri" panose="020F0502020204030204"/>
              </a:rPr>
              <a:t>Combine</a:t>
            </a:r>
            <a:r>
              <a:rPr sz="27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dirty="0">
                <a:latin typeface="Calibri" panose="020F0502020204030204"/>
                <a:cs typeface="Calibri" panose="020F0502020204030204"/>
              </a:rPr>
              <a:t>the</a:t>
            </a:r>
            <a:r>
              <a:rPr sz="27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spc="-10" dirty="0">
                <a:latin typeface="Calibri" panose="020F0502020204030204"/>
                <a:cs typeface="Calibri" panose="020F0502020204030204"/>
              </a:rPr>
              <a:t>decisions</a:t>
            </a:r>
            <a:endParaRPr sz="27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700" dirty="0">
                <a:latin typeface="Calibri" panose="020F0502020204030204"/>
                <a:cs typeface="Calibri" panose="020F0502020204030204"/>
              </a:rPr>
              <a:t>Can</a:t>
            </a:r>
            <a:r>
              <a:rPr sz="27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dirty="0">
                <a:latin typeface="Calibri" panose="020F0502020204030204"/>
                <a:cs typeface="Calibri" panose="020F0502020204030204"/>
              </a:rPr>
              <a:t>be</a:t>
            </a:r>
            <a:r>
              <a:rPr sz="27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dirty="0">
                <a:latin typeface="Calibri" panose="020F0502020204030204"/>
                <a:cs typeface="Calibri" panose="020F0502020204030204"/>
              </a:rPr>
              <a:t>more</a:t>
            </a:r>
            <a:r>
              <a:rPr sz="27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dirty="0">
                <a:latin typeface="Calibri" panose="020F0502020204030204"/>
                <a:cs typeface="Calibri" panose="020F0502020204030204"/>
              </a:rPr>
              <a:t>accurate</a:t>
            </a:r>
            <a:r>
              <a:rPr sz="27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dirty="0">
                <a:latin typeface="Calibri" panose="020F0502020204030204"/>
                <a:cs typeface="Calibri" panose="020F0502020204030204"/>
              </a:rPr>
              <a:t>than</a:t>
            </a:r>
            <a:r>
              <a:rPr sz="27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dirty="0">
                <a:latin typeface="Calibri" panose="020F0502020204030204"/>
                <a:cs typeface="Calibri" panose="020F0502020204030204"/>
              </a:rPr>
              <a:t>the</a:t>
            </a:r>
            <a:r>
              <a:rPr sz="27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dirty="0">
                <a:latin typeface="Calibri" panose="020F0502020204030204"/>
                <a:cs typeface="Calibri" panose="020F0502020204030204"/>
              </a:rPr>
              <a:t>individual</a:t>
            </a:r>
            <a:r>
              <a:rPr sz="27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700" spc="-10" dirty="0">
                <a:latin typeface="Calibri" panose="020F0502020204030204"/>
                <a:cs typeface="Calibri" panose="020F0502020204030204"/>
              </a:rPr>
              <a:t>classifiers</a:t>
            </a:r>
            <a:endParaRPr sz="2700">
              <a:latin typeface="Calibri" panose="020F0502020204030204"/>
              <a:cs typeface="Calibri" panose="020F0502020204030204"/>
            </a:endParaRPr>
          </a:p>
          <a:p>
            <a:pPr marL="12700" marR="2223135">
              <a:lnSpc>
                <a:spcPts val="4250"/>
              </a:lnSpc>
              <a:spcBef>
                <a:spcPts val="290"/>
              </a:spcBef>
            </a:pPr>
            <a:r>
              <a:rPr sz="2800" dirty="0">
                <a:latin typeface="Calibri" panose="020F0502020204030204"/>
                <a:cs typeface="Calibri" panose="020F0502020204030204"/>
              </a:rPr>
              <a:t>Generate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group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of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base-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learners </a:t>
            </a:r>
            <a:r>
              <a:rPr sz="2800" dirty="0">
                <a:latin typeface="Calibri" panose="020F0502020204030204"/>
                <a:cs typeface="Calibri" panose="020F0502020204030204"/>
              </a:rPr>
              <a:t>Different</a:t>
            </a:r>
            <a:r>
              <a:rPr sz="2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learners</a:t>
            </a:r>
            <a:r>
              <a:rPr sz="28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use</a:t>
            </a:r>
            <a:r>
              <a:rPr sz="2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different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411480" indent="-285115">
              <a:lnSpc>
                <a:spcPct val="100000"/>
              </a:lnSpc>
              <a:spcBef>
                <a:spcPts val="400"/>
              </a:spcBef>
              <a:buClr>
                <a:srgbClr val="6697CC"/>
              </a:buClr>
              <a:buFont typeface="Arial MT"/>
              <a:buChar char="–"/>
              <a:tabLst>
                <a:tab pos="411480" algn="l"/>
              </a:tabLst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Algorithms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411480" indent="-28511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411480" algn="l"/>
              </a:tabLst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Hyperparameters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411480" indent="-28511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411480" algn="l"/>
              </a:tabLst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Representations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(Modalities)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411480" indent="-28511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411480" algn="l"/>
              </a:tabLst>
            </a:pPr>
            <a:r>
              <a:rPr sz="2800" dirty="0">
                <a:latin typeface="Calibri" panose="020F0502020204030204"/>
                <a:cs typeface="Calibri" panose="020F0502020204030204"/>
              </a:rPr>
              <a:t>Training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sets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How</a:t>
            </a:r>
            <a:r>
              <a:rPr spc="-25" dirty="0"/>
              <a:t> </a:t>
            </a:r>
            <a:r>
              <a:rPr dirty="0"/>
              <a:t>models</a:t>
            </a:r>
            <a:r>
              <a:rPr spc="-10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spc="100" dirty="0"/>
              <a:t>different?</a:t>
            </a:r>
            <a:endParaRPr spc="1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27152"/>
            <a:ext cx="150495" cy="218503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28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8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8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8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446583"/>
            <a:ext cx="4826000" cy="2184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000"/>
              </a:lnSpc>
              <a:spcBef>
                <a:spcPts val="95"/>
              </a:spcBef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Difference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in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population Difference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in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hypothesis Difference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in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modeling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technique Difference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in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initial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seed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165" dirty="0"/>
              <a:t> </a:t>
            </a:r>
            <a:r>
              <a:rPr dirty="0"/>
              <a:t>ensembles</a:t>
            </a:r>
            <a:r>
              <a:rPr spc="-165" dirty="0"/>
              <a:t> </a:t>
            </a:r>
            <a:r>
              <a:rPr spc="-610" dirty="0"/>
              <a:t>?</a:t>
            </a:r>
            <a:endParaRPr spc="-6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40344"/>
            <a:ext cx="1504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7513"/>
            <a:ext cx="7674609" cy="3696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800" dirty="0">
                <a:latin typeface="Calibri" panose="020F0502020204030204"/>
                <a:cs typeface="Calibri" panose="020F0502020204030204"/>
              </a:rPr>
              <a:t>There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are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two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main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reasons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to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use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an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ensemble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over </a:t>
            </a:r>
            <a:r>
              <a:rPr sz="2800" dirty="0">
                <a:latin typeface="Calibri" panose="020F0502020204030204"/>
                <a:cs typeface="Calibri" panose="020F0502020204030204"/>
              </a:rPr>
              <a:t>a</a:t>
            </a:r>
            <a:r>
              <a:rPr sz="2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single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model,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and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they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are</a:t>
            </a:r>
            <a:r>
              <a:rPr sz="2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related;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they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are: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410845" marR="172720" indent="-285115">
              <a:lnSpc>
                <a:spcPct val="100000"/>
              </a:lnSpc>
              <a:spcBef>
                <a:spcPts val="695"/>
              </a:spcBef>
              <a:buClr>
                <a:srgbClr val="6697CC"/>
              </a:buClr>
              <a:buFont typeface="Arial MT"/>
              <a:buChar char="–"/>
              <a:tabLst>
                <a:tab pos="412115" algn="l"/>
              </a:tabLst>
            </a:pPr>
            <a:r>
              <a:rPr sz="2800" dirty="0">
                <a:latin typeface="Calibri" panose="020F0502020204030204"/>
                <a:cs typeface="Calibri" panose="020F0502020204030204"/>
              </a:rPr>
              <a:t>Performance:</a:t>
            </a:r>
            <a:r>
              <a:rPr sz="2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An</a:t>
            </a:r>
            <a:r>
              <a:rPr sz="2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ensemble</a:t>
            </a:r>
            <a:r>
              <a:rPr sz="2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can</a:t>
            </a:r>
            <a:r>
              <a:rPr sz="2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make</a:t>
            </a:r>
            <a:r>
              <a:rPr sz="2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better 	predictions</a:t>
            </a:r>
            <a:r>
              <a:rPr sz="2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and</a:t>
            </a:r>
            <a:r>
              <a:rPr sz="2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achieve</a:t>
            </a:r>
            <a:r>
              <a:rPr sz="2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better</a:t>
            </a:r>
            <a:r>
              <a:rPr sz="2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performance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than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	</a:t>
            </a:r>
            <a:r>
              <a:rPr sz="2800" dirty="0">
                <a:latin typeface="Calibri" panose="020F0502020204030204"/>
                <a:cs typeface="Calibri" panose="020F0502020204030204"/>
              </a:rPr>
              <a:t>any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single</a:t>
            </a:r>
            <a:r>
              <a:rPr sz="2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contributing</a:t>
            </a:r>
            <a:r>
              <a:rPr sz="2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model.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410845" marR="319405" indent="-285115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412115" algn="l"/>
              </a:tabLst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Robustness:</a:t>
            </a:r>
            <a:r>
              <a:rPr sz="2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An</a:t>
            </a:r>
            <a:r>
              <a:rPr sz="2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ensemble</a:t>
            </a:r>
            <a:r>
              <a:rPr sz="2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reduces</a:t>
            </a:r>
            <a:r>
              <a:rPr sz="2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spread</a:t>
            </a:r>
            <a:r>
              <a:rPr sz="2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or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	</a:t>
            </a:r>
            <a:r>
              <a:rPr sz="2800" dirty="0">
                <a:latin typeface="Calibri" panose="020F0502020204030204"/>
                <a:cs typeface="Calibri" panose="020F0502020204030204"/>
              </a:rPr>
              <a:t>dispersion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of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predictions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and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model 	performance.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Ensemble</a:t>
            </a:r>
            <a:r>
              <a:rPr spc="40" dirty="0"/>
              <a:t> </a:t>
            </a:r>
            <a:r>
              <a:rPr dirty="0"/>
              <a:t>Creation</a:t>
            </a:r>
            <a:r>
              <a:rPr spc="30" dirty="0"/>
              <a:t> </a:t>
            </a:r>
            <a:r>
              <a:rPr spc="-10" dirty="0"/>
              <a:t>Approaches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46296"/>
            <a:ext cx="7340600" cy="238696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 panose="020F0502020204030204"/>
                <a:cs typeface="Calibri" panose="020F0502020204030204"/>
              </a:rPr>
              <a:t>Unweighted</a:t>
            </a:r>
            <a:r>
              <a:rPr sz="32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Voting</a:t>
            </a:r>
            <a:r>
              <a:rPr sz="32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(e.g.</a:t>
            </a:r>
            <a:r>
              <a:rPr sz="32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Bagging)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355600" marR="5080" indent="-343535">
              <a:lnSpc>
                <a:spcPct val="110000"/>
              </a:lnSpc>
              <a:spcBef>
                <a:spcPts val="57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 panose="020F0502020204030204"/>
                <a:cs typeface="Calibri" panose="020F0502020204030204"/>
              </a:rPr>
              <a:t>Weighted</a:t>
            </a:r>
            <a:r>
              <a:rPr sz="32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voting</a:t>
            </a:r>
            <a:r>
              <a:rPr sz="32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–</a:t>
            </a:r>
            <a:r>
              <a:rPr sz="32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based</a:t>
            </a:r>
            <a:r>
              <a:rPr sz="32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on</a:t>
            </a:r>
            <a:r>
              <a:rPr sz="32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accuracy</a:t>
            </a:r>
            <a:r>
              <a:rPr sz="32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(e.g. </a:t>
            </a:r>
            <a:r>
              <a:rPr sz="3200" dirty="0">
                <a:latin typeface="Calibri" panose="020F0502020204030204"/>
                <a:cs typeface="Calibri" panose="020F0502020204030204"/>
              </a:rPr>
              <a:t>Boosting),</a:t>
            </a:r>
            <a:r>
              <a:rPr sz="3200" spc="-12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Expertise,</a:t>
            </a:r>
            <a:r>
              <a:rPr sz="32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20" dirty="0">
                <a:latin typeface="Calibri" panose="020F0502020204030204"/>
                <a:cs typeface="Calibri" panose="020F0502020204030204"/>
              </a:rPr>
              <a:t>etc.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95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 panose="020F0502020204030204"/>
                <a:cs typeface="Calibri" panose="020F0502020204030204"/>
              </a:rPr>
              <a:t>Stacking</a:t>
            </a:r>
            <a:r>
              <a:rPr sz="32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-</a:t>
            </a:r>
            <a:r>
              <a:rPr sz="32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Learn</a:t>
            </a:r>
            <a:r>
              <a:rPr sz="32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the</a:t>
            </a:r>
            <a:r>
              <a:rPr sz="32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combination</a:t>
            </a:r>
            <a:r>
              <a:rPr sz="32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function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Ensemble</a:t>
            </a:r>
            <a:r>
              <a:rPr spc="-45" dirty="0"/>
              <a:t> </a:t>
            </a:r>
            <a:r>
              <a:rPr dirty="0"/>
              <a:t>Learning</a:t>
            </a:r>
            <a:r>
              <a:rPr spc="-45" dirty="0"/>
              <a:t> </a:t>
            </a:r>
            <a:r>
              <a:rPr spc="75" dirty="0"/>
              <a:t>Methods</a:t>
            </a:r>
            <a:endParaRPr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17436"/>
            <a:ext cx="1816100" cy="160655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spc="-10" dirty="0">
                <a:latin typeface="Microsoft Sans Serif" panose="020B0604020202020204"/>
                <a:cs typeface="Microsoft Sans Serif" panose="020B0604020202020204"/>
              </a:rPr>
              <a:t>Bagging</a:t>
            </a:r>
            <a:endParaRPr sz="2800">
              <a:latin typeface="Microsoft Sans Serif" panose="020B0604020202020204"/>
              <a:cs typeface="Microsoft Sans Serif" panose="020B0604020202020204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spc="-10" dirty="0">
                <a:latin typeface="Microsoft Sans Serif" panose="020B0604020202020204"/>
                <a:cs typeface="Microsoft Sans Serif" panose="020B0604020202020204"/>
              </a:rPr>
              <a:t>Boosting</a:t>
            </a:r>
            <a:endParaRPr sz="2800">
              <a:latin typeface="Microsoft Sans Serif" panose="020B0604020202020204"/>
              <a:cs typeface="Microsoft Sans Serif" panose="020B0604020202020204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spc="-10" dirty="0">
                <a:latin typeface="Microsoft Sans Serif" panose="020B0604020202020204"/>
                <a:cs typeface="Microsoft Sans Serif" panose="020B0604020202020204"/>
              </a:rPr>
              <a:t>Stacking</a:t>
            </a:r>
            <a:endParaRPr sz="280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Bootstrap</a:t>
            </a:r>
            <a:endParaRPr spc="9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06080" cy="4222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7660" marR="26035" indent="-315595">
              <a:lnSpc>
                <a:spcPct val="1010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327660" algn="l"/>
              </a:tabLst>
            </a:pP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114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00" dirty="0">
                <a:latin typeface="Microsoft Sans Serif" panose="020B0604020202020204"/>
                <a:cs typeface="Microsoft Sans Serif" panose="020B0604020202020204"/>
              </a:rPr>
              <a:t>bootstrap</a:t>
            </a:r>
            <a:r>
              <a:rPr sz="2550" spc="-1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550" spc="-1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550" spc="-10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14" dirty="0">
                <a:latin typeface="Microsoft Sans Serif" panose="020B0604020202020204"/>
                <a:cs typeface="Microsoft Sans Serif" panose="020B0604020202020204"/>
              </a:rPr>
              <a:t>powerful</a:t>
            </a:r>
            <a:r>
              <a:rPr sz="2550" spc="-114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60" dirty="0">
                <a:latin typeface="Microsoft Sans Serif" panose="020B0604020202020204"/>
                <a:cs typeface="Microsoft Sans Serif" panose="020B0604020202020204"/>
              </a:rPr>
              <a:t>statistical</a:t>
            </a:r>
            <a:r>
              <a:rPr sz="2550" spc="-114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05" dirty="0">
                <a:latin typeface="Microsoft Sans Serif" panose="020B0604020202020204"/>
                <a:cs typeface="Microsoft Sans Serif" panose="020B0604020202020204"/>
              </a:rPr>
              <a:t>method</a:t>
            </a:r>
            <a:r>
              <a:rPr sz="25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40" dirty="0">
                <a:latin typeface="Microsoft Sans Serif" panose="020B0604020202020204"/>
                <a:cs typeface="Microsoft Sans Serif" panose="020B0604020202020204"/>
              </a:rPr>
              <a:t>for </a:t>
            </a:r>
            <a:r>
              <a:rPr sz="2550" spc="75" dirty="0">
                <a:latin typeface="Microsoft Sans Serif" panose="020B0604020202020204"/>
                <a:cs typeface="Microsoft Sans Serif" panose="020B0604020202020204"/>
              </a:rPr>
              <a:t>estimating</a:t>
            </a:r>
            <a:r>
              <a:rPr sz="25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550" spc="-10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00" dirty="0">
                <a:latin typeface="Microsoft Sans Serif" panose="020B0604020202020204"/>
                <a:cs typeface="Microsoft Sans Serif" panose="020B0604020202020204"/>
              </a:rPr>
              <a:t>quantity</a:t>
            </a:r>
            <a:r>
              <a:rPr sz="2550" spc="-1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45" dirty="0">
                <a:latin typeface="Microsoft Sans Serif" panose="020B0604020202020204"/>
                <a:cs typeface="Microsoft Sans Serif" panose="020B0604020202020204"/>
              </a:rPr>
              <a:t>from</a:t>
            </a:r>
            <a:r>
              <a:rPr sz="25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550" spc="-10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65" dirty="0">
                <a:latin typeface="Microsoft Sans Serif" panose="020B0604020202020204"/>
                <a:cs typeface="Microsoft Sans Serif" panose="020B0604020202020204"/>
              </a:rPr>
              <a:t>data</a:t>
            </a:r>
            <a:r>
              <a:rPr sz="2550" spc="-10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sample.</a:t>
            </a:r>
            <a:r>
              <a:rPr sz="25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40" dirty="0">
                <a:latin typeface="Microsoft Sans Serif" panose="020B0604020202020204"/>
                <a:cs typeface="Microsoft Sans Serif" panose="020B0604020202020204"/>
              </a:rPr>
              <a:t>This</a:t>
            </a:r>
            <a:r>
              <a:rPr sz="2550" spc="-1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25" dirty="0">
                <a:latin typeface="Microsoft Sans Serif" panose="020B0604020202020204"/>
                <a:cs typeface="Microsoft Sans Serif" panose="020B0604020202020204"/>
              </a:rPr>
              <a:t>is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easiest</a:t>
            </a:r>
            <a:r>
              <a:rPr sz="25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210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550" spc="-1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60" dirty="0">
                <a:latin typeface="Microsoft Sans Serif" panose="020B0604020202020204"/>
                <a:cs typeface="Microsoft Sans Serif" panose="020B0604020202020204"/>
              </a:rPr>
              <a:t>understand</a:t>
            </a:r>
            <a:r>
              <a:rPr sz="25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60" dirty="0">
                <a:latin typeface="Microsoft Sans Serif" panose="020B0604020202020204"/>
                <a:cs typeface="Microsoft Sans Serif" panose="020B0604020202020204"/>
              </a:rPr>
              <a:t>if</a:t>
            </a:r>
            <a:r>
              <a:rPr sz="25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00" dirty="0">
                <a:latin typeface="Microsoft Sans Serif" panose="020B0604020202020204"/>
                <a:cs typeface="Microsoft Sans Serif" panose="020B0604020202020204"/>
              </a:rPr>
              <a:t>quantity</a:t>
            </a:r>
            <a:r>
              <a:rPr sz="25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5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5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40" dirty="0">
                <a:latin typeface="Microsoft Sans Serif" panose="020B0604020202020204"/>
                <a:cs typeface="Microsoft Sans Serif" panose="020B0604020202020204"/>
              </a:rPr>
              <a:t>descriptive </a:t>
            </a:r>
            <a:r>
              <a:rPr sz="2550" spc="65" dirty="0">
                <a:latin typeface="Microsoft Sans Serif" panose="020B0604020202020204"/>
                <a:cs typeface="Microsoft Sans Serif" panose="020B0604020202020204"/>
              </a:rPr>
              <a:t>statistic</a:t>
            </a:r>
            <a:r>
              <a:rPr sz="25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35" dirty="0">
                <a:latin typeface="Microsoft Sans Serif" panose="020B0604020202020204"/>
                <a:cs typeface="Microsoft Sans Serif" panose="020B0604020202020204"/>
              </a:rPr>
              <a:t>such</a:t>
            </a:r>
            <a:r>
              <a:rPr sz="25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110" dirty="0">
                <a:latin typeface="Microsoft Sans Serif" panose="020B0604020202020204"/>
                <a:cs typeface="Microsoft Sans Serif" panose="020B0604020202020204"/>
              </a:rPr>
              <a:t>as</a:t>
            </a:r>
            <a:r>
              <a:rPr sz="2550" spc="-10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5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mean</a:t>
            </a:r>
            <a:r>
              <a:rPr sz="25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10" dirty="0">
                <a:latin typeface="Microsoft Sans Serif" panose="020B0604020202020204"/>
                <a:cs typeface="Microsoft Sans Serif" panose="020B0604020202020204"/>
              </a:rPr>
              <a:t>or</a:t>
            </a:r>
            <a:r>
              <a:rPr sz="25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5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50" dirty="0">
                <a:latin typeface="Microsoft Sans Serif" panose="020B0604020202020204"/>
                <a:cs typeface="Microsoft Sans Serif" panose="020B0604020202020204"/>
              </a:rPr>
              <a:t>standard</a:t>
            </a:r>
            <a:r>
              <a:rPr sz="25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40" dirty="0">
                <a:latin typeface="Microsoft Sans Serif" panose="020B0604020202020204"/>
                <a:cs typeface="Microsoft Sans Serif" panose="020B0604020202020204"/>
              </a:rPr>
              <a:t>deviation.</a:t>
            </a:r>
            <a:endParaRPr sz="2550">
              <a:latin typeface="Microsoft Sans Serif" panose="020B0604020202020204"/>
              <a:cs typeface="Microsoft Sans Serif" panose="020B0604020202020204"/>
            </a:endParaRPr>
          </a:p>
          <a:p>
            <a:pPr marL="327660" marR="5080" indent="-315595">
              <a:lnSpc>
                <a:spcPct val="101000"/>
              </a:lnSpc>
              <a:spcBef>
                <a:spcPts val="725"/>
              </a:spcBef>
              <a:buClr>
                <a:srgbClr val="6697CC"/>
              </a:buClr>
              <a:buFont typeface="Arial MT"/>
              <a:buChar char="•"/>
              <a:tabLst>
                <a:tab pos="327660" algn="l"/>
              </a:tabLst>
            </a:pP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Let’s</a:t>
            </a:r>
            <a:r>
              <a:rPr sz="25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30" dirty="0">
                <a:latin typeface="Microsoft Sans Serif" panose="020B0604020202020204"/>
                <a:cs typeface="Microsoft Sans Serif" panose="020B0604020202020204"/>
              </a:rPr>
              <a:t>assume</a:t>
            </a:r>
            <a:r>
              <a:rPr sz="25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75" dirty="0">
                <a:latin typeface="Microsoft Sans Serif" panose="020B0604020202020204"/>
                <a:cs typeface="Microsoft Sans Serif" panose="020B0604020202020204"/>
              </a:rPr>
              <a:t>we</a:t>
            </a:r>
            <a:r>
              <a:rPr sz="25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have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5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sample</a:t>
            </a:r>
            <a:r>
              <a:rPr sz="25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8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5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100</a:t>
            </a:r>
            <a:r>
              <a:rPr sz="25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values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(x)</a:t>
            </a:r>
            <a:r>
              <a:rPr sz="25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25" dirty="0">
                <a:latin typeface="Microsoft Sans Serif" panose="020B0604020202020204"/>
                <a:cs typeface="Microsoft Sans Serif" panose="020B0604020202020204"/>
              </a:rPr>
              <a:t>and </a:t>
            </a:r>
            <a:r>
              <a:rPr sz="2550" spc="70" dirty="0">
                <a:latin typeface="Microsoft Sans Serif" panose="020B0604020202020204"/>
                <a:cs typeface="Microsoft Sans Serif" panose="020B0604020202020204"/>
              </a:rPr>
              <a:t>we’d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55" dirty="0">
                <a:latin typeface="Microsoft Sans Serif" panose="020B0604020202020204"/>
                <a:cs typeface="Microsoft Sans Serif" panose="020B0604020202020204"/>
              </a:rPr>
              <a:t>like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204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35" dirty="0">
                <a:latin typeface="Microsoft Sans Serif" panose="020B0604020202020204"/>
                <a:cs typeface="Microsoft Sans Serif" panose="020B0604020202020204"/>
              </a:rPr>
              <a:t>get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an</a:t>
            </a:r>
            <a:r>
              <a:rPr sz="25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70" dirty="0">
                <a:latin typeface="Microsoft Sans Serif" panose="020B0604020202020204"/>
                <a:cs typeface="Microsoft Sans Serif" panose="020B0604020202020204"/>
              </a:rPr>
              <a:t>estimate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8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mean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9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95" dirty="0">
                <a:latin typeface="Microsoft Sans Serif" panose="020B0604020202020204"/>
                <a:cs typeface="Microsoft Sans Serif" panose="020B0604020202020204"/>
              </a:rPr>
              <a:t>the </a:t>
            </a: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sample.</a:t>
            </a:r>
            <a:endParaRPr sz="2550">
              <a:latin typeface="Microsoft Sans Serif" panose="020B0604020202020204"/>
              <a:cs typeface="Microsoft Sans Serif" panose="020B0604020202020204"/>
            </a:endParaRPr>
          </a:p>
          <a:p>
            <a:pPr marL="327660" marR="32385" indent="-315595">
              <a:lnSpc>
                <a:spcPct val="101000"/>
              </a:lnSpc>
              <a:spcBef>
                <a:spcPts val="730"/>
              </a:spcBef>
              <a:buClr>
                <a:srgbClr val="6697CC"/>
              </a:buClr>
              <a:buFont typeface="Arial MT"/>
              <a:buChar char="•"/>
              <a:tabLst>
                <a:tab pos="327660" algn="l"/>
              </a:tabLst>
            </a:pP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We</a:t>
            </a:r>
            <a:r>
              <a:rPr sz="25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20" dirty="0">
                <a:latin typeface="Microsoft Sans Serif" panose="020B0604020202020204"/>
                <a:cs typeface="Microsoft Sans Serif" panose="020B0604020202020204"/>
              </a:rPr>
              <a:t>can</a:t>
            </a:r>
            <a:r>
              <a:rPr sz="25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calculate</a:t>
            </a:r>
            <a:r>
              <a:rPr sz="25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mean</a:t>
            </a:r>
            <a:r>
              <a:rPr sz="25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75" dirty="0">
                <a:latin typeface="Microsoft Sans Serif" panose="020B0604020202020204"/>
                <a:cs typeface="Microsoft Sans Serif" panose="020B0604020202020204"/>
              </a:rPr>
              <a:t>directly</a:t>
            </a:r>
            <a:r>
              <a:rPr sz="25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45" dirty="0">
                <a:latin typeface="Microsoft Sans Serif" panose="020B0604020202020204"/>
                <a:cs typeface="Microsoft Sans Serif" panose="020B0604020202020204"/>
              </a:rPr>
              <a:t>from</a:t>
            </a:r>
            <a:r>
              <a:rPr sz="25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sample </a:t>
            </a:r>
            <a:r>
              <a:rPr sz="2550" spc="-25" dirty="0">
                <a:latin typeface="Microsoft Sans Serif" panose="020B0604020202020204"/>
                <a:cs typeface="Microsoft Sans Serif" panose="020B0604020202020204"/>
              </a:rPr>
              <a:t>as:</a:t>
            </a:r>
            <a:endParaRPr sz="2550">
              <a:latin typeface="Microsoft Sans Serif" panose="020B0604020202020204"/>
              <a:cs typeface="Microsoft Sans Serif" panose="020B0604020202020204"/>
            </a:endParaRPr>
          </a:p>
          <a:p>
            <a:pPr marL="2315845">
              <a:lnSpc>
                <a:spcPct val="100000"/>
              </a:lnSpc>
              <a:spcBef>
                <a:spcPts val="750"/>
              </a:spcBef>
            </a:pP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mean(x)</a:t>
            </a:r>
            <a:r>
              <a:rPr sz="25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=</a:t>
            </a:r>
            <a:r>
              <a:rPr sz="25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75" dirty="0">
                <a:latin typeface="Microsoft Sans Serif" panose="020B0604020202020204"/>
                <a:cs typeface="Microsoft Sans Serif" panose="020B0604020202020204"/>
              </a:rPr>
              <a:t>1/100</a:t>
            </a:r>
            <a:r>
              <a:rPr sz="25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235" dirty="0">
                <a:latin typeface="Microsoft Sans Serif" panose="020B0604020202020204"/>
                <a:cs typeface="Microsoft Sans Serif" panose="020B0604020202020204"/>
              </a:rPr>
              <a:t>*</a:t>
            </a:r>
            <a:r>
              <a:rPr sz="25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sum(x)</a:t>
            </a:r>
            <a:endParaRPr sz="25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Bootstrap</a:t>
            </a:r>
            <a:endParaRPr spc="9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58784" cy="3952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7185" marR="146050" indent="-325120">
              <a:lnSpc>
                <a:spcPct val="100000"/>
              </a:lnSpc>
              <a:spcBef>
                <a:spcPts val="105"/>
              </a:spcBef>
              <a:buClr>
                <a:srgbClr val="6697CC"/>
              </a:buClr>
              <a:buFont typeface="Arial MT"/>
              <a:buChar char="•"/>
              <a:tabLst>
                <a:tab pos="337185" algn="l"/>
              </a:tabLst>
            </a:pP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We</a:t>
            </a:r>
            <a:r>
              <a:rPr sz="2650" spc="-10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70" dirty="0">
                <a:latin typeface="Microsoft Sans Serif" panose="020B0604020202020204"/>
                <a:cs typeface="Microsoft Sans Serif" panose="020B0604020202020204"/>
              </a:rPr>
              <a:t>know</a:t>
            </a:r>
            <a:r>
              <a:rPr sz="2650" spc="-1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140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6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85" dirty="0">
                <a:latin typeface="Microsoft Sans Serif" panose="020B0604020202020204"/>
                <a:cs typeface="Microsoft Sans Serif" panose="020B0604020202020204"/>
              </a:rPr>
              <a:t>our</a:t>
            </a:r>
            <a:r>
              <a:rPr sz="2650" spc="-1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sample</a:t>
            </a:r>
            <a:r>
              <a:rPr sz="26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6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small</a:t>
            </a:r>
            <a:r>
              <a:rPr sz="2650" spc="-1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650" spc="-1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140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6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60" dirty="0">
                <a:latin typeface="Microsoft Sans Serif" panose="020B0604020202020204"/>
                <a:cs typeface="Microsoft Sans Serif" panose="020B0604020202020204"/>
              </a:rPr>
              <a:t>our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mean</a:t>
            </a:r>
            <a:r>
              <a:rPr sz="26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-80" dirty="0">
                <a:latin typeface="Microsoft Sans Serif" panose="020B0604020202020204"/>
                <a:cs typeface="Microsoft Sans Serif" panose="020B0604020202020204"/>
              </a:rPr>
              <a:t>has</a:t>
            </a:r>
            <a:r>
              <a:rPr sz="26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90" dirty="0">
                <a:latin typeface="Microsoft Sans Serif" panose="020B0604020202020204"/>
                <a:cs typeface="Microsoft Sans Serif" panose="020B0604020202020204"/>
              </a:rPr>
              <a:t>error</a:t>
            </a:r>
            <a:r>
              <a:rPr sz="2650" spc="-10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55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6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100" dirty="0">
                <a:latin typeface="Microsoft Sans Serif" panose="020B0604020202020204"/>
                <a:cs typeface="Microsoft Sans Serif" panose="020B0604020202020204"/>
              </a:rPr>
              <a:t>it.</a:t>
            </a:r>
            <a:r>
              <a:rPr sz="2650" spc="-10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We</a:t>
            </a:r>
            <a:r>
              <a:rPr sz="26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-45" dirty="0">
                <a:latin typeface="Microsoft Sans Serif" panose="020B0604020202020204"/>
                <a:cs typeface="Microsoft Sans Serif" panose="020B0604020202020204"/>
              </a:rPr>
              <a:t>can</a:t>
            </a:r>
            <a:r>
              <a:rPr sz="26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50" dirty="0">
                <a:latin typeface="Microsoft Sans Serif" panose="020B0604020202020204"/>
                <a:cs typeface="Microsoft Sans Serif" panose="020B0604020202020204"/>
              </a:rPr>
              <a:t>improve</a:t>
            </a:r>
            <a:r>
              <a:rPr sz="26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6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55" dirty="0">
                <a:latin typeface="Microsoft Sans Serif" panose="020B0604020202020204"/>
                <a:cs typeface="Microsoft Sans Serif" panose="020B0604020202020204"/>
              </a:rPr>
              <a:t>estimate </a:t>
            </a:r>
            <a:r>
              <a:rPr sz="2650" spc="18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6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85" dirty="0">
                <a:latin typeface="Microsoft Sans Serif" panose="020B0604020202020204"/>
                <a:cs typeface="Microsoft Sans Serif" panose="020B0604020202020204"/>
              </a:rPr>
              <a:t>our</a:t>
            </a:r>
            <a:r>
              <a:rPr sz="26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mean</a:t>
            </a:r>
            <a:r>
              <a:rPr sz="26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using</a:t>
            </a:r>
            <a:r>
              <a:rPr sz="26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6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90" dirty="0">
                <a:latin typeface="Microsoft Sans Serif" panose="020B0604020202020204"/>
                <a:cs typeface="Microsoft Sans Serif" panose="020B0604020202020204"/>
              </a:rPr>
              <a:t>bootstrap</a:t>
            </a:r>
            <a:r>
              <a:rPr sz="26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-10" dirty="0">
                <a:latin typeface="Microsoft Sans Serif" panose="020B0604020202020204"/>
                <a:cs typeface="Microsoft Sans Serif" panose="020B0604020202020204"/>
              </a:rPr>
              <a:t>procedure:</a:t>
            </a:r>
            <a:endParaRPr sz="2650">
              <a:latin typeface="Microsoft Sans Serif" panose="020B0604020202020204"/>
              <a:cs typeface="Microsoft Sans Serif" panose="020B0604020202020204"/>
            </a:endParaRPr>
          </a:p>
          <a:p>
            <a:pPr marL="337185" marR="470535" indent="-325120" algn="just">
              <a:lnSpc>
                <a:spcPct val="100000"/>
              </a:lnSpc>
              <a:spcBef>
                <a:spcPts val="765"/>
              </a:spcBef>
              <a:buClr>
                <a:srgbClr val="6697CC"/>
              </a:buClr>
              <a:buFont typeface="Arial MT"/>
              <a:buChar char="•"/>
              <a:tabLst>
                <a:tab pos="337185" algn="l"/>
              </a:tabLst>
            </a:pP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Create</a:t>
            </a:r>
            <a:r>
              <a:rPr sz="26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many</a:t>
            </a:r>
            <a:r>
              <a:rPr sz="26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-25" dirty="0">
                <a:latin typeface="Microsoft Sans Serif" panose="020B0604020202020204"/>
                <a:cs typeface="Microsoft Sans Serif" panose="020B0604020202020204"/>
              </a:rPr>
              <a:t>(e.g.</a:t>
            </a:r>
            <a:r>
              <a:rPr sz="26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1000)</a:t>
            </a:r>
            <a:r>
              <a:rPr sz="26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random</a:t>
            </a:r>
            <a:r>
              <a:rPr sz="26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-45" dirty="0">
                <a:latin typeface="Microsoft Sans Serif" panose="020B0604020202020204"/>
                <a:cs typeface="Microsoft Sans Serif" panose="020B0604020202020204"/>
              </a:rPr>
              <a:t>sub-</a:t>
            </a:r>
            <a:r>
              <a:rPr sz="2650" spc="-20" dirty="0">
                <a:latin typeface="Microsoft Sans Serif" panose="020B0604020202020204"/>
                <a:cs typeface="Microsoft Sans Serif" panose="020B0604020202020204"/>
              </a:rPr>
              <a:t>samples</a:t>
            </a:r>
            <a:r>
              <a:rPr sz="26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155" dirty="0">
                <a:latin typeface="Microsoft Sans Serif" panose="020B0604020202020204"/>
                <a:cs typeface="Microsoft Sans Serif" panose="020B0604020202020204"/>
              </a:rPr>
              <a:t>of </a:t>
            </a:r>
            <a:r>
              <a:rPr sz="2650" spc="85" dirty="0">
                <a:latin typeface="Microsoft Sans Serif" panose="020B0604020202020204"/>
                <a:cs typeface="Microsoft Sans Serif" panose="020B0604020202020204"/>
              </a:rPr>
              <a:t>our</a:t>
            </a:r>
            <a:r>
              <a:rPr sz="26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55" dirty="0">
                <a:latin typeface="Microsoft Sans Serif" panose="020B0604020202020204"/>
                <a:cs typeface="Microsoft Sans Serif" panose="020B0604020202020204"/>
              </a:rPr>
              <a:t>dataset</a:t>
            </a:r>
            <a:r>
              <a:rPr sz="26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140" dirty="0">
                <a:latin typeface="Microsoft Sans Serif" panose="020B0604020202020204"/>
                <a:cs typeface="Microsoft Sans Serif" panose="020B0604020202020204"/>
              </a:rPr>
              <a:t>with</a:t>
            </a:r>
            <a:r>
              <a:rPr sz="26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45" dirty="0">
                <a:latin typeface="Microsoft Sans Serif" panose="020B0604020202020204"/>
                <a:cs typeface="Microsoft Sans Serif" panose="020B0604020202020204"/>
              </a:rPr>
              <a:t>replacement</a:t>
            </a:r>
            <a:r>
              <a:rPr sz="26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(meaning</a:t>
            </a:r>
            <a:r>
              <a:rPr sz="26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65" dirty="0">
                <a:latin typeface="Microsoft Sans Serif" panose="020B0604020202020204"/>
                <a:cs typeface="Microsoft Sans Serif" panose="020B0604020202020204"/>
              </a:rPr>
              <a:t>we</a:t>
            </a:r>
            <a:r>
              <a:rPr sz="26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-25" dirty="0">
                <a:latin typeface="Microsoft Sans Serif" panose="020B0604020202020204"/>
                <a:cs typeface="Microsoft Sans Serif" panose="020B0604020202020204"/>
              </a:rPr>
              <a:t>can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select</a:t>
            </a:r>
            <a:r>
              <a:rPr sz="26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6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-50" dirty="0">
                <a:latin typeface="Microsoft Sans Serif" panose="020B0604020202020204"/>
                <a:cs typeface="Microsoft Sans Serif" panose="020B0604020202020204"/>
              </a:rPr>
              <a:t>same</a:t>
            </a:r>
            <a:r>
              <a:rPr sz="26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value</a:t>
            </a:r>
            <a:r>
              <a:rPr sz="26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95" dirty="0">
                <a:latin typeface="Microsoft Sans Serif" panose="020B0604020202020204"/>
                <a:cs typeface="Microsoft Sans Serif" panose="020B0604020202020204"/>
              </a:rPr>
              <a:t>multiple</a:t>
            </a:r>
            <a:r>
              <a:rPr sz="26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-10" dirty="0">
                <a:latin typeface="Microsoft Sans Serif" panose="020B0604020202020204"/>
                <a:cs typeface="Microsoft Sans Serif" panose="020B0604020202020204"/>
              </a:rPr>
              <a:t>times).</a:t>
            </a:r>
            <a:endParaRPr sz="2650">
              <a:latin typeface="Microsoft Sans Serif" panose="020B0604020202020204"/>
              <a:cs typeface="Microsoft Sans Serif" panose="020B0604020202020204"/>
            </a:endParaRPr>
          </a:p>
          <a:p>
            <a:pPr marL="337820" indent="-325120" algn="just">
              <a:lnSpc>
                <a:spcPct val="100000"/>
              </a:lnSpc>
              <a:spcBef>
                <a:spcPts val="770"/>
              </a:spcBef>
              <a:buClr>
                <a:srgbClr val="6697CC"/>
              </a:buClr>
              <a:buFont typeface="Arial MT"/>
              <a:buChar char="•"/>
              <a:tabLst>
                <a:tab pos="337820" algn="l"/>
              </a:tabLst>
            </a:pP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Calculate</a:t>
            </a:r>
            <a:r>
              <a:rPr sz="26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6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mean</a:t>
            </a:r>
            <a:r>
              <a:rPr sz="26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18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6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-40" dirty="0">
                <a:latin typeface="Microsoft Sans Serif" panose="020B0604020202020204"/>
                <a:cs typeface="Microsoft Sans Serif" panose="020B0604020202020204"/>
              </a:rPr>
              <a:t>each</a:t>
            </a:r>
            <a:r>
              <a:rPr sz="26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-45" dirty="0">
                <a:latin typeface="Microsoft Sans Serif" panose="020B0604020202020204"/>
                <a:cs typeface="Microsoft Sans Serif" panose="020B0604020202020204"/>
              </a:rPr>
              <a:t>sub-</a:t>
            </a:r>
            <a:r>
              <a:rPr sz="2650" spc="-10" dirty="0">
                <a:latin typeface="Microsoft Sans Serif" panose="020B0604020202020204"/>
                <a:cs typeface="Microsoft Sans Serif" panose="020B0604020202020204"/>
              </a:rPr>
              <a:t>sample.</a:t>
            </a:r>
            <a:endParaRPr sz="2650">
              <a:latin typeface="Microsoft Sans Serif" panose="020B0604020202020204"/>
              <a:cs typeface="Microsoft Sans Serif" panose="020B0604020202020204"/>
            </a:endParaRPr>
          </a:p>
          <a:p>
            <a:pPr marL="337185" marR="5080" indent="-325120" algn="just">
              <a:lnSpc>
                <a:spcPct val="100000"/>
              </a:lnSpc>
              <a:spcBef>
                <a:spcPts val="760"/>
              </a:spcBef>
              <a:buClr>
                <a:srgbClr val="6697CC"/>
              </a:buClr>
              <a:buFont typeface="Arial MT"/>
              <a:buChar char="•"/>
              <a:tabLst>
                <a:tab pos="337185" algn="l"/>
              </a:tabLst>
            </a:pP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Calculate</a:t>
            </a:r>
            <a:r>
              <a:rPr sz="26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6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average</a:t>
            </a:r>
            <a:r>
              <a:rPr sz="26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18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6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all</a:t>
            </a:r>
            <a:r>
              <a:rPr sz="26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17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6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80" dirty="0">
                <a:latin typeface="Microsoft Sans Serif" panose="020B0604020202020204"/>
                <a:cs typeface="Microsoft Sans Serif" panose="020B0604020202020204"/>
              </a:rPr>
              <a:t>our</a:t>
            </a:r>
            <a:r>
              <a:rPr sz="26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55" dirty="0">
                <a:latin typeface="Microsoft Sans Serif" panose="020B0604020202020204"/>
                <a:cs typeface="Microsoft Sans Serif" panose="020B0604020202020204"/>
              </a:rPr>
              <a:t>collected</a:t>
            </a:r>
            <a:r>
              <a:rPr sz="26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-10" dirty="0">
                <a:latin typeface="Microsoft Sans Serif" panose="020B0604020202020204"/>
                <a:cs typeface="Microsoft Sans Serif" panose="020B0604020202020204"/>
              </a:rPr>
              <a:t>means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6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-20" dirty="0">
                <a:latin typeface="Microsoft Sans Serif" panose="020B0604020202020204"/>
                <a:cs typeface="Microsoft Sans Serif" panose="020B0604020202020204"/>
              </a:rPr>
              <a:t>use</a:t>
            </a:r>
            <a:r>
              <a:rPr sz="26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140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6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-130" dirty="0">
                <a:latin typeface="Microsoft Sans Serif" panose="020B0604020202020204"/>
                <a:cs typeface="Microsoft Sans Serif" panose="020B0604020202020204"/>
              </a:rPr>
              <a:t>as</a:t>
            </a:r>
            <a:r>
              <a:rPr sz="26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85" dirty="0">
                <a:latin typeface="Microsoft Sans Serif" panose="020B0604020202020204"/>
                <a:cs typeface="Microsoft Sans Serif" panose="020B0604020202020204"/>
              </a:rPr>
              <a:t>our</a:t>
            </a:r>
            <a:r>
              <a:rPr sz="26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60" dirty="0">
                <a:latin typeface="Microsoft Sans Serif" panose="020B0604020202020204"/>
                <a:cs typeface="Microsoft Sans Serif" panose="020B0604020202020204"/>
              </a:rPr>
              <a:t>estimated</a:t>
            </a:r>
            <a:r>
              <a:rPr sz="26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mean</a:t>
            </a:r>
            <a:r>
              <a:rPr sz="26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160" dirty="0"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6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6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-10" dirty="0">
                <a:latin typeface="Microsoft Sans Serif" panose="020B0604020202020204"/>
                <a:cs typeface="Microsoft Sans Serif" panose="020B0604020202020204"/>
              </a:rPr>
              <a:t>data.</a:t>
            </a:r>
            <a:endParaRPr sz="26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Bootstrap</a:t>
            </a:r>
            <a:endParaRPr spc="9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962265" cy="363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1435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800" spc="-1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example,</a:t>
            </a:r>
            <a:r>
              <a:rPr sz="2800" spc="-1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65" dirty="0">
                <a:latin typeface="Microsoft Sans Serif" panose="020B0604020202020204"/>
                <a:cs typeface="Microsoft Sans Serif" panose="020B0604020202020204"/>
              </a:rPr>
              <a:t>let’s</a:t>
            </a:r>
            <a:r>
              <a:rPr sz="2800" spc="-105" dirty="0">
                <a:latin typeface="Microsoft Sans Serif" panose="020B0604020202020204"/>
                <a:cs typeface="Microsoft Sans Serif" panose="020B0604020202020204"/>
              </a:rPr>
              <a:t> say</a:t>
            </a:r>
            <a:r>
              <a:rPr sz="280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65" dirty="0">
                <a:latin typeface="Microsoft Sans Serif" panose="020B0604020202020204"/>
                <a:cs typeface="Microsoft Sans Serif" panose="020B0604020202020204"/>
              </a:rPr>
              <a:t>we</a:t>
            </a:r>
            <a:r>
              <a:rPr sz="2800" spc="-1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800" spc="-1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3</a:t>
            </a:r>
            <a:r>
              <a:rPr sz="2800" spc="-114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resamples</a:t>
            </a:r>
            <a:r>
              <a:rPr sz="2800" spc="-114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25" dirty="0">
                <a:latin typeface="Microsoft Sans Serif" panose="020B0604020202020204"/>
                <a:cs typeface="Microsoft Sans Serif" panose="020B0604020202020204"/>
              </a:rPr>
              <a:t>and </a:t>
            </a:r>
            <a:r>
              <a:rPr sz="2800" spc="150" dirty="0">
                <a:latin typeface="Microsoft Sans Serif" panose="020B0604020202020204"/>
                <a:cs typeface="Microsoft Sans Serif" panose="020B0604020202020204"/>
              </a:rPr>
              <a:t>got</a:t>
            </a:r>
            <a:r>
              <a:rPr sz="2800" spc="-1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800" spc="-1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mean</a:t>
            </a:r>
            <a:r>
              <a:rPr sz="2800" spc="-1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10" dirty="0">
                <a:latin typeface="Microsoft Sans Serif" panose="020B0604020202020204"/>
                <a:cs typeface="Microsoft Sans Serif" panose="020B0604020202020204"/>
              </a:rPr>
              <a:t>values</a:t>
            </a:r>
            <a:r>
              <a:rPr sz="2800" spc="-1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30" dirty="0">
                <a:latin typeface="Microsoft Sans Serif" panose="020B0604020202020204"/>
                <a:cs typeface="Microsoft Sans Serif" panose="020B0604020202020204"/>
              </a:rPr>
              <a:t>2.3,</a:t>
            </a:r>
            <a:r>
              <a:rPr sz="2800" spc="-1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4.5</a:t>
            </a:r>
            <a:r>
              <a:rPr sz="2800" spc="-1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800" spc="-1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20" dirty="0">
                <a:latin typeface="Microsoft Sans Serif" panose="020B0604020202020204"/>
                <a:cs typeface="Microsoft Sans Serif" panose="020B0604020202020204"/>
              </a:rPr>
              <a:t>3.3.</a:t>
            </a:r>
            <a:endParaRPr sz="2800">
              <a:latin typeface="Microsoft Sans Serif" panose="020B0604020202020204"/>
              <a:cs typeface="Microsoft Sans Serif" panose="020B0604020202020204"/>
            </a:endParaRPr>
          </a:p>
          <a:p>
            <a:pPr marL="355600" marR="175895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Taking</a:t>
            </a:r>
            <a:r>
              <a:rPr sz="28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12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8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average</a:t>
            </a:r>
            <a:r>
              <a:rPr sz="28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18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8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these</a:t>
            </a:r>
            <a:r>
              <a:rPr sz="28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65" dirty="0">
                <a:latin typeface="Microsoft Sans Serif" panose="020B0604020202020204"/>
                <a:cs typeface="Microsoft Sans Serif" panose="020B0604020202020204"/>
              </a:rPr>
              <a:t>we</a:t>
            </a:r>
            <a:r>
              <a:rPr sz="28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could</a:t>
            </a:r>
            <a:r>
              <a:rPr sz="28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70" dirty="0">
                <a:latin typeface="Microsoft Sans Serif" panose="020B0604020202020204"/>
                <a:cs typeface="Microsoft Sans Serif" panose="020B0604020202020204"/>
              </a:rPr>
              <a:t>take</a:t>
            </a:r>
            <a:r>
              <a:rPr sz="28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100" dirty="0">
                <a:latin typeface="Microsoft Sans Serif" panose="020B0604020202020204"/>
                <a:cs typeface="Microsoft Sans Serif" panose="020B0604020202020204"/>
              </a:rPr>
              <a:t>the </a:t>
            </a:r>
            <a:r>
              <a:rPr sz="2800" spc="65" dirty="0">
                <a:latin typeface="Microsoft Sans Serif" panose="020B0604020202020204"/>
                <a:cs typeface="Microsoft Sans Serif" panose="020B0604020202020204"/>
              </a:rPr>
              <a:t>estimated</a:t>
            </a:r>
            <a:r>
              <a:rPr sz="28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mean</a:t>
            </a:r>
            <a:r>
              <a:rPr sz="28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18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8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12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8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data</a:t>
            </a:r>
            <a:r>
              <a:rPr sz="28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210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8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be</a:t>
            </a:r>
            <a:r>
              <a:rPr sz="28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10" dirty="0">
                <a:latin typeface="Microsoft Sans Serif" panose="020B0604020202020204"/>
                <a:cs typeface="Microsoft Sans Serif" panose="020B0604020202020204"/>
              </a:rPr>
              <a:t>3.367.</a:t>
            </a:r>
            <a:endParaRPr sz="2800">
              <a:latin typeface="Microsoft Sans Serif" panose="020B0604020202020204"/>
              <a:cs typeface="Microsoft Sans Serif" panose="020B0604020202020204"/>
            </a:endParaRPr>
          </a:p>
          <a:p>
            <a:pPr marL="355600" marR="508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spc="-50" dirty="0">
                <a:latin typeface="Microsoft Sans Serif" panose="020B0604020202020204"/>
                <a:cs typeface="Microsoft Sans Serif" panose="020B0604020202020204"/>
              </a:rPr>
              <a:t>This</a:t>
            </a:r>
            <a:r>
              <a:rPr sz="2800" spc="-114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20" dirty="0">
                <a:latin typeface="Microsoft Sans Serif" panose="020B0604020202020204"/>
                <a:cs typeface="Microsoft Sans Serif" panose="020B0604020202020204"/>
              </a:rPr>
              <a:t>process</a:t>
            </a:r>
            <a:r>
              <a:rPr sz="2800" spc="-10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50" dirty="0">
                <a:latin typeface="Microsoft Sans Serif" panose="020B0604020202020204"/>
                <a:cs typeface="Microsoft Sans Serif" panose="020B0604020202020204"/>
              </a:rPr>
              <a:t>can</a:t>
            </a:r>
            <a:r>
              <a:rPr sz="280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be</a:t>
            </a:r>
            <a:r>
              <a:rPr sz="2800" spc="-1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80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204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800" spc="-10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60" dirty="0">
                <a:latin typeface="Microsoft Sans Serif" panose="020B0604020202020204"/>
                <a:cs typeface="Microsoft Sans Serif" panose="020B0604020202020204"/>
              </a:rPr>
              <a:t>estimate</a:t>
            </a:r>
            <a:r>
              <a:rPr sz="2800" spc="-10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100" dirty="0">
                <a:latin typeface="Microsoft Sans Serif" panose="020B0604020202020204"/>
                <a:cs typeface="Microsoft Sans Serif" panose="020B0604020202020204"/>
              </a:rPr>
              <a:t>other </a:t>
            </a:r>
            <a:r>
              <a:rPr sz="2800" spc="65" dirty="0">
                <a:latin typeface="Microsoft Sans Serif" panose="020B0604020202020204"/>
                <a:cs typeface="Microsoft Sans Serif" panose="020B0604020202020204"/>
              </a:rPr>
              <a:t>quantities</a:t>
            </a:r>
            <a:r>
              <a:rPr sz="28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55" dirty="0">
                <a:latin typeface="Microsoft Sans Serif" panose="020B0604020202020204"/>
                <a:cs typeface="Microsoft Sans Serif" panose="020B0604020202020204"/>
              </a:rPr>
              <a:t>like</a:t>
            </a:r>
            <a:r>
              <a:rPr sz="28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8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standard</a:t>
            </a:r>
            <a:r>
              <a:rPr sz="28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55" dirty="0">
                <a:latin typeface="Microsoft Sans Serif" panose="020B0604020202020204"/>
                <a:cs typeface="Microsoft Sans Serif" panose="020B0604020202020204"/>
              </a:rPr>
              <a:t>deviation</a:t>
            </a:r>
            <a:r>
              <a:rPr sz="28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8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20" dirty="0">
                <a:latin typeface="Microsoft Sans Serif" panose="020B0604020202020204"/>
                <a:cs typeface="Microsoft Sans Serif" panose="020B0604020202020204"/>
              </a:rPr>
              <a:t>even </a:t>
            </a:r>
            <a:r>
              <a:rPr sz="2800" spc="65" dirty="0">
                <a:latin typeface="Microsoft Sans Serif" panose="020B0604020202020204"/>
                <a:cs typeface="Microsoft Sans Serif" panose="020B0604020202020204"/>
              </a:rPr>
              <a:t>quantities</a:t>
            </a:r>
            <a:r>
              <a:rPr sz="28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8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55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8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machine</a:t>
            </a:r>
            <a:r>
              <a:rPr sz="28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learning</a:t>
            </a:r>
            <a:r>
              <a:rPr sz="28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10" dirty="0">
                <a:latin typeface="Microsoft Sans Serif" panose="020B0604020202020204"/>
                <a:cs typeface="Microsoft Sans Serif" panose="020B0604020202020204"/>
              </a:rPr>
              <a:t>algorithms, </a:t>
            </a:r>
            <a:r>
              <a:rPr sz="2800" spc="55" dirty="0">
                <a:latin typeface="Microsoft Sans Serif" panose="020B0604020202020204"/>
                <a:cs typeface="Microsoft Sans Serif" panose="020B0604020202020204"/>
              </a:rPr>
              <a:t>like</a:t>
            </a:r>
            <a:r>
              <a:rPr sz="280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learned</a:t>
            </a:r>
            <a:r>
              <a:rPr sz="280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45" dirty="0">
                <a:latin typeface="Microsoft Sans Serif" panose="020B0604020202020204"/>
                <a:cs typeface="Microsoft Sans Serif" panose="020B0604020202020204"/>
              </a:rPr>
              <a:t>coefficients.</a:t>
            </a:r>
            <a:endParaRPr sz="280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Bagging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46710" indent="-324485">
              <a:lnSpc>
                <a:spcPct val="100000"/>
              </a:lnSpc>
              <a:spcBef>
                <a:spcPts val="855"/>
              </a:spcBef>
              <a:buClr>
                <a:srgbClr val="6697CC"/>
              </a:buClr>
              <a:buFont typeface="Arial MT"/>
              <a:buChar char="•"/>
              <a:tabLst>
                <a:tab pos="346710" algn="l"/>
              </a:tabLst>
            </a:pPr>
            <a:r>
              <a:rPr sz="2650" dirty="0"/>
              <a:t>Bagging</a:t>
            </a:r>
            <a:r>
              <a:rPr sz="2650" spc="-55" dirty="0"/>
              <a:t> </a:t>
            </a:r>
            <a:r>
              <a:rPr sz="2650" dirty="0"/>
              <a:t>stands</a:t>
            </a:r>
            <a:r>
              <a:rPr sz="2650" spc="-55" dirty="0"/>
              <a:t> </a:t>
            </a:r>
            <a:r>
              <a:rPr sz="2650" spc="160" dirty="0"/>
              <a:t>for</a:t>
            </a:r>
            <a:r>
              <a:rPr sz="2650" spc="-55" dirty="0"/>
              <a:t> </a:t>
            </a:r>
            <a:r>
              <a:rPr sz="2650" spc="90" dirty="0"/>
              <a:t>bootstrap</a:t>
            </a:r>
            <a:r>
              <a:rPr sz="2650" spc="-65" dirty="0"/>
              <a:t> </a:t>
            </a:r>
            <a:r>
              <a:rPr sz="2650" spc="-10" dirty="0"/>
              <a:t>aggregation.</a:t>
            </a:r>
            <a:endParaRPr sz="2650"/>
          </a:p>
          <a:p>
            <a:pPr marL="346710" marR="492125" indent="-325120">
              <a:lnSpc>
                <a:spcPct val="100000"/>
              </a:lnSpc>
              <a:spcBef>
                <a:spcPts val="760"/>
              </a:spcBef>
              <a:buClr>
                <a:srgbClr val="6697CC"/>
              </a:buClr>
              <a:buFont typeface="Arial MT"/>
              <a:buChar char="•"/>
              <a:tabLst>
                <a:tab pos="346710" algn="l"/>
              </a:tabLst>
            </a:pPr>
            <a:r>
              <a:rPr sz="2650" spc="140" dirty="0"/>
              <a:t>It</a:t>
            </a:r>
            <a:r>
              <a:rPr sz="2650" spc="-60" dirty="0"/>
              <a:t> </a:t>
            </a:r>
            <a:r>
              <a:rPr sz="2650" dirty="0"/>
              <a:t>combines</a:t>
            </a:r>
            <a:r>
              <a:rPr sz="2650" spc="-60" dirty="0"/>
              <a:t> </a:t>
            </a:r>
            <a:r>
              <a:rPr sz="2650" spc="95" dirty="0"/>
              <a:t>multiple</a:t>
            </a:r>
            <a:r>
              <a:rPr sz="2650" spc="-60" dirty="0"/>
              <a:t> </a:t>
            </a:r>
            <a:r>
              <a:rPr sz="2650" dirty="0"/>
              <a:t>learners</a:t>
            </a:r>
            <a:r>
              <a:rPr sz="2650" spc="-60" dirty="0"/>
              <a:t> </a:t>
            </a:r>
            <a:r>
              <a:rPr sz="2650" spc="60" dirty="0"/>
              <a:t>in</a:t>
            </a:r>
            <a:r>
              <a:rPr sz="2650" spc="-70" dirty="0"/>
              <a:t> </a:t>
            </a:r>
            <a:r>
              <a:rPr sz="2650" spc="-95" dirty="0"/>
              <a:t>a</a:t>
            </a:r>
            <a:r>
              <a:rPr sz="2650" spc="-70" dirty="0"/>
              <a:t> </a:t>
            </a:r>
            <a:r>
              <a:rPr sz="2650" dirty="0"/>
              <a:t>way</a:t>
            </a:r>
            <a:r>
              <a:rPr sz="2650" spc="-65" dirty="0"/>
              <a:t> </a:t>
            </a:r>
            <a:r>
              <a:rPr sz="2650" spc="210" dirty="0"/>
              <a:t>to</a:t>
            </a:r>
            <a:r>
              <a:rPr sz="2650" spc="-75" dirty="0"/>
              <a:t> </a:t>
            </a:r>
            <a:r>
              <a:rPr sz="2650" spc="-10" dirty="0"/>
              <a:t>reduce </a:t>
            </a:r>
            <a:r>
              <a:rPr sz="2650" spc="110" dirty="0"/>
              <a:t>the</a:t>
            </a:r>
            <a:r>
              <a:rPr sz="2650" spc="-110" dirty="0"/>
              <a:t> </a:t>
            </a:r>
            <a:r>
              <a:rPr sz="2650" dirty="0"/>
              <a:t>variance</a:t>
            </a:r>
            <a:r>
              <a:rPr sz="2650" spc="-110" dirty="0"/>
              <a:t> </a:t>
            </a:r>
            <a:r>
              <a:rPr sz="2650" spc="180" dirty="0"/>
              <a:t>of</a:t>
            </a:r>
            <a:r>
              <a:rPr sz="2650" spc="-114" dirty="0"/>
              <a:t> </a:t>
            </a:r>
            <a:r>
              <a:rPr sz="2650" spc="-10" dirty="0"/>
              <a:t>estimates.</a:t>
            </a:r>
            <a:endParaRPr sz="2650"/>
          </a:p>
          <a:p>
            <a:pPr marL="346710" marR="5080" indent="-325120">
              <a:lnSpc>
                <a:spcPct val="100000"/>
              </a:lnSpc>
              <a:spcBef>
                <a:spcPts val="765"/>
              </a:spcBef>
              <a:buClr>
                <a:srgbClr val="6697CC"/>
              </a:buClr>
              <a:buFont typeface="Arial MT"/>
              <a:buChar char="•"/>
              <a:tabLst>
                <a:tab pos="346710" algn="l"/>
              </a:tabLst>
            </a:pPr>
            <a:r>
              <a:rPr sz="2650" dirty="0"/>
              <a:t>For</a:t>
            </a:r>
            <a:r>
              <a:rPr sz="2650" spc="-35" dirty="0"/>
              <a:t> </a:t>
            </a:r>
            <a:r>
              <a:rPr sz="2650" dirty="0"/>
              <a:t>example,</a:t>
            </a:r>
            <a:r>
              <a:rPr sz="2650" spc="-40" dirty="0"/>
              <a:t> </a:t>
            </a:r>
            <a:r>
              <a:rPr sz="2650" dirty="0"/>
              <a:t>random</a:t>
            </a:r>
            <a:r>
              <a:rPr sz="2650" spc="-40" dirty="0"/>
              <a:t> </a:t>
            </a:r>
            <a:r>
              <a:rPr sz="2650" spc="105" dirty="0"/>
              <a:t>forest</a:t>
            </a:r>
            <a:r>
              <a:rPr sz="2650" spc="-30" dirty="0"/>
              <a:t> </a:t>
            </a:r>
            <a:r>
              <a:rPr sz="2650" spc="50" dirty="0"/>
              <a:t>trains</a:t>
            </a:r>
            <a:r>
              <a:rPr sz="2650" spc="-25" dirty="0"/>
              <a:t> </a:t>
            </a:r>
            <a:r>
              <a:rPr sz="2650" spc="85" dirty="0"/>
              <a:t>M</a:t>
            </a:r>
            <a:r>
              <a:rPr sz="2650" spc="-35" dirty="0"/>
              <a:t> </a:t>
            </a:r>
            <a:r>
              <a:rPr sz="2650" spc="-10" dirty="0"/>
              <a:t>Decision</a:t>
            </a:r>
            <a:r>
              <a:rPr sz="2650" spc="660" dirty="0"/>
              <a:t> </a:t>
            </a:r>
            <a:r>
              <a:rPr sz="2650" dirty="0"/>
              <a:t>Tree,</a:t>
            </a:r>
            <a:r>
              <a:rPr sz="2650" spc="-100" dirty="0"/>
              <a:t> </a:t>
            </a:r>
            <a:r>
              <a:rPr sz="2650" dirty="0"/>
              <a:t>you</a:t>
            </a:r>
            <a:r>
              <a:rPr sz="2650" spc="-95" dirty="0"/>
              <a:t> </a:t>
            </a:r>
            <a:r>
              <a:rPr sz="2650" spc="-45" dirty="0"/>
              <a:t>can</a:t>
            </a:r>
            <a:r>
              <a:rPr sz="2650" spc="-85" dirty="0"/>
              <a:t> </a:t>
            </a:r>
            <a:r>
              <a:rPr sz="2650" spc="90" dirty="0"/>
              <a:t>train</a:t>
            </a:r>
            <a:r>
              <a:rPr sz="2650" spc="-95" dirty="0"/>
              <a:t> </a:t>
            </a:r>
            <a:r>
              <a:rPr sz="2650" spc="85" dirty="0"/>
              <a:t>M</a:t>
            </a:r>
            <a:r>
              <a:rPr sz="2650" spc="-95" dirty="0"/>
              <a:t> </a:t>
            </a:r>
            <a:r>
              <a:rPr sz="2650" spc="130" dirty="0"/>
              <a:t>different</a:t>
            </a:r>
            <a:r>
              <a:rPr sz="2650" spc="-85" dirty="0"/>
              <a:t> </a:t>
            </a:r>
            <a:r>
              <a:rPr sz="2650" spc="60" dirty="0"/>
              <a:t>trees</a:t>
            </a:r>
            <a:r>
              <a:rPr sz="2650" spc="-85" dirty="0"/>
              <a:t> </a:t>
            </a:r>
            <a:r>
              <a:rPr sz="2650" spc="55" dirty="0"/>
              <a:t>on</a:t>
            </a:r>
            <a:r>
              <a:rPr sz="2650" spc="-100" dirty="0"/>
              <a:t> </a:t>
            </a:r>
            <a:r>
              <a:rPr sz="2650" spc="120" dirty="0"/>
              <a:t>different </a:t>
            </a:r>
            <a:r>
              <a:rPr sz="2650" dirty="0"/>
              <a:t>random</a:t>
            </a:r>
            <a:r>
              <a:rPr sz="2650" spc="-75" dirty="0"/>
              <a:t> </a:t>
            </a:r>
            <a:r>
              <a:rPr sz="2650" dirty="0"/>
              <a:t>subsets</a:t>
            </a:r>
            <a:r>
              <a:rPr sz="2650" spc="-55" dirty="0"/>
              <a:t> </a:t>
            </a:r>
            <a:r>
              <a:rPr sz="2650" spc="180" dirty="0"/>
              <a:t>of</a:t>
            </a:r>
            <a:r>
              <a:rPr sz="2650" spc="-55" dirty="0"/>
              <a:t> </a:t>
            </a:r>
            <a:r>
              <a:rPr sz="2650" spc="110" dirty="0"/>
              <a:t>the</a:t>
            </a:r>
            <a:r>
              <a:rPr sz="2650" spc="-55" dirty="0"/>
              <a:t> </a:t>
            </a:r>
            <a:r>
              <a:rPr sz="2650" spc="50" dirty="0"/>
              <a:t>data</a:t>
            </a:r>
            <a:r>
              <a:rPr sz="2650" spc="-60" dirty="0"/>
              <a:t> </a:t>
            </a:r>
            <a:r>
              <a:rPr sz="2650" dirty="0"/>
              <a:t>and</a:t>
            </a:r>
            <a:r>
              <a:rPr sz="2650" spc="-65" dirty="0"/>
              <a:t> </a:t>
            </a:r>
            <a:r>
              <a:rPr sz="2650" spc="105" dirty="0"/>
              <a:t>perform</a:t>
            </a:r>
            <a:r>
              <a:rPr sz="2650" spc="-70" dirty="0"/>
              <a:t> </a:t>
            </a:r>
            <a:r>
              <a:rPr sz="2650" spc="90" dirty="0"/>
              <a:t>voting</a:t>
            </a:r>
            <a:r>
              <a:rPr sz="2650" spc="-60" dirty="0"/>
              <a:t> </a:t>
            </a:r>
            <a:r>
              <a:rPr sz="2650" spc="135" dirty="0"/>
              <a:t>for </a:t>
            </a:r>
            <a:r>
              <a:rPr sz="2650" spc="85" dirty="0"/>
              <a:t>final</a:t>
            </a:r>
            <a:r>
              <a:rPr sz="2650" spc="-100" dirty="0"/>
              <a:t> </a:t>
            </a:r>
            <a:r>
              <a:rPr sz="2650" spc="45" dirty="0"/>
              <a:t>prediction.</a:t>
            </a:r>
            <a:endParaRPr sz="2650"/>
          </a:p>
          <a:p>
            <a:pPr marL="346710" indent="-324485">
              <a:lnSpc>
                <a:spcPct val="100000"/>
              </a:lnSpc>
              <a:spcBef>
                <a:spcPts val="770"/>
              </a:spcBef>
              <a:buClr>
                <a:srgbClr val="6697CC"/>
              </a:buClr>
              <a:buFont typeface="Arial MT"/>
              <a:buChar char="•"/>
              <a:tabLst>
                <a:tab pos="346710" algn="l"/>
              </a:tabLst>
            </a:pPr>
            <a:r>
              <a:rPr sz="2650" spc="-10" dirty="0"/>
              <a:t>Example:</a:t>
            </a:r>
            <a:endParaRPr sz="2650"/>
          </a:p>
          <a:p>
            <a:pPr marL="726440" lvl="1" indent="-269875">
              <a:lnSpc>
                <a:spcPct val="100000"/>
              </a:lnSpc>
              <a:spcBef>
                <a:spcPts val="660"/>
              </a:spcBef>
              <a:buClr>
                <a:srgbClr val="6697CC"/>
              </a:buClr>
              <a:buFont typeface="Arial MT"/>
              <a:buChar char="–"/>
              <a:tabLst>
                <a:tab pos="726440" algn="l"/>
              </a:tabLst>
            </a:pPr>
            <a:r>
              <a:rPr sz="2650" spc="-10" dirty="0">
                <a:latin typeface="Microsoft Sans Serif" panose="020B0604020202020204"/>
                <a:cs typeface="Microsoft Sans Serif" panose="020B0604020202020204"/>
              </a:rPr>
              <a:t>Random</a:t>
            </a:r>
            <a:r>
              <a:rPr sz="2650" spc="-1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-10" dirty="0">
                <a:latin typeface="Microsoft Sans Serif" panose="020B0604020202020204"/>
                <a:cs typeface="Microsoft Sans Serif" panose="020B0604020202020204"/>
              </a:rPr>
              <a:t>Forest</a:t>
            </a:r>
            <a:endParaRPr sz="2650">
              <a:latin typeface="Microsoft Sans Serif" panose="020B0604020202020204"/>
              <a:cs typeface="Microsoft Sans Serif" panose="020B0604020202020204"/>
            </a:endParaRPr>
          </a:p>
          <a:p>
            <a:pPr marL="726440" lvl="1" indent="-269875">
              <a:lnSpc>
                <a:spcPct val="100000"/>
              </a:lnSpc>
              <a:spcBef>
                <a:spcPts val="670"/>
              </a:spcBef>
              <a:buClr>
                <a:srgbClr val="6697CC"/>
              </a:buClr>
              <a:buFont typeface="Arial MT"/>
              <a:buChar char="–"/>
              <a:tabLst>
                <a:tab pos="726440" algn="l"/>
              </a:tabLst>
            </a:pPr>
            <a:r>
              <a:rPr sz="2650" dirty="0">
                <a:latin typeface="Microsoft Sans Serif" panose="020B0604020202020204"/>
                <a:cs typeface="Microsoft Sans Serif" panose="020B0604020202020204"/>
              </a:rPr>
              <a:t>Extra</a:t>
            </a:r>
            <a:r>
              <a:rPr sz="2650" spc="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50" spc="-10" dirty="0">
                <a:latin typeface="Microsoft Sans Serif" panose="020B0604020202020204"/>
                <a:cs typeface="Microsoft Sans Serif" panose="020B0604020202020204"/>
              </a:rPr>
              <a:t>Trees.</a:t>
            </a:r>
            <a:endParaRPr sz="26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Bagging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2442" y="1511998"/>
            <a:ext cx="5947562" cy="446364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Random</a:t>
            </a:r>
            <a:r>
              <a:rPr spc="-220" dirty="0"/>
              <a:t> </a:t>
            </a:r>
            <a:r>
              <a:rPr spc="-10" dirty="0"/>
              <a:t>Forest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54975" cy="4264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 marR="182245" indent="-291465">
              <a:lnSpc>
                <a:spcPct val="101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03530" algn="l"/>
              </a:tabLst>
            </a:pP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Random</a:t>
            </a:r>
            <a:r>
              <a:rPr sz="23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110" dirty="0">
                <a:latin typeface="Microsoft Sans Serif" panose="020B0604020202020204"/>
                <a:cs typeface="Microsoft Sans Serif" panose="020B0604020202020204"/>
              </a:rPr>
              <a:t>forest</a:t>
            </a:r>
            <a:r>
              <a:rPr sz="23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3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3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95" dirty="0">
                <a:latin typeface="Microsoft Sans Serif" panose="020B0604020202020204"/>
                <a:cs typeface="Microsoft Sans Serif" panose="020B0604020202020204"/>
              </a:rPr>
              <a:t>type</a:t>
            </a:r>
            <a:r>
              <a:rPr sz="23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17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3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supervised</a:t>
            </a:r>
            <a:r>
              <a:rPr sz="23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machine</a:t>
            </a:r>
            <a:r>
              <a:rPr sz="23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latin typeface="Microsoft Sans Serif" panose="020B0604020202020204"/>
                <a:cs typeface="Microsoft Sans Serif" panose="020B0604020202020204"/>
              </a:rPr>
              <a:t>learning </a:t>
            </a:r>
            <a:r>
              <a:rPr sz="2350" spc="80" dirty="0">
                <a:latin typeface="Microsoft Sans Serif" panose="020B0604020202020204"/>
                <a:cs typeface="Microsoft Sans Serif" panose="020B0604020202020204"/>
              </a:rPr>
              <a:t>algorithm</a:t>
            </a:r>
            <a:r>
              <a:rPr sz="23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based</a:t>
            </a:r>
            <a:r>
              <a:rPr sz="23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70" dirty="0">
                <a:latin typeface="Microsoft Sans Serif" panose="020B0604020202020204"/>
                <a:cs typeface="Microsoft Sans Serif" panose="020B0604020202020204"/>
              </a:rPr>
              <a:t>on</a:t>
            </a:r>
            <a:r>
              <a:rPr sz="23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solidFill>
                  <a:srgbClr val="C8201D"/>
                </a:solidFill>
                <a:latin typeface="Microsoft Sans Serif" panose="020B0604020202020204"/>
                <a:cs typeface="Microsoft Sans Serif" panose="020B0604020202020204"/>
              </a:rPr>
              <a:t>ensemble</a:t>
            </a:r>
            <a:r>
              <a:rPr sz="2350" spc="-20" dirty="0">
                <a:solidFill>
                  <a:srgbClr val="C8201D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solidFill>
                  <a:srgbClr val="C8201D"/>
                </a:solidFill>
                <a:latin typeface="Microsoft Sans Serif" panose="020B0604020202020204"/>
                <a:cs typeface="Microsoft Sans Serif" panose="020B0604020202020204"/>
              </a:rPr>
              <a:t>learning</a:t>
            </a:r>
            <a:r>
              <a:rPr sz="2350" spc="-10" dirty="0">
                <a:latin typeface="Microsoft Sans Serif" panose="020B0604020202020204"/>
                <a:cs typeface="Microsoft Sans Serif" panose="020B0604020202020204"/>
              </a:rPr>
              <a:t>.</a:t>
            </a:r>
            <a:endParaRPr sz="2350">
              <a:latin typeface="Microsoft Sans Serif" panose="020B0604020202020204"/>
              <a:cs typeface="Microsoft Sans Serif" panose="020B0604020202020204"/>
            </a:endParaRPr>
          </a:p>
          <a:p>
            <a:pPr marL="303530" marR="5080" indent="-291465">
              <a:lnSpc>
                <a:spcPct val="101000"/>
              </a:lnSpc>
              <a:spcBef>
                <a:spcPts val="670"/>
              </a:spcBef>
              <a:buClr>
                <a:srgbClr val="6697CC"/>
              </a:buClr>
              <a:buFont typeface="Arial MT"/>
              <a:buChar char="•"/>
              <a:tabLst>
                <a:tab pos="303530" algn="l"/>
              </a:tabLst>
            </a:pP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Ensemble</a:t>
            </a:r>
            <a:r>
              <a:rPr sz="23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45" dirty="0">
                <a:latin typeface="Microsoft Sans Serif" panose="020B0604020202020204"/>
                <a:cs typeface="Microsoft Sans Serif" panose="020B0604020202020204"/>
              </a:rPr>
              <a:t>learning</a:t>
            </a:r>
            <a:r>
              <a:rPr sz="23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350" spc="-80" dirty="0">
                <a:latin typeface="Microsoft Sans Serif" panose="020B0604020202020204"/>
                <a:cs typeface="Microsoft Sans Serif" panose="020B0604020202020204"/>
              </a:rPr>
              <a:t> a</a:t>
            </a:r>
            <a:r>
              <a:rPr sz="23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95" dirty="0">
                <a:latin typeface="Microsoft Sans Serif" panose="020B0604020202020204"/>
                <a:cs typeface="Microsoft Sans Serif" panose="020B0604020202020204"/>
              </a:rPr>
              <a:t>type</a:t>
            </a:r>
            <a:r>
              <a:rPr sz="23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17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3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45" dirty="0">
                <a:latin typeface="Microsoft Sans Serif" panose="020B0604020202020204"/>
                <a:cs typeface="Microsoft Sans Serif" panose="020B0604020202020204"/>
              </a:rPr>
              <a:t>learning</a:t>
            </a:r>
            <a:r>
              <a:rPr sz="23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60" dirty="0">
                <a:latin typeface="Microsoft Sans Serif" panose="020B0604020202020204"/>
                <a:cs typeface="Microsoft Sans Serif" panose="020B0604020202020204"/>
              </a:rPr>
              <a:t>where</a:t>
            </a:r>
            <a:r>
              <a:rPr sz="23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you</a:t>
            </a:r>
            <a:r>
              <a:rPr sz="23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40" dirty="0">
                <a:latin typeface="Microsoft Sans Serif" panose="020B0604020202020204"/>
                <a:cs typeface="Microsoft Sans Serif" panose="020B0604020202020204"/>
              </a:rPr>
              <a:t>join </a:t>
            </a:r>
            <a:r>
              <a:rPr sz="2350" spc="125" dirty="0">
                <a:latin typeface="Microsoft Sans Serif" panose="020B0604020202020204"/>
                <a:cs typeface="Microsoft Sans Serif" panose="020B0604020202020204"/>
              </a:rPr>
              <a:t>different</a:t>
            </a:r>
            <a:r>
              <a:rPr sz="23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55" dirty="0">
                <a:latin typeface="Microsoft Sans Serif" panose="020B0604020202020204"/>
                <a:cs typeface="Microsoft Sans Serif" panose="020B0604020202020204"/>
              </a:rPr>
              <a:t>types</a:t>
            </a:r>
            <a:r>
              <a:rPr sz="23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17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3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60" dirty="0">
                <a:latin typeface="Microsoft Sans Serif" panose="020B0604020202020204"/>
                <a:cs typeface="Microsoft Sans Serif" panose="020B0604020202020204"/>
              </a:rPr>
              <a:t>algorithms</a:t>
            </a:r>
            <a:r>
              <a:rPr sz="23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105" dirty="0">
                <a:latin typeface="Microsoft Sans Serif" panose="020B0604020202020204"/>
                <a:cs typeface="Microsoft Sans Serif" panose="020B0604020202020204"/>
              </a:rPr>
              <a:t>or</a:t>
            </a:r>
            <a:r>
              <a:rPr sz="23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20" dirty="0">
                <a:latin typeface="Microsoft Sans Serif" panose="020B0604020202020204"/>
                <a:cs typeface="Microsoft Sans Serif" panose="020B0604020202020204"/>
              </a:rPr>
              <a:t>same</a:t>
            </a:r>
            <a:r>
              <a:rPr sz="23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80" dirty="0">
                <a:latin typeface="Microsoft Sans Serif" panose="020B0604020202020204"/>
                <a:cs typeface="Microsoft Sans Serif" panose="020B0604020202020204"/>
              </a:rPr>
              <a:t>algorithm</a:t>
            </a:r>
            <a:r>
              <a:rPr sz="23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90" dirty="0">
                <a:latin typeface="Microsoft Sans Serif" panose="020B0604020202020204"/>
                <a:cs typeface="Microsoft Sans Serif" panose="020B0604020202020204"/>
              </a:rPr>
              <a:t>multiple </a:t>
            </a:r>
            <a:r>
              <a:rPr sz="2350" spc="65" dirty="0">
                <a:latin typeface="Microsoft Sans Serif" panose="020B0604020202020204"/>
                <a:cs typeface="Microsoft Sans Serif" panose="020B0604020202020204"/>
              </a:rPr>
              <a:t>times</a:t>
            </a:r>
            <a:r>
              <a:rPr sz="23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195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3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135" dirty="0">
                <a:latin typeface="Microsoft Sans Serif" panose="020B0604020202020204"/>
                <a:cs typeface="Microsoft Sans Serif" panose="020B0604020202020204"/>
              </a:rPr>
              <a:t>form</a:t>
            </a:r>
            <a:r>
              <a:rPr sz="2350" spc="-80" dirty="0">
                <a:latin typeface="Microsoft Sans Serif" panose="020B0604020202020204"/>
                <a:cs typeface="Microsoft Sans Serif" panose="020B0604020202020204"/>
              </a:rPr>
              <a:t> a</a:t>
            </a:r>
            <a:r>
              <a:rPr sz="23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70" dirty="0">
                <a:latin typeface="Microsoft Sans Serif" panose="020B0604020202020204"/>
                <a:cs typeface="Microsoft Sans Serif" panose="020B0604020202020204"/>
              </a:rPr>
              <a:t>more</a:t>
            </a:r>
            <a:r>
              <a:rPr sz="23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105" dirty="0">
                <a:latin typeface="Microsoft Sans Serif" panose="020B0604020202020204"/>
                <a:cs typeface="Microsoft Sans Serif" panose="020B0604020202020204"/>
              </a:rPr>
              <a:t>powerful</a:t>
            </a:r>
            <a:r>
              <a:rPr sz="23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75" dirty="0">
                <a:latin typeface="Microsoft Sans Serif" panose="020B0604020202020204"/>
                <a:cs typeface="Microsoft Sans Serif" panose="020B0604020202020204"/>
              </a:rPr>
              <a:t>prediction</a:t>
            </a:r>
            <a:r>
              <a:rPr sz="23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latin typeface="Microsoft Sans Serif" panose="020B0604020202020204"/>
                <a:cs typeface="Microsoft Sans Serif" panose="020B0604020202020204"/>
              </a:rPr>
              <a:t>model.</a:t>
            </a:r>
            <a:endParaRPr sz="2350">
              <a:latin typeface="Microsoft Sans Serif" panose="020B0604020202020204"/>
              <a:cs typeface="Microsoft Sans Serif" panose="020B0604020202020204"/>
            </a:endParaRPr>
          </a:p>
          <a:p>
            <a:pPr marL="303530" marR="262890" indent="-291465">
              <a:lnSpc>
                <a:spcPct val="101000"/>
              </a:lnSpc>
              <a:spcBef>
                <a:spcPts val="680"/>
              </a:spcBef>
              <a:buClr>
                <a:srgbClr val="6697CC"/>
              </a:buClr>
              <a:buFont typeface="Arial MT"/>
              <a:buChar char="•"/>
              <a:tabLst>
                <a:tab pos="303530" algn="l"/>
              </a:tabLst>
            </a:pP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50" dirty="0">
                <a:latin typeface="Microsoft Sans Serif" panose="020B0604020202020204"/>
                <a:cs typeface="Microsoft Sans Serif" panose="020B0604020202020204"/>
              </a:rPr>
              <a:t>random</a:t>
            </a:r>
            <a:r>
              <a:rPr sz="23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110" dirty="0">
                <a:latin typeface="Microsoft Sans Serif" panose="020B0604020202020204"/>
                <a:cs typeface="Microsoft Sans Serif" panose="020B0604020202020204"/>
              </a:rPr>
              <a:t>forest</a:t>
            </a:r>
            <a:r>
              <a:rPr sz="23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80" dirty="0">
                <a:latin typeface="Microsoft Sans Serif" panose="020B0604020202020204"/>
                <a:cs typeface="Microsoft Sans Serif" panose="020B0604020202020204"/>
              </a:rPr>
              <a:t>algorithm</a:t>
            </a:r>
            <a:r>
              <a:rPr sz="23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combines</a:t>
            </a:r>
            <a:r>
              <a:rPr sz="23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85" dirty="0">
                <a:latin typeface="Microsoft Sans Serif" panose="020B0604020202020204"/>
                <a:cs typeface="Microsoft Sans Serif" panose="020B0604020202020204"/>
              </a:rPr>
              <a:t>multiple </a:t>
            </a:r>
            <a:r>
              <a:rPr sz="2350" spc="80" dirty="0">
                <a:latin typeface="Microsoft Sans Serif" panose="020B0604020202020204"/>
                <a:cs typeface="Microsoft Sans Serif" panose="020B0604020202020204"/>
              </a:rPr>
              <a:t>algorithm</a:t>
            </a:r>
            <a:r>
              <a:rPr sz="23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17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3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114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20" dirty="0">
                <a:latin typeface="Microsoft Sans Serif" panose="020B0604020202020204"/>
                <a:cs typeface="Microsoft Sans Serif" panose="020B0604020202020204"/>
              </a:rPr>
              <a:t>same</a:t>
            </a:r>
            <a:r>
              <a:rPr sz="23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95" dirty="0">
                <a:latin typeface="Microsoft Sans Serif" panose="020B0604020202020204"/>
                <a:cs typeface="Microsoft Sans Serif" panose="020B0604020202020204"/>
              </a:rPr>
              <a:t>type</a:t>
            </a:r>
            <a:r>
              <a:rPr sz="23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i.e.</a:t>
            </a:r>
            <a:r>
              <a:rPr sz="23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95" dirty="0">
                <a:latin typeface="Microsoft Sans Serif" panose="020B0604020202020204"/>
                <a:cs typeface="Microsoft Sans Serif" panose="020B0604020202020204"/>
              </a:rPr>
              <a:t>multiple</a:t>
            </a:r>
            <a:r>
              <a:rPr sz="23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decision</a:t>
            </a:r>
            <a:r>
              <a:rPr sz="23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latin typeface="Microsoft Sans Serif" panose="020B0604020202020204"/>
                <a:cs typeface="Microsoft Sans Serif" panose="020B0604020202020204"/>
              </a:rPr>
              <a:t>trees, </a:t>
            </a:r>
            <a:r>
              <a:rPr sz="2350" spc="70" dirty="0">
                <a:latin typeface="Microsoft Sans Serif" panose="020B0604020202020204"/>
                <a:cs typeface="Microsoft Sans Serif" panose="020B0604020202020204"/>
              </a:rPr>
              <a:t>resulting</a:t>
            </a:r>
            <a:r>
              <a:rPr sz="23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55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3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8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3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105" dirty="0">
                <a:latin typeface="Microsoft Sans Serif" panose="020B0604020202020204"/>
                <a:cs typeface="Microsoft Sans Serif" panose="020B0604020202020204"/>
              </a:rPr>
              <a:t>forest</a:t>
            </a:r>
            <a:r>
              <a:rPr sz="23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17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3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trees,</a:t>
            </a:r>
            <a:r>
              <a:rPr sz="23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hence</a:t>
            </a:r>
            <a:r>
              <a:rPr sz="23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114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name</a:t>
            </a:r>
            <a:r>
              <a:rPr sz="23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latin typeface="Microsoft Sans Serif" panose="020B0604020202020204"/>
                <a:cs typeface="Microsoft Sans Serif" panose="020B0604020202020204"/>
              </a:rPr>
              <a:t>"Random Forest".</a:t>
            </a:r>
            <a:endParaRPr sz="2350">
              <a:latin typeface="Microsoft Sans Serif" panose="020B0604020202020204"/>
              <a:cs typeface="Microsoft Sans Serif" panose="020B0604020202020204"/>
            </a:endParaRPr>
          </a:p>
          <a:p>
            <a:pPr marL="303530" marR="902970" indent="-291465">
              <a:lnSpc>
                <a:spcPct val="101000"/>
              </a:lnSpc>
              <a:spcBef>
                <a:spcPts val="685"/>
              </a:spcBef>
              <a:buClr>
                <a:srgbClr val="6697CC"/>
              </a:buClr>
              <a:buFont typeface="Arial MT"/>
              <a:buChar char="•"/>
              <a:tabLst>
                <a:tab pos="303530" algn="l"/>
              </a:tabLst>
            </a:pP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50" dirty="0">
                <a:latin typeface="Microsoft Sans Serif" panose="020B0604020202020204"/>
                <a:cs typeface="Microsoft Sans Serif" panose="020B0604020202020204"/>
              </a:rPr>
              <a:t>random</a:t>
            </a:r>
            <a:r>
              <a:rPr sz="23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110" dirty="0">
                <a:latin typeface="Microsoft Sans Serif" panose="020B0604020202020204"/>
                <a:cs typeface="Microsoft Sans Serif" panose="020B0604020202020204"/>
              </a:rPr>
              <a:t>forest</a:t>
            </a:r>
            <a:r>
              <a:rPr sz="23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80" dirty="0">
                <a:latin typeface="Microsoft Sans Serif" panose="020B0604020202020204"/>
                <a:cs typeface="Microsoft Sans Serif" panose="020B0604020202020204"/>
              </a:rPr>
              <a:t>algorithm</a:t>
            </a:r>
            <a:r>
              <a:rPr sz="23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20" dirty="0">
                <a:latin typeface="Microsoft Sans Serif" panose="020B0604020202020204"/>
                <a:cs typeface="Microsoft Sans Serif" panose="020B0604020202020204"/>
              </a:rPr>
              <a:t>can</a:t>
            </a:r>
            <a:r>
              <a:rPr sz="23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be</a:t>
            </a:r>
            <a:r>
              <a:rPr sz="23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3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155" dirty="0"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3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105" dirty="0">
                <a:latin typeface="Microsoft Sans Serif" panose="020B0604020202020204"/>
                <a:cs typeface="Microsoft Sans Serif" panose="020B0604020202020204"/>
              </a:rPr>
              <a:t>both </a:t>
            </a: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regression</a:t>
            </a:r>
            <a:r>
              <a:rPr sz="2350" spc="1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350" spc="1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dirty="0">
                <a:latin typeface="Microsoft Sans Serif" panose="020B0604020202020204"/>
                <a:cs typeface="Microsoft Sans Serif" panose="020B0604020202020204"/>
              </a:rPr>
              <a:t>classification</a:t>
            </a:r>
            <a:r>
              <a:rPr sz="2350" spc="1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50" spc="-10" dirty="0">
                <a:latin typeface="Microsoft Sans Serif" panose="020B0604020202020204"/>
                <a:cs typeface="Microsoft Sans Serif" panose="020B0604020202020204"/>
              </a:rPr>
              <a:t>tasks.</a:t>
            </a:r>
            <a:endParaRPr sz="23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305560"/>
            <a:chOff x="0" y="0"/>
            <a:chExt cx="914400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0825" cy="1089025"/>
            </a:xfrm>
            <a:custGeom>
              <a:avLst/>
              <a:gdLst/>
              <a:ahLst/>
              <a:cxnLst/>
              <a:rect l="l" t="t" r="r" b="b"/>
              <a:pathLst>
                <a:path w="9140825" h="1089025">
                  <a:moveTo>
                    <a:pt x="0" y="1088999"/>
                  </a:moveTo>
                  <a:lnTo>
                    <a:pt x="9140761" y="1088999"/>
                  </a:lnTo>
                  <a:lnTo>
                    <a:pt x="9140761" y="0"/>
                  </a:lnTo>
                  <a:lnTo>
                    <a:pt x="0" y="0"/>
                  </a:lnTo>
                  <a:lnTo>
                    <a:pt x="0" y="108899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1088999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>
                  <a:moveTo>
                    <a:pt x="9143631" y="0"/>
                  </a:moveTo>
                  <a:lnTo>
                    <a:pt x="0" y="0"/>
                  </a:lnTo>
                  <a:lnTo>
                    <a:pt x="0" y="216001"/>
                  </a:lnTo>
                  <a:lnTo>
                    <a:pt x="9143631" y="216001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018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0"/>
                </a:move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lnTo>
                  <a:pt x="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How</a:t>
            </a:r>
            <a:r>
              <a:rPr spc="-130" dirty="0"/>
              <a:t> </a:t>
            </a:r>
            <a:r>
              <a:rPr spc="260" dirty="0"/>
              <a:t>it</a:t>
            </a:r>
            <a:r>
              <a:rPr spc="-114" dirty="0"/>
              <a:t> </a:t>
            </a:r>
            <a:r>
              <a:rPr spc="60" dirty="0"/>
              <a:t>works</a:t>
            </a:r>
            <a:r>
              <a:rPr spc="-120" dirty="0"/>
              <a:t> </a:t>
            </a:r>
            <a:r>
              <a:rPr spc="-610" dirty="0"/>
              <a:t>?</a:t>
            </a:r>
            <a:endParaRPr spc="-610" dirty="0"/>
          </a:p>
        </p:txBody>
      </p:sp>
      <p:sp>
        <p:nvSpPr>
          <p:cNvPr id="7" name="object 7"/>
          <p:cNvSpPr txBox="1"/>
          <p:nvPr/>
        </p:nvSpPr>
        <p:spPr>
          <a:xfrm>
            <a:off x="548640" y="1432552"/>
            <a:ext cx="7981315" cy="502348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83845" indent="-283845">
              <a:lnSpc>
                <a:spcPct val="100000"/>
              </a:lnSpc>
              <a:spcBef>
                <a:spcPts val="785"/>
              </a:spcBef>
              <a:buClr>
                <a:srgbClr val="6697CC"/>
              </a:buClr>
              <a:buFont typeface="Arial MT"/>
              <a:buChar char="•"/>
              <a:tabLst>
                <a:tab pos="283845" algn="l"/>
              </a:tabLst>
            </a:pPr>
            <a:r>
              <a:rPr sz="2300" spc="-20" dirty="0">
                <a:latin typeface="Microsoft Sans Serif" panose="020B0604020202020204"/>
                <a:cs typeface="Microsoft Sans Serif" panose="020B0604020202020204"/>
              </a:rPr>
              <a:t>Pick</a:t>
            </a:r>
            <a:r>
              <a:rPr sz="23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N</a:t>
            </a:r>
            <a:r>
              <a:rPr sz="23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55" dirty="0">
                <a:latin typeface="Microsoft Sans Serif" panose="020B0604020202020204"/>
                <a:cs typeface="Microsoft Sans Serif" panose="020B0604020202020204"/>
              </a:rPr>
              <a:t>random</a:t>
            </a:r>
            <a:r>
              <a:rPr sz="23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records</a:t>
            </a:r>
            <a:r>
              <a:rPr sz="23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25" dirty="0">
                <a:latin typeface="Microsoft Sans Serif" panose="020B0604020202020204"/>
                <a:cs typeface="Microsoft Sans Serif" panose="020B0604020202020204"/>
              </a:rPr>
              <a:t>from</a:t>
            </a:r>
            <a:r>
              <a:rPr sz="23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10" dirty="0">
                <a:latin typeface="Microsoft Sans Serif" panose="020B0604020202020204"/>
                <a:cs typeface="Microsoft Sans Serif" panose="020B0604020202020204"/>
              </a:rPr>
              <a:t>dataset.</a:t>
            </a:r>
            <a:endParaRPr sz="2300">
              <a:latin typeface="Microsoft Sans Serif" panose="020B0604020202020204"/>
              <a:cs typeface="Microsoft Sans Serif" panose="020B0604020202020204"/>
            </a:endParaRPr>
          </a:p>
          <a:p>
            <a:pPr marL="283845" indent="-283845">
              <a:lnSpc>
                <a:spcPct val="100000"/>
              </a:lnSpc>
              <a:spcBef>
                <a:spcPts val="695"/>
              </a:spcBef>
              <a:buClr>
                <a:srgbClr val="6697CC"/>
              </a:buClr>
              <a:buFont typeface="Arial MT"/>
              <a:buChar char="•"/>
              <a:tabLst>
                <a:tab pos="283845" algn="l"/>
              </a:tabLst>
            </a:pP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Build</a:t>
            </a:r>
            <a:r>
              <a:rPr sz="23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30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decision</a:t>
            </a:r>
            <a:r>
              <a:rPr sz="230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05" dirty="0">
                <a:latin typeface="Microsoft Sans Serif" panose="020B0604020202020204"/>
                <a:cs typeface="Microsoft Sans Serif" panose="020B0604020202020204"/>
              </a:rPr>
              <a:t>tree</a:t>
            </a:r>
            <a:r>
              <a:rPr sz="23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based</a:t>
            </a:r>
            <a:r>
              <a:rPr sz="230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60" dirty="0">
                <a:latin typeface="Microsoft Sans Serif" panose="020B0604020202020204"/>
                <a:cs typeface="Microsoft Sans Serif" panose="020B0604020202020204"/>
              </a:rPr>
              <a:t>on</a:t>
            </a:r>
            <a:r>
              <a:rPr sz="23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these</a:t>
            </a:r>
            <a:r>
              <a:rPr sz="230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N</a:t>
            </a:r>
            <a:r>
              <a:rPr sz="230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10" dirty="0">
                <a:latin typeface="Microsoft Sans Serif" panose="020B0604020202020204"/>
                <a:cs typeface="Microsoft Sans Serif" panose="020B0604020202020204"/>
              </a:rPr>
              <a:t>records.</a:t>
            </a:r>
            <a:endParaRPr sz="2300">
              <a:latin typeface="Microsoft Sans Serif" panose="020B0604020202020204"/>
              <a:cs typeface="Microsoft Sans Serif" panose="020B0604020202020204"/>
            </a:endParaRPr>
          </a:p>
          <a:p>
            <a:pPr marL="283845" marR="304165" indent="-284480">
              <a:lnSpc>
                <a:spcPct val="101000"/>
              </a:lnSpc>
              <a:spcBef>
                <a:spcPts val="655"/>
              </a:spcBef>
              <a:buClr>
                <a:srgbClr val="6697CC"/>
              </a:buClr>
              <a:buFont typeface="Arial MT"/>
              <a:buChar char="•"/>
              <a:tabLst>
                <a:tab pos="283845" algn="l"/>
              </a:tabLst>
            </a:pPr>
            <a:r>
              <a:rPr sz="2300" spc="-20" dirty="0">
                <a:latin typeface="Microsoft Sans Serif" panose="020B0604020202020204"/>
                <a:cs typeface="Microsoft Sans Serif" panose="020B0604020202020204"/>
              </a:rPr>
              <a:t>Choose</a:t>
            </a:r>
            <a:r>
              <a:rPr sz="23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65" dirty="0">
                <a:latin typeface="Microsoft Sans Serif" panose="020B0604020202020204"/>
                <a:cs typeface="Microsoft Sans Serif" panose="020B0604020202020204"/>
              </a:rPr>
              <a:t>number</a:t>
            </a:r>
            <a:r>
              <a:rPr sz="23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7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3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65" dirty="0">
                <a:latin typeface="Microsoft Sans Serif" panose="020B0604020202020204"/>
                <a:cs typeface="Microsoft Sans Serif" panose="020B0604020202020204"/>
              </a:rPr>
              <a:t>trees</a:t>
            </a:r>
            <a:r>
              <a:rPr sz="23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you</a:t>
            </a:r>
            <a:r>
              <a:rPr sz="23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95" dirty="0">
                <a:latin typeface="Microsoft Sans Serif" panose="020B0604020202020204"/>
                <a:cs typeface="Microsoft Sans Serif" panose="020B0604020202020204"/>
              </a:rPr>
              <a:t>want</a:t>
            </a:r>
            <a:r>
              <a:rPr sz="230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3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60" dirty="0">
                <a:latin typeface="Microsoft Sans Serif" panose="020B0604020202020204"/>
                <a:cs typeface="Microsoft Sans Serif" panose="020B0604020202020204"/>
              </a:rPr>
              <a:t>your</a:t>
            </a:r>
            <a:r>
              <a:rPr sz="23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70" dirty="0">
                <a:latin typeface="Microsoft Sans Serif" panose="020B0604020202020204"/>
                <a:cs typeface="Microsoft Sans Serif" panose="020B0604020202020204"/>
              </a:rPr>
              <a:t>algorithm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30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70" dirty="0">
                <a:latin typeface="Microsoft Sans Serif" panose="020B0604020202020204"/>
                <a:cs typeface="Microsoft Sans Serif" panose="020B0604020202020204"/>
              </a:rPr>
              <a:t>repeat</a:t>
            </a:r>
            <a:r>
              <a:rPr sz="23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steps</a:t>
            </a:r>
            <a:r>
              <a:rPr sz="230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1</a:t>
            </a:r>
            <a:r>
              <a:rPr sz="23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3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25" dirty="0">
                <a:latin typeface="Microsoft Sans Serif" panose="020B0604020202020204"/>
                <a:cs typeface="Microsoft Sans Serif" panose="020B0604020202020204"/>
              </a:rPr>
              <a:t>2.</a:t>
            </a:r>
            <a:endParaRPr sz="2300">
              <a:latin typeface="Microsoft Sans Serif" panose="020B0604020202020204"/>
              <a:cs typeface="Microsoft Sans Serif" panose="020B0604020202020204"/>
            </a:endParaRPr>
          </a:p>
          <a:p>
            <a:pPr marL="283845" indent="-284480">
              <a:lnSpc>
                <a:spcPct val="101000"/>
              </a:lnSpc>
              <a:spcBef>
                <a:spcPts val="660"/>
              </a:spcBef>
              <a:buClr>
                <a:srgbClr val="6697CC"/>
              </a:buClr>
              <a:buFont typeface="Arial MT"/>
              <a:buChar char="•"/>
              <a:tabLst>
                <a:tab pos="283845" algn="l"/>
              </a:tabLst>
            </a:pP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3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70" dirty="0">
                <a:latin typeface="Microsoft Sans Serif" panose="020B0604020202020204"/>
                <a:cs typeface="Microsoft Sans Serif" panose="020B0604020202020204"/>
              </a:rPr>
              <a:t>case</a:t>
            </a:r>
            <a:r>
              <a:rPr sz="23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6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3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3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regression</a:t>
            </a:r>
            <a:r>
              <a:rPr sz="23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60" dirty="0">
                <a:latin typeface="Microsoft Sans Serif" panose="020B0604020202020204"/>
                <a:cs typeface="Microsoft Sans Serif" panose="020B0604020202020204"/>
              </a:rPr>
              <a:t>problem,</a:t>
            </a:r>
            <a:r>
              <a:rPr sz="23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50" dirty="0"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3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3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60" dirty="0">
                <a:latin typeface="Microsoft Sans Serif" panose="020B0604020202020204"/>
                <a:cs typeface="Microsoft Sans Serif" panose="020B0604020202020204"/>
              </a:rPr>
              <a:t>new</a:t>
            </a:r>
            <a:r>
              <a:rPr sz="23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record,</a:t>
            </a:r>
            <a:r>
              <a:rPr sz="23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20" dirty="0">
                <a:latin typeface="Microsoft Sans Serif" panose="020B0604020202020204"/>
                <a:cs typeface="Microsoft Sans Serif" panose="020B0604020202020204"/>
              </a:rPr>
              <a:t>each </a:t>
            </a:r>
            <a:r>
              <a:rPr sz="2300" spc="105" dirty="0">
                <a:latin typeface="Microsoft Sans Serif" panose="020B0604020202020204"/>
                <a:cs typeface="Microsoft Sans Serif" panose="020B0604020202020204"/>
              </a:rPr>
              <a:t>tree</a:t>
            </a:r>
            <a:r>
              <a:rPr sz="23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3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05" dirty="0">
                <a:latin typeface="Microsoft Sans Serif" panose="020B0604020202020204"/>
                <a:cs typeface="Microsoft Sans Serif" panose="020B0604020202020204"/>
              </a:rPr>
              <a:t>forest</a:t>
            </a:r>
            <a:r>
              <a:rPr sz="23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55" dirty="0">
                <a:latin typeface="Microsoft Sans Serif" panose="020B0604020202020204"/>
                <a:cs typeface="Microsoft Sans Serif" panose="020B0604020202020204"/>
              </a:rPr>
              <a:t>predicts</a:t>
            </a:r>
            <a:r>
              <a:rPr sz="23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3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value</a:t>
            </a:r>
            <a:r>
              <a:rPr sz="23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55" dirty="0"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3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160" dirty="0">
                <a:latin typeface="Microsoft Sans Serif" panose="020B0604020202020204"/>
                <a:cs typeface="Microsoft Sans Serif" panose="020B0604020202020204"/>
              </a:rPr>
              <a:t>Y</a:t>
            </a:r>
            <a:r>
              <a:rPr sz="23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80" dirty="0">
                <a:latin typeface="Microsoft Sans Serif" panose="020B0604020202020204"/>
                <a:cs typeface="Microsoft Sans Serif" panose="020B0604020202020204"/>
              </a:rPr>
              <a:t>(output).</a:t>
            </a:r>
            <a:r>
              <a:rPr sz="23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60" dirty="0">
                <a:latin typeface="Microsoft Sans Serif" panose="020B0604020202020204"/>
                <a:cs typeface="Microsoft Sans Serif" panose="020B0604020202020204"/>
              </a:rPr>
              <a:t>final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value </a:t>
            </a:r>
            <a:r>
              <a:rPr sz="2300" spc="-20" dirty="0">
                <a:latin typeface="Microsoft Sans Serif" panose="020B0604020202020204"/>
                <a:cs typeface="Microsoft Sans Serif" panose="020B0604020202020204"/>
              </a:rPr>
              <a:t>can</a:t>
            </a:r>
            <a:r>
              <a:rPr sz="230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50" dirty="0">
                <a:latin typeface="Microsoft Sans Serif" panose="020B0604020202020204"/>
                <a:cs typeface="Microsoft Sans Serif" panose="020B0604020202020204"/>
              </a:rPr>
              <a:t>be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 calculated</a:t>
            </a:r>
            <a:r>
              <a:rPr sz="230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by</a:t>
            </a:r>
            <a:r>
              <a:rPr sz="230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70" dirty="0">
                <a:latin typeface="Microsoft Sans Serif" panose="020B0604020202020204"/>
                <a:cs typeface="Microsoft Sans Serif" panose="020B0604020202020204"/>
              </a:rPr>
              <a:t>taking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0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 average </a:t>
            </a:r>
            <a:r>
              <a:rPr sz="2300" spc="17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30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all</a:t>
            </a:r>
            <a:r>
              <a:rPr sz="230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85" dirty="0">
                <a:latin typeface="Microsoft Sans Serif" panose="020B0604020202020204"/>
                <a:cs typeface="Microsoft Sans Serif" panose="020B0604020202020204"/>
              </a:rPr>
              <a:t>the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values</a:t>
            </a:r>
            <a:r>
              <a:rPr sz="23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75" dirty="0">
                <a:latin typeface="Microsoft Sans Serif" panose="020B0604020202020204"/>
                <a:cs typeface="Microsoft Sans Serif" panose="020B0604020202020204"/>
              </a:rPr>
              <a:t>predicted</a:t>
            </a:r>
            <a:r>
              <a:rPr sz="23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by</a:t>
            </a:r>
            <a:r>
              <a:rPr sz="23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all</a:t>
            </a:r>
            <a:r>
              <a:rPr sz="23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60" dirty="0">
                <a:latin typeface="Microsoft Sans Serif" panose="020B0604020202020204"/>
                <a:cs typeface="Microsoft Sans Serif" panose="020B0604020202020204"/>
              </a:rPr>
              <a:t>trees</a:t>
            </a:r>
            <a:r>
              <a:rPr sz="23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3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80" dirty="0">
                <a:latin typeface="Microsoft Sans Serif" panose="020B0604020202020204"/>
                <a:cs typeface="Microsoft Sans Serif" panose="020B0604020202020204"/>
              </a:rPr>
              <a:t>forest.</a:t>
            </a:r>
            <a:r>
              <a:rPr sz="23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Or,</a:t>
            </a:r>
            <a:r>
              <a:rPr sz="23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3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70" dirty="0">
                <a:latin typeface="Microsoft Sans Serif" panose="020B0604020202020204"/>
                <a:cs typeface="Microsoft Sans Serif" panose="020B0604020202020204"/>
              </a:rPr>
              <a:t>case</a:t>
            </a:r>
            <a:r>
              <a:rPr sz="23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7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30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50" dirty="0">
                <a:latin typeface="Microsoft Sans Serif" panose="020B0604020202020204"/>
                <a:cs typeface="Microsoft Sans Serif" panose="020B0604020202020204"/>
              </a:rPr>
              <a:t>a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classification</a:t>
            </a:r>
            <a:r>
              <a:rPr sz="23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60" dirty="0">
                <a:latin typeface="Microsoft Sans Serif" panose="020B0604020202020204"/>
                <a:cs typeface="Microsoft Sans Serif" panose="020B0604020202020204"/>
              </a:rPr>
              <a:t>problem,</a:t>
            </a:r>
            <a:r>
              <a:rPr sz="23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10" dirty="0">
                <a:latin typeface="Microsoft Sans Serif" panose="020B0604020202020204"/>
                <a:cs typeface="Microsoft Sans Serif" panose="020B0604020202020204"/>
              </a:rPr>
              <a:t>each</a:t>
            </a:r>
            <a:r>
              <a:rPr sz="23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05" dirty="0">
                <a:latin typeface="Microsoft Sans Serif" panose="020B0604020202020204"/>
                <a:cs typeface="Microsoft Sans Serif" panose="020B0604020202020204"/>
              </a:rPr>
              <a:t>tree</a:t>
            </a:r>
            <a:r>
              <a:rPr sz="230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in </a:t>
            </a:r>
            <a:r>
              <a:rPr sz="230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05" dirty="0">
                <a:latin typeface="Microsoft Sans Serif" panose="020B0604020202020204"/>
                <a:cs typeface="Microsoft Sans Serif" panose="020B0604020202020204"/>
              </a:rPr>
              <a:t>forest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50" dirty="0">
                <a:latin typeface="Microsoft Sans Serif" panose="020B0604020202020204"/>
                <a:cs typeface="Microsoft Sans Serif" panose="020B0604020202020204"/>
              </a:rPr>
              <a:t>predicts</a:t>
            </a:r>
            <a:r>
              <a:rPr sz="23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85" dirty="0">
                <a:latin typeface="Microsoft Sans Serif" panose="020B0604020202020204"/>
                <a:cs typeface="Microsoft Sans Serif" panose="020B0604020202020204"/>
              </a:rPr>
              <a:t>the </a:t>
            </a:r>
            <a:r>
              <a:rPr sz="2300" spc="50" dirty="0">
                <a:latin typeface="Microsoft Sans Serif" panose="020B0604020202020204"/>
                <a:cs typeface="Microsoft Sans Serif" panose="020B0604020202020204"/>
              </a:rPr>
              <a:t>category</a:t>
            </a:r>
            <a:r>
              <a:rPr sz="230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85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30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which</a:t>
            </a:r>
            <a:r>
              <a:rPr sz="23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0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60" dirty="0">
                <a:latin typeface="Microsoft Sans Serif" panose="020B0604020202020204"/>
                <a:cs typeface="Microsoft Sans Serif" panose="020B0604020202020204"/>
              </a:rPr>
              <a:t>new</a:t>
            </a:r>
            <a:r>
              <a:rPr sz="23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55" dirty="0">
                <a:latin typeface="Microsoft Sans Serif" panose="020B0604020202020204"/>
                <a:cs typeface="Microsoft Sans Serif" panose="020B0604020202020204"/>
              </a:rPr>
              <a:t>record</a:t>
            </a:r>
            <a:r>
              <a:rPr sz="230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belongs.</a:t>
            </a:r>
            <a:r>
              <a:rPr sz="23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Finally,</a:t>
            </a:r>
            <a:r>
              <a:rPr sz="23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85" dirty="0">
                <a:latin typeface="Microsoft Sans Serif" panose="020B0604020202020204"/>
                <a:cs typeface="Microsoft Sans Serif" panose="020B0604020202020204"/>
              </a:rPr>
              <a:t>the </a:t>
            </a:r>
            <a:r>
              <a:rPr sz="2300" spc="60" dirty="0">
                <a:latin typeface="Microsoft Sans Serif" panose="020B0604020202020204"/>
                <a:cs typeface="Microsoft Sans Serif" panose="020B0604020202020204"/>
              </a:rPr>
              <a:t>new</a:t>
            </a:r>
            <a:r>
              <a:rPr sz="23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55" dirty="0">
                <a:latin typeface="Microsoft Sans Serif" panose="020B0604020202020204"/>
                <a:cs typeface="Microsoft Sans Serif" panose="020B0604020202020204"/>
              </a:rPr>
              <a:t>record</a:t>
            </a:r>
            <a:r>
              <a:rPr sz="23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1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3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10" dirty="0">
                <a:latin typeface="Microsoft Sans Serif" panose="020B0604020202020204"/>
                <a:cs typeface="Microsoft Sans Serif" panose="020B0604020202020204"/>
              </a:rPr>
              <a:t>assigned</a:t>
            </a:r>
            <a:r>
              <a:rPr sz="23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90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3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50" dirty="0">
                <a:latin typeface="Microsoft Sans Serif" panose="020B0604020202020204"/>
                <a:cs typeface="Microsoft Sans Serif" panose="020B0604020202020204"/>
              </a:rPr>
              <a:t>category</a:t>
            </a:r>
            <a:r>
              <a:rPr sz="23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135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3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wins</a:t>
            </a:r>
            <a:r>
              <a:rPr sz="23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85" dirty="0">
                <a:latin typeface="Microsoft Sans Serif" panose="020B0604020202020204"/>
                <a:cs typeface="Microsoft Sans Serif" panose="020B0604020202020204"/>
              </a:rPr>
              <a:t>the </a:t>
            </a:r>
            <a:r>
              <a:rPr sz="2300" spc="70" dirty="0">
                <a:latin typeface="Microsoft Sans Serif" panose="020B0604020202020204"/>
                <a:cs typeface="Microsoft Sans Serif" panose="020B0604020202020204"/>
              </a:rPr>
              <a:t>majority</a:t>
            </a:r>
            <a:r>
              <a:rPr sz="23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55" dirty="0">
                <a:latin typeface="Microsoft Sans Serif" panose="020B0604020202020204"/>
                <a:cs typeface="Microsoft Sans Serif" panose="020B0604020202020204"/>
              </a:rPr>
              <a:t>vote.</a:t>
            </a:r>
            <a:endParaRPr sz="2300">
              <a:latin typeface="Microsoft Sans Serif" panose="020B0604020202020204"/>
              <a:cs typeface="Microsoft Sans Serif" panose="020B0604020202020204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r>
              <a:rPr sz="23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1996" y="6192354"/>
            <a:ext cx="1799996" cy="5039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24002" y="1432445"/>
            <a:ext cx="8513635" cy="48311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Majority</a:t>
            </a:r>
            <a:r>
              <a:rPr spc="-130" dirty="0"/>
              <a:t> </a:t>
            </a:r>
            <a:r>
              <a:rPr spc="110" dirty="0"/>
              <a:t>Voting</a:t>
            </a:r>
            <a:endParaRPr spc="1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08178" y="6080658"/>
            <a:ext cx="2181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3366"/>
                </a:solidFill>
                <a:latin typeface="Arial MT"/>
                <a:cs typeface="Arial MT"/>
              </a:rPr>
              <a:t>Source:</a:t>
            </a:r>
            <a:r>
              <a:rPr sz="1800" spc="-35" dirty="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3366"/>
                </a:solidFill>
                <a:latin typeface="Arial MT"/>
                <a:cs typeface="Arial MT"/>
              </a:rPr>
              <a:t>medium.com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Regressor</a:t>
            </a:r>
            <a:r>
              <a:rPr spc="-225" dirty="0"/>
              <a:t> </a:t>
            </a:r>
            <a:r>
              <a:rPr spc="170" dirty="0"/>
              <a:t>Output</a:t>
            </a:r>
            <a:endParaRPr spc="17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08178" y="6080658"/>
            <a:ext cx="2181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3366"/>
                </a:solidFill>
                <a:latin typeface="Arial MT"/>
                <a:cs typeface="Arial MT"/>
              </a:rPr>
              <a:t>Source:</a:t>
            </a:r>
            <a:r>
              <a:rPr sz="1800" spc="-35" dirty="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3366"/>
                </a:solidFill>
                <a:latin typeface="Arial MT"/>
                <a:cs typeface="Arial MT"/>
              </a:rPr>
              <a:t>medium.com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208" y="1501953"/>
            <a:ext cx="6775333" cy="441632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Boosting</a:t>
            </a:r>
            <a:endParaRPr spc="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69580" cy="4537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2415" marR="334010" indent="-260350">
              <a:lnSpc>
                <a:spcPct val="101000"/>
              </a:lnSpc>
              <a:spcBef>
                <a:spcPts val="105"/>
              </a:spcBef>
              <a:buClr>
                <a:srgbClr val="6697CC"/>
              </a:buClr>
              <a:buFont typeface="Arial MT"/>
              <a:buChar char="•"/>
              <a:tabLst>
                <a:tab pos="272415" algn="l"/>
              </a:tabLst>
            </a:pPr>
            <a:r>
              <a:rPr sz="2100" spc="55" dirty="0">
                <a:latin typeface="Microsoft Sans Serif" panose="020B0604020202020204"/>
                <a:cs typeface="Microsoft Sans Serif" panose="020B0604020202020204"/>
              </a:rPr>
              <a:t>Boosting</a:t>
            </a:r>
            <a:r>
              <a:rPr sz="21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55" dirty="0">
                <a:latin typeface="Microsoft Sans Serif" panose="020B0604020202020204"/>
                <a:cs typeface="Microsoft Sans Serif" panose="020B0604020202020204"/>
              </a:rPr>
              <a:t>algorithms</a:t>
            </a:r>
            <a:r>
              <a:rPr sz="21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21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1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50" dirty="0">
                <a:latin typeface="Microsoft Sans Serif" panose="020B0604020202020204"/>
                <a:cs typeface="Microsoft Sans Serif" panose="020B0604020202020204"/>
              </a:rPr>
              <a:t>set</a:t>
            </a:r>
            <a:r>
              <a:rPr sz="21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5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1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0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1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00" dirty="0">
                <a:latin typeface="Microsoft Sans Serif" panose="020B0604020202020204"/>
                <a:cs typeface="Microsoft Sans Serif" panose="020B0604020202020204"/>
              </a:rPr>
              <a:t>low</a:t>
            </a:r>
            <a:r>
              <a:rPr sz="210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accurate</a:t>
            </a:r>
            <a:r>
              <a:rPr sz="21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classifier</a:t>
            </a:r>
            <a:r>
              <a:rPr sz="21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45" dirty="0">
                <a:latin typeface="Microsoft Sans Serif" panose="020B0604020202020204"/>
                <a:cs typeface="Microsoft Sans Serif" panose="020B0604020202020204"/>
              </a:rPr>
              <a:t>to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create</a:t>
            </a:r>
            <a:r>
              <a:rPr sz="2100" spc="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100" spc="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highly</a:t>
            </a:r>
            <a:r>
              <a:rPr sz="2100" spc="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accurate</a:t>
            </a:r>
            <a:r>
              <a:rPr sz="2100" spc="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-10" dirty="0">
                <a:latin typeface="Microsoft Sans Serif" panose="020B0604020202020204"/>
                <a:cs typeface="Microsoft Sans Serif" panose="020B0604020202020204"/>
              </a:rPr>
              <a:t>classifier.</a:t>
            </a:r>
            <a:endParaRPr sz="2100">
              <a:latin typeface="Microsoft Sans Serif" panose="020B0604020202020204"/>
              <a:cs typeface="Microsoft Sans Serif" panose="020B0604020202020204"/>
            </a:endParaRPr>
          </a:p>
          <a:p>
            <a:pPr marL="272415" marR="305435" indent="-260350">
              <a:lnSpc>
                <a:spcPct val="101000"/>
              </a:lnSpc>
              <a:spcBef>
                <a:spcPts val="605"/>
              </a:spcBef>
              <a:buClr>
                <a:srgbClr val="6697CC"/>
              </a:buClr>
              <a:buFont typeface="Arial MT"/>
              <a:buChar char="•"/>
              <a:tabLst>
                <a:tab pos="272415" algn="l"/>
              </a:tabLst>
            </a:pPr>
            <a:r>
              <a:rPr sz="2100" spc="50" dirty="0">
                <a:latin typeface="Microsoft Sans Serif" panose="020B0604020202020204"/>
                <a:cs typeface="Microsoft Sans Serif" panose="020B0604020202020204"/>
              </a:rPr>
              <a:t>Low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-20" dirty="0">
                <a:latin typeface="Microsoft Sans Serif" panose="020B0604020202020204"/>
                <a:cs typeface="Microsoft Sans Serif" panose="020B0604020202020204"/>
              </a:rPr>
              <a:t>accuracy</a:t>
            </a:r>
            <a:r>
              <a:rPr sz="210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classifier</a:t>
            </a:r>
            <a:r>
              <a:rPr sz="210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55" dirty="0">
                <a:latin typeface="Microsoft Sans Serif" panose="020B0604020202020204"/>
                <a:cs typeface="Microsoft Sans Serif" panose="020B0604020202020204"/>
              </a:rPr>
              <a:t>(or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 weak classifier)</a:t>
            </a:r>
            <a:r>
              <a:rPr sz="21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90" dirty="0">
                <a:latin typeface="Microsoft Sans Serif" panose="020B0604020202020204"/>
                <a:cs typeface="Microsoft Sans Serif" panose="020B0604020202020204"/>
              </a:rPr>
              <a:t>offers</a:t>
            </a:r>
            <a:r>
              <a:rPr sz="210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0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-10" dirty="0">
                <a:latin typeface="Microsoft Sans Serif" panose="020B0604020202020204"/>
                <a:cs typeface="Microsoft Sans Serif" panose="020B0604020202020204"/>
              </a:rPr>
              <a:t>accuracy </a:t>
            </a:r>
            <a:r>
              <a:rPr sz="2100" spc="125" dirty="0">
                <a:latin typeface="Microsoft Sans Serif" panose="020B0604020202020204"/>
                <a:cs typeface="Microsoft Sans Serif" panose="020B0604020202020204"/>
              </a:rPr>
              <a:t>better</a:t>
            </a:r>
            <a:r>
              <a:rPr sz="21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65" dirty="0">
                <a:latin typeface="Microsoft Sans Serif" panose="020B0604020202020204"/>
                <a:cs typeface="Microsoft Sans Serif" panose="020B0604020202020204"/>
              </a:rPr>
              <a:t>than</a:t>
            </a:r>
            <a:r>
              <a:rPr sz="21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0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1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85" dirty="0">
                <a:latin typeface="Microsoft Sans Serif" panose="020B0604020202020204"/>
                <a:cs typeface="Microsoft Sans Serif" panose="020B0604020202020204"/>
              </a:rPr>
              <a:t>flipping</a:t>
            </a:r>
            <a:r>
              <a:rPr sz="21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5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1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1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-10" dirty="0">
                <a:latin typeface="Microsoft Sans Serif" panose="020B0604020202020204"/>
                <a:cs typeface="Microsoft Sans Serif" panose="020B0604020202020204"/>
              </a:rPr>
              <a:t>coin.</a:t>
            </a:r>
            <a:endParaRPr sz="2100">
              <a:latin typeface="Microsoft Sans Serif" panose="020B0604020202020204"/>
              <a:cs typeface="Microsoft Sans Serif" panose="020B0604020202020204"/>
            </a:endParaRPr>
          </a:p>
          <a:p>
            <a:pPr marL="272415" marR="5080" indent="-260350">
              <a:lnSpc>
                <a:spcPct val="101000"/>
              </a:lnSpc>
              <a:spcBef>
                <a:spcPts val="605"/>
              </a:spcBef>
              <a:buClr>
                <a:srgbClr val="6697CC"/>
              </a:buClr>
              <a:buFont typeface="Arial MT"/>
              <a:buChar char="•"/>
              <a:tabLst>
                <a:tab pos="272415" algn="l"/>
              </a:tabLst>
            </a:pPr>
            <a:r>
              <a:rPr sz="2100" spc="-20" dirty="0">
                <a:latin typeface="Microsoft Sans Serif" panose="020B0604020202020204"/>
                <a:cs typeface="Microsoft Sans Serif" panose="020B0604020202020204"/>
              </a:rPr>
              <a:t>This</a:t>
            </a:r>
            <a:r>
              <a:rPr sz="21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10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55" dirty="0">
                <a:latin typeface="Microsoft Sans Serif" panose="020B0604020202020204"/>
                <a:cs typeface="Microsoft Sans Serif" panose="020B0604020202020204"/>
              </a:rPr>
              <a:t>done</a:t>
            </a:r>
            <a:r>
              <a:rPr sz="21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by</a:t>
            </a:r>
            <a:r>
              <a:rPr sz="210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65" dirty="0">
                <a:latin typeface="Microsoft Sans Serif" panose="020B0604020202020204"/>
                <a:cs typeface="Microsoft Sans Serif" panose="020B0604020202020204"/>
              </a:rPr>
              <a:t>building</a:t>
            </a:r>
            <a:r>
              <a:rPr sz="21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1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65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1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20" dirty="0">
                <a:latin typeface="Microsoft Sans Serif" panose="020B0604020202020204"/>
                <a:cs typeface="Microsoft Sans Serif" panose="020B0604020202020204"/>
              </a:rPr>
              <a:t>from</a:t>
            </a:r>
            <a:r>
              <a:rPr sz="21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0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1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70" dirty="0">
                <a:latin typeface="Microsoft Sans Serif" panose="020B0604020202020204"/>
                <a:cs typeface="Microsoft Sans Serif" panose="020B0604020202020204"/>
              </a:rPr>
              <a:t>training</a:t>
            </a:r>
            <a:r>
              <a:rPr sz="21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data,</a:t>
            </a:r>
            <a:r>
              <a:rPr sz="21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70" dirty="0">
                <a:latin typeface="Microsoft Sans Serif" panose="020B0604020202020204"/>
                <a:cs typeface="Microsoft Sans Serif" panose="020B0604020202020204"/>
              </a:rPr>
              <a:t>then </a:t>
            </a:r>
            <a:r>
              <a:rPr sz="2100" spc="50" dirty="0">
                <a:latin typeface="Microsoft Sans Serif" panose="020B0604020202020204"/>
                <a:cs typeface="Microsoft Sans Serif" panose="020B0604020202020204"/>
              </a:rPr>
              <a:t>creating</a:t>
            </a:r>
            <a:r>
              <a:rPr sz="21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1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second</a:t>
            </a:r>
            <a:r>
              <a:rPr sz="21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65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1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20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1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90" dirty="0">
                <a:latin typeface="Microsoft Sans Serif" panose="020B0604020202020204"/>
                <a:cs typeface="Microsoft Sans Serif" panose="020B0604020202020204"/>
              </a:rPr>
              <a:t>attempts</a:t>
            </a:r>
            <a:r>
              <a:rPr sz="21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70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1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60" dirty="0">
                <a:latin typeface="Microsoft Sans Serif" panose="020B0604020202020204"/>
                <a:cs typeface="Microsoft Sans Serif" panose="020B0604020202020204"/>
              </a:rPr>
              <a:t>correct</a:t>
            </a:r>
            <a:r>
              <a:rPr sz="21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0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1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40" dirty="0">
                <a:latin typeface="Microsoft Sans Serif" panose="020B0604020202020204"/>
                <a:cs typeface="Microsoft Sans Serif" panose="020B0604020202020204"/>
              </a:rPr>
              <a:t>errors </a:t>
            </a:r>
            <a:r>
              <a:rPr sz="2100" spc="120" dirty="0">
                <a:latin typeface="Microsoft Sans Serif" panose="020B0604020202020204"/>
                <a:cs typeface="Microsoft Sans Serif" panose="020B0604020202020204"/>
              </a:rPr>
              <a:t>from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0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10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10" dirty="0">
                <a:latin typeface="Microsoft Sans Serif" panose="020B0604020202020204"/>
                <a:cs typeface="Microsoft Sans Serif" panose="020B0604020202020204"/>
              </a:rPr>
              <a:t>first</a:t>
            </a:r>
            <a:r>
              <a:rPr sz="210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model.</a:t>
            </a:r>
            <a:r>
              <a:rPr sz="210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Models are added</a:t>
            </a:r>
            <a:r>
              <a:rPr sz="210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05" dirty="0">
                <a:latin typeface="Microsoft Sans Serif" panose="020B0604020202020204"/>
                <a:cs typeface="Microsoft Sans Serif" panose="020B0604020202020204"/>
              </a:rPr>
              <a:t>until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0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70" dirty="0">
                <a:latin typeface="Microsoft Sans Serif" panose="020B0604020202020204"/>
                <a:cs typeface="Microsoft Sans Serif" panose="020B0604020202020204"/>
              </a:rPr>
              <a:t>training</a:t>
            </a:r>
            <a:r>
              <a:rPr sz="210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55" dirty="0">
                <a:latin typeface="Microsoft Sans Serif" panose="020B0604020202020204"/>
                <a:cs typeface="Microsoft Sans Serif" panose="020B0604020202020204"/>
              </a:rPr>
              <a:t>set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-25" dirty="0">
                <a:latin typeface="Microsoft Sans Serif" panose="020B0604020202020204"/>
                <a:cs typeface="Microsoft Sans Serif" panose="020B0604020202020204"/>
              </a:rPr>
              <a:t>is </a:t>
            </a:r>
            <a:r>
              <a:rPr sz="2100" spc="70" dirty="0">
                <a:latin typeface="Microsoft Sans Serif" panose="020B0604020202020204"/>
                <a:cs typeface="Microsoft Sans Serif" panose="020B0604020202020204"/>
              </a:rPr>
              <a:t>predicted</a:t>
            </a:r>
            <a:r>
              <a:rPr sz="21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80" dirty="0">
                <a:latin typeface="Microsoft Sans Serif" panose="020B0604020202020204"/>
                <a:cs typeface="Microsoft Sans Serif" panose="020B0604020202020204"/>
              </a:rPr>
              <a:t>perfectly</a:t>
            </a:r>
            <a:r>
              <a:rPr sz="21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00" dirty="0">
                <a:latin typeface="Microsoft Sans Serif" panose="020B0604020202020204"/>
                <a:cs typeface="Microsoft Sans Serif" panose="020B0604020202020204"/>
              </a:rPr>
              <a:t>or</a:t>
            </a:r>
            <a:r>
              <a:rPr sz="21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-6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1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maximum</a:t>
            </a:r>
            <a:r>
              <a:rPr sz="21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65" dirty="0">
                <a:latin typeface="Microsoft Sans Serif" panose="020B0604020202020204"/>
                <a:cs typeface="Microsoft Sans Serif" panose="020B0604020202020204"/>
              </a:rPr>
              <a:t>number</a:t>
            </a:r>
            <a:r>
              <a:rPr sz="21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5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1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models</a:t>
            </a:r>
            <a:r>
              <a:rPr sz="210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2100" spc="-10" dirty="0">
                <a:latin typeface="Microsoft Sans Serif" panose="020B0604020202020204"/>
                <a:cs typeface="Microsoft Sans Serif" panose="020B0604020202020204"/>
              </a:rPr>
              <a:t> added.</a:t>
            </a:r>
            <a:endParaRPr sz="2100">
              <a:latin typeface="Microsoft Sans Serif" panose="020B0604020202020204"/>
              <a:cs typeface="Microsoft Sans Serif" panose="020B0604020202020204"/>
            </a:endParaRPr>
          </a:p>
          <a:p>
            <a:pPr marL="272415" marR="321945" indent="-260350" algn="just">
              <a:lnSpc>
                <a:spcPct val="101000"/>
              </a:lnSpc>
              <a:spcBef>
                <a:spcPts val="605"/>
              </a:spcBef>
              <a:buClr>
                <a:srgbClr val="6697CC"/>
              </a:buClr>
              <a:buFont typeface="Arial MT"/>
              <a:buChar char="•"/>
              <a:tabLst>
                <a:tab pos="272415" algn="l"/>
              </a:tabLst>
            </a:pP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Highly</a:t>
            </a:r>
            <a:r>
              <a:rPr sz="2100" spc="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accurate</a:t>
            </a:r>
            <a:r>
              <a:rPr sz="2100" spc="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classifier(</a:t>
            </a:r>
            <a:r>
              <a:rPr sz="2100" spc="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95" dirty="0">
                <a:latin typeface="Microsoft Sans Serif" panose="020B0604020202020204"/>
                <a:cs typeface="Microsoft Sans Serif" panose="020B0604020202020204"/>
              </a:rPr>
              <a:t>or</a:t>
            </a:r>
            <a:r>
              <a:rPr sz="2100" spc="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75" dirty="0">
                <a:latin typeface="Microsoft Sans Serif" panose="020B0604020202020204"/>
                <a:cs typeface="Microsoft Sans Serif" panose="020B0604020202020204"/>
              </a:rPr>
              <a:t>strong</a:t>
            </a:r>
            <a:r>
              <a:rPr sz="2100" spc="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classifier)</a:t>
            </a:r>
            <a:r>
              <a:rPr sz="2100" spc="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35" dirty="0">
                <a:latin typeface="Microsoft Sans Serif" panose="020B0604020202020204"/>
                <a:cs typeface="Microsoft Sans Serif" panose="020B0604020202020204"/>
              </a:rPr>
              <a:t>offer</a:t>
            </a:r>
            <a:r>
              <a:rPr sz="2100" spc="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90" dirty="0">
                <a:latin typeface="Microsoft Sans Serif" panose="020B0604020202020204"/>
                <a:cs typeface="Microsoft Sans Serif" panose="020B0604020202020204"/>
              </a:rPr>
              <a:t>error</a:t>
            </a:r>
            <a:r>
              <a:rPr sz="2100" spc="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55" dirty="0">
                <a:latin typeface="Microsoft Sans Serif" panose="020B0604020202020204"/>
                <a:cs typeface="Microsoft Sans Serif" panose="020B0604020202020204"/>
              </a:rPr>
              <a:t>rate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close</a:t>
            </a:r>
            <a:r>
              <a:rPr sz="21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70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1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0.</a:t>
            </a:r>
            <a:r>
              <a:rPr sz="21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55" dirty="0">
                <a:latin typeface="Microsoft Sans Serif" panose="020B0604020202020204"/>
                <a:cs typeface="Microsoft Sans Serif" panose="020B0604020202020204"/>
              </a:rPr>
              <a:t>Boosting</a:t>
            </a:r>
            <a:r>
              <a:rPr sz="21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75" dirty="0">
                <a:latin typeface="Microsoft Sans Serif" panose="020B0604020202020204"/>
                <a:cs typeface="Microsoft Sans Serif" panose="020B0604020202020204"/>
              </a:rPr>
              <a:t>algorithm</a:t>
            </a:r>
            <a:r>
              <a:rPr sz="21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-10" dirty="0">
                <a:latin typeface="Microsoft Sans Serif" panose="020B0604020202020204"/>
                <a:cs typeface="Microsoft Sans Serif" panose="020B0604020202020204"/>
              </a:rPr>
              <a:t>can</a:t>
            </a:r>
            <a:r>
              <a:rPr sz="21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55" dirty="0">
                <a:latin typeface="Microsoft Sans Serif" panose="020B0604020202020204"/>
                <a:cs typeface="Microsoft Sans Serif" panose="020B0604020202020204"/>
              </a:rPr>
              <a:t>track</a:t>
            </a:r>
            <a:r>
              <a:rPr sz="210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0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1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65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1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85" dirty="0">
                <a:latin typeface="Microsoft Sans Serif" panose="020B0604020202020204"/>
                <a:cs typeface="Microsoft Sans Serif" panose="020B0604020202020204"/>
              </a:rPr>
              <a:t>who</a:t>
            </a:r>
            <a:r>
              <a:rPr sz="21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60" dirty="0">
                <a:latin typeface="Microsoft Sans Serif" panose="020B0604020202020204"/>
                <a:cs typeface="Microsoft Sans Serif" panose="020B0604020202020204"/>
              </a:rPr>
              <a:t>failed </a:t>
            </a:r>
            <a:r>
              <a:rPr sz="2100" spc="10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100" spc="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accurate</a:t>
            </a:r>
            <a:r>
              <a:rPr sz="2100" spc="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45" dirty="0">
                <a:latin typeface="Microsoft Sans Serif" panose="020B0604020202020204"/>
                <a:cs typeface="Microsoft Sans Serif" panose="020B0604020202020204"/>
              </a:rPr>
              <a:t>prediction.</a:t>
            </a:r>
            <a:endParaRPr sz="2100">
              <a:latin typeface="Microsoft Sans Serif" panose="020B0604020202020204"/>
              <a:cs typeface="Microsoft Sans Serif" panose="020B0604020202020204"/>
            </a:endParaRPr>
          </a:p>
          <a:p>
            <a:pPr marL="272415" marR="1017270" indent="-260350" algn="just">
              <a:lnSpc>
                <a:spcPct val="101000"/>
              </a:lnSpc>
              <a:spcBef>
                <a:spcPts val="600"/>
              </a:spcBef>
              <a:buClr>
                <a:srgbClr val="6697CC"/>
              </a:buClr>
              <a:buFont typeface="Arial MT"/>
              <a:buChar char="•"/>
              <a:tabLst>
                <a:tab pos="272415" algn="l"/>
              </a:tabLst>
            </a:pPr>
            <a:r>
              <a:rPr sz="2100" spc="55" dirty="0">
                <a:latin typeface="Microsoft Sans Serif" panose="020B0604020202020204"/>
                <a:cs typeface="Microsoft Sans Serif" panose="020B0604020202020204"/>
              </a:rPr>
              <a:t>Boosting</a:t>
            </a:r>
            <a:r>
              <a:rPr sz="210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55" dirty="0">
                <a:latin typeface="Microsoft Sans Serif" panose="020B0604020202020204"/>
                <a:cs typeface="Microsoft Sans Serif" panose="020B0604020202020204"/>
              </a:rPr>
              <a:t>algorithms</a:t>
            </a:r>
            <a:r>
              <a:rPr sz="21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21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-20" dirty="0">
                <a:latin typeface="Microsoft Sans Serif" panose="020B0604020202020204"/>
                <a:cs typeface="Microsoft Sans Serif" panose="020B0604020202020204"/>
              </a:rPr>
              <a:t>less</a:t>
            </a:r>
            <a:r>
              <a:rPr sz="21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85" dirty="0">
                <a:latin typeface="Microsoft Sans Serif" panose="020B0604020202020204"/>
                <a:cs typeface="Microsoft Sans Serif" panose="020B0604020202020204"/>
              </a:rPr>
              <a:t>affected</a:t>
            </a:r>
            <a:r>
              <a:rPr sz="21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dirty="0">
                <a:latin typeface="Microsoft Sans Serif" panose="020B0604020202020204"/>
                <a:cs typeface="Microsoft Sans Serif" panose="020B0604020202020204"/>
              </a:rPr>
              <a:t>by</a:t>
            </a:r>
            <a:r>
              <a:rPr sz="21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10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1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100" spc="95" dirty="0">
                <a:latin typeface="Microsoft Sans Serif" panose="020B0604020202020204"/>
                <a:cs typeface="Microsoft Sans Serif" panose="020B0604020202020204"/>
              </a:rPr>
              <a:t>overfitting </a:t>
            </a:r>
            <a:r>
              <a:rPr sz="2100" spc="45" dirty="0">
                <a:latin typeface="Microsoft Sans Serif" panose="020B0604020202020204"/>
                <a:cs typeface="Microsoft Sans Serif" panose="020B0604020202020204"/>
              </a:rPr>
              <a:t>problem.</a:t>
            </a:r>
            <a:endParaRPr sz="210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Boosting</a:t>
            </a:r>
            <a:r>
              <a:rPr spc="-130" dirty="0"/>
              <a:t> </a:t>
            </a:r>
            <a:r>
              <a:rPr spc="40" dirty="0"/>
              <a:t>Models</a:t>
            </a:r>
            <a:endParaRPr spc="4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086600" cy="2421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Models</a:t>
            </a:r>
            <a:r>
              <a:rPr sz="28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145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8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28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50" dirty="0">
                <a:latin typeface="Microsoft Sans Serif" panose="020B0604020202020204"/>
                <a:cs typeface="Microsoft Sans Serif" panose="020B0604020202020204"/>
              </a:rPr>
              <a:t>typically</a:t>
            </a:r>
            <a:r>
              <a:rPr sz="28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80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55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80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40" dirty="0">
                <a:latin typeface="Microsoft Sans Serif" panose="020B0604020202020204"/>
                <a:cs typeface="Microsoft Sans Serif" panose="020B0604020202020204"/>
              </a:rPr>
              <a:t>Boosting </a:t>
            </a:r>
            <a:r>
              <a:rPr sz="2800" spc="50" dirty="0">
                <a:latin typeface="Microsoft Sans Serif" panose="020B0604020202020204"/>
                <a:cs typeface="Microsoft Sans Serif" panose="020B0604020202020204"/>
              </a:rPr>
              <a:t>technique</a:t>
            </a:r>
            <a:r>
              <a:rPr sz="280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20" dirty="0">
                <a:latin typeface="Microsoft Sans Serif" panose="020B0604020202020204"/>
                <a:cs typeface="Microsoft Sans Serif" panose="020B0604020202020204"/>
              </a:rPr>
              <a:t>are:</a:t>
            </a:r>
            <a:endParaRPr sz="2800">
              <a:latin typeface="Microsoft Sans Serif" panose="020B0604020202020204"/>
              <a:cs typeface="Microsoft Sans Serif" panose="020B0604020202020204"/>
            </a:endParaRPr>
          </a:p>
          <a:p>
            <a:pPr marL="755015" lvl="1" indent="-285115">
              <a:lnSpc>
                <a:spcPct val="100000"/>
              </a:lnSpc>
              <a:spcBef>
                <a:spcPts val="680"/>
              </a:spcBef>
              <a:buClr>
                <a:srgbClr val="6697CC"/>
              </a:buClr>
              <a:buFont typeface="Arial MT"/>
              <a:buChar char="–"/>
              <a:tabLst>
                <a:tab pos="755015" algn="l"/>
              </a:tabLst>
            </a:pPr>
            <a:r>
              <a:rPr sz="2800" spc="-20" dirty="0">
                <a:latin typeface="Microsoft Sans Serif" panose="020B0604020202020204"/>
                <a:cs typeface="Microsoft Sans Serif" panose="020B0604020202020204"/>
              </a:rPr>
              <a:t>XGBoost</a:t>
            </a:r>
            <a:r>
              <a:rPr sz="2800" spc="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(Extreme</a:t>
            </a:r>
            <a:r>
              <a:rPr sz="2800" spc="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Gradient</a:t>
            </a:r>
            <a:r>
              <a:rPr sz="280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10" dirty="0">
                <a:latin typeface="Microsoft Sans Serif" panose="020B0604020202020204"/>
                <a:cs typeface="Microsoft Sans Serif" panose="020B0604020202020204"/>
              </a:rPr>
              <a:t>Boosting)</a:t>
            </a:r>
            <a:endParaRPr sz="2800">
              <a:latin typeface="Microsoft Sans Serif" panose="020B0604020202020204"/>
              <a:cs typeface="Microsoft Sans Serif" panose="020B0604020202020204"/>
            </a:endParaRPr>
          </a:p>
          <a:p>
            <a:pPr marL="755015" lvl="1" indent="-28511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5015" algn="l"/>
              </a:tabLst>
            </a:pPr>
            <a:r>
              <a:rPr sz="2800" spc="-105" dirty="0">
                <a:latin typeface="Microsoft Sans Serif" panose="020B0604020202020204"/>
                <a:cs typeface="Microsoft Sans Serif" panose="020B0604020202020204"/>
              </a:rPr>
              <a:t>GBM</a:t>
            </a:r>
            <a:r>
              <a:rPr sz="2800" spc="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(Gradient</a:t>
            </a:r>
            <a:r>
              <a:rPr sz="2800" spc="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Boosting</a:t>
            </a:r>
            <a:r>
              <a:rPr sz="2800" spc="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10" dirty="0">
                <a:latin typeface="Microsoft Sans Serif" panose="020B0604020202020204"/>
                <a:cs typeface="Microsoft Sans Serif" panose="020B0604020202020204"/>
              </a:rPr>
              <a:t>Machine)</a:t>
            </a:r>
            <a:endParaRPr sz="2800">
              <a:latin typeface="Microsoft Sans Serif" panose="020B0604020202020204"/>
              <a:cs typeface="Microsoft Sans Serif" panose="020B0604020202020204"/>
            </a:endParaRPr>
          </a:p>
          <a:p>
            <a:pPr marL="755015" lvl="1" indent="-28511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5015" algn="l"/>
              </a:tabLst>
            </a:pP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ADABoost</a:t>
            </a:r>
            <a:r>
              <a:rPr sz="2800" spc="1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dirty="0">
                <a:latin typeface="Microsoft Sans Serif" panose="020B0604020202020204"/>
                <a:cs typeface="Microsoft Sans Serif" panose="020B0604020202020204"/>
              </a:rPr>
              <a:t>(Adaptive</a:t>
            </a:r>
            <a:r>
              <a:rPr sz="2800" spc="1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spc="-10" dirty="0">
                <a:latin typeface="Microsoft Sans Serif" panose="020B0604020202020204"/>
                <a:cs typeface="Microsoft Sans Serif" panose="020B0604020202020204"/>
              </a:rPr>
              <a:t>Boosting)</a:t>
            </a:r>
            <a:endParaRPr sz="280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Adaboost</a:t>
            </a:r>
            <a:r>
              <a:rPr spc="-110" dirty="0"/>
              <a:t> </a:t>
            </a:r>
            <a:r>
              <a:rPr spc="-20" dirty="0"/>
              <a:t>Summary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48897"/>
            <a:ext cx="7948930" cy="420179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640"/>
              </a:spcBef>
              <a:buClr>
                <a:srgbClr val="6697CC"/>
              </a:buClr>
              <a:buFont typeface="Arial MT"/>
              <a:buChar char="•"/>
              <a:tabLst>
                <a:tab pos="245110" algn="l"/>
              </a:tabLst>
            </a:pP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Initially,</a:t>
            </a:r>
            <a:r>
              <a:rPr sz="1900" spc="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Adaboost</a:t>
            </a:r>
            <a:r>
              <a:rPr sz="1900" spc="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selects</a:t>
            </a:r>
            <a:r>
              <a:rPr sz="1900" spc="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8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1900" spc="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50" dirty="0">
                <a:latin typeface="Microsoft Sans Serif" panose="020B0604020202020204"/>
                <a:cs typeface="Microsoft Sans Serif" panose="020B0604020202020204"/>
              </a:rPr>
              <a:t>training</a:t>
            </a:r>
            <a:r>
              <a:rPr sz="190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subset</a:t>
            </a:r>
            <a:r>
              <a:rPr sz="1900" spc="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10" dirty="0">
                <a:latin typeface="Microsoft Sans Serif" panose="020B0604020202020204"/>
                <a:cs typeface="Microsoft Sans Serif" panose="020B0604020202020204"/>
              </a:rPr>
              <a:t>randomly.</a:t>
            </a:r>
            <a:endParaRPr sz="1900">
              <a:latin typeface="Microsoft Sans Serif" panose="020B0604020202020204"/>
              <a:cs typeface="Microsoft Sans Serif" panose="020B0604020202020204"/>
            </a:endParaRPr>
          </a:p>
          <a:p>
            <a:pPr marL="245110" marR="126365" indent="-233045">
              <a:lnSpc>
                <a:spcPct val="100000"/>
              </a:lnSpc>
              <a:spcBef>
                <a:spcPts val="540"/>
              </a:spcBef>
              <a:buClr>
                <a:srgbClr val="6697CC"/>
              </a:buClr>
              <a:buFont typeface="Arial MT"/>
              <a:buChar char="•"/>
              <a:tabLst>
                <a:tab pos="245110" algn="l"/>
              </a:tabLst>
            </a:pPr>
            <a:r>
              <a:rPr sz="1900" spc="110" dirty="0">
                <a:latin typeface="Microsoft Sans Serif" panose="020B0604020202020204"/>
                <a:cs typeface="Microsoft Sans Serif" panose="020B0604020202020204"/>
              </a:rPr>
              <a:t>It</a:t>
            </a:r>
            <a:r>
              <a:rPr sz="1900" spc="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50" dirty="0">
                <a:latin typeface="Microsoft Sans Serif" panose="020B0604020202020204"/>
                <a:cs typeface="Microsoft Sans Serif" panose="020B0604020202020204"/>
              </a:rPr>
              <a:t>iteratively</a:t>
            </a:r>
            <a:r>
              <a:rPr sz="1900" spc="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trains </a:t>
            </a:r>
            <a:r>
              <a:rPr sz="1900" spc="7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90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AdaBoost</a:t>
            </a:r>
            <a:r>
              <a:rPr sz="1900" spc="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10" dirty="0">
                <a:latin typeface="Microsoft Sans Serif" panose="020B0604020202020204"/>
                <a:cs typeface="Microsoft Sans Serif" panose="020B0604020202020204"/>
              </a:rPr>
              <a:t>machine</a:t>
            </a:r>
            <a:r>
              <a:rPr sz="190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learning</a:t>
            </a:r>
            <a:r>
              <a:rPr sz="190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model by</a:t>
            </a:r>
            <a:r>
              <a:rPr sz="1900" spc="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10" dirty="0">
                <a:latin typeface="Microsoft Sans Serif" panose="020B0604020202020204"/>
                <a:cs typeface="Microsoft Sans Serif" panose="020B0604020202020204"/>
              </a:rPr>
              <a:t>selecting </a:t>
            </a:r>
            <a:r>
              <a:rPr sz="1900" spc="7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9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training</a:t>
            </a:r>
            <a:r>
              <a:rPr sz="190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set</a:t>
            </a:r>
            <a:r>
              <a:rPr sz="190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based</a:t>
            </a:r>
            <a:r>
              <a:rPr sz="19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on</a:t>
            </a:r>
            <a:r>
              <a:rPr sz="19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7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9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accurate</a:t>
            </a:r>
            <a:r>
              <a:rPr sz="19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45" dirty="0">
                <a:latin typeface="Microsoft Sans Serif" panose="020B0604020202020204"/>
                <a:cs typeface="Microsoft Sans Serif" panose="020B0604020202020204"/>
              </a:rPr>
              <a:t>prediction</a:t>
            </a:r>
            <a:r>
              <a:rPr sz="19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12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19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7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9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last</a:t>
            </a:r>
            <a:r>
              <a:rPr sz="190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10" dirty="0">
                <a:latin typeface="Microsoft Sans Serif" panose="020B0604020202020204"/>
                <a:cs typeface="Microsoft Sans Serif" panose="020B0604020202020204"/>
              </a:rPr>
              <a:t>training.</a:t>
            </a:r>
            <a:endParaRPr sz="1900">
              <a:latin typeface="Microsoft Sans Serif" panose="020B0604020202020204"/>
              <a:cs typeface="Microsoft Sans Serif" panose="020B0604020202020204"/>
            </a:endParaRPr>
          </a:p>
          <a:p>
            <a:pPr marL="245110" marR="67945" indent="-233045">
              <a:lnSpc>
                <a:spcPct val="100000"/>
              </a:lnSpc>
              <a:spcBef>
                <a:spcPts val="540"/>
              </a:spcBef>
              <a:buClr>
                <a:srgbClr val="6697CC"/>
              </a:buClr>
              <a:buFont typeface="Arial MT"/>
              <a:buChar char="•"/>
              <a:tabLst>
                <a:tab pos="245110" algn="l"/>
              </a:tabLst>
            </a:pPr>
            <a:r>
              <a:rPr sz="1900" spc="110" dirty="0">
                <a:latin typeface="Microsoft Sans Serif" panose="020B0604020202020204"/>
                <a:cs typeface="Microsoft Sans Serif" panose="020B0604020202020204"/>
              </a:rPr>
              <a:t>It</a:t>
            </a:r>
            <a:r>
              <a:rPr sz="19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50" dirty="0">
                <a:latin typeface="Microsoft Sans Serif" panose="020B0604020202020204"/>
                <a:cs typeface="Microsoft Sans Serif" panose="020B0604020202020204"/>
              </a:rPr>
              <a:t>assigns</a:t>
            </a:r>
            <a:r>
              <a:rPr sz="19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7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9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higher</a:t>
            </a:r>
            <a:r>
              <a:rPr sz="19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60" dirty="0">
                <a:latin typeface="Microsoft Sans Serif" panose="020B0604020202020204"/>
                <a:cs typeface="Microsoft Sans Serif" panose="020B0604020202020204"/>
              </a:rPr>
              <a:t>weight</a:t>
            </a:r>
            <a:r>
              <a:rPr sz="19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140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19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55" dirty="0">
                <a:latin typeface="Microsoft Sans Serif" panose="020B0604020202020204"/>
                <a:cs typeface="Microsoft Sans Serif" panose="020B0604020202020204"/>
              </a:rPr>
              <a:t>wrong</a:t>
            </a:r>
            <a:r>
              <a:rPr sz="19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classified</a:t>
            </a:r>
            <a:r>
              <a:rPr sz="19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observations</a:t>
            </a:r>
            <a:r>
              <a:rPr sz="19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20" dirty="0">
                <a:latin typeface="Microsoft Sans Serif" panose="020B0604020202020204"/>
                <a:cs typeface="Microsoft Sans Serif" panose="020B0604020202020204"/>
              </a:rPr>
              <a:t>so</a:t>
            </a:r>
            <a:r>
              <a:rPr sz="19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95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19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in </a:t>
            </a:r>
            <a:r>
              <a:rPr sz="1900" spc="7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9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65" dirty="0">
                <a:latin typeface="Microsoft Sans Serif" panose="020B0604020202020204"/>
                <a:cs typeface="Microsoft Sans Serif" panose="020B0604020202020204"/>
              </a:rPr>
              <a:t>next</a:t>
            </a:r>
            <a:r>
              <a:rPr sz="19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65" dirty="0">
                <a:latin typeface="Microsoft Sans Serif" panose="020B0604020202020204"/>
                <a:cs typeface="Microsoft Sans Serif" panose="020B0604020202020204"/>
              </a:rPr>
              <a:t>iteration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these</a:t>
            </a:r>
            <a:r>
              <a:rPr sz="19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observations</a:t>
            </a:r>
            <a:r>
              <a:rPr sz="19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65" dirty="0">
                <a:latin typeface="Microsoft Sans Serif" panose="020B0604020202020204"/>
                <a:cs typeface="Microsoft Sans Serif" panose="020B0604020202020204"/>
              </a:rPr>
              <a:t>will</a:t>
            </a:r>
            <a:r>
              <a:rPr sz="19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80" dirty="0">
                <a:latin typeface="Microsoft Sans Serif" panose="020B0604020202020204"/>
                <a:cs typeface="Microsoft Sans Serif" panose="020B0604020202020204"/>
              </a:rPr>
              <a:t>get</a:t>
            </a:r>
            <a:r>
              <a:rPr sz="19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7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9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high</a:t>
            </a:r>
            <a:r>
              <a:rPr sz="19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50" dirty="0">
                <a:latin typeface="Microsoft Sans Serif" panose="020B0604020202020204"/>
                <a:cs typeface="Microsoft Sans Serif" panose="020B0604020202020204"/>
              </a:rPr>
              <a:t>probability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85" dirty="0">
                <a:latin typeface="Microsoft Sans Serif" panose="020B0604020202020204"/>
                <a:cs typeface="Microsoft Sans Serif" panose="020B0604020202020204"/>
              </a:rPr>
              <a:t>for </a:t>
            </a:r>
            <a:r>
              <a:rPr sz="1900" spc="-10" dirty="0">
                <a:latin typeface="Microsoft Sans Serif" panose="020B0604020202020204"/>
                <a:cs typeface="Microsoft Sans Serif" panose="020B0604020202020204"/>
              </a:rPr>
              <a:t>classification.</a:t>
            </a:r>
            <a:endParaRPr sz="1900">
              <a:latin typeface="Microsoft Sans Serif" panose="020B0604020202020204"/>
              <a:cs typeface="Microsoft Sans Serif" panose="020B0604020202020204"/>
            </a:endParaRPr>
          </a:p>
          <a:p>
            <a:pPr marL="245110" marR="47625" indent="-233045">
              <a:lnSpc>
                <a:spcPct val="100000"/>
              </a:lnSpc>
              <a:spcBef>
                <a:spcPts val="540"/>
              </a:spcBef>
              <a:buClr>
                <a:srgbClr val="6697CC"/>
              </a:buClr>
              <a:buFont typeface="Arial MT"/>
              <a:buChar char="•"/>
              <a:tabLst>
                <a:tab pos="245110" algn="l"/>
              </a:tabLst>
            </a:pPr>
            <a:r>
              <a:rPr sz="1900" spc="-10" dirty="0">
                <a:latin typeface="Microsoft Sans Serif" panose="020B0604020202020204"/>
                <a:cs typeface="Microsoft Sans Serif" panose="020B0604020202020204"/>
              </a:rPr>
              <a:t>Also,</a:t>
            </a:r>
            <a:r>
              <a:rPr sz="190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105" dirty="0">
                <a:latin typeface="Microsoft Sans Serif" panose="020B0604020202020204"/>
                <a:cs typeface="Microsoft Sans Serif" panose="020B0604020202020204"/>
              </a:rPr>
              <a:t>It</a:t>
            </a:r>
            <a:r>
              <a:rPr sz="1900" spc="-50" dirty="0">
                <a:latin typeface="Microsoft Sans Serif" panose="020B0604020202020204"/>
                <a:cs typeface="Microsoft Sans Serif" panose="020B0604020202020204"/>
              </a:rPr>
              <a:t> assigns</a:t>
            </a:r>
            <a:r>
              <a:rPr sz="19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7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90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60" dirty="0">
                <a:latin typeface="Microsoft Sans Serif" panose="020B0604020202020204"/>
                <a:cs typeface="Microsoft Sans Serif" panose="020B0604020202020204"/>
              </a:rPr>
              <a:t>weight</a:t>
            </a:r>
            <a:r>
              <a:rPr sz="19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140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19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7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9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45" dirty="0">
                <a:latin typeface="Microsoft Sans Serif" panose="020B0604020202020204"/>
                <a:cs typeface="Microsoft Sans Serif" panose="020B0604020202020204"/>
              </a:rPr>
              <a:t>trained</a:t>
            </a:r>
            <a:r>
              <a:rPr sz="19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classifier</a:t>
            </a:r>
            <a:r>
              <a:rPr sz="19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19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50" dirty="0">
                <a:latin typeface="Microsoft Sans Serif" panose="020B0604020202020204"/>
                <a:cs typeface="Microsoft Sans Serif" panose="020B0604020202020204"/>
              </a:rPr>
              <a:t>each</a:t>
            </a:r>
            <a:r>
              <a:rPr sz="19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55" dirty="0">
                <a:latin typeface="Microsoft Sans Serif" panose="020B0604020202020204"/>
                <a:cs typeface="Microsoft Sans Serif" panose="020B0604020202020204"/>
              </a:rPr>
              <a:t>iteration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according</a:t>
            </a:r>
            <a:r>
              <a:rPr sz="190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140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190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7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90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35" dirty="0">
                <a:latin typeface="Microsoft Sans Serif" panose="020B0604020202020204"/>
                <a:cs typeface="Microsoft Sans Serif" panose="020B0604020202020204"/>
              </a:rPr>
              <a:t>accuracy</a:t>
            </a:r>
            <a:r>
              <a:rPr sz="19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12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190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7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90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classifier.</a:t>
            </a:r>
            <a:r>
              <a:rPr sz="19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4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9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more</a:t>
            </a:r>
            <a:r>
              <a:rPr sz="190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accurate</a:t>
            </a:r>
            <a:r>
              <a:rPr sz="190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10" dirty="0">
                <a:latin typeface="Microsoft Sans Serif" panose="020B0604020202020204"/>
                <a:cs typeface="Microsoft Sans Serif" panose="020B0604020202020204"/>
              </a:rPr>
              <a:t>classifier </a:t>
            </a:r>
            <a:r>
              <a:rPr sz="1900" spc="70" dirty="0">
                <a:latin typeface="Microsoft Sans Serif" panose="020B0604020202020204"/>
                <a:cs typeface="Microsoft Sans Serif" panose="020B0604020202020204"/>
              </a:rPr>
              <a:t>will</a:t>
            </a:r>
            <a:r>
              <a:rPr sz="19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75" dirty="0">
                <a:latin typeface="Microsoft Sans Serif" panose="020B0604020202020204"/>
                <a:cs typeface="Microsoft Sans Serif" panose="020B0604020202020204"/>
              </a:rPr>
              <a:t>get</a:t>
            </a:r>
            <a:r>
              <a:rPr sz="19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high</a:t>
            </a:r>
            <a:r>
              <a:rPr sz="19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35" dirty="0">
                <a:latin typeface="Microsoft Sans Serif" panose="020B0604020202020204"/>
                <a:cs typeface="Microsoft Sans Serif" panose="020B0604020202020204"/>
              </a:rPr>
              <a:t>weight.</a:t>
            </a:r>
            <a:endParaRPr sz="1900">
              <a:latin typeface="Microsoft Sans Serif" panose="020B0604020202020204"/>
              <a:cs typeface="Microsoft Sans Serif" panose="020B0604020202020204"/>
            </a:endParaRPr>
          </a:p>
          <a:p>
            <a:pPr marL="245110" marR="5080" indent="-233045">
              <a:lnSpc>
                <a:spcPct val="100000"/>
              </a:lnSpc>
              <a:spcBef>
                <a:spcPts val="540"/>
              </a:spcBef>
              <a:buClr>
                <a:srgbClr val="6697CC"/>
              </a:buClr>
              <a:buFont typeface="Arial MT"/>
              <a:buChar char="•"/>
              <a:tabLst>
                <a:tab pos="245110" algn="l"/>
              </a:tabLst>
            </a:pPr>
            <a:r>
              <a:rPr sz="1900" spc="-45" dirty="0">
                <a:latin typeface="Microsoft Sans Serif" panose="020B0604020202020204"/>
                <a:cs typeface="Microsoft Sans Serif" panose="020B0604020202020204"/>
              </a:rPr>
              <a:t>This</a:t>
            </a:r>
            <a:r>
              <a:rPr sz="19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20" dirty="0">
                <a:latin typeface="Microsoft Sans Serif" panose="020B0604020202020204"/>
                <a:cs typeface="Microsoft Sans Serif" panose="020B0604020202020204"/>
              </a:rPr>
              <a:t>process</a:t>
            </a:r>
            <a:r>
              <a:rPr sz="19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70" dirty="0">
                <a:latin typeface="Microsoft Sans Serif" panose="020B0604020202020204"/>
                <a:cs typeface="Microsoft Sans Serif" panose="020B0604020202020204"/>
              </a:rPr>
              <a:t>iterate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80" dirty="0">
                <a:latin typeface="Microsoft Sans Serif" panose="020B0604020202020204"/>
                <a:cs typeface="Microsoft Sans Serif" panose="020B0604020202020204"/>
              </a:rPr>
              <a:t>until</a:t>
            </a:r>
            <a:r>
              <a:rPr sz="190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7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90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complete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50" dirty="0">
                <a:latin typeface="Microsoft Sans Serif" panose="020B0604020202020204"/>
                <a:cs typeface="Microsoft Sans Serif" panose="020B0604020202020204"/>
              </a:rPr>
              <a:t>training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data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90" dirty="0">
                <a:latin typeface="Microsoft Sans Serif" panose="020B0604020202020204"/>
                <a:cs typeface="Microsoft Sans Serif" panose="020B0604020202020204"/>
              </a:rPr>
              <a:t>fits</a:t>
            </a:r>
            <a:r>
              <a:rPr sz="19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95" dirty="0">
                <a:latin typeface="Microsoft Sans Serif" panose="020B0604020202020204"/>
                <a:cs typeface="Microsoft Sans Serif" panose="020B0604020202020204"/>
              </a:rPr>
              <a:t>without</a:t>
            </a:r>
            <a:r>
              <a:rPr sz="190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any </a:t>
            </a:r>
            <a:r>
              <a:rPr sz="1900" spc="60" dirty="0">
                <a:latin typeface="Microsoft Sans Serif" panose="020B0604020202020204"/>
                <a:cs typeface="Microsoft Sans Serif" panose="020B0604020202020204"/>
              </a:rPr>
              <a:t>error</a:t>
            </a:r>
            <a:r>
              <a:rPr sz="19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70" dirty="0">
                <a:latin typeface="Microsoft Sans Serif" panose="020B0604020202020204"/>
                <a:cs typeface="Microsoft Sans Serif" panose="020B0604020202020204"/>
              </a:rPr>
              <a:t>or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75" dirty="0">
                <a:latin typeface="Microsoft Sans Serif" panose="020B0604020202020204"/>
                <a:cs typeface="Microsoft Sans Serif" panose="020B0604020202020204"/>
              </a:rPr>
              <a:t>until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10" dirty="0">
                <a:latin typeface="Microsoft Sans Serif" panose="020B0604020202020204"/>
                <a:cs typeface="Microsoft Sans Serif" panose="020B0604020202020204"/>
              </a:rPr>
              <a:t>reached</a:t>
            </a:r>
            <a:r>
              <a:rPr sz="19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140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7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9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specified</a:t>
            </a:r>
            <a:r>
              <a:rPr sz="19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maximum</a:t>
            </a:r>
            <a:r>
              <a:rPr sz="19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number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12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19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10" dirty="0">
                <a:latin typeface="Microsoft Sans Serif" panose="020B0604020202020204"/>
                <a:cs typeface="Microsoft Sans Serif" panose="020B0604020202020204"/>
              </a:rPr>
              <a:t>estimators.</a:t>
            </a:r>
            <a:endParaRPr sz="1900">
              <a:latin typeface="Microsoft Sans Serif" panose="020B0604020202020204"/>
              <a:cs typeface="Microsoft Sans Serif" panose="020B0604020202020204"/>
            </a:endParaRPr>
          </a:p>
          <a:p>
            <a:pPr marL="245110" marR="236220" indent="-233045">
              <a:lnSpc>
                <a:spcPct val="100000"/>
              </a:lnSpc>
              <a:spcBef>
                <a:spcPts val="540"/>
              </a:spcBef>
              <a:buClr>
                <a:srgbClr val="6697CC"/>
              </a:buClr>
              <a:buFont typeface="Arial MT"/>
              <a:buChar char="•"/>
              <a:tabLst>
                <a:tab pos="245110" algn="l"/>
              </a:tabLst>
            </a:pP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20" dirty="0">
                <a:latin typeface="Microsoft Sans Serif" panose="020B0604020202020204"/>
                <a:cs typeface="Microsoft Sans Serif" panose="020B0604020202020204"/>
              </a:rPr>
              <a:t>classify, </a:t>
            </a:r>
            <a:r>
              <a:rPr sz="1900" spc="70" dirty="0">
                <a:latin typeface="Microsoft Sans Serif" panose="020B0604020202020204"/>
                <a:cs typeface="Microsoft Sans Serif" panose="020B0604020202020204"/>
              </a:rPr>
              <a:t>perform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8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80" dirty="0">
                <a:latin typeface="Microsoft Sans Serif" panose="020B0604020202020204"/>
                <a:cs typeface="Microsoft Sans Serif" panose="020B0604020202020204"/>
              </a:rPr>
              <a:t>"vote"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40" dirty="0">
                <a:latin typeface="Microsoft Sans Serif" panose="020B0604020202020204"/>
                <a:cs typeface="Microsoft Sans Serif" panose="020B0604020202020204"/>
              </a:rPr>
              <a:t>across</a:t>
            </a:r>
            <a:r>
              <a:rPr sz="19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all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12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190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7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learning</a:t>
            </a:r>
            <a:r>
              <a:rPr sz="19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dirty="0">
                <a:latin typeface="Microsoft Sans Serif" panose="020B0604020202020204"/>
                <a:cs typeface="Microsoft Sans Serif" panose="020B0604020202020204"/>
              </a:rPr>
              <a:t>algorithms</a:t>
            </a:r>
            <a:r>
              <a:rPr sz="19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00" spc="-25" dirty="0">
                <a:latin typeface="Microsoft Sans Serif" panose="020B0604020202020204"/>
                <a:cs typeface="Microsoft Sans Serif" panose="020B0604020202020204"/>
              </a:rPr>
              <a:t>you </a:t>
            </a:r>
            <a:r>
              <a:rPr sz="1900" spc="50" dirty="0">
                <a:latin typeface="Microsoft Sans Serif" panose="020B0604020202020204"/>
                <a:cs typeface="Microsoft Sans Serif" panose="020B0604020202020204"/>
              </a:rPr>
              <a:t>built.</a:t>
            </a:r>
            <a:endParaRPr sz="190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33984"/>
            <a:ext cx="46907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How</a:t>
            </a:r>
            <a:r>
              <a:rPr spc="-120" dirty="0"/>
              <a:t> </a:t>
            </a:r>
            <a:r>
              <a:rPr spc="65" dirty="0"/>
              <a:t>Adaboost</a:t>
            </a:r>
            <a:r>
              <a:rPr spc="-110" dirty="0"/>
              <a:t> </a:t>
            </a:r>
            <a:r>
              <a:rPr spc="-50" dirty="0"/>
              <a:t>Works?</a:t>
            </a:r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005" y="1727631"/>
            <a:ext cx="6354000" cy="410400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Comparison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239" y="1655635"/>
            <a:ext cx="7457757" cy="391427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Stacking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989570" cy="4529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790" marR="5080" indent="-339725">
              <a:lnSpc>
                <a:spcPct val="101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1790" algn="l"/>
              </a:tabLst>
            </a:pP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Stacked</a:t>
            </a:r>
            <a:r>
              <a:rPr sz="27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Generalization</a:t>
            </a:r>
            <a:r>
              <a:rPr sz="27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25" dirty="0">
                <a:latin typeface="Microsoft Sans Serif" panose="020B0604020202020204"/>
                <a:cs typeface="Microsoft Sans Serif" panose="020B0604020202020204"/>
              </a:rPr>
              <a:t>or</a:t>
            </a:r>
            <a:r>
              <a:rPr sz="27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50" dirty="0">
                <a:latin typeface="Microsoft Sans Serif" panose="020B0604020202020204"/>
                <a:cs typeface="Microsoft Sans Serif" panose="020B0604020202020204"/>
              </a:rPr>
              <a:t>“Stacking”</a:t>
            </a:r>
            <a:r>
              <a:rPr sz="27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85" dirty="0"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7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95" dirty="0">
                <a:latin typeface="Microsoft Sans Serif" panose="020B0604020202020204"/>
                <a:cs typeface="Microsoft Sans Serif" panose="020B0604020202020204"/>
              </a:rPr>
              <a:t>short</a:t>
            </a:r>
            <a:r>
              <a:rPr sz="27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-25" dirty="0">
                <a:latin typeface="Microsoft Sans Serif" panose="020B0604020202020204"/>
                <a:cs typeface="Microsoft Sans Serif" panose="020B0604020202020204"/>
              </a:rPr>
              <a:t>is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an</a:t>
            </a:r>
            <a:r>
              <a:rPr sz="27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ensemble</a:t>
            </a:r>
            <a:r>
              <a:rPr sz="27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machine</a:t>
            </a:r>
            <a:r>
              <a:rPr sz="27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55" dirty="0">
                <a:latin typeface="Microsoft Sans Serif" panose="020B0604020202020204"/>
                <a:cs typeface="Microsoft Sans Serif" panose="020B0604020202020204"/>
              </a:rPr>
              <a:t>learning</a:t>
            </a:r>
            <a:r>
              <a:rPr sz="27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70" dirty="0">
                <a:latin typeface="Microsoft Sans Serif" panose="020B0604020202020204"/>
                <a:cs typeface="Microsoft Sans Serif" panose="020B0604020202020204"/>
              </a:rPr>
              <a:t>algorithm.</a:t>
            </a:r>
            <a:endParaRPr sz="2750">
              <a:latin typeface="Microsoft Sans Serif" panose="020B0604020202020204"/>
              <a:cs typeface="Microsoft Sans Serif" panose="020B0604020202020204"/>
            </a:endParaRPr>
          </a:p>
          <a:p>
            <a:pPr marL="351790" marR="214630" indent="-339725">
              <a:lnSpc>
                <a:spcPct val="101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1790" algn="l"/>
              </a:tabLst>
            </a:pPr>
            <a:r>
              <a:rPr sz="2750" spc="155" dirty="0">
                <a:latin typeface="Microsoft Sans Serif" panose="020B0604020202020204"/>
                <a:cs typeface="Microsoft Sans Serif" panose="020B0604020202020204"/>
              </a:rPr>
              <a:t>It</a:t>
            </a:r>
            <a:r>
              <a:rPr sz="27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involves</a:t>
            </a:r>
            <a:r>
              <a:rPr sz="27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50" dirty="0">
                <a:latin typeface="Microsoft Sans Serif" panose="020B0604020202020204"/>
                <a:cs typeface="Microsoft Sans Serif" panose="020B0604020202020204"/>
              </a:rPr>
              <a:t>combining</a:t>
            </a:r>
            <a:r>
              <a:rPr sz="27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3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7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65" dirty="0">
                <a:latin typeface="Microsoft Sans Serif" panose="020B0604020202020204"/>
                <a:cs typeface="Microsoft Sans Serif" panose="020B0604020202020204"/>
              </a:rPr>
              <a:t>predictions</a:t>
            </a:r>
            <a:r>
              <a:rPr sz="27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35" dirty="0">
                <a:latin typeface="Microsoft Sans Serif" panose="020B0604020202020204"/>
                <a:cs typeface="Microsoft Sans Serif" panose="020B0604020202020204"/>
              </a:rPr>
              <a:t>from </a:t>
            </a:r>
            <a:r>
              <a:rPr sz="2750" spc="110" dirty="0">
                <a:latin typeface="Microsoft Sans Serif" panose="020B0604020202020204"/>
                <a:cs typeface="Microsoft Sans Serif" panose="020B0604020202020204"/>
              </a:rPr>
              <a:t>multiple</a:t>
            </a:r>
            <a:r>
              <a:rPr sz="27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machine</a:t>
            </a:r>
            <a:r>
              <a:rPr sz="27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55" dirty="0">
                <a:latin typeface="Microsoft Sans Serif" panose="020B0604020202020204"/>
                <a:cs typeface="Microsoft Sans Serif" panose="020B0604020202020204"/>
              </a:rPr>
              <a:t>learning</a:t>
            </a:r>
            <a:r>
              <a:rPr sz="27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models</a:t>
            </a:r>
            <a:r>
              <a:rPr sz="27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80" dirty="0">
                <a:latin typeface="Microsoft Sans Serif" panose="020B0604020202020204"/>
                <a:cs typeface="Microsoft Sans Serif" panose="020B0604020202020204"/>
              </a:rPr>
              <a:t>on</a:t>
            </a:r>
            <a:r>
              <a:rPr sz="27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3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7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-20" dirty="0">
                <a:latin typeface="Microsoft Sans Serif" panose="020B0604020202020204"/>
                <a:cs typeface="Microsoft Sans Serif" panose="020B0604020202020204"/>
              </a:rPr>
              <a:t>same </a:t>
            </a:r>
            <a:r>
              <a:rPr sz="2750" spc="45" dirty="0">
                <a:latin typeface="Microsoft Sans Serif" panose="020B0604020202020204"/>
                <a:cs typeface="Microsoft Sans Serif" panose="020B0604020202020204"/>
              </a:rPr>
              <a:t>dataset,</a:t>
            </a:r>
            <a:r>
              <a:rPr sz="27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70" dirty="0">
                <a:latin typeface="Microsoft Sans Serif" panose="020B0604020202020204"/>
                <a:cs typeface="Microsoft Sans Serif" panose="020B0604020202020204"/>
              </a:rPr>
              <a:t>like</a:t>
            </a:r>
            <a:r>
              <a:rPr sz="27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bagging</a:t>
            </a:r>
            <a:r>
              <a:rPr sz="275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7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55" dirty="0">
                <a:latin typeface="Microsoft Sans Serif" panose="020B0604020202020204"/>
                <a:cs typeface="Microsoft Sans Serif" panose="020B0604020202020204"/>
              </a:rPr>
              <a:t>boosting.</a:t>
            </a:r>
            <a:endParaRPr sz="2750">
              <a:latin typeface="Microsoft Sans Serif" panose="020B0604020202020204"/>
              <a:cs typeface="Microsoft Sans Serif" panose="020B0604020202020204"/>
            </a:endParaRPr>
          </a:p>
          <a:p>
            <a:pPr marL="351155" indent="-338455">
              <a:lnSpc>
                <a:spcPct val="100000"/>
              </a:lnSpc>
              <a:spcBef>
                <a:spcPts val="810"/>
              </a:spcBef>
              <a:buClr>
                <a:srgbClr val="6697CC"/>
              </a:buClr>
              <a:buFont typeface="Arial MT"/>
              <a:buChar char="•"/>
              <a:tabLst>
                <a:tab pos="351155" algn="l"/>
              </a:tabLst>
            </a:pP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Stacking</a:t>
            </a:r>
            <a:r>
              <a:rPr sz="27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-20" dirty="0">
                <a:latin typeface="Microsoft Sans Serif" panose="020B0604020202020204"/>
                <a:cs typeface="Microsoft Sans Serif" panose="020B0604020202020204"/>
              </a:rPr>
              <a:t>addresses</a:t>
            </a:r>
            <a:r>
              <a:rPr sz="27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3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7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45" dirty="0">
                <a:latin typeface="Microsoft Sans Serif" panose="020B0604020202020204"/>
                <a:cs typeface="Microsoft Sans Serif" panose="020B0604020202020204"/>
              </a:rPr>
              <a:t>question:</a:t>
            </a:r>
            <a:endParaRPr sz="2750">
              <a:latin typeface="Microsoft Sans Serif" panose="020B0604020202020204"/>
              <a:cs typeface="Microsoft Sans Serif" panose="020B0604020202020204"/>
            </a:endParaRPr>
          </a:p>
          <a:p>
            <a:pPr marL="748030" marR="64135" indent="-283845">
              <a:lnSpc>
                <a:spcPct val="100000"/>
              </a:lnSpc>
              <a:spcBef>
                <a:spcPts val="690"/>
              </a:spcBef>
            </a:pPr>
            <a:r>
              <a:rPr sz="4125" baseline="3000" dirty="0">
                <a:solidFill>
                  <a:srgbClr val="6697CC"/>
                </a:solidFill>
                <a:latin typeface="Arial MT"/>
                <a:cs typeface="Arial MT"/>
              </a:rPr>
              <a:t>–</a:t>
            </a:r>
            <a:r>
              <a:rPr sz="4125" spc="-22" baseline="3000" dirty="0">
                <a:solidFill>
                  <a:srgbClr val="6697CC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latin typeface="Microsoft Sans Serif" panose="020B0604020202020204"/>
                <a:cs typeface="Microsoft Sans Serif" panose="020B0604020202020204"/>
              </a:rPr>
              <a:t>Given</a:t>
            </a:r>
            <a:r>
              <a:rPr sz="27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14" dirty="0">
                <a:latin typeface="Microsoft Sans Serif" panose="020B0604020202020204"/>
                <a:cs typeface="Microsoft Sans Serif" panose="020B0604020202020204"/>
              </a:rPr>
              <a:t>multiple</a:t>
            </a:r>
            <a:r>
              <a:rPr sz="27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machine</a:t>
            </a:r>
            <a:r>
              <a:rPr sz="27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55" dirty="0">
                <a:latin typeface="Microsoft Sans Serif" panose="020B0604020202020204"/>
                <a:cs typeface="Microsoft Sans Serif" panose="020B0604020202020204"/>
              </a:rPr>
              <a:t>learning</a:t>
            </a:r>
            <a:r>
              <a:rPr sz="27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models</a:t>
            </a:r>
            <a:r>
              <a:rPr sz="27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40" dirty="0">
                <a:latin typeface="Microsoft Sans Serif" panose="020B0604020202020204"/>
                <a:cs typeface="Microsoft Sans Serif" panose="020B0604020202020204"/>
              </a:rPr>
              <a:t>that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27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85" dirty="0">
                <a:latin typeface="Microsoft Sans Serif" panose="020B0604020202020204"/>
                <a:cs typeface="Microsoft Sans Serif" panose="020B0604020202020204"/>
              </a:rPr>
              <a:t>skillful</a:t>
            </a:r>
            <a:r>
              <a:rPr sz="27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75" dirty="0">
                <a:latin typeface="Microsoft Sans Serif" panose="020B0604020202020204"/>
                <a:cs typeface="Microsoft Sans Serif" panose="020B0604020202020204"/>
              </a:rPr>
              <a:t>on</a:t>
            </a:r>
            <a:r>
              <a:rPr sz="27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-10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7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65" dirty="0">
                <a:latin typeface="Microsoft Sans Serif" panose="020B0604020202020204"/>
                <a:cs typeface="Microsoft Sans Serif" panose="020B0604020202020204"/>
              </a:rPr>
              <a:t>problem,</a:t>
            </a:r>
            <a:r>
              <a:rPr sz="27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65" dirty="0">
                <a:latin typeface="Microsoft Sans Serif" panose="020B0604020202020204"/>
                <a:cs typeface="Microsoft Sans Serif" panose="020B0604020202020204"/>
              </a:rPr>
              <a:t>but</a:t>
            </a:r>
            <a:r>
              <a:rPr sz="27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6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7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40" dirty="0">
                <a:latin typeface="Microsoft Sans Serif" panose="020B0604020202020204"/>
                <a:cs typeface="Microsoft Sans Serif" panose="020B0604020202020204"/>
              </a:rPr>
              <a:t>different </a:t>
            </a:r>
            <a:r>
              <a:rPr sz="2750" spc="-30" dirty="0">
                <a:latin typeface="Microsoft Sans Serif" panose="020B0604020202020204"/>
                <a:cs typeface="Microsoft Sans Serif" panose="020B0604020202020204"/>
              </a:rPr>
              <a:t>ways,</a:t>
            </a:r>
            <a:r>
              <a:rPr sz="27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95" dirty="0">
                <a:latin typeface="Microsoft Sans Serif" panose="020B0604020202020204"/>
                <a:cs typeface="Microsoft Sans Serif" panose="020B0604020202020204"/>
              </a:rPr>
              <a:t>how</a:t>
            </a:r>
            <a:r>
              <a:rPr sz="27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00" dirty="0">
                <a:latin typeface="Microsoft Sans Serif" panose="020B0604020202020204"/>
                <a:cs typeface="Microsoft Sans Serif" panose="020B0604020202020204"/>
              </a:rPr>
              <a:t>do</a:t>
            </a:r>
            <a:r>
              <a:rPr sz="27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you</a:t>
            </a:r>
            <a:r>
              <a:rPr sz="27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choose</a:t>
            </a:r>
            <a:r>
              <a:rPr sz="27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which</a:t>
            </a:r>
            <a:r>
              <a:rPr sz="27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85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7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225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7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-25" dirty="0">
                <a:latin typeface="Microsoft Sans Serif" panose="020B0604020202020204"/>
                <a:cs typeface="Microsoft Sans Serif" panose="020B0604020202020204"/>
              </a:rPr>
              <a:t>use </a:t>
            </a:r>
            <a:r>
              <a:rPr sz="2750" spc="-10" dirty="0">
                <a:latin typeface="Microsoft Sans Serif" panose="020B0604020202020204"/>
                <a:cs typeface="Microsoft Sans Serif" panose="020B0604020202020204"/>
              </a:rPr>
              <a:t>(trust)?</a:t>
            </a:r>
            <a:endParaRPr sz="27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Stacking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112759" cy="4251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0515" marR="5080" indent="-298450">
              <a:lnSpc>
                <a:spcPct val="1010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310515" algn="l"/>
              </a:tabLst>
            </a:pP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4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approach</a:t>
            </a:r>
            <a:r>
              <a:rPr sz="24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95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40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65" dirty="0">
                <a:latin typeface="Microsoft Sans Serif" panose="020B0604020202020204"/>
                <a:cs typeface="Microsoft Sans Serif" panose="020B0604020202020204"/>
              </a:rPr>
              <a:t>this</a:t>
            </a:r>
            <a:r>
              <a:rPr sz="24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60" dirty="0">
                <a:latin typeface="Microsoft Sans Serif" panose="020B0604020202020204"/>
                <a:cs typeface="Microsoft Sans Serif" panose="020B0604020202020204"/>
              </a:rPr>
              <a:t>question</a:t>
            </a:r>
            <a:r>
              <a:rPr sz="240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4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95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40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use</a:t>
            </a:r>
            <a:r>
              <a:rPr sz="24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70" dirty="0">
                <a:latin typeface="Microsoft Sans Serif" panose="020B0604020202020204"/>
                <a:cs typeface="Microsoft Sans Serif" panose="020B0604020202020204"/>
              </a:rPr>
              <a:t>another</a:t>
            </a:r>
            <a:r>
              <a:rPr sz="24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-10" dirty="0">
                <a:latin typeface="Microsoft Sans Serif" panose="020B0604020202020204"/>
                <a:cs typeface="Microsoft Sans Serif" panose="020B0604020202020204"/>
              </a:rPr>
              <a:t>machine </a:t>
            </a:r>
            <a:r>
              <a:rPr sz="2400" spc="45" dirty="0">
                <a:latin typeface="Microsoft Sans Serif" panose="020B0604020202020204"/>
                <a:cs typeface="Microsoft Sans Serif" panose="020B0604020202020204"/>
              </a:rPr>
              <a:t>learning</a:t>
            </a:r>
            <a:r>
              <a:rPr sz="24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70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4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35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4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learns</a:t>
            </a:r>
            <a:r>
              <a:rPr sz="24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55" dirty="0">
                <a:latin typeface="Microsoft Sans Serif" panose="020B0604020202020204"/>
                <a:cs typeface="Microsoft Sans Serif" panose="020B0604020202020204"/>
              </a:rPr>
              <a:t>when</a:t>
            </a:r>
            <a:r>
              <a:rPr sz="24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95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4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use</a:t>
            </a:r>
            <a:r>
              <a:rPr sz="24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10" dirty="0">
                <a:latin typeface="Microsoft Sans Serif" panose="020B0604020202020204"/>
                <a:cs typeface="Microsoft Sans Serif" panose="020B0604020202020204"/>
              </a:rPr>
              <a:t>or</a:t>
            </a:r>
            <a:r>
              <a:rPr sz="24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35" dirty="0">
                <a:latin typeface="Microsoft Sans Serif" panose="020B0604020202020204"/>
                <a:cs typeface="Microsoft Sans Serif" panose="020B0604020202020204"/>
              </a:rPr>
              <a:t>trust</a:t>
            </a:r>
            <a:r>
              <a:rPr sz="24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-20" dirty="0">
                <a:latin typeface="Microsoft Sans Serif" panose="020B0604020202020204"/>
                <a:cs typeface="Microsoft Sans Serif" panose="020B0604020202020204"/>
              </a:rPr>
              <a:t>each </a:t>
            </a:r>
            <a:r>
              <a:rPr sz="2400" spc="70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4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4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14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4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-10" dirty="0">
                <a:latin typeface="Microsoft Sans Serif" panose="020B0604020202020204"/>
                <a:cs typeface="Microsoft Sans Serif" panose="020B0604020202020204"/>
              </a:rPr>
              <a:t>ensemble.</a:t>
            </a:r>
            <a:endParaRPr sz="2400">
              <a:latin typeface="Microsoft Sans Serif" panose="020B0604020202020204"/>
              <a:cs typeface="Microsoft Sans Serif" panose="020B0604020202020204"/>
            </a:endParaRPr>
          </a:p>
          <a:p>
            <a:pPr marL="657225" marR="158115" lvl="1" indent="-247650">
              <a:lnSpc>
                <a:spcPct val="101000"/>
              </a:lnSpc>
              <a:spcBef>
                <a:spcPts val="605"/>
              </a:spcBef>
              <a:buClr>
                <a:srgbClr val="6697CC"/>
              </a:buClr>
              <a:buFont typeface="Arial MT"/>
              <a:buChar char="–"/>
              <a:tabLst>
                <a:tab pos="659130" algn="l"/>
              </a:tabLst>
            </a:pP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Unlike</a:t>
            </a:r>
            <a:r>
              <a:rPr sz="2400" spc="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bagging,</a:t>
            </a:r>
            <a:r>
              <a:rPr sz="2400" spc="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400" spc="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stacking,</a:t>
            </a:r>
            <a:r>
              <a:rPr sz="2400" spc="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14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400" spc="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models</a:t>
            </a:r>
            <a:r>
              <a:rPr sz="2400" spc="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2400" spc="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40" dirty="0">
                <a:latin typeface="Microsoft Sans Serif" panose="020B0604020202020204"/>
                <a:cs typeface="Microsoft Sans Serif" panose="020B0604020202020204"/>
              </a:rPr>
              <a:t>typically </a:t>
            </a:r>
            <a:r>
              <a:rPr sz="2400" spc="40" dirty="0"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2400" spc="130" dirty="0">
                <a:latin typeface="Microsoft Sans Serif" panose="020B0604020202020204"/>
                <a:cs typeface="Microsoft Sans Serif" panose="020B0604020202020204"/>
              </a:rPr>
              <a:t>different</a:t>
            </a:r>
            <a:r>
              <a:rPr sz="24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-10" dirty="0">
                <a:latin typeface="Microsoft Sans Serif" panose="020B0604020202020204"/>
                <a:cs typeface="Microsoft Sans Serif" panose="020B0604020202020204"/>
              </a:rPr>
              <a:t>(e.g.</a:t>
            </a:r>
            <a:r>
              <a:rPr sz="24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45" dirty="0">
                <a:latin typeface="Microsoft Sans Serif" panose="020B0604020202020204"/>
                <a:cs typeface="Microsoft Sans Serif" panose="020B0604020202020204"/>
              </a:rPr>
              <a:t>not</a:t>
            </a:r>
            <a:r>
              <a:rPr sz="24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all</a:t>
            </a:r>
            <a:r>
              <a:rPr sz="24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decision</a:t>
            </a:r>
            <a:r>
              <a:rPr sz="24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50" dirty="0">
                <a:latin typeface="Microsoft Sans Serif" panose="020B0604020202020204"/>
                <a:cs typeface="Microsoft Sans Serif" panose="020B0604020202020204"/>
              </a:rPr>
              <a:t>trees)</a:t>
            </a:r>
            <a:r>
              <a:rPr sz="24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4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215" dirty="0">
                <a:latin typeface="Microsoft Sans Serif" panose="020B0604020202020204"/>
                <a:cs typeface="Microsoft Sans Serif" panose="020B0604020202020204"/>
              </a:rPr>
              <a:t>fit</a:t>
            </a:r>
            <a:r>
              <a:rPr sz="24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70" dirty="0">
                <a:latin typeface="Microsoft Sans Serif" panose="020B0604020202020204"/>
                <a:cs typeface="Microsoft Sans Serif" panose="020B0604020202020204"/>
              </a:rPr>
              <a:t>on</a:t>
            </a:r>
            <a:r>
              <a:rPr sz="24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90" dirty="0">
                <a:latin typeface="Microsoft Sans Serif" panose="020B0604020202020204"/>
                <a:cs typeface="Microsoft Sans Serif" panose="020B0604020202020204"/>
              </a:rPr>
              <a:t>the </a:t>
            </a:r>
            <a:r>
              <a:rPr sz="2400" spc="90" dirty="0"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2400" spc="-20" dirty="0">
                <a:latin typeface="Microsoft Sans Serif" panose="020B0604020202020204"/>
                <a:cs typeface="Microsoft Sans Serif" panose="020B0604020202020204"/>
              </a:rPr>
              <a:t>same</a:t>
            </a:r>
            <a:r>
              <a:rPr sz="24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55" dirty="0">
                <a:latin typeface="Microsoft Sans Serif" panose="020B0604020202020204"/>
                <a:cs typeface="Microsoft Sans Serif" panose="020B0604020202020204"/>
              </a:rPr>
              <a:t>dataset</a:t>
            </a:r>
            <a:r>
              <a:rPr sz="24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(e.g.</a:t>
            </a:r>
            <a:r>
              <a:rPr sz="24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instead</a:t>
            </a:r>
            <a:r>
              <a:rPr sz="24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8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4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samples</a:t>
            </a:r>
            <a:r>
              <a:rPr sz="24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8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4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14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4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65" dirty="0">
                <a:latin typeface="Microsoft Sans Serif" panose="020B0604020202020204"/>
                <a:cs typeface="Microsoft Sans Serif" panose="020B0604020202020204"/>
              </a:rPr>
              <a:t>training </a:t>
            </a:r>
            <a:r>
              <a:rPr sz="2400" spc="65" dirty="0"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2400" spc="-10" dirty="0">
                <a:latin typeface="Microsoft Sans Serif" panose="020B0604020202020204"/>
                <a:cs typeface="Microsoft Sans Serif" panose="020B0604020202020204"/>
              </a:rPr>
              <a:t>dataset).</a:t>
            </a:r>
            <a:endParaRPr sz="2400">
              <a:latin typeface="Microsoft Sans Serif" panose="020B0604020202020204"/>
              <a:cs typeface="Microsoft Sans Serif" panose="020B0604020202020204"/>
            </a:endParaRPr>
          </a:p>
          <a:p>
            <a:pPr marL="657225" marR="67310" lvl="1" indent="-247650">
              <a:lnSpc>
                <a:spcPct val="101000"/>
              </a:lnSpc>
              <a:spcBef>
                <a:spcPts val="605"/>
              </a:spcBef>
              <a:buClr>
                <a:srgbClr val="6697CC"/>
              </a:buClr>
              <a:buFont typeface="Arial MT"/>
              <a:buChar char="–"/>
              <a:tabLst>
                <a:tab pos="659130" algn="l"/>
              </a:tabLst>
            </a:pP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Unlike</a:t>
            </a:r>
            <a:r>
              <a:rPr sz="24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55" dirty="0">
                <a:latin typeface="Microsoft Sans Serif" panose="020B0604020202020204"/>
                <a:cs typeface="Microsoft Sans Serif" panose="020B0604020202020204"/>
              </a:rPr>
              <a:t>boosting,</a:t>
            </a:r>
            <a:r>
              <a:rPr sz="24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55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4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stacking,</a:t>
            </a:r>
            <a:r>
              <a:rPr sz="24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-9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4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single</a:t>
            </a:r>
            <a:r>
              <a:rPr sz="24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70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40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40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40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70" dirty="0">
                <a:latin typeface="Microsoft Sans Serif" panose="020B0604020202020204"/>
                <a:cs typeface="Microsoft Sans Serif" panose="020B0604020202020204"/>
              </a:rPr>
              <a:t>to </a:t>
            </a:r>
            <a:r>
              <a:rPr sz="2400" spc="170" dirty="0"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learn</a:t>
            </a:r>
            <a:r>
              <a:rPr sz="24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85" dirty="0">
                <a:latin typeface="Microsoft Sans Serif" panose="020B0604020202020204"/>
                <a:cs typeface="Microsoft Sans Serif" panose="020B0604020202020204"/>
              </a:rPr>
              <a:t>how</a:t>
            </a:r>
            <a:r>
              <a:rPr sz="24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95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4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70" dirty="0">
                <a:latin typeface="Microsoft Sans Serif" panose="020B0604020202020204"/>
                <a:cs typeface="Microsoft Sans Serif" panose="020B0604020202020204"/>
              </a:rPr>
              <a:t>best</a:t>
            </a:r>
            <a:r>
              <a:rPr sz="24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combine</a:t>
            </a:r>
            <a:r>
              <a:rPr sz="24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14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4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60" dirty="0">
                <a:latin typeface="Microsoft Sans Serif" panose="020B0604020202020204"/>
                <a:cs typeface="Microsoft Sans Serif" panose="020B0604020202020204"/>
              </a:rPr>
              <a:t>predictions</a:t>
            </a:r>
            <a:r>
              <a:rPr sz="240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35" dirty="0">
                <a:latin typeface="Microsoft Sans Serif" panose="020B0604020202020204"/>
                <a:cs typeface="Microsoft Sans Serif" panose="020B0604020202020204"/>
              </a:rPr>
              <a:t>from</a:t>
            </a:r>
            <a:r>
              <a:rPr sz="240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90" dirty="0">
                <a:latin typeface="Microsoft Sans Serif" panose="020B0604020202020204"/>
                <a:cs typeface="Microsoft Sans Serif" panose="020B0604020202020204"/>
              </a:rPr>
              <a:t>the 	contributing</a:t>
            </a:r>
            <a:r>
              <a:rPr sz="240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models</a:t>
            </a:r>
            <a:r>
              <a:rPr sz="240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-10" dirty="0">
                <a:latin typeface="Microsoft Sans Serif" panose="020B0604020202020204"/>
                <a:cs typeface="Microsoft Sans Serif" panose="020B0604020202020204"/>
              </a:rPr>
              <a:t>(e.g.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 instead</a:t>
            </a:r>
            <a:r>
              <a:rPr sz="240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8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-9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4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sequence</a:t>
            </a:r>
            <a:r>
              <a:rPr sz="240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55" dirty="0">
                <a:latin typeface="Microsoft Sans Serif" panose="020B0604020202020204"/>
                <a:cs typeface="Microsoft Sans Serif" panose="020B0604020202020204"/>
              </a:rPr>
              <a:t>of </a:t>
            </a:r>
            <a:r>
              <a:rPr sz="2400" spc="155" dirty="0"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2400" dirty="0">
                <a:latin typeface="Microsoft Sans Serif" panose="020B0604020202020204"/>
                <a:cs typeface="Microsoft Sans Serif" panose="020B0604020202020204"/>
              </a:rPr>
              <a:t>models</a:t>
            </a:r>
            <a:r>
              <a:rPr sz="24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35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4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75" dirty="0">
                <a:latin typeface="Microsoft Sans Serif" panose="020B0604020202020204"/>
                <a:cs typeface="Microsoft Sans Serif" panose="020B0604020202020204"/>
              </a:rPr>
              <a:t>correct</a:t>
            </a:r>
            <a:r>
              <a:rPr sz="24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14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4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60" dirty="0">
                <a:latin typeface="Microsoft Sans Serif" panose="020B0604020202020204"/>
                <a:cs typeface="Microsoft Sans Serif" panose="020B0604020202020204"/>
              </a:rPr>
              <a:t>predictions</a:t>
            </a:r>
            <a:r>
              <a:rPr sz="24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18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4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95" dirty="0">
                <a:latin typeface="Microsoft Sans Serif" panose="020B0604020202020204"/>
                <a:cs typeface="Microsoft Sans Serif" panose="020B0604020202020204"/>
              </a:rPr>
              <a:t>prior</a:t>
            </a:r>
            <a:r>
              <a:rPr sz="24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-10" dirty="0">
                <a:latin typeface="Microsoft Sans Serif" panose="020B0604020202020204"/>
                <a:cs typeface="Microsoft Sans Serif" panose="020B0604020202020204"/>
              </a:rPr>
              <a:t>models).</a:t>
            </a:r>
            <a:endParaRPr sz="240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Stacking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7649"/>
            <a:ext cx="8128000" cy="45415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0835" marR="5080" indent="-318770">
              <a:lnSpc>
                <a:spcPct val="100000"/>
              </a:lnSpc>
              <a:spcBef>
                <a:spcPts val="105"/>
              </a:spcBef>
              <a:buClr>
                <a:srgbClr val="6697CC"/>
              </a:buClr>
              <a:buFont typeface="Arial MT"/>
              <a:buChar char="•"/>
              <a:tabLst>
                <a:tab pos="330835" algn="l"/>
              </a:tabLst>
            </a:pPr>
            <a:r>
              <a:rPr sz="2600" spc="-3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6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55" dirty="0">
                <a:latin typeface="Microsoft Sans Serif" panose="020B0604020202020204"/>
                <a:cs typeface="Microsoft Sans Serif" panose="020B0604020202020204"/>
              </a:rPr>
              <a:t>architecture</a:t>
            </a:r>
            <a:r>
              <a:rPr sz="26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16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6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-11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6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stacking</a:t>
            </a:r>
            <a:r>
              <a:rPr sz="26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55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6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involves</a:t>
            </a:r>
            <a:r>
              <a:rPr sz="26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165" dirty="0">
                <a:latin typeface="Microsoft Sans Serif" panose="020B0604020202020204"/>
                <a:cs typeface="Microsoft Sans Serif" panose="020B0604020202020204"/>
              </a:rPr>
              <a:t>two</a:t>
            </a:r>
            <a:r>
              <a:rPr sz="26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70" dirty="0">
                <a:latin typeface="Microsoft Sans Serif" panose="020B0604020202020204"/>
                <a:cs typeface="Microsoft Sans Serif" panose="020B0604020202020204"/>
              </a:rPr>
              <a:t>or </a:t>
            </a:r>
            <a:r>
              <a:rPr sz="2600" spc="60" dirty="0">
                <a:latin typeface="Microsoft Sans Serif" panose="020B0604020202020204"/>
                <a:cs typeface="Microsoft Sans Serif" panose="020B0604020202020204"/>
              </a:rPr>
              <a:t>more</a:t>
            </a:r>
            <a:r>
              <a:rPr sz="26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-35" dirty="0">
                <a:latin typeface="Microsoft Sans Serif" panose="020B0604020202020204"/>
                <a:cs typeface="Microsoft Sans Serif" panose="020B0604020202020204"/>
              </a:rPr>
              <a:t>base</a:t>
            </a:r>
            <a:r>
              <a:rPr sz="26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models,</a:t>
            </a:r>
            <a:r>
              <a:rPr sz="26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130" dirty="0">
                <a:latin typeface="Microsoft Sans Serif" panose="020B0604020202020204"/>
                <a:cs typeface="Microsoft Sans Serif" panose="020B0604020202020204"/>
              </a:rPr>
              <a:t>often</a:t>
            </a:r>
            <a:r>
              <a:rPr sz="26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85" dirty="0">
                <a:latin typeface="Microsoft Sans Serif" panose="020B0604020202020204"/>
                <a:cs typeface="Microsoft Sans Serif" panose="020B0604020202020204"/>
              </a:rPr>
              <a:t>referred</a:t>
            </a:r>
            <a:r>
              <a:rPr sz="26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195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6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-130" dirty="0">
                <a:latin typeface="Microsoft Sans Serif" panose="020B0604020202020204"/>
                <a:cs typeface="Microsoft Sans Serif" panose="020B0604020202020204"/>
              </a:rPr>
              <a:t>as</a:t>
            </a:r>
            <a:r>
              <a:rPr sz="26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level-</a:t>
            </a:r>
            <a:r>
              <a:rPr sz="2600" spc="-50" dirty="0">
                <a:latin typeface="Microsoft Sans Serif" panose="020B0604020202020204"/>
                <a:cs typeface="Microsoft Sans Serif" panose="020B0604020202020204"/>
              </a:rPr>
              <a:t>0 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models,</a:t>
            </a:r>
            <a:r>
              <a:rPr sz="26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6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-11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6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50" dirty="0">
                <a:latin typeface="Microsoft Sans Serif" panose="020B0604020202020204"/>
                <a:cs typeface="Microsoft Sans Serif" panose="020B0604020202020204"/>
              </a:rPr>
              <a:t>meta-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60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130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6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combines</a:t>
            </a:r>
            <a:r>
              <a:rPr sz="260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80" dirty="0">
                <a:latin typeface="Microsoft Sans Serif" panose="020B0604020202020204"/>
                <a:cs typeface="Microsoft Sans Serif" panose="020B0604020202020204"/>
              </a:rPr>
              <a:t>the </a:t>
            </a:r>
            <a:r>
              <a:rPr sz="2600" spc="45" dirty="0">
                <a:latin typeface="Microsoft Sans Serif" panose="020B0604020202020204"/>
                <a:cs typeface="Microsoft Sans Serif" panose="020B0604020202020204"/>
              </a:rPr>
              <a:t>predictions</a:t>
            </a:r>
            <a:r>
              <a:rPr sz="260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16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60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10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60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-35" dirty="0">
                <a:latin typeface="Microsoft Sans Serif" panose="020B0604020202020204"/>
                <a:cs typeface="Microsoft Sans Serif" panose="020B0604020202020204"/>
              </a:rPr>
              <a:t>base</a:t>
            </a:r>
            <a:r>
              <a:rPr sz="26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models,</a:t>
            </a:r>
            <a:r>
              <a:rPr sz="260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85" dirty="0">
                <a:latin typeface="Microsoft Sans Serif" panose="020B0604020202020204"/>
                <a:cs typeface="Microsoft Sans Serif" panose="020B0604020202020204"/>
              </a:rPr>
              <a:t>referred</a:t>
            </a:r>
            <a:r>
              <a:rPr sz="260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195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60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-135" dirty="0">
                <a:latin typeface="Microsoft Sans Serif" panose="020B0604020202020204"/>
                <a:cs typeface="Microsoft Sans Serif" panose="020B0604020202020204"/>
              </a:rPr>
              <a:t>as</a:t>
            </a:r>
            <a:r>
              <a:rPr sz="26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-50" dirty="0">
                <a:latin typeface="Microsoft Sans Serif" panose="020B0604020202020204"/>
                <a:cs typeface="Microsoft Sans Serif" panose="020B0604020202020204"/>
              </a:rPr>
              <a:t>a 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level-1</a:t>
            </a:r>
            <a:r>
              <a:rPr sz="2600" spc="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-10" dirty="0">
                <a:latin typeface="Microsoft Sans Serif" panose="020B0604020202020204"/>
                <a:cs typeface="Microsoft Sans Serif" panose="020B0604020202020204"/>
              </a:rPr>
              <a:t>model.</a:t>
            </a:r>
            <a:endParaRPr sz="2600">
              <a:latin typeface="Microsoft Sans Serif" panose="020B0604020202020204"/>
              <a:cs typeface="Microsoft Sans Serif" panose="020B0604020202020204"/>
            </a:endParaRPr>
          </a:p>
          <a:p>
            <a:pPr marL="702945" marR="260350" lvl="1" indent="-265430">
              <a:lnSpc>
                <a:spcPct val="100000"/>
              </a:lnSpc>
              <a:spcBef>
                <a:spcPts val="645"/>
              </a:spcBef>
              <a:buClr>
                <a:srgbClr val="6697CC"/>
              </a:buClr>
              <a:buFont typeface="Arial MT"/>
              <a:buChar char="–"/>
              <a:tabLst>
                <a:tab pos="702945" algn="l"/>
              </a:tabLst>
            </a:pPr>
            <a:r>
              <a:rPr sz="2600" spc="-30" dirty="0">
                <a:latin typeface="Microsoft Sans Serif" panose="020B0604020202020204"/>
                <a:cs typeface="Microsoft Sans Serif" panose="020B0604020202020204"/>
              </a:rPr>
              <a:t>Level-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0</a:t>
            </a:r>
            <a:r>
              <a:rPr sz="260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Models</a:t>
            </a:r>
            <a:r>
              <a:rPr sz="26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-65" dirty="0">
                <a:latin typeface="Microsoft Sans Serif" panose="020B0604020202020204"/>
                <a:cs typeface="Microsoft Sans Serif" panose="020B0604020202020204"/>
              </a:rPr>
              <a:t>(Base-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Models):</a:t>
            </a:r>
            <a:r>
              <a:rPr sz="26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Models</a:t>
            </a:r>
            <a:r>
              <a:rPr sz="260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220" dirty="0">
                <a:latin typeface="Microsoft Sans Serif" panose="020B0604020202020204"/>
                <a:cs typeface="Microsoft Sans Serif" panose="020B0604020202020204"/>
              </a:rPr>
              <a:t>fit</a:t>
            </a:r>
            <a:r>
              <a:rPr sz="260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on</a:t>
            </a:r>
            <a:r>
              <a:rPr sz="260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80" dirty="0">
                <a:latin typeface="Microsoft Sans Serif" panose="020B0604020202020204"/>
                <a:cs typeface="Microsoft Sans Serif" panose="020B0604020202020204"/>
              </a:rPr>
              <a:t>the </a:t>
            </a:r>
            <a:r>
              <a:rPr sz="2600" spc="70" dirty="0">
                <a:latin typeface="Microsoft Sans Serif" panose="020B0604020202020204"/>
                <a:cs typeface="Microsoft Sans Serif" panose="020B0604020202020204"/>
              </a:rPr>
              <a:t>training</a:t>
            </a:r>
            <a:r>
              <a:rPr sz="260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data</a:t>
            </a:r>
            <a:r>
              <a:rPr sz="26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6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whose</a:t>
            </a:r>
            <a:r>
              <a:rPr sz="260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45" dirty="0">
                <a:latin typeface="Microsoft Sans Serif" panose="020B0604020202020204"/>
                <a:cs typeface="Microsoft Sans Serif" panose="020B0604020202020204"/>
              </a:rPr>
              <a:t>predictions</a:t>
            </a:r>
            <a:r>
              <a:rPr sz="26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-25" dirty="0">
                <a:latin typeface="Microsoft Sans Serif" panose="020B0604020202020204"/>
                <a:cs typeface="Microsoft Sans Serif" panose="020B0604020202020204"/>
              </a:rPr>
              <a:t>are </a:t>
            </a:r>
            <a:r>
              <a:rPr sz="2600" spc="-10" dirty="0">
                <a:latin typeface="Microsoft Sans Serif" panose="020B0604020202020204"/>
                <a:cs typeface="Microsoft Sans Serif" panose="020B0604020202020204"/>
              </a:rPr>
              <a:t>compiled.</a:t>
            </a:r>
            <a:endParaRPr sz="2600">
              <a:latin typeface="Microsoft Sans Serif" panose="020B0604020202020204"/>
              <a:cs typeface="Microsoft Sans Serif" panose="020B0604020202020204"/>
            </a:endParaRPr>
          </a:p>
          <a:p>
            <a:pPr marL="702945" marR="204470" lvl="1" indent="-265430">
              <a:lnSpc>
                <a:spcPct val="100000"/>
              </a:lnSpc>
              <a:spcBef>
                <a:spcPts val="645"/>
              </a:spcBef>
              <a:buClr>
                <a:srgbClr val="6697CC"/>
              </a:buClr>
              <a:buFont typeface="Arial MT"/>
              <a:buChar char="–"/>
              <a:tabLst>
                <a:tab pos="702945" algn="l"/>
              </a:tabLst>
            </a:pPr>
            <a:r>
              <a:rPr sz="2600" spc="-30" dirty="0">
                <a:latin typeface="Microsoft Sans Serif" panose="020B0604020202020204"/>
                <a:cs typeface="Microsoft Sans Serif" panose="020B0604020202020204"/>
              </a:rPr>
              <a:t>Level-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1</a:t>
            </a:r>
            <a:r>
              <a:rPr sz="26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60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6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50" dirty="0">
                <a:latin typeface="Microsoft Sans Serif" panose="020B0604020202020204"/>
                <a:cs typeface="Microsoft Sans Serif" panose="020B0604020202020204"/>
              </a:rPr>
              <a:t>(Meta-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Model):</a:t>
            </a:r>
            <a:r>
              <a:rPr sz="26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60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60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135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6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-10" dirty="0">
                <a:latin typeface="Microsoft Sans Serif" panose="020B0604020202020204"/>
                <a:cs typeface="Microsoft Sans Serif" panose="020B0604020202020204"/>
              </a:rPr>
              <a:t>learns </a:t>
            </a:r>
            <a:r>
              <a:rPr sz="2600" spc="65" dirty="0">
                <a:latin typeface="Microsoft Sans Serif" panose="020B0604020202020204"/>
                <a:cs typeface="Microsoft Sans Serif" panose="020B0604020202020204"/>
              </a:rPr>
              <a:t>how</a:t>
            </a:r>
            <a:r>
              <a:rPr sz="260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195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6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55" dirty="0">
                <a:latin typeface="Microsoft Sans Serif" panose="020B0604020202020204"/>
                <a:cs typeface="Microsoft Sans Serif" panose="020B0604020202020204"/>
              </a:rPr>
              <a:t>best</a:t>
            </a:r>
            <a:r>
              <a:rPr sz="260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dirty="0">
                <a:latin typeface="Microsoft Sans Serif" panose="020B0604020202020204"/>
                <a:cs typeface="Microsoft Sans Serif" panose="020B0604020202020204"/>
              </a:rPr>
              <a:t>combine</a:t>
            </a:r>
            <a:r>
              <a:rPr sz="26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10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60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45" dirty="0">
                <a:latin typeface="Microsoft Sans Serif" panose="020B0604020202020204"/>
                <a:cs typeface="Microsoft Sans Serif" panose="020B0604020202020204"/>
              </a:rPr>
              <a:t>predictions</a:t>
            </a:r>
            <a:r>
              <a:rPr sz="260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165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6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10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60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-20" dirty="0">
                <a:latin typeface="Microsoft Sans Serif" panose="020B0604020202020204"/>
                <a:cs typeface="Microsoft Sans Serif" panose="020B0604020202020204"/>
              </a:rPr>
              <a:t>base </a:t>
            </a:r>
            <a:r>
              <a:rPr sz="2600" spc="-10" dirty="0">
                <a:latin typeface="Microsoft Sans Serif" panose="020B0604020202020204"/>
                <a:cs typeface="Microsoft Sans Serif" panose="020B0604020202020204"/>
              </a:rPr>
              <a:t>models.</a:t>
            </a:r>
            <a:endParaRPr sz="260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Stacking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3019" y="2049633"/>
            <a:ext cx="7545390" cy="293009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Stacking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46084" cy="4520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27660" marR="167640" indent="-315595">
              <a:lnSpc>
                <a:spcPct val="101000"/>
              </a:lnSpc>
              <a:spcBef>
                <a:spcPts val="90"/>
              </a:spcBef>
              <a:buClr>
                <a:srgbClr val="6697CC"/>
              </a:buClr>
              <a:buFont typeface="Arial MT"/>
              <a:buChar char="•"/>
              <a:tabLst>
                <a:tab pos="327660" algn="l"/>
              </a:tabLst>
            </a:pP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65" dirty="0">
                <a:latin typeface="Microsoft Sans Serif" panose="020B0604020202020204"/>
                <a:cs typeface="Microsoft Sans Serif" panose="020B0604020202020204"/>
              </a:rPr>
              <a:t>meta-</a:t>
            </a:r>
            <a:r>
              <a:rPr sz="2550" spc="55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5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5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85" dirty="0">
                <a:latin typeface="Microsoft Sans Serif" panose="020B0604020202020204"/>
                <a:cs typeface="Microsoft Sans Serif" panose="020B0604020202020204"/>
              </a:rPr>
              <a:t>trained</a:t>
            </a:r>
            <a:r>
              <a:rPr sz="25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70" dirty="0">
                <a:latin typeface="Microsoft Sans Serif" panose="020B0604020202020204"/>
                <a:cs typeface="Microsoft Sans Serif" panose="020B0604020202020204"/>
              </a:rPr>
              <a:t>on</a:t>
            </a:r>
            <a:r>
              <a:rPr sz="25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60" dirty="0">
                <a:latin typeface="Microsoft Sans Serif" panose="020B0604020202020204"/>
                <a:cs typeface="Microsoft Sans Serif" panose="020B0604020202020204"/>
              </a:rPr>
              <a:t>predictions</a:t>
            </a:r>
            <a:r>
              <a:rPr sz="25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20" dirty="0">
                <a:latin typeface="Microsoft Sans Serif" panose="020B0604020202020204"/>
                <a:cs typeface="Microsoft Sans Serif" panose="020B0604020202020204"/>
              </a:rPr>
              <a:t>made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by</a:t>
            </a:r>
            <a:r>
              <a:rPr sz="25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base</a:t>
            </a:r>
            <a:r>
              <a:rPr sz="25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models</a:t>
            </a:r>
            <a:r>
              <a:rPr sz="25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70" dirty="0">
                <a:latin typeface="Microsoft Sans Serif" panose="020B0604020202020204"/>
                <a:cs typeface="Microsoft Sans Serif" panose="020B0604020202020204"/>
              </a:rPr>
              <a:t>on</a:t>
            </a: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14" dirty="0">
                <a:latin typeface="Microsoft Sans Serif" panose="020B0604020202020204"/>
                <a:cs typeface="Microsoft Sans Serif" panose="020B0604020202020204"/>
              </a:rPr>
              <a:t>out-</a:t>
            </a:r>
            <a:r>
              <a:rPr sz="2550" spc="60" dirty="0">
                <a:latin typeface="Microsoft Sans Serif" panose="020B0604020202020204"/>
                <a:cs typeface="Microsoft Sans Serif" panose="020B0604020202020204"/>
              </a:rPr>
              <a:t>of-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sample</a:t>
            </a:r>
            <a:r>
              <a:rPr sz="25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data.</a:t>
            </a:r>
            <a:endParaRPr sz="2550">
              <a:latin typeface="Microsoft Sans Serif" panose="020B0604020202020204"/>
              <a:cs typeface="Microsoft Sans Serif" panose="020B0604020202020204"/>
            </a:endParaRPr>
          </a:p>
          <a:p>
            <a:pPr marL="327660" marR="5080" indent="-315595">
              <a:lnSpc>
                <a:spcPct val="101000"/>
              </a:lnSpc>
              <a:spcBef>
                <a:spcPts val="735"/>
              </a:spcBef>
              <a:buClr>
                <a:srgbClr val="6697CC"/>
              </a:buClr>
              <a:buFont typeface="Arial MT"/>
              <a:buChar char="•"/>
              <a:tabLst>
                <a:tab pos="327660" algn="l"/>
              </a:tabLst>
            </a:pP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50" dirty="0">
                <a:latin typeface="Microsoft Sans Serif" panose="020B0604020202020204"/>
                <a:cs typeface="Microsoft Sans Serif" panose="020B0604020202020204"/>
              </a:rPr>
              <a:t>is,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65" dirty="0">
                <a:latin typeface="Microsoft Sans Serif" panose="020B0604020202020204"/>
                <a:cs typeface="Microsoft Sans Serif" panose="020B0604020202020204"/>
              </a:rPr>
              <a:t>data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55" dirty="0">
                <a:latin typeface="Microsoft Sans Serif" panose="020B0604020202020204"/>
                <a:cs typeface="Microsoft Sans Serif" panose="020B0604020202020204"/>
              </a:rPr>
              <a:t>not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5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204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5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00" dirty="0">
                <a:latin typeface="Microsoft Sans Serif" panose="020B0604020202020204"/>
                <a:cs typeface="Microsoft Sans Serif" panose="020B0604020202020204"/>
              </a:rPr>
              <a:t>train</a:t>
            </a:r>
            <a:r>
              <a:rPr sz="25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20" dirty="0">
                <a:latin typeface="Microsoft Sans Serif" panose="020B0604020202020204"/>
                <a:cs typeface="Microsoft Sans Serif" panose="020B0604020202020204"/>
              </a:rPr>
              <a:t>base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models</a:t>
            </a:r>
            <a:r>
              <a:rPr sz="25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3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05" dirty="0">
                <a:latin typeface="Microsoft Sans Serif" panose="020B0604020202020204"/>
                <a:cs typeface="Microsoft Sans Serif" panose="020B0604020202020204"/>
              </a:rPr>
              <a:t>fed </a:t>
            </a:r>
            <a:r>
              <a:rPr sz="2550" spc="204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5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20" dirty="0">
                <a:latin typeface="Microsoft Sans Serif" panose="020B0604020202020204"/>
                <a:cs typeface="Microsoft Sans Serif" panose="020B0604020202020204"/>
              </a:rPr>
              <a:t>base</a:t>
            </a:r>
            <a:r>
              <a:rPr sz="25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models,</a:t>
            </a:r>
            <a:r>
              <a:rPr sz="25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60" dirty="0">
                <a:latin typeface="Microsoft Sans Serif" panose="020B0604020202020204"/>
                <a:cs typeface="Microsoft Sans Serif" panose="020B0604020202020204"/>
              </a:rPr>
              <a:t>predictions</a:t>
            </a:r>
            <a:r>
              <a:rPr sz="25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25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made,</a:t>
            </a:r>
            <a:r>
              <a:rPr sz="25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5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40" dirty="0">
                <a:latin typeface="Microsoft Sans Serif" panose="020B0604020202020204"/>
                <a:cs typeface="Microsoft Sans Serif" panose="020B0604020202020204"/>
              </a:rPr>
              <a:t>these </a:t>
            </a:r>
            <a:r>
              <a:rPr sz="2550" spc="50" dirty="0">
                <a:latin typeface="Microsoft Sans Serif" panose="020B0604020202020204"/>
                <a:cs typeface="Microsoft Sans Serif" panose="020B0604020202020204"/>
              </a:rPr>
              <a:t>predictions,</a:t>
            </a:r>
            <a:r>
              <a:rPr sz="25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along</a:t>
            </a:r>
            <a:r>
              <a:rPr sz="25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40" dirty="0">
                <a:latin typeface="Microsoft Sans Serif" panose="020B0604020202020204"/>
                <a:cs typeface="Microsoft Sans Serif" panose="020B0604020202020204"/>
              </a:rPr>
              <a:t>with</a:t>
            </a:r>
            <a:r>
              <a:rPr sz="25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60" dirty="0">
                <a:latin typeface="Microsoft Sans Serif" panose="020B0604020202020204"/>
                <a:cs typeface="Microsoft Sans Serif" panose="020B0604020202020204"/>
              </a:rPr>
              <a:t>expected</a:t>
            </a:r>
            <a:r>
              <a:rPr sz="25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70" dirty="0">
                <a:latin typeface="Microsoft Sans Serif" panose="020B0604020202020204"/>
                <a:cs typeface="Microsoft Sans Serif" panose="020B0604020202020204"/>
              </a:rPr>
              <a:t>outputs, provide</a:t>
            </a:r>
            <a:r>
              <a:rPr sz="25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10" dirty="0">
                <a:latin typeface="Microsoft Sans Serif" panose="020B0604020202020204"/>
                <a:cs typeface="Microsoft Sans Serif" panose="020B0604020202020204"/>
              </a:rPr>
              <a:t>input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5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55" dirty="0">
                <a:latin typeface="Microsoft Sans Serif" panose="020B0604020202020204"/>
                <a:cs typeface="Microsoft Sans Serif" panose="020B0604020202020204"/>
              </a:rPr>
              <a:t>output</a:t>
            </a:r>
            <a:r>
              <a:rPr sz="25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pairs</a:t>
            </a:r>
            <a:r>
              <a:rPr sz="25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9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5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70" dirty="0">
                <a:latin typeface="Microsoft Sans Serif" panose="020B0604020202020204"/>
                <a:cs typeface="Microsoft Sans Serif" panose="020B0604020202020204"/>
              </a:rPr>
              <a:t>training </a:t>
            </a:r>
            <a:r>
              <a:rPr sz="2550" spc="65" dirty="0">
                <a:latin typeface="Microsoft Sans Serif" panose="020B0604020202020204"/>
                <a:cs typeface="Microsoft Sans Serif" panose="020B0604020202020204"/>
              </a:rPr>
              <a:t>dataset</a:t>
            </a:r>
            <a:r>
              <a:rPr sz="25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204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5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225" dirty="0">
                <a:latin typeface="Microsoft Sans Serif" panose="020B0604020202020204"/>
                <a:cs typeface="Microsoft Sans Serif" panose="020B0604020202020204"/>
              </a:rPr>
              <a:t>fit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65" dirty="0">
                <a:latin typeface="Microsoft Sans Serif" panose="020B0604020202020204"/>
                <a:cs typeface="Microsoft Sans Serif" panose="020B0604020202020204"/>
              </a:rPr>
              <a:t>meta-</a:t>
            </a: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model.</a:t>
            </a:r>
            <a:endParaRPr sz="2550">
              <a:latin typeface="Microsoft Sans Serif" panose="020B0604020202020204"/>
              <a:cs typeface="Microsoft Sans Serif" panose="020B0604020202020204"/>
            </a:endParaRPr>
          </a:p>
          <a:p>
            <a:pPr marL="327660" marR="196850" indent="-315595">
              <a:lnSpc>
                <a:spcPct val="101000"/>
              </a:lnSpc>
              <a:spcBef>
                <a:spcPts val="735"/>
              </a:spcBef>
              <a:buClr>
                <a:srgbClr val="6697CC"/>
              </a:buClr>
              <a:buFont typeface="Arial MT"/>
              <a:buChar char="•"/>
              <a:tabLst>
                <a:tab pos="327660" algn="l"/>
              </a:tabLst>
            </a:pP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05" dirty="0">
                <a:latin typeface="Microsoft Sans Serif" panose="020B0604020202020204"/>
                <a:cs typeface="Microsoft Sans Serif" panose="020B0604020202020204"/>
              </a:rPr>
              <a:t>outputs</a:t>
            </a:r>
            <a:r>
              <a:rPr sz="25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45" dirty="0">
                <a:latin typeface="Microsoft Sans Serif" panose="020B0604020202020204"/>
                <a:cs typeface="Microsoft Sans Serif" panose="020B0604020202020204"/>
              </a:rPr>
              <a:t>from</a:t>
            </a:r>
            <a:r>
              <a:rPr sz="25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20" dirty="0">
                <a:latin typeface="Microsoft Sans Serif" panose="020B0604020202020204"/>
                <a:cs typeface="Microsoft Sans Serif" panose="020B0604020202020204"/>
              </a:rPr>
              <a:t>base</a:t>
            </a:r>
            <a:r>
              <a:rPr sz="25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models</a:t>
            </a:r>
            <a:r>
              <a:rPr sz="25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110" dirty="0">
                <a:latin typeface="Microsoft Sans Serif" panose="020B0604020202020204"/>
                <a:cs typeface="Microsoft Sans Serif" panose="020B0604020202020204"/>
              </a:rPr>
              <a:t>as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14" dirty="0">
                <a:latin typeface="Microsoft Sans Serif" panose="020B0604020202020204"/>
                <a:cs typeface="Microsoft Sans Serif" panose="020B0604020202020204"/>
              </a:rPr>
              <a:t>input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80" dirty="0">
                <a:latin typeface="Microsoft Sans Serif" panose="020B0604020202020204"/>
                <a:cs typeface="Microsoft Sans Serif" panose="020B0604020202020204"/>
              </a:rPr>
              <a:t>to </a:t>
            </a:r>
            <a:r>
              <a:rPr sz="255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65" dirty="0">
                <a:latin typeface="Microsoft Sans Serif" panose="020B0604020202020204"/>
                <a:cs typeface="Microsoft Sans Serif" panose="020B0604020202020204"/>
              </a:rPr>
              <a:t>meta-</a:t>
            </a:r>
            <a:r>
              <a:rPr sz="2550" spc="55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may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55" dirty="0">
                <a:latin typeface="Microsoft Sans Serif" panose="020B0604020202020204"/>
                <a:cs typeface="Microsoft Sans Serif" panose="020B0604020202020204"/>
              </a:rPr>
              <a:t>be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real</a:t>
            </a:r>
            <a:r>
              <a:rPr sz="25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value</a:t>
            </a:r>
            <a:r>
              <a:rPr sz="25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6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5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75" dirty="0">
                <a:latin typeface="Microsoft Sans Serif" panose="020B0604020202020204"/>
                <a:cs typeface="Microsoft Sans Serif" panose="020B0604020202020204"/>
              </a:rPr>
              <a:t>case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65" dirty="0">
                <a:latin typeface="Microsoft Sans Serif" panose="020B0604020202020204"/>
                <a:cs typeface="Microsoft Sans Serif" panose="020B0604020202020204"/>
              </a:rPr>
              <a:t>of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regression,</a:t>
            </a:r>
            <a:r>
              <a:rPr sz="25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5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85" dirty="0">
                <a:latin typeface="Microsoft Sans Serif" panose="020B0604020202020204"/>
                <a:cs typeface="Microsoft Sans Serif" panose="020B0604020202020204"/>
              </a:rPr>
              <a:t>probability</a:t>
            </a:r>
            <a:r>
              <a:rPr sz="25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values,</a:t>
            </a:r>
            <a:r>
              <a:rPr sz="25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85" dirty="0">
                <a:latin typeface="Microsoft Sans Serif" panose="020B0604020202020204"/>
                <a:cs typeface="Microsoft Sans Serif" panose="020B0604020202020204"/>
              </a:rPr>
              <a:t>probability</a:t>
            </a:r>
            <a:r>
              <a:rPr sz="25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35" dirty="0">
                <a:latin typeface="Microsoft Sans Serif" panose="020B0604020202020204"/>
                <a:cs typeface="Microsoft Sans Serif" panose="020B0604020202020204"/>
              </a:rPr>
              <a:t>like </a:t>
            </a: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values,</a:t>
            </a:r>
            <a:r>
              <a:rPr sz="25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10" dirty="0">
                <a:latin typeface="Microsoft Sans Serif" panose="020B0604020202020204"/>
                <a:cs typeface="Microsoft Sans Serif" panose="020B0604020202020204"/>
              </a:rPr>
              <a:t>or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75" dirty="0">
                <a:latin typeface="Microsoft Sans Serif" panose="020B0604020202020204"/>
                <a:cs typeface="Microsoft Sans Serif" panose="020B0604020202020204"/>
              </a:rPr>
              <a:t>class</a:t>
            </a:r>
            <a:r>
              <a:rPr sz="25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labels</a:t>
            </a:r>
            <a:r>
              <a:rPr sz="25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6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5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75" dirty="0">
                <a:latin typeface="Microsoft Sans Serif" panose="020B0604020202020204"/>
                <a:cs typeface="Microsoft Sans Serif" panose="020B0604020202020204"/>
              </a:rPr>
              <a:t> case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9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classification.</a:t>
            </a:r>
            <a:endParaRPr sz="25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Voting</a:t>
            </a:r>
            <a:endParaRPr spc="10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32740" indent="-310515">
              <a:lnSpc>
                <a:spcPct val="100000"/>
              </a:lnSpc>
              <a:spcBef>
                <a:spcPts val="810"/>
              </a:spcBef>
              <a:buClr>
                <a:srgbClr val="6697CC"/>
              </a:buClr>
              <a:buFont typeface="Arial MT"/>
              <a:buChar char="•"/>
              <a:tabLst>
                <a:tab pos="332740" algn="l"/>
              </a:tabLst>
            </a:pPr>
            <a:r>
              <a:rPr sz="2550" spc="80" dirty="0"/>
              <a:t>Voting</a:t>
            </a:r>
            <a:r>
              <a:rPr sz="2550" spc="-40" dirty="0"/>
              <a:t> </a:t>
            </a:r>
            <a:r>
              <a:rPr sz="2550" spc="-10" dirty="0"/>
              <a:t>is</a:t>
            </a:r>
            <a:r>
              <a:rPr sz="2550" spc="-35" dirty="0"/>
              <a:t> </a:t>
            </a:r>
            <a:r>
              <a:rPr sz="2550" dirty="0"/>
              <a:t>an</a:t>
            </a:r>
            <a:r>
              <a:rPr sz="2550" spc="-35" dirty="0"/>
              <a:t> </a:t>
            </a:r>
            <a:r>
              <a:rPr sz="2550" dirty="0"/>
              <a:t>ensemble</a:t>
            </a:r>
            <a:r>
              <a:rPr sz="2550" spc="-35" dirty="0"/>
              <a:t> </a:t>
            </a:r>
            <a:r>
              <a:rPr sz="2550" dirty="0"/>
              <a:t>machine</a:t>
            </a:r>
            <a:r>
              <a:rPr sz="2550" spc="-40" dirty="0"/>
              <a:t> </a:t>
            </a:r>
            <a:r>
              <a:rPr sz="2550" dirty="0"/>
              <a:t>learning</a:t>
            </a:r>
            <a:r>
              <a:rPr sz="2550" spc="-35" dirty="0"/>
              <a:t> </a:t>
            </a:r>
            <a:r>
              <a:rPr sz="2550" spc="50" dirty="0"/>
              <a:t>algorithm.</a:t>
            </a:r>
            <a:endParaRPr sz="2550"/>
          </a:p>
          <a:p>
            <a:pPr marL="332740" marR="157480" indent="-311150">
              <a:lnSpc>
                <a:spcPct val="100000"/>
              </a:lnSpc>
              <a:spcBef>
                <a:spcPts val="720"/>
              </a:spcBef>
              <a:buClr>
                <a:srgbClr val="6697CC"/>
              </a:buClr>
              <a:buFont typeface="Arial MT"/>
              <a:buChar char="•"/>
              <a:tabLst>
                <a:tab pos="332740" algn="l"/>
              </a:tabLst>
            </a:pPr>
            <a:r>
              <a:rPr sz="2550" dirty="0"/>
              <a:t>For</a:t>
            </a:r>
            <a:r>
              <a:rPr sz="2550" spc="-25" dirty="0"/>
              <a:t> </a:t>
            </a:r>
            <a:r>
              <a:rPr sz="2550" dirty="0"/>
              <a:t>regression,</a:t>
            </a:r>
            <a:r>
              <a:rPr sz="2550" spc="-25" dirty="0"/>
              <a:t> </a:t>
            </a:r>
            <a:r>
              <a:rPr sz="2550" spc="-90" dirty="0"/>
              <a:t>a</a:t>
            </a:r>
            <a:r>
              <a:rPr sz="2550" spc="-10" dirty="0"/>
              <a:t> </a:t>
            </a:r>
            <a:r>
              <a:rPr sz="2550" spc="80" dirty="0"/>
              <a:t>voting</a:t>
            </a:r>
            <a:r>
              <a:rPr sz="2550" spc="-15" dirty="0"/>
              <a:t> </a:t>
            </a:r>
            <a:r>
              <a:rPr sz="2550" dirty="0"/>
              <a:t>ensemble</a:t>
            </a:r>
            <a:r>
              <a:rPr sz="2550" spc="-25" dirty="0"/>
              <a:t> </a:t>
            </a:r>
            <a:r>
              <a:rPr sz="2550" dirty="0"/>
              <a:t>involves</a:t>
            </a:r>
            <a:r>
              <a:rPr sz="2550" spc="-10" dirty="0"/>
              <a:t> </a:t>
            </a:r>
            <a:r>
              <a:rPr sz="2550" dirty="0"/>
              <a:t>making</a:t>
            </a:r>
            <a:r>
              <a:rPr sz="2550" spc="-15" dirty="0"/>
              <a:t> </a:t>
            </a:r>
            <a:r>
              <a:rPr sz="2550" spc="-50" dirty="0"/>
              <a:t>a </a:t>
            </a:r>
            <a:r>
              <a:rPr sz="2550" spc="70" dirty="0"/>
              <a:t>prediction</a:t>
            </a:r>
            <a:r>
              <a:rPr sz="2550" spc="-100" dirty="0"/>
              <a:t> </a:t>
            </a:r>
            <a:r>
              <a:rPr sz="2550" spc="135" dirty="0"/>
              <a:t>that</a:t>
            </a:r>
            <a:r>
              <a:rPr sz="2550" spc="-95" dirty="0"/>
              <a:t> </a:t>
            </a:r>
            <a:r>
              <a:rPr sz="2550" spc="-20" dirty="0"/>
              <a:t>is</a:t>
            </a:r>
            <a:r>
              <a:rPr sz="2550" spc="-95" dirty="0"/>
              <a:t> </a:t>
            </a:r>
            <a:r>
              <a:rPr sz="2550" spc="105" dirty="0"/>
              <a:t>the</a:t>
            </a:r>
            <a:r>
              <a:rPr sz="2550" spc="-90" dirty="0"/>
              <a:t> </a:t>
            </a:r>
            <a:r>
              <a:rPr sz="2550" dirty="0"/>
              <a:t>average</a:t>
            </a:r>
            <a:r>
              <a:rPr sz="2550" spc="-95" dirty="0"/>
              <a:t> </a:t>
            </a:r>
            <a:r>
              <a:rPr sz="2550" spc="170" dirty="0"/>
              <a:t>of</a:t>
            </a:r>
            <a:r>
              <a:rPr sz="2550" spc="-95" dirty="0"/>
              <a:t> </a:t>
            </a:r>
            <a:r>
              <a:rPr sz="2550" spc="90" dirty="0"/>
              <a:t>multiple</a:t>
            </a:r>
            <a:r>
              <a:rPr sz="2550" spc="-90" dirty="0"/>
              <a:t> </a:t>
            </a:r>
            <a:r>
              <a:rPr sz="2550" spc="85" dirty="0"/>
              <a:t>other </a:t>
            </a:r>
            <a:r>
              <a:rPr sz="2550" dirty="0"/>
              <a:t>regression</a:t>
            </a:r>
            <a:r>
              <a:rPr sz="2550" spc="90" dirty="0"/>
              <a:t> </a:t>
            </a:r>
            <a:r>
              <a:rPr sz="2550" spc="-10" dirty="0"/>
              <a:t>models.</a:t>
            </a:r>
            <a:endParaRPr sz="2550"/>
          </a:p>
          <a:p>
            <a:pPr marL="332740" marR="83185" indent="-311150">
              <a:lnSpc>
                <a:spcPct val="100000"/>
              </a:lnSpc>
              <a:spcBef>
                <a:spcPts val="720"/>
              </a:spcBef>
              <a:buClr>
                <a:srgbClr val="6697CC"/>
              </a:buClr>
              <a:buFont typeface="Arial MT"/>
              <a:buChar char="•"/>
              <a:tabLst>
                <a:tab pos="332740" algn="l"/>
              </a:tabLst>
            </a:pPr>
            <a:r>
              <a:rPr sz="2550" dirty="0"/>
              <a:t>In</a:t>
            </a:r>
            <a:r>
              <a:rPr sz="2550" spc="-5" dirty="0"/>
              <a:t> </a:t>
            </a:r>
            <a:r>
              <a:rPr sz="2550" dirty="0"/>
              <a:t>classification,</a:t>
            </a:r>
            <a:r>
              <a:rPr sz="2550" spc="-10" dirty="0"/>
              <a:t> </a:t>
            </a:r>
            <a:r>
              <a:rPr sz="2550" spc="-90" dirty="0"/>
              <a:t>a</a:t>
            </a:r>
            <a:r>
              <a:rPr sz="2550" spc="5" dirty="0"/>
              <a:t> </a:t>
            </a:r>
            <a:r>
              <a:rPr sz="2550" dirty="0"/>
              <a:t>hard</a:t>
            </a:r>
            <a:r>
              <a:rPr sz="2550" spc="-5" dirty="0"/>
              <a:t> </a:t>
            </a:r>
            <a:r>
              <a:rPr sz="2550" spc="80" dirty="0"/>
              <a:t>voting</a:t>
            </a:r>
            <a:r>
              <a:rPr sz="2550" spc="-5" dirty="0"/>
              <a:t> </a:t>
            </a:r>
            <a:r>
              <a:rPr sz="2550" dirty="0"/>
              <a:t>ensemble</a:t>
            </a:r>
            <a:r>
              <a:rPr sz="2550" spc="-10" dirty="0"/>
              <a:t> involves </a:t>
            </a:r>
            <a:r>
              <a:rPr sz="2550" dirty="0"/>
              <a:t>summing</a:t>
            </a:r>
            <a:r>
              <a:rPr sz="2550" spc="-35" dirty="0"/>
              <a:t> </a:t>
            </a:r>
            <a:r>
              <a:rPr sz="2550" spc="105" dirty="0"/>
              <a:t>the</a:t>
            </a:r>
            <a:r>
              <a:rPr sz="2550" spc="-30" dirty="0"/>
              <a:t> </a:t>
            </a:r>
            <a:r>
              <a:rPr sz="2550" dirty="0"/>
              <a:t>votes</a:t>
            </a:r>
            <a:r>
              <a:rPr sz="2550" spc="-30" dirty="0"/>
              <a:t> </a:t>
            </a:r>
            <a:r>
              <a:rPr sz="2550" spc="155" dirty="0"/>
              <a:t>for</a:t>
            </a:r>
            <a:r>
              <a:rPr sz="2550" spc="-35" dirty="0"/>
              <a:t> </a:t>
            </a:r>
            <a:r>
              <a:rPr sz="2550" dirty="0"/>
              <a:t>crisp</a:t>
            </a:r>
            <a:r>
              <a:rPr sz="2550" spc="-35" dirty="0"/>
              <a:t> </a:t>
            </a:r>
            <a:r>
              <a:rPr sz="2550" spc="-70" dirty="0"/>
              <a:t>class</a:t>
            </a:r>
            <a:r>
              <a:rPr sz="2550" spc="-30" dirty="0"/>
              <a:t> </a:t>
            </a:r>
            <a:r>
              <a:rPr sz="2550" dirty="0"/>
              <a:t>labels</a:t>
            </a:r>
            <a:r>
              <a:rPr sz="2550" spc="-30" dirty="0"/>
              <a:t> </a:t>
            </a:r>
            <a:r>
              <a:rPr sz="2550" spc="130" dirty="0"/>
              <a:t>from</a:t>
            </a:r>
            <a:r>
              <a:rPr sz="2550" spc="-40" dirty="0"/>
              <a:t> </a:t>
            </a:r>
            <a:r>
              <a:rPr sz="2550" spc="85" dirty="0"/>
              <a:t>other </a:t>
            </a:r>
            <a:r>
              <a:rPr sz="2550" dirty="0"/>
              <a:t>models</a:t>
            </a:r>
            <a:r>
              <a:rPr sz="2550" spc="-55" dirty="0"/>
              <a:t> </a:t>
            </a:r>
            <a:r>
              <a:rPr sz="2550" dirty="0"/>
              <a:t>and</a:t>
            </a:r>
            <a:r>
              <a:rPr sz="2550" spc="-55" dirty="0"/>
              <a:t> </a:t>
            </a:r>
            <a:r>
              <a:rPr sz="2550" spc="65" dirty="0"/>
              <a:t>predicting</a:t>
            </a:r>
            <a:r>
              <a:rPr sz="2550" spc="-55" dirty="0"/>
              <a:t> </a:t>
            </a:r>
            <a:r>
              <a:rPr sz="2550" spc="105" dirty="0"/>
              <a:t>the</a:t>
            </a:r>
            <a:r>
              <a:rPr sz="2550" spc="-50" dirty="0"/>
              <a:t> </a:t>
            </a:r>
            <a:r>
              <a:rPr sz="2550" spc="-75" dirty="0"/>
              <a:t>class</a:t>
            </a:r>
            <a:r>
              <a:rPr sz="2550" spc="-60" dirty="0"/>
              <a:t> </a:t>
            </a:r>
            <a:r>
              <a:rPr sz="2550" spc="125" dirty="0"/>
              <a:t>with</a:t>
            </a:r>
            <a:r>
              <a:rPr sz="2550" spc="-55" dirty="0"/>
              <a:t> </a:t>
            </a:r>
            <a:r>
              <a:rPr sz="2550" spc="105" dirty="0"/>
              <a:t>the</a:t>
            </a:r>
            <a:r>
              <a:rPr sz="2550" spc="-50" dirty="0"/>
              <a:t> </a:t>
            </a:r>
            <a:r>
              <a:rPr sz="2550" spc="70" dirty="0"/>
              <a:t>most</a:t>
            </a:r>
            <a:r>
              <a:rPr sz="2550" spc="-55" dirty="0"/>
              <a:t> </a:t>
            </a:r>
            <a:r>
              <a:rPr sz="2550" spc="-10" dirty="0"/>
              <a:t>votes.</a:t>
            </a:r>
            <a:endParaRPr sz="2550"/>
          </a:p>
          <a:p>
            <a:pPr marL="332740" marR="5080" indent="-311150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•"/>
              <a:tabLst>
                <a:tab pos="332740" algn="l"/>
              </a:tabLst>
            </a:pPr>
            <a:r>
              <a:rPr sz="2550" dirty="0"/>
              <a:t>A</a:t>
            </a:r>
            <a:r>
              <a:rPr sz="2550" spc="-30" dirty="0"/>
              <a:t> </a:t>
            </a:r>
            <a:r>
              <a:rPr sz="2550" spc="125" dirty="0"/>
              <a:t>soft</a:t>
            </a:r>
            <a:r>
              <a:rPr sz="2550" spc="-25" dirty="0"/>
              <a:t> </a:t>
            </a:r>
            <a:r>
              <a:rPr sz="2550" spc="80" dirty="0"/>
              <a:t>voting</a:t>
            </a:r>
            <a:r>
              <a:rPr sz="2550" spc="-30" dirty="0"/>
              <a:t> </a:t>
            </a:r>
            <a:r>
              <a:rPr sz="2550" dirty="0"/>
              <a:t>ensemble</a:t>
            </a:r>
            <a:r>
              <a:rPr sz="2550" spc="-25" dirty="0"/>
              <a:t> </a:t>
            </a:r>
            <a:r>
              <a:rPr sz="2550" dirty="0"/>
              <a:t>involves</a:t>
            </a:r>
            <a:r>
              <a:rPr sz="2550" spc="-20" dirty="0"/>
              <a:t> </a:t>
            </a:r>
            <a:r>
              <a:rPr sz="2550" dirty="0"/>
              <a:t>summing</a:t>
            </a:r>
            <a:r>
              <a:rPr sz="2550" spc="-25" dirty="0"/>
              <a:t> </a:t>
            </a:r>
            <a:r>
              <a:rPr sz="2550" spc="85" dirty="0"/>
              <a:t>the </a:t>
            </a:r>
            <a:r>
              <a:rPr sz="2550" spc="65" dirty="0"/>
              <a:t>predicted</a:t>
            </a:r>
            <a:r>
              <a:rPr sz="2550" spc="-70" dirty="0"/>
              <a:t> </a:t>
            </a:r>
            <a:r>
              <a:rPr sz="2550" spc="55" dirty="0"/>
              <a:t>probabilities</a:t>
            </a:r>
            <a:r>
              <a:rPr sz="2550" spc="-60" dirty="0"/>
              <a:t> </a:t>
            </a:r>
            <a:r>
              <a:rPr sz="2550" spc="155" dirty="0"/>
              <a:t>for</a:t>
            </a:r>
            <a:r>
              <a:rPr sz="2550" spc="-70" dirty="0"/>
              <a:t> class</a:t>
            </a:r>
            <a:r>
              <a:rPr sz="2550" spc="-60" dirty="0"/>
              <a:t> </a:t>
            </a:r>
            <a:r>
              <a:rPr sz="2550" dirty="0"/>
              <a:t>labels</a:t>
            </a:r>
            <a:r>
              <a:rPr sz="2550" spc="-65" dirty="0"/>
              <a:t> </a:t>
            </a:r>
            <a:r>
              <a:rPr sz="2550" dirty="0"/>
              <a:t>and</a:t>
            </a:r>
            <a:r>
              <a:rPr sz="2550" spc="-75" dirty="0"/>
              <a:t> </a:t>
            </a:r>
            <a:r>
              <a:rPr sz="2550" spc="55" dirty="0"/>
              <a:t>predicting </a:t>
            </a:r>
            <a:r>
              <a:rPr sz="2550" spc="110" dirty="0"/>
              <a:t>the</a:t>
            </a:r>
            <a:r>
              <a:rPr sz="2550" spc="-75" dirty="0"/>
              <a:t> </a:t>
            </a:r>
            <a:r>
              <a:rPr sz="2550" spc="-70" dirty="0"/>
              <a:t>class</a:t>
            </a:r>
            <a:r>
              <a:rPr sz="2550" spc="-60" dirty="0"/>
              <a:t> </a:t>
            </a:r>
            <a:r>
              <a:rPr sz="2550" dirty="0"/>
              <a:t>label</a:t>
            </a:r>
            <a:r>
              <a:rPr sz="2550" spc="-60" dirty="0"/>
              <a:t> </a:t>
            </a:r>
            <a:r>
              <a:rPr sz="2550" spc="125" dirty="0"/>
              <a:t>with</a:t>
            </a:r>
            <a:r>
              <a:rPr sz="2550" spc="-65" dirty="0"/>
              <a:t> </a:t>
            </a:r>
            <a:r>
              <a:rPr sz="2550" spc="105" dirty="0"/>
              <a:t>the</a:t>
            </a:r>
            <a:r>
              <a:rPr sz="2550" spc="-70" dirty="0"/>
              <a:t> </a:t>
            </a:r>
            <a:r>
              <a:rPr sz="2550" spc="50" dirty="0"/>
              <a:t>largest</a:t>
            </a:r>
            <a:r>
              <a:rPr sz="2550" spc="-65" dirty="0"/>
              <a:t> </a:t>
            </a:r>
            <a:r>
              <a:rPr sz="2550" dirty="0"/>
              <a:t>sum</a:t>
            </a:r>
            <a:r>
              <a:rPr sz="2550" spc="-70" dirty="0"/>
              <a:t> </a:t>
            </a:r>
            <a:r>
              <a:rPr sz="2550" spc="50" dirty="0"/>
              <a:t>probability.</a:t>
            </a:r>
            <a:endParaRPr sz="255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Voting</a:t>
            </a:r>
            <a:endParaRPr spc="1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49895" cy="4222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7660" marR="5080" indent="-315595">
              <a:lnSpc>
                <a:spcPct val="1010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327660" algn="l"/>
              </a:tabLst>
            </a:pP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5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95" dirty="0">
                <a:latin typeface="Microsoft Sans Serif" panose="020B0604020202020204"/>
                <a:cs typeface="Microsoft Sans Serif" panose="020B0604020202020204"/>
              </a:rPr>
              <a:t>voting</a:t>
            </a:r>
            <a:r>
              <a:rPr sz="25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ensemble</a:t>
            </a:r>
            <a:r>
              <a:rPr sz="25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65" dirty="0">
                <a:latin typeface="Microsoft Sans Serif" panose="020B0604020202020204"/>
                <a:cs typeface="Microsoft Sans Serif" panose="020B0604020202020204"/>
              </a:rPr>
              <a:t>(or</a:t>
            </a:r>
            <a:r>
              <a:rPr sz="25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5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95" dirty="0">
                <a:latin typeface="Microsoft Sans Serif" panose="020B0604020202020204"/>
                <a:cs typeface="Microsoft Sans Serif" panose="020B0604020202020204"/>
              </a:rPr>
              <a:t>“majority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95" dirty="0">
                <a:latin typeface="Microsoft Sans Serif" panose="020B0604020202020204"/>
                <a:cs typeface="Microsoft Sans Serif" panose="020B0604020202020204"/>
              </a:rPr>
              <a:t>voting</a:t>
            </a:r>
            <a:r>
              <a:rPr sz="25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ensemble“) is</a:t>
            </a:r>
            <a:r>
              <a:rPr sz="25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an</a:t>
            </a:r>
            <a:r>
              <a:rPr sz="25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ensemble</a:t>
            </a:r>
            <a:r>
              <a:rPr sz="25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machine</a:t>
            </a:r>
            <a:r>
              <a:rPr sz="25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50" dirty="0">
                <a:latin typeface="Microsoft Sans Serif" panose="020B0604020202020204"/>
                <a:cs typeface="Microsoft Sans Serif" panose="020B0604020202020204"/>
              </a:rPr>
              <a:t>learning</a:t>
            </a:r>
            <a:r>
              <a:rPr sz="25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75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5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30" dirty="0">
                <a:latin typeface="Microsoft Sans Serif" panose="020B0604020202020204"/>
                <a:cs typeface="Microsoft Sans Serif" panose="020B0604020202020204"/>
              </a:rPr>
              <a:t>that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combines</a:t>
            </a:r>
            <a:r>
              <a:rPr sz="25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60" dirty="0">
                <a:latin typeface="Microsoft Sans Serif" panose="020B0604020202020204"/>
                <a:cs typeface="Microsoft Sans Serif" panose="020B0604020202020204"/>
              </a:rPr>
              <a:t>predictions</a:t>
            </a:r>
            <a:r>
              <a:rPr sz="25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45" dirty="0">
                <a:latin typeface="Microsoft Sans Serif" panose="020B0604020202020204"/>
                <a:cs typeface="Microsoft Sans Serif" panose="020B0604020202020204"/>
              </a:rPr>
              <a:t>from</a:t>
            </a:r>
            <a:r>
              <a:rPr sz="25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00" dirty="0">
                <a:latin typeface="Microsoft Sans Serif" panose="020B0604020202020204"/>
                <a:cs typeface="Microsoft Sans Serif" panose="020B0604020202020204"/>
              </a:rPr>
              <a:t>multiple</a:t>
            </a:r>
            <a:r>
              <a:rPr sz="25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14" dirty="0">
                <a:latin typeface="Microsoft Sans Serif" panose="020B0604020202020204"/>
                <a:cs typeface="Microsoft Sans Serif" panose="020B0604020202020204"/>
              </a:rPr>
              <a:t>other </a:t>
            </a: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models.</a:t>
            </a:r>
            <a:endParaRPr sz="2550">
              <a:latin typeface="Microsoft Sans Serif" panose="020B0604020202020204"/>
              <a:cs typeface="Microsoft Sans Serif" panose="020B0604020202020204"/>
            </a:endParaRPr>
          </a:p>
          <a:p>
            <a:pPr marL="327660" marR="73025" indent="-315595">
              <a:lnSpc>
                <a:spcPct val="101000"/>
              </a:lnSpc>
              <a:spcBef>
                <a:spcPts val="725"/>
              </a:spcBef>
              <a:buClr>
                <a:srgbClr val="6697CC"/>
              </a:buClr>
              <a:buFont typeface="Arial MT"/>
              <a:buChar char="•"/>
              <a:tabLst>
                <a:tab pos="327660" algn="l"/>
              </a:tabLst>
            </a:pPr>
            <a:r>
              <a:rPr sz="2550" spc="150" dirty="0">
                <a:latin typeface="Microsoft Sans Serif" panose="020B0604020202020204"/>
                <a:cs typeface="Microsoft Sans Serif" panose="020B0604020202020204"/>
              </a:rPr>
              <a:t>It</a:t>
            </a:r>
            <a:r>
              <a:rPr sz="25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2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550" spc="-10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5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55" dirty="0">
                <a:latin typeface="Microsoft Sans Serif" panose="020B0604020202020204"/>
                <a:cs typeface="Microsoft Sans Serif" panose="020B0604020202020204"/>
              </a:rPr>
              <a:t>technique</a:t>
            </a:r>
            <a:r>
              <a:rPr sz="25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50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5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may</a:t>
            </a:r>
            <a:r>
              <a:rPr sz="25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50" dirty="0">
                <a:latin typeface="Microsoft Sans Serif" panose="020B0604020202020204"/>
                <a:cs typeface="Microsoft Sans Serif" panose="020B0604020202020204"/>
              </a:rPr>
              <a:t>be</a:t>
            </a:r>
            <a:r>
              <a:rPr sz="25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5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204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5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65" dirty="0">
                <a:latin typeface="Microsoft Sans Serif" panose="020B0604020202020204"/>
                <a:cs typeface="Microsoft Sans Serif" panose="020B0604020202020204"/>
              </a:rPr>
              <a:t>improve</a:t>
            </a:r>
            <a:r>
              <a:rPr sz="25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65" dirty="0">
                <a:latin typeface="Microsoft Sans Serif" panose="020B0604020202020204"/>
                <a:cs typeface="Microsoft Sans Serif" panose="020B0604020202020204"/>
              </a:rPr>
              <a:t>model </a:t>
            </a:r>
            <a:r>
              <a:rPr sz="2550" spc="50" dirty="0">
                <a:latin typeface="Microsoft Sans Serif" panose="020B0604020202020204"/>
                <a:cs typeface="Microsoft Sans Serif" panose="020B0604020202020204"/>
              </a:rPr>
              <a:t>performance,</a:t>
            </a:r>
            <a:r>
              <a:rPr sz="2550" spc="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ideally</a:t>
            </a:r>
            <a:r>
              <a:rPr sz="2550" spc="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achieving</a:t>
            </a:r>
            <a:r>
              <a:rPr sz="2550" spc="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50" dirty="0">
                <a:latin typeface="Microsoft Sans Serif" panose="020B0604020202020204"/>
                <a:cs typeface="Microsoft Sans Serif" panose="020B0604020202020204"/>
              </a:rPr>
              <a:t>better</a:t>
            </a:r>
            <a:r>
              <a:rPr sz="2550" spc="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55" dirty="0">
                <a:latin typeface="Microsoft Sans Serif" panose="020B0604020202020204"/>
                <a:cs typeface="Microsoft Sans Serif" panose="020B0604020202020204"/>
              </a:rPr>
              <a:t>performance </a:t>
            </a:r>
            <a:r>
              <a:rPr sz="2550" spc="80" dirty="0">
                <a:latin typeface="Microsoft Sans Serif" panose="020B0604020202020204"/>
                <a:cs typeface="Microsoft Sans Serif" panose="020B0604020202020204"/>
              </a:rPr>
              <a:t>than</a:t>
            </a:r>
            <a:r>
              <a:rPr sz="25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any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single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75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5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6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5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2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5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ensemble.</a:t>
            </a:r>
            <a:endParaRPr sz="2550">
              <a:latin typeface="Microsoft Sans Serif" panose="020B0604020202020204"/>
              <a:cs typeface="Microsoft Sans Serif" panose="020B0604020202020204"/>
            </a:endParaRPr>
          </a:p>
          <a:p>
            <a:pPr marL="327660" marR="1378585">
              <a:lnSpc>
                <a:spcPct val="101000"/>
              </a:lnSpc>
              <a:spcBef>
                <a:spcPts val="730"/>
              </a:spcBef>
            </a:pP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5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95" dirty="0">
                <a:latin typeface="Microsoft Sans Serif" panose="020B0604020202020204"/>
                <a:cs typeface="Microsoft Sans Serif" panose="020B0604020202020204"/>
              </a:rPr>
              <a:t>voting</a:t>
            </a:r>
            <a:r>
              <a:rPr sz="25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ensemble</a:t>
            </a:r>
            <a:r>
              <a:rPr sz="25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55" dirty="0">
                <a:latin typeface="Microsoft Sans Serif" panose="020B0604020202020204"/>
                <a:cs typeface="Microsoft Sans Serif" panose="020B0604020202020204"/>
              </a:rPr>
              <a:t>works</a:t>
            </a:r>
            <a:r>
              <a:rPr sz="25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by</a:t>
            </a:r>
            <a:r>
              <a:rPr sz="25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45" dirty="0">
                <a:latin typeface="Microsoft Sans Serif" panose="020B0604020202020204"/>
                <a:cs typeface="Microsoft Sans Serif" panose="020B0604020202020204"/>
              </a:rPr>
              <a:t>combining</a:t>
            </a:r>
            <a:r>
              <a:rPr sz="25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95" dirty="0">
                <a:latin typeface="Microsoft Sans Serif" panose="020B0604020202020204"/>
                <a:cs typeface="Microsoft Sans Serif" panose="020B0604020202020204"/>
              </a:rPr>
              <a:t>the </a:t>
            </a:r>
            <a:r>
              <a:rPr sz="2550" spc="60" dirty="0">
                <a:latin typeface="Microsoft Sans Serif" panose="020B0604020202020204"/>
                <a:cs typeface="Microsoft Sans Serif" panose="020B0604020202020204"/>
              </a:rPr>
              <a:t>predictions</a:t>
            </a:r>
            <a:r>
              <a:rPr sz="25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45" dirty="0">
                <a:latin typeface="Microsoft Sans Serif" panose="020B0604020202020204"/>
                <a:cs typeface="Microsoft Sans Serif" panose="020B0604020202020204"/>
              </a:rPr>
              <a:t>from</a:t>
            </a:r>
            <a:r>
              <a:rPr sz="25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00" dirty="0">
                <a:latin typeface="Microsoft Sans Serif" panose="020B0604020202020204"/>
                <a:cs typeface="Microsoft Sans Serif" panose="020B0604020202020204"/>
              </a:rPr>
              <a:t>multiple</a:t>
            </a:r>
            <a:r>
              <a:rPr sz="25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models.</a:t>
            </a:r>
            <a:endParaRPr sz="2550">
              <a:latin typeface="Microsoft Sans Serif" panose="020B0604020202020204"/>
              <a:cs typeface="Microsoft Sans Serif" panose="020B0604020202020204"/>
            </a:endParaRPr>
          </a:p>
          <a:p>
            <a:pPr marL="327025" indent="-314325">
              <a:lnSpc>
                <a:spcPct val="100000"/>
              </a:lnSpc>
              <a:spcBef>
                <a:spcPts val="750"/>
              </a:spcBef>
              <a:buClr>
                <a:srgbClr val="6697CC"/>
              </a:buClr>
              <a:buFont typeface="Arial MT"/>
              <a:buChar char="•"/>
              <a:tabLst>
                <a:tab pos="327025" algn="l"/>
              </a:tabLst>
            </a:pPr>
            <a:r>
              <a:rPr sz="2550" spc="150" dirty="0">
                <a:latin typeface="Microsoft Sans Serif" panose="020B0604020202020204"/>
                <a:cs typeface="Microsoft Sans Serif" panose="020B0604020202020204"/>
              </a:rPr>
              <a:t>It</a:t>
            </a:r>
            <a:r>
              <a:rPr sz="25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20" dirty="0">
                <a:latin typeface="Microsoft Sans Serif" panose="020B0604020202020204"/>
                <a:cs typeface="Microsoft Sans Serif" panose="020B0604020202020204"/>
              </a:rPr>
              <a:t>can </a:t>
            </a:r>
            <a:r>
              <a:rPr sz="2550" spc="50" dirty="0">
                <a:latin typeface="Microsoft Sans Serif" panose="020B0604020202020204"/>
                <a:cs typeface="Microsoft Sans Serif" panose="020B0604020202020204"/>
              </a:rPr>
              <a:t>be</a:t>
            </a:r>
            <a:r>
              <a:rPr sz="25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5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65" dirty="0"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5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dirty="0">
                <a:latin typeface="Microsoft Sans Serif" panose="020B0604020202020204"/>
                <a:cs typeface="Microsoft Sans Serif" panose="020B0604020202020204"/>
              </a:rPr>
              <a:t>classification</a:t>
            </a:r>
            <a:r>
              <a:rPr sz="25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110" dirty="0">
                <a:latin typeface="Microsoft Sans Serif" panose="020B0604020202020204"/>
                <a:cs typeface="Microsoft Sans Serif" panose="020B0604020202020204"/>
              </a:rPr>
              <a:t>or</a:t>
            </a:r>
            <a:r>
              <a:rPr sz="25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550" spc="-10" dirty="0">
                <a:latin typeface="Microsoft Sans Serif" panose="020B0604020202020204"/>
                <a:cs typeface="Microsoft Sans Serif" panose="020B0604020202020204"/>
              </a:rPr>
              <a:t>regression.</a:t>
            </a:r>
            <a:endParaRPr sz="25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Voting</a:t>
            </a:r>
            <a:endParaRPr spc="10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962" y="1744355"/>
            <a:ext cx="7860753" cy="421239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Voting</a:t>
            </a:r>
            <a:endParaRPr spc="1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922259" cy="451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790" marR="83820" indent="-339725">
              <a:lnSpc>
                <a:spcPct val="101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1790" algn="l"/>
              </a:tabLst>
            </a:pP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7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3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7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-85" dirty="0">
                <a:latin typeface="Microsoft Sans Serif" panose="020B0604020202020204"/>
                <a:cs typeface="Microsoft Sans Serif" panose="020B0604020202020204"/>
              </a:rPr>
              <a:t>case</a:t>
            </a:r>
            <a:r>
              <a:rPr sz="27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20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7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regression,</a:t>
            </a:r>
            <a:r>
              <a:rPr sz="27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75" dirty="0">
                <a:latin typeface="Microsoft Sans Serif" panose="020B0604020202020204"/>
                <a:cs typeface="Microsoft Sans Serif" panose="020B0604020202020204"/>
              </a:rPr>
              <a:t>this</a:t>
            </a:r>
            <a:r>
              <a:rPr sz="27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-10" dirty="0">
                <a:latin typeface="Microsoft Sans Serif" panose="020B0604020202020204"/>
                <a:cs typeface="Microsoft Sans Serif" panose="020B0604020202020204"/>
              </a:rPr>
              <a:t>involves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calculating </a:t>
            </a:r>
            <a:r>
              <a:rPr sz="2750" spc="13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7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average</a:t>
            </a:r>
            <a:r>
              <a:rPr sz="27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20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7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3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7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65" dirty="0">
                <a:latin typeface="Microsoft Sans Serif" panose="020B0604020202020204"/>
                <a:cs typeface="Microsoft Sans Serif" panose="020B0604020202020204"/>
              </a:rPr>
              <a:t>predictions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35" dirty="0">
                <a:latin typeface="Microsoft Sans Serif" panose="020B0604020202020204"/>
                <a:cs typeface="Microsoft Sans Serif" panose="020B0604020202020204"/>
              </a:rPr>
              <a:t>from the</a:t>
            </a:r>
            <a:r>
              <a:rPr sz="2750" spc="-10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-10" dirty="0">
                <a:latin typeface="Microsoft Sans Serif" panose="020B0604020202020204"/>
                <a:cs typeface="Microsoft Sans Serif" panose="020B0604020202020204"/>
              </a:rPr>
              <a:t>models.</a:t>
            </a:r>
            <a:endParaRPr sz="2750">
              <a:latin typeface="Microsoft Sans Serif" panose="020B0604020202020204"/>
              <a:cs typeface="Microsoft Sans Serif" panose="020B0604020202020204"/>
            </a:endParaRPr>
          </a:p>
          <a:p>
            <a:pPr marL="351790" marR="163830" indent="-339725">
              <a:lnSpc>
                <a:spcPct val="101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1790" algn="l"/>
              </a:tabLst>
            </a:pP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7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3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7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-85" dirty="0">
                <a:latin typeface="Microsoft Sans Serif" panose="020B0604020202020204"/>
                <a:cs typeface="Microsoft Sans Serif" panose="020B0604020202020204"/>
              </a:rPr>
              <a:t>case</a:t>
            </a:r>
            <a:r>
              <a:rPr sz="27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20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7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classification,</a:t>
            </a:r>
            <a:r>
              <a:rPr sz="27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3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7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65" dirty="0">
                <a:latin typeface="Microsoft Sans Serif" panose="020B0604020202020204"/>
                <a:cs typeface="Microsoft Sans Serif" panose="020B0604020202020204"/>
              </a:rPr>
              <a:t>predictions</a:t>
            </a:r>
            <a:r>
              <a:rPr sz="27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60" dirty="0">
                <a:latin typeface="Microsoft Sans Serif" panose="020B0604020202020204"/>
                <a:cs typeface="Microsoft Sans Serif" panose="020B0604020202020204"/>
              </a:rPr>
              <a:t>for </a:t>
            </a:r>
            <a:r>
              <a:rPr sz="2750" spc="-25" dirty="0">
                <a:latin typeface="Microsoft Sans Serif" panose="020B0604020202020204"/>
                <a:cs typeface="Microsoft Sans Serif" panose="020B0604020202020204"/>
              </a:rPr>
              <a:t>each</a:t>
            </a:r>
            <a:r>
              <a:rPr sz="27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55" dirty="0">
                <a:latin typeface="Microsoft Sans Serif" panose="020B0604020202020204"/>
                <a:cs typeface="Microsoft Sans Serif" panose="020B0604020202020204"/>
              </a:rPr>
              <a:t>label</a:t>
            </a:r>
            <a:r>
              <a:rPr sz="27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27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summed</a:t>
            </a:r>
            <a:r>
              <a:rPr sz="27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7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3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7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55" dirty="0">
                <a:latin typeface="Microsoft Sans Serif" panose="020B0604020202020204"/>
                <a:cs typeface="Microsoft Sans Serif" panose="020B0604020202020204"/>
              </a:rPr>
              <a:t>label</a:t>
            </a:r>
            <a:r>
              <a:rPr sz="27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50" dirty="0">
                <a:latin typeface="Microsoft Sans Serif" panose="020B0604020202020204"/>
                <a:cs typeface="Microsoft Sans Serif" panose="020B0604020202020204"/>
              </a:rPr>
              <a:t>with</a:t>
            </a:r>
            <a:r>
              <a:rPr sz="27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10" dirty="0">
                <a:latin typeface="Microsoft Sans Serif" panose="020B0604020202020204"/>
                <a:cs typeface="Microsoft Sans Serif" panose="020B0604020202020204"/>
              </a:rPr>
              <a:t>the </a:t>
            </a:r>
            <a:r>
              <a:rPr sz="2750" spc="90" dirty="0">
                <a:latin typeface="Microsoft Sans Serif" panose="020B0604020202020204"/>
                <a:cs typeface="Microsoft Sans Serif" panose="020B0604020202020204"/>
              </a:rPr>
              <a:t>majority</a:t>
            </a:r>
            <a:r>
              <a:rPr sz="2750" spc="-1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20" dirty="0">
                <a:latin typeface="Microsoft Sans Serif" panose="020B0604020202020204"/>
                <a:cs typeface="Microsoft Sans Serif" panose="020B0604020202020204"/>
              </a:rPr>
              <a:t>vote</a:t>
            </a:r>
            <a:r>
              <a:rPr sz="2750" spc="-1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750" spc="-1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60" dirty="0">
                <a:latin typeface="Microsoft Sans Serif" panose="020B0604020202020204"/>
                <a:cs typeface="Microsoft Sans Serif" panose="020B0604020202020204"/>
              </a:rPr>
              <a:t>predicted.</a:t>
            </a:r>
            <a:endParaRPr sz="2750">
              <a:latin typeface="Microsoft Sans Serif" panose="020B0604020202020204"/>
              <a:cs typeface="Microsoft Sans Serif" panose="020B0604020202020204"/>
            </a:endParaRPr>
          </a:p>
          <a:p>
            <a:pPr marL="746760" marR="43180" lvl="1" indent="-282575">
              <a:lnSpc>
                <a:spcPct val="100000"/>
              </a:lnSpc>
              <a:spcBef>
                <a:spcPts val="710"/>
              </a:spcBef>
              <a:buClr>
                <a:srgbClr val="6697CC"/>
              </a:buClr>
              <a:buFont typeface="Arial MT"/>
              <a:buChar char="–"/>
              <a:tabLst>
                <a:tab pos="748030" algn="l"/>
              </a:tabLst>
            </a:pP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Regression</a:t>
            </a:r>
            <a:r>
              <a:rPr sz="27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00" dirty="0">
                <a:latin typeface="Microsoft Sans Serif" panose="020B0604020202020204"/>
                <a:cs typeface="Microsoft Sans Serif" panose="020B0604020202020204"/>
              </a:rPr>
              <a:t>Voting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-10" dirty="0">
                <a:latin typeface="Microsoft Sans Serif" panose="020B0604020202020204"/>
                <a:cs typeface="Microsoft Sans Serif" panose="020B0604020202020204"/>
              </a:rPr>
              <a:t>Ensemble:</a:t>
            </a:r>
            <a:r>
              <a:rPr sz="2750" spc="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Predictions </a:t>
            </a:r>
            <a:r>
              <a:rPr sz="2750" spc="-25" dirty="0">
                <a:latin typeface="Microsoft Sans Serif" panose="020B0604020202020204"/>
                <a:cs typeface="Microsoft Sans Serif" panose="020B0604020202020204"/>
              </a:rPr>
              <a:t>are </a:t>
            </a:r>
            <a:r>
              <a:rPr sz="2750" spc="-25" dirty="0"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2750" spc="13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750" spc="-10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average</a:t>
            </a:r>
            <a:r>
              <a:rPr sz="27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20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7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10" dirty="0">
                <a:latin typeface="Microsoft Sans Serif" panose="020B0604020202020204"/>
                <a:cs typeface="Microsoft Sans Serif" panose="020B0604020202020204"/>
              </a:rPr>
              <a:t>contributing</a:t>
            </a:r>
            <a:r>
              <a:rPr sz="27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-10" dirty="0">
                <a:latin typeface="Microsoft Sans Serif" panose="020B0604020202020204"/>
                <a:cs typeface="Microsoft Sans Serif" panose="020B0604020202020204"/>
              </a:rPr>
              <a:t>models.</a:t>
            </a:r>
            <a:endParaRPr sz="2750">
              <a:latin typeface="Microsoft Sans Serif" panose="020B0604020202020204"/>
              <a:cs typeface="Microsoft Sans Serif" panose="020B0604020202020204"/>
            </a:endParaRPr>
          </a:p>
          <a:p>
            <a:pPr marL="746760" marR="5080" lvl="1" indent="-282575">
              <a:lnSpc>
                <a:spcPct val="101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748030" algn="l"/>
              </a:tabLst>
            </a:pP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Classification</a:t>
            </a:r>
            <a:r>
              <a:rPr sz="27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00" dirty="0">
                <a:latin typeface="Microsoft Sans Serif" panose="020B0604020202020204"/>
                <a:cs typeface="Microsoft Sans Serif" panose="020B0604020202020204"/>
              </a:rPr>
              <a:t>Voting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-10" dirty="0">
                <a:latin typeface="Microsoft Sans Serif" panose="020B0604020202020204"/>
                <a:cs typeface="Microsoft Sans Serif" panose="020B0604020202020204"/>
              </a:rPr>
              <a:t>Ensemble:</a:t>
            </a:r>
            <a:r>
              <a:rPr sz="27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-10" dirty="0">
                <a:latin typeface="Microsoft Sans Serif" panose="020B0604020202020204"/>
                <a:cs typeface="Microsoft Sans Serif" panose="020B0604020202020204"/>
              </a:rPr>
              <a:t>Predictions </a:t>
            </a:r>
            <a:r>
              <a:rPr sz="2750" spc="-10" dirty="0"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27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3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7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90" dirty="0">
                <a:latin typeface="Microsoft Sans Serif" panose="020B0604020202020204"/>
                <a:cs typeface="Microsoft Sans Serif" panose="020B0604020202020204"/>
              </a:rPr>
              <a:t>majority</a:t>
            </a:r>
            <a:r>
              <a:rPr sz="27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14" dirty="0">
                <a:latin typeface="Microsoft Sans Serif" panose="020B0604020202020204"/>
                <a:cs typeface="Microsoft Sans Serif" panose="020B0604020202020204"/>
              </a:rPr>
              <a:t>vote</a:t>
            </a:r>
            <a:r>
              <a:rPr sz="27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20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7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05" dirty="0">
                <a:latin typeface="Microsoft Sans Serif" panose="020B0604020202020204"/>
                <a:cs typeface="Microsoft Sans Serif" panose="020B0604020202020204"/>
              </a:rPr>
              <a:t>contributing</a:t>
            </a:r>
            <a:r>
              <a:rPr sz="27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-10" dirty="0">
                <a:latin typeface="Microsoft Sans Serif" panose="020B0604020202020204"/>
                <a:cs typeface="Microsoft Sans Serif" panose="020B0604020202020204"/>
              </a:rPr>
              <a:t>models.</a:t>
            </a:r>
            <a:endParaRPr sz="27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Voting</a:t>
            </a:r>
            <a:endParaRPr spc="1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6214"/>
            <a:ext cx="8100695" cy="4043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830" marR="314325" indent="-278765">
              <a:lnSpc>
                <a:spcPct val="101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290830" algn="l"/>
              </a:tabLst>
            </a:pP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There</a:t>
            </a:r>
            <a:r>
              <a:rPr sz="22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22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65" dirty="0">
                <a:latin typeface="Microsoft Sans Serif" panose="020B0604020202020204"/>
                <a:cs typeface="Microsoft Sans Serif" panose="020B0604020202020204"/>
              </a:rPr>
              <a:t>two</a:t>
            </a:r>
            <a:r>
              <a:rPr sz="22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approaches</a:t>
            </a:r>
            <a:r>
              <a:rPr sz="22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85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2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2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75" dirty="0">
                <a:latin typeface="Microsoft Sans Serif" panose="020B0604020202020204"/>
                <a:cs typeface="Microsoft Sans Serif" panose="020B0604020202020204"/>
              </a:rPr>
              <a:t>majority</a:t>
            </a:r>
            <a:r>
              <a:rPr sz="22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95" dirty="0">
                <a:latin typeface="Microsoft Sans Serif" panose="020B0604020202020204"/>
                <a:cs typeface="Microsoft Sans Serif" panose="020B0604020202020204"/>
              </a:rPr>
              <a:t>vote</a:t>
            </a:r>
            <a:r>
              <a:rPr sz="22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60" dirty="0">
                <a:latin typeface="Microsoft Sans Serif" panose="020B0604020202020204"/>
                <a:cs typeface="Microsoft Sans Serif" panose="020B0604020202020204"/>
              </a:rPr>
              <a:t>prediction </a:t>
            </a:r>
            <a:r>
              <a:rPr sz="2250" spc="150" dirty="0"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2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classification;</a:t>
            </a:r>
            <a:r>
              <a:rPr sz="22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80" dirty="0">
                <a:latin typeface="Microsoft Sans Serif" panose="020B0604020202020204"/>
                <a:cs typeface="Microsoft Sans Serif" panose="020B0604020202020204"/>
              </a:rPr>
              <a:t>they</a:t>
            </a:r>
            <a:r>
              <a:rPr sz="22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are hard </a:t>
            </a:r>
            <a:r>
              <a:rPr sz="2250" spc="85" dirty="0">
                <a:latin typeface="Microsoft Sans Serif" panose="020B0604020202020204"/>
                <a:cs typeface="Microsoft Sans Serif" panose="020B0604020202020204"/>
              </a:rPr>
              <a:t>voting</a:t>
            </a: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 and </a:t>
            </a:r>
            <a:r>
              <a:rPr sz="2250" spc="125" dirty="0">
                <a:latin typeface="Microsoft Sans Serif" panose="020B0604020202020204"/>
                <a:cs typeface="Microsoft Sans Serif" panose="020B0604020202020204"/>
              </a:rPr>
              <a:t>soft</a:t>
            </a: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55" dirty="0">
                <a:latin typeface="Microsoft Sans Serif" panose="020B0604020202020204"/>
                <a:cs typeface="Microsoft Sans Serif" panose="020B0604020202020204"/>
              </a:rPr>
              <a:t>voting.</a:t>
            </a:r>
            <a:endParaRPr sz="2250">
              <a:latin typeface="Microsoft Sans Serif" panose="020B0604020202020204"/>
              <a:cs typeface="Microsoft Sans Serif" panose="020B0604020202020204"/>
            </a:endParaRPr>
          </a:p>
          <a:p>
            <a:pPr marL="290830" marR="5080" indent="-278765">
              <a:lnSpc>
                <a:spcPct val="100000"/>
              </a:lnSpc>
              <a:spcBef>
                <a:spcPts val="645"/>
              </a:spcBef>
              <a:buClr>
                <a:srgbClr val="6697CC"/>
              </a:buClr>
              <a:buFont typeface="Arial MT"/>
              <a:buChar char="•"/>
              <a:tabLst>
                <a:tab pos="290830" algn="l"/>
              </a:tabLst>
            </a:pP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Hard</a:t>
            </a:r>
            <a:r>
              <a:rPr sz="22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85" dirty="0">
                <a:latin typeface="Microsoft Sans Serif" panose="020B0604020202020204"/>
                <a:cs typeface="Microsoft Sans Serif" panose="020B0604020202020204"/>
              </a:rPr>
              <a:t>voting</a:t>
            </a:r>
            <a:r>
              <a:rPr sz="22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involves</a:t>
            </a:r>
            <a:r>
              <a:rPr sz="22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summing</a:t>
            </a:r>
            <a:r>
              <a:rPr sz="22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2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50" dirty="0">
                <a:latin typeface="Microsoft Sans Serif" panose="020B0604020202020204"/>
                <a:cs typeface="Microsoft Sans Serif" panose="020B0604020202020204"/>
              </a:rPr>
              <a:t>predictions</a:t>
            </a:r>
            <a:r>
              <a:rPr sz="22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50" dirty="0"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2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-10" dirty="0">
                <a:latin typeface="Microsoft Sans Serif" panose="020B0604020202020204"/>
                <a:cs typeface="Microsoft Sans Serif" panose="020B0604020202020204"/>
              </a:rPr>
              <a:t>each</a:t>
            </a:r>
            <a:r>
              <a:rPr sz="22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-10" dirty="0">
                <a:latin typeface="Microsoft Sans Serif" panose="020B0604020202020204"/>
                <a:cs typeface="Microsoft Sans Serif" panose="020B0604020202020204"/>
              </a:rPr>
              <a:t>class </a:t>
            </a: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label</a:t>
            </a:r>
            <a:r>
              <a:rPr sz="22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2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65" dirty="0">
                <a:latin typeface="Microsoft Sans Serif" panose="020B0604020202020204"/>
                <a:cs typeface="Microsoft Sans Serif" panose="020B0604020202020204"/>
              </a:rPr>
              <a:t>predicting</a:t>
            </a:r>
            <a:r>
              <a:rPr sz="22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2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-60" dirty="0">
                <a:latin typeface="Microsoft Sans Serif" panose="020B0604020202020204"/>
                <a:cs typeface="Microsoft Sans Serif" panose="020B0604020202020204"/>
              </a:rPr>
              <a:t>class</a:t>
            </a:r>
            <a:r>
              <a:rPr sz="22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label</a:t>
            </a:r>
            <a:r>
              <a:rPr sz="22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25" dirty="0">
                <a:latin typeface="Microsoft Sans Serif" panose="020B0604020202020204"/>
                <a:cs typeface="Microsoft Sans Serif" panose="020B0604020202020204"/>
              </a:rPr>
              <a:t>with</a:t>
            </a:r>
            <a:r>
              <a:rPr sz="22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0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80" dirty="0">
                <a:latin typeface="Microsoft Sans Serif" panose="020B0604020202020204"/>
                <a:cs typeface="Microsoft Sans Serif" panose="020B0604020202020204"/>
              </a:rPr>
              <a:t>most</a:t>
            </a:r>
            <a:r>
              <a:rPr sz="2250" spc="-10" dirty="0">
                <a:latin typeface="Microsoft Sans Serif" panose="020B0604020202020204"/>
                <a:cs typeface="Microsoft Sans Serif" panose="020B0604020202020204"/>
              </a:rPr>
              <a:t> votes.</a:t>
            </a:r>
            <a:r>
              <a:rPr sz="2250" spc="5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80" dirty="0">
                <a:latin typeface="Microsoft Sans Serif" panose="020B0604020202020204"/>
                <a:cs typeface="Microsoft Sans Serif" panose="020B0604020202020204"/>
              </a:rPr>
              <a:t>Soft</a:t>
            </a:r>
            <a:r>
              <a:rPr sz="22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90" dirty="0">
                <a:latin typeface="Microsoft Sans Serif" panose="020B0604020202020204"/>
                <a:cs typeface="Microsoft Sans Serif" panose="020B0604020202020204"/>
              </a:rPr>
              <a:t>voting</a:t>
            </a:r>
            <a:r>
              <a:rPr sz="22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involves summing</a:t>
            </a:r>
            <a:r>
              <a:rPr sz="22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0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70" dirty="0">
                <a:latin typeface="Microsoft Sans Serif" panose="020B0604020202020204"/>
                <a:cs typeface="Microsoft Sans Serif" panose="020B0604020202020204"/>
              </a:rPr>
              <a:t>predicted</a:t>
            </a:r>
            <a:r>
              <a:rPr sz="22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50" dirty="0">
                <a:latin typeface="Microsoft Sans Serif" panose="020B0604020202020204"/>
                <a:cs typeface="Microsoft Sans Serif" panose="020B0604020202020204"/>
              </a:rPr>
              <a:t>probabilities</a:t>
            </a:r>
            <a:r>
              <a:rPr sz="2250" spc="5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60" dirty="0">
                <a:latin typeface="Microsoft Sans Serif" panose="020B0604020202020204"/>
                <a:cs typeface="Microsoft Sans Serif" panose="020B0604020202020204"/>
              </a:rPr>
              <a:t>(or</a:t>
            </a:r>
            <a:r>
              <a:rPr sz="22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70" dirty="0">
                <a:latin typeface="Microsoft Sans Serif" panose="020B0604020202020204"/>
                <a:cs typeface="Microsoft Sans Serif" panose="020B0604020202020204"/>
              </a:rPr>
              <a:t>probability-</a:t>
            </a: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like</a:t>
            </a:r>
            <a:r>
              <a:rPr sz="22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-10" dirty="0">
                <a:latin typeface="Microsoft Sans Serif" panose="020B0604020202020204"/>
                <a:cs typeface="Microsoft Sans Serif" panose="020B0604020202020204"/>
              </a:rPr>
              <a:t>scores)</a:t>
            </a:r>
            <a:r>
              <a:rPr sz="22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50" dirty="0"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2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-10" dirty="0">
                <a:latin typeface="Microsoft Sans Serif" panose="020B0604020202020204"/>
                <a:cs typeface="Microsoft Sans Serif" panose="020B0604020202020204"/>
              </a:rPr>
              <a:t>each</a:t>
            </a:r>
            <a:r>
              <a:rPr sz="22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-60" dirty="0">
                <a:latin typeface="Microsoft Sans Serif" panose="020B0604020202020204"/>
                <a:cs typeface="Microsoft Sans Serif" panose="020B0604020202020204"/>
              </a:rPr>
              <a:t>class</a:t>
            </a:r>
            <a:r>
              <a:rPr sz="22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label</a:t>
            </a:r>
            <a:r>
              <a:rPr sz="2250" spc="-25" dirty="0">
                <a:latin typeface="Microsoft Sans Serif" panose="020B0604020202020204"/>
                <a:cs typeface="Microsoft Sans Serif" panose="020B0604020202020204"/>
              </a:rPr>
              <a:t> and </a:t>
            </a:r>
            <a:r>
              <a:rPr sz="2250" spc="65" dirty="0">
                <a:latin typeface="Microsoft Sans Serif" panose="020B0604020202020204"/>
                <a:cs typeface="Microsoft Sans Serif" panose="020B0604020202020204"/>
              </a:rPr>
              <a:t>predicting</a:t>
            </a:r>
            <a:r>
              <a:rPr sz="22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2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-60" dirty="0">
                <a:latin typeface="Microsoft Sans Serif" panose="020B0604020202020204"/>
                <a:cs typeface="Microsoft Sans Serif" panose="020B0604020202020204"/>
              </a:rPr>
              <a:t>class</a:t>
            </a:r>
            <a:r>
              <a:rPr sz="22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label</a:t>
            </a:r>
            <a:r>
              <a:rPr sz="22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25" dirty="0">
                <a:latin typeface="Microsoft Sans Serif" panose="020B0604020202020204"/>
                <a:cs typeface="Microsoft Sans Serif" panose="020B0604020202020204"/>
              </a:rPr>
              <a:t>with</a:t>
            </a:r>
            <a:r>
              <a:rPr sz="22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0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2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55" dirty="0">
                <a:latin typeface="Microsoft Sans Serif" panose="020B0604020202020204"/>
                <a:cs typeface="Microsoft Sans Serif" panose="020B0604020202020204"/>
              </a:rPr>
              <a:t>largest</a:t>
            </a:r>
            <a:r>
              <a:rPr sz="22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50" dirty="0">
                <a:latin typeface="Microsoft Sans Serif" panose="020B0604020202020204"/>
                <a:cs typeface="Microsoft Sans Serif" panose="020B0604020202020204"/>
              </a:rPr>
              <a:t>probability.</a:t>
            </a:r>
            <a:endParaRPr sz="2250">
              <a:latin typeface="Microsoft Sans Serif" panose="020B0604020202020204"/>
              <a:cs typeface="Microsoft Sans Serif" panose="020B0604020202020204"/>
            </a:endParaRPr>
          </a:p>
          <a:p>
            <a:pPr marL="614045" marR="539750" lvl="1" indent="-232410">
              <a:lnSpc>
                <a:spcPct val="101000"/>
              </a:lnSpc>
              <a:spcBef>
                <a:spcPts val="545"/>
              </a:spcBef>
              <a:buClr>
                <a:srgbClr val="6697CC"/>
              </a:buClr>
              <a:buFont typeface="Arial MT"/>
              <a:buChar char="–"/>
              <a:tabLst>
                <a:tab pos="614045" algn="l"/>
              </a:tabLst>
            </a:pP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Hard</a:t>
            </a:r>
            <a:r>
              <a:rPr sz="22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60" dirty="0">
                <a:latin typeface="Microsoft Sans Serif" panose="020B0604020202020204"/>
                <a:cs typeface="Microsoft Sans Serif" panose="020B0604020202020204"/>
              </a:rPr>
              <a:t>Voting.</a:t>
            </a:r>
            <a:r>
              <a:rPr sz="22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50" dirty="0">
                <a:latin typeface="Microsoft Sans Serif" panose="020B0604020202020204"/>
                <a:cs typeface="Microsoft Sans Serif" panose="020B0604020202020204"/>
              </a:rPr>
              <a:t>Predict</a:t>
            </a:r>
            <a:r>
              <a:rPr sz="22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250" spc="-60" dirty="0">
                <a:latin typeface="Microsoft Sans Serif" panose="020B0604020202020204"/>
                <a:cs typeface="Microsoft Sans Serif" panose="020B0604020202020204"/>
              </a:rPr>
              <a:t> class</a:t>
            </a:r>
            <a:r>
              <a:rPr sz="22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25" dirty="0">
                <a:latin typeface="Microsoft Sans Serif" panose="020B0604020202020204"/>
                <a:cs typeface="Microsoft Sans Serif" panose="020B0604020202020204"/>
              </a:rPr>
              <a:t>with</a:t>
            </a:r>
            <a:r>
              <a:rPr sz="22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2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50" dirty="0">
                <a:latin typeface="Microsoft Sans Serif" panose="020B0604020202020204"/>
                <a:cs typeface="Microsoft Sans Serif" panose="020B0604020202020204"/>
              </a:rPr>
              <a:t>largest</a:t>
            </a:r>
            <a:r>
              <a:rPr sz="22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dirty="0">
                <a:latin typeface="Microsoft Sans Serif" panose="020B0604020202020204"/>
                <a:cs typeface="Microsoft Sans Serif" panose="020B0604020202020204"/>
              </a:rPr>
              <a:t>sum</a:t>
            </a:r>
            <a:r>
              <a:rPr sz="22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40" dirty="0">
                <a:latin typeface="Microsoft Sans Serif" panose="020B0604020202020204"/>
                <a:cs typeface="Microsoft Sans Serif" panose="020B0604020202020204"/>
              </a:rPr>
              <a:t>of </a:t>
            </a:r>
            <a:r>
              <a:rPr sz="2250" spc="55" dirty="0">
                <a:latin typeface="Microsoft Sans Serif" panose="020B0604020202020204"/>
                <a:cs typeface="Microsoft Sans Serif" panose="020B0604020202020204"/>
              </a:rPr>
              <a:t>votes</a:t>
            </a:r>
            <a:r>
              <a:rPr sz="22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30" dirty="0">
                <a:latin typeface="Microsoft Sans Serif" panose="020B0604020202020204"/>
                <a:cs typeface="Microsoft Sans Serif" panose="020B0604020202020204"/>
              </a:rPr>
              <a:t>from</a:t>
            </a:r>
            <a:r>
              <a:rPr sz="22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-10" dirty="0">
                <a:latin typeface="Microsoft Sans Serif" panose="020B0604020202020204"/>
                <a:cs typeface="Microsoft Sans Serif" panose="020B0604020202020204"/>
              </a:rPr>
              <a:t>models</a:t>
            </a:r>
            <a:endParaRPr sz="2250">
              <a:latin typeface="Microsoft Sans Serif" panose="020B0604020202020204"/>
              <a:cs typeface="Microsoft Sans Serif" panose="020B0604020202020204"/>
            </a:endParaRPr>
          </a:p>
          <a:p>
            <a:pPr marL="614045" marR="391160" lvl="1" indent="-232410">
              <a:lnSpc>
                <a:spcPct val="101000"/>
              </a:lnSpc>
              <a:spcBef>
                <a:spcPts val="550"/>
              </a:spcBef>
              <a:buClr>
                <a:srgbClr val="6697CC"/>
              </a:buClr>
              <a:buFont typeface="Arial MT"/>
              <a:buChar char="–"/>
              <a:tabLst>
                <a:tab pos="614045" algn="l"/>
              </a:tabLst>
            </a:pPr>
            <a:r>
              <a:rPr sz="2250" spc="80" dirty="0">
                <a:latin typeface="Microsoft Sans Serif" panose="020B0604020202020204"/>
                <a:cs typeface="Microsoft Sans Serif" panose="020B0604020202020204"/>
              </a:rPr>
              <a:t>Soft</a:t>
            </a:r>
            <a:r>
              <a:rPr sz="22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55" dirty="0">
                <a:latin typeface="Microsoft Sans Serif" panose="020B0604020202020204"/>
                <a:cs typeface="Microsoft Sans Serif" panose="020B0604020202020204"/>
              </a:rPr>
              <a:t>Voting.</a:t>
            </a:r>
            <a:r>
              <a:rPr sz="22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50" dirty="0">
                <a:latin typeface="Microsoft Sans Serif" panose="020B0604020202020204"/>
                <a:cs typeface="Microsoft Sans Serif" panose="020B0604020202020204"/>
              </a:rPr>
              <a:t>Predict</a:t>
            </a:r>
            <a:r>
              <a:rPr sz="22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0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2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-55" dirty="0">
                <a:latin typeface="Microsoft Sans Serif" panose="020B0604020202020204"/>
                <a:cs typeface="Microsoft Sans Serif" panose="020B0604020202020204"/>
              </a:rPr>
              <a:t>class</a:t>
            </a:r>
            <a:r>
              <a:rPr sz="22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25" dirty="0">
                <a:latin typeface="Microsoft Sans Serif" panose="020B0604020202020204"/>
                <a:cs typeface="Microsoft Sans Serif" panose="020B0604020202020204"/>
              </a:rPr>
              <a:t>with</a:t>
            </a:r>
            <a:r>
              <a:rPr sz="22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2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50" dirty="0">
                <a:latin typeface="Microsoft Sans Serif" panose="020B0604020202020204"/>
                <a:cs typeface="Microsoft Sans Serif" panose="020B0604020202020204"/>
              </a:rPr>
              <a:t>largest</a:t>
            </a:r>
            <a:r>
              <a:rPr sz="22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-10" dirty="0">
                <a:latin typeface="Microsoft Sans Serif" panose="020B0604020202020204"/>
                <a:cs typeface="Microsoft Sans Serif" panose="020B0604020202020204"/>
              </a:rPr>
              <a:t>summed </a:t>
            </a:r>
            <a:r>
              <a:rPr sz="2250" spc="75" dirty="0">
                <a:latin typeface="Microsoft Sans Serif" panose="020B0604020202020204"/>
                <a:cs typeface="Microsoft Sans Serif" panose="020B0604020202020204"/>
              </a:rPr>
              <a:t>probability</a:t>
            </a:r>
            <a:r>
              <a:rPr sz="22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130" dirty="0">
                <a:latin typeface="Microsoft Sans Serif" panose="020B0604020202020204"/>
                <a:cs typeface="Microsoft Sans Serif" panose="020B0604020202020204"/>
              </a:rPr>
              <a:t>from</a:t>
            </a:r>
            <a:r>
              <a:rPr sz="22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50" spc="-10" dirty="0">
                <a:latin typeface="Microsoft Sans Serif" panose="020B0604020202020204"/>
                <a:cs typeface="Microsoft Sans Serif" panose="020B0604020202020204"/>
              </a:rPr>
              <a:t>models.</a:t>
            </a:r>
            <a:endParaRPr sz="22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Voting</a:t>
            </a:r>
            <a:endParaRPr spc="10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60680" indent="-338455">
              <a:lnSpc>
                <a:spcPct val="100000"/>
              </a:lnSpc>
              <a:spcBef>
                <a:spcPts val="805"/>
              </a:spcBef>
              <a:buClr>
                <a:srgbClr val="6697CC"/>
              </a:buClr>
              <a:buFont typeface="Arial MT"/>
              <a:buChar char="•"/>
              <a:tabLst>
                <a:tab pos="360680" algn="l"/>
              </a:tabLst>
            </a:pPr>
            <a:r>
              <a:rPr sz="2750" spc="-85" dirty="0"/>
              <a:t>Use</a:t>
            </a:r>
            <a:r>
              <a:rPr sz="2750" spc="-55" dirty="0"/>
              <a:t> </a:t>
            </a:r>
            <a:r>
              <a:rPr sz="2750" spc="105" dirty="0"/>
              <a:t>voting</a:t>
            </a:r>
            <a:r>
              <a:rPr sz="2750" spc="-60" dirty="0"/>
              <a:t> </a:t>
            </a:r>
            <a:r>
              <a:rPr sz="2750" dirty="0"/>
              <a:t>ensembles</a:t>
            </a:r>
            <a:r>
              <a:rPr sz="2750" spc="-55" dirty="0"/>
              <a:t> </a:t>
            </a:r>
            <a:r>
              <a:rPr sz="2750" spc="-10" dirty="0"/>
              <a:t>when:</a:t>
            </a:r>
            <a:endParaRPr sz="2750"/>
          </a:p>
          <a:p>
            <a:pPr marL="756285" marR="5080" lvl="1" indent="-282575">
              <a:lnSpc>
                <a:spcPct val="101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7555" algn="l"/>
              </a:tabLst>
            </a:pPr>
            <a:r>
              <a:rPr sz="2750" spc="75" dirty="0">
                <a:latin typeface="Microsoft Sans Serif" panose="020B0604020202020204"/>
                <a:cs typeface="Microsoft Sans Serif" panose="020B0604020202020204"/>
              </a:rPr>
              <a:t>All</a:t>
            </a:r>
            <a:r>
              <a:rPr sz="27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models</a:t>
            </a:r>
            <a:r>
              <a:rPr sz="27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6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7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3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7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ensemble</a:t>
            </a:r>
            <a:r>
              <a:rPr sz="27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have</a:t>
            </a:r>
            <a:r>
              <a:rPr sz="27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50" dirty="0">
                <a:latin typeface="Microsoft Sans Serif" panose="020B0604020202020204"/>
                <a:cs typeface="Microsoft Sans Serif" panose="020B0604020202020204"/>
              </a:rPr>
              <a:t>generally</a:t>
            </a:r>
            <a:r>
              <a:rPr sz="27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10" dirty="0">
                <a:latin typeface="Microsoft Sans Serif" panose="020B0604020202020204"/>
                <a:cs typeface="Microsoft Sans Serif" panose="020B0604020202020204"/>
              </a:rPr>
              <a:t>the </a:t>
            </a:r>
            <a:r>
              <a:rPr sz="2750" spc="110" dirty="0"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2750" spc="-20" dirty="0">
                <a:latin typeface="Microsoft Sans Serif" panose="020B0604020202020204"/>
                <a:cs typeface="Microsoft Sans Serif" panose="020B0604020202020204"/>
              </a:rPr>
              <a:t>same</a:t>
            </a:r>
            <a:r>
              <a:rPr sz="2750" spc="-1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85" dirty="0">
                <a:latin typeface="Microsoft Sans Serif" panose="020B0604020202020204"/>
                <a:cs typeface="Microsoft Sans Serif" panose="020B0604020202020204"/>
              </a:rPr>
              <a:t>good</a:t>
            </a:r>
            <a:r>
              <a:rPr sz="2750" spc="-114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50" dirty="0">
                <a:latin typeface="Microsoft Sans Serif" panose="020B0604020202020204"/>
                <a:cs typeface="Microsoft Sans Serif" panose="020B0604020202020204"/>
              </a:rPr>
              <a:t>performance.</a:t>
            </a:r>
            <a:endParaRPr sz="2750">
              <a:latin typeface="Microsoft Sans Serif" panose="020B0604020202020204"/>
              <a:cs typeface="Microsoft Sans Serif" panose="020B0604020202020204"/>
            </a:endParaRPr>
          </a:p>
          <a:p>
            <a:pPr marL="756285" marR="610870" lvl="1" indent="-282575">
              <a:lnSpc>
                <a:spcPct val="100000"/>
              </a:lnSpc>
              <a:spcBef>
                <a:spcPts val="715"/>
              </a:spcBef>
              <a:buClr>
                <a:srgbClr val="6697CC"/>
              </a:buClr>
              <a:buFont typeface="Arial MT"/>
              <a:buChar char="–"/>
              <a:tabLst>
                <a:tab pos="757555" algn="l"/>
              </a:tabLst>
            </a:pPr>
            <a:r>
              <a:rPr sz="2750" spc="75" dirty="0">
                <a:latin typeface="Microsoft Sans Serif" panose="020B0604020202020204"/>
                <a:cs typeface="Microsoft Sans Serif" panose="020B0604020202020204"/>
              </a:rPr>
              <a:t>All</a:t>
            </a:r>
            <a:r>
              <a:rPr sz="27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models</a:t>
            </a:r>
            <a:r>
              <a:rPr sz="27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6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750" spc="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13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7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ensemble</a:t>
            </a:r>
            <a:r>
              <a:rPr sz="2750" spc="-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750" spc="80" dirty="0">
                <a:latin typeface="Microsoft Sans Serif" panose="020B0604020202020204"/>
                <a:cs typeface="Microsoft Sans Serif" panose="020B0604020202020204"/>
              </a:rPr>
              <a:t>mostly</a:t>
            </a:r>
            <a:r>
              <a:rPr sz="2750" spc="-10" dirty="0">
                <a:latin typeface="Microsoft Sans Serif" panose="020B0604020202020204"/>
                <a:cs typeface="Microsoft Sans Serif" panose="020B0604020202020204"/>
              </a:rPr>
              <a:t> already 	agree.</a:t>
            </a:r>
            <a:endParaRPr sz="2750">
              <a:latin typeface="Microsoft Sans Serif" panose="020B0604020202020204"/>
              <a:cs typeface="Microsoft Sans Serif" panose="020B0604020202020204"/>
            </a:endParaRPr>
          </a:p>
          <a:p>
            <a:pPr marL="361315" marR="147955" indent="-339725">
              <a:lnSpc>
                <a:spcPct val="101000"/>
              </a:lnSpc>
              <a:spcBef>
                <a:spcPts val="795"/>
              </a:spcBef>
              <a:buClr>
                <a:srgbClr val="6697CC"/>
              </a:buClr>
              <a:buFont typeface="Arial MT"/>
              <a:buChar char="•"/>
              <a:tabLst>
                <a:tab pos="361315" algn="l"/>
              </a:tabLst>
            </a:pPr>
            <a:r>
              <a:rPr sz="2750" dirty="0"/>
              <a:t>Hard</a:t>
            </a:r>
            <a:r>
              <a:rPr sz="2750" spc="-90" dirty="0"/>
              <a:t> </a:t>
            </a:r>
            <a:r>
              <a:rPr sz="2750" spc="105" dirty="0"/>
              <a:t>voting</a:t>
            </a:r>
            <a:r>
              <a:rPr sz="2750" spc="-80" dirty="0"/>
              <a:t> </a:t>
            </a:r>
            <a:r>
              <a:rPr sz="2750" dirty="0"/>
              <a:t>is</a:t>
            </a:r>
            <a:r>
              <a:rPr sz="2750" spc="-85" dirty="0"/>
              <a:t> </a:t>
            </a:r>
            <a:r>
              <a:rPr sz="2750" spc="80" dirty="0"/>
              <a:t>appropriate</a:t>
            </a:r>
            <a:r>
              <a:rPr sz="2750" spc="-90" dirty="0"/>
              <a:t> </a:t>
            </a:r>
            <a:r>
              <a:rPr sz="2750" spc="60" dirty="0"/>
              <a:t>when</a:t>
            </a:r>
            <a:r>
              <a:rPr sz="2750" spc="-75" dirty="0"/>
              <a:t> </a:t>
            </a:r>
            <a:r>
              <a:rPr sz="2750" spc="135" dirty="0"/>
              <a:t>the</a:t>
            </a:r>
            <a:r>
              <a:rPr sz="2750" spc="-80" dirty="0"/>
              <a:t> </a:t>
            </a:r>
            <a:r>
              <a:rPr sz="2750" spc="-10" dirty="0"/>
              <a:t>models </a:t>
            </a:r>
            <a:r>
              <a:rPr sz="2750" dirty="0"/>
              <a:t>used</a:t>
            </a:r>
            <a:r>
              <a:rPr sz="2750" spc="-45" dirty="0"/>
              <a:t> </a:t>
            </a:r>
            <a:r>
              <a:rPr sz="2750" spc="60" dirty="0"/>
              <a:t>in</a:t>
            </a:r>
            <a:r>
              <a:rPr sz="2750" spc="-30" dirty="0"/>
              <a:t> </a:t>
            </a:r>
            <a:r>
              <a:rPr sz="2750" spc="135" dirty="0"/>
              <a:t>the</a:t>
            </a:r>
            <a:r>
              <a:rPr sz="2750" spc="-45" dirty="0"/>
              <a:t> </a:t>
            </a:r>
            <a:r>
              <a:rPr sz="2750" spc="105" dirty="0"/>
              <a:t>voting</a:t>
            </a:r>
            <a:r>
              <a:rPr sz="2750" spc="-35" dirty="0"/>
              <a:t> </a:t>
            </a:r>
            <a:r>
              <a:rPr sz="2750" dirty="0"/>
              <a:t>ensemble</a:t>
            </a:r>
            <a:r>
              <a:rPr sz="2750" spc="-55" dirty="0"/>
              <a:t> </a:t>
            </a:r>
            <a:r>
              <a:rPr sz="2750" spc="95" dirty="0"/>
              <a:t>predict</a:t>
            </a:r>
            <a:r>
              <a:rPr sz="2750" spc="-35" dirty="0"/>
              <a:t> </a:t>
            </a:r>
            <a:r>
              <a:rPr sz="2750" dirty="0"/>
              <a:t>crisp</a:t>
            </a:r>
            <a:r>
              <a:rPr sz="2750" spc="-40" dirty="0"/>
              <a:t> </a:t>
            </a:r>
            <a:r>
              <a:rPr sz="2750" spc="-10" dirty="0"/>
              <a:t>class </a:t>
            </a:r>
            <a:r>
              <a:rPr sz="2750" dirty="0"/>
              <a:t>labels.</a:t>
            </a:r>
            <a:r>
              <a:rPr sz="2750" spc="-95" dirty="0"/>
              <a:t> </a:t>
            </a:r>
            <a:r>
              <a:rPr sz="2750" spc="95" dirty="0"/>
              <a:t>Soft</a:t>
            </a:r>
            <a:r>
              <a:rPr sz="2750" spc="-90" dirty="0"/>
              <a:t> </a:t>
            </a:r>
            <a:r>
              <a:rPr sz="2750" spc="105" dirty="0"/>
              <a:t>voting</a:t>
            </a:r>
            <a:r>
              <a:rPr sz="2750" spc="-95" dirty="0"/>
              <a:t> </a:t>
            </a:r>
            <a:r>
              <a:rPr sz="2750" dirty="0"/>
              <a:t>is</a:t>
            </a:r>
            <a:r>
              <a:rPr sz="2750" spc="-95" dirty="0"/>
              <a:t> </a:t>
            </a:r>
            <a:r>
              <a:rPr sz="2750" spc="80" dirty="0"/>
              <a:t>appropriate</a:t>
            </a:r>
            <a:r>
              <a:rPr sz="2750" spc="-90" dirty="0"/>
              <a:t> </a:t>
            </a:r>
            <a:r>
              <a:rPr sz="2750" spc="60" dirty="0"/>
              <a:t>when</a:t>
            </a:r>
            <a:r>
              <a:rPr sz="2750" spc="-90" dirty="0"/>
              <a:t> </a:t>
            </a:r>
            <a:r>
              <a:rPr sz="2750" spc="110" dirty="0"/>
              <a:t>the </a:t>
            </a:r>
            <a:r>
              <a:rPr sz="2750" dirty="0"/>
              <a:t>models</a:t>
            </a:r>
            <a:r>
              <a:rPr sz="2750" spc="-15" dirty="0"/>
              <a:t> </a:t>
            </a:r>
            <a:r>
              <a:rPr sz="2750" dirty="0"/>
              <a:t>used</a:t>
            </a:r>
            <a:r>
              <a:rPr sz="2750" spc="-10" dirty="0"/>
              <a:t> </a:t>
            </a:r>
            <a:r>
              <a:rPr sz="2750" spc="60" dirty="0"/>
              <a:t>in</a:t>
            </a:r>
            <a:r>
              <a:rPr sz="2750" spc="-10" dirty="0"/>
              <a:t> </a:t>
            </a:r>
            <a:r>
              <a:rPr sz="2750" spc="135" dirty="0"/>
              <a:t>the</a:t>
            </a:r>
            <a:r>
              <a:rPr sz="2750" spc="-10" dirty="0"/>
              <a:t> </a:t>
            </a:r>
            <a:r>
              <a:rPr sz="2750" spc="105" dirty="0"/>
              <a:t>voting</a:t>
            </a:r>
            <a:r>
              <a:rPr sz="2750" spc="-15" dirty="0"/>
              <a:t> </a:t>
            </a:r>
            <a:r>
              <a:rPr sz="2750" dirty="0"/>
              <a:t>ensemble</a:t>
            </a:r>
            <a:r>
              <a:rPr sz="2750" spc="-20" dirty="0"/>
              <a:t> </a:t>
            </a:r>
            <a:r>
              <a:rPr sz="2750" spc="95" dirty="0"/>
              <a:t>predict</a:t>
            </a:r>
            <a:r>
              <a:rPr sz="2750" spc="-15" dirty="0"/>
              <a:t> </a:t>
            </a:r>
            <a:r>
              <a:rPr sz="2750" spc="110" dirty="0"/>
              <a:t>the </a:t>
            </a:r>
            <a:r>
              <a:rPr sz="2750" spc="90" dirty="0"/>
              <a:t>probability</a:t>
            </a:r>
            <a:r>
              <a:rPr sz="2750" spc="-85" dirty="0"/>
              <a:t> </a:t>
            </a:r>
            <a:r>
              <a:rPr sz="2750" spc="200" dirty="0"/>
              <a:t>of</a:t>
            </a:r>
            <a:r>
              <a:rPr sz="2750" spc="-95" dirty="0"/>
              <a:t> </a:t>
            </a:r>
            <a:r>
              <a:rPr sz="2750" spc="-75" dirty="0"/>
              <a:t>class</a:t>
            </a:r>
            <a:r>
              <a:rPr sz="2750" spc="-90" dirty="0"/>
              <a:t> </a:t>
            </a:r>
            <a:r>
              <a:rPr sz="2750" spc="-10" dirty="0"/>
              <a:t>membership.</a:t>
            </a:r>
            <a:endParaRPr sz="275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Voting</a:t>
            </a:r>
            <a:endParaRPr spc="1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94980" cy="4389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3055" marR="5080" indent="-300990">
              <a:lnSpc>
                <a:spcPct val="100000"/>
              </a:lnSpc>
              <a:spcBef>
                <a:spcPts val="105"/>
              </a:spcBef>
              <a:buClr>
                <a:srgbClr val="6697CC"/>
              </a:buClr>
              <a:buFont typeface="Arial MT"/>
              <a:buChar char="•"/>
              <a:tabLst>
                <a:tab pos="313055" algn="l"/>
              </a:tabLst>
            </a:pPr>
            <a:r>
              <a:rPr sz="2450" spc="80" dirty="0">
                <a:latin typeface="Microsoft Sans Serif" panose="020B0604020202020204"/>
                <a:cs typeface="Microsoft Sans Serif" panose="020B0604020202020204"/>
              </a:rPr>
              <a:t>Soft</a:t>
            </a:r>
            <a:r>
              <a:rPr sz="24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85" dirty="0">
                <a:latin typeface="Microsoft Sans Serif" panose="020B0604020202020204"/>
                <a:cs typeface="Microsoft Sans Serif" panose="020B0604020202020204"/>
              </a:rPr>
              <a:t>voting</a:t>
            </a:r>
            <a:r>
              <a:rPr sz="24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35" dirty="0">
                <a:latin typeface="Microsoft Sans Serif" panose="020B0604020202020204"/>
                <a:cs typeface="Microsoft Sans Serif" panose="020B0604020202020204"/>
              </a:rPr>
              <a:t>can</a:t>
            </a:r>
            <a:r>
              <a:rPr sz="24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be</a:t>
            </a:r>
            <a:r>
              <a:rPr sz="24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4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55" dirty="0"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4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models</a:t>
            </a:r>
            <a:r>
              <a:rPr sz="24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40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4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80" dirty="0">
                <a:latin typeface="Microsoft Sans Serif" panose="020B0604020202020204"/>
                <a:cs typeface="Microsoft Sans Serif" panose="020B0604020202020204"/>
              </a:rPr>
              <a:t>do</a:t>
            </a:r>
            <a:r>
              <a:rPr sz="24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40" dirty="0">
                <a:latin typeface="Microsoft Sans Serif" panose="020B0604020202020204"/>
                <a:cs typeface="Microsoft Sans Serif" panose="020B0604020202020204"/>
              </a:rPr>
              <a:t>not</a:t>
            </a:r>
            <a:r>
              <a:rPr sz="24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35" dirty="0">
                <a:latin typeface="Microsoft Sans Serif" panose="020B0604020202020204"/>
                <a:cs typeface="Microsoft Sans Serif" panose="020B0604020202020204"/>
              </a:rPr>
              <a:t>natively </a:t>
            </a:r>
            <a:r>
              <a:rPr sz="2450" spc="80" dirty="0">
                <a:latin typeface="Microsoft Sans Serif" panose="020B0604020202020204"/>
                <a:cs typeface="Microsoft Sans Serif" panose="020B0604020202020204"/>
              </a:rPr>
              <a:t>predict</a:t>
            </a:r>
            <a:r>
              <a:rPr sz="24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9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4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75" dirty="0">
                <a:latin typeface="Microsoft Sans Serif" panose="020B0604020202020204"/>
                <a:cs typeface="Microsoft Sans Serif" panose="020B0604020202020204"/>
              </a:rPr>
              <a:t>class</a:t>
            </a:r>
            <a:r>
              <a:rPr sz="24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membership</a:t>
            </a:r>
            <a:r>
              <a:rPr sz="24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65" dirty="0">
                <a:latin typeface="Microsoft Sans Serif" panose="020B0604020202020204"/>
                <a:cs typeface="Microsoft Sans Serif" panose="020B0604020202020204"/>
              </a:rPr>
              <a:t>probability,</a:t>
            </a:r>
            <a:r>
              <a:rPr sz="24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65" dirty="0">
                <a:latin typeface="Microsoft Sans Serif" panose="020B0604020202020204"/>
                <a:cs typeface="Microsoft Sans Serif" panose="020B0604020202020204"/>
              </a:rPr>
              <a:t>although</a:t>
            </a:r>
            <a:r>
              <a:rPr sz="245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5" dirty="0">
                <a:latin typeface="Microsoft Sans Serif" panose="020B0604020202020204"/>
                <a:cs typeface="Microsoft Sans Serif" panose="020B0604020202020204"/>
              </a:rPr>
              <a:t>may </a:t>
            </a:r>
            <a:r>
              <a:rPr sz="2450" spc="60" dirty="0">
                <a:latin typeface="Microsoft Sans Serif" panose="020B0604020202020204"/>
                <a:cs typeface="Microsoft Sans Serif" panose="020B0604020202020204"/>
              </a:rPr>
              <a:t>require</a:t>
            </a:r>
            <a:r>
              <a:rPr sz="24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50" dirty="0">
                <a:latin typeface="Microsoft Sans Serif" panose="020B0604020202020204"/>
                <a:cs typeface="Microsoft Sans Serif" panose="020B0604020202020204"/>
              </a:rPr>
              <a:t>calibration</a:t>
            </a:r>
            <a:r>
              <a:rPr sz="24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70" dirty="0"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24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00" dirty="0">
                <a:latin typeface="Microsoft Sans Serif" panose="020B0604020202020204"/>
                <a:cs typeface="Microsoft Sans Serif" panose="020B0604020202020204"/>
              </a:rPr>
              <a:t>their</a:t>
            </a:r>
            <a:r>
              <a:rPr sz="24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60" dirty="0">
                <a:latin typeface="Microsoft Sans Serif" panose="020B0604020202020204"/>
                <a:cs typeface="Microsoft Sans Serif" panose="020B0604020202020204"/>
              </a:rPr>
              <a:t>probability-</a:t>
            </a:r>
            <a:r>
              <a:rPr sz="2450" spc="50" dirty="0">
                <a:latin typeface="Microsoft Sans Serif" panose="020B0604020202020204"/>
                <a:cs typeface="Microsoft Sans Serif" panose="020B0604020202020204"/>
              </a:rPr>
              <a:t>like</a:t>
            </a:r>
            <a:r>
              <a:rPr sz="24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5" dirty="0">
                <a:latin typeface="Microsoft Sans Serif" panose="020B0604020202020204"/>
                <a:cs typeface="Microsoft Sans Serif" panose="020B0604020202020204"/>
              </a:rPr>
              <a:t>scores</a:t>
            </a:r>
            <a:r>
              <a:rPr sz="24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85" dirty="0">
                <a:latin typeface="Microsoft Sans Serif" panose="020B0604020202020204"/>
                <a:cs typeface="Microsoft Sans Serif" panose="020B0604020202020204"/>
              </a:rPr>
              <a:t>prior </a:t>
            </a:r>
            <a:r>
              <a:rPr sz="2450" spc="190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4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being</a:t>
            </a:r>
            <a:r>
              <a:rPr sz="24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4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4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4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ensemble</a:t>
            </a:r>
            <a:r>
              <a:rPr sz="24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0" dirty="0">
                <a:latin typeface="Microsoft Sans Serif" panose="020B0604020202020204"/>
                <a:cs typeface="Microsoft Sans Serif" panose="020B0604020202020204"/>
              </a:rPr>
              <a:t>(e.g.</a:t>
            </a:r>
            <a:r>
              <a:rPr sz="24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80" dirty="0">
                <a:latin typeface="Microsoft Sans Serif" panose="020B0604020202020204"/>
                <a:cs typeface="Microsoft Sans Serif" panose="020B0604020202020204"/>
              </a:rPr>
              <a:t>support</a:t>
            </a:r>
            <a:r>
              <a:rPr sz="24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55" dirty="0">
                <a:latin typeface="Microsoft Sans Serif" panose="020B0604020202020204"/>
                <a:cs typeface="Microsoft Sans Serif" panose="020B0604020202020204"/>
              </a:rPr>
              <a:t>vector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machine,</a:t>
            </a:r>
            <a:r>
              <a:rPr sz="245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30" dirty="0">
                <a:latin typeface="Microsoft Sans Serif" panose="020B0604020202020204"/>
                <a:cs typeface="Microsoft Sans Serif" panose="020B0604020202020204"/>
              </a:rPr>
              <a:t>k-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nearest</a:t>
            </a:r>
            <a:r>
              <a:rPr sz="2450" spc="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neighbors,</a:t>
            </a:r>
            <a:r>
              <a:rPr sz="245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450" spc="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decision</a:t>
            </a:r>
            <a:r>
              <a:rPr sz="2450" spc="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latin typeface="Microsoft Sans Serif" panose="020B0604020202020204"/>
                <a:cs typeface="Microsoft Sans Serif" panose="020B0604020202020204"/>
              </a:rPr>
              <a:t>trees).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  <a:p>
            <a:pPr marL="663575" lvl="1" indent="-248920">
              <a:lnSpc>
                <a:spcPct val="100000"/>
              </a:lnSpc>
              <a:spcBef>
                <a:spcPts val="620"/>
              </a:spcBef>
              <a:buClr>
                <a:srgbClr val="6697CC"/>
              </a:buClr>
              <a:buFont typeface="Arial MT"/>
              <a:buChar char="–"/>
              <a:tabLst>
                <a:tab pos="663575" algn="l"/>
              </a:tabLst>
            </a:pP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Hard</a:t>
            </a:r>
            <a:r>
              <a:rPr sz="2450" spc="-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85" dirty="0">
                <a:latin typeface="Microsoft Sans Serif" panose="020B0604020202020204"/>
                <a:cs typeface="Microsoft Sans Serif" panose="020B0604020202020204"/>
              </a:rPr>
              <a:t>voting</a:t>
            </a:r>
            <a:r>
              <a:rPr sz="24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4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55" dirty="0"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4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models</a:t>
            </a:r>
            <a:r>
              <a:rPr sz="24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40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4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80" dirty="0">
                <a:latin typeface="Microsoft Sans Serif" panose="020B0604020202020204"/>
                <a:cs typeface="Microsoft Sans Serif" panose="020B0604020202020204"/>
              </a:rPr>
              <a:t>predict</a:t>
            </a:r>
            <a:r>
              <a:rPr sz="24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75" dirty="0">
                <a:latin typeface="Microsoft Sans Serif" panose="020B0604020202020204"/>
                <a:cs typeface="Microsoft Sans Serif" panose="020B0604020202020204"/>
              </a:rPr>
              <a:t>class</a:t>
            </a:r>
            <a:r>
              <a:rPr sz="2450" spc="-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latin typeface="Microsoft Sans Serif" panose="020B0604020202020204"/>
                <a:cs typeface="Microsoft Sans Serif" panose="020B0604020202020204"/>
              </a:rPr>
              <a:t>labels.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  <a:p>
            <a:pPr marL="662940" marR="1466215" lvl="1" indent="-248920">
              <a:lnSpc>
                <a:spcPct val="100000"/>
              </a:lnSpc>
              <a:spcBef>
                <a:spcPts val="605"/>
              </a:spcBef>
              <a:buClr>
                <a:srgbClr val="6697CC"/>
              </a:buClr>
              <a:buFont typeface="Arial MT"/>
              <a:buChar char="–"/>
              <a:tabLst>
                <a:tab pos="664845" algn="l"/>
              </a:tabLst>
            </a:pPr>
            <a:r>
              <a:rPr sz="2450" spc="80" dirty="0">
                <a:latin typeface="Microsoft Sans Serif" panose="020B0604020202020204"/>
                <a:cs typeface="Microsoft Sans Serif" panose="020B0604020202020204"/>
              </a:rPr>
              <a:t>Soft</a:t>
            </a:r>
            <a:r>
              <a:rPr sz="24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85" dirty="0">
                <a:latin typeface="Microsoft Sans Serif" panose="020B0604020202020204"/>
                <a:cs typeface="Microsoft Sans Serif" panose="020B0604020202020204"/>
              </a:rPr>
              <a:t>voting</a:t>
            </a:r>
            <a:r>
              <a:rPr sz="24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4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55" dirty="0"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4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models</a:t>
            </a:r>
            <a:r>
              <a:rPr sz="24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40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4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80" dirty="0">
                <a:latin typeface="Microsoft Sans Serif" panose="020B0604020202020204"/>
                <a:cs typeface="Microsoft Sans Serif" panose="020B0604020202020204"/>
              </a:rPr>
              <a:t>predict</a:t>
            </a:r>
            <a:r>
              <a:rPr sz="24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5" dirty="0">
                <a:latin typeface="Microsoft Sans Serif" panose="020B0604020202020204"/>
                <a:cs typeface="Microsoft Sans Serif" panose="020B0604020202020204"/>
              </a:rPr>
              <a:t>class </a:t>
            </a:r>
            <a:r>
              <a:rPr sz="2450" spc="-25" dirty="0"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membership</a:t>
            </a:r>
            <a:r>
              <a:rPr sz="2450" spc="2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40" dirty="0">
                <a:latin typeface="Microsoft Sans Serif" panose="020B0604020202020204"/>
                <a:cs typeface="Microsoft Sans Serif" panose="020B0604020202020204"/>
              </a:rPr>
              <a:t>probabilities.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  <a:p>
            <a:pPr marL="313055" marR="167005" indent="-300990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•"/>
              <a:tabLst>
                <a:tab pos="313055" algn="l"/>
              </a:tabLst>
            </a:pPr>
            <a:r>
              <a:rPr sz="2450" spc="-1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4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85" dirty="0">
                <a:latin typeface="Microsoft Sans Serif" panose="020B0604020202020204"/>
                <a:cs typeface="Microsoft Sans Serif" panose="020B0604020202020204"/>
              </a:rPr>
              <a:t>voting</a:t>
            </a:r>
            <a:r>
              <a:rPr sz="24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ensemble</a:t>
            </a:r>
            <a:r>
              <a:rPr sz="24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3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4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40" dirty="0">
                <a:latin typeface="Microsoft Sans Serif" panose="020B0604020202020204"/>
                <a:cs typeface="Microsoft Sans Serif" panose="020B0604020202020204"/>
              </a:rPr>
              <a:t>not</a:t>
            </a:r>
            <a:r>
              <a:rPr sz="24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45" dirty="0">
                <a:latin typeface="Microsoft Sans Serif" panose="020B0604020202020204"/>
                <a:cs typeface="Microsoft Sans Serif" panose="020B0604020202020204"/>
              </a:rPr>
              <a:t>guaranteed</a:t>
            </a:r>
            <a:r>
              <a:rPr sz="24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90" dirty="0"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24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50" dirty="0">
                <a:latin typeface="Microsoft Sans Serif" panose="020B0604020202020204"/>
                <a:cs typeface="Microsoft Sans Serif" panose="020B0604020202020204"/>
              </a:rPr>
              <a:t>provide </a:t>
            </a:r>
            <a:r>
              <a:rPr sz="2450" spc="135" dirty="0">
                <a:latin typeface="Microsoft Sans Serif" panose="020B0604020202020204"/>
                <a:cs typeface="Microsoft Sans Serif" panose="020B0604020202020204"/>
              </a:rPr>
              <a:t>better</a:t>
            </a:r>
            <a:r>
              <a:rPr sz="24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50" dirty="0">
                <a:latin typeface="Microsoft Sans Serif" panose="020B0604020202020204"/>
                <a:cs typeface="Microsoft Sans Serif" panose="020B0604020202020204"/>
              </a:rPr>
              <a:t>performance</a:t>
            </a:r>
            <a:r>
              <a:rPr sz="24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70" dirty="0">
                <a:latin typeface="Microsoft Sans Serif" panose="020B0604020202020204"/>
                <a:cs typeface="Microsoft Sans Serif" panose="020B0604020202020204"/>
              </a:rPr>
              <a:t>than</a:t>
            </a:r>
            <a:r>
              <a:rPr sz="24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any</a:t>
            </a:r>
            <a:r>
              <a:rPr sz="24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single</a:t>
            </a:r>
            <a:r>
              <a:rPr sz="24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65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4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4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4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85" dirty="0">
                <a:latin typeface="Microsoft Sans Serif" panose="020B0604020202020204"/>
                <a:cs typeface="Microsoft Sans Serif" panose="020B0604020202020204"/>
              </a:rPr>
              <a:t>the </a:t>
            </a:r>
            <a:r>
              <a:rPr sz="2450" spc="-10" dirty="0">
                <a:latin typeface="Microsoft Sans Serif" panose="020B0604020202020204"/>
                <a:cs typeface="Microsoft Sans Serif" panose="020B0604020202020204"/>
              </a:rPr>
              <a:t>ensemble.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Voting</a:t>
            </a:r>
            <a:endParaRPr spc="1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39755"/>
            <a:ext cx="8037830" cy="460692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750"/>
              </a:spcBef>
              <a:buClr>
                <a:srgbClr val="6697CC"/>
              </a:buClr>
              <a:buFont typeface="Arial MT"/>
              <a:buChar char="•"/>
              <a:tabLst>
                <a:tab pos="317500" algn="l"/>
              </a:tabLst>
            </a:pPr>
            <a:r>
              <a:rPr sz="2450" spc="-55" dirty="0">
                <a:latin typeface="Microsoft Sans Serif" panose="020B0604020202020204"/>
                <a:cs typeface="Microsoft Sans Serif" panose="020B0604020202020204"/>
              </a:rPr>
              <a:t>Use</a:t>
            </a:r>
            <a:r>
              <a:rPr sz="24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4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00" dirty="0">
                <a:latin typeface="Microsoft Sans Serif" panose="020B0604020202020204"/>
                <a:cs typeface="Microsoft Sans Serif" panose="020B0604020202020204"/>
              </a:rPr>
              <a:t>voting</a:t>
            </a:r>
            <a:r>
              <a:rPr sz="24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ensemble</a:t>
            </a:r>
            <a:r>
              <a:rPr sz="24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70" dirty="0">
                <a:latin typeface="Microsoft Sans Serif" panose="020B0604020202020204"/>
                <a:cs typeface="Microsoft Sans Serif" panose="020B0604020202020204"/>
              </a:rPr>
              <a:t>if: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  <a:p>
            <a:pPr marL="670560" marR="573405" lvl="1" indent="-252095">
              <a:lnSpc>
                <a:spcPct val="101000"/>
              </a:lnSpc>
              <a:spcBef>
                <a:spcPts val="620"/>
              </a:spcBef>
              <a:buClr>
                <a:srgbClr val="6697CC"/>
              </a:buClr>
              <a:buFont typeface="Arial MT"/>
              <a:buChar char="–"/>
              <a:tabLst>
                <a:tab pos="672465" algn="l"/>
              </a:tabLst>
            </a:pPr>
            <a:r>
              <a:rPr sz="2450" spc="160" dirty="0">
                <a:latin typeface="Microsoft Sans Serif" panose="020B0604020202020204"/>
                <a:cs typeface="Microsoft Sans Serif" panose="020B0604020202020204"/>
              </a:rPr>
              <a:t>It</a:t>
            </a:r>
            <a:r>
              <a:rPr sz="24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55" dirty="0">
                <a:latin typeface="Microsoft Sans Serif" panose="020B0604020202020204"/>
                <a:cs typeface="Microsoft Sans Serif" panose="020B0604020202020204"/>
              </a:rPr>
              <a:t>results</a:t>
            </a:r>
            <a:r>
              <a:rPr sz="24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55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4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50" dirty="0">
                <a:latin typeface="Microsoft Sans Serif" panose="020B0604020202020204"/>
                <a:cs typeface="Microsoft Sans Serif" panose="020B0604020202020204"/>
              </a:rPr>
              <a:t>better</a:t>
            </a:r>
            <a:r>
              <a:rPr sz="24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70" dirty="0">
                <a:latin typeface="Microsoft Sans Serif" panose="020B0604020202020204"/>
                <a:cs typeface="Microsoft Sans Serif" panose="020B0604020202020204"/>
              </a:rPr>
              <a:t>performance</a:t>
            </a:r>
            <a:r>
              <a:rPr sz="24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90" dirty="0">
                <a:latin typeface="Microsoft Sans Serif" panose="020B0604020202020204"/>
                <a:cs typeface="Microsoft Sans Serif" panose="020B0604020202020204"/>
              </a:rPr>
              <a:t>than</a:t>
            </a:r>
            <a:r>
              <a:rPr sz="2450" spc="-8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any</a:t>
            </a:r>
            <a:r>
              <a:rPr sz="24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60" dirty="0">
                <a:latin typeface="Microsoft Sans Serif" panose="020B0604020202020204"/>
                <a:cs typeface="Microsoft Sans Serif" panose="020B0604020202020204"/>
              </a:rPr>
              <a:t>model </a:t>
            </a:r>
            <a:r>
              <a:rPr sz="2450" spc="60" dirty="0"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4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4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3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4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latin typeface="Microsoft Sans Serif" panose="020B0604020202020204"/>
                <a:cs typeface="Microsoft Sans Serif" panose="020B0604020202020204"/>
              </a:rPr>
              <a:t>ensemble.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  <a:p>
            <a:pPr marL="670560" marR="5080" lvl="1" indent="-252095">
              <a:lnSpc>
                <a:spcPct val="101000"/>
              </a:lnSpc>
              <a:spcBef>
                <a:spcPts val="620"/>
              </a:spcBef>
              <a:buClr>
                <a:srgbClr val="6697CC"/>
              </a:buClr>
              <a:buFont typeface="Arial MT"/>
              <a:buChar char="–"/>
              <a:tabLst>
                <a:tab pos="672465" algn="l"/>
              </a:tabLst>
            </a:pPr>
            <a:r>
              <a:rPr sz="2450" spc="160" dirty="0">
                <a:latin typeface="Microsoft Sans Serif" panose="020B0604020202020204"/>
                <a:cs typeface="Microsoft Sans Serif" panose="020B0604020202020204"/>
              </a:rPr>
              <a:t>It</a:t>
            </a:r>
            <a:r>
              <a:rPr sz="24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55" dirty="0">
                <a:latin typeface="Microsoft Sans Serif" panose="020B0604020202020204"/>
                <a:cs typeface="Microsoft Sans Serif" panose="020B0604020202020204"/>
              </a:rPr>
              <a:t>results</a:t>
            </a:r>
            <a:r>
              <a:rPr sz="24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55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4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4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00" dirty="0">
                <a:latin typeface="Microsoft Sans Serif" panose="020B0604020202020204"/>
                <a:cs typeface="Microsoft Sans Serif" panose="020B0604020202020204"/>
              </a:rPr>
              <a:t>lower</a:t>
            </a:r>
            <a:r>
              <a:rPr sz="24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variance</a:t>
            </a:r>
            <a:r>
              <a:rPr sz="24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80" dirty="0">
                <a:latin typeface="Microsoft Sans Serif" panose="020B0604020202020204"/>
                <a:cs typeface="Microsoft Sans Serif" panose="020B0604020202020204"/>
              </a:rPr>
              <a:t>than</a:t>
            </a:r>
            <a:r>
              <a:rPr sz="24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any</a:t>
            </a:r>
            <a:r>
              <a:rPr sz="24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80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4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used</a:t>
            </a:r>
            <a:r>
              <a:rPr sz="24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25" dirty="0">
                <a:latin typeface="Microsoft Sans Serif" panose="020B0604020202020204"/>
                <a:cs typeface="Microsoft Sans Serif" panose="020B0604020202020204"/>
              </a:rPr>
              <a:t>in </a:t>
            </a:r>
            <a:r>
              <a:rPr sz="2450" spc="25" dirty="0"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2450" spc="125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4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latin typeface="Microsoft Sans Serif" panose="020B0604020202020204"/>
                <a:cs typeface="Microsoft Sans Serif" panose="020B0604020202020204"/>
              </a:rPr>
              <a:t>ensemble.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  <a:p>
            <a:pPr marL="317500" marR="326390" indent="-305435">
              <a:lnSpc>
                <a:spcPct val="101000"/>
              </a:lnSpc>
              <a:spcBef>
                <a:spcPts val="710"/>
              </a:spcBef>
              <a:buClr>
                <a:srgbClr val="6697CC"/>
              </a:buClr>
              <a:buFont typeface="Arial MT"/>
              <a:buChar char="•"/>
              <a:tabLst>
                <a:tab pos="317500" algn="l"/>
              </a:tabLst>
            </a:pP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4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00" dirty="0">
                <a:latin typeface="Microsoft Sans Serif" panose="020B0604020202020204"/>
                <a:cs typeface="Microsoft Sans Serif" panose="020B0604020202020204"/>
              </a:rPr>
              <a:t>voting</a:t>
            </a:r>
            <a:r>
              <a:rPr sz="24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ensemble</a:t>
            </a:r>
            <a:r>
              <a:rPr sz="24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4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65" dirty="0">
                <a:latin typeface="Microsoft Sans Serif" panose="020B0604020202020204"/>
                <a:cs typeface="Microsoft Sans Serif" panose="020B0604020202020204"/>
              </a:rPr>
              <a:t>particularly</a:t>
            </a:r>
            <a:r>
              <a:rPr sz="24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65" dirty="0">
                <a:latin typeface="Microsoft Sans Serif" panose="020B0604020202020204"/>
                <a:cs typeface="Microsoft Sans Serif" panose="020B0604020202020204"/>
              </a:rPr>
              <a:t>useful</a:t>
            </a:r>
            <a:r>
              <a:rPr sz="24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70" dirty="0"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4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latin typeface="Microsoft Sans Serif" panose="020B0604020202020204"/>
                <a:cs typeface="Microsoft Sans Serif" panose="020B0604020202020204"/>
              </a:rPr>
              <a:t>machine </a:t>
            </a:r>
            <a:r>
              <a:rPr sz="2450" spc="55" dirty="0">
                <a:latin typeface="Microsoft Sans Serif" panose="020B0604020202020204"/>
                <a:cs typeface="Microsoft Sans Serif" panose="020B0604020202020204"/>
              </a:rPr>
              <a:t>learning</a:t>
            </a:r>
            <a:r>
              <a:rPr sz="24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50" dirty="0">
                <a:latin typeface="Microsoft Sans Serif" panose="020B0604020202020204"/>
                <a:cs typeface="Microsoft Sans Serif" panose="020B0604020202020204"/>
              </a:rPr>
              <a:t>models</a:t>
            </a:r>
            <a:r>
              <a:rPr sz="24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45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4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use</a:t>
            </a:r>
            <a:r>
              <a:rPr sz="2450" spc="-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450" spc="-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stochastic</a:t>
            </a:r>
            <a:r>
              <a:rPr sz="2450" spc="-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45" dirty="0">
                <a:latin typeface="Microsoft Sans Serif" panose="020B0604020202020204"/>
                <a:cs typeface="Microsoft Sans Serif" panose="020B0604020202020204"/>
              </a:rPr>
              <a:t>learning </a:t>
            </a:r>
            <a:r>
              <a:rPr sz="2450" spc="95" dirty="0">
                <a:latin typeface="Microsoft Sans Serif" panose="020B0604020202020204"/>
                <a:cs typeface="Microsoft Sans Serif" panose="020B0604020202020204"/>
              </a:rPr>
              <a:t>algorithm</a:t>
            </a:r>
            <a:r>
              <a:rPr sz="2450" spc="-7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24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85" dirty="0">
                <a:latin typeface="Microsoft Sans Serif" panose="020B0604020202020204"/>
                <a:cs typeface="Microsoft Sans Serif" panose="020B0604020202020204"/>
              </a:rPr>
              <a:t>result</a:t>
            </a:r>
            <a:r>
              <a:rPr sz="24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50" dirty="0"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24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2450" spc="-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40" dirty="0">
                <a:latin typeface="Microsoft Sans Serif" panose="020B0604020202020204"/>
                <a:cs typeface="Microsoft Sans Serif" panose="020B0604020202020204"/>
              </a:rPr>
              <a:t>different</a:t>
            </a:r>
            <a:r>
              <a:rPr sz="2450" spc="-6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85" dirty="0">
                <a:latin typeface="Microsoft Sans Serif" panose="020B0604020202020204"/>
                <a:cs typeface="Microsoft Sans Serif" panose="020B0604020202020204"/>
              </a:rPr>
              <a:t>final</a:t>
            </a:r>
            <a:r>
              <a:rPr sz="2450" spc="-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75" dirty="0">
                <a:latin typeface="Microsoft Sans Serif" panose="020B0604020202020204"/>
                <a:cs typeface="Microsoft Sans Serif" panose="020B0604020202020204"/>
              </a:rPr>
              <a:t>model</a:t>
            </a:r>
            <a:r>
              <a:rPr sz="2450" spc="-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20" dirty="0">
                <a:latin typeface="Microsoft Sans Serif" panose="020B0604020202020204"/>
                <a:cs typeface="Microsoft Sans Serif" panose="020B0604020202020204"/>
              </a:rPr>
              <a:t>each </a:t>
            </a:r>
            <a:r>
              <a:rPr sz="2450" spc="120" dirty="0">
                <a:latin typeface="Microsoft Sans Serif" panose="020B0604020202020204"/>
                <a:cs typeface="Microsoft Sans Serif" panose="020B0604020202020204"/>
              </a:rPr>
              <a:t>time</a:t>
            </a:r>
            <a:r>
              <a:rPr sz="24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90" dirty="0">
                <a:latin typeface="Microsoft Sans Serif" panose="020B0604020202020204"/>
                <a:cs typeface="Microsoft Sans Serif" panose="020B0604020202020204"/>
              </a:rPr>
              <a:t>it</a:t>
            </a:r>
            <a:r>
              <a:rPr sz="24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4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85" dirty="0">
                <a:latin typeface="Microsoft Sans Serif" panose="020B0604020202020204"/>
                <a:cs typeface="Microsoft Sans Serif" panose="020B0604020202020204"/>
              </a:rPr>
              <a:t>trained</a:t>
            </a:r>
            <a:r>
              <a:rPr sz="2450" spc="-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65" dirty="0">
                <a:latin typeface="Microsoft Sans Serif" panose="020B0604020202020204"/>
                <a:cs typeface="Microsoft Sans Serif" panose="020B0604020202020204"/>
              </a:rPr>
              <a:t>on</a:t>
            </a:r>
            <a:r>
              <a:rPr sz="2450" spc="-8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30" dirty="0"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4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latin typeface="Microsoft Sans Serif" panose="020B0604020202020204"/>
                <a:cs typeface="Microsoft Sans Serif" panose="020B0604020202020204"/>
              </a:rPr>
              <a:t>same</a:t>
            </a:r>
            <a:r>
              <a:rPr sz="2450" spc="-9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40" dirty="0">
                <a:latin typeface="Microsoft Sans Serif" panose="020B0604020202020204"/>
                <a:cs typeface="Microsoft Sans Serif" panose="020B0604020202020204"/>
              </a:rPr>
              <a:t>dataset.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  <a:p>
            <a:pPr marL="317500" marR="676910" indent="-305435">
              <a:lnSpc>
                <a:spcPct val="101000"/>
              </a:lnSpc>
              <a:spcBef>
                <a:spcPts val="710"/>
              </a:spcBef>
              <a:buClr>
                <a:srgbClr val="6697CC"/>
              </a:buClr>
              <a:buFont typeface="Arial MT"/>
              <a:buChar char="•"/>
              <a:tabLst>
                <a:tab pos="317500" algn="l"/>
              </a:tabLst>
            </a:pP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One</a:t>
            </a:r>
            <a:r>
              <a:rPr sz="24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example</a:t>
            </a:r>
            <a:r>
              <a:rPr sz="2450" spc="-2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24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50" dirty="0">
                <a:latin typeface="Microsoft Sans Serif" panose="020B0604020202020204"/>
                <a:cs typeface="Microsoft Sans Serif" panose="020B0604020202020204"/>
              </a:rPr>
              <a:t>neural</a:t>
            </a:r>
            <a:r>
              <a:rPr sz="24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85" dirty="0">
                <a:latin typeface="Microsoft Sans Serif" panose="020B0604020202020204"/>
                <a:cs typeface="Microsoft Sans Serif" panose="020B0604020202020204"/>
              </a:rPr>
              <a:t>networks</a:t>
            </a:r>
            <a:r>
              <a:rPr sz="24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150" dirty="0">
                <a:latin typeface="Microsoft Sans Serif" panose="020B0604020202020204"/>
                <a:cs typeface="Microsoft Sans Serif" panose="020B0604020202020204"/>
              </a:rPr>
              <a:t>that</a:t>
            </a:r>
            <a:r>
              <a:rPr sz="24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2450" spc="-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220" dirty="0">
                <a:latin typeface="Microsoft Sans Serif" panose="020B0604020202020204"/>
                <a:cs typeface="Microsoft Sans Serif" panose="020B0604020202020204"/>
              </a:rPr>
              <a:t>fit</a:t>
            </a:r>
            <a:r>
              <a:rPr sz="2450" spc="-2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latin typeface="Microsoft Sans Serif" panose="020B0604020202020204"/>
                <a:cs typeface="Microsoft Sans Serif" panose="020B0604020202020204"/>
              </a:rPr>
              <a:t>using </a:t>
            </a:r>
            <a:r>
              <a:rPr sz="2450" dirty="0">
                <a:latin typeface="Microsoft Sans Serif" panose="020B0604020202020204"/>
                <a:cs typeface="Microsoft Sans Serif" panose="020B0604020202020204"/>
              </a:rPr>
              <a:t>stochastic</a:t>
            </a:r>
            <a:r>
              <a:rPr sz="2450" spc="9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85" dirty="0">
                <a:latin typeface="Microsoft Sans Serif" panose="020B0604020202020204"/>
                <a:cs typeface="Microsoft Sans Serif" panose="020B0604020202020204"/>
              </a:rPr>
              <a:t>gradient</a:t>
            </a:r>
            <a:r>
              <a:rPr sz="2450" spc="10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50" spc="-10" dirty="0">
                <a:latin typeface="Microsoft Sans Serif" panose="020B0604020202020204"/>
                <a:cs typeface="Microsoft Sans Serif" panose="020B0604020202020204"/>
              </a:rPr>
              <a:t>descent.</a:t>
            </a:r>
            <a:endParaRPr sz="24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Useful</a:t>
            </a:r>
            <a:r>
              <a:rPr spc="130" dirty="0"/>
              <a:t> </a:t>
            </a:r>
            <a:r>
              <a:rPr spc="-10" dirty="0"/>
              <a:t>resources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1397212"/>
            <a:ext cx="140970" cy="451104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9017" y="1417368"/>
            <a:ext cx="6076950" cy="4508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000"/>
              </a:lnSpc>
              <a:spcBef>
                <a:spcPts val="95"/>
              </a:spcBef>
            </a:pPr>
            <a:r>
              <a:rPr sz="2600" spc="35" dirty="0">
                <a:latin typeface="Microsoft Sans Serif" panose="020B0604020202020204"/>
                <a:cs typeface="Microsoft Sans Serif" panose="020B0604020202020204"/>
                <a:hlinkClick r:id="rId2"/>
              </a:rPr>
              <a:t>www.mitu.co.in</a:t>
            </a:r>
            <a:r>
              <a:rPr sz="2600" spc="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-10" dirty="0">
                <a:latin typeface="Microsoft Sans Serif" panose="020B0604020202020204"/>
                <a:cs typeface="Microsoft Sans Serif" panose="020B0604020202020204"/>
                <a:hlinkClick r:id="rId3"/>
              </a:rPr>
              <a:t>www.pythonprogramminglanguage.com</a:t>
            </a:r>
            <a:r>
              <a:rPr sz="2600" spc="6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50" dirty="0">
                <a:latin typeface="Microsoft Sans Serif" panose="020B0604020202020204"/>
                <a:cs typeface="Microsoft Sans Serif" panose="020B0604020202020204"/>
                <a:hlinkClick r:id="rId4"/>
              </a:rPr>
              <a:t>www.scikit-</a:t>
            </a:r>
            <a:r>
              <a:rPr sz="2600" spc="-10" dirty="0">
                <a:latin typeface="Microsoft Sans Serif" panose="020B0604020202020204"/>
                <a:cs typeface="Microsoft Sans Serif" panose="020B0604020202020204"/>
                <a:hlinkClick r:id="rId4"/>
              </a:rPr>
              <a:t>learn.org</a:t>
            </a:r>
            <a:r>
              <a:rPr sz="26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-10" dirty="0">
                <a:latin typeface="Microsoft Sans Serif" panose="020B0604020202020204"/>
                <a:cs typeface="Microsoft Sans Serif" panose="020B0604020202020204"/>
                <a:hlinkClick r:id="rId5"/>
              </a:rPr>
              <a:t>www.towardsdatascience.com</a:t>
            </a:r>
            <a:r>
              <a:rPr sz="26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-10" dirty="0">
                <a:latin typeface="Microsoft Sans Serif" panose="020B0604020202020204"/>
                <a:cs typeface="Microsoft Sans Serif" panose="020B0604020202020204"/>
                <a:hlinkClick r:id="rId6"/>
              </a:rPr>
              <a:t>www.medium.com</a:t>
            </a:r>
            <a:r>
              <a:rPr sz="26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-10" dirty="0">
                <a:latin typeface="Microsoft Sans Serif" panose="020B0604020202020204"/>
                <a:cs typeface="Microsoft Sans Serif" panose="020B0604020202020204"/>
                <a:hlinkClick r:id="rId7"/>
              </a:rPr>
              <a:t>www.analyticsvidhya.com</a:t>
            </a:r>
            <a:r>
              <a:rPr sz="26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-10" dirty="0">
                <a:latin typeface="Microsoft Sans Serif" panose="020B0604020202020204"/>
                <a:cs typeface="Microsoft Sans Serif" panose="020B0604020202020204"/>
                <a:hlinkClick r:id="rId8"/>
              </a:rPr>
              <a:t>www.kaggle.com</a:t>
            </a:r>
            <a:endParaRPr sz="2600">
              <a:latin typeface="Microsoft Sans Serif" panose="020B0604020202020204"/>
              <a:cs typeface="Microsoft Sans Serif" panose="020B0604020202020204"/>
            </a:endParaRPr>
          </a:p>
          <a:p>
            <a:pPr marL="12700" marR="2680970">
              <a:lnSpc>
                <a:spcPts val="3920"/>
              </a:lnSpc>
              <a:spcBef>
                <a:spcPts val="105"/>
              </a:spcBef>
            </a:pPr>
            <a:r>
              <a:rPr sz="2600" spc="-10" dirty="0">
                <a:latin typeface="Microsoft Sans Serif" panose="020B0604020202020204"/>
                <a:cs typeface="Microsoft Sans Serif" panose="020B0604020202020204"/>
                <a:hlinkClick r:id="rId9"/>
              </a:rPr>
              <a:t>www.stephacking.com</a:t>
            </a:r>
            <a:r>
              <a:rPr sz="2600" spc="-1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600" spc="45" dirty="0">
                <a:latin typeface="Microsoft Sans Serif" panose="020B0604020202020204"/>
                <a:cs typeface="Microsoft Sans Serif" panose="020B0604020202020204"/>
                <a:hlinkClick r:id="rId10"/>
              </a:rPr>
              <a:t>www.github.com</a:t>
            </a:r>
            <a:endParaRPr sz="2600">
              <a:latin typeface="Microsoft Sans Serif" panose="020B0604020202020204"/>
              <a:cs typeface="Microsoft Sans Serif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13130</Words>
  <Application>WPS Presentation</Application>
  <PresentationFormat>On-screen Show (4:3)</PresentationFormat>
  <Paragraphs>274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6" baseType="lpstr">
      <vt:lpstr>Arial</vt:lpstr>
      <vt:lpstr>SimSun</vt:lpstr>
      <vt:lpstr>Wingdings</vt:lpstr>
      <vt:lpstr>Microsoft Sans Serif</vt:lpstr>
      <vt:lpstr>Times New Roman</vt:lpstr>
      <vt:lpstr>Georgia</vt:lpstr>
      <vt:lpstr>Arial MT</vt:lpstr>
      <vt:lpstr>Microsoft YaHei</vt:lpstr>
      <vt:lpstr>Arial Unicode MS</vt:lpstr>
      <vt:lpstr>Calibri</vt:lpstr>
      <vt:lpstr>Arial</vt:lpstr>
      <vt:lpstr>Calibri</vt:lpstr>
      <vt:lpstr>Courier New</vt:lpstr>
      <vt:lpstr>Trebuchet MS</vt:lpstr>
      <vt:lpstr>Office Theme</vt:lpstr>
      <vt:lpstr>Ensemble Learning Methods</vt:lpstr>
      <vt:lpstr>Ensemble Learning</vt:lpstr>
      <vt:lpstr>Real life examples</vt:lpstr>
      <vt:lpstr>The survey prediction</vt:lpstr>
      <vt:lpstr>Conclusion</vt:lpstr>
      <vt:lpstr>Ensembling</vt:lpstr>
      <vt:lpstr>Ensemble Schematic</vt:lpstr>
      <vt:lpstr>Basic Ensemble Structure</vt:lpstr>
      <vt:lpstr>Summary</vt:lpstr>
      <vt:lpstr>How models are different?</vt:lpstr>
      <vt:lpstr>Why ensembles ?</vt:lpstr>
      <vt:lpstr>Ensemble Creation Approaches</vt:lpstr>
      <vt:lpstr>Ensemble Learning Methods</vt:lpstr>
      <vt:lpstr>Bootstrap</vt:lpstr>
      <vt:lpstr>Bootstrap</vt:lpstr>
      <vt:lpstr>Bootstrap</vt:lpstr>
      <vt:lpstr>Bagging</vt:lpstr>
      <vt:lpstr>Bagging</vt:lpstr>
      <vt:lpstr>Random Forest</vt:lpstr>
      <vt:lpstr>How it works ?</vt:lpstr>
      <vt:lpstr>Majority Voting</vt:lpstr>
      <vt:lpstr>Regressor Output</vt:lpstr>
      <vt:lpstr>Boosting</vt:lpstr>
      <vt:lpstr>Boosting Models</vt:lpstr>
      <vt:lpstr>Adaboost Summary</vt:lpstr>
      <vt:lpstr>How Adaboost Works?</vt:lpstr>
      <vt:lpstr>Comparison</vt:lpstr>
      <vt:lpstr>Stacking</vt:lpstr>
      <vt:lpstr>Stacking</vt:lpstr>
      <vt:lpstr>Stacking</vt:lpstr>
      <vt:lpstr>Stacking</vt:lpstr>
      <vt:lpstr>Stacking</vt:lpstr>
      <vt:lpstr>Voting</vt:lpstr>
      <vt:lpstr>Voting</vt:lpstr>
      <vt:lpstr>Voting</vt:lpstr>
      <vt:lpstr>Voting</vt:lpstr>
      <vt:lpstr>Voting</vt:lpstr>
      <vt:lpstr>Voting</vt:lpstr>
      <vt:lpstr>Voting</vt:lpstr>
      <vt:lpstr>Voting</vt:lpstr>
      <vt:lpstr>Useful resources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Ensemble Learning Methods</dc:title>
  <dc:creator>Presentation Magazine</dc:creator>
  <cp:lastModifiedBy>Muhammad Minhal Raza</cp:lastModifiedBy>
  <cp:revision>1</cp:revision>
  <dcterms:created xsi:type="dcterms:W3CDTF">2025-10-20T06:43:01Z</dcterms:created>
  <dcterms:modified xsi:type="dcterms:W3CDTF">2025-10-20T06:43:01Z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2021-04-26T05:00:00Z</vt:filetime>
  </property>
  <property fmtid="{D5CDD505-2E9C-101B-9397-08002B2CF9AE}" pid="3" name="Creator">
    <vt:lpwstr>Impress</vt:lpwstr>
  </property>
  <property fmtid="{D5CDD505-2E9C-101B-9397-08002B2CF9AE}" pid="4" name="Producer">
    <vt:lpwstr>LibreOffice 6.4</vt:lpwstr>
  </property>
  <property fmtid="{D5CDD505-2E9C-101B-9397-08002B2CF9AE}" pid="5" name="LastSaved">
    <vt:filetime>2021-04-26T05:00:00Z</vt:filetime>
  </property>
  <property fmtid="{D5CDD505-2E9C-101B-9397-08002B2CF9AE}" pid="6" name="ICV">
    <vt:lpwstr>0C8771DD831040F7BBF5AA93ACB6F231_12</vt:lpwstr>
  </property>
  <property fmtid="{D5CDD505-2E9C-101B-9397-08002B2CF9AE}" pid="7" name="KSOProductBuildVer">
    <vt:lpwstr>1033-12.2.0.23131</vt:lpwstr>
  </property>
</Properties>
</file>