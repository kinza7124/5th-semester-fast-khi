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37" r:id="rId3"/>
    <p:sldId id="654" r:id="rId5"/>
    <p:sldId id="1115" r:id="rId6"/>
    <p:sldId id="1116" r:id="rId7"/>
    <p:sldId id="1117" r:id="rId8"/>
    <p:sldId id="1118" r:id="rId9"/>
    <p:sldId id="1119" r:id="rId10"/>
    <p:sldId id="1120" r:id="rId11"/>
    <p:sldId id="1121" r:id="rId12"/>
    <p:sldId id="1122" r:id="rId13"/>
    <p:sldId id="1123" r:id="rId14"/>
    <p:sldId id="1124" r:id="rId15"/>
    <p:sldId id="1125" r:id="rId16"/>
    <p:sldId id="1126" r:id="rId17"/>
    <p:sldId id="1127" r:id="rId18"/>
    <p:sldId id="1128" r:id="rId19"/>
    <p:sldId id="1129" r:id="rId20"/>
    <p:sldId id="1130" r:id="rId21"/>
    <p:sldId id="1131" r:id="rId22"/>
    <p:sldId id="1132" r:id="rId23"/>
    <p:sldId id="1133" r:id="rId24"/>
    <p:sldId id="1134" r:id="rId25"/>
    <p:sldId id="1135" r:id="rId26"/>
    <p:sldId id="1087" r:id="rId27"/>
    <p:sldId id="1088" r:id="rId28"/>
    <p:sldId id="1089" r:id="rId29"/>
    <p:sldId id="1090" r:id="rId30"/>
    <p:sldId id="1091" r:id="rId31"/>
    <p:sldId id="1092" r:id="rId32"/>
    <p:sldId id="1093" r:id="rId33"/>
    <p:sldId id="1097" r:id="rId34"/>
    <p:sldId id="1098" r:id="rId35"/>
    <p:sldId id="1099" r:id="rId36"/>
    <p:sldId id="1100" r:id="rId37"/>
    <p:sldId id="1101" r:id="rId38"/>
    <p:sldId id="1102" r:id="rId39"/>
    <p:sldId id="1103" r:id="rId40"/>
    <p:sldId id="1104" r:id="rId41"/>
    <p:sldId id="1105" r:id="rId42"/>
    <p:sldId id="1106" r:id="rId43"/>
    <p:sldId id="1107" r:id="rId44"/>
    <p:sldId id="1108" r:id="rId45"/>
    <p:sldId id="1109" r:id="rId46"/>
    <p:sldId id="1110" r:id="rId47"/>
    <p:sldId id="1111" r:id="rId48"/>
    <p:sldId id="1112" r:id="rId49"/>
    <p:sldId id="1113" r:id="rId50"/>
    <p:sldId id="1136" r:id="rId51"/>
  </p:sldIdLst>
  <p:sldSz cx="9144000" cy="6858000" type="screen4x3"/>
  <p:notesSz cx="6858000" cy="9144000"/>
  <p:defaultTextStyle>
    <a:defPPr>
      <a:defRPr lang="de-DE"/>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478"/>
    <p:restoredTop sz="94736"/>
  </p:normalViewPr>
  <p:slideViewPr>
    <p:cSldViewPr showGuides="1">
      <p:cViewPr varScale="1">
        <p:scale>
          <a:sx n="70" d="100"/>
          <a:sy n="70" d="100"/>
        </p:scale>
        <p:origin x="-438" y="-108"/>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14.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image" Target="../media/image15.png"/></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png"/></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6955CDC-BAB2-41EC-A4CC-256B0D690021}"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en-US" altLang="x-none" sz="1200" dirty="0"/>
            </a:fld>
            <a:endParaRPr lang="en-US" altLang="x-none"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8370" name="Rectangle 8"/>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Font typeface="Tahoma" panose="020B0604030504040204" pitchFamily="34" charset="0"/>
            </a:pPr>
            <a:fld id="{9A0DB2DC-4C9A-4742-B13C-FB6460FD3503}" type="slidenum">
              <a:rPr lang="en-GB" altLang="x-none" sz="1200" dirty="0">
                <a:latin typeface="Tahoma" panose="020B0604030504040204" pitchFamily="34" charset="0"/>
                <a:ea typeface="DejaVu Sans"/>
              </a:rPr>
            </a:fld>
            <a:endParaRPr lang="en-GB" altLang="x-none" sz="1200" dirty="0">
              <a:latin typeface="Tahoma" panose="020B0604030504040204" pitchFamily="34" charset="0"/>
              <a:ea typeface="DejaVu Sans"/>
            </a:endParaRPr>
          </a:p>
        </p:txBody>
      </p:sp>
      <p:sp>
        <p:nvSpPr>
          <p:cNvPr id="58371" name="Text Box 1"/>
          <p:cNvSpPr txBox="1"/>
          <p:nvPr/>
        </p:nvSpPr>
        <p:spPr>
          <a:xfrm>
            <a:off x="1135063" y="685800"/>
            <a:ext cx="4589462" cy="3429000"/>
          </a:xfrm>
          <a:prstGeom prst="rect">
            <a:avLst/>
          </a:prstGeom>
          <a:solidFill>
            <a:srgbClr val="FFFFFF"/>
          </a:solidFill>
          <a:ln w="9525" cap="flat" cmpd="sng">
            <a:solidFill>
              <a:srgbClr val="000000"/>
            </a:solidFill>
            <a:prstDash val="solid"/>
            <a:miter/>
            <a:headEnd type="none" w="med" len="med"/>
            <a:tailEnd type="none" w="med" len="med"/>
          </a:ln>
        </p:spPr>
        <p:txBody>
          <a:bodyPr wrap="none" anchor="ctr" anchorCtr="0"/>
          <a:p>
            <a:pPr lvl="0">
              <a:buClr>
                <a:srgbClr val="000000"/>
              </a:buClr>
              <a:buSzPct val="100000"/>
            </a:pPr>
            <a:endParaRPr lang="en-US" altLang="x-none" dirty="0">
              <a:ea typeface="DejaVu Sans"/>
            </a:endParaRPr>
          </a:p>
        </p:txBody>
      </p:sp>
      <p:sp>
        <p:nvSpPr>
          <p:cNvPr id="58372" name="Rectangle 2"/>
          <p:cNvSpPr>
            <a:spLocks noGrp="1"/>
          </p:cNvSpPr>
          <p:nvPr>
            <p:ph type="body"/>
          </p:nvPr>
        </p:nvSpPr>
        <p:spPr>
          <a:xfrm>
            <a:off x="914400" y="4343400"/>
            <a:ext cx="5027613" cy="4113213"/>
          </a:xfrm>
          <a:noFill/>
          <a:ln>
            <a:noFill/>
          </a:ln>
        </p:spPr>
        <p:txBody>
          <a:bodyPr wrap="none" lIns="91440" tIns="45720" rIns="91440" bIns="45720" anchor="ctr" anchorCtr="0"/>
          <a:p>
            <a:pPr lvl="0" eaLnBrk="1" hangingPunct="1"/>
            <a:endParaRPr lang="en-US" altLang="x-none" dirty="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x-none" sz="1200" dirty="0"/>
            </a:fld>
            <a:endParaRPr lang="en-US" altLang="x-none" sz="1200" dirty="0"/>
          </a:p>
        </p:txBody>
      </p:sp>
      <p:sp>
        <p:nvSpPr>
          <p:cNvPr id="59395" name="Rectangle 2"/>
          <p:cNvSpPr>
            <a:spLocks noRot="1" noTextEdit="1"/>
          </p:cNvSpPr>
          <p:nvPr>
            <p:ph type="sldImg"/>
          </p:nvPr>
        </p:nvSpPr>
        <p:spPr>
          <a:xfrm>
            <a:off x="1149350" y="685800"/>
            <a:ext cx="4567238" cy="3427413"/>
          </a:xfrm>
          <a:ln>
            <a:solidFill>
              <a:srgbClr val="000000">
                <a:alpha val="100000"/>
              </a:srgbClr>
            </a:solidFill>
            <a:miter lim="800000"/>
          </a:ln>
        </p:spPr>
      </p:sp>
      <p:sp>
        <p:nvSpPr>
          <p:cNvPr id="59396" name="Rectangle 3"/>
          <p:cNvSpPr>
            <a:spLocks noGrp="1"/>
          </p:cNvSpPr>
          <p:nvPr>
            <p:ph type="body" idx="1"/>
          </p:nvPr>
        </p:nvSpPr>
        <p:spPr>
          <a:xfrm>
            <a:off x="912813" y="4341813"/>
            <a:ext cx="5032375" cy="4116387"/>
          </a:xfrm>
          <a:noFill/>
          <a:ln>
            <a:noFill/>
          </a:ln>
        </p:spPr>
        <p:txBody>
          <a:bodyPr wrap="square" lIns="89875" tIns="44939" rIns="89875" bIns="44939" anchor="t" anchorCtr="0"/>
          <a:p>
            <a:pPr lvl="0" eaLnBrk="1" hangingPunct="1"/>
            <a:endParaRPr lang="en-US" altLang="x-none"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de-DE"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Nadeem Ahsan,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x-none" dirty="0">
                <a:latin typeface="Arial" panose="020B0604020202020204" pitchFamily="34" charset="0"/>
              </a:rPr>
            </a:fld>
            <a:endParaRPr lang="en-US" altLang="x-none"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de-DE"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Nadeem Ahsan,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x-none" dirty="0">
                <a:latin typeface="Arial" panose="020B0604020202020204" pitchFamily="34" charset="0"/>
              </a:rPr>
            </a:fld>
            <a:endParaRPr lang="en-US" altLang="x-none"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de-DE"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Nadeem Ahsan,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x-none" dirty="0">
                <a:latin typeface="Arial" panose="020B0604020202020204" pitchFamily="34" charset="0"/>
              </a:rPr>
            </a:fld>
            <a:endParaRPr lang="en-US" altLang="x-none"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de-DE"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Nadeem Ahsan,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x-none" dirty="0">
                <a:latin typeface="Arial" panose="020B0604020202020204" pitchFamily="34" charset="0"/>
              </a:rPr>
            </a:fld>
            <a:endParaRPr lang="en-US" altLang="x-none"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de-DE"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Nadeem Ahsan,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US" altLang="x-none" dirty="0">
                <a:latin typeface="Arial" panose="020B0604020202020204" pitchFamily="34" charset="0"/>
              </a:rPr>
            </a:fld>
            <a:endParaRPr lang="en-US" altLang="x-none"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de-DE"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Nadeem Ahsan,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altLang="x-none" dirty="0">
                <a:latin typeface="Arial" panose="020B0604020202020204" pitchFamily="34" charset="0"/>
              </a:rPr>
            </a:fld>
            <a:endParaRPr lang="en-US" altLang="x-none"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de-DE"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Nadeem Ahsan,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US" altLang="x-none" dirty="0">
                <a:latin typeface="Arial" panose="020B0604020202020204" pitchFamily="34" charset="0"/>
              </a:rPr>
            </a:fld>
            <a:endParaRPr lang="en-US" altLang="x-none"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de-DE"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Nadeem Ahsan,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x-none" dirty="0">
                <a:latin typeface="Arial" panose="020B0604020202020204" pitchFamily="34" charset="0"/>
              </a:rPr>
            </a:fld>
            <a:endParaRPr lang="en-US" altLang="x-none"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de-DE"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Nadeem Ahsan,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x-none" dirty="0">
                <a:latin typeface="Arial" panose="020B0604020202020204" pitchFamily="34" charset="0"/>
              </a:rPr>
            </a:fld>
            <a:endParaRPr lang="en-US" altLang="x-none"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de-DE"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Nadeem Ahsan,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x-none" dirty="0">
                <a:latin typeface="Arial" panose="020B0604020202020204" pitchFamily="34" charset="0"/>
              </a:rPr>
            </a:fld>
            <a:endParaRPr lang="en-US" altLang="x-none"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de-DE"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Nadeem Ahsan,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x-none" dirty="0">
                <a:latin typeface="Arial" panose="020B0604020202020204" pitchFamily="34" charset="0"/>
              </a:rPr>
            </a:fld>
            <a:endParaRPr lang="en-US" altLang="x-none"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85800" y="463550"/>
            <a:ext cx="7769225" cy="1433513"/>
          </a:xfrm>
        </p:spPr>
        <p:txBody>
          <a:bodyPr/>
          <a:lstStyle/>
          <a:p>
            <a:r>
              <a:rPr lang="en-US" smtClean="0"/>
              <a:t>Click to edit Master title style</a:t>
            </a:r>
            <a:endParaRPr lang="en-US"/>
          </a:p>
        </p:txBody>
      </p:sp>
      <p:sp>
        <p:nvSpPr>
          <p:cNvPr id="7" name="Rectangle 4"/>
          <p:cNvSpPr>
            <a:spLocks noGrp="1" noChangeArrowheads="1"/>
          </p:cNvSpPr>
          <p:nvPr>
            <p:ph type="sldNum" idx="4"/>
          </p:nvPr>
        </p:nvSpPr>
        <p:spPr>
          <a:xfrm>
            <a:off x="6553200" y="6356350"/>
            <a:ext cx="2133600" cy="365125"/>
          </a:xfrm>
          <a:prstGeom prst="rect">
            <a:avLst/>
          </a:prstGeom>
        </p:spPr>
        <p:txBody>
          <a:bodyPr vert="horz" lIns="91440" tIns="45720" rIns="91440" bIns="45720" rtlCol="0" anchor="ctr"/>
          <a:p>
            <a:pPr algn="r">
              <a:buNone/>
            </a:pPr>
            <a:fld id="{9A0DB2DC-4C9A-4742-B13C-FB6460FD3503}" type="slidenum">
              <a:rPr lang="en-GB" altLang="x-none" dirty="0"/>
            </a:fld>
            <a:endParaRPr lang="en-GB" altLang="x-none" dirty="0"/>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de-DE"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Nadeem Ahsan,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9698"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lang="en-US" altLang="x-none" dirty="0"/>
              <a:t>Click to edit Master title style</a:t>
            </a:r>
            <a:endParaRPr lang="en-US" altLang="x-none" dirty="0"/>
          </a:p>
        </p:txBody>
      </p:sp>
      <p:sp>
        <p:nvSpPr>
          <p:cNvPr id="29699" name="Text Placeholder 2"/>
          <p:cNvSpPr>
            <a:spLocks noGrp="1"/>
          </p:cNvSpPr>
          <p:nvPr>
            <p:ph type="body" idx="1"/>
          </p:nvPr>
        </p:nvSpPr>
        <p:spPr>
          <a:xfrm>
            <a:off x="457200" y="1600200"/>
            <a:ext cx="8229600" cy="4525963"/>
          </a:xfrm>
          <a:prstGeom prst="rect">
            <a:avLst/>
          </a:prstGeom>
          <a:noFill/>
          <a:ln w="9525">
            <a:noFill/>
          </a:ln>
        </p:spPr>
        <p:txBody>
          <a:bodyPr/>
          <a:p>
            <a:pPr lvl="0"/>
            <a:r>
              <a:rPr lang="en-US" altLang="x-none" dirty="0"/>
              <a:t>Click to edit Master text styles</a:t>
            </a:r>
            <a:endParaRPr lang="en-US" altLang="x-none" dirty="0"/>
          </a:p>
          <a:p>
            <a:pPr lvl="1"/>
            <a:r>
              <a:rPr lang="en-US" altLang="x-none" dirty="0"/>
              <a:t>Second level</a:t>
            </a:r>
            <a:endParaRPr lang="en-US" altLang="x-none" dirty="0"/>
          </a:p>
          <a:p>
            <a:pPr lvl="2"/>
            <a:r>
              <a:rPr lang="en-US" altLang="x-none" dirty="0"/>
              <a:t>Third level</a:t>
            </a:r>
            <a:endParaRPr lang="en-US" altLang="x-none" dirty="0"/>
          </a:p>
          <a:p>
            <a:pPr lvl="3"/>
            <a:r>
              <a:rPr lang="en-US" altLang="x-none" dirty="0"/>
              <a:t>Fourth level</a:t>
            </a:r>
            <a:endParaRPr lang="en-US" altLang="x-none" dirty="0"/>
          </a:p>
          <a:p>
            <a:pPr lvl="4"/>
            <a:r>
              <a:rPr lang="en-US" altLang="x-none" dirty="0"/>
              <a:t>Fifth level</a:t>
            </a:r>
            <a:endParaRPr lang="en-US" altLang="x-none"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de-DE"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Nadeem Ahsan, IU</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en-US" altLang="x-none" dirty="0">
                <a:latin typeface="Arial" panose="020B0604020202020204" pitchFamily="34" charset="0"/>
              </a:rPr>
            </a:fld>
            <a:endParaRPr lang="en-US" altLang="x-none"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6.xml"/><Relationship Id="rId2" Type="http://schemas.openxmlformats.org/officeDocument/2006/relationships/image" Target="../media/image2.wmf"/><Relationship Id="rId1"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6.xml"/><Relationship Id="rId2" Type="http://schemas.openxmlformats.org/officeDocument/2006/relationships/image" Target="../media/image2.wmf"/><Relationship Id="rId1"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6.xml"/><Relationship Id="rId2" Type="http://schemas.openxmlformats.org/officeDocument/2006/relationships/image" Target="../media/image4.wmf"/><Relationship Id="rId1"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6.xml"/><Relationship Id="rId2" Type="http://schemas.openxmlformats.org/officeDocument/2006/relationships/image" Target="../media/image4.wmf"/><Relationship Id="rId1"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6.xml"/><Relationship Id="rId2" Type="http://schemas.openxmlformats.org/officeDocument/2006/relationships/image" Target="../media/image5.wmf"/><Relationship Id="rId1" Type="http://schemas.openxmlformats.org/officeDocument/2006/relationships/oleObject" Target="../embeddings/oleObject7.bin"/></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6.xml"/><Relationship Id="rId2" Type="http://schemas.openxmlformats.org/officeDocument/2006/relationships/image" Target="../media/image5.wmf"/><Relationship Id="rId1" Type="http://schemas.openxmlformats.org/officeDocument/2006/relationships/oleObject" Target="../embeddings/oleObject8.bin"/></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6.xml"/><Relationship Id="rId2" Type="http://schemas.openxmlformats.org/officeDocument/2006/relationships/image" Target="../media/image6.wmf"/><Relationship Id="rId1" Type="http://schemas.openxmlformats.org/officeDocument/2006/relationships/oleObject" Target="../embeddings/oleObject9.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6.xml"/><Relationship Id="rId2" Type="http://schemas.openxmlformats.org/officeDocument/2006/relationships/image" Target="../media/image6.wmf"/><Relationship Id="rId1" Type="http://schemas.openxmlformats.org/officeDocument/2006/relationships/oleObject" Target="../embeddings/oleObject10.bin"/></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oleObject" Target="../embeddings/oleObject11.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12.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oleObject" Target="../embeddings/oleObject13.bin"/></Relationships>
</file>

<file path=ppt/slides/_rels/slide26.xml.rels><?xml version="1.0" encoding="UTF-8" standalone="yes"?>
<Relationships xmlns="http://schemas.openxmlformats.org/package/2006/relationships"><Relationship Id="rId8" Type="http://schemas.openxmlformats.org/officeDocument/2006/relationships/vmlDrawing" Target="../drawings/vmlDrawing14.vml"/><Relationship Id="rId7"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oleObject" Target="../embeddings/oleObject16.bin"/><Relationship Id="rId4" Type="http://schemas.openxmlformats.org/officeDocument/2006/relationships/image" Target="../media/image11.emf"/><Relationship Id="rId3" Type="http://schemas.openxmlformats.org/officeDocument/2006/relationships/oleObject" Target="../embeddings/oleObject15.bin"/><Relationship Id="rId2" Type="http://schemas.openxmlformats.org/officeDocument/2006/relationships/image" Target="../media/image10.emf"/><Relationship Id="rId1" Type="http://schemas.openxmlformats.org/officeDocument/2006/relationships/oleObject" Target="../embeddings/oleObject14.bin"/></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oleObject" Target="../embeddings/oleObject17.bin"/></Relationships>
</file>

<file path=ppt/slides/_rels/slide28.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oleObject" Target="../embeddings/oleObject19.bin"/><Relationship Id="rId2" Type="http://schemas.openxmlformats.org/officeDocument/2006/relationships/image" Target="../media/image14.emf"/><Relationship Id="rId1" Type="http://schemas.openxmlformats.org/officeDocument/2006/relationships/oleObject" Target="../embeddings/oleObject18.bin"/></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oleObject" Target="../embeddings/oleObject20.bin"/></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oleObject" Target="../embeddings/oleObject21.bin"/></Relationships>
</file>

<file path=ppt/slides/_rels/slide31.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oleObject" Target="../embeddings/oleObject23.bin"/><Relationship Id="rId2" Type="http://schemas.openxmlformats.org/officeDocument/2006/relationships/image" Target="../media/image15.png"/><Relationship Id="rId1" Type="http://schemas.openxmlformats.org/officeDocument/2006/relationships/oleObject" Target="../embeddings/oleObject22.bin"/></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20.vml"/><Relationship Id="rId5" Type="http://schemas.openxmlformats.org/officeDocument/2006/relationships/slideLayout" Target="../slideLayouts/slideLayout2.xml"/><Relationship Id="rId4" Type="http://schemas.openxmlformats.org/officeDocument/2006/relationships/image" Target="../media/image17.emf"/><Relationship Id="rId3" Type="http://schemas.openxmlformats.org/officeDocument/2006/relationships/oleObject" Target="../embeddings/oleObject25.bin"/><Relationship Id="rId2" Type="http://schemas.openxmlformats.org/officeDocument/2006/relationships/image" Target="../media/image16.png"/><Relationship Id="rId1" Type="http://schemas.openxmlformats.org/officeDocument/2006/relationships/oleObject" Target="../embeddings/oleObject24.bin"/></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oleObject" Target="../embeddings/oleObject26.bin"/></Relationships>
</file>

<file path=ppt/slides/_rels/slide34.xml.rels><?xml version="1.0" encoding="UTF-8" standalone="yes"?>
<Relationships xmlns="http://schemas.openxmlformats.org/package/2006/relationships"><Relationship Id="rId5" Type="http://schemas.openxmlformats.org/officeDocument/2006/relationships/vmlDrawing" Target="../drawings/vmlDrawing22.vml"/><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19.emf"/><Relationship Id="rId1" Type="http://schemas.openxmlformats.org/officeDocument/2006/relationships/oleObject" Target="../embeddings/oleObject27.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oleObject" Target="../embeddings/oleObject28.bin"/></Relationships>
</file>

<file path=ppt/slides/_rels/slide37.xml.rels><?xml version="1.0" encoding="UTF-8" standalone="yes"?>
<Relationships xmlns="http://schemas.openxmlformats.org/package/2006/relationships"><Relationship Id="rId5" Type="http://schemas.openxmlformats.org/officeDocument/2006/relationships/vmlDrawing" Target="../drawings/vmlDrawing24.vml"/><Relationship Id="rId4" Type="http://schemas.openxmlformats.org/officeDocument/2006/relationships/slideLayout" Target="../slideLayouts/slideLayout2.xml"/><Relationship Id="rId3" Type="http://schemas.openxmlformats.org/officeDocument/2006/relationships/image" Target="../media/image23.png"/><Relationship Id="rId2" Type="http://schemas.openxmlformats.org/officeDocument/2006/relationships/image" Target="../media/image22.emf"/><Relationship Id="rId1" Type="http://schemas.openxmlformats.org/officeDocument/2006/relationships/oleObject" Target="../embeddings/oleObject29.bin"/></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wmf"/></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8.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2.xml"/><Relationship Id="rId4" Type="http://schemas.openxmlformats.org/officeDocument/2006/relationships/image" Target="../media/image33.emf"/><Relationship Id="rId3" Type="http://schemas.openxmlformats.org/officeDocument/2006/relationships/oleObject" Target="../embeddings/oleObject31.bin"/><Relationship Id="rId2" Type="http://schemas.openxmlformats.org/officeDocument/2006/relationships/image" Target="../media/image32.emf"/><Relationship Id="rId1" Type="http://schemas.openxmlformats.org/officeDocument/2006/relationships/oleObject" Target="../embeddings/oleObject3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7" name="Rectangle 1"/>
          <p:cNvSpPr>
            <a:spLocks noGrp="1"/>
          </p:cNvSpPr>
          <p:nvPr>
            <p:ph type="title"/>
          </p:nvPr>
        </p:nvSpPr>
        <p:spPr>
          <a:xfrm>
            <a:off x="457200" y="304800"/>
            <a:ext cx="6629400" cy="1295400"/>
          </a:xfrm>
          <a:ln/>
        </p:spPr>
        <p:txBody>
          <a:bodyPr vert="horz" wrap="square" lIns="91440" tIns="45720" rIns="91440" bIns="45720" anchor="ctr" anchorCtr="0"/>
          <a:p>
            <a:pPr algn="l" defTabSz="914400" eaLnBrk="1" hangingPunct="1">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x-none" sz="3600" b="1" dirty="0">
                <a:latin typeface="Times New Roman" panose="02020603050405020304" pitchFamily="18" charset="0"/>
                <a:cs typeface="Times New Roman" panose="02020603050405020304" pitchFamily="18" charset="0"/>
              </a:rPr>
              <a:t>Machine Learning</a:t>
            </a:r>
            <a:br>
              <a:rPr lang="en-US" altLang="x-none" sz="2800" b="1" dirty="0">
                <a:latin typeface="Times New Roman" panose="02020603050405020304" pitchFamily="18" charset="0"/>
                <a:cs typeface="Times New Roman" panose="02020603050405020304" pitchFamily="18" charset="0"/>
              </a:rPr>
            </a:br>
            <a:r>
              <a:rPr lang="en-US" altLang="x-none" sz="2400" b="1" dirty="0">
                <a:latin typeface="Times New Roman" panose="02020603050405020304" pitchFamily="18" charset="0"/>
                <a:cs typeface="Times New Roman" panose="02020603050405020304" pitchFamily="18" charset="0"/>
              </a:rPr>
              <a:t>BS/MS (Computer Science)</a:t>
            </a:r>
            <a:endParaRPr lang="en-GB" altLang="x-none" sz="2400" b="1" dirty="0">
              <a:latin typeface="Times New Roman" panose="02020603050405020304" pitchFamily="18" charset="0"/>
              <a:ea typeface="Times New Roman" panose="02020603050405020304" pitchFamily="18" charset="0"/>
            </a:endParaRPr>
          </a:p>
        </p:txBody>
      </p:sp>
      <p:sp>
        <p:nvSpPr>
          <p:cNvPr id="6148" name="Rectangle 2"/>
          <p:cNvSpPr>
            <a:spLocks noGrp="1" noChangeArrowheads="1"/>
          </p:cNvSpPr>
          <p:nvPr>
            <p:ph type="subTitle" idx="1"/>
          </p:nvPr>
        </p:nvSpPr>
        <p:spPr>
          <a:xfrm>
            <a:off x="1981200" y="4495800"/>
            <a:ext cx="7010400" cy="2057400"/>
          </a:xfrm>
        </p:spPr>
        <p:txBody>
          <a:bodyPr vert="horz" wrap="square" lIns="91440" tIns="45720" rIns="91440" bIns="45720" numCol="1" rtlCol="0" anchor="ctr" anchorCtr="0" compatLnSpc="1">
            <a:normAutofit fontScale="47500" lnSpcReduction="20000"/>
          </a:bodyPr>
          <a:lstStyle/>
          <a:p>
            <a:pPr marL="457200" marR="0" lvl="1" indent="0" algn="ctr" defTabSz="914400" rtl="0" eaLnBrk="1" fontAlgn="auto" latinLnBrk="0" hangingPunct="1">
              <a:lnSpc>
                <a:spcPct val="83000"/>
              </a:lnSpc>
              <a:spcBef>
                <a:spcPts val="1200"/>
              </a:spcBef>
              <a:spcAft>
                <a:spcPts val="0"/>
              </a:spcAft>
              <a:buClrTx/>
              <a:buSzTx/>
              <a:buFont typeface="Wingdings" panose="05000000000000000000" pitchFamily="2" charset="2"/>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endParaRPr kumimoji="0" lang="en-GB" sz="30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endParaRPr kumimoji="0" lang="en-GB" sz="20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endParaRPr kumimoji="0" lang="en-GB" sz="20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endParaRPr kumimoji="0" lang="en-GB" sz="20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endParaRPr kumimoji="0" lang="en-GB" sz="20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endParaRPr kumimoji="0" lang="en-GB" sz="20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endParaRPr kumimoji="0" lang="en-GB" sz="20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endParaRPr kumimoji="0" lang="en-GB" sz="20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r" defTabSz="914400" rtl="0" eaLnBrk="1" fontAlgn="auto" latinLnBrk="0" hangingPunct="1">
              <a:lnSpc>
                <a:spcPct val="100000"/>
              </a:lnSpc>
              <a:spcBef>
                <a:spcPct val="0"/>
              </a:spcBef>
              <a:spcAft>
                <a:spcPts val="0"/>
              </a:spcAft>
              <a:buClrTx/>
              <a:buSzTx/>
              <a:buFont typeface="Wingdings" panose="05000000000000000000" pitchFamily="2" charset="2"/>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r>
              <a:rPr kumimoji="0" lang="en-US" altLang="en-GB" sz="51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M.Minhal.Raza </a:t>
            </a:r>
            <a:r>
              <a:rPr kumimoji="0" lang="en-GB" sz="51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GB" sz="51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r" defTabSz="914400" rtl="0" eaLnBrk="1" fontAlgn="auto" latinLnBrk="0" hangingPunct="1">
              <a:lnSpc>
                <a:spcPct val="100000"/>
              </a:lnSpc>
              <a:spcBef>
                <a:spcPct val="0"/>
              </a:spcBef>
              <a:spcAft>
                <a:spcPts val="0"/>
              </a:spcAft>
              <a:buClrTx/>
              <a:buSzTx/>
              <a:buFont typeface="Wingdings" panose="05000000000000000000" pitchFamily="2" charset="2"/>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endParaRPr kumimoji="0" lang="en-GB" sz="17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r" defTabSz="914400" rtl="0" eaLnBrk="1" fontAlgn="auto" latinLnBrk="0" hangingPunct="1">
              <a:lnSpc>
                <a:spcPct val="100000"/>
              </a:lnSpc>
              <a:spcBef>
                <a:spcPct val="0"/>
              </a:spcBef>
              <a:spcAft>
                <a:spcPts val="0"/>
              </a:spcAft>
              <a:buClrTx/>
              <a:buSzTx/>
              <a:buFont typeface="Wingdings" panose="05000000000000000000" pitchFamily="2" charset="2"/>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r>
              <a:rPr kumimoji="0" lang="en-GB" sz="4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Ph.D. (Computer Science)</a:t>
            </a:r>
            <a:r>
              <a:rPr kumimoji="0" lang="en-US" altLang="en-GB" sz="4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Scholar</a:t>
            </a:r>
            <a:endParaRPr kumimoji="0" lang="en-US" altLang="en-GB" sz="4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r" defTabSz="914400" rtl="0" eaLnBrk="1" fontAlgn="auto" latinLnBrk="0" hangingPunct="1">
              <a:lnSpc>
                <a:spcPct val="100000"/>
              </a:lnSpc>
              <a:spcBef>
                <a:spcPct val="0"/>
              </a:spcBef>
              <a:spcAft>
                <a:spcPts val="0"/>
              </a:spcAft>
              <a:buClrTx/>
              <a:buSzTx/>
              <a:buFont typeface="Wingdings" panose="05000000000000000000" pitchFamily="2" charset="2"/>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r>
              <a:rPr kumimoji="0" lang="en-US" altLang="en-GB" sz="4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FAST-NUCES, KHI</a:t>
            </a:r>
            <a:endParaRPr kumimoji="0" lang="en-GB" sz="4400" b="0"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ctr" defTabSz="914400" rtl="0" eaLnBrk="1" fontAlgn="auto" latinLnBrk="0" hangingPunct="1">
              <a:lnSpc>
                <a:spcPct val="83000"/>
              </a:lnSpc>
              <a:spcBef>
                <a:spcPts val="1200"/>
              </a:spcBef>
              <a:spcAft>
                <a:spcPts val="0"/>
              </a:spcAft>
              <a:buClrTx/>
              <a:buSzTx/>
              <a:buFont typeface="Wingdings" panose="05000000000000000000" pitchFamily="2" charset="2"/>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endParaRPr kumimoji="0" lang="en-GB"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ctr" defTabSz="914400" rtl="0" eaLnBrk="1" fontAlgn="auto" latinLnBrk="0" hangingPunct="1">
              <a:lnSpc>
                <a:spcPct val="83000"/>
              </a:lnSpc>
              <a:spcBef>
                <a:spcPts val="1200"/>
              </a:spcBef>
              <a:spcAft>
                <a:spcPts val="0"/>
              </a:spcAft>
              <a:buClrTx/>
              <a:buSzTx/>
              <a:buFont typeface="Wingdings" panose="05000000000000000000" pitchFamily="2" charset="2"/>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endParaRPr kumimoji="0" lang="en-GB"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029" name="TextBox 6"/>
          <p:cNvSpPr txBox="1"/>
          <p:nvPr/>
        </p:nvSpPr>
        <p:spPr>
          <a:xfrm>
            <a:off x="7330758" y="3200400"/>
            <a:ext cx="1598930" cy="706755"/>
          </a:xfrm>
          <a:prstGeom prst="rect">
            <a:avLst/>
          </a:prstGeom>
          <a:noFill/>
          <a:ln w="9525">
            <a:noFill/>
          </a:ln>
        </p:spPr>
        <p:txBody>
          <a:bodyPr wrap="none">
            <a:spAutoFit/>
          </a:bodyPr>
          <a:p>
            <a:pPr algn="r"/>
            <a:r>
              <a:rPr lang="en-US" altLang="x-none" sz="2400" b="1" dirty="0">
                <a:latin typeface="Times New Roman" panose="02020603050405020304" pitchFamily="18" charset="0"/>
                <a:cs typeface="Times New Roman" panose="02020603050405020304" pitchFamily="18" charset="0"/>
              </a:rPr>
              <a:t>Lecture-07</a:t>
            </a:r>
            <a:endParaRPr lang="en-US" altLang="x-none" sz="2400" b="1" dirty="0">
              <a:latin typeface="Times New Roman" panose="02020603050405020304" pitchFamily="18" charset="0"/>
              <a:cs typeface="Times New Roman" panose="02020603050405020304" pitchFamily="18" charset="0"/>
            </a:endParaRPr>
          </a:p>
          <a:p>
            <a:pPr algn="r"/>
            <a:endParaRPr lang="en-US" altLang="x-none" sz="1600" b="1" dirty="0">
              <a:latin typeface="Times New Roman" panose="02020603050405020304" pitchFamily="18" charset="0"/>
              <a:ea typeface="Times New Roman" panose="02020603050405020304" pitchFamily="18" charset="0"/>
            </a:endParaRPr>
          </a:p>
        </p:txBody>
      </p:sp>
      <p:sp>
        <p:nvSpPr>
          <p:cNvPr id="6" name="Slide Number Placeholder 5"/>
          <p:cNvSpPr txBox="1">
            <a:spLocks noGrp="1"/>
          </p:cNvSpPr>
          <p:nvPr>
            <p:ph type="sldNum" idx="4"/>
          </p:nvPr>
        </p:nvSpPr>
        <p:spPr>
          <a:noFill/>
        </p:spPr>
        <p:txBody>
          <a:bodyPr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buNone/>
            </a:pPr>
            <a:fld id="{9A0DB2DC-4C9A-4742-B13C-FB6460FD3503}" type="slidenum">
              <a:rPr lang="en-GB" altLang="x-none" sz="1200" dirty="0">
                <a:solidFill>
                  <a:srgbClr val="898989"/>
                </a:solidFill>
              </a:rPr>
            </a:fld>
            <a:endParaRPr lang="en-GB" altLang="x-none" sz="1200" dirty="0">
              <a:solidFill>
                <a:srgbClr val="898989"/>
              </a:solidFill>
            </a:endParaRP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xfrm>
            <a:off x="914400" y="609600"/>
            <a:ext cx="7334250" cy="792163"/>
          </a:xfrm>
          <a:ln/>
        </p:spPr>
        <p:txBody>
          <a:bodyPr vert="horz" wrap="square" lIns="91440" tIns="45720" rIns="91440" bIns="45720" anchor="ctr" anchorCtr="0"/>
          <a:p>
            <a:pPr algn="l" eaLnBrk="1" hangingPunct="1"/>
            <a:r>
              <a:rPr lang="en-US" altLang="x-none" sz="3600" b="1" dirty="0">
                <a:latin typeface="Times New Roman" panose="02020603050405020304" pitchFamily="18" charset="0"/>
                <a:cs typeface="Times New Roman" panose="02020603050405020304" pitchFamily="18" charset="0"/>
              </a:rPr>
              <a:t>Outline</a:t>
            </a:r>
            <a:endParaRPr lang="en-US" altLang="x-none" sz="3200" b="1" dirty="0">
              <a:latin typeface="Times New Roman" panose="02020603050405020304" pitchFamily="18" charset="0"/>
              <a:ea typeface="Times New Roman" panose="02020603050405020304" pitchFamily="18" charset="0"/>
            </a:endParaRPr>
          </a:p>
        </p:txBody>
      </p:sp>
      <p:sp>
        <p:nvSpPr>
          <p:cNvPr id="31747" name="Rectangle 3"/>
          <p:cNvSpPr>
            <a:spLocks noGrp="1"/>
          </p:cNvSpPr>
          <p:nvPr>
            <p:ph idx="1"/>
          </p:nvPr>
        </p:nvSpPr>
        <p:spPr>
          <a:xfrm>
            <a:off x="914400" y="1600200"/>
            <a:ext cx="7010400" cy="4419600"/>
          </a:xfrm>
          <a:ln/>
        </p:spPr>
        <p:txBody>
          <a:bodyPr vert="horz" wrap="square" lIns="91440" tIns="45720" rIns="91440" bIns="45720" anchor="t" anchorCtr="0"/>
          <a:p>
            <a:pPr marL="539750" indent="-457200" eaLnBrk="1" hangingPunct="1">
              <a:buNone/>
            </a:pPr>
            <a:r>
              <a:rPr lang="en-US" altLang="x-none" sz="2800" b="1" u="sng" dirty="0">
                <a:latin typeface="Times New Roman" panose="02020603050405020304" pitchFamily="18" charset="0"/>
                <a:cs typeface="Times New Roman" panose="02020603050405020304" pitchFamily="18" charset="0"/>
              </a:rPr>
              <a:t>Theory Session:</a:t>
            </a:r>
            <a:endParaRPr lang="en-US" altLang="x-none" sz="2800" b="1" u="sng" dirty="0">
              <a:latin typeface="Times New Roman" panose="02020603050405020304" pitchFamily="18" charset="0"/>
              <a:cs typeface="Times New Roman" panose="02020603050405020304" pitchFamily="18" charset="0"/>
            </a:endParaRPr>
          </a:p>
          <a:p>
            <a:pPr marL="539750" indent="-457200" eaLnBrk="1" hangingPunct="1">
              <a:buFont typeface="Calibri" panose="020F0502020204030204" pitchFamily="34" charset="0"/>
              <a:buAutoNum type="arabicPeriod"/>
            </a:pPr>
            <a:r>
              <a:rPr lang="en-US" altLang="x-none" sz="2400" dirty="0">
                <a:latin typeface="Times New Roman" panose="02020603050405020304" pitchFamily="18" charset="0"/>
                <a:cs typeface="Times New Roman" panose="02020603050405020304" pitchFamily="18" charset="0"/>
              </a:rPr>
              <a:t>Revision</a:t>
            </a:r>
            <a:endParaRPr lang="en-US" altLang="x-none" sz="2400" dirty="0">
              <a:latin typeface="Times New Roman" panose="02020603050405020304" pitchFamily="18" charset="0"/>
              <a:cs typeface="Times New Roman" panose="02020603050405020304" pitchFamily="18" charset="0"/>
            </a:endParaRPr>
          </a:p>
          <a:p>
            <a:pPr marL="539750" indent="-457200" eaLnBrk="1" hangingPunct="1">
              <a:buFont typeface="Calibri" panose="020F0502020204030204" pitchFamily="34" charset="0"/>
              <a:buAutoNum type="arabicPeriod"/>
            </a:pPr>
            <a:r>
              <a:rPr lang="en-US" altLang="x-none" sz="2400" dirty="0">
                <a:latin typeface="Times New Roman" panose="02020603050405020304" pitchFamily="18" charset="0"/>
                <a:cs typeface="Times New Roman" panose="02020603050405020304" pitchFamily="18" charset="0"/>
              </a:rPr>
              <a:t>Tree Classification</a:t>
            </a:r>
            <a:endParaRPr lang="en-US" altLang="x-none" sz="2400" dirty="0">
              <a:latin typeface="Times New Roman" panose="02020603050405020304" pitchFamily="18" charset="0"/>
              <a:cs typeface="Times New Roman" panose="02020603050405020304" pitchFamily="18" charset="0"/>
            </a:endParaRPr>
          </a:p>
          <a:p>
            <a:pPr marL="539750" indent="-457200" eaLnBrk="1" hangingPunct="1">
              <a:buNone/>
            </a:pPr>
            <a:r>
              <a:rPr lang="en-US" altLang="x-none" sz="2800" b="1" u="sng" dirty="0">
                <a:latin typeface="Times New Roman" panose="02020603050405020304" pitchFamily="18" charset="0"/>
                <a:cs typeface="Times New Roman" panose="02020603050405020304" pitchFamily="18" charset="0"/>
              </a:rPr>
              <a:t>Lab/Project Session:</a:t>
            </a:r>
            <a:endParaRPr lang="en-US" altLang="x-none" sz="2800" b="1" u="sng" dirty="0">
              <a:latin typeface="Times New Roman" panose="02020603050405020304" pitchFamily="18" charset="0"/>
              <a:cs typeface="Times New Roman" panose="02020603050405020304" pitchFamily="18" charset="0"/>
            </a:endParaRPr>
          </a:p>
          <a:p>
            <a:pPr marL="82550" indent="0" eaLnBrk="1" hangingPunct="1">
              <a:buFont typeface="Calibri" panose="020F0502020204030204" pitchFamily="34" charset="0"/>
              <a:buNone/>
            </a:pPr>
            <a:endParaRPr lang="en-US" altLang="x-none" sz="2400" dirty="0">
              <a:latin typeface="Times New Roman" panose="02020603050405020304" pitchFamily="18" charset="0"/>
              <a:cs typeface="Times New Roman" panose="02020603050405020304" pitchFamily="18" charset="0"/>
            </a:endParaRPr>
          </a:p>
          <a:p>
            <a:pPr marL="539750" indent="-457200" eaLnBrk="1" hangingPunct="1">
              <a:buFont typeface="Calibri" panose="020F0502020204030204" pitchFamily="34" charset="0"/>
              <a:buAutoNum type="arabicPeriod"/>
            </a:pPr>
            <a:r>
              <a:rPr lang="en-US" altLang="x-none" sz="2400" dirty="0">
                <a:latin typeface="Times New Roman" panose="02020603050405020304" pitchFamily="18" charset="0"/>
                <a:cs typeface="Times New Roman" panose="02020603050405020304" pitchFamily="18" charset="0"/>
              </a:rPr>
              <a:t>Lab Assignments </a:t>
            </a:r>
            <a:endParaRPr lang="en-US" altLang="x-none" sz="2800" dirty="0">
              <a:latin typeface="Times New Roman" panose="02020603050405020304" pitchFamily="18" charset="0"/>
              <a:ea typeface="Times New Roman" panose="02020603050405020304" pitchFamily="18" charset="0"/>
            </a:endParaRPr>
          </a:p>
        </p:txBody>
      </p:sp>
      <p:sp>
        <p:nvSpPr>
          <p:cNvPr id="4" name="Slide Number Placeholder 5"/>
          <p:cNvSpPr txBox="1">
            <a:spLocks noGrp="1"/>
          </p:cNvSpPr>
          <p:nvPr>
            <p:ph type="sldNum" sz="quarter" idx="12"/>
          </p:nvPr>
        </p:nvSpPr>
        <p:spPr>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buNone/>
            </a:pPr>
            <a:fld id="{9A0DB2DC-4C9A-4742-B13C-FB6460FD3503}" type="slidenum">
              <a:rPr lang="en-US" altLang="x-none" sz="1200" dirty="0">
                <a:solidFill>
                  <a:srgbClr val="898989"/>
                </a:solidFill>
              </a:rPr>
            </a:fld>
            <a:endParaRPr lang="en-US" altLang="x-none" sz="1200" dirty="0">
              <a:solidFill>
                <a:srgbClr val="898989"/>
              </a:solidFill>
            </a:endParaRPr>
          </a:p>
        </p:txBody>
      </p:sp>
      <p:sp>
        <p:nvSpPr>
          <p:cNvPr id="5" name="Footer Placeholder 4"/>
          <p:cNvSpPr txBox="1">
            <a:spLocks noGrp="1"/>
          </p:cNvSpPr>
          <p:nvPr>
            <p:ph type="ftr" sz="quarter" idx="11"/>
          </p:nvPr>
        </p:nvSpPr>
        <p:spPr>
          <a:xfrm>
            <a:off x="1295400" y="6356350"/>
            <a:ext cx="5791200" cy="365125"/>
          </a:xfrm>
          <a:noFill/>
        </p:spPr>
        <p:txBody>
          <a:bodyPr vert="horz" lIns="91440" tIns="45720" rIns="91440" bIns="45720"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a:t>
            </a:r>
            <a:r>
              <a:rPr kumimoji="0" lang="en-US" sz="1200" b="0" i="0" u="none" strike="noStrike" kern="1200" cap="none" spc="0" normalizeH="0" baseline="0" noProof="0" dirty="0" err="1">
                <a:ln>
                  <a:noFill/>
                </a:ln>
                <a:solidFill>
                  <a:schemeClr val="tx1">
                    <a:tint val="75000"/>
                  </a:schemeClr>
                </a:solidFill>
                <a:effectLst/>
                <a:uLnTx/>
                <a:uFillTx/>
                <a:latin typeface="Arial" panose="020B0604020202020204" pitchFamily="34" charset="0"/>
                <a:ea typeface="+mn-ea"/>
                <a:cs typeface="Arial" panose="020B0604020202020204" pitchFamily="34" charset="0"/>
              </a:rPr>
              <a:t>Nadeem</a:t>
            </a:r>
            <a:r>
              <a:rPr kumimoji="0" lang="en-US" sz="1200" b="0" i="0" u="none" strike="noStrike" kern="1200" cap="none" spc="0" normalizeH="0" baseline="0" noProof="0" dirty="0">
                <a:ln>
                  <a:noFill/>
                </a:ln>
                <a:solidFill>
                  <a:schemeClr val="tx1">
                    <a:tint val="75000"/>
                  </a:schemeClr>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chemeClr val="tx1">
                    <a:tint val="75000"/>
                  </a:schemeClr>
                </a:solidFill>
                <a:effectLst/>
                <a:uLnTx/>
                <a:uFillTx/>
                <a:latin typeface="Arial" panose="020B0604020202020204" pitchFamily="34" charset="0"/>
                <a:ea typeface="+mn-ea"/>
                <a:cs typeface="Arial" panose="020B0604020202020204" pitchFamily="34" charset="0"/>
              </a:rPr>
              <a:t>Ahsan</a:t>
            </a:r>
            <a:r>
              <a:rPr kumimoji="0" lang="en-US" sz="1200" b="0" i="0" u="none" strike="noStrike" kern="1200" cap="none" spc="0" normalizeH="0" baseline="0" noProof="0" dirty="0">
                <a:ln>
                  <a:noFill/>
                </a:ln>
                <a:solidFill>
                  <a:schemeClr val="tx1">
                    <a:tint val="75000"/>
                  </a:schemeClr>
                </a:solidFill>
                <a:effectLst/>
                <a:uLnTx/>
                <a:uFillTx/>
                <a:latin typeface="Arial" panose="020B0604020202020204" pitchFamily="34" charset="0"/>
                <a:ea typeface="+mn-ea"/>
                <a:cs typeface="Arial" panose="020B0604020202020204" pitchFamily="34" charset="0"/>
              </a:rPr>
              <a:t>, IU</a:t>
            </a:r>
            <a:endParaRPr kumimoji="0" lang="en-US" sz="1200" b="0" i="0" u="none" strike="noStrike" kern="1200" cap="none" spc="0" normalizeH="0" baseline="0" noProof="0" dirty="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xfrm>
            <a:off x="469900" y="2624138"/>
            <a:ext cx="8229600" cy="1143000"/>
          </a:xfrm>
          <a:ln/>
        </p:spPr>
        <p:txBody>
          <a:bodyPr vert="horz" wrap="square" lIns="91440" tIns="45720" rIns="91440" bIns="45720" anchor="ctr" anchorCtr="0"/>
          <a:p>
            <a:pPr eaLnBrk="1" hangingPunct="1"/>
            <a:r>
              <a:rPr lang="en-US" altLang="x-none" sz="3600" b="1" dirty="0">
                <a:latin typeface="Times New Roman" panose="02020603050405020304" pitchFamily="18" charset="0"/>
                <a:cs typeface="Times New Roman" panose="02020603050405020304" pitchFamily="18" charset="0"/>
              </a:rPr>
              <a:t>Decision Tree Classification</a:t>
            </a:r>
            <a:endParaRPr lang="en-US" altLang="x-none" sz="3600" b="1" dirty="0">
              <a:latin typeface="Times New Roman" panose="02020603050405020304" pitchFamily="18" charset="0"/>
              <a:ea typeface="Times New Roman" panose="02020603050405020304" pitchFamily="18" charset="0"/>
            </a:endParaRPr>
          </a:p>
        </p:txBody>
      </p:sp>
      <p:sp>
        <p:nvSpPr>
          <p:cNvPr id="3" name="Footer Placeholder 2"/>
          <p:cNvSpPr txBox="1">
            <a:spLocks noGrp="1"/>
          </p:cNvSpPr>
          <p:nvPr>
            <p:ph type="ftr" sz="quarter" idx="11"/>
          </p:nvPr>
        </p:nvSpPr>
        <p:spPr>
          <a:noFill/>
        </p:spPr>
        <p:txBody>
          <a:bodyPr vert="horz" lIns="91440" tIns="45720" rIns="91440" bIns="45720"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t>Machine Learning (Dr. S. N. Ahsan)</a:t>
            </a: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Date Placeholder 3"/>
          <p:cNvSpPr txBox="1">
            <a:spLocks noGrp="1"/>
          </p:cNvSpPr>
          <p:nvPr>
            <p:ph type="dt" sz="half" idx="10"/>
          </p:nvPr>
        </p:nvSpPr>
        <p:spPr>
          <a:noFill/>
        </p:spPr>
        <p:txBody>
          <a:bodyPr vert="horz" lIns="91440" tIns="45720" rIns="91440" bIns="45720" rtlCol="0" anchor="ctr"/>
          <a:lstStyle/>
          <a:p>
            <a:pPr marL="0" marR="0" lvl="0" indent="0" algn="l" defTabSz="914400" rtl="0" eaLnBrk="1" fontAlgn="base" latinLnBrk="0" hangingPunct="1">
              <a:lnSpc>
                <a:spcPct val="100000"/>
              </a:lnSpc>
              <a:spcBef>
                <a:spcPct val="0"/>
              </a:spcBef>
              <a:spcAft>
                <a:spcPct val="0"/>
              </a:spcAft>
              <a:buClrTx/>
              <a:buSzTx/>
              <a:buFontTx/>
              <a:buNone/>
              <a:defRPr/>
            </a:pPr>
            <a:fld id="{28AAA27D-338C-4645-99D4-F5A9AFD02CD8}" type="datetime1">
              <a:rPr kumimoji="0" lang="de-DE"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Classification: Definition</a:t>
            </a:r>
            <a:endParaRPr lang="en-US" altLang="x-none" sz="3200" b="1" dirty="0">
              <a:latin typeface="Times New Roman" panose="02020603050405020304" pitchFamily="18" charset="0"/>
              <a:ea typeface="Times New Roman" panose="02020603050405020304" pitchFamily="18" charset="0"/>
            </a:endParaRPr>
          </a:p>
        </p:txBody>
      </p:sp>
      <p:sp>
        <p:nvSpPr>
          <p:cNvPr id="36867" name="Rectangle 3"/>
          <p:cNvSpPr>
            <a:spLocks noGrp="1"/>
          </p:cNvSpPr>
          <p:nvPr>
            <p:ph idx="1"/>
          </p:nvPr>
        </p:nvSpPr>
        <p:spPr>
          <a:xfrm>
            <a:off x="685800" y="1600200"/>
            <a:ext cx="7840663" cy="3863975"/>
          </a:xfrm>
          <a:ln/>
        </p:spPr>
        <p:txBody>
          <a:bodyPr vert="horz" wrap="square" lIns="91440" tIns="45720" rIns="91440" bIns="45720" anchor="t" anchorCtr="0"/>
          <a:p>
            <a:pPr eaLnBrk="1" hangingPunct="1">
              <a:lnSpc>
                <a:spcPct val="90000"/>
              </a:lnSpc>
            </a:pPr>
            <a:r>
              <a:rPr lang="en-US" altLang="x-none" sz="2400" dirty="0">
                <a:latin typeface="Times New Roman" panose="02020603050405020304" pitchFamily="18" charset="0"/>
                <a:cs typeface="Times New Roman" panose="02020603050405020304" pitchFamily="18" charset="0"/>
              </a:rPr>
              <a:t>Given a collection of records (</a:t>
            </a:r>
            <a:r>
              <a:rPr lang="en-US" altLang="x-none" sz="2400" i="1" dirty="0">
                <a:solidFill>
                  <a:srgbClr val="CC0000"/>
                </a:solidFill>
                <a:latin typeface="Times New Roman" panose="02020603050405020304" pitchFamily="18" charset="0"/>
                <a:cs typeface="Times New Roman" panose="02020603050405020304" pitchFamily="18" charset="0"/>
              </a:rPr>
              <a:t>training set </a:t>
            </a:r>
            <a:r>
              <a:rPr lang="en-US" altLang="x-none" sz="2400" dirty="0">
                <a:latin typeface="Times New Roman" panose="02020603050405020304" pitchFamily="18" charset="0"/>
                <a:cs typeface="Times New Roman" panose="02020603050405020304" pitchFamily="18" charset="0"/>
              </a:rPr>
              <a:t>)</a:t>
            </a:r>
            <a:endParaRPr lang="en-US" altLang="x-none" sz="2400" dirty="0">
              <a:latin typeface="Times New Roman" panose="02020603050405020304" pitchFamily="18" charset="0"/>
              <a:cs typeface="Times New Roman" panose="02020603050405020304" pitchFamily="18" charset="0"/>
            </a:endParaRPr>
          </a:p>
          <a:p>
            <a:pPr lvl="1" eaLnBrk="1" hangingPunct="1">
              <a:lnSpc>
                <a:spcPct val="90000"/>
              </a:lnSpc>
            </a:pPr>
            <a:r>
              <a:rPr lang="en-US" altLang="x-none" sz="2400" dirty="0">
                <a:latin typeface="Times New Roman" panose="02020603050405020304" pitchFamily="18" charset="0"/>
                <a:cs typeface="Times New Roman" panose="02020603050405020304" pitchFamily="18" charset="0"/>
              </a:rPr>
              <a:t>Each record contains a set of </a:t>
            </a:r>
            <a:r>
              <a:rPr lang="en-US" altLang="x-none" sz="2400" i="1" dirty="0">
                <a:solidFill>
                  <a:srgbClr val="CC0000"/>
                </a:solidFill>
                <a:latin typeface="Times New Roman" panose="02020603050405020304" pitchFamily="18" charset="0"/>
                <a:cs typeface="Times New Roman" panose="02020603050405020304" pitchFamily="18" charset="0"/>
              </a:rPr>
              <a:t>attributes</a:t>
            </a:r>
            <a:r>
              <a:rPr lang="en-US" altLang="x-none" sz="2400" dirty="0">
                <a:latin typeface="Times New Roman" panose="02020603050405020304" pitchFamily="18" charset="0"/>
                <a:cs typeface="Times New Roman" panose="02020603050405020304" pitchFamily="18" charset="0"/>
              </a:rPr>
              <a:t>, one of the attributes is the </a:t>
            </a:r>
            <a:r>
              <a:rPr lang="en-US" altLang="x-none" sz="2400" i="1" dirty="0">
                <a:solidFill>
                  <a:srgbClr val="CC0000"/>
                </a:solidFill>
                <a:latin typeface="Times New Roman" panose="02020603050405020304" pitchFamily="18" charset="0"/>
                <a:cs typeface="Times New Roman" panose="02020603050405020304" pitchFamily="18" charset="0"/>
              </a:rPr>
              <a:t>class</a:t>
            </a:r>
            <a:r>
              <a:rPr lang="en-US" altLang="x-none" sz="2400" dirty="0">
                <a:latin typeface="Times New Roman" panose="02020603050405020304" pitchFamily="18" charset="0"/>
                <a:cs typeface="Times New Roman" panose="02020603050405020304" pitchFamily="18" charset="0"/>
              </a:rPr>
              <a:t>.</a:t>
            </a:r>
            <a:endParaRPr lang="en-US" altLang="x-none" sz="2400" dirty="0">
              <a:latin typeface="Times New Roman" panose="02020603050405020304" pitchFamily="18" charset="0"/>
              <a:cs typeface="Times New Roman" panose="02020603050405020304" pitchFamily="18" charset="0"/>
            </a:endParaRPr>
          </a:p>
          <a:p>
            <a:pPr eaLnBrk="1" hangingPunct="1">
              <a:lnSpc>
                <a:spcPct val="90000"/>
              </a:lnSpc>
            </a:pPr>
            <a:r>
              <a:rPr lang="en-US" altLang="x-none" sz="2400" dirty="0">
                <a:latin typeface="Times New Roman" panose="02020603050405020304" pitchFamily="18" charset="0"/>
                <a:cs typeface="Times New Roman" panose="02020603050405020304" pitchFamily="18" charset="0"/>
              </a:rPr>
              <a:t>Find a </a:t>
            </a:r>
            <a:r>
              <a:rPr lang="en-US" altLang="x-none" sz="2400" i="1" dirty="0">
                <a:solidFill>
                  <a:srgbClr val="CC0000"/>
                </a:solidFill>
                <a:latin typeface="Times New Roman" panose="02020603050405020304" pitchFamily="18" charset="0"/>
                <a:cs typeface="Times New Roman" panose="02020603050405020304" pitchFamily="18" charset="0"/>
              </a:rPr>
              <a:t>model</a:t>
            </a:r>
            <a:r>
              <a:rPr lang="en-US" altLang="x-none" sz="2400" dirty="0">
                <a:latin typeface="Times New Roman" panose="02020603050405020304" pitchFamily="18" charset="0"/>
                <a:cs typeface="Times New Roman" panose="02020603050405020304" pitchFamily="18" charset="0"/>
              </a:rPr>
              <a:t>  for class attribute as a function of the values of other attributes.</a:t>
            </a:r>
            <a:endParaRPr lang="en-US" altLang="x-none" sz="2400" dirty="0">
              <a:latin typeface="Times New Roman" panose="02020603050405020304" pitchFamily="18" charset="0"/>
              <a:cs typeface="Times New Roman" panose="02020603050405020304" pitchFamily="18" charset="0"/>
            </a:endParaRPr>
          </a:p>
          <a:p>
            <a:pPr eaLnBrk="1" hangingPunct="1">
              <a:lnSpc>
                <a:spcPct val="90000"/>
              </a:lnSpc>
            </a:pPr>
            <a:r>
              <a:rPr lang="en-US" altLang="x-none" sz="2400" dirty="0">
                <a:latin typeface="Times New Roman" panose="02020603050405020304" pitchFamily="18" charset="0"/>
                <a:cs typeface="Times New Roman" panose="02020603050405020304" pitchFamily="18" charset="0"/>
              </a:rPr>
              <a:t>Goal: </a:t>
            </a:r>
            <a:r>
              <a:rPr lang="en-US" altLang="x-none" sz="2400" u="sng" dirty="0">
                <a:latin typeface="Times New Roman" panose="02020603050405020304" pitchFamily="18" charset="0"/>
                <a:cs typeface="Times New Roman" panose="02020603050405020304" pitchFamily="18" charset="0"/>
              </a:rPr>
              <a:t>previously unseen</a:t>
            </a:r>
            <a:r>
              <a:rPr lang="en-US" altLang="x-none" sz="2400" dirty="0">
                <a:latin typeface="Times New Roman" panose="02020603050405020304" pitchFamily="18" charset="0"/>
                <a:cs typeface="Times New Roman" panose="02020603050405020304" pitchFamily="18" charset="0"/>
              </a:rPr>
              <a:t> records should be assigned a class as accurately as possible.</a:t>
            </a:r>
            <a:endParaRPr lang="en-US" altLang="x-none" sz="2400" dirty="0">
              <a:latin typeface="Times New Roman" panose="02020603050405020304" pitchFamily="18" charset="0"/>
              <a:cs typeface="Times New Roman" panose="02020603050405020304" pitchFamily="18" charset="0"/>
            </a:endParaRPr>
          </a:p>
          <a:p>
            <a:pPr lvl="1" eaLnBrk="1" hangingPunct="1">
              <a:lnSpc>
                <a:spcPct val="90000"/>
              </a:lnSpc>
            </a:pPr>
            <a:r>
              <a:rPr lang="en-US" altLang="x-none" sz="2400" dirty="0">
                <a:latin typeface="Times New Roman" panose="02020603050405020304" pitchFamily="18" charset="0"/>
                <a:cs typeface="Times New Roman" panose="02020603050405020304" pitchFamily="18" charset="0"/>
              </a:rPr>
              <a:t>A </a:t>
            </a:r>
            <a:r>
              <a:rPr lang="en-US" altLang="x-none" sz="2400" i="1" dirty="0">
                <a:solidFill>
                  <a:srgbClr val="CC0000"/>
                </a:solidFill>
                <a:latin typeface="Times New Roman" panose="02020603050405020304" pitchFamily="18" charset="0"/>
                <a:cs typeface="Times New Roman" panose="02020603050405020304" pitchFamily="18" charset="0"/>
              </a:rPr>
              <a:t>test set</a:t>
            </a:r>
            <a:r>
              <a:rPr lang="en-US" altLang="x-none" sz="2400" dirty="0">
                <a:latin typeface="Times New Roman" panose="02020603050405020304" pitchFamily="18" charset="0"/>
                <a:cs typeface="Times New Roman" panose="02020603050405020304" pitchFamily="18" charset="0"/>
              </a:rPr>
              <a:t> is used to determine the accuracy of the model. Usually, the given data set is divided into training and test sets, with training set used to build the model and test set used to validate it.</a:t>
            </a:r>
            <a:endParaRPr lang="en-US" altLang="x-none"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Illustrating Classification Task</a:t>
            </a:r>
            <a:endParaRPr lang="en-US" altLang="x-none" sz="3200" b="1" dirty="0">
              <a:latin typeface="Times New Roman" panose="02020603050405020304" pitchFamily="18" charset="0"/>
              <a:ea typeface="Times New Roman" panose="02020603050405020304" pitchFamily="18" charset="0"/>
            </a:endParaRPr>
          </a:p>
        </p:txBody>
      </p:sp>
      <p:graphicFrame>
        <p:nvGraphicFramePr>
          <p:cNvPr id="4098" name="Object 3"/>
          <p:cNvGraphicFramePr>
            <a:graphicFrameLocks noChangeAspect="1"/>
          </p:cNvGraphicFramePr>
          <p:nvPr>
            <p:ph idx="1"/>
          </p:nvPr>
        </p:nvGraphicFramePr>
        <p:xfrm>
          <a:off x="1131888" y="1600200"/>
          <a:ext cx="6878637" cy="4530725"/>
        </p:xfrm>
        <a:graphic>
          <a:graphicData uri="http://schemas.openxmlformats.org/presentationml/2006/ole">
            <mc:AlternateContent xmlns:mc="http://schemas.openxmlformats.org/markup-compatibility/2006">
              <mc:Choice xmlns:v="urn:schemas-microsoft-com:vml" Requires="v">
                <p:oleObj spid="_x0000_s3082" name="" r:id="rId1" imgW="8506460" imgH="6339205" progId="Visio.Drawing.6">
                  <p:embed/>
                </p:oleObj>
              </mc:Choice>
              <mc:Fallback>
                <p:oleObj name="" r:id="rId1" imgW="8506460" imgH="6339205" progId="Visio.Drawing.6">
                  <p:embed/>
                  <p:pic>
                    <p:nvPicPr>
                      <p:cNvPr id="0" name="Picture 3081"/>
                      <p:cNvPicPr/>
                      <p:nvPr/>
                    </p:nvPicPr>
                    <p:blipFill>
                      <a:blip r:embed="rId2"/>
                      <a:srcRect/>
                      <a:stretch>
                        <a:fillRect/>
                      </a:stretch>
                    </p:blipFill>
                    <p:spPr>
                      <a:xfrm>
                        <a:off x="1131888" y="1600200"/>
                        <a:ext cx="6878637" cy="4530725"/>
                      </a:xfrm>
                      <a:prstGeom prst="rect">
                        <a:avLst/>
                      </a:prstGeom>
                      <a:noFill/>
                      <a:ln w="38100">
                        <a:miter/>
                      </a:ln>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Classification Techniques</a:t>
            </a:r>
            <a:endParaRPr lang="en-US" altLang="x-none" sz="3200" b="1" dirty="0">
              <a:latin typeface="Times New Roman" panose="02020603050405020304" pitchFamily="18" charset="0"/>
              <a:ea typeface="Times New Roman" panose="02020603050405020304" pitchFamily="18" charset="0"/>
            </a:endParaRPr>
          </a:p>
        </p:txBody>
      </p:sp>
      <p:sp>
        <p:nvSpPr>
          <p:cNvPr id="37891" name="Rectangle 3"/>
          <p:cNvSpPr>
            <a:spLocks noGrp="1"/>
          </p:cNvSpPr>
          <p:nvPr>
            <p:ph idx="1"/>
          </p:nvPr>
        </p:nvSpPr>
        <p:spPr>
          <a:xfrm>
            <a:off x="762000" y="1600200"/>
            <a:ext cx="7696200" cy="4525963"/>
          </a:xfrm>
          <a:ln/>
        </p:spPr>
        <p:txBody>
          <a:bodyPr vert="horz" wrap="square" lIns="91440" tIns="45720" rIns="91440" bIns="45720" anchor="t" anchorCtr="0"/>
          <a:p>
            <a:pPr eaLnBrk="1" hangingPunct="1"/>
            <a:r>
              <a:rPr lang="en-US" altLang="x-none" sz="2400" dirty="0">
                <a:latin typeface="Times New Roman" panose="02020603050405020304" pitchFamily="18" charset="0"/>
                <a:cs typeface="Times New Roman" panose="02020603050405020304" pitchFamily="18" charset="0"/>
              </a:rPr>
              <a:t>Decision Tree based Methods</a:t>
            </a:r>
            <a:endParaRPr lang="en-US" altLang="x-none" sz="2400" dirty="0">
              <a:latin typeface="Times New Roman" panose="02020603050405020304" pitchFamily="18" charset="0"/>
              <a:cs typeface="Times New Roman" panose="02020603050405020304" pitchFamily="18" charset="0"/>
            </a:endParaRPr>
          </a:p>
          <a:p>
            <a:pPr eaLnBrk="1" hangingPunct="1"/>
            <a:r>
              <a:rPr lang="en-US" altLang="x-none" sz="2400" dirty="0">
                <a:latin typeface="Times New Roman" panose="02020603050405020304" pitchFamily="18" charset="0"/>
                <a:cs typeface="Times New Roman" panose="02020603050405020304" pitchFamily="18" charset="0"/>
              </a:rPr>
              <a:t>Neural Networks</a:t>
            </a:r>
            <a:endParaRPr lang="en-US" altLang="x-none" sz="2400" dirty="0">
              <a:latin typeface="Times New Roman" panose="02020603050405020304" pitchFamily="18" charset="0"/>
              <a:cs typeface="Times New Roman" panose="02020603050405020304" pitchFamily="18" charset="0"/>
            </a:endParaRPr>
          </a:p>
          <a:p>
            <a:pPr eaLnBrk="1" hangingPunct="1"/>
            <a:r>
              <a:rPr lang="en-US" altLang="x-none" sz="2400" dirty="0">
                <a:latin typeface="Times New Roman" panose="02020603050405020304" pitchFamily="18" charset="0"/>
                <a:cs typeface="Times New Roman" panose="02020603050405020304" pitchFamily="18" charset="0"/>
              </a:rPr>
              <a:t>Naïve Bayes and Bayesian Belief Networks</a:t>
            </a:r>
            <a:endParaRPr lang="en-US" altLang="x-none" sz="2400" dirty="0">
              <a:latin typeface="Times New Roman" panose="02020603050405020304" pitchFamily="18" charset="0"/>
              <a:cs typeface="Times New Roman" panose="02020603050405020304" pitchFamily="18" charset="0"/>
            </a:endParaRPr>
          </a:p>
          <a:p>
            <a:pPr eaLnBrk="1" hangingPunct="1"/>
            <a:r>
              <a:rPr lang="en-US" altLang="x-none" sz="2400" dirty="0">
                <a:latin typeface="Times New Roman" panose="02020603050405020304" pitchFamily="18" charset="0"/>
                <a:cs typeface="Times New Roman" panose="02020603050405020304" pitchFamily="18" charset="0"/>
              </a:rPr>
              <a:t>Support Vector Machines, etc.</a:t>
            </a:r>
            <a:endParaRPr lang="en-US" altLang="x-none"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Example of a Decision Tree</a:t>
            </a:r>
            <a:endParaRPr lang="en-US" altLang="x-none" sz="3200" b="1" dirty="0">
              <a:latin typeface="Times New Roman" panose="02020603050405020304" pitchFamily="18" charset="0"/>
              <a:ea typeface="Times New Roman" panose="02020603050405020304" pitchFamily="18" charset="0"/>
            </a:endParaRPr>
          </a:p>
        </p:txBody>
      </p:sp>
      <p:grpSp>
        <p:nvGrpSpPr>
          <p:cNvPr id="5124" name="Group 3"/>
          <p:cNvGrpSpPr/>
          <p:nvPr/>
        </p:nvGrpSpPr>
        <p:grpSpPr>
          <a:xfrm>
            <a:off x="304800" y="1720850"/>
            <a:ext cx="3587750" cy="4311650"/>
            <a:chOff x="288" y="951"/>
            <a:chExt cx="2260" cy="2716"/>
          </a:xfrm>
        </p:grpSpPr>
        <p:graphicFrame>
          <p:nvGraphicFramePr>
            <p:cNvPr id="5122" name="Object 4"/>
            <p:cNvGraphicFramePr>
              <a:graphicFrameLocks noChangeAspect="1"/>
            </p:cNvGraphicFramePr>
            <p:nvPr/>
          </p:nvGraphicFramePr>
          <p:xfrm>
            <a:off x="288" y="1344"/>
            <a:ext cx="2246" cy="2323"/>
          </p:xfrm>
          <a:graphic>
            <a:graphicData uri="http://schemas.openxmlformats.org/presentationml/2006/ole">
              <mc:AlternateContent xmlns:mc="http://schemas.openxmlformats.org/markup-compatibility/2006">
                <mc:Choice xmlns:v="urn:schemas-microsoft-com:vml" Requires="v">
                  <p:oleObj spid="_x0000_s3076" name="" r:id="rId1" imgW="5403850" imgH="5779135" progId="Word.Document.8">
                    <p:embed/>
                  </p:oleObj>
                </mc:Choice>
                <mc:Fallback>
                  <p:oleObj name="" r:id="rId1" imgW="5403850" imgH="5779135" progId="Word.Document.8">
                    <p:embed/>
                    <p:pic>
                      <p:nvPicPr>
                        <p:cNvPr id="0" name="Picture 3075"/>
                        <p:cNvPicPr/>
                        <p:nvPr/>
                      </p:nvPicPr>
                      <p:blipFill>
                        <a:blip r:embed="rId2"/>
                        <a:stretch>
                          <a:fillRect/>
                        </a:stretch>
                      </p:blipFill>
                      <p:spPr>
                        <a:xfrm>
                          <a:off x="288" y="1344"/>
                          <a:ext cx="2246" cy="2323"/>
                        </a:xfrm>
                        <a:prstGeom prst="rect">
                          <a:avLst/>
                        </a:prstGeom>
                        <a:noFill/>
                        <a:ln w="38100">
                          <a:noFill/>
                          <a:miter/>
                        </a:ln>
                      </p:spPr>
                    </p:pic>
                  </p:oleObj>
                </mc:Fallback>
              </mc:AlternateContent>
            </a:graphicData>
          </a:graphic>
        </p:graphicFrame>
        <p:sp>
          <p:nvSpPr>
            <p:cNvPr id="5154" name="Text Box 5"/>
            <p:cNvSpPr txBox="1"/>
            <p:nvPr/>
          </p:nvSpPr>
          <p:spPr>
            <a:xfrm rot="-2416809">
              <a:off x="672" y="951"/>
              <a:ext cx="792" cy="212"/>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006600"/>
                  </a:solidFill>
                  <a:latin typeface="Arial" panose="020B0604020202020204" pitchFamily="34" charset="0"/>
                </a:rPr>
                <a:t>categorical</a:t>
              </a:r>
              <a:endParaRPr lang="en-US" altLang="x-none" sz="1600" b="1" dirty="0">
                <a:solidFill>
                  <a:schemeClr val="bg2"/>
                </a:solidFill>
                <a:latin typeface="Arial" panose="020B0604020202020204" pitchFamily="34" charset="0"/>
              </a:endParaRPr>
            </a:p>
          </p:txBody>
        </p:sp>
        <p:sp>
          <p:nvSpPr>
            <p:cNvPr id="5155" name="Text Box 6"/>
            <p:cNvSpPr txBox="1"/>
            <p:nvPr/>
          </p:nvSpPr>
          <p:spPr>
            <a:xfrm rot="-2416809">
              <a:off x="1104" y="951"/>
              <a:ext cx="792" cy="212"/>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006600"/>
                  </a:solidFill>
                  <a:latin typeface="Arial" panose="020B0604020202020204" pitchFamily="34" charset="0"/>
                </a:rPr>
                <a:t>categorical</a:t>
              </a:r>
              <a:endParaRPr lang="en-US" altLang="x-none" sz="1600" b="1" dirty="0">
                <a:solidFill>
                  <a:schemeClr val="bg2"/>
                </a:solidFill>
                <a:latin typeface="Arial" panose="020B0604020202020204" pitchFamily="34" charset="0"/>
              </a:endParaRPr>
            </a:p>
          </p:txBody>
        </p:sp>
        <p:sp>
          <p:nvSpPr>
            <p:cNvPr id="5156" name="Text Box 7"/>
            <p:cNvSpPr txBox="1"/>
            <p:nvPr/>
          </p:nvSpPr>
          <p:spPr>
            <a:xfrm rot="-2416809">
              <a:off x="1632" y="951"/>
              <a:ext cx="805" cy="212"/>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006600"/>
                  </a:solidFill>
                  <a:latin typeface="Arial" panose="020B0604020202020204" pitchFamily="34" charset="0"/>
                </a:rPr>
                <a:t>continuous</a:t>
              </a:r>
              <a:endParaRPr lang="en-US" altLang="x-none" sz="1600" b="1" dirty="0">
                <a:solidFill>
                  <a:schemeClr val="bg2"/>
                </a:solidFill>
                <a:latin typeface="Arial" panose="020B0604020202020204" pitchFamily="34" charset="0"/>
              </a:endParaRPr>
            </a:p>
          </p:txBody>
        </p:sp>
        <p:sp>
          <p:nvSpPr>
            <p:cNvPr id="5157" name="Text Box 8"/>
            <p:cNvSpPr txBox="1"/>
            <p:nvPr/>
          </p:nvSpPr>
          <p:spPr>
            <a:xfrm rot="-2416809">
              <a:off x="2112" y="1047"/>
              <a:ext cx="436" cy="212"/>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006600"/>
                  </a:solidFill>
                  <a:latin typeface="Arial" panose="020B0604020202020204" pitchFamily="34" charset="0"/>
                </a:rPr>
                <a:t>class</a:t>
              </a:r>
              <a:endParaRPr lang="en-US" altLang="x-none" sz="1600" b="1" dirty="0">
                <a:solidFill>
                  <a:schemeClr val="bg2"/>
                </a:solidFill>
                <a:latin typeface="Arial" panose="020B0604020202020204" pitchFamily="34" charset="0"/>
              </a:endParaRPr>
            </a:p>
          </p:txBody>
        </p:sp>
      </p:grpSp>
      <p:sp>
        <p:nvSpPr>
          <p:cNvPr id="5125" name="Line 9"/>
          <p:cNvSpPr/>
          <p:nvPr/>
        </p:nvSpPr>
        <p:spPr>
          <a:xfrm>
            <a:off x="7042150" y="4854575"/>
            <a:ext cx="242888" cy="527050"/>
          </a:xfrm>
          <a:prstGeom prst="line">
            <a:avLst/>
          </a:prstGeom>
          <a:ln w="12700" cap="flat" cmpd="sng">
            <a:solidFill>
              <a:srgbClr val="000000"/>
            </a:solidFill>
            <a:prstDash val="solid"/>
            <a:headEnd type="none" w="med" len="med"/>
            <a:tailEnd type="triangle" w="med" len="med"/>
          </a:ln>
        </p:spPr>
      </p:sp>
      <p:sp>
        <p:nvSpPr>
          <p:cNvPr id="5126" name="Line 10"/>
          <p:cNvSpPr/>
          <p:nvPr/>
        </p:nvSpPr>
        <p:spPr>
          <a:xfrm flipH="1">
            <a:off x="5911850" y="4854575"/>
            <a:ext cx="323850" cy="527050"/>
          </a:xfrm>
          <a:prstGeom prst="line">
            <a:avLst/>
          </a:prstGeom>
          <a:ln w="12700" cap="flat" cmpd="sng">
            <a:solidFill>
              <a:srgbClr val="000000"/>
            </a:solidFill>
            <a:prstDash val="solid"/>
            <a:headEnd type="none" w="med" len="med"/>
            <a:tailEnd type="triangle" w="med" len="med"/>
          </a:ln>
        </p:spPr>
      </p:sp>
      <p:sp>
        <p:nvSpPr>
          <p:cNvPr id="5127" name="Line 11"/>
          <p:cNvSpPr/>
          <p:nvPr/>
        </p:nvSpPr>
        <p:spPr>
          <a:xfrm flipH="1">
            <a:off x="6557963" y="4060825"/>
            <a:ext cx="403225" cy="528638"/>
          </a:xfrm>
          <a:prstGeom prst="line">
            <a:avLst/>
          </a:prstGeom>
          <a:ln w="12700" cap="flat" cmpd="sng">
            <a:solidFill>
              <a:srgbClr val="000000"/>
            </a:solidFill>
            <a:prstDash val="solid"/>
            <a:headEnd type="none" w="med" len="med"/>
            <a:tailEnd type="triangle" w="med" len="med"/>
          </a:ln>
        </p:spPr>
      </p:sp>
      <p:sp>
        <p:nvSpPr>
          <p:cNvPr id="5128" name="Line 12"/>
          <p:cNvSpPr/>
          <p:nvPr/>
        </p:nvSpPr>
        <p:spPr>
          <a:xfrm>
            <a:off x="7769225" y="4060825"/>
            <a:ext cx="484188" cy="528638"/>
          </a:xfrm>
          <a:prstGeom prst="line">
            <a:avLst/>
          </a:prstGeom>
          <a:ln w="12700" cap="flat" cmpd="sng">
            <a:solidFill>
              <a:srgbClr val="000000"/>
            </a:solidFill>
            <a:prstDash val="solid"/>
            <a:headEnd type="none" w="med" len="med"/>
            <a:tailEnd type="triangle" w="med" len="med"/>
          </a:ln>
        </p:spPr>
      </p:sp>
      <p:sp>
        <p:nvSpPr>
          <p:cNvPr id="5129" name="Line 13"/>
          <p:cNvSpPr/>
          <p:nvPr/>
        </p:nvSpPr>
        <p:spPr>
          <a:xfrm>
            <a:off x="6719888" y="3333750"/>
            <a:ext cx="565150" cy="463550"/>
          </a:xfrm>
          <a:prstGeom prst="line">
            <a:avLst/>
          </a:prstGeom>
          <a:ln w="12700" cap="flat" cmpd="sng">
            <a:solidFill>
              <a:srgbClr val="000000"/>
            </a:solidFill>
            <a:prstDash val="solid"/>
            <a:headEnd type="none" w="med" len="med"/>
            <a:tailEnd type="triangle" w="med" len="med"/>
          </a:ln>
        </p:spPr>
      </p:sp>
      <p:sp>
        <p:nvSpPr>
          <p:cNvPr id="5130" name="Line 14"/>
          <p:cNvSpPr/>
          <p:nvPr/>
        </p:nvSpPr>
        <p:spPr>
          <a:xfrm flipH="1">
            <a:off x="5346700" y="3333750"/>
            <a:ext cx="565150" cy="463550"/>
          </a:xfrm>
          <a:prstGeom prst="line">
            <a:avLst/>
          </a:prstGeom>
          <a:ln w="12700" cap="flat" cmpd="sng">
            <a:solidFill>
              <a:srgbClr val="000000"/>
            </a:solidFill>
            <a:prstDash val="solid"/>
            <a:headEnd type="none" w="med" len="med"/>
            <a:tailEnd type="triangle" w="med" len="med"/>
          </a:ln>
        </p:spPr>
      </p:sp>
      <p:sp>
        <p:nvSpPr>
          <p:cNvPr id="5131" name="Text Box 15"/>
          <p:cNvSpPr txBox="1"/>
          <p:nvPr/>
        </p:nvSpPr>
        <p:spPr>
          <a:xfrm>
            <a:off x="5864225" y="3070225"/>
            <a:ext cx="936625" cy="349250"/>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Refund</a:t>
            </a:r>
            <a:endParaRPr lang="en-US" altLang="x-none" sz="1600" dirty="0">
              <a:solidFill>
                <a:schemeClr val="bg2"/>
              </a:solidFill>
              <a:latin typeface="Arial" panose="020B0604020202020204" pitchFamily="34" charset="0"/>
            </a:endParaRPr>
          </a:p>
        </p:txBody>
      </p:sp>
      <p:sp>
        <p:nvSpPr>
          <p:cNvPr id="5132" name="Text Box 16"/>
          <p:cNvSpPr txBox="1"/>
          <p:nvPr/>
        </p:nvSpPr>
        <p:spPr>
          <a:xfrm>
            <a:off x="6880225" y="3797300"/>
            <a:ext cx="935038" cy="349250"/>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MarSt</a:t>
            </a:r>
            <a:endParaRPr lang="en-US" altLang="x-none" sz="1600" dirty="0">
              <a:solidFill>
                <a:schemeClr val="bg2"/>
              </a:solidFill>
              <a:latin typeface="Arial" panose="020B0604020202020204" pitchFamily="34" charset="0"/>
            </a:endParaRPr>
          </a:p>
        </p:txBody>
      </p:sp>
      <p:sp>
        <p:nvSpPr>
          <p:cNvPr id="5133" name="Text Box 17"/>
          <p:cNvSpPr txBox="1"/>
          <p:nvPr/>
        </p:nvSpPr>
        <p:spPr>
          <a:xfrm>
            <a:off x="6154738" y="4589463"/>
            <a:ext cx="968375" cy="349250"/>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TaxInc</a:t>
            </a:r>
            <a:endParaRPr lang="en-US" altLang="x-none" sz="1600" dirty="0">
              <a:solidFill>
                <a:schemeClr val="bg2"/>
              </a:solidFill>
              <a:latin typeface="Arial" panose="020B0604020202020204" pitchFamily="34" charset="0"/>
            </a:endParaRPr>
          </a:p>
        </p:txBody>
      </p:sp>
      <p:sp>
        <p:nvSpPr>
          <p:cNvPr id="5134" name="AutoShape 18"/>
          <p:cNvSpPr/>
          <p:nvPr/>
        </p:nvSpPr>
        <p:spPr>
          <a:xfrm>
            <a:off x="7081838" y="5378450"/>
            <a:ext cx="627062" cy="366713"/>
          </a:xfrm>
          <a:prstGeom prst="roundRect">
            <a:avLst>
              <a:gd name="adj" fmla="val 16769"/>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5135" name="Text Box 19"/>
          <p:cNvSpPr txBox="1"/>
          <p:nvPr/>
        </p:nvSpPr>
        <p:spPr>
          <a:xfrm>
            <a:off x="7005638" y="5378450"/>
            <a:ext cx="685800" cy="336550"/>
          </a:xfrm>
          <a:prstGeom prst="rect">
            <a:avLst/>
          </a:prstGeom>
          <a:noFill/>
          <a:ln w="12700">
            <a:noFill/>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5136" name="AutoShape 20"/>
          <p:cNvSpPr/>
          <p:nvPr/>
        </p:nvSpPr>
        <p:spPr>
          <a:xfrm>
            <a:off x="5589588" y="5395913"/>
            <a:ext cx="654050" cy="363537"/>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5137" name="Text Box 21"/>
          <p:cNvSpPr txBox="1"/>
          <p:nvPr/>
        </p:nvSpPr>
        <p:spPr>
          <a:xfrm>
            <a:off x="5686425" y="5381625"/>
            <a:ext cx="48895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5138" name="AutoShape 22"/>
          <p:cNvSpPr/>
          <p:nvPr/>
        </p:nvSpPr>
        <p:spPr>
          <a:xfrm>
            <a:off x="5024438" y="3811588"/>
            <a:ext cx="685800" cy="347662"/>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5139" name="Text Box 23"/>
          <p:cNvSpPr txBox="1"/>
          <p:nvPr/>
        </p:nvSpPr>
        <p:spPr>
          <a:xfrm>
            <a:off x="5119688" y="3797300"/>
            <a:ext cx="48895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rgbClr val="00FFFF"/>
              </a:solidFill>
              <a:latin typeface="Arial" panose="020B0604020202020204" pitchFamily="34" charset="0"/>
            </a:endParaRPr>
          </a:p>
        </p:txBody>
      </p:sp>
      <p:sp>
        <p:nvSpPr>
          <p:cNvPr id="5140" name="AutoShape 24"/>
          <p:cNvSpPr/>
          <p:nvPr/>
        </p:nvSpPr>
        <p:spPr>
          <a:xfrm>
            <a:off x="7920038" y="4616450"/>
            <a:ext cx="685800" cy="381000"/>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5141" name="Text Box 25"/>
          <p:cNvSpPr txBox="1"/>
          <p:nvPr/>
        </p:nvSpPr>
        <p:spPr>
          <a:xfrm>
            <a:off x="7996238" y="4616450"/>
            <a:ext cx="48895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5142" name="Text Box 26"/>
          <p:cNvSpPr txBox="1"/>
          <p:nvPr/>
        </p:nvSpPr>
        <p:spPr>
          <a:xfrm>
            <a:off x="5137150" y="3333750"/>
            <a:ext cx="533400"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5143" name="Text Box 27"/>
          <p:cNvSpPr txBox="1"/>
          <p:nvPr/>
        </p:nvSpPr>
        <p:spPr>
          <a:xfrm>
            <a:off x="7002463" y="3333750"/>
            <a:ext cx="442912"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5144" name="Text Box 28"/>
          <p:cNvSpPr txBox="1"/>
          <p:nvPr/>
        </p:nvSpPr>
        <p:spPr>
          <a:xfrm>
            <a:off x="7985125" y="4098925"/>
            <a:ext cx="93027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Married</a:t>
            </a:r>
            <a:r>
              <a:rPr lang="en-US" altLang="x-none" sz="1600" dirty="0">
                <a:solidFill>
                  <a:schemeClr val="bg2"/>
                </a:solidFill>
                <a:latin typeface="Arial" panose="020B0604020202020204" pitchFamily="34" charset="0"/>
              </a:rPr>
              <a:t> </a:t>
            </a:r>
            <a:endParaRPr lang="en-US" altLang="x-none" sz="1600" dirty="0">
              <a:solidFill>
                <a:schemeClr val="bg2"/>
              </a:solidFill>
              <a:latin typeface="Arial" panose="020B0604020202020204" pitchFamily="34" charset="0"/>
            </a:endParaRPr>
          </a:p>
        </p:txBody>
      </p:sp>
      <p:sp>
        <p:nvSpPr>
          <p:cNvPr id="5145" name="Text Box 29"/>
          <p:cNvSpPr txBox="1"/>
          <p:nvPr/>
        </p:nvSpPr>
        <p:spPr>
          <a:xfrm>
            <a:off x="5768975" y="4127500"/>
            <a:ext cx="16605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Single, Divorced</a:t>
            </a:r>
            <a:endParaRPr lang="en-US" altLang="x-none" sz="1600" dirty="0">
              <a:solidFill>
                <a:schemeClr val="bg2"/>
              </a:solidFill>
              <a:latin typeface="Arial" panose="020B0604020202020204" pitchFamily="34" charset="0"/>
            </a:endParaRPr>
          </a:p>
        </p:txBody>
      </p:sp>
      <p:sp>
        <p:nvSpPr>
          <p:cNvPr id="5146" name="Text Box 30"/>
          <p:cNvSpPr txBox="1"/>
          <p:nvPr/>
        </p:nvSpPr>
        <p:spPr>
          <a:xfrm>
            <a:off x="5389563" y="4919663"/>
            <a:ext cx="7207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&lt; 80K</a:t>
            </a:r>
            <a:endParaRPr lang="en-US" altLang="x-none" sz="1600" dirty="0">
              <a:solidFill>
                <a:schemeClr val="bg2"/>
              </a:solidFill>
              <a:latin typeface="Arial" panose="020B0604020202020204" pitchFamily="34" charset="0"/>
            </a:endParaRPr>
          </a:p>
        </p:txBody>
      </p:sp>
      <p:sp>
        <p:nvSpPr>
          <p:cNvPr id="5147" name="Text Box 31"/>
          <p:cNvSpPr txBox="1"/>
          <p:nvPr/>
        </p:nvSpPr>
        <p:spPr>
          <a:xfrm>
            <a:off x="7164388" y="4919663"/>
            <a:ext cx="7207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&gt; 80K</a:t>
            </a:r>
            <a:endParaRPr lang="en-US" altLang="x-none" sz="1600" dirty="0">
              <a:solidFill>
                <a:schemeClr val="bg2"/>
              </a:solidFill>
              <a:latin typeface="Arial" panose="020B0604020202020204" pitchFamily="34" charset="0"/>
            </a:endParaRPr>
          </a:p>
        </p:txBody>
      </p:sp>
      <p:sp>
        <p:nvSpPr>
          <p:cNvPr id="5148" name="Text Box 32"/>
          <p:cNvSpPr txBox="1"/>
          <p:nvPr/>
        </p:nvSpPr>
        <p:spPr>
          <a:xfrm>
            <a:off x="6503988" y="2116138"/>
            <a:ext cx="2241550" cy="366712"/>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b="1" i="1" dirty="0">
                <a:solidFill>
                  <a:srgbClr val="FF0000"/>
                </a:solidFill>
                <a:latin typeface="Arial" panose="020B0604020202020204" pitchFamily="34" charset="0"/>
              </a:rPr>
              <a:t>Splitting Attributes</a:t>
            </a:r>
            <a:endParaRPr lang="en-US" altLang="x-none" b="1" i="1" dirty="0">
              <a:solidFill>
                <a:srgbClr val="FF0000"/>
              </a:solidFill>
              <a:latin typeface="Arial" panose="020B0604020202020204" pitchFamily="34" charset="0"/>
            </a:endParaRPr>
          </a:p>
        </p:txBody>
      </p:sp>
      <p:sp>
        <p:nvSpPr>
          <p:cNvPr id="5149" name="Line 33"/>
          <p:cNvSpPr/>
          <p:nvPr/>
        </p:nvSpPr>
        <p:spPr>
          <a:xfrm flipH="1">
            <a:off x="6881813" y="2497138"/>
            <a:ext cx="536575" cy="534987"/>
          </a:xfrm>
          <a:prstGeom prst="line">
            <a:avLst/>
          </a:prstGeom>
          <a:ln w="15875" cap="flat" cmpd="sng">
            <a:solidFill>
              <a:srgbClr val="FF0000"/>
            </a:solidFill>
            <a:prstDash val="dash"/>
            <a:headEnd type="none" w="med" len="med"/>
            <a:tailEnd type="triangle" w="med" len="med"/>
          </a:ln>
        </p:spPr>
      </p:sp>
      <p:sp>
        <p:nvSpPr>
          <p:cNvPr id="5150" name="AutoShape 34"/>
          <p:cNvSpPr/>
          <p:nvPr/>
        </p:nvSpPr>
        <p:spPr>
          <a:xfrm>
            <a:off x="3886200" y="4159250"/>
            <a:ext cx="914400" cy="293688"/>
          </a:xfrm>
          <a:prstGeom prst="rightArrow">
            <a:avLst>
              <a:gd name="adj1" fmla="val 50000"/>
              <a:gd name="adj2" fmla="val 77837"/>
            </a:avLst>
          </a:prstGeom>
          <a:solidFill>
            <a:srgbClr val="CC0000"/>
          </a:solidFill>
          <a:ln w="12700" cap="flat" cmpd="sng">
            <a:solidFill>
              <a:srgbClr val="CC0000"/>
            </a:solidFill>
            <a:prstDash val="solid"/>
            <a:miter/>
            <a:headEnd type="none" w="med" len="med"/>
            <a:tailEnd type="none" w="med" len="med"/>
          </a:ln>
        </p:spPr>
        <p:txBody>
          <a:bodyPr wrap="none" anchor="ctr" anchorCtr="0"/>
          <a:p>
            <a:endParaRPr lang="en-US" altLang="x-none" dirty="0">
              <a:latin typeface="Arial" panose="020B0604020202020204" pitchFamily="34" charset="0"/>
            </a:endParaRPr>
          </a:p>
        </p:txBody>
      </p:sp>
      <p:sp>
        <p:nvSpPr>
          <p:cNvPr id="5151" name="Line 35"/>
          <p:cNvSpPr/>
          <p:nvPr/>
        </p:nvSpPr>
        <p:spPr>
          <a:xfrm>
            <a:off x="7494588" y="2497138"/>
            <a:ext cx="76200" cy="1144587"/>
          </a:xfrm>
          <a:prstGeom prst="line">
            <a:avLst/>
          </a:prstGeom>
          <a:ln w="15875" cap="flat" cmpd="sng">
            <a:solidFill>
              <a:srgbClr val="FF0000"/>
            </a:solidFill>
            <a:prstDash val="dash"/>
            <a:headEnd type="none" w="med" len="med"/>
            <a:tailEnd type="triangle" w="med" len="med"/>
          </a:ln>
        </p:spPr>
      </p:sp>
      <p:sp>
        <p:nvSpPr>
          <p:cNvPr id="5152" name="Text Box 36"/>
          <p:cNvSpPr txBox="1"/>
          <p:nvPr/>
        </p:nvSpPr>
        <p:spPr>
          <a:xfrm>
            <a:off x="838200" y="6216650"/>
            <a:ext cx="2514600" cy="336550"/>
          </a:xfrm>
          <a:prstGeom prst="rect">
            <a:avLst/>
          </a:prstGeom>
          <a:noFill/>
          <a:ln w="12700">
            <a:noFill/>
          </a:ln>
        </p:spPr>
        <p:txBody>
          <a:bodyPr>
            <a:spAutoFit/>
          </a:bodyPr>
          <a:p>
            <a:pPr marL="342900" indent="-342900" algn="ctr" eaLnBrk="0" hangingPunct="0">
              <a:lnSpc>
                <a:spcPct val="80000"/>
              </a:lnSpc>
              <a:spcBef>
                <a:spcPct val="20000"/>
              </a:spcBef>
              <a:buClr>
                <a:schemeClr val="accent2"/>
              </a:buClr>
              <a:buSzPct val="75000"/>
              <a:buFont typeface="Monotype Sorts" charset="2"/>
            </a:pPr>
            <a:r>
              <a:rPr lang="en-US" altLang="x-none" sz="2000" b="1" dirty="0">
                <a:solidFill>
                  <a:schemeClr val="tx2"/>
                </a:solidFill>
                <a:latin typeface="Arial" panose="020B0604020202020204" pitchFamily="34" charset="0"/>
              </a:rPr>
              <a:t>Training Data</a:t>
            </a:r>
            <a:endParaRPr lang="en-US" altLang="x-none" sz="2000" dirty="0">
              <a:solidFill>
                <a:schemeClr val="bg2"/>
              </a:solidFill>
              <a:latin typeface="Arial" panose="020B0604020202020204" pitchFamily="34" charset="0"/>
            </a:endParaRPr>
          </a:p>
        </p:txBody>
      </p:sp>
      <p:sp>
        <p:nvSpPr>
          <p:cNvPr id="5153" name="Text Box 37"/>
          <p:cNvSpPr txBox="1"/>
          <p:nvPr/>
        </p:nvSpPr>
        <p:spPr>
          <a:xfrm>
            <a:off x="5105400" y="6184900"/>
            <a:ext cx="3124200" cy="336550"/>
          </a:xfrm>
          <a:prstGeom prst="rect">
            <a:avLst/>
          </a:prstGeom>
          <a:noFill/>
          <a:ln w="12700">
            <a:noFill/>
          </a:ln>
        </p:spPr>
        <p:txBody>
          <a:bodyPr>
            <a:spAutoFit/>
          </a:bodyPr>
          <a:p>
            <a:pPr marL="342900" indent="-342900" algn="ctr" eaLnBrk="0" hangingPunct="0">
              <a:lnSpc>
                <a:spcPct val="80000"/>
              </a:lnSpc>
              <a:spcBef>
                <a:spcPct val="20000"/>
              </a:spcBef>
              <a:buClr>
                <a:schemeClr val="accent2"/>
              </a:buClr>
              <a:buSzPct val="75000"/>
              <a:buFont typeface="Monotype Sorts" charset="2"/>
            </a:pPr>
            <a:r>
              <a:rPr lang="en-US" altLang="x-none" sz="2000" b="1" dirty="0">
                <a:solidFill>
                  <a:schemeClr val="tx2"/>
                </a:solidFill>
                <a:latin typeface="Arial" panose="020B0604020202020204" pitchFamily="34" charset="0"/>
              </a:rPr>
              <a:t>Model:  Decision Tree</a:t>
            </a:r>
            <a:endParaRPr lang="en-US" altLang="x-none" sz="2000" dirty="0">
              <a:solidFill>
                <a:schemeClr val="bg2"/>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Another Example of Decision Tree</a:t>
            </a:r>
            <a:endParaRPr lang="en-US" altLang="x-none" sz="3200" b="1" dirty="0">
              <a:latin typeface="Times New Roman" panose="02020603050405020304" pitchFamily="18" charset="0"/>
              <a:ea typeface="Times New Roman" panose="02020603050405020304" pitchFamily="18" charset="0"/>
            </a:endParaRPr>
          </a:p>
        </p:txBody>
      </p:sp>
      <p:graphicFrame>
        <p:nvGraphicFramePr>
          <p:cNvPr id="6146" name="Object 3"/>
          <p:cNvGraphicFramePr>
            <a:graphicFrameLocks noChangeAspect="1"/>
          </p:cNvGraphicFramePr>
          <p:nvPr/>
        </p:nvGraphicFramePr>
        <p:xfrm>
          <a:off x="381000" y="2484438"/>
          <a:ext cx="3565525" cy="3687762"/>
        </p:xfrm>
        <a:graphic>
          <a:graphicData uri="http://schemas.openxmlformats.org/presentationml/2006/ole">
            <mc:AlternateContent xmlns:mc="http://schemas.openxmlformats.org/markup-compatibility/2006">
              <mc:Choice xmlns:v="urn:schemas-microsoft-com:vml" Requires="v">
                <p:oleObj spid="_x0000_s3077" name="" r:id="rId1" imgW="5403850" imgH="5779135" progId="Word.Document.8">
                  <p:embed/>
                </p:oleObj>
              </mc:Choice>
              <mc:Fallback>
                <p:oleObj name="" r:id="rId1" imgW="5403850" imgH="5779135" progId="Word.Document.8">
                  <p:embed/>
                  <p:pic>
                    <p:nvPicPr>
                      <p:cNvPr id="0" name="Picture 3076"/>
                      <p:cNvPicPr/>
                      <p:nvPr/>
                    </p:nvPicPr>
                    <p:blipFill>
                      <a:blip r:embed="rId2"/>
                      <a:stretch>
                        <a:fillRect/>
                      </a:stretch>
                    </p:blipFill>
                    <p:spPr>
                      <a:xfrm>
                        <a:off x="381000" y="2484438"/>
                        <a:ext cx="3565525" cy="3687762"/>
                      </a:xfrm>
                      <a:prstGeom prst="rect">
                        <a:avLst/>
                      </a:prstGeom>
                      <a:noFill/>
                      <a:ln w="38100">
                        <a:noFill/>
                        <a:miter/>
                      </a:ln>
                    </p:spPr>
                  </p:pic>
                </p:oleObj>
              </mc:Fallback>
            </mc:AlternateContent>
          </a:graphicData>
        </a:graphic>
      </p:graphicFrame>
      <p:sp>
        <p:nvSpPr>
          <p:cNvPr id="6148" name="Text Box 4"/>
          <p:cNvSpPr txBox="1"/>
          <p:nvPr/>
        </p:nvSpPr>
        <p:spPr>
          <a:xfrm rot="-2416809">
            <a:off x="990600" y="1860550"/>
            <a:ext cx="125730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006600"/>
                </a:solidFill>
                <a:latin typeface="Arial" panose="020B0604020202020204" pitchFamily="34" charset="0"/>
              </a:rPr>
              <a:t>categorical</a:t>
            </a:r>
            <a:endParaRPr lang="en-US" altLang="x-none" sz="1600" b="1" dirty="0">
              <a:solidFill>
                <a:schemeClr val="bg2"/>
              </a:solidFill>
              <a:latin typeface="Arial" panose="020B0604020202020204" pitchFamily="34" charset="0"/>
            </a:endParaRPr>
          </a:p>
        </p:txBody>
      </p:sp>
      <p:sp>
        <p:nvSpPr>
          <p:cNvPr id="6149" name="Text Box 5"/>
          <p:cNvSpPr txBox="1"/>
          <p:nvPr/>
        </p:nvSpPr>
        <p:spPr>
          <a:xfrm rot="-2416809">
            <a:off x="1676400" y="1860550"/>
            <a:ext cx="125730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006600"/>
                </a:solidFill>
                <a:latin typeface="Arial" panose="020B0604020202020204" pitchFamily="34" charset="0"/>
              </a:rPr>
              <a:t>categorical</a:t>
            </a:r>
            <a:endParaRPr lang="en-US" altLang="x-none" sz="1600" b="1" dirty="0">
              <a:solidFill>
                <a:schemeClr val="bg2"/>
              </a:solidFill>
              <a:latin typeface="Arial" panose="020B0604020202020204" pitchFamily="34" charset="0"/>
            </a:endParaRPr>
          </a:p>
        </p:txBody>
      </p:sp>
      <p:sp>
        <p:nvSpPr>
          <p:cNvPr id="6150" name="Text Box 6"/>
          <p:cNvSpPr txBox="1"/>
          <p:nvPr/>
        </p:nvSpPr>
        <p:spPr>
          <a:xfrm rot="-2416809">
            <a:off x="2514600" y="1860550"/>
            <a:ext cx="1277938"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006600"/>
                </a:solidFill>
                <a:latin typeface="Arial" panose="020B0604020202020204" pitchFamily="34" charset="0"/>
              </a:rPr>
              <a:t>continuous</a:t>
            </a:r>
            <a:endParaRPr lang="en-US" altLang="x-none" sz="1600" b="1" dirty="0">
              <a:solidFill>
                <a:schemeClr val="bg2"/>
              </a:solidFill>
              <a:latin typeface="Arial" panose="020B0604020202020204" pitchFamily="34" charset="0"/>
            </a:endParaRPr>
          </a:p>
        </p:txBody>
      </p:sp>
      <p:sp>
        <p:nvSpPr>
          <p:cNvPr id="6151" name="Text Box 7"/>
          <p:cNvSpPr txBox="1"/>
          <p:nvPr/>
        </p:nvSpPr>
        <p:spPr>
          <a:xfrm rot="-2416809">
            <a:off x="3276600" y="2012950"/>
            <a:ext cx="69215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006600"/>
                </a:solidFill>
                <a:latin typeface="Arial" panose="020B0604020202020204" pitchFamily="34" charset="0"/>
              </a:rPr>
              <a:t>class</a:t>
            </a:r>
            <a:endParaRPr lang="en-US" altLang="x-none" sz="1600" b="1" dirty="0">
              <a:solidFill>
                <a:schemeClr val="bg2"/>
              </a:solidFill>
              <a:latin typeface="Arial" panose="020B0604020202020204" pitchFamily="34" charset="0"/>
            </a:endParaRPr>
          </a:p>
        </p:txBody>
      </p:sp>
      <p:sp>
        <p:nvSpPr>
          <p:cNvPr id="6152" name="Line 8"/>
          <p:cNvSpPr/>
          <p:nvPr/>
        </p:nvSpPr>
        <p:spPr>
          <a:xfrm>
            <a:off x="7929563" y="3848100"/>
            <a:ext cx="242887" cy="527050"/>
          </a:xfrm>
          <a:prstGeom prst="line">
            <a:avLst/>
          </a:prstGeom>
          <a:ln w="12700" cap="flat" cmpd="sng">
            <a:solidFill>
              <a:srgbClr val="000000"/>
            </a:solidFill>
            <a:prstDash val="solid"/>
            <a:headEnd type="none" w="med" len="med"/>
            <a:tailEnd type="triangle" w="med" len="med"/>
          </a:ln>
        </p:spPr>
      </p:sp>
      <p:sp>
        <p:nvSpPr>
          <p:cNvPr id="6153" name="Line 9"/>
          <p:cNvSpPr/>
          <p:nvPr/>
        </p:nvSpPr>
        <p:spPr>
          <a:xfrm flipH="1">
            <a:off x="6799263" y="3848100"/>
            <a:ext cx="323850" cy="527050"/>
          </a:xfrm>
          <a:prstGeom prst="line">
            <a:avLst/>
          </a:prstGeom>
          <a:ln w="12700" cap="flat" cmpd="sng">
            <a:solidFill>
              <a:srgbClr val="000000"/>
            </a:solidFill>
            <a:prstDash val="solid"/>
            <a:headEnd type="none" w="med" len="med"/>
            <a:tailEnd type="triangle" w="med" len="med"/>
          </a:ln>
        </p:spPr>
      </p:sp>
      <p:sp>
        <p:nvSpPr>
          <p:cNvPr id="6154" name="Line 10"/>
          <p:cNvSpPr/>
          <p:nvPr/>
        </p:nvSpPr>
        <p:spPr>
          <a:xfrm flipH="1">
            <a:off x="5805488" y="3084513"/>
            <a:ext cx="403225" cy="528637"/>
          </a:xfrm>
          <a:prstGeom prst="line">
            <a:avLst/>
          </a:prstGeom>
          <a:ln w="12700" cap="flat" cmpd="sng">
            <a:solidFill>
              <a:srgbClr val="000000"/>
            </a:solidFill>
            <a:prstDash val="solid"/>
            <a:headEnd type="none" w="med" len="med"/>
            <a:tailEnd type="triangle" w="med" len="med"/>
          </a:ln>
        </p:spPr>
      </p:sp>
      <p:sp>
        <p:nvSpPr>
          <p:cNvPr id="6155" name="Line 11"/>
          <p:cNvSpPr/>
          <p:nvPr/>
        </p:nvSpPr>
        <p:spPr>
          <a:xfrm>
            <a:off x="7016750" y="3084513"/>
            <a:ext cx="484188" cy="528637"/>
          </a:xfrm>
          <a:prstGeom prst="line">
            <a:avLst/>
          </a:prstGeom>
          <a:ln w="12700" cap="flat" cmpd="sng">
            <a:solidFill>
              <a:srgbClr val="000000"/>
            </a:solidFill>
            <a:prstDash val="solid"/>
            <a:headEnd type="none" w="med" len="med"/>
            <a:tailEnd type="triangle" w="med" len="med"/>
          </a:ln>
        </p:spPr>
      </p:sp>
      <p:sp>
        <p:nvSpPr>
          <p:cNvPr id="6156" name="Line 12"/>
          <p:cNvSpPr/>
          <p:nvPr/>
        </p:nvSpPr>
        <p:spPr>
          <a:xfrm>
            <a:off x="5967413" y="2357438"/>
            <a:ext cx="565150" cy="463550"/>
          </a:xfrm>
          <a:prstGeom prst="line">
            <a:avLst/>
          </a:prstGeom>
          <a:ln w="12700" cap="flat" cmpd="sng">
            <a:solidFill>
              <a:srgbClr val="000000"/>
            </a:solidFill>
            <a:prstDash val="solid"/>
            <a:headEnd type="none" w="med" len="med"/>
            <a:tailEnd type="triangle" w="med" len="med"/>
          </a:ln>
        </p:spPr>
      </p:sp>
      <p:sp>
        <p:nvSpPr>
          <p:cNvPr id="6157" name="Line 13"/>
          <p:cNvSpPr/>
          <p:nvPr/>
        </p:nvSpPr>
        <p:spPr>
          <a:xfrm flipH="1">
            <a:off x="4594225" y="2357438"/>
            <a:ext cx="565150" cy="463550"/>
          </a:xfrm>
          <a:prstGeom prst="line">
            <a:avLst/>
          </a:prstGeom>
          <a:ln w="12700" cap="flat" cmpd="sng">
            <a:solidFill>
              <a:srgbClr val="000000"/>
            </a:solidFill>
            <a:prstDash val="solid"/>
            <a:headEnd type="none" w="med" len="med"/>
            <a:tailEnd type="triangle" w="med" len="med"/>
          </a:ln>
        </p:spPr>
      </p:sp>
      <p:sp>
        <p:nvSpPr>
          <p:cNvPr id="6158" name="Text Box 14"/>
          <p:cNvSpPr txBox="1"/>
          <p:nvPr/>
        </p:nvSpPr>
        <p:spPr>
          <a:xfrm>
            <a:off x="5111750" y="2093913"/>
            <a:ext cx="936625" cy="349250"/>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MarSt</a:t>
            </a:r>
            <a:endParaRPr lang="en-US" altLang="x-none" sz="1600" dirty="0">
              <a:solidFill>
                <a:schemeClr val="bg2"/>
              </a:solidFill>
              <a:latin typeface="Arial" panose="020B0604020202020204" pitchFamily="34" charset="0"/>
            </a:endParaRPr>
          </a:p>
        </p:txBody>
      </p:sp>
      <p:sp>
        <p:nvSpPr>
          <p:cNvPr id="6159" name="Text Box 15"/>
          <p:cNvSpPr txBox="1"/>
          <p:nvPr/>
        </p:nvSpPr>
        <p:spPr>
          <a:xfrm>
            <a:off x="6127750" y="2820988"/>
            <a:ext cx="935038" cy="349250"/>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Refund</a:t>
            </a:r>
            <a:endParaRPr lang="en-US" altLang="x-none" sz="1600" dirty="0">
              <a:solidFill>
                <a:schemeClr val="bg2"/>
              </a:solidFill>
              <a:latin typeface="Arial" panose="020B0604020202020204" pitchFamily="34" charset="0"/>
            </a:endParaRPr>
          </a:p>
        </p:txBody>
      </p:sp>
      <p:sp>
        <p:nvSpPr>
          <p:cNvPr id="6160" name="Text Box 16"/>
          <p:cNvSpPr txBox="1"/>
          <p:nvPr/>
        </p:nvSpPr>
        <p:spPr>
          <a:xfrm>
            <a:off x="7042150" y="3582988"/>
            <a:ext cx="968375" cy="349250"/>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TaxInc</a:t>
            </a:r>
            <a:endParaRPr lang="en-US" altLang="x-none" sz="1600" dirty="0">
              <a:solidFill>
                <a:schemeClr val="bg2"/>
              </a:solidFill>
              <a:latin typeface="Arial" panose="020B0604020202020204" pitchFamily="34" charset="0"/>
            </a:endParaRPr>
          </a:p>
        </p:txBody>
      </p:sp>
      <p:sp>
        <p:nvSpPr>
          <p:cNvPr id="6161" name="AutoShape 17"/>
          <p:cNvSpPr/>
          <p:nvPr/>
        </p:nvSpPr>
        <p:spPr>
          <a:xfrm>
            <a:off x="7969250" y="4371975"/>
            <a:ext cx="627063" cy="366713"/>
          </a:xfrm>
          <a:prstGeom prst="roundRect">
            <a:avLst>
              <a:gd name="adj" fmla="val 16769"/>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6162" name="Text Box 18"/>
          <p:cNvSpPr txBox="1"/>
          <p:nvPr/>
        </p:nvSpPr>
        <p:spPr>
          <a:xfrm>
            <a:off x="7893050" y="4371975"/>
            <a:ext cx="685800" cy="336550"/>
          </a:xfrm>
          <a:prstGeom prst="rect">
            <a:avLst/>
          </a:prstGeom>
          <a:noFill/>
          <a:ln w="12700">
            <a:noFill/>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6163" name="AutoShape 19"/>
          <p:cNvSpPr/>
          <p:nvPr/>
        </p:nvSpPr>
        <p:spPr>
          <a:xfrm>
            <a:off x="6477000" y="4389438"/>
            <a:ext cx="654050" cy="363537"/>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6164" name="Text Box 20"/>
          <p:cNvSpPr txBox="1"/>
          <p:nvPr/>
        </p:nvSpPr>
        <p:spPr>
          <a:xfrm>
            <a:off x="6573838" y="4375150"/>
            <a:ext cx="48895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6165" name="AutoShape 21"/>
          <p:cNvSpPr/>
          <p:nvPr/>
        </p:nvSpPr>
        <p:spPr>
          <a:xfrm>
            <a:off x="4271963" y="2835275"/>
            <a:ext cx="685800" cy="347663"/>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6166" name="Text Box 22"/>
          <p:cNvSpPr txBox="1"/>
          <p:nvPr/>
        </p:nvSpPr>
        <p:spPr>
          <a:xfrm>
            <a:off x="4367213" y="2820988"/>
            <a:ext cx="48895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rgbClr val="00FFFF"/>
              </a:solidFill>
              <a:latin typeface="Arial" panose="020B0604020202020204" pitchFamily="34" charset="0"/>
            </a:endParaRPr>
          </a:p>
        </p:txBody>
      </p:sp>
      <p:grpSp>
        <p:nvGrpSpPr>
          <p:cNvPr id="6167" name="Group 23"/>
          <p:cNvGrpSpPr/>
          <p:nvPr/>
        </p:nvGrpSpPr>
        <p:grpSpPr>
          <a:xfrm>
            <a:off x="5518150" y="3582988"/>
            <a:ext cx="685800" cy="381000"/>
            <a:chOff x="4927" y="2340"/>
            <a:chExt cx="432" cy="240"/>
          </a:xfrm>
        </p:grpSpPr>
        <p:sp>
          <p:nvSpPr>
            <p:cNvPr id="6175" name="AutoShape 24"/>
            <p:cNvSpPr/>
            <p:nvPr/>
          </p:nvSpPr>
          <p:spPr>
            <a:xfrm>
              <a:off x="4927" y="2340"/>
              <a:ext cx="432" cy="240"/>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6176" name="Text Box 25"/>
            <p:cNvSpPr txBox="1"/>
            <p:nvPr/>
          </p:nvSpPr>
          <p:spPr>
            <a:xfrm>
              <a:off x="4975" y="2340"/>
              <a:ext cx="308" cy="212"/>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grpSp>
      <p:sp>
        <p:nvSpPr>
          <p:cNvPr id="6168" name="Text Box 26"/>
          <p:cNvSpPr txBox="1"/>
          <p:nvPr/>
        </p:nvSpPr>
        <p:spPr>
          <a:xfrm>
            <a:off x="5441950" y="3125788"/>
            <a:ext cx="533400"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6169" name="Text Box 27"/>
          <p:cNvSpPr txBox="1"/>
          <p:nvPr/>
        </p:nvSpPr>
        <p:spPr>
          <a:xfrm>
            <a:off x="7194550" y="3049588"/>
            <a:ext cx="442913"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6170" name="Text Box 28"/>
          <p:cNvSpPr txBox="1"/>
          <p:nvPr/>
        </p:nvSpPr>
        <p:spPr>
          <a:xfrm>
            <a:off x="4070350" y="2287588"/>
            <a:ext cx="93027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Married</a:t>
            </a:r>
            <a:r>
              <a:rPr lang="en-US" altLang="x-none" sz="1600" dirty="0">
                <a:solidFill>
                  <a:schemeClr val="bg2"/>
                </a:solidFill>
                <a:latin typeface="Arial" panose="020B0604020202020204" pitchFamily="34" charset="0"/>
              </a:rPr>
              <a:t> </a:t>
            </a:r>
            <a:endParaRPr lang="en-US" altLang="x-none" sz="1600" dirty="0">
              <a:solidFill>
                <a:schemeClr val="bg2"/>
              </a:solidFill>
              <a:latin typeface="Arial" panose="020B0604020202020204" pitchFamily="34" charset="0"/>
            </a:endParaRPr>
          </a:p>
        </p:txBody>
      </p:sp>
      <p:sp>
        <p:nvSpPr>
          <p:cNvPr id="6171" name="Text Box 29"/>
          <p:cNvSpPr txBox="1"/>
          <p:nvPr/>
        </p:nvSpPr>
        <p:spPr>
          <a:xfrm>
            <a:off x="5670550" y="2058988"/>
            <a:ext cx="1398588" cy="581025"/>
          </a:xfrm>
          <a:prstGeom prst="rect">
            <a:avLst/>
          </a:prstGeom>
          <a:noFill/>
          <a:ln w="12700">
            <a:noFill/>
          </a:ln>
        </p:spPr>
        <p:txBody>
          <a:bodyPr>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Single, Divorced</a:t>
            </a:r>
            <a:endParaRPr lang="en-US" altLang="x-none" sz="1600" dirty="0">
              <a:solidFill>
                <a:schemeClr val="bg2"/>
              </a:solidFill>
              <a:latin typeface="Arial" panose="020B0604020202020204" pitchFamily="34" charset="0"/>
            </a:endParaRPr>
          </a:p>
        </p:txBody>
      </p:sp>
      <p:sp>
        <p:nvSpPr>
          <p:cNvPr id="6172" name="Text Box 30"/>
          <p:cNvSpPr txBox="1"/>
          <p:nvPr/>
        </p:nvSpPr>
        <p:spPr>
          <a:xfrm>
            <a:off x="6276975" y="3913188"/>
            <a:ext cx="7207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&lt; 80K</a:t>
            </a:r>
            <a:endParaRPr lang="en-US" altLang="x-none" sz="1600" dirty="0">
              <a:solidFill>
                <a:schemeClr val="bg2"/>
              </a:solidFill>
              <a:latin typeface="Arial" panose="020B0604020202020204" pitchFamily="34" charset="0"/>
            </a:endParaRPr>
          </a:p>
        </p:txBody>
      </p:sp>
      <p:sp>
        <p:nvSpPr>
          <p:cNvPr id="6173" name="Text Box 31"/>
          <p:cNvSpPr txBox="1"/>
          <p:nvPr/>
        </p:nvSpPr>
        <p:spPr>
          <a:xfrm>
            <a:off x="8051800" y="3913188"/>
            <a:ext cx="7207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&gt; 80K</a:t>
            </a:r>
            <a:endParaRPr lang="en-US" altLang="x-none" sz="1600" dirty="0">
              <a:solidFill>
                <a:schemeClr val="bg2"/>
              </a:solidFill>
              <a:latin typeface="Arial" panose="020B0604020202020204" pitchFamily="34" charset="0"/>
            </a:endParaRPr>
          </a:p>
        </p:txBody>
      </p:sp>
      <p:sp>
        <p:nvSpPr>
          <p:cNvPr id="6174" name="Text Box 32"/>
          <p:cNvSpPr txBox="1"/>
          <p:nvPr/>
        </p:nvSpPr>
        <p:spPr>
          <a:xfrm>
            <a:off x="4267200" y="5380038"/>
            <a:ext cx="4419600" cy="641350"/>
          </a:xfrm>
          <a:prstGeom prst="rect">
            <a:avLst/>
          </a:prstGeom>
          <a:noFill/>
          <a:ln w="12700">
            <a:noFill/>
          </a:ln>
        </p:spPr>
        <p:txBody>
          <a:bodyPr>
            <a:spAutoFit/>
          </a:bodyPr>
          <a:p>
            <a:pPr eaLnBrk="0" hangingPunct="0">
              <a:spcBef>
                <a:spcPct val="50000"/>
              </a:spcBef>
            </a:pPr>
            <a:r>
              <a:rPr lang="en-US" altLang="x-none" b="1" dirty="0">
                <a:solidFill>
                  <a:srgbClr val="CC3300"/>
                </a:solidFill>
                <a:latin typeface="Arial" panose="020B0604020202020204" pitchFamily="34" charset="0"/>
              </a:rPr>
              <a:t>There could be more than one tree that fits the same data!</a:t>
            </a:r>
            <a:endParaRPr lang="en-US" altLang="x-none" b="1" dirty="0">
              <a:solidFill>
                <a:srgbClr val="CC3300"/>
              </a:solidFill>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Decision Tree Classification Task</a:t>
            </a:r>
            <a:endParaRPr lang="en-US" altLang="x-none" sz="3200" b="1" dirty="0">
              <a:latin typeface="Times New Roman" panose="02020603050405020304" pitchFamily="18" charset="0"/>
              <a:ea typeface="Times New Roman" panose="02020603050405020304" pitchFamily="18" charset="0"/>
            </a:endParaRPr>
          </a:p>
        </p:txBody>
      </p:sp>
      <p:graphicFrame>
        <p:nvGraphicFramePr>
          <p:cNvPr id="7170" name="Object 3"/>
          <p:cNvGraphicFramePr>
            <a:graphicFrameLocks noChangeAspect="1"/>
          </p:cNvGraphicFramePr>
          <p:nvPr>
            <p:ph idx="1"/>
          </p:nvPr>
        </p:nvGraphicFramePr>
        <p:xfrm>
          <a:off x="1131888" y="1600200"/>
          <a:ext cx="6878637" cy="4530725"/>
        </p:xfrm>
        <a:graphic>
          <a:graphicData uri="http://schemas.openxmlformats.org/presentationml/2006/ole">
            <mc:AlternateContent xmlns:mc="http://schemas.openxmlformats.org/markup-compatibility/2006">
              <mc:Choice xmlns:v="urn:schemas-microsoft-com:vml" Requires="v">
                <p:oleObj spid="_x0000_s3078" name="" r:id="rId1" imgW="8506460" imgH="6339205" progId="Visio.Drawing.6">
                  <p:embed/>
                </p:oleObj>
              </mc:Choice>
              <mc:Fallback>
                <p:oleObj name="" r:id="rId1" imgW="8506460" imgH="6339205" progId="Visio.Drawing.6">
                  <p:embed/>
                  <p:pic>
                    <p:nvPicPr>
                      <p:cNvPr id="0" name="Picture 3077"/>
                      <p:cNvPicPr/>
                      <p:nvPr/>
                    </p:nvPicPr>
                    <p:blipFill>
                      <a:blip r:embed="rId2"/>
                      <a:srcRect/>
                      <a:stretch>
                        <a:fillRect/>
                      </a:stretch>
                    </p:blipFill>
                    <p:spPr>
                      <a:xfrm>
                        <a:off x="1131888" y="1600200"/>
                        <a:ext cx="6878637" cy="4530725"/>
                      </a:xfrm>
                      <a:prstGeom prst="rect">
                        <a:avLst/>
                      </a:prstGeom>
                      <a:noFill/>
                      <a:ln w="38100">
                        <a:miter/>
                      </a:ln>
                    </p:spPr>
                  </p:pic>
                </p:oleObj>
              </mc:Fallback>
            </mc:AlternateContent>
          </a:graphicData>
        </a:graphic>
      </p:graphicFrame>
      <p:sp>
        <p:nvSpPr>
          <p:cNvPr id="7172" name="Line 4"/>
          <p:cNvSpPr/>
          <p:nvPr/>
        </p:nvSpPr>
        <p:spPr>
          <a:xfrm flipH="1" flipV="1">
            <a:off x="6019800" y="4724400"/>
            <a:ext cx="0" cy="685800"/>
          </a:xfrm>
          <a:prstGeom prst="line">
            <a:avLst/>
          </a:prstGeom>
          <a:ln w="63500" cap="flat" cmpd="sng">
            <a:solidFill>
              <a:srgbClr val="FF0000"/>
            </a:solidFill>
            <a:prstDash val="solid"/>
            <a:headEnd type="none" w="med" len="med"/>
            <a:tailEnd type="triangle" w="med" len="med"/>
          </a:ln>
        </p:spPr>
      </p:sp>
      <p:sp>
        <p:nvSpPr>
          <p:cNvPr id="7173" name="Text Box 5"/>
          <p:cNvSpPr txBox="1"/>
          <p:nvPr/>
        </p:nvSpPr>
        <p:spPr>
          <a:xfrm>
            <a:off x="7086600" y="4114800"/>
            <a:ext cx="1219200" cy="517525"/>
          </a:xfrm>
          <a:prstGeom prst="rect">
            <a:avLst/>
          </a:prstGeom>
          <a:noFill/>
          <a:ln w="12700">
            <a:noFill/>
          </a:ln>
        </p:spPr>
        <p:txBody>
          <a:bodyPr>
            <a:spAutoFit/>
          </a:bodyPr>
          <a:p>
            <a:pPr eaLnBrk="0" hangingPunct="0">
              <a:spcBef>
                <a:spcPct val="50000"/>
              </a:spcBef>
            </a:pPr>
            <a:r>
              <a:rPr lang="en-US" altLang="x-none" sz="1400" b="1" dirty="0">
                <a:latin typeface="Arial" panose="020B0604020202020204" pitchFamily="34" charset="0"/>
              </a:rPr>
              <a:t>Decision Tree</a:t>
            </a:r>
            <a:endParaRPr lang="en-US" altLang="x-none" sz="1400" b="1" dirty="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Apply Model to Test Data</a:t>
            </a:r>
            <a:endParaRPr lang="en-US" altLang="x-none" sz="3200" b="1" dirty="0">
              <a:latin typeface="Times New Roman" panose="02020603050405020304" pitchFamily="18" charset="0"/>
              <a:ea typeface="Times New Roman" panose="02020603050405020304" pitchFamily="18" charset="0"/>
            </a:endParaRPr>
          </a:p>
        </p:txBody>
      </p:sp>
      <p:grpSp>
        <p:nvGrpSpPr>
          <p:cNvPr id="8196" name="Group 3"/>
          <p:cNvGrpSpPr/>
          <p:nvPr/>
        </p:nvGrpSpPr>
        <p:grpSpPr>
          <a:xfrm>
            <a:off x="685800" y="2797175"/>
            <a:ext cx="4267200" cy="3298825"/>
            <a:chOff x="384" y="1584"/>
            <a:chExt cx="2451" cy="1694"/>
          </a:xfrm>
        </p:grpSpPr>
        <p:sp>
          <p:nvSpPr>
            <p:cNvPr id="8200" name="Line 4"/>
            <p:cNvSpPr/>
            <p:nvPr/>
          </p:nvSpPr>
          <p:spPr>
            <a:xfrm>
              <a:off x="1655" y="2708"/>
              <a:ext cx="153" cy="332"/>
            </a:xfrm>
            <a:prstGeom prst="line">
              <a:avLst/>
            </a:prstGeom>
            <a:ln w="12700" cap="flat" cmpd="sng">
              <a:solidFill>
                <a:srgbClr val="000000"/>
              </a:solidFill>
              <a:prstDash val="solid"/>
              <a:headEnd type="none" w="med" len="med"/>
              <a:tailEnd type="triangle" w="med" len="med"/>
            </a:ln>
          </p:spPr>
        </p:sp>
        <p:sp>
          <p:nvSpPr>
            <p:cNvPr id="8201" name="Line 5"/>
            <p:cNvSpPr/>
            <p:nvPr/>
          </p:nvSpPr>
          <p:spPr>
            <a:xfrm flipH="1">
              <a:off x="943" y="2708"/>
              <a:ext cx="204" cy="332"/>
            </a:xfrm>
            <a:prstGeom prst="line">
              <a:avLst/>
            </a:prstGeom>
            <a:ln w="12700" cap="flat" cmpd="sng">
              <a:solidFill>
                <a:srgbClr val="000000"/>
              </a:solidFill>
              <a:prstDash val="solid"/>
              <a:headEnd type="none" w="med" len="med"/>
              <a:tailEnd type="triangle" w="med" len="med"/>
            </a:ln>
          </p:spPr>
        </p:sp>
        <p:sp>
          <p:nvSpPr>
            <p:cNvPr id="8202" name="Line 6"/>
            <p:cNvSpPr/>
            <p:nvPr/>
          </p:nvSpPr>
          <p:spPr>
            <a:xfrm flipH="1">
              <a:off x="1350" y="2208"/>
              <a:ext cx="254" cy="333"/>
            </a:xfrm>
            <a:prstGeom prst="line">
              <a:avLst/>
            </a:prstGeom>
            <a:ln w="12700" cap="flat" cmpd="sng">
              <a:solidFill>
                <a:srgbClr val="000000"/>
              </a:solidFill>
              <a:prstDash val="solid"/>
              <a:headEnd type="none" w="med" len="med"/>
              <a:tailEnd type="triangle" w="med" len="med"/>
            </a:ln>
          </p:spPr>
        </p:sp>
        <p:sp>
          <p:nvSpPr>
            <p:cNvPr id="8203" name="Line 7"/>
            <p:cNvSpPr/>
            <p:nvPr/>
          </p:nvSpPr>
          <p:spPr>
            <a:xfrm>
              <a:off x="2113" y="2208"/>
              <a:ext cx="305" cy="333"/>
            </a:xfrm>
            <a:prstGeom prst="line">
              <a:avLst/>
            </a:prstGeom>
            <a:ln w="12700" cap="flat" cmpd="sng">
              <a:solidFill>
                <a:srgbClr val="000000"/>
              </a:solidFill>
              <a:prstDash val="solid"/>
              <a:headEnd type="none" w="med" len="med"/>
              <a:tailEnd type="triangle" w="med" len="med"/>
            </a:ln>
          </p:spPr>
        </p:sp>
        <p:sp>
          <p:nvSpPr>
            <p:cNvPr id="8204" name="Line 8"/>
            <p:cNvSpPr/>
            <p:nvPr/>
          </p:nvSpPr>
          <p:spPr>
            <a:xfrm>
              <a:off x="1452" y="1750"/>
              <a:ext cx="356" cy="292"/>
            </a:xfrm>
            <a:prstGeom prst="line">
              <a:avLst/>
            </a:prstGeom>
            <a:ln w="12700" cap="flat" cmpd="sng">
              <a:solidFill>
                <a:srgbClr val="000000"/>
              </a:solidFill>
              <a:prstDash val="solid"/>
              <a:headEnd type="none" w="med" len="med"/>
              <a:tailEnd type="triangle" w="med" len="med"/>
            </a:ln>
          </p:spPr>
        </p:sp>
        <p:sp>
          <p:nvSpPr>
            <p:cNvPr id="8205" name="Line 9"/>
            <p:cNvSpPr/>
            <p:nvPr/>
          </p:nvSpPr>
          <p:spPr>
            <a:xfrm flipH="1">
              <a:off x="587" y="1750"/>
              <a:ext cx="356" cy="292"/>
            </a:xfrm>
            <a:prstGeom prst="line">
              <a:avLst/>
            </a:prstGeom>
            <a:ln w="12700" cap="flat" cmpd="sng">
              <a:solidFill>
                <a:srgbClr val="000000"/>
              </a:solidFill>
              <a:prstDash val="solid"/>
              <a:headEnd type="none" w="med" len="med"/>
              <a:tailEnd type="triangle" w="med" len="med"/>
            </a:ln>
          </p:spPr>
        </p:sp>
        <p:sp>
          <p:nvSpPr>
            <p:cNvPr id="8206" name="Text Box 10"/>
            <p:cNvSpPr txBox="1"/>
            <p:nvPr/>
          </p:nvSpPr>
          <p:spPr>
            <a:xfrm>
              <a:off x="913" y="1584"/>
              <a:ext cx="590" cy="179"/>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Refund</a:t>
              </a:r>
              <a:endParaRPr lang="en-US" altLang="x-none" sz="1600" dirty="0">
                <a:solidFill>
                  <a:schemeClr val="bg2"/>
                </a:solidFill>
                <a:latin typeface="Arial" panose="020B0604020202020204" pitchFamily="34" charset="0"/>
              </a:endParaRPr>
            </a:p>
          </p:txBody>
        </p:sp>
        <p:sp>
          <p:nvSpPr>
            <p:cNvPr id="8207" name="Text Box 11"/>
            <p:cNvSpPr txBox="1"/>
            <p:nvPr/>
          </p:nvSpPr>
          <p:spPr>
            <a:xfrm>
              <a:off x="1553" y="2042"/>
              <a:ext cx="589" cy="179"/>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MarSt</a:t>
              </a:r>
              <a:endParaRPr lang="en-US" altLang="x-none" sz="1600" dirty="0">
                <a:solidFill>
                  <a:schemeClr val="bg2"/>
                </a:solidFill>
                <a:latin typeface="Arial" panose="020B0604020202020204" pitchFamily="34" charset="0"/>
              </a:endParaRPr>
            </a:p>
          </p:txBody>
        </p:sp>
        <p:sp>
          <p:nvSpPr>
            <p:cNvPr id="8208" name="Text Box 12"/>
            <p:cNvSpPr txBox="1"/>
            <p:nvPr/>
          </p:nvSpPr>
          <p:spPr>
            <a:xfrm>
              <a:off x="1096" y="2541"/>
              <a:ext cx="610" cy="179"/>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TaxInc</a:t>
              </a:r>
              <a:endParaRPr lang="en-US" altLang="x-none" sz="1600" dirty="0">
                <a:solidFill>
                  <a:schemeClr val="bg2"/>
                </a:solidFill>
                <a:latin typeface="Arial" panose="020B0604020202020204" pitchFamily="34" charset="0"/>
              </a:endParaRPr>
            </a:p>
          </p:txBody>
        </p:sp>
        <p:sp>
          <p:nvSpPr>
            <p:cNvPr id="8209" name="AutoShape 13"/>
            <p:cNvSpPr/>
            <p:nvPr/>
          </p:nvSpPr>
          <p:spPr>
            <a:xfrm>
              <a:off x="1680" y="3038"/>
              <a:ext cx="395" cy="231"/>
            </a:xfrm>
            <a:prstGeom prst="roundRect">
              <a:avLst>
                <a:gd name="adj" fmla="val 16769"/>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8210" name="Text Box 14"/>
            <p:cNvSpPr txBox="1"/>
            <p:nvPr/>
          </p:nvSpPr>
          <p:spPr>
            <a:xfrm>
              <a:off x="1632" y="3038"/>
              <a:ext cx="432" cy="173"/>
            </a:xfrm>
            <a:prstGeom prst="rect">
              <a:avLst/>
            </a:prstGeom>
            <a:noFill/>
            <a:ln w="12700">
              <a:noFill/>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8211" name="AutoShape 15"/>
            <p:cNvSpPr/>
            <p:nvPr/>
          </p:nvSpPr>
          <p:spPr>
            <a:xfrm>
              <a:off x="740" y="3049"/>
              <a:ext cx="412" cy="229"/>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8212" name="Text Box 16"/>
            <p:cNvSpPr txBox="1"/>
            <p:nvPr/>
          </p:nvSpPr>
          <p:spPr>
            <a:xfrm>
              <a:off x="814" y="3040"/>
              <a:ext cx="281" cy="173"/>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8213" name="AutoShape 17"/>
            <p:cNvSpPr/>
            <p:nvPr/>
          </p:nvSpPr>
          <p:spPr>
            <a:xfrm>
              <a:off x="384" y="2051"/>
              <a:ext cx="432" cy="219"/>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8214" name="Text Box 18"/>
            <p:cNvSpPr txBox="1"/>
            <p:nvPr/>
          </p:nvSpPr>
          <p:spPr>
            <a:xfrm>
              <a:off x="458" y="2042"/>
              <a:ext cx="281" cy="173"/>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rgbClr val="00FFFF"/>
                </a:solidFill>
                <a:latin typeface="Arial" panose="020B0604020202020204" pitchFamily="34" charset="0"/>
              </a:endParaRPr>
            </a:p>
          </p:txBody>
        </p:sp>
        <p:sp>
          <p:nvSpPr>
            <p:cNvPr id="8215" name="AutoShape 19"/>
            <p:cNvSpPr/>
            <p:nvPr/>
          </p:nvSpPr>
          <p:spPr>
            <a:xfrm>
              <a:off x="2208" y="2558"/>
              <a:ext cx="432" cy="240"/>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8216" name="Text Box 20"/>
            <p:cNvSpPr txBox="1"/>
            <p:nvPr/>
          </p:nvSpPr>
          <p:spPr>
            <a:xfrm>
              <a:off x="2270" y="2558"/>
              <a:ext cx="281" cy="173"/>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8217" name="Text Box 21"/>
            <p:cNvSpPr txBox="1"/>
            <p:nvPr/>
          </p:nvSpPr>
          <p:spPr>
            <a:xfrm>
              <a:off x="484" y="1750"/>
              <a:ext cx="307" cy="173"/>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8218" name="Text Box 22"/>
            <p:cNvSpPr txBox="1"/>
            <p:nvPr/>
          </p:nvSpPr>
          <p:spPr>
            <a:xfrm>
              <a:off x="1654" y="1750"/>
              <a:ext cx="255" cy="173"/>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8219" name="Text Box 23"/>
            <p:cNvSpPr txBox="1"/>
            <p:nvPr/>
          </p:nvSpPr>
          <p:spPr>
            <a:xfrm>
              <a:off x="2301" y="2232"/>
              <a:ext cx="534" cy="173"/>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Married</a:t>
              </a:r>
              <a:r>
                <a:rPr lang="en-US" altLang="x-none" sz="1600" dirty="0">
                  <a:solidFill>
                    <a:schemeClr val="bg2"/>
                  </a:solidFill>
                  <a:latin typeface="Arial" panose="020B0604020202020204" pitchFamily="34" charset="0"/>
                </a:rPr>
                <a:t> </a:t>
              </a:r>
              <a:endParaRPr lang="en-US" altLang="x-none" sz="1600" dirty="0">
                <a:solidFill>
                  <a:schemeClr val="bg2"/>
                </a:solidFill>
                <a:latin typeface="Arial" panose="020B0604020202020204" pitchFamily="34" charset="0"/>
              </a:endParaRPr>
            </a:p>
          </p:txBody>
        </p:sp>
        <p:sp>
          <p:nvSpPr>
            <p:cNvPr id="8220" name="Text Box 24"/>
            <p:cNvSpPr txBox="1"/>
            <p:nvPr/>
          </p:nvSpPr>
          <p:spPr>
            <a:xfrm>
              <a:off x="945" y="2250"/>
              <a:ext cx="954" cy="173"/>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Single, Divorced</a:t>
              </a:r>
              <a:endParaRPr lang="en-US" altLang="x-none" sz="1600" dirty="0">
                <a:solidFill>
                  <a:schemeClr val="bg2"/>
                </a:solidFill>
                <a:latin typeface="Arial" panose="020B0604020202020204" pitchFamily="34" charset="0"/>
              </a:endParaRPr>
            </a:p>
          </p:txBody>
        </p:sp>
        <p:sp>
          <p:nvSpPr>
            <p:cNvPr id="8221" name="Text Box 25"/>
            <p:cNvSpPr txBox="1"/>
            <p:nvPr/>
          </p:nvSpPr>
          <p:spPr>
            <a:xfrm>
              <a:off x="654" y="2749"/>
              <a:ext cx="414" cy="173"/>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&lt; 80K</a:t>
              </a:r>
              <a:endParaRPr lang="en-US" altLang="x-none" sz="1600" dirty="0">
                <a:solidFill>
                  <a:schemeClr val="bg2"/>
                </a:solidFill>
                <a:latin typeface="Arial" panose="020B0604020202020204" pitchFamily="34" charset="0"/>
              </a:endParaRPr>
            </a:p>
          </p:txBody>
        </p:sp>
        <p:sp>
          <p:nvSpPr>
            <p:cNvPr id="8222" name="Text Box 26"/>
            <p:cNvSpPr txBox="1"/>
            <p:nvPr/>
          </p:nvSpPr>
          <p:spPr>
            <a:xfrm>
              <a:off x="1772" y="2749"/>
              <a:ext cx="414" cy="173"/>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&gt; 80K</a:t>
              </a:r>
              <a:endParaRPr lang="en-US" altLang="x-none" sz="1600" dirty="0">
                <a:solidFill>
                  <a:schemeClr val="bg2"/>
                </a:solidFill>
                <a:latin typeface="Arial" panose="020B0604020202020204" pitchFamily="34" charset="0"/>
              </a:endParaRPr>
            </a:p>
          </p:txBody>
        </p:sp>
      </p:grpSp>
      <p:graphicFrame>
        <p:nvGraphicFramePr>
          <p:cNvPr id="8194" name="Object 27"/>
          <p:cNvGraphicFramePr>
            <a:graphicFrameLocks noChangeAspect="1"/>
          </p:cNvGraphicFramePr>
          <p:nvPr/>
        </p:nvGraphicFramePr>
        <p:xfrm>
          <a:off x="4953000" y="2035175"/>
          <a:ext cx="3343275" cy="1133475"/>
        </p:xfrm>
        <a:graphic>
          <a:graphicData uri="http://schemas.openxmlformats.org/presentationml/2006/ole">
            <mc:AlternateContent xmlns:mc="http://schemas.openxmlformats.org/markup-compatibility/2006">
              <mc:Choice xmlns:v="urn:schemas-microsoft-com:vml" Requires="v">
                <p:oleObj spid="_x0000_s3079" name="" r:id="rId1" imgW="4651375" imgH="1576070" progId="Word.Document.8">
                  <p:embed/>
                </p:oleObj>
              </mc:Choice>
              <mc:Fallback>
                <p:oleObj name="" r:id="rId1" imgW="4651375" imgH="1576070" progId="Word.Document.8">
                  <p:embed/>
                  <p:pic>
                    <p:nvPicPr>
                      <p:cNvPr id="0" name="Picture 3078"/>
                      <p:cNvPicPr/>
                      <p:nvPr/>
                    </p:nvPicPr>
                    <p:blipFill>
                      <a:blip r:embed="rId2"/>
                      <a:stretch>
                        <a:fillRect/>
                      </a:stretch>
                    </p:blipFill>
                    <p:spPr>
                      <a:xfrm>
                        <a:off x="4953000" y="2035175"/>
                        <a:ext cx="3343275" cy="1133475"/>
                      </a:xfrm>
                      <a:prstGeom prst="rect">
                        <a:avLst/>
                      </a:prstGeom>
                      <a:noFill/>
                      <a:ln w="38100">
                        <a:noFill/>
                        <a:miter/>
                      </a:ln>
                    </p:spPr>
                  </p:pic>
                </p:oleObj>
              </mc:Fallback>
            </mc:AlternateContent>
          </a:graphicData>
        </a:graphic>
      </p:graphicFrame>
      <p:sp>
        <p:nvSpPr>
          <p:cNvPr id="8197" name="Text Box 28"/>
          <p:cNvSpPr txBox="1"/>
          <p:nvPr/>
        </p:nvSpPr>
        <p:spPr>
          <a:xfrm>
            <a:off x="4800600" y="1577975"/>
            <a:ext cx="1600200" cy="336550"/>
          </a:xfrm>
          <a:prstGeom prst="rect">
            <a:avLst/>
          </a:prstGeom>
          <a:noFill/>
          <a:ln w="12700">
            <a:noFill/>
          </a:ln>
        </p:spPr>
        <p:txBody>
          <a:bodyPr>
            <a:spAutoFit/>
          </a:bodyPr>
          <a:p>
            <a:pPr marL="342900" indent="-342900" algn="ctr" eaLnBrk="0" hangingPunct="0">
              <a:lnSpc>
                <a:spcPct val="80000"/>
              </a:lnSpc>
              <a:spcBef>
                <a:spcPct val="20000"/>
              </a:spcBef>
              <a:buClr>
                <a:schemeClr val="accent2"/>
              </a:buClr>
              <a:buSzPct val="75000"/>
              <a:buFont typeface="Monotype Sorts" charset="2"/>
            </a:pPr>
            <a:r>
              <a:rPr lang="en-US" altLang="x-none" sz="2000" b="1" dirty="0">
                <a:solidFill>
                  <a:schemeClr val="tx2"/>
                </a:solidFill>
                <a:latin typeface="Arial" panose="020B0604020202020204" pitchFamily="34" charset="0"/>
              </a:rPr>
              <a:t>Test Data</a:t>
            </a:r>
            <a:endParaRPr lang="en-US" altLang="x-none" sz="2000" dirty="0">
              <a:solidFill>
                <a:schemeClr val="bg2"/>
              </a:solidFill>
              <a:latin typeface="Arial" panose="020B0604020202020204" pitchFamily="34" charset="0"/>
            </a:endParaRPr>
          </a:p>
        </p:txBody>
      </p:sp>
      <p:sp>
        <p:nvSpPr>
          <p:cNvPr id="8198" name="Text Box 29"/>
          <p:cNvSpPr txBox="1"/>
          <p:nvPr/>
        </p:nvSpPr>
        <p:spPr>
          <a:xfrm>
            <a:off x="990600" y="1882775"/>
            <a:ext cx="3429000" cy="336550"/>
          </a:xfrm>
          <a:prstGeom prst="rect">
            <a:avLst/>
          </a:prstGeom>
          <a:noFill/>
          <a:ln w="12700">
            <a:noFill/>
          </a:ln>
        </p:spPr>
        <p:txBody>
          <a:bodyPr>
            <a:spAutoFit/>
          </a:bodyPr>
          <a:p>
            <a:pPr marL="342900" indent="-342900" eaLnBrk="0" hangingPunct="0">
              <a:lnSpc>
                <a:spcPct val="80000"/>
              </a:lnSpc>
              <a:spcBef>
                <a:spcPct val="20000"/>
              </a:spcBef>
              <a:buClr>
                <a:schemeClr val="accent2"/>
              </a:buClr>
              <a:buSzPct val="75000"/>
              <a:buFont typeface="Monotype Sorts" charset="2"/>
            </a:pPr>
            <a:r>
              <a:rPr lang="en-US" altLang="x-none" sz="2000" dirty="0">
                <a:latin typeface="Arial" panose="020B0604020202020204" pitchFamily="34" charset="0"/>
              </a:rPr>
              <a:t>Start from the root of tree.</a:t>
            </a:r>
            <a:endParaRPr lang="en-US" altLang="x-none" sz="2000" dirty="0">
              <a:latin typeface="Arial" panose="020B0604020202020204" pitchFamily="34" charset="0"/>
            </a:endParaRPr>
          </a:p>
        </p:txBody>
      </p:sp>
      <p:sp>
        <p:nvSpPr>
          <p:cNvPr id="8199" name="Line 30"/>
          <p:cNvSpPr/>
          <p:nvPr/>
        </p:nvSpPr>
        <p:spPr>
          <a:xfrm>
            <a:off x="2133600" y="2263775"/>
            <a:ext cx="0" cy="457200"/>
          </a:xfrm>
          <a:prstGeom prst="line">
            <a:avLst/>
          </a:prstGeom>
          <a:ln w="15875" cap="flat" cmpd="sng">
            <a:solidFill>
              <a:srgbClr val="FF0000"/>
            </a:solidFill>
            <a:prstDash val="dash"/>
            <a:headEnd type="none" w="med" len="med"/>
            <a:tailEnd type="triangle" w="med" len="me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Apply Model to Test Data</a:t>
            </a:r>
            <a:endParaRPr lang="en-US" altLang="x-none" sz="3200" b="1" dirty="0">
              <a:latin typeface="Times New Roman" panose="02020603050405020304" pitchFamily="18" charset="0"/>
              <a:ea typeface="Times New Roman" panose="02020603050405020304" pitchFamily="18" charset="0"/>
            </a:endParaRPr>
          </a:p>
        </p:txBody>
      </p:sp>
      <p:grpSp>
        <p:nvGrpSpPr>
          <p:cNvPr id="9220" name="Group 3"/>
          <p:cNvGrpSpPr/>
          <p:nvPr/>
        </p:nvGrpSpPr>
        <p:grpSpPr>
          <a:xfrm>
            <a:off x="685800" y="2797175"/>
            <a:ext cx="4267200" cy="3298825"/>
            <a:chOff x="384" y="1584"/>
            <a:chExt cx="2451" cy="1694"/>
          </a:xfrm>
        </p:grpSpPr>
        <p:sp>
          <p:nvSpPr>
            <p:cNvPr id="9223" name="Line 4"/>
            <p:cNvSpPr/>
            <p:nvPr/>
          </p:nvSpPr>
          <p:spPr>
            <a:xfrm>
              <a:off x="1655" y="2708"/>
              <a:ext cx="153" cy="332"/>
            </a:xfrm>
            <a:prstGeom prst="line">
              <a:avLst/>
            </a:prstGeom>
            <a:ln w="12700" cap="flat" cmpd="sng">
              <a:solidFill>
                <a:srgbClr val="000000"/>
              </a:solidFill>
              <a:prstDash val="solid"/>
              <a:headEnd type="none" w="med" len="med"/>
              <a:tailEnd type="triangle" w="med" len="med"/>
            </a:ln>
          </p:spPr>
        </p:sp>
        <p:sp>
          <p:nvSpPr>
            <p:cNvPr id="9224" name="Line 5"/>
            <p:cNvSpPr/>
            <p:nvPr/>
          </p:nvSpPr>
          <p:spPr>
            <a:xfrm flipH="1">
              <a:off x="943" y="2708"/>
              <a:ext cx="204" cy="332"/>
            </a:xfrm>
            <a:prstGeom prst="line">
              <a:avLst/>
            </a:prstGeom>
            <a:ln w="12700" cap="flat" cmpd="sng">
              <a:solidFill>
                <a:srgbClr val="000000"/>
              </a:solidFill>
              <a:prstDash val="solid"/>
              <a:headEnd type="none" w="med" len="med"/>
              <a:tailEnd type="triangle" w="med" len="med"/>
            </a:ln>
          </p:spPr>
        </p:sp>
        <p:sp>
          <p:nvSpPr>
            <p:cNvPr id="9225" name="Line 6"/>
            <p:cNvSpPr/>
            <p:nvPr/>
          </p:nvSpPr>
          <p:spPr>
            <a:xfrm flipH="1">
              <a:off x="1350" y="2208"/>
              <a:ext cx="254" cy="333"/>
            </a:xfrm>
            <a:prstGeom prst="line">
              <a:avLst/>
            </a:prstGeom>
            <a:ln w="12700" cap="flat" cmpd="sng">
              <a:solidFill>
                <a:srgbClr val="000000"/>
              </a:solidFill>
              <a:prstDash val="solid"/>
              <a:headEnd type="none" w="med" len="med"/>
              <a:tailEnd type="triangle" w="med" len="med"/>
            </a:ln>
          </p:spPr>
        </p:sp>
        <p:sp>
          <p:nvSpPr>
            <p:cNvPr id="9226" name="Line 7"/>
            <p:cNvSpPr/>
            <p:nvPr/>
          </p:nvSpPr>
          <p:spPr>
            <a:xfrm>
              <a:off x="2113" y="2208"/>
              <a:ext cx="305" cy="333"/>
            </a:xfrm>
            <a:prstGeom prst="line">
              <a:avLst/>
            </a:prstGeom>
            <a:ln w="12700" cap="flat" cmpd="sng">
              <a:solidFill>
                <a:srgbClr val="000000"/>
              </a:solidFill>
              <a:prstDash val="solid"/>
              <a:headEnd type="none" w="med" len="med"/>
              <a:tailEnd type="triangle" w="med" len="med"/>
            </a:ln>
          </p:spPr>
        </p:sp>
        <p:sp>
          <p:nvSpPr>
            <p:cNvPr id="9227" name="Line 8"/>
            <p:cNvSpPr/>
            <p:nvPr/>
          </p:nvSpPr>
          <p:spPr>
            <a:xfrm>
              <a:off x="1452" y="1750"/>
              <a:ext cx="356" cy="292"/>
            </a:xfrm>
            <a:prstGeom prst="line">
              <a:avLst/>
            </a:prstGeom>
            <a:ln w="12700" cap="flat" cmpd="sng">
              <a:solidFill>
                <a:srgbClr val="000000"/>
              </a:solidFill>
              <a:prstDash val="solid"/>
              <a:headEnd type="none" w="med" len="med"/>
              <a:tailEnd type="triangle" w="med" len="med"/>
            </a:ln>
          </p:spPr>
        </p:sp>
        <p:sp>
          <p:nvSpPr>
            <p:cNvPr id="9228" name="Line 9"/>
            <p:cNvSpPr/>
            <p:nvPr/>
          </p:nvSpPr>
          <p:spPr>
            <a:xfrm flipH="1">
              <a:off x="587" y="1750"/>
              <a:ext cx="356" cy="292"/>
            </a:xfrm>
            <a:prstGeom prst="line">
              <a:avLst/>
            </a:prstGeom>
            <a:ln w="12700" cap="flat" cmpd="sng">
              <a:solidFill>
                <a:srgbClr val="000000"/>
              </a:solidFill>
              <a:prstDash val="solid"/>
              <a:headEnd type="none" w="med" len="med"/>
              <a:tailEnd type="triangle" w="med" len="med"/>
            </a:ln>
          </p:spPr>
        </p:sp>
        <p:sp>
          <p:nvSpPr>
            <p:cNvPr id="9229" name="Text Box 10"/>
            <p:cNvSpPr txBox="1"/>
            <p:nvPr/>
          </p:nvSpPr>
          <p:spPr>
            <a:xfrm>
              <a:off x="913" y="1584"/>
              <a:ext cx="590" cy="179"/>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Refund</a:t>
              </a:r>
              <a:endParaRPr lang="en-US" altLang="x-none" sz="1600" dirty="0">
                <a:solidFill>
                  <a:schemeClr val="bg2"/>
                </a:solidFill>
                <a:latin typeface="Arial" panose="020B0604020202020204" pitchFamily="34" charset="0"/>
              </a:endParaRPr>
            </a:p>
          </p:txBody>
        </p:sp>
        <p:sp>
          <p:nvSpPr>
            <p:cNvPr id="9230" name="Text Box 11"/>
            <p:cNvSpPr txBox="1"/>
            <p:nvPr/>
          </p:nvSpPr>
          <p:spPr>
            <a:xfrm>
              <a:off x="1553" y="2042"/>
              <a:ext cx="589" cy="179"/>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MarSt</a:t>
              </a:r>
              <a:endParaRPr lang="en-US" altLang="x-none" sz="1600" dirty="0">
                <a:solidFill>
                  <a:schemeClr val="bg2"/>
                </a:solidFill>
                <a:latin typeface="Arial" panose="020B0604020202020204" pitchFamily="34" charset="0"/>
              </a:endParaRPr>
            </a:p>
          </p:txBody>
        </p:sp>
        <p:sp>
          <p:nvSpPr>
            <p:cNvPr id="9231" name="Text Box 12"/>
            <p:cNvSpPr txBox="1"/>
            <p:nvPr/>
          </p:nvSpPr>
          <p:spPr>
            <a:xfrm>
              <a:off x="1096" y="2541"/>
              <a:ext cx="610" cy="179"/>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TaxInc</a:t>
              </a:r>
              <a:endParaRPr lang="en-US" altLang="x-none" sz="1600" dirty="0">
                <a:solidFill>
                  <a:schemeClr val="bg2"/>
                </a:solidFill>
                <a:latin typeface="Arial" panose="020B0604020202020204" pitchFamily="34" charset="0"/>
              </a:endParaRPr>
            </a:p>
          </p:txBody>
        </p:sp>
        <p:sp>
          <p:nvSpPr>
            <p:cNvPr id="9232" name="AutoShape 13"/>
            <p:cNvSpPr/>
            <p:nvPr/>
          </p:nvSpPr>
          <p:spPr>
            <a:xfrm>
              <a:off x="1680" y="3038"/>
              <a:ext cx="395" cy="231"/>
            </a:xfrm>
            <a:prstGeom prst="roundRect">
              <a:avLst>
                <a:gd name="adj" fmla="val 16769"/>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9233" name="Text Box 14"/>
            <p:cNvSpPr txBox="1"/>
            <p:nvPr/>
          </p:nvSpPr>
          <p:spPr>
            <a:xfrm>
              <a:off x="1632" y="3038"/>
              <a:ext cx="432" cy="173"/>
            </a:xfrm>
            <a:prstGeom prst="rect">
              <a:avLst/>
            </a:prstGeom>
            <a:noFill/>
            <a:ln w="12700">
              <a:noFill/>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9234" name="AutoShape 15"/>
            <p:cNvSpPr/>
            <p:nvPr/>
          </p:nvSpPr>
          <p:spPr>
            <a:xfrm>
              <a:off x="740" y="3049"/>
              <a:ext cx="412" cy="229"/>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9235" name="Text Box 16"/>
            <p:cNvSpPr txBox="1"/>
            <p:nvPr/>
          </p:nvSpPr>
          <p:spPr>
            <a:xfrm>
              <a:off x="814" y="3040"/>
              <a:ext cx="281" cy="173"/>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9236" name="AutoShape 17"/>
            <p:cNvSpPr/>
            <p:nvPr/>
          </p:nvSpPr>
          <p:spPr>
            <a:xfrm>
              <a:off x="384" y="2051"/>
              <a:ext cx="432" cy="219"/>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9237" name="Text Box 18"/>
            <p:cNvSpPr txBox="1"/>
            <p:nvPr/>
          </p:nvSpPr>
          <p:spPr>
            <a:xfrm>
              <a:off x="458" y="2042"/>
              <a:ext cx="281" cy="173"/>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rgbClr val="00FFFF"/>
                </a:solidFill>
                <a:latin typeface="Arial" panose="020B0604020202020204" pitchFamily="34" charset="0"/>
              </a:endParaRPr>
            </a:p>
          </p:txBody>
        </p:sp>
        <p:sp>
          <p:nvSpPr>
            <p:cNvPr id="9238" name="AutoShape 19"/>
            <p:cNvSpPr/>
            <p:nvPr/>
          </p:nvSpPr>
          <p:spPr>
            <a:xfrm>
              <a:off x="2208" y="2558"/>
              <a:ext cx="432" cy="240"/>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9239" name="Text Box 20"/>
            <p:cNvSpPr txBox="1"/>
            <p:nvPr/>
          </p:nvSpPr>
          <p:spPr>
            <a:xfrm>
              <a:off x="2270" y="2558"/>
              <a:ext cx="281" cy="173"/>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9240" name="Text Box 21"/>
            <p:cNvSpPr txBox="1"/>
            <p:nvPr/>
          </p:nvSpPr>
          <p:spPr>
            <a:xfrm>
              <a:off x="484" y="1750"/>
              <a:ext cx="307" cy="173"/>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9241" name="Text Box 22"/>
            <p:cNvSpPr txBox="1"/>
            <p:nvPr/>
          </p:nvSpPr>
          <p:spPr>
            <a:xfrm>
              <a:off x="1654" y="1750"/>
              <a:ext cx="255" cy="173"/>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9242" name="Text Box 23"/>
            <p:cNvSpPr txBox="1"/>
            <p:nvPr/>
          </p:nvSpPr>
          <p:spPr>
            <a:xfrm>
              <a:off x="2301" y="2232"/>
              <a:ext cx="534" cy="173"/>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Married</a:t>
              </a:r>
              <a:r>
                <a:rPr lang="en-US" altLang="x-none" sz="1600" dirty="0">
                  <a:solidFill>
                    <a:schemeClr val="bg2"/>
                  </a:solidFill>
                  <a:latin typeface="Arial" panose="020B0604020202020204" pitchFamily="34" charset="0"/>
                </a:rPr>
                <a:t> </a:t>
              </a:r>
              <a:endParaRPr lang="en-US" altLang="x-none" sz="1600" dirty="0">
                <a:solidFill>
                  <a:schemeClr val="bg2"/>
                </a:solidFill>
                <a:latin typeface="Arial" panose="020B0604020202020204" pitchFamily="34" charset="0"/>
              </a:endParaRPr>
            </a:p>
          </p:txBody>
        </p:sp>
        <p:sp>
          <p:nvSpPr>
            <p:cNvPr id="9243" name="Text Box 24"/>
            <p:cNvSpPr txBox="1"/>
            <p:nvPr/>
          </p:nvSpPr>
          <p:spPr>
            <a:xfrm>
              <a:off x="945" y="2250"/>
              <a:ext cx="954" cy="173"/>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Single, Divorced</a:t>
              </a:r>
              <a:endParaRPr lang="en-US" altLang="x-none" sz="1600" dirty="0">
                <a:solidFill>
                  <a:schemeClr val="bg2"/>
                </a:solidFill>
                <a:latin typeface="Arial" panose="020B0604020202020204" pitchFamily="34" charset="0"/>
              </a:endParaRPr>
            </a:p>
          </p:txBody>
        </p:sp>
        <p:sp>
          <p:nvSpPr>
            <p:cNvPr id="9244" name="Text Box 25"/>
            <p:cNvSpPr txBox="1"/>
            <p:nvPr/>
          </p:nvSpPr>
          <p:spPr>
            <a:xfrm>
              <a:off x="654" y="2749"/>
              <a:ext cx="414" cy="173"/>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&lt; 80K</a:t>
              </a:r>
              <a:endParaRPr lang="en-US" altLang="x-none" sz="1600" dirty="0">
                <a:solidFill>
                  <a:schemeClr val="bg2"/>
                </a:solidFill>
                <a:latin typeface="Arial" panose="020B0604020202020204" pitchFamily="34" charset="0"/>
              </a:endParaRPr>
            </a:p>
          </p:txBody>
        </p:sp>
        <p:sp>
          <p:nvSpPr>
            <p:cNvPr id="9245" name="Text Box 26"/>
            <p:cNvSpPr txBox="1"/>
            <p:nvPr/>
          </p:nvSpPr>
          <p:spPr>
            <a:xfrm>
              <a:off x="1772" y="2749"/>
              <a:ext cx="414" cy="173"/>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&gt; 80K</a:t>
              </a:r>
              <a:endParaRPr lang="en-US" altLang="x-none" sz="1600" dirty="0">
                <a:solidFill>
                  <a:schemeClr val="bg2"/>
                </a:solidFill>
                <a:latin typeface="Arial" panose="020B0604020202020204" pitchFamily="34" charset="0"/>
              </a:endParaRPr>
            </a:p>
          </p:txBody>
        </p:sp>
      </p:grpSp>
      <p:graphicFrame>
        <p:nvGraphicFramePr>
          <p:cNvPr id="9218" name="Object 27"/>
          <p:cNvGraphicFramePr>
            <a:graphicFrameLocks noChangeAspect="1"/>
          </p:cNvGraphicFramePr>
          <p:nvPr/>
        </p:nvGraphicFramePr>
        <p:xfrm>
          <a:off x="4953000" y="2035175"/>
          <a:ext cx="3343275" cy="1133475"/>
        </p:xfrm>
        <a:graphic>
          <a:graphicData uri="http://schemas.openxmlformats.org/presentationml/2006/ole">
            <mc:AlternateContent xmlns:mc="http://schemas.openxmlformats.org/markup-compatibility/2006">
              <mc:Choice xmlns:v="urn:schemas-microsoft-com:vml" Requires="v">
                <p:oleObj spid="_x0000_s3080" name="" r:id="rId1" imgW="4651375" imgH="1576070" progId="Word.Document.8">
                  <p:embed/>
                </p:oleObj>
              </mc:Choice>
              <mc:Fallback>
                <p:oleObj name="" r:id="rId1" imgW="4651375" imgH="1576070" progId="Word.Document.8">
                  <p:embed/>
                  <p:pic>
                    <p:nvPicPr>
                      <p:cNvPr id="0" name="Picture 3079"/>
                      <p:cNvPicPr/>
                      <p:nvPr/>
                    </p:nvPicPr>
                    <p:blipFill>
                      <a:blip r:embed="rId2"/>
                      <a:stretch>
                        <a:fillRect/>
                      </a:stretch>
                    </p:blipFill>
                    <p:spPr>
                      <a:xfrm>
                        <a:off x="4953000" y="2035175"/>
                        <a:ext cx="3343275" cy="1133475"/>
                      </a:xfrm>
                      <a:prstGeom prst="rect">
                        <a:avLst/>
                      </a:prstGeom>
                      <a:noFill/>
                      <a:ln w="38100">
                        <a:noFill/>
                        <a:miter/>
                      </a:ln>
                    </p:spPr>
                  </p:pic>
                </p:oleObj>
              </mc:Fallback>
            </mc:AlternateContent>
          </a:graphicData>
        </a:graphic>
      </p:graphicFrame>
      <p:sp>
        <p:nvSpPr>
          <p:cNvPr id="9221" name="Text Box 28"/>
          <p:cNvSpPr txBox="1"/>
          <p:nvPr/>
        </p:nvSpPr>
        <p:spPr>
          <a:xfrm>
            <a:off x="4800600" y="1577975"/>
            <a:ext cx="1600200" cy="336550"/>
          </a:xfrm>
          <a:prstGeom prst="rect">
            <a:avLst/>
          </a:prstGeom>
          <a:noFill/>
          <a:ln w="12700">
            <a:noFill/>
          </a:ln>
        </p:spPr>
        <p:txBody>
          <a:bodyPr>
            <a:spAutoFit/>
          </a:bodyPr>
          <a:p>
            <a:pPr marL="342900" indent="-342900" algn="ctr" eaLnBrk="0" hangingPunct="0">
              <a:lnSpc>
                <a:spcPct val="80000"/>
              </a:lnSpc>
              <a:spcBef>
                <a:spcPct val="20000"/>
              </a:spcBef>
              <a:buClr>
                <a:schemeClr val="accent2"/>
              </a:buClr>
              <a:buSzPct val="75000"/>
              <a:buFont typeface="Monotype Sorts" charset="2"/>
            </a:pPr>
            <a:r>
              <a:rPr lang="en-US" altLang="x-none" sz="2000" b="1" dirty="0">
                <a:solidFill>
                  <a:schemeClr val="tx2"/>
                </a:solidFill>
                <a:latin typeface="Arial" panose="020B0604020202020204" pitchFamily="34" charset="0"/>
              </a:rPr>
              <a:t>Test Data</a:t>
            </a:r>
            <a:endParaRPr lang="en-US" altLang="x-none" sz="2000" dirty="0">
              <a:solidFill>
                <a:schemeClr val="bg2"/>
              </a:solidFill>
              <a:latin typeface="Arial" panose="020B0604020202020204" pitchFamily="34" charset="0"/>
            </a:endParaRPr>
          </a:p>
        </p:txBody>
      </p:sp>
      <p:sp>
        <p:nvSpPr>
          <p:cNvPr id="9222" name="Line 29"/>
          <p:cNvSpPr/>
          <p:nvPr/>
        </p:nvSpPr>
        <p:spPr>
          <a:xfrm flipH="1">
            <a:off x="2667000" y="2263775"/>
            <a:ext cx="2362200" cy="685800"/>
          </a:xfrm>
          <a:prstGeom prst="line">
            <a:avLst/>
          </a:prstGeom>
          <a:ln w="15875" cap="flat" cmpd="sng">
            <a:solidFill>
              <a:srgbClr val="FF0000"/>
            </a:solidFill>
            <a:prstDash val="dash"/>
            <a:headEnd type="triangle" w="med" len="med"/>
            <a:tailEnd type="none" w="med" len="me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Apply Model to Test Data</a:t>
            </a:r>
            <a:endParaRPr lang="en-US" altLang="x-none" sz="3200" b="1" dirty="0">
              <a:latin typeface="Times New Roman" panose="02020603050405020304" pitchFamily="18" charset="0"/>
              <a:ea typeface="Times New Roman" panose="02020603050405020304" pitchFamily="18" charset="0"/>
            </a:endParaRPr>
          </a:p>
        </p:txBody>
      </p:sp>
      <p:sp>
        <p:nvSpPr>
          <p:cNvPr id="10244" name="Line 3"/>
          <p:cNvSpPr/>
          <p:nvPr/>
        </p:nvSpPr>
        <p:spPr>
          <a:xfrm>
            <a:off x="2898775" y="4932363"/>
            <a:ext cx="266700" cy="646112"/>
          </a:xfrm>
          <a:prstGeom prst="line">
            <a:avLst/>
          </a:prstGeom>
          <a:ln w="12700" cap="flat" cmpd="sng">
            <a:solidFill>
              <a:srgbClr val="000000"/>
            </a:solidFill>
            <a:prstDash val="solid"/>
            <a:headEnd type="none" w="med" len="med"/>
            <a:tailEnd type="triangle" w="med" len="med"/>
          </a:ln>
        </p:spPr>
      </p:sp>
      <p:sp>
        <p:nvSpPr>
          <p:cNvPr id="10245" name="Line 4"/>
          <p:cNvSpPr/>
          <p:nvPr/>
        </p:nvSpPr>
        <p:spPr>
          <a:xfrm flipH="1">
            <a:off x="1658938" y="4932363"/>
            <a:ext cx="355600" cy="646112"/>
          </a:xfrm>
          <a:prstGeom prst="line">
            <a:avLst/>
          </a:prstGeom>
          <a:ln w="12700" cap="flat" cmpd="sng">
            <a:solidFill>
              <a:srgbClr val="000000"/>
            </a:solidFill>
            <a:prstDash val="solid"/>
            <a:headEnd type="none" w="med" len="med"/>
            <a:tailEnd type="triangle" w="med" len="med"/>
          </a:ln>
        </p:spPr>
      </p:sp>
      <p:sp>
        <p:nvSpPr>
          <p:cNvPr id="10246" name="Line 5"/>
          <p:cNvSpPr/>
          <p:nvPr/>
        </p:nvSpPr>
        <p:spPr>
          <a:xfrm flipH="1">
            <a:off x="2366963" y="3957638"/>
            <a:ext cx="442912" cy="649287"/>
          </a:xfrm>
          <a:prstGeom prst="line">
            <a:avLst/>
          </a:prstGeom>
          <a:ln w="12700" cap="flat" cmpd="sng">
            <a:solidFill>
              <a:srgbClr val="000000"/>
            </a:solidFill>
            <a:prstDash val="solid"/>
            <a:headEnd type="none" w="med" len="med"/>
            <a:tailEnd type="triangle" w="med" len="med"/>
          </a:ln>
        </p:spPr>
      </p:sp>
      <p:sp>
        <p:nvSpPr>
          <p:cNvPr id="10247" name="Line 6"/>
          <p:cNvSpPr/>
          <p:nvPr/>
        </p:nvSpPr>
        <p:spPr>
          <a:xfrm>
            <a:off x="3695700" y="3957638"/>
            <a:ext cx="531813" cy="649287"/>
          </a:xfrm>
          <a:prstGeom prst="line">
            <a:avLst/>
          </a:prstGeom>
          <a:ln w="12700" cap="flat" cmpd="sng">
            <a:solidFill>
              <a:srgbClr val="000000"/>
            </a:solidFill>
            <a:prstDash val="solid"/>
            <a:headEnd type="none" w="med" len="med"/>
            <a:tailEnd type="triangle" w="med" len="med"/>
          </a:ln>
        </p:spPr>
      </p:sp>
      <p:sp>
        <p:nvSpPr>
          <p:cNvPr id="10248" name="Line 7"/>
          <p:cNvSpPr/>
          <p:nvPr/>
        </p:nvSpPr>
        <p:spPr>
          <a:xfrm>
            <a:off x="2544763" y="3067050"/>
            <a:ext cx="620712" cy="568325"/>
          </a:xfrm>
          <a:prstGeom prst="line">
            <a:avLst/>
          </a:prstGeom>
          <a:ln w="38100" cap="flat" cmpd="sng">
            <a:solidFill>
              <a:srgbClr val="FF0000"/>
            </a:solidFill>
            <a:prstDash val="solid"/>
            <a:headEnd type="none" w="med" len="med"/>
            <a:tailEnd type="triangle" w="med" len="med"/>
          </a:ln>
        </p:spPr>
      </p:sp>
      <p:sp>
        <p:nvSpPr>
          <p:cNvPr id="10249" name="Line 8"/>
          <p:cNvSpPr/>
          <p:nvPr/>
        </p:nvSpPr>
        <p:spPr>
          <a:xfrm flipH="1">
            <a:off x="1039813" y="3067050"/>
            <a:ext cx="619125" cy="568325"/>
          </a:xfrm>
          <a:prstGeom prst="line">
            <a:avLst/>
          </a:prstGeom>
          <a:ln w="12700" cap="flat" cmpd="sng">
            <a:solidFill>
              <a:srgbClr val="000000"/>
            </a:solidFill>
            <a:prstDash val="solid"/>
            <a:headEnd type="none" w="med" len="med"/>
            <a:tailEnd type="triangle" w="med" len="med"/>
          </a:ln>
        </p:spPr>
      </p:sp>
      <p:sp>
        <p:nvSpPr>
          <p:cNvPr id="10250" name="Text Box 9"/>
          <p:cNvSpPr txBox="1"/>
          <p:nvPr/>
        </p:nvSpPr>
        <p:spPr>
          <a:xfrm>
            <a:off x="1606550" y="2743200"/>
            <a:ext cx="1027113" cy="349250"/>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Refund</a:t>
            </a:r>
            <a:endParaRPr lang="en-US" altLang="x-none" sz="1600" dirty="0">
              <a:solidFill>
                <a:schemeClr val="bg2"/>
              </a:solidFill>
              <a:latin typeface="Arial" panose="020B0604020202020204" pitchFamily="34" charset="0"/>
            </a:endParaRPr>
          </a:p>
        </p:txBody>
      </p:sp>
      <p:sp>
        <p:nvSpPr>
          <p:cNvPr id="10251" name="Text Box 10"/>
          <p:cNvSpPr txBox="1"/>
          <p:nvPr/>
        </p:nvSpPr>
        <p:spPr>
          <a:xfrm>
            <a:off x="2720975" y="3635375"/>
            <a:ext cx="1025525" cy="347663"/>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MarSt</a:t>
            </a:r>
            <a:endParaRPr lang="en-US" altLang="x-none" sz="1600" dirty="0">
              <a:solidFill>
                <a:schemeClr val="bg2"/>
              </a:solidFill>
              <a:latin typeface="Arial" panose="020B0604020202020204" pitchFamily="34" charset="0"/>
            </a:endParaRPr>
          </a:p>
        </p:txBody>
      </p:sp>
      <p:sp>
        <p:nvSpPr>
          <p:cNvPr id="10252" name="Text Box 11"/>
          <p:cNvSpPr txBox="1"/>
          <p:nvPr/>
        </p:nvSpPr>
        <p:spPr>
          <a:xfrm>
            <a:off x="1925638" y="4606925"/>
            <a:ext cx="1062037" cy="349250"/>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TaxInc</a:t>
            </a:r>
            <a:endParaRPr lang="en-US" altLang="x-none" sz="1600" dirty="0">
              <a:solidFill>
                <a:schemeClr val="bg2"/>
              </a:solidFill>
              <a:latin typeface="Arial" panose="020B0604020202020204" pitchFamily="34" charset="0"/>
            </a:endParaRPr>
          </a:p>
        </p:txBody>
      </p:sp>
      <p:sp>
        <p:nvSpPr>
          <p:cNvPr id="10253" name="AutoShape 12"/>
          <p:cNvSpPr/>
          <p:nvPr/>
        </p:nvSpPr>
        <p:spPr>
          <a:xfrm>
            <a:off x="2941638" y="5575300"/>
            <a:ext cx="688975" cy="449263"/>
          </a:xfrm>
          <a:prstGeom prst="roundRect">
            <a:avLst>
              <a:gd name="adj" fmla="val 16769"/>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0254" name="Text Box 13"/>
          <p:cNvSpPr txBox="1"/>
          <p:nvPr/>
        </p:nvSpPr>
        <p:spPr>
          <a:xfrm>
            <a:off x="2859088" y="5575300"/>
            <a:ext cx="750887" cy="336550"/>
          </a:xfrm>
          <a:prstGeom prst="rect">
            <a:avLst/>
          </a:prstGeom>
          <a:noFill/>
          <a:ln w="12700">
            <a:noFill/>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10255" name="AutoShape 14"/>
          <p:cNvSpPr/>
          <p:nvPr/>
        </p:nvSpPr>
        <p:spPr>
          <a:xfrm>
            <a:off x="1304925" y="5595938"/>
            <a:ext cx="717550" cy="446087"/>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0256" name="Text Box 15"/>
          <p:cNvSpPr txBox="1"/>
          <p:nvPr/>
        </p:nvSpPr>
        <p:spPr>
          <a:xfrm>
            <a:off x="1435100" y="5578475"/>
            <a:ext cx="48895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10257" name="AutoShape 16"/>
          <p:cNvSpPr/>
          <p:nvPr/>
        </p:nvSpPr>
        <p:spPr>
          <a:xfrm>
            <a:off x="685800" y="3652838"/>
            <a:ext cx="752475" cy="427037"/>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0258" name="Text Box 17"/>
          <p:cNvSpPr txBox="1"/>
          <p:nvPr/>
        </p:nvSpPr>
        <p:spPr>
          <a:xfrm>
            <a:off x="814388" y="3635375"/>
            <a:ext cx="48895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rgbClr val="00FFFF"/>
              </a:solidFill>
              <a:latin typeface="Arial" panose="020B0604020202020204" pitchFamily="34" charset="0"/>
            </a:endParaRPr>
          </a:p>
        </p:txBody>
      </p:sp>
      <p:sp>
        <p:nvSpPr>
          <p:cNvPr id="10259" name="AutoShape 18"/>
          <p:cNvSpPr/>
          <p:nvPr/>
        </p:nvSpPr>
        <p:spPr>
          <a:xfrm>
            <a:off x="3860800" y="4640263"/>
            <a:ext cx="752475" cy="466725"/>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0260" name="Text Box 19"/>
          <p:cNvSpPr txBox="1"/>
          <p:nvPr/>
        </p:nvSpPr>
        <p:spPr>
          <a:xfrm>
            <a:off x="3968750" y="4640263"/>
            <a:ext cx="490538"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10261" name="Text Box 20"/>
          <p:cNvSpPr txBox="1"/>
          <p:nvPr/>
        </p:nvSpPr>
        <p:spPr>
          <a:xfrm>
            <a:off x="860425" y="3067050"/>
            <a:ext cx="533400"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10262" name="Text Box 21"/>
          <p:cNvSpPr txBox="1"/>
          <p:nvPr/>
        </p:nvSpPr>
        <p:spPr>
          <a:xfrm>
            <a:off x="2897188" y="3067050"/>
            <a:ext cx="442912"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solidFill>
                  <a:srgbClr val="FF0000"/>
                </a:solidFill>
                <a:latin typeface="Arial" panose="020B0604020202020204" pitchFamily="34" charset="0"/>
              </a:rPr>
              <a:t>No</a:t>
            </a:r>
            <a:endParaRPr lang="en-US" altLang="x-none" sz="1600" dirty="0">
              <a:solidFill>
                <a:srgbClr val="FF0000"/>
              </a:solidFill>
              <a:latin typeface="Arial" panose="020B0604020202020204" pitchFamily="34" charset="0"/>
            </a:endParaRPr>
          </a:p>
        </p:txBody>
      </p:sp>
      <p:sp>
        <p:nvSpPr>
          <p:cNvPr id="10263" name="Text Box 22"/>
          <p:cNvSpPr txBox="1"/>
          <p:nvPr/>
        </p:nvSpPr>
        <p:spPr>
          <a:xfrm>
            <a:off x="4022725" y="4005263"/>
            <a:ext cx="93027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Married</a:t>
            </a:r>
            <a:r>
              <a:rPr lang="en-US" altLang="x-none" sz="1600" dirty="0">
                <a:solidFill>
                  <a:schemeClr val="bg2"/>
                </a:solidFill>
                <a:latin typeface="Arial" panose="020B0604020202020204" pitchFamily="34" charset="0"/>
              </a:rPr>
              <a:t> </a:t>
            </a:r>
            <a:endParaRPr lang="en-US" altLang="x-none" sz="1600" dirty="0">
              <a:solidFill>
                <a:schemeClr val="bg2"/>
              </a:solidFill>
              <a:latin typeface="Arial" panose="020B0604020202020204" pitchFamily="34" charset="0"/>
            </a:endParaRPr>
          </a:p>
        </p:txBody>
      </p:sp>
      <p:sp>
        <p:nvSpPr>
          <p:cNvPr id="10264" name="Text Box 23"/>
          <p:cNvSpPr txBox="1"/>
          <p:nvPr/>
        </p:nvSpPr>
        <p:spPr>
          <a:xfrm>
            <a:off x="1662113" y="4040188"/>
            <a:ext cx="16605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Single, Divorced</a:t>
            </a:r>
            <a:endParaRPr lang="en-US" altLang="x-none" sz="1600" dirty="0">
              <a:solidFill>
                <a:schemeClr val="bg2"/>
              </a:solidFill>
              <a:latin typeface="Arial" panose="020B0604020202020204" pitchFamily="34" charset="0"/>
            </a:endParaRPr>
          </a:p>
        </p:txBody>
      </p:sp>
      <p:sp>
        <p:nvSpPr>
          <p:cNvPr id="10265" name="Text Box 24"/>
          <p:cNvSpPr txBox="1"/>
          <p:nvPr/>
        </p:nvSpPr>
        <p:spPr>
          <a:xfrm>
            <a:off x="1155700" y="5011738"/>
            <a:ext cx="7207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&lt; 80K</a:t>
            </a:r>
            <a:endParaRPr lang="en-US" altLang="x-none" sz="1600" dirty="0">
              <a:solidFill>
                <a:schemeClr val="bg2"/>
              </a:solidFill>
              <a:latin typeface="Arial" panose="020B0604020202020204" pitchFamily="34" charset="0"/>
            </a:endParaRPr>
          </a:p>
        </p:txBody>
      </p:sp>
      <p:sp>
        <p:nvSpPr>
          <p:cNvPr id="10266" name="Text Box 25"/>
          <p:cNvSpPr txBox="1"/>
          <p:nvPr/>
        </p:nvSpPr>
        <p:spPr>
          <a:xfrm>
            <a:off x="3101975" y="5011738"/>
            <a:ext cx="7207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&gt; 80K</a:t>
            </a:r>
            <a:endParaRPr lang="en-US" altLang="x-none" sz="1600" dirty="0">
              <a:solidFill>
                <a:schemeClr val="bg2"/>
              </a:solidFill>
              <a:latin typeface="Arial" panose="020B0604020202020204" pitchFamily="34" charset="0"/>
            </a:endParaRPr>
          </a:p>
        </p:txBody>
      </p:sp>
      <p:graphicFrame>
        <p:nvGraphicFramePr>
          <p:cNvPr id="10242" name="Object 26"/>
          <p:cNvGraphicFramePr>
            <a:graphicFrameLocks noChangeAspect="1"/>
          </p:cNvGraphicFramePr>
          <p:nvPr/>
        </p:nvGraphicFramePr>
        <p:xfrm>
          <a:off x="4953000" y="1981200"/>
          <a:ext cx="3343275" cy="1133475"/>
        </p:xfrm>
        <a:graphic>
          <a:graphicData uri="http://schemas.openxmlformats.org/presentationml/2006/ole">
            <mc:AlternateContent xmlns:mc="http://schemas.openxmlformats.org/markup-compatibility/2006">
              <mc:Choice xmlns:v="urn:schemas-microsoft-com:vml" Requires="v">
                <p:oleObj spid="_x0000_s3081" name="" r:id="rId1" imgW="4651375" imgH="1576070" progId="Word.Document.8">
                  <p:embed/>
                </p:oleObj>
              </mc:Choice>
              <mc:Fallback>
                <p:oleObj name="" r:id="rId1" imgW="4651375" imgH="1576070" progId="Word.Document.8">
                  <p:embed/>
                  <p:pic>
                    <p:nvPicPr>
                      <p:cNvPr id="0" name="Picture 3080"/>
                      <p:cNvPicPr/>
                      <p:nvPr/>
                    </p:nvPicPr>
                    <p:blipFill>
                      <a:blip r:embed="rId2"/>
                      <a:stretch>
                        <a:fillRect/>
                      </a:stretch>
                    </p:blipFill>
                    <p:spPr>
                      <a:xfrm>
                        <a:off x="4953000" y="1981200"/>
                        <a:ext cx="3343275" cy="1133475"/>
                      </a:xfrm>
                      <a:prstGeom prst="rect">
                        <a:avLst/>
                      </a:prstGeom>
                      <a:noFill/>
                      <a:ln w="38100">
                        <a:noFill/>
                        <a:miter/>
                      </a:ln>
                    </p:spPr>
                  </p:pic>
                </p:oleObj>
              </mc:Fallback>
            </mc:AlternateContent>
          </a:graphicData>
        </a:graphic>
      </p:graphicFrame>
      <p:sp>
        <p:nvSpPr>
          <p:cNvPr id="10267" name="Text Box 27"/>
          <p:cNvSpPr txBox="1"/>
          <p:nvPr/>
        </p:nvSpPr>
        <p:spPr>
          <a:xfrm>
            <a:off x="4800600" y="1524000"/>
            <a:ext cx="1600200" cy="336550"/>
          </a:xfrm>
          <a:prstGeom prst="rect">
            <a:avLst/>
          </a:prstGeom>
          <a:noFill/>
          <a:ln w="12700">
            <a:noFill/>
          </a:ln>
        </p:spPr>
        <p:txBody>
          <a:bodyPr>
            <a:spAutoFit/>
          </a:bodyPr>
          <a:p>
            <a:pPr marL="342900" indent="-342900" algn="ctr" eaLnBrk="0" hangingPunct="0">
              <a:lnSpc>
                <a:spcPct val="80000"/>
              </a:lnSpc>
              <a:spcBef>
                <a:spcPct val="20000"/>
              </a:spcBef>
              <a:buClr>
                <a:schemeClr val="accent2"/>
              </a:buClr>
              <a:buSzPct val="75000"/>
              <a:buFont typeface="Monotype Sorts" charset="2"/>
            </a:pPr>
            <a:r>
              <a:rPr lang="en-US" altLang="x-none" sz="2000" b="1" dirty="0">
                <a:solidFill>
                  <a:schemeClr val="tx2"/>
                </a:solidFill>
                <a:latin typeface="Arial" panose="020B0604020202020204" pitchFamily="34" charset="0"/>
              </a:rPr>
              <a:t>Test Data</a:t>
            </a:r>
            <a:endParaRPr lang="en-US" altLang="x-none" sz="2000" dirty="0">
              <a:solidFill>
                <a:schemeClr val="bg2"/>
              </a:solidFill>
              <a:latin typeface="Arial" panose="020B0604020202020204" pitchFamily="34" charset="0"/>
            </a:endParaRPr>
          </a:p>
        </p:txBody>
      </p:sp>
      <p:sp>
        <p:nvSpPr>
          <p:cNvPr id="10268" name="Line 28"/>
          <p:cNvSpPr/>
          <p:nvPr/>
        </p:nvSpPr>
        <p:spPr>
          <a:xfrm flipH="1">
            <a:off x="3352800" y="2743200"/>
            <a:ext cx="1600200" cy="457200"/>
          </a:xfrm>
          <a:prstGeom prst="line">
            <a:avLst/>
          </a:prstGeom>
          <a:ln w="15875" cap="flat" cmpd="sng">
            <a:solidFill>
              <a:srgbClr val="FF0000"/>
            </a:solidFill>
            <a:prstDash val="dash"/>
            <a:headEnd type="triangle" w="med" len="med"/>
            <a:tailEnd type="triangle" w="med" len="me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Line 3"/>
          <p:cNvSpPr/>
          <p:nvPr/>
        </p:nvSpPr>
        <p:spPr>
          <a:xfrm>
            <a:off x="2898775" y="4910138"/>
            <a:ext cx="266700" cy="646112"/>
          </a:xfrm>
          <a:prstGeom prst="line">
            <a:avLst/>
          </a:prstGeom>
          <a:ln w="12700" cap="flat" cmpd="sng">
            <a:solidFill>
              <a:srgbClr val="000000"/>
            </a:solidFill>
            <a:prstDash val="solid"/>
            <a:headEnd type="none" w="med" len="med"/>
            <a:tailEnd type="triangle" w="med" len="med"/>
          </a:ln>
        </p:spPr>
      </p:sp>
      <p:sp>
        <p:nvSpPr>
          <p:cNvPr id="11268" name="Line 4"/>
          <p:cNvSpPr/>
          <p:nvPr/>
        </p:nvSpPr>
        <p:spPr>
          <a:xfrm flipH="1">
            <a:off x="1658938" y="4910138"/>
            <a:ext cx="355600" cy="646112"/>
          </a:xfrm>
          <a:prstGeom prst="line">
            <a:avLst/>
          </a:prstGeom>
          <a:ln w="12700" cap="flat" cmpd="sng">
            <a:solidFill>
              <a:srgbClr val="000000"/>
            </a:solidFill>
            <a:prstDash val="solid"/>
            <a:headEnd type="none" w="med" len="med"/>
            <a:tailEnd type="triangle" w="med" len="med"/>
          </a:ln>
        </p:spPr>
      </p:sp>
      <p:sp>
        <p:nvSpPr>
          <p:cNvPr id="11269" name="Line 5"/>
          <p:cNvSpPr/>
          <p:nvPr/>
        </p:nvSpPr>
        <p:spPr>
          <a:xfrm flipH="1">
            <a:off x="2366963" y="3935413"/>
            <a:ext cx="442912" cy="649287"/>
          </a:xfrm>
          <a:prstGeom prst="line">
            <a:avLst/>
          </a:prstGeom>
          <a:ln w="12700" cap="flat" cmpd="sng">
            <a:solidFill>
              <a:srgbClr val="000000"/>
            </a:solidFill>
            <a:prstDash val="solid"/>
            <a:headEnd type="none" w="med" len="med"/>
            <a:tailEnd type="triangle" w="med" len="med"/>
          </a:ln>
        </p:spPr>
      </p:sp>
      <p:sp>
        <p:nvSpPr>
          <p:cNvPr id="11270" name="Line 6"/>
          <p:cNvSpPr/>
          <p:nvPr/>
        </p:nvSpPr>
        <p:spPr>
          <a:xfrm>
            <a:off x="3695700" y="3935413"/>
            <a:ext cx="531813" cy="649287"/>
          </a:xfrm>
          <a:prstGeom prst="line">
            <a:avLst/>
          </a:prstGeom>
          <a:ln w="12700" cap="flat" cmpd="sng">
            <a:solidFill>
              <a:srgbClr val="000000"/>
            </a:solidFill>
            <a:prstDash val="solid"/>
            <a:headEnd type="none" w="med" len="med"/>
            <a:tailEnd type="triangle" w="med" len="med"/>
          </a:ln>
        </p:spPr>
      </p:sp>
      <p:sp>
        <p:nvSpPr>
          <p:cNvPr id="11271" name="Line 7"/>
          <p:cNvSpPr/>
          <p:nvPr/>
        </p:nvSpPr>
        <p:spPr>
          <a:xfrm>
            <a:off x="2544763" y="3044825"/>
            <a:ext cx="620712" cy="568325"/>
          </a:xfrm>
          <a:prstGeom prst="line">
            <a:avLst/>
          </a:prstGeom>
          <a:ln w="38100" cap="flat" cmpd="sng">
            <a:solidFill>
              <a:srgbClr val="FF0000"/>
            </a:solidFill>
            <a:prstDash val="solid"/>
            <a:headEnd type="none" w="med" len="med"/>
            <a:tailEnd type="triangle" w="med" len="med"/>
          </a:ln>
        </p:spPr>
      </p:sp>
      <p:sp>
        <p:nvSpPr>
          <p:cNvPr id="11272" name="Line 8"/>
          <p:cNvSpPr/>
          <p:nvPr/>
        </p:nvSpPr>
        <p:spPr>
          <a:xfrm flipH="1">
            <a:off x="1039813" y="3044825"/>
            <a:ext cx="619125" cy="568325"/>
          </a:xfrm>
          <a:prstGeom prst="line">
            <a:avLst/>
          </a:prstGeom>
          <a:ln w="12700" cap="flat" cmpd="sng">
            <a:solidFill>
              <a:srgbClr val="000000"/>
            </a:solidFill>
            <a:prstDash val="solid"/>
            <a:headEnd type="none" w="med" len="med"/>
            <a:tailEnd type="triangle" w="med" len="med"/>
          </a:ln>
        </p:spPr>
      </p:sp>
      <p:sp>
        <p:nvSpPr>
          <p:cNvPr id="11273" name="Text Box 9"/>
          <p:cNvSpPr txBox="1"/>
          <p:nvPr/>
        </p:nvSpPr>
        <p:spPr>
          <a:xfrm>
            <a:off x="1606550" y="2720975"/>
            <a:ext cx="1027113" cy="349250"/>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Refund</a:t>
            </a:r>
            <a:endParaRPr lang="en-US" altLang="x-none" sz="1600" dirty="0">
              <a:solidFill>
                <a:schemeClr val="bg2"/>
              </a:solidFill>
              <a:latin typeface="Arial" panose="020B0604020202020204" pitchFamily="34" charset="0"/>
            </a:endParaRPr>
          </a:p>
        </p:txBody>
      </p:sp>
      <p:sp>
        <p:nvSpPr>
          <p:cNvPr id="11274" name="Text Box 10"/>
          <p:cNvSpPr txBox="1"/>
          <p:nvPr/>
        </p:nvSpPr>
        <p:spPr>
          <a:xfrm>
            <a:off x="2720975" y="3613150"/>
            <a:ext cx="1025525" cy="347663"/>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MarSt</a:t>
            </a:r>
            <a:endParaRPr lang="en-US" altLang="x-none" sz="1600" dirty="0">
              <a:solidFill>
                <a:schemeClr val="bg2"/>
              </a:solidFill>
              <a:latin typeface="Arial" panose="020B0604020202020204" pitchFamily="34" charset="0"/>
            </a:endParaRPr>
          </a:p>
        </p:txBody>
      </p:sp>
      <p:sp>
        <p:nvSpPr>
          <p:cNvPr id="11275" name="Text Box 11"/>
          <p:cNvSpPr txBox="1"/>
          <p:nvPr/>
        </p:nvSpPr>
        <p:spPr>
          <a:xfrm>
            <a:off x="1925638" y="4584700"/>
            <a:ext cx="1062037" cy="349250"/>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TaxInc</a:t>
            </a:r>
            <a:endParaRPr lang="en-US" altLang="x-none" sz="1600" dirty="0">
              <a:solidFill>
                <a:schemeClr val="bg2"/>
              </a:solidFill>
              <a:latin typeface="Arial" panose="020B0604020202020204" pitchFamily="34" charset="0"/>
            </a:endParaRPr>
          </a:p>
        </p:txBody>
      </p:sp>
      <p:sp>
        <p:nvSpPr>
          <p:cNvPr id="11276" name="AutoShape 12"/>
          <p:cNvSpPr/>
          <p:nvPr/>
        </p:nvSpPr>
        <p:spPr>
          <a:xfrm>
            <a:off x="2941638" y="5553075"/>
            <a:ext cx="688975" cy="449263"/>
          </a:xfrm>
          <a:prstGeom prst="roundRect">
            <a:avLst>
              <a:gd name="adj" fmla="val 16769"/>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1277" name="Text Box 13"/>
          <p:cNvSpPr txBox="1"/>
          <p:nvPr/>
        </p:nvSpPr>
        <p:spPr>
          <a:xfrm>
            <a:off x="2859088" y="5553075"/>
            <a:ext cx="750887" cy="336550"/>
          </a:xfrm>
          <a:prstGeom prst="rect">
            <a:avLst/>
          </a:prstGeom>
          <a:noFill/>
          <a:ln w="12700">
            <a:noFill/>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11278" name="AutoShape 14"/>
          <p:cNvSpPr/>
          <p:nvPr/>
        </p:nvSpPr>
        <p:spPr>
          <a:xfrm>
            <a:off x="1304925" y="5573713"/>
            <a:ext cx="717550" cy="446087"/>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1279" name="Text Box 15"/>
          <p:cNvSpPr txBox="1"/>
          <p:nvPr/>
        </p:nvSpPr>
        <p:spPr>
          <a:xfrm>
            <a:off x="1435100" y="5556250"/>
            <a:ext cx="48895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11280" name="AutoShape 16"/>
          <p:cNvSpPr/>
          <p:nvPr/>
        </p:nvSpPr>
        <p:spPr>
          <a:xfrm>
            <a:off x="685800" y="3630613"/>
            <a:ext cx="752475" cy="427037"/>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1281" name="Text Box 17"/>
          <p:cNvSpPr txBox="1"/>
          <p:nvPr/>
        </p:nvSpPr>
        <p:spPr>
          <a:xfrm>
            <a:off x="814388" y="3613150"/>
            <a:ext cx="48895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rgbClr val="00FFFF"/>
              </a:solidFill>
              <a:latin typeface="Arial" panose="020B0604020202020204" pitchFamily="34" charset="0"/>
            </a:endParaRPr>
          </a:p>
        </p:txBody>
      </p:sp>
      <p:sp>
        <p:nvSpPr>
          <p:cNvPr id="11282" name="AutoShape 18"/>
          <p:cNvSpPr/>
          <p:nvPr/>
        </p:nvSpPr>
        <p:spPr>
          <a:xfrm>
            <a:off x="3860800" y="4618038"/>
            <a:ext cx="752475" cy="466725"/>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1283" name="Text Box 19"/>
          <p:cNvSpPr txBox="1"/>
          <p:nvPr/>
        </p:nvSpPr>
        <p:spPr>
          <a:xfrm>
            <a:off x="3968750" y="4618038"/>
            <a:ext cx="490538"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11284" name="Text Box 20"/>
          <p:cNvSpPr txBox="1"/>
          <p:nvPr/>
        </p:nvSpPr>
        <p:spPr>
          <a:xfrm>
            <a:off x="860425" y="3044825"/>
            <a:ext cx="533400"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11285" name="Text Box 21"/>
          <p:cNvSpPr txBox="1"/>
          <p:nvPr/>
        </p:nvSpPr>
        <p:spPr>
          <a:xfrm>
            <a:off x="2897188" y="3044825"/>
            <a:ext cx="442912"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solidFill>
                  <a:srgbClr val="FF0000"/>
                </a:solidFill>
                <a:latin typeface="Arial" panose="020B0604020202020204" pitchFamily="34" charset="0"/>
              </a:rPr>
              <a:t>No</a:t>
            </a:r>
            <a:endParaRPr lang="en-US" altLang="x-none" sz="1600" dirty="0">
              <a:solidFill>
                <a:srgbClr val="FF0000"/>
              </a:solidFill>
              <a:latin typeface="Arial" panose="020B0604020202020204" pitchFamily="34" charset="0"/>
            </a:endParaRPr>
          </a:p>
        </p:txBody>
      </p:sp>
      <p:sp>
        <p:nvSpPr>
          <p:cNvPr id="11286" name="Text Box 22"/>
          <p:cNvSpPr txBox="1"/>
          <p:nvPr/>
        </p:nvSpPr>
        <p:spPr>
          <a:xfrm>
            <a:off x="4022725" y="3983038"/>
            <a:ext cx="93027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Married</a:t>
            </a:r>
            <a:r>
              <a:rPr lang="en-US" altLang="x-none" sz="1600" dirty="0">
                <a:solidFill>
                  <a:schemeClr val="bg2"/>
                </a:solidFill>
                <a:latin typeface="Arial" panose="020B0604020202020204" pitchFamily="34" charset="0"/>
              </a:rPr>
              <a:t> </a:t>
            </a:r>
            <a:endParaRPr lang="en-US" altLang="x-none" sz="1600" dirty="0">
              <a:solidFill>
                <a:schemeClr val="bg2"/>
              </a:solidFill>
              <a:latin typeface="Arial" panose="020B0604020202020204" pitchFamily="34" charset="0"/>
            </a:endParaRPr>
          </a:p>
        </p:txBody>
      </p:sp>
      <p:sp>
        <p:nvSpPr>
          <p:cNvPr id="11287" name="Text Box 23"/>
          <p:cNvSpPr txBox="1"/>
          <p:nvPr/>
        </p:nvSpPr>
        <p:spPr>
          <a:xfrm>
            <a:off x="1662113" y="4017963"/>
            <a:ext cx="16605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Single, Divorced</a:t>
            </a:r>
            <a:endParaRPr lang="en-US" altLang="x-none" sz="1600" dirty="0">
              <a:solidFill>
                <a:schemeClr val="bg2"/>
              </a:solidFill>
              <a:latin typeface="Arial" panose="020B0604020202020204" pitchFamily="34" charset="0"/>
            </a:endParaRPr>
          </a:p>
        </p:txBody>
      </p:sp>
      <p:sp>
        <p:nvSpPr>
          <p:cNvPr id="11288" name="Text Box 24"/>
          <p:cNvSpPr txBox="1"/>
          <p:nvPr/>
        </p:nvSpPr>
        <p:spPr>
          <a:xfrm>
            <a:off x="1155700" y="4989513"/>
            <a:ext cx="7207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&lt; 80K</a:t>
            </a:r>
            <a:endParaRPr lang="en-US" altLang="x-none" sz="1600" dirty="0">
              <a:solidFill>
                <a:schemeClr val="bg2"/>
              </a:solidFill>
              <a:latin typeface="Arial" panose="020B0604020202020204" pitchFamily="34" charset="0"/>
            </a:endParaRPr>
          </a:p>
        </p:txBody>
      </p:sp>
      <p:sp>
        <p:nvSpPr>
          <p:cNvPr id="11289" name="Text Box 25"/>
          <p:cNvSpPr txBox="1"/>
          <p:nvPr/>
        </p:nvSpPr>
        <p:spPr>
          <a:xfrm>
            <a:off x="3101975" y="4989513"/>
            <a:ext cx="7207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&gt; 80K</a:t>
            </a:r>
            <a:endParaRPr lang="en-US" altLang="x-none" sz="1600" dirty="0">
              <a:solidFill>
                <a:schemeClr val="bg2"/>
              </a:solidFill>
              <a:latin typeface="Arial" panose="020B0604020202020204" pitchFamily="34" charset="0"/>
            </a:endParaRPr>
          </a:p>
        </p:txBody>
      </p:sp>
      <p:graphicFrame>
        <p:nvGraphicFramePr>
          <p:cNvPr id="11266" name="Object 26"/>
          <p:cNvGraphicFramePr>
            <a:graphicFrameLocks noChangeAspect="1"/>
          </p:cNvGraphicFramePr>
          <p:nvPr/>
        </p:nvGraphicFramePr>
        <p:xfrm>
          <a:off x="4953000" y="1958975"/>
          <a:ext cx="3343275" cy="1133475"/>
        </p:xfrm>
        <a:graphic>
          <a:graphicData uri="http://schemas.openxmlformats.org/presentationml/2006/ole">
            <mc:AlternateContent xmlns:mc="http://schemas.openxmlformats.org/markup-compatibility/2006">
              <mc:Choice xmlns:v="urn:schemas-microsoft-com:vml" Requires="v">
                <p:oleObj spid="_x0000_s3082" name="" r:id="rId1" imgW="4651375" imgH="1576070" progId="Word.Document.8">
                  <p:embed/>
                </p:oleObj>
              </mc:Choice>
              <mc:Fallback>
                <p:oleObj name="" r:id="rId1" imgW="4651375" imgH="1576070" progId="Word.Document.8">
                  <p:embed/>
                  <p:pic>
                    <p:nvPicPr>
                      <p:cNvPr id="0" name="Picture 3081"/>
                      <p:cNvPicPr/>
                      <p:nvPr/>
                    </p:nvPicPr>
                    <p:blipFill>
                      <a:blip r:embed="rId2"/>
                      <a:stretch>
                        <a:fillRect/>
                      </a:stretch>
                    </p:blipFill>
                    <p:spPr>
                      <a:xfrm>
                        <a:off x="4953000" y="1958975"/>
                        <a:ext cx="3343275" cy="1133475"/>
                      </a:xfrm>
                      <a:prstGeom prst="rect">
                        <a:avLst/>
                      </a:prstGeom>
                      <a:noFill/>
                      <a:ln w="38100">
                        <a:noFill/>
                        <a:miter/>
                      </a:ln>
                    </p:spPr>
                  </p:pic>
                </p:oleObj>
              </mc:Fallback>
            </mc:AlternateContent>
          </a:graphicData>
        </a:graphic>
      </p:graphicFrame>
      <p:sp>
        <p:nvSpPr>
          <p:cNvPr id="11290" name="Text Box 27"/>
          <p:cNvSpPr txBox="1"/>
          <p:nvPr/>
        </p:nvSpPr>
        <p:spPr>
          <a:xfrm>
            <a:off x="4800600" y="1501775"/>
            <a:ext cx="1600200" cy="336550"/>
          </a:xfrm>
          <a:prstGeom prst="rect">
            <a:avLst/>
          </a:prstGeom>
          <a:noFill/>
          <a:ln w="12700">
            <a:noFill/>
          </a:ln>
        </p:spPr>
        <p:txBody>
          <a:bodyPr>
            <a:spAutoFit/>
          </a:bodyPr>
          <a:p>
            <a:pPr marL="342900" indent="-342900" algn="ctr" eaLnBrk="0" hangingPunct="0">
              <a:lnSpc>
                <a:spcPct val="80000"/>
              </a:lnSpc>
              <a:spcBef>
                <a:spcPct val="20000"/>
              </a:spcBef>
              <a:buClr>
                <a:schemeClr val="accent2"/>
              </a:buClr>
              <a:buSzPct val="75000"/>
              <a:buFont typeface="Monotype Sorts" charset="2"/>
            </a:pPr>
            <a:r>
              <a:rPr lang="en-US" altLang="x-none" sz="2000" b="1" dirty="0">
                <a:solidFill>
                  <a:schemeClr val="tx2"/>
                </a:solidFill>
                <a:latin typeface="Arial" panose="020B0604020202020204" pitchFamily="34" charset="0"/>
              </a:rPr>
              <a:t>Test Data</a:t>
            </a:r>
            <a:endParaRPr lang="en-US" altLang="x-none" sz="2000" dirty="0">
              <a:solidFill>
                <a:schemeClr val="bg2"/>
              </a:solidFill>
              <a:latin typeface="Arial" panose="020B0604020202020204" pitchFamily="34" charset="0"/>
            </a:endParaRPr>
          </a:p>
        </p:txBody>
      </p:sp>
      <p:sp>
        <p:nvSpPr>
          <p:cNvPr id="11291" name="Line 28"/>
          <p:cNvSpPr/>
          <p:nvPr/>
        </p:nvSpPr>
        <p:spPr>
          <a:xfrm flipH="1">
            <a:off x="3810000" y="2416175"/>
            <a:ext cx="2057400" cy="1295400"/>
          </a:xfrm>
          <a:prstGeom prst="line">
            <a:avLst/>
          </a:prstGeom>
          <a:ln w="15875" cap="flat" cmpd="sng">
            <a:solidFill>
              <a:srgbClr val="FF0000"/>
            </a:solidFill>
            <a:prstDash val="dash"/>
            <a:headEnd type="triangle" w="med" len="med"/>
            <a:tailEnd type="none" w="med" len="med"/>
          </a:ln>
        </p:spPr>
      </p:sp>
      <p:sp>
        <p:nvSpPr>
          <p:cNvPr id="11292"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Apply Model to Test Data</a:t>
            </a:r>
            <a:endParaRPr lang="en-US" altLang="x-none" sz="3200" b="1"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1"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Apply Model to Test Data</a:t>
            </a:r>
            <a:endParaRPr lang="en-US" altLang="x-none" sz="3200" b="1" dirty="0">
              <a:latin typeface="Times New Roman" panose="02020603050405020304" pitchFamily="18" charset="0"/>
              <a:ea typeface="Times New Roman" panose="02020603050405020304" pitchFamily="18" charset="0"/>
            </a:endParaRPr>
          </a:p>
        </p:txBody>
      </p:sp>
      <p:sp>
        <p:nvSpPr>
          <p:cNvPr id="12292" name="Line 3"/>
          <p:cNvSpPr/>
          <p:nvPr/>
        </p:nvSpPr>
        <p:spPr>
          <a:xfrm>
            <a:off x="2898775" y="4932363"/>
            <a:ext cx="266700" cy="646112"/>
          </a:xfrm>
          <a:prstGeom prst="line">
            <a:avLst/>
          </a:prstGeom>
          <a:ln w="12700" cap="flat" cmpd="sng">
            <a:solidFill>
              <a:srgbClr val="000000"/>
            </a:solidFill>
            <a:prstDash val="solid"/>
            <a:headEnd type="none" w="med" len="med"/>
            <a:tailEnd type="triangle" w="med" len="med"/>
          </a:ln>
        </p:spPr>
      </p:sp>
      <p:sp>
        <p:nvSpPr>
          <p:cNvPr id="12293" name="Line 4"/>
          <p:cNvSpPr/>
          <p:nvPr/>
        </p:nvSpPr>
        <p:spPr>
          <a:xfrm flipH="1">
            <a:off x="1658938" y="4932363"/>
            <a:ext cx="355600" cy="646112"/>
          </a:xfrm>
          <a:prstGeom prst="line">
            <a:avLst/>
          </a:prstGeom>
          <a:ln w="12700" cap="flat" cmpd="sng">
            <a:solidFill>
              <a:srgbClr val="000000"/>
            </a:solidFill>
            <a:prstDash val="solid"/>
            <a:headEnd type="none" w="med" len="med"/>
            <a:tailEnd type="triangle" w="med" len="med"/>
          </a:ln>
        </p:spPr>
      </p:sp>
      <p:sp>
        <p:nvSpPr>
          <p:cNvPr id="12294" name="Line 5"/>
          <p:cNvSpPr/>
          <p:nvPr/>
        </p:nvSpPr>
        <p:spPr>
          <a:xfrm flipH="1">
            <a:off x="2366963" y="3957638"/>
            <a:ext cx="442912" cy="649287"/>
          </a:xfrm>
          <a:prstGeom prst="line">
            <a:avLst/>
          </a:prstGeom>
          <a:ln w="12700" cap="flat" cmpd="sng">
            <a:solidFill>
              <a:srgbClr val="000000"/>
            </a:solidFill>
            <a:prstDash val="solid"/>
            <a:headEnd type="none" w="med" len="med"/>
            <a:tailEnd type="triangle" w="med" len="med"/>
          </a:ln>
        </p:spPr>
      </p:sp>
      <p:sp>
        <p:nvSpPr>
          <p:cNvPr id="12295" name="Line 6"/>
          <p:cNvSpPr/>
          <p:nvPr/>
        </p:nvSpPr>
        <p:spPr>
          <a:xfrm>
            <a:off x="3695700" y="3957638"/>
            <a:ext cx="531813" cy="649287"/>
          </a:xfrm>
          <a:prstGeom prst="line">
            <a:avLst/>
          </a:prstGeom>
          <a:ln w="38100" cap="flat" cmpd="sng">
            <a:solidFill>
              <a:srgbClr val="FF0000"/>
            </a:solidFill>
            <a:prstDash val="solid"/>
            <a:headEnd type="none" w="med" len="med"/>
            <a:tailEnd type="triangle" w="med" len="med"/>
          </a:ln>
        </p:spPr>
      </p:sp>
      <p:sp>
        <p:nvSpPr>
          <p:cNvPr id="12296" name="Line 7"/>
          <p:cNvSpPr/>
          <p:nvPr/>
        </p:nvSpPr>
        <p:spPr>
          <a:xfrm>
            <a:off x="2544763" y="3067050"/>
            <a:ext cx="620712" cy="568325"/>
          </a:xfrm>
          <a:prstGeom prst="line">
            <a:avLst/>
          </a:prstGeom>
          <a:ln w="38100" cap="flat" cmpd="sng">
            <a:solidFill>
              <a:srgbClr val="FF0000"/>
            </a:solidFill>
            <a:prstDash val="solid"/>
            <a:headEnd type="none" w="med" len="med"/>
            <a:tailEnd type="triangle" w="med" len="med"/>
          </a:ln>
        </p:spPr>
      </p:sp>
      <p:sp>
        <p:nvSpPr>
          <p:cNvPr id="12297" name="Line 8"/>
          <p:cNvSpPr/>
          <p:nvPr/>
        </p:nvSpPr>
        <p:spPr>
          <a:xfrm flipH="1">
            <a:off x="1039813" y="3067050"/>
            <a:ext cx="619125" cy="568325"/>
          </a:xfrm>
          <a:prstGeom prst="line">
            <a:avLst/>
          </a:prstGeom>
          <a:ln w="12700" cap="flat" cmpd="sng">
            <a:solidFill>
              <a:srgbClr val="000000"/>
            </a:solidFill>
            <a:prstDash val="solid"/>
            <a:headEnd type="none" w="med" len="med"/>
            <a:tailEnd type="triangle" w="med" len="med"/>
          </a:ln>
        </p:spPr>
      </p:sp>
      <p:sp>
        <p:nvSpPr>
          <p:cNvPr id="12298" name="Text Box 9"/>
          <p:cNvSpPr txBox="1"/>
          <p:nvPr/>
        </p:nvSpPr>
        <p:spPr>
          <a:xfrm>
            <a:off x="1606550" y="2743200"/>
            <a:ext cx="1027113" cy="349250"/>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Refund</a:t>
            </a:r>
            <a:endParaRPr lang="en-US" altLang="x-none" sz="1600" dirty="0">
              <a:solidFill>
                <a:schemeClr val="bg2"/>
              </a:solidFill>
              <a:latin typeface="Arial" panose="020B0604020202020204" pitchFamily="34" charset="0"/>
            </a:endParaRPr>
          </a:p>
        </p:txBody>
      </p:sp>
      <p:sp>
        <p:nvSpPr>
          <p:cNvPr id="12299" name="Text Box 10"/>
          <p:cNvSpPr txBox="1"/>
          <p:nvPr/>
        </p:nvSpPr>
        <p:spPr>
          <a:xfrm>
            <a:off x="2720975" y="3635375"/>
            <a:ext cx="1025525" cy="347663"/>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MarSt</a:t>
            </a:r>
            <a:endParaRPr lang="en-US" altLang="x-none" sz="1600" dirty="0">
              <a:solidFill>
                <a:schemeClr val="bg2"/>
              </a:solidFill>
              <a:latin typeface="Arial" panose="020B0604020202020204" pitchFamily="34" charset="0"/>
            </a:endParaRPr>
          </a:p>
        </p:txBody>
      </p:sp>
      <p:sp>
        <p:nvSpPr>
          <p:cNvPr id="12300" name="Text Box 11"/>
          <p:cNvSpPr txBox="1"/>
          <p:nvPr/>
        </p:nvSpPr>
        <p:spPr>
          <a:xfrm>
            <a:off x="1925638" y="4606925"/>
            <a:ext cx="1062037" cy="349250"/>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TaxInc</a:t>
            </a:r>
            <a:endParaRPr lang="en-US" altLang="x-none" sz="1600" dirty="0">
              <a:solidFill>
                <a:schemeClr val="bg2"/>
              </a:solidFill>
              <a:latin typeface="Arial" panose="020B0604020202020204" pitchFamily="34" charset="0"/>
            </a:endParaRPr>
          </a:p>
        </p:txBody>
      </p:sp>
      <p:sp>
        <p:nvSpPr>
          <p:cNvPr id="12301" name="AutoShape 12"/>
          <p:cNvSpPr/>
          <p:nvPr/>
        </p:nvSpPr>
        <p:spPr>
          <a:xfrm>
            <a:off x="2941638" y="5575300"/>
            <a:ext cx="688975" cy="449263"/>
          </a:xfrm>
          <a:prstGeom prst="roundRect">
            <a:avLst>
              <a:gd name="adj" fmla="val 16769"/>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2302" name="Text Box 13"/>
          <p:cNvSpPr txBox="1"/>
          <p:nvPr/>
        </p:nvSpPr>
        <p:spPr>
          <a:xfrm>
            <a:off x="2859088" y="5575300"/>
            <a:ext cx="750887" cy="336550"/>
          </a:xfrm>
          <a:prstGeom prst="rect">
            <a:avLst/>
          </a:prstGeom>
          <a:noFill/>
          <a:ln w="12700">
            <a:noFill/>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12303" name="AutoShape 14"/>
          <p:cNvSpPr/>
          <p:nvPr/>
        </p:nvSpPr>
        <p:spPr>
          <a:xfrm>
            <a:off x="1304925" y="5595938"/>
            <a:ext cx="717550" cy="446087"/>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2304" name="Text Box 15"/>
          <p:cNvSpPr txBox="1"/>
          <p:nvPr/>
        </p:nvSpPr>
        <p:spPr>
          <a:xfrm>
            <a:off x="1435100" y="5578475"/>
            <a:ext cx="48895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12305" name="AutoShape 16"/>
          <p:cNvSpPr/>
          <p:nvPr/>
        </p:nvSpPr>
        <p:spPr>
          <a:xfrm>
            <a:off x="685800" y="3652838"/>
            <a:ext cx="752475" cy="427037"/>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2306" name="Text Box 17"/>
          <p:cNvSpPr txBox="1"/>
          <p:nvPr/>
        </p:nvSpPr>
        <p:spPr>
          <a:xfrm>
            <a:off x="814388" y="3635375"/>
            <a:ext cx="48895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rgbClr val="00FFFF"/>
              </a:solidFill>
              <a:latin typeface="Arial" panose="020B0604020202020204" pitchFamily="34" charset="0"/>
            </a:endParaRPr>
          </a:p>
        </p:txBody>
      </p:sp>
      <p:sp>
        <p:nvSpPr>
          <p:cNvPr id="12307" name="AutoShape 18"/>
          <p:cNvSpPr/>
          <p:nvPr/>
        </p:nvSpPr>
        <p:spPr>
          <a:xfrm>
            <a:off x="3860800" y="4640263"/>
            <a:ext cx="752475" cy="466725"/>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2308" name="Text Box 19"/>
          <p:cNvSpPr txBox="1"/>
          <p:nvPr/>
        </p:nvSpPr>
        <p:spPr>
          <a:xfrm>
            <a:off x="3968750" y="4640263"/>
            <a:ext cx="490538"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12309" name="Text Box 20"/>
          <p:cNvSpPr txBox="1"/>
          <p:nvPr/>
        </p:nvSpPr>
        <p:spPr>
          <a:xfrm>
            <a:off x="860425" y="3067050"/>
            <a:ext cx="533400"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12310" name="Text Box 21"/>
          <p:cNvSpPr txBox="1"/>
          <p:nvPr/>
        </p:nvSpPr>
        <p:spPr>
          <a:xfrm>
            <a:off x="2897188" y="3067050"/>
            <a:ext cx="442912"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solidFill>
                  <a:srgbClr val="FF0000"/>
                </a:solidFill>
                <a:latin typeface="Arial" panose="020B0604020202020204" pitchFamily="34" charset="0"/>
              </a:rPr>
              <a:t>No</a:t>
            </a:r>
            <a:endParaRPr lang="en-US" altLang="x-none" sz="1600" dirty="0">
              <a:solidFill>
                <a:srgbClr val="FF0000"/>
              </a:solidFill>
              <a:latin typeface="Arial" panose="020B0604020202020204" pitchFamily="34" charset="0"/>
            </a:endParaRPr>
          </a:p>
        </p:txBody>
      </p:sp>
      <p:sp>
        <p:nvSpPr>
          <p:cNvPr id="12311" name="Text Box 22"/>
          <p:cNvSpPr txBox="1"/>
          <p:nvPr/>
        </p:nvSpPr>
        <p:spPr>
          <a:xfrm>
            <a:off x="4022725" y="4005263"/>
            <a:ext cx="93027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solidFill>
                  <a:srgbClr val="FF0000"/>
                </a:solidFill>
                <a:latin typeface="Arial" panose="020B0604020202020204" pitchFamily="34" charset="0"/>
              </a:rPr>
              <a:t>Married </a:t>
            </a:r>
            <a:endParaRPr lang="en-US" altLang="x-none" sz="1600" dirty="0">
              <a:solidFill>
                <a:srgbClr val="FF0000"/>
              </a:solidFill>
              <a:latin typeface="Arial" panose="020B0604020202020204" pitchFamily="34" charset="0"/>
            </a:endParaRPr>
          </a:p>
        </p:txBody>
      </p:sp>
      <p:sp>
        <p:nvSpPr>
          <p:cNvPr id="12312" name="Text Box 23"/>
          <p:cNvSpPr txBox="1"/>
          <p:nvPr/>
        </p:nvSpPr>
        <p:spPr>
          <a:xfrm>
            <a:off x="1662113" y="4040188"/>
            <a:ext cx="16605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Single, Divorced</a:t>
            </a:r>
            <a:endParaRPr lang="en-US" altLang="x-none" sz="1600" dirty="0">
              <a:solidFill>
                <a:schemeClr val="bg2"/>
              </a:solidFill>
              <a:latin typeface="Arial" panose="020B0604020202020204" pitchFamily="34" charset="0"/>
            </a:endParaRPr>
          </a:p>
        </p:txBody>
      </p:sp>
      <p:sp>
        <p:nvSpPr>
          <p:cNvPr id="12313" name="Text Box 24"/>
          <p:cNvSpPr txBox="1"/>
          <p:nvPr/>
        </p:nvSpPr>
        <p:spPr>
          <a:xfrm>
            <a:off x="1155700" y="5011738"/>
            <a:ext cx="7207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&lt; 80K</a:t>
            </a:r>
            <a:endParaRPr lang="en-US" altLang="x-none" sz="1600" dirty="0">
              <a:solidFill>
                <a:schemeClr val="bg2"/>
              </a:solidFill>
              <a:latin typeface="Arial" panose="020B0604020202020204" pitchFamily="34" charset="0"/>
            </a:endParaRPr>
          </a:p>
        </p:txBody>
      </p:sp>
      <p:sp>
        <p:nvSpPr>
          <p:cNvPr id="12314" name="Text Box 25"/>
          <p:cNvSpPr txBox="1"/>
          <p:nvPr/>
        </p:nvSpPr>
        <p:spPr>
          <a:xfrm>
            <a:off x="3101975" y="5011738"/>
            <a:ext cx="7207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&gt; 80K</a:t>
            </a:r>
            <a:endParaRPr lang="en-US" altLang="x-none" sz="1600" dirty="0">
              <a:solidFill>
                <a:schemeClr val="bg2"/>
              </a:solidFill>
              <a:latin typeface="Arial" panose="020B0604020202020204" pitchFamily="34" charset="0"/>
            </a:endParaRPr>
          </a:p>
        </p:txBody>
      </p:sp>
      <p:graphicFrame>
        <p:nvGraphicFramePr>
          <p:cNvPr id="12290" name="Object 26"/>
          <p:cNvGraphicFramePr>
            <a:graphicFrameLocks noChangeAspect="1"/>
          </p:cNvGraphicFramePr>
          <p:nvPr/>
        </p:nvGraphicFramePr>
        <p:xfrm>
          <a:off x="4953000" y="1981200"/>
          <a:ext cx="3343275" cy="1133475"/>
        </p:xfrm>
        <a:graphic>
          <a:graphicData uri="http://schemas.openxmlformats.org/presentationml/2006/ole">
            <mc:AlternateContent xmlns:mc="http://schemas.openxmlformats.org/markup-compatibility/2006">
              <mc:Choice xmlns:v="urn:schemas-microsoft-com:vml" Requires="v">
                <p:oleObj spid="_x0000_s3083" name="" r:id="rId1" imgW="4651375" imgH="1576070" progId="Word.Document.8">
                  <p:embed/>
                </p:oleObj>
              </mc:Choice>
              <mc:Fallback>
                <p:oleObj name="" r:id="rId1" imgW="4651375" imgH="1576070" progId="Word.Document.8">
                  <p:embed/>
                  <p:pic>
                    <p:nvPicPr>
                      <p:cNvPr id="0" name="Picture 3082"/>
                      <p:cNvPicPr/>
                      <p:nvPr/>
                    </p:nvPicPr>
                    <p:blipFill>
                      <a:blip r:embed="rId2"/>
                      <a:stretch>
                        <a:fillRect/>
                      </a:stretch>
                    </p:blipFill>
                    <p:spPr>
                      <a:xfrm>
                        <a:off x="4953000" y="1981200"/>
                        <a:ext cx="3343275" cy="1133475"/>
                      </a:xfrm>
                      <a:prstGeom prst="rect">
                        <a:avLst/>
                      </a:prstGeom>
                      <a:noFill/>
                      <a:ln w="38100">
                        <a:noFill/>
                        <a:miter/>
                      </a:ln>
                    </p:spPr>
                  </p:pic>
                </p:oleObj>
              </mc:Fallback>
            </mc:AlternateContent>
          </a:graphicData>
        </a:graphic>
      </p:graphicFrame>
      <p:sp>
        <p:nvSpPr>
          <p:cNvPr id="12315" name="Text Box 27"/>
          <p:cNvSpPr txBox="1"/>
          <p:nvPr/>
        </p:nvSpPr>
        <p:spPr>
          <a:xfrm>
            <a:off x="4800600" y="1524000"/>
            <a:ext cx="1600200" cy="336550"/>
          </a:xfrm>
          <a:prstGeom prst="rect">
            <a:avLst/>
          </a:prstGeom>
          <a:noFill/>
          <a:ln w="12700">
            <a:noFill/>
          </a:ln>
        </p:spPr>
        <p:txBody>
          <a:bodyPr>
            <a:spAutoFit/>
          </a:bodyPr>
          <a:p>
            <a:pPr marL="342900" indent="-342900" algn="ctr" eaLnBrk="0" hangingPunct="0">
              <a:lnSpc>
                <a:spcPct val="80000"/>
              </a:lnSpc>
              <a:spcBef>
                <a:spcPct val="20000"/>
              </a:spcBef>
              <a:buClr>
                <a:schemeClr val="accent2"/>
              </a:buClr>
              <a:buSzPct val="75000"/>
              <a:buFont typeface="Monotype Sorts" charset="2"/>
            </a:pPr>
            <a:r>
              <a:rPr lang="en-US" altLang="x-none" sz="2000" b="1" dirty="0">
                <a:solidFill>
                  <a:schemeClr val="tx2"/>
                </a:solidFill>
                <a:latin typeface="Arial" panose="020B0604020202020204" pitchFamily="34" charset="0"/>
              </a:rPr>
              <a:t>Test Data</a:t>
            </a:r>
            <a:endParaRPr lang="en-US" altLang="x-none" sz="2000" dirty="0">
              <a:solidFill>
                <a:schemeClr val="bg2"/>
              </a:solidFill>
              <a:latin typeface="Arial" panose="020B0604020202020204" pitchFamily="34" charset="0"/>
            </a:endParaRPr>
          </a:p>
        </p:txBody>
      </p:sp>
      <p:sp>
        <p:nvSpPr>
          <p:cNvPr id="12316" name="Line 28"/>
          <p:cNvSpPr/>
          <p:nvPr/>
        </p:nvSpPr>
        <p:spPr>
          <a:xfrm flipH="1">
            <a:off x="4648200" y="2971800"/>
            <a:ext cx="1295400" cy="990600"/>
          </a:xfrm>
          <a:prstGeom prst="line">
            <a:avLst/>
          </a:prstGeom>
          <a:ln w="15875" cap="flat" cmpd="sng">
            <a:solidFill>
              <a:srgbClr val="FF0000"/>
            </a:solidFill>
            <a:prstDash val="dash"/>
            <a:headEnd type="triangle" w="med" len="med"/>
            <a:tailEnd type="triangle" w="med" len="me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Apply Model to Test Data</a:t>
            </a:r>
            <a:endParaRPr lang="en-US" altLang="x-none" sz="3200" b="1" dirty="0">
              <a:latin typeface="Times New Roman" panose="02020603050405020304" pitchFamily="18" charset="0"/>
              <a:ea typeface="Times New Roman" panose="02020603050405020304" pitchFamily="18" charset="0"/>
            </a:endParaRPr>
          </a:p>
        </p:txBody>
      </p:sp>
      <p:sp>
        <p:nvSpPr>
          <p:cNvPr id="13316" name="Line 3"/>
          <p:cNvSpPr/>
          <p:nvPr/>
        </p:nvSpPr>
        <p:spPr>
          <a:xfrm>
            <a:off x="2898775" y="4986338"/>
            <a:ext cx="266700" cy="646112"/>
          </a:xfrm>
          <a:prstGeom prst="line">
            <a:avLst/>
          </a:prstGeom>
          <a:ln w="12700" cap="flat" cmpd="sng">
            <a:solidFill>
              <a:srgbClr val="000000"/>
            </a:solidFill>
            <a:prstDash val="solid"/>
            <a:headEnd type="none" w="med" len="med"/>
            <a:tailEnd type="triangle" w="med" len="med"/>
          </a:ln>
        </p:spPr>
      </p:sp>
      <p:sp>
        <p:nvSpPr>
          <p:cNvPr id="13317" name="Line 4"/>
          <p:cNvSpPr/>
          <p:nvPr/>
        </p:nvSpPr>
        <p:spPr>
          <a:xfrm flipH="1">
            <a:off x="1658938" y="4986338"/>
            <a:ext cx="355600" cy="646112"/>
          </a:xfrm>
          <a:prstGeom prst="line">
            <a:avLst/>
          </a:prstGeom>
          <a:ln w="12700" cap="flat" cmpd="sng">
            <a:solidFill>
              <a:srgbClr val="000000"/>
            </a:solidFill>
            <a:prstDash val="solid"/>
            <a:headEnd type="none" w="med" len="med"/>
            <a:tailEnd type="triangle" w="med" len="med"/>
          </a:ln>
        </p:spPr>
      </p:sp>
      <p:sp>
        <p:nvSpPr>
          <p:cNvPr id="13318" name="Line 5"/>
          <p:cNvSpPr/>
          <p:nvPr/>
        </p:nvSpPr>
        <p:spPr>
          <a:xfrm flipH="1">
            <a:off x="2366963" y="4011613"/>
            <a:ext cx="442912" cy="649287"/>
          </a:xfrm>
          <a:prstGeom prst="line">
            <a:avLst/>
          </a:prstGeom>
          <a:ln w="12700" cap="flat" cmpd="sng">
            <a:solidFill>
              <a:srgbClr val="000000"/>
            </a:solidFill>
            <a:prstDash val="solid"/>
            <a:headEnd type="none" w="med" len="med"/>
            <a:tailEnd type="triangle" w="med" len="med"/>
          </a:ln>
        </p:spPr>
      </p:sp>
      <p:sp>
        <p:nvSpPr>
          <p:cNvPr id="13319" name="Line 6"/>
          <p:cNvSpPr/>
          <p:nvPr/>
        </p:nvSpPr>
        <p:spPr>
          <a:xfrm>
            <a:off x="3695700" y="4011613"/>
            <a:ext cx="531813" cy="649287"/>
          </a:xfrm>
          <a:prstGeom prst="line">
            <a:avLst/>
          </a:prstGeom>
          <a:ln w="38100" cap="flat" cmpd="sng">
            <a:solidFill>
              <a:srgbClr val="FF0000"/>
            </a:solidFill>
            <a:prstDash val="solid"/>
            <a:headEnd type="none" w="med" len="med"/>
            <a:tailEnd type="triangle" w="med" len="med"/>
          </a:ln>
        </p:spPr>
      </p:sp>
      <p:sp>
        <p:nvSpPr>
          <p:cNvPr id="13320" name="Line 7"/>
          <p:cNvSpPr/>
          <p:nvPr/>
        </p:nvSpPr>
        <p:spPr>
          <a:xfrm>
            <a:off x="2544763" y="3121025"/>
            <a:ext cx="620712" cy="568325"/>
          </a:xfrm>
          <a:prstGeom prst="line">
            <a:avLst/>
          </a:prstGeom>
          <a:ln w="38100" cap="flat" cmpd="sng">
            <a:solidFill>
              <a:srgbClr val="FF0000"/>
            </a:solidFill>
            <a:prstDash val="solid"/>
            <a:headEnd type="none" w="med" len="med"/>
            <a:tailEnd type="triangle" w="med" len="med"/>
          </a:ln>
        </p:spPr>
      </p:sp>
      <p:sp>
        <p:nvSpPr>
          <p:cNvPr id="13321" name="Line 8"/>
          <p:cNvSpPr/>
          <p:nvPr/>
        </p:nvSpPr>
        <p:spPr>
          <a:xfrm flipH="1">
            <a:off x="1039813" y="3121025"/>
            <a:ext cx="619125" cy="568325"/>
          </a:xfrm>
          <a:prstGeom prst="line">
            <a:avLst/>
          </a:prstGeom>
          <a:ln w="12700" cap="flat" cmpd="sng">
            <a:solidFill>
              <a:srgbClr val="000000"/>
            </a:solidFill>
            <a:prstDash val="solid"/>
            <a:headEnd type="none" w="med" len="med"/>
            <a:tailEnd type="triangle" w="med" len="med"/>
          </a:ln>
        </p:spPr>
      </p:sp>
      <p:sp>
        <p:nvSpPr>
          <p:cNvPr id="13322" name="Text Box 9"/>
          <p:cNvSpPr txBox="1"/>
          <p:nvPr/>
        </p:nvSpPr>
        <p:spPr>
          <a:xfrm>
            <a:off x="1606550" y="2797175"/>
            <a:ext cx="1027113" cy="349250"/>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Refund</a:t>
            </a:r>
            <a:endParaRPr lang="en-US" altLang="x-none" sz="1600" dirty="0">
              <a:solidFill>
                <a:schemeClr val="bg2"/>
              </a:solidFill>
              <a:latin typeface="Arial" panose="020B0604020202020204" pitchFamily="34" charset="0"/>
            </a:endParaRPr>
          </a:p>
        </p:txBody>
      </p:sp>
      <p:sp>
        <p:nvSpPr>
          <p:cNvPr id="13323" name="Text Box 10"/>
          <p:cNvSpPr txBox="1"/>
          <p:nvPr/>
        </p:nvSpPr>
        <p:spPr>
          <a:xfrm>
            <a:off x="2720975" y="3689350"/>
            <a:ext cx="1025525" cy="347663"/>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MarSt</a:t>
            </a:r>
            <a:endParaRPr lang="en-US" altLang="x-none" sz="1600" dirty="0">
              <a:solidFill>
                <a:schemeClr val="bg2"/>
              </a:solidFill>
              <a:latin typeface="Arial" panose="020B0604020202020204" pitchFamily="34" charset="0"/>
            </a:endParaRPr>
          </a:p>
        </p:txBody>
      </p:sp>
      <p:sp>
        <p:nvSpPr>
          <p:cNvPr id="13324" name="Text Box 11"/>
          <p:cNvSpPr txBox="1"/>
          <p:nvPr/>
        </p:nvSpPr>
        <p:spPr>
          <a:xfrm>
            <a:off x="1925638" y="4660900"/>
            <a:ext cx="1062037" cy="349250"/>
          </a:xfrm>
          <a:prstGeom prst="rect">
            <a:avLst/>
          </a:prstGeom>
          <a:solidFill>
            <a:srgbClr val="FFFF00"/>
          </a:solidFill>
          <a:ln w="12700" cap="flat" cmpd="sng">
            <a:solidFill>
              <a:srgbClr val="0000FF"/>
            </a:solidFill>
            <a:prstDash val="solid"/>
            <a:miter/>
            <a:headEnd type="none" w="med" len="med"/>
            <a:tailEnd type="none" w="med" len="med"/>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2D1993"/>
                </a:solidFill>
                <a:latin typeface="Arial" panose="020B0604020202020204" pitchFamily="34" charset="0"/>
              </a:rPr>
              <a:t>TaxInc</a:t>
            </a:r>
            <a:endParaRPr lang="en-US" altLang="x-none" sz="1600" dirty="0">
              <a:solidFill>
                <a:schemeClr val="bg2"/>
              </a:solidFill>
              <a:latin typeface="Arial" panose="020B0604020202020204" pitchFamily="34" charset="0"/>
            </a:endParaRPr>
          </a:p>
        </p:txBody>
      </p:sp>
      <p:sp>
        <p:nvSpPr>
          <p:cNvPr id="13325" name="AutoShape 12"/>
          <p:cNvSpPr/>
          <p:nvPr/>
        </p:nvSpPr>
        <p:spPr>
          <a:xfrm>
            <a:off x="2941638" y="5629275"/>
            <a:ext cx="688975" cy="449263"/>
          </a:xfrm>
          <a:prstGeom prst="roundRect">
            <a:avLst>
              <a:gd name="adj" fmla="val 16769"/>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3326" name="Text Box 13"/>
          <p:cNvSpPr txBox="1"/>
          <p:nvPr/>
        </p:nvSpPr>
        <p:spPr>
          <a:xfrm>
            <a:off x="2859088" y="5629275"/>
            <a:ext cx="750887" cy="336550"/>
          </a:xfrm>
          <a:prstGeom prst="rect">
            <a:avLst/>
          </a:prstGeom>
          <a:noFill/>
          <a:ln w="12700">
            <a:noFill/>
          </a:ln>
        </p:spPr>
        <p:txBody>
          <a:bodyPr>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13327" name="AutoShape 14"/>
          <p:cNvSpPr/>
          <p:nvPr/>
        </p:nvSpPr>
        <p:spPr>
          <a:xfrm>
            <a:off x="1304925" y="5649913"/>
            <a:ext cx="717550" cy="446087"/>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3328" name="Text Box 15"/>
          <p:cNvSpPr txBox="1"/>
          <p:nvPr/>
        </p:nvSpPr>
        <p:spPr>
          <a:xfrm>
            <a:off x="1435100" y="5632450"/>
            <a:ext cx="48895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13329" name="AutoShape 16"/>
          <p:cNvSpPr/>
          <p:nvPr/>
        </p:nvSpPr>
        <p:spPr>
          <a:xfrm>
            <a:off x="685800" y="3706813"/>
            <a:ext cx="752475" cy="427037"/>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3330" name="Text Box 17"/>
          <p:cNvSpPr txBox="1"/>
          <p:nvPr/>
        </p:nvSpPr>
        <p:spPr>
          <a:xfrm>
            <a:off x="814388" y="3689350"/>
            <a:ext cx="488950"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rgbClr val="00FFFF"/>
              </a:solidFill>
              <a:latin typeface="Arial" panose="020B0604020202020204" pitchFamily="34" charset="0"/>
            </a:endParaRPr>
          </a:p>
        </p:txBody>
      </p:sp>
      <p:sp>
        <p:nvSpPr>
          <p:cNvPr id="13331" name="AutoShape 18"/>
          <p:cNvSpPr/>
          <p:nvPr/>
        </p:nvSpPr>
        <p:spPr>
          <a:xfrm>
            <a:off x="3860800" y="4694238"/>
            <a:ext cx="752475" cy="466725"/>
          </a:xfrm>
          <a:prstGeom prst="roundRect">
            <a:avLst>
              <a:gd name="adj" fmla="val 16667"/>
            </a:avLst>
          </a:prstGeom>
          <a:solidFill>
            <a:srgbClr val="33CCFF"/>
          </a:solidFill>
          <a:ln w="12700">
            <a:noFill/>
          </a:ln>
        </p:spPr>
        <p:txBody>
          <a:bodyPr wrap="none" anchor="ctr" anchorCtr="0"/>
          <a:p>
            <a:endParaRPr lang="en-US" altLang="x-none" dirty="0">
              <a:latin typeface="Arial" panose="020B0604020202020204" pitchFamily="34" charset="0"/>
            </a:endParaRPr>
          </a:p>
        </p:txBody>
      </p:sp>
      <p:sp>
        <p:nvSpPr>
          <p:cNvPr id="13332" name="Text Box 19"/>
          <p:cNvSpPr txBox="1"/>
          <p:nvPr/>
        </p:nvSpPr>
        <p:spPr>
          <a:xfrm>
            <a:off x="3968750" y="4694238"/>
            <a:ext cx="490538" cy="336550"/>
          </a:xfrm>
          <a:prstGeom prst="rect">
            <a:avLst/>
          </a:prstGeom>
          <a:noFill/>
          <a:ln w="12700">
            <a:noFill/>
          </a:ln>
        </p:spPr>
        <p:txBody>
          <a:bodyPr wrap="none">
            <a:spAutoFit/>
          </a:bodyPr>
          <a:p>
            <a:pPr marL="342900" indent="-342900" algn="ctr" eaLnBrk="0" hangingPunct="0">
              <a:spcBef>
                <a:spcPct val="20000"/>
              </a:spcBef>
              <a:buClr>
                <a:schemeClr val="accent2"/>
              </a:buClr>
              <a:buSzPct val="75000"/>
              <a:buFont typeface="Monotype Sorts" charset="2"/>
            </a:pPr>
            <a:r>
              <a:rPr lang="en-US" altLang="x-none" sz="1600" b="1" dirty="0">
                <a:solidFill>
                  <a:srgbClr val="800000"/>
                </a:solidFill>
                <a:latin typeface="Arial" panose="020B0604020202020204" pitchFamily="34" charset="0"/>
              </a:rPr>
              <a:t>NO</a:t>
            </a:r>
            <a:endParaRPr lang="en-US" altLang="x-none" sz="1600" dirty="0">
              <a:solidFill>
                <a:schemeClr val="bg2"/>
              </a:solidFill>
              <a:latin typeface="Arial" panose="020B0604020202020204" pitchFamily="34" charset="0"/>
            </a:endParaRPr>
          </a:p>
        </p:txBody>
      </p:sp>
      <p:sp>
        <p:nvSpPr>
          <p:cNvPr id="13333" name="Text Box 20"/>
          <p:cNvSpPr txBox="1"/>
          <p:nvPr/>
        </p:nvSpPr>
        <p:spPr>
          <a:xfrm>
            <a:off x="860425" y="3121025"/>
            <a:ext cx="533400"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Yes</a:t>
            </a:r>
            <a:endParaRPr lang="en-US" altLang="x-none" sz="1600" dirty="0">
              <a:solidFill>
                <a:schemeClr val="bg2"/>
              </a:solidFill>
              <a:latin typeface="Arial" panose="020B0604020202020204" pitchFamily="34" charset="0"/>
            </a:endParaRPr>
          </a:p>
        </p:txBody>
      </p:sp>
      <p:sp>
        <p:nvSpPr>
          <p:cNvPr id="13334" name="Text Box 21"/>
          <p:cNvSpPr txBox="1"/>
          <p:nvPr/>
        </p:nvSpPr>
        <p:spPr>
          <a:xfrm>
            <a:off x="2897188" y="3121025"/>
            <a:ext cx="442912"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solidFill>
                  <a:srgbClr val="FF0000"/>
                </a:solidFill>
                <a:latin typeface="Arial" panose="020B0604020202020204" pitchFamily="34" charset="0"/>
              </a:rPr>
              <a:t>No</a:t>
            </a:r>
            <a:endParaRPr lang="en-US" altLang="x-none" sz="1600" dirty="0">
              <a:solidFill>
                <a:srgbClr val="FF0000"/>
              </a:solidFill>
              <a:latin typeface="Arial" panose="020B0604020202020204" pitchFamily="34" charset="0"/>
            </a:endParaRPr>
          </a:p>
        </p:txBody>
      </p:sp>
      <p:sp>
        <p:nvSpPr>
          <p:cNvPr id="13335" name="Text Box 22"/>
          <p:cNvSpPr txBox="1"/>
          <p:nvPr/>
        </p:nvSpPr>
        <p:spPr>
          <a:xfrm>
            <a:off x="4022725" y="4059238"/>
            <a:ext cx="93027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solidFill>
                  <a:srgbClr val="FF0000"/>
                </a:solidFill>
                <a:latin typeface="Arial" panose="020B0604020202020204" pitchFamily="34" charset="0"/>
              </a:rPr>
              <a:t>Married </a:t>
            </a:r>
            <a:endParaRPr lang="en-US" altLang="x-none" sz="1600" dirty="0">
              <a:solidFill>
                <a:srgbClr val="FF0000"/>
              </a:solidFill>
              <a:latin typeface="Arial" panose="020B0604020202020204" pitchFamily="34" charset="0"/>
            </a:endParaRPr>
          </a:p>
        </p:txBody>
      </p:sp>
      <p:sp>
        <p:nvSpPr>
          <p:cNvPr id="13336" name="Text Box 23"/>
          <p:cNvSpPr txBox="1"/>
          <p:nvPr/>
        </p:nvSpPr>
        <p:spPr>
          <a:xfrm>
            <a:off x="1662113" y="4094163"/>
            <a:ext cx="16605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Single, Divorced</a:t>
            </a:r>
            <a:endParaRPr lang="en-US" altLang="x-none" sz="1600" dirty="0">
              <a:solidFill>
                <a:schemeClr val="bg2"/>
              </a:solidFill>
              <a:latin typeface="Arial" panose="020B0604020202020204" pitchFamily="34" charset="0"/>
            </a:endParaRPr>
          </a:p>
        </p:txBody>
      </p:sp>
      <p:sp>
        <p:nvSpPr>
          <p:cNvPr id="13337" name="Text Box 24"/>
          <p:cNvSpPr txBox="1"/>
          <p:nvPr/>
        </p:nvSpPr>
        <p:spPr>
          <a:xfrm>
            <a:off x="1155700" y="5065713"/>
            <a:ext cx="7207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&lt; 80K</a:t>
            </a:r>
            <a:endParaRPr lang="en-US" altLang="x-none" sz="1600" dirty="0">
              <a:solidFill>
                <a:schemeClr val="bg2"/>
              </a:solidFill>
              <a:latin typeface="Arial" panose="020B0604020202020204" pitchFamily="34" charset="0"/>
            </a:endParaRPr>
          </a:p>
        </p:txBody>
      </p:sp>
      <p:sp>
        <p:nvSpPr>
          <p:cNvPr id="13338" name="Text Box 25"/>
          <p:cNvSpPr txBox="1"/>
          <p:nvPr/>
        </p:nvSpPr>
        <p:spPr>
          <a:xfrm>
            <a:off x="3101975" y="5065713"/>
            <a:ext cx="720725" cy="336550"/>
          </a:xfrm>
          <a:prstGeom prst="rect">
            <a:avLst/>
          </a:prstGeom>
          <a:noFill/>
          <a:ln w="12700">
            <a:noFill/>
          </a:ln>
        </p:spPr>
        <p:txBody>
          <a:bodyPr wrap="none">
            <a:spAutoFit/>
          </a:bodyPr>
          <a:p>
            <a:pPr marL="342900" indent="-342900" algn="r" eaLnBrk="0" hangingPunct="0">
              <a:spcBef>
                <a:spcPct val="20000"/>
              </a:spcBef>
              <a:buClr>
                <a:schemeClr val="accent2"/>
              </a:buClr>
              <a:buSzPct val="75000"/>
              <a:buFont typeface="Monotype Sorts" charset="2"/>
            </a:pPr>
            <a:r>
              <a:rPr lang="en-US" altLang="x-none" sz="1600" dirty="0">
                <a:latin typeface="Arial" panose="020B0604020202020204" pitchFamily="34" charset="0"/>
              </a:rPr>
              <a:t>&gt; 80K</a:t>
            </a:r>
            <a:endParaRPr lang="en-US" altLang="x-none" sz="1600" dirty="0">
              <a:solidFill>
                <a:schemeClr val="bg2"/>
              </a:solidFill>
              <a:latin typeface="Arial" panose="020B0604020202020204" pitchFamily="34" charset="0"/>
            </a:endParaRPr>
          </a:p>
        </p:txBody>
      </p:sp>
      <p:graphicFrame>
        <p:nvGraphicFramePr>
          <p:cNvPr id="13314" name="Object 26"/>
          <p:cNvGraphicFramePr>
            <a:graphicFrameLocks noChangeAspect="1"/>
          </p:cNvGraphicFramePr>
          <p:nvPr/>
        </p:nvGraphicFramePr>
        <p:xfrm>
          <a:off x="4953000" y="2035175"/>
          <a:ext cx="3343275" cy="1133475"/>
        </p:xfrm>
        <a:graphic>
          <a:graphicData uri="http://schemas.openxmlformats.org/presentationml/2006/ole">
            <mc:AlternateContent xmlns:mc="http://schemas.openxmlformats.org/markup-compatibility/2006">
              <mc:Choice xmlns:v="urn:schemas-microsoft-com:vml" Requires="v">
                <p:oleObj spid="_x0000_s3085" name="" r:id="rId1" imgW="4651375" imgH="1576070" progId="Word.Document.8">
                  <p:embed/>
                </p:oleObj>
              </mc:Choice>
              <mc:Fallback>
                <p:oleObj name="" r:id="rId1" imgW="4651375" imgH="1576070" progId="Word.Document.8">
                  <p:embed/>
                  <p:pic>
                    <p:nvPicPr>
                      <p:cNvPr id="0" name="Picture 3084"/>
                      <p:cNvPicPr/>
                      <p:nvPr/>
                    </p:nvPicPr>
                    <p:blipFill>
                      <a:blip r:embed="rId2"/>
                      <a:stretch>
                        <a:fillRect/>
                      </a:stretch>
                    </p:blipFill>
                    <p:spPr>
                      <a:xfrm>
                        <a:off x="4953000" y="2035175"/>
                        <a:ext cx="3343275" cy="1133475"/>
                      </a:xfrm>
                      <a:prstGeom prst="rect">
                        <a:avLst/>
                      </a:prstGeom>
                      <a:noFill/>
                      <a:ln w="38100">
                        <a:noFill/>
                        <a:miter/>
                      </a:ln>
                    </p:spPr>
                  </p:pic>
                </p:oleObj>
              </mc:Fallback>
            </mc:AlternateContent>
          </a:graphicData>
        </a:graphic>
      </p:graphicFrame>
      <p:sp>
        <p:nvSpPr>
          <p:cNvPr id="13339" name="Text Box 27"/>
          <p:cNvSpPr txBox="1"/>
          <p:nvPr/>
        </p:nvSpPr>
        <p:spPr>
          <a:xfrm>
            <a:off x="4800600" y="1577975"/>
            <a:ext cx="1600200" cy="336550"/>
          </a:xfrm>
          <a:prstGeom prst="rect">
            <a:avLst/>
          </a:prstGeom>
          <a:noFill/>
          <a:ln w="12700">
            <a:noFill/>
          </a:ln>
        </p:spPr>
        <p:txBody>
          <a:bodyPr>
            <a:spAutoFit/>
          </a:bodyPr>
          <a:p>
            <a:pPr marL="342900" indent="-342900" algn="ctr" eaLnBrk="0" hangingPunct="0">
              <a:lnSpc>
                <a:spcPct val="80000"/>
              </a:lnSpc>
              <a:spcBef>
                <a:spcPct val="20000"/>
              </a:spcBef>
              <a:buClr>
                <a:schemeClr val="accent2"/>
              </a:buClr>
              <a:buSzPct val="75000"/>
              <a:buFont typeface="Monotype Sorts" charset="2"/>
            </a:pPr>
            <a:r>
              <a:rPr lang="en-US" altLang="x-none" sz="2000" b="1" dirty="0">
                <a:solidFill>
                  <a:schemeClr val="tx2"/>
                </a:solidFill>
                <a:latin typeface="Arial" panose="020B0604020202020204" pitchFamily="34" charset="0"/>
              </a:rPr>
              <a:t>Test Data</a:t>
            </a:r>
            <a:endParaRPr lang="en-US" altLang="x-none" sz="2000" dirty="0">
              <a:solidFill>
                <a:schemeClr val="bg2"/>
              </a:solidFill>
              <a:latin typeface="Arial" panose="020B0604020202020204" pitchFamily="34" charset="0"/>
            </a:endParaRPr>
          </a:p>
        </p:txBody>
      </p:sp>
      <p:sp>
        <p:nvSpPr>
          <p:cNvPr id="13340" name="Line 28"/>
          <p:cNvSpPr/>
          <p:nvPr/>
        </p:nvSpPr>
        <p:spPr>
          <a:xfrm flipH="1">
            <a:off x="4495800" y="3025775"/>
            <a:ext cx="3124200" cy="1828800"/>
          </a:xfrm>
          <a:prstGeom prst="line">
            <a:avLst/>
          </a:prstGeom>
          <a:ln w="15875" cap="flat" cmpd="sng">
            <a:solidFill>
              <a:srgbClr val="FF0000"/>
            </a:solidFill>
            <a:prstDash val="dash"/>
            <a:headEnd type="triangle" w="med" len="med"/>
            <a:tailEnd type="none" w="med" len="med"/>
          </a:ln>
        </p:spPr>
      </p:sp>
      <p:sp>
        <p:nvSpPr>
          <p:cNvPr id="13341" name="Text Box 29"/>
          <p:cNvSpPr txBox="1"/>
          <p:nvPr/>
        </p:nvSpPr>
        <p:spPr>
          <a:xfrm>
            <a:off x="6019800" y="4016375"/>
            <a:ext cx="2667000" cy="336550"/>
          </a:xfrm>
          <a:prstGeom prst="rect">
            <a:avLst/>
          </a:prstGeom>
          <a:noFill/>
          <a:ln w="12700">
            <a:noFill/>
          </a:ln>
        </p:spPr>
        <p:txBody>
          <a:bodyPr>
            <a:spAutoFit/>
          </a:bodyPr>
          <a:p>
            <a:pPr marL="342900" indent="-342900" eaLnBrk="0" hangingPunct="0">
              <a:lnSpc>
                <a:spcPct val="80000"/>
              </a:lnSpc>
              <a:spcBef>
                <a:spcPct val="20000"/>
              </a:spcBef>
              <a:buClr>
                <a:schemeClr val="accent2"/>
              </a:buClr>
              <a:buSzPct val="75000"/>
              <a:buFont typeface="Monotype Sorts" charset="2"/>
            </a:pPr>
            <a:r>
              <a:rPr lang="en-US" altLang="x-none" sz="2000" dirty="0">
                <a:latin typeface="Arial" panose="020B0604020202020204" pitchFamily="34" charset="0"/>
              </a:rPr>
              <a:t>Assign Cheat to “No”</a:t>
            </a:r>
            <a:endParaRPr lang="en-US" altLang="x-none" sz="2000" dirty="0">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9"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Decision Tree Classification Task</a:t>
            </a:r>
            <a:endParaRPr lang="en-US" altLang="x-none" sz="3200" b="1" dirty="0">
              <a:latin typeface="Times New Roman" panose="02020603050405020304" pitchFamily="18" charset="0"/>
              <a:ea typeface="Times New Roman" panose="02020603050405020304" pitchFamily="18" charset="0"/>
            </a:endParaRPr>
          </a:p>
        </p:txBody>
      </p:sp>
      <p:graphicFrame>
        <p:nvGraphicFramePr>
          <p:cNvPr id="14338" name="Object 3"/>
          <p:cNvGraphicFramePr>
            <a:graphicFrameLocks noChangeAspect="1"/>
          </p:cNvGraphicFramePr>
          <p:nvPr>
            <p:ph idx="1"/>
          </p:nvPr>
        </p:nvGraphicFramePr>
        <p:xfrm>
          <a:off x="1131888" y="1600200"/>
          <a:ext cx="6878637" cy="4530725"/>
        </p:xfrm>
        <a:graphic>
          <a:graphicData uri="http://schemas.openxmlformats.org/presentationml/2006/ole">
            <mc:AlternateContent xmlns:mc="http://schemas.openxmlformats.org/markup-compatibility/2006">
              <mc:Choice xmlns:v="urn:schemas-microsoft-com:vml" Requires="v">
                <p:oleObj spid="_x0000_s3084" name="" r:id="rId1" imgW="8506460" imgH="6339205" progId="Visio.Drawing.6">
                  <p:embed/>
                </p:oleObj>
              </mc:Choice>
              <mc:Fallback>
                <p:oleObj name="" r:id="rId1" imgW="8506460" imgH="6339205" progId="Visio.Drawing.6">
                  <p:embed/>
                  <p:pic>
                    <p:nvPicPr>
                      <p:cNvPr id="0" name="Picture 3083"/>
                      <p:cNvPicPr/>
                      <p:nvPr/>
                    </p:nvPicPr>
                    <p:blipFill>
                      <a:blip r:embed="rId2"/>
                      <a:srcRect/>
                      <a:stretch>
                        <a:fillRect/>
                      </a:stretch>
                    </p:blipFill>
                    <p:spPr>
                      <a:xfrm>
                        <a:off x="1131888" y="1600200"/>
                        <a:ext cx="6878637" cy="4530725"/>
                      </a:xfrm>
                      <a:prstGeom prst="rect">
                        <a:avLst/>
                      </a:prstGeom>
                      <a:noFill/>
                      <a:ln w="38100">
                        <a:miter/>
                      </a:ln>
                    </p:spPr>
                  </p:pic>
                </p:oleObj>
              </mc:Fallback>
            </mc:AlternateContent>
          </a:graphicData>
        </a:graphic>
      </p:graphicFrame>
      <p:sp>
        <p:nvSpPr>
          <p:cNvPr id="14340" name="Line 4"/>
          <p:cNvSpPr/>
          <p:nvPr/>
        </p:nvSpPr>
        <p:spPr>
          <a:xfrm flipH="1">
            <a:off x="6400800" y="2362200"/>
            <a:ext cx="685800" cy="0"/>
          </a:xfrm>
          <a:prstGeom prst="line">
            <a:avLst/>
          </a:prstGeom>
          <a:ln w="63500" cap="flat" cmpd="sng">
            <a:solidFill>
              <a:srgbClr val="FF0000"/>
            </a:solidFill>
            <a:prstDash val="solid"/>
            <a:headEnd type="none" w="med" len="med"/>
            <a:tailEnd type="triangle" w="med" len="med"/>
          </a:ln>
        </p:spPr>
      </p:sp>
      <p:sp>
        <p:nvSpPr>
          <p:cNvPr id="14341" name="Text Box 5"/>
          <p:cNvSpPr txBox="1"/>
          <p:nvPr/>
        </p:nvSpPr>
        <p:spPr>
          <a:xfrm>
            <a:off x="7086600" y="4283075"/>
            <a:ext cx="1219200" cy="517525"/>
          </a:xfrm>
          <a:prstGeom prst="rect">
            <a:avLst/>
          </a:prstGeom>
          <a:noFill/>
          <a:ln w="12700">
            <a:noFill/>
          </a:ln>
        </p:spPr>
        <p:txBody>
          <a:bodyPr>
            <a:spAutoFit/>
          </a:bodyPr>
          <a:p>
            <a:pPr eaLnBrk="0" hangingPunct="0">
              <a:spcBef>
                <a:spcPct val="50000"/>
              </a:spcBef>
            </a:pPr>
            <a:r>
              <a:rPr lang="en-US" altLang="x-none" sz="1400" b="1" dirty="0">
                <a:latin typeface="Arial" panose="020B0604020202020204" pitchFamily="34" charset="0"/>
              </a:rPr>
              <a:t>Decision Tree</a:t>
            </a:r>
            <a:endParaRPr lang="en-US" altLang="x-none" sz="1400" b="1" dirty="0">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a:xfrm>
            <a:off x="457200" y="228600"/>
            <a:ext cx="8229600" cy="1143000"/>
          </a:xfrm>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Decision Tree Induction</a:t>
            </a:r>
            <a:endParaRPr lang="en-US" altLang="x-none" sz="3200" b="1" dirty="0">
              <a:latin typeface="Times New Roman" panose="02020603050405020304" pitchFamily="18" charset="0"/>
              <a:ea typeface="Times New Roman" panose="02020603050405020304" pitchFamily="18" charset="0"/>
            </a:endParaRPr>
          </a:p>
        </p:txBody>
      </p:sp>
      <p:sp>
        <p:nvSpPr>
          <p:cNvPr id="38915" name="Rectangle 3"/>
          <p:cNvSpPr>
            <a:spLocks noGrp="1"/>
          </p:cNvSpPr>
          <p:nvPr>
            <p:ph idx="1"/>
          </p:nvPr>
        </p:nvSpPr>
        <p:spPr>
          <a:xfrm>
            <a:off x="533400" y="1600200"/>
            <a:ext cx="8229600" cy="4525963"/>
          </a:xfrm>
          <a:ln/>
        </p:spPr>
        <p:txBody>
          <a:bodyPr vert="horz" wrap="square" lIns="91440" tIns="45720" rIns="91440" bIns="45720" anchor="t" anchorCtr="0"/>
          <a:p>
            <a:pPr eaLnBrk="1" hangingPunct="1"/>
            <a:r>
              <a:rPr lang="en-US" altLang="x-none" sz="2400" dirty="0">
                <a:latin typeface="Times New Roman" panose="02020603050405020304" pitchFamily="18" charset="0"/>
                <a:cs typeface="Times New Roman" panose="02020603050405020304" pitchFamily="18" charset="0"/>
              </a:rPr>
              <a:t>Many Algorithms:</a:t>
            </a:r>
            <a:endParaRPr lang="en-US" altLang="x-none" sz="2400" dirty="0">
              <a:latin typeface="Times New Roman" panose="02020603050405020304" pitchFamily="18" charset="0"/>
              <a:cs typeface="Times New Roman" panose="02020603050405020304" pitchFamily="18" charset="0"/>
            </a:endParaRPr>
          </a:p>
          <a:p>
            <a:pPr lvl="1" eaLnBrk="1" hangingPunct="1"/>
            <a:r>
              <a:rPr lang="en-US" altLang="x-none" sz="2400" dirty="0">
                <a:latin typeface="Times New Roman" panose="02020603050405020304" pitchFamily="18" charset="0"/>
                <a:cs typeface="Times New Roman" panose="02020603050405020304" pitchFamily="18" charset="0"/>
              </a:rPr>
              <a:t>1R</a:t>
            </a:r>
            <a:endParaRPr lang="en-US" altLang="x-none" sz="2400" dirty="0">
              <a:latin typeface="Times New Roman" panose="02020603050405020304" pitchFamily="18" charset="0"/>
              <a:cs typeface="Times New Roman" panose="02020603050405020304" pitchFamily="18" charset="0"/>
            </a:endParaRPr>
          </a:p>
          <a:p>
            <a:pPr lvl="1" eaLnBrk="1" hangingPunct="1"/>
            <a:r>
              <a:rPr lang="en-US" altLang="x-none" sz="2400" dirty="0">
                <a:latin typeface="Times New Roman" panose="02020603050405020304" pitchFamily="18" charset="0"/>
                <a:cs typeface="Times New Roman" panose="02020603050405020304" pitchFamily="18" charset="0"/>
              </a:rPr>
              <a:t>Hunt’s Algorithm (one of the earliest)</a:t>
            </a:r>
            <a:endParaRPr lang="en-US" altLang="x-none" sz="2400" dirty="0">
              <a:latin typeface="Times New Roman" panose="02020603050405020304" pitchFamily="18" charset="0"/>
              <a:cs typeface="Times New Roman" panose="02020603050405020304" pitchFamily="18" charset="0"/>
            </a:endParaRPr>
          </a:p>
          <a:p>
            <a:pPr lvl="1" eaLnBrk="1" hangingPunct="1"/>
            <a:r>
              <a:rPr lang="en-US" altLang="x-none" sz="2400" dirty="0">
                <a:latin typeface="Times New Roman" panose="02020603050405020304" pitchFamily="18" charset="0"/>
                <a:cs typeface="Times New Roman" panose="02020603050405020304" pitchFamily="18" charset="0"/>
              </a:rPr>
              <a:t>CART</a:t>
            </a:r>
            <a:endParaRPr lang="en-US" altLang="x-none" sz="2400" dirty="0">
              <a:latin typeface="Times New Roman" panose="02020603050405020304" pitchFamily="18" charset="0"/>
              <a:cs typeface="Times New Roman" panose="02020603050405020304" pitchFamily="18" charset="0"/>
            </a:endParaRPr>
          </a:p>
          <a:p>
            <a:pPr lvl="1" eaLnBrk="1" hangingPunct="1"/>
            <a:r>
              <a:rPr lang="en-US" altLang="x-none" sz="2400" dirty="0">
                <a:latin typeface="Times New Roman" panose="02020603050405020304" pitchFamily="18" charset="0"/>
                <a:cs typeface="Times New Roman" panose="02020603050405020304" pitchFamily="18" charset="0"/>
              </a:rPr>
              <a:t>ID3, C4.5</a:t>
            </a:r>
            <a:endParaRPr lang="en-US" altLang="x-none" sz="2400" dirty="0">
              <a:latin typeface="Times New Roman" panose="02020603050405020304" pitchFamily="18" charset="0"/>
              <a:cs typeface="Times New Roman" panose="02020603050405020304" pitchFamily="18" charset="0"/>
            </a:endParaRPr>
          </a:p>
          <a:p>
            <a:pPr lvl="1" eaLnBrk="1" hangingPunct="1"/>
            <a:r>
              <a:rPr lang="en-US" altLang="x-none" sz="2400" dirty="0">
                <a:latin typeface="Times New Roman" panose="02020603050405020304" pitchFamily="18" charset="0"/>
                <a:cs typeface="Times New Roman" panose="02020603050405020304" pitchFamily="18" charset="0"/>
              </a:rPr>
              <a:t>SLIQ,SPRINT</a:t>
            </a:r>
            <a:endParaRPr lang="en-US" altLang="x-none"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Tree Induction</a:t>
            </a:r>
            <a:endParaRPr lang="en-US" altLang="x-none" sz="3200" b="1" dirty="0">
              <a:latin typeface="Times New Roman" panose="02020603050405020304" pitchFamily="18" charset="0"/>
              <a:ea typeface="Times New Roman" panose="02020603050405020304" pitchFamily="18" charset="0"/>
            </a:endParaRPr>
          </a:p>
        </p:txBody>
      </p:sp>
      <p:sp>
        <p:nvSpPr>
          <p:cNvPr id="39939" name="Rectangle 3"/>
          <p:cNvSpPr>
            <a:spLocks noGrp="1"/>
          </p:cNvSpPr>
          <p:nvPr>
            <p:ph idx="1"/>
          </p:nvPr>
        </p:nvSpPr>
        <p:spPr>
          <a:ln/>
        </p:spPr>
        <p:txBody>
          <a:bodyPr vert="horz" wrap="square" lIns="91440" tIns="45720" rIns="91440" bIns="45720" anchor="t" anchorCtr="0"/>
          <a:p>
            <a:pPr eaLnBrk="1" hangingPunct="1"/>
            <a:r>
              <a:rPr lang="en-US" altLang="x-none" sz="2400" dirty="0">
                <a:latin typeface="Times New Roman" panose="02020603050405020304" pitchFamily="18" charset="0"/>
                <a:cs typeface="Times New Roman" panose="02020603050405020304" pitchFamily="18" charset="0"/>
              </a:rPr>
              <a:t>Greedy Strategy.</a:t>
            </a:r>
            <a:endParaRPr lang="en-US" altLang="x-none" sz="2400" dirty="0">
              <a:latin typeface="Times New Roman" panose="02020603050405020304" pitchFamily="18" charset="0"/>
              <a:cs typeface="Times New Roman" panose="02020603050405020304" pitchFamily="18" charset="0"/>
            </a:endParaRPr>
          </a:p>
          <a:p>
            <a:pPr lvl="1" eaLnBrk="1" hangingPunct="1"/>
            <a:r>
              <a:rPr lang="en-US" altLang="x-none" sz="2400" dirty="0">
                <a:latin typeface="Times New Roman" panose="02020603050405020304" pitchFamily="18" charset="0"/>
                <a:cs typeface="Times New Roman" panose="02020603050405020304" pitchFamily="18" charset="0"/>
              </a:rPr>
              <a:t>Split the records based on an attribute test that optimizes certain criterion.</a:t>
            </a:r>
            <a:endParaRPr lang="en-US" altLang="x-none" sz="2400" dirty="0">
              <a:latin typeface="Times New Roman" panose="02020603050405020304" pitchFamily="18" charset="0"/>
              <a:cs typeface="Times New Roman" panose="02020603050405020304" pitchFamily="18" charset="0"/>
            </a:endParaRPr>
          </a:p>
          <a:p>
            <a:pPr eaLnBrk="1" hangingPunct="1"/>
            <a:endParaRPr lang="en-US" altLang="x-none" sz="2400" dirty="0">
              <a:latin typeface="Times New Roman" panose="02020603050405020304" pitchFamily="18" charset="0"/>
              <a:cs typeface="Times New Roman" panose="02020603050405020304" pitchFamily="18" charset="0"/>
            </a:endParaRPr>
          </a:p>
          <a:p>
            <a:pPr eaLnBrk="1" hangingPunct="1"/>
            <a:r>
              <a:rPr lang="en-US" altLang="x-none" sz="2400" b="1" dirty="0">
                <a:solidFill>
                  <a:srgbClr val="FF0000"/>
                </a:solidFill>
                <a:latin typeface="Times New Roman" panose="02020603050405020304" pitchFamily="18" charset="0"/>
                <a:cs typeface="Times New Roman" panose="02020603050405020304" pitchFamily="18" charset="0"/>
              </a:rPr>
              <a:t>ISSUES:</a:t>
            </a:r>
            <a:endParaRPr lang="en-US" altLang="x-none" sz="2400" b="1" dirty="0">
              <a:solidFill>
                <a:srgbClr val="FF0000"/>
              </a:solidFill>
              <a:latin typeface="Times New Roman" panose="02020603050405020304" pitchFamily="18" charset="0"/>
              <a:cs typeface="Times New Roman" panose="02020603050405020304" pitchFamily="18" charset="0"/>
            </a:endParaRPr>
          </a:p>
          <a:p>
            <a:pPr lvl="1" eaLnBrk="1" hangingPunct="1"/>
            <a:r>
              <a:rPr lang="en-US" altLang="x-none" sz="2400" dirty="0">
                <a:latin typeface="Times New Roman" panose="02020603050405020304" pitchFamily="18" charset="0"/>
                <a:cs typeface="Times New Roman" panose="02020603050405020304" pitchFamily="18" charset="0"/>
              </a:rPr>
              <a:t>Determine how to split the records</a:t>
            </a:r>
            <a:endParaRPr lang="en-US" altLang="x-none" sz="2400" dirty="0">
              <a:latin typeface="Times New Roman" panose="02020603050405020304" pitchFamily="18" charset="0"/>
              <a:cs typeface="Times New Roman" panose="02020603050405020304" pitchFamily="18" charset="0"/>
            </a:endParaRPr>
          </a:p>
          <a:p>
            <a:pPr lvl="2" eaLnBrk="1" hangingPunct="1"/>
            <a:r>
              <a:rPr lang="en-US" altLang="x-none" dirty="0">
                <a:latin typeface="Times New Roman" panose="02020603050405020304" pitchFamily="18" charset="0"/>
                <a:cs typeface="Times New Roman" panose="02020603050405020304" pitchFamily="18" charset="0"/>
              </a:rPr>
              <a:t>How to specify the attribute test condition?</a:t>
            </a:r>
            <a:endParaRPr lang="en-US" altLang="x-none" dirty="0">
              <a:latin typeface="Times New Roman" panose="02020603050405020304" pitchFamily="18" charset="0"/>
              <a:cs typeface="Times New Roman" panose="02020603050405020304" pitchFamily="18" charset="0"/>
            </a:endParaRPr>
          </a:p>
          <a:p>
            <a:pPr lvl="2" eaLnBrk="1" hangingPunct="1"/>
            <a:r>
              <a:rPr lang="en-US" altLang="x-none" dirty="0">
                <a:latin typeface="Times New Roman" panose="02020603050405020304" pitchFamily="18" charset="0"/>
                <a:cs typeface="Times New Roman" panose="02020603050405020304" pitchFamily="18" charset="0"/>
              </a:rPr>
              <a:t>How to determine the best split?</a:t>
            </a:r>
            <a:endParaRPr lang="en-US" altLang="x-none" dirty="0">
              <a:latin typeface="Times New Roman" panose="02020603050405020304" pitchFamily="18" charset="0"/>
              <a:cs typeface="Times New Roman" panose="02020603050405020304" pitchFamily="18" charset="0"/>
            </a:endParaRPr>
          </a:p>
          <a:p>
            <a:pPr lvl="1" eaLnBrk="1" hangingPunct="1"/>
            <a:r>
              <a:rPr lang="en-US" altLang="x-none" sz="2400" dirty="0">
                <a:latin typeface="Times New Roman" panose="02020603050405020304" pitchFamily="18" charset="0"/>
                <a:cs typeface="Times New Roman" panose="02020603050405020304" pitchFamily="18" charset="0"/>
              </a:rPr>
              <a:t>Determine when to stop splitting</a:t>
            </a:r>
            <a:endParaRPr lang="en-US" altLang="x-none" sz="2400" dirty="0">
              <a:latin typeface="Times New Roman" panose="02020603050405020304" pitchFamily="18" charset="0"/>
              <a:cs typeface="Times New Roman" panose="02020603050405020304" pitchFamily="18" charset="0"/>
            </a:endParaRPr>
          </a:p>
          <a:p>
            <a:pPr lvl="1" eaLnBrk="1" hangingPunct="1"/>
            <a:endParaRPr lang="en-US" altLang="x-none"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How to Specify Test Condition?</a:t>
            </a:r>
            <a:endParaRPr lang="en-US" altLang="x-none" sz="3200" b="1" dirty="0">
              <a:latin typeface="Times New Roman" panose="02020603050405020304" pitchFamily="18" charset="0"/>
              <a:ea typeface="Times New Roman" panose="02020603050405020304" pitchFamily="18" charset="0"/>
            </a:endParaRPr>
          </a:p>
        </p:txBody>
      </p:sp>
      <p:sp>
        <p:nvSpPr>
          <p:cNvPr id="40963" name="Rectangle 3"/>
          <p:cNvSpPr>
            <a:spLocks noGrp="1"/>
          </p:cNvSpPr>
          <p:nvPr>
            <p:ph idx="1"/>
          </p:nvPr>
        </p:nvSpPr>
        <p:spPr>
          <a:xfrm>
            <a:off x="457200" y="1447800"/>
            <a:ext cx="8229600" cy="4525963"/>
          </a:xfrm>
          <a:ln/>
        </p:spPr>
        <p:txBody>
          <a:bodyPr vert="horz" wrap="square" lIns="91440" tIns="45720" rIns="91440" bIns="45720" anchor="t" anchorCtr="0"/>
          <a:p>
            <a:pPr eaLnBrk="1" hangingPunct="1"/>
            <a:r>
              <a:rPr lang="en-US" altLang="x-none" sz="2400" dirty="0">
                <a:latin typeface="Times New Roman" panose="02020603050405020304" pitchFamily="18" charset="0"/>
                <a:cs typeface="Times New Roman" panose="02020603050405020304" pitchFamily="18" charset="0"/>
              </a:rPr>
              <a:t>Depends on attribute types</a:t>
            </a:r>
            <a:endParaRPr lang="en-US" altLang="x-none" sz="2400" dirty="0">
              <a:latin typeface="Times New Roman" panose="02020603050405020304" pitchFamily="18" charset="0"/>
              <a:cs typeface="Times New Roman" panose="02020603050405020304" pitchFamily="18" charset="0"/>
            </a:endParaRPr>
          </a:p>
          <a:p>
            <a:pPr lvl="1" eaLnBrk="1" hangingPunct="1"/>
            <a:r>
              <a:rPr lang="en-US" altLang="x-none" sz="2400" dirty="0">
                <a:latin typeface="Times New Roman" panose="02020603050405020304" pitchFamily="18" charset="0"/>
                <a:cs typeface="Times New Roman" panose="02020603050405020304" pitchFamily="18" charset="0"/>
              </a:rPr>
              <a:t>Nominal</a:t>
            </a:r>
            <a:endParaRPr lang="en-US" altLang="x-none" sz="2400" dirty="0">
              <a:latin typeface="Times New Roman" panose="02020603050405020304" pitchFamily="18" charset="0"/>
              <a:cs typeface="Times New Roman" panose="02020603050405020304" pitchFamily="18" charset="0"/>
            </a:endParaRPr>
          </a:p>
          <a:p>
            <a:pPr lvl="1" eaLnBrk="1" hangingPunct="1"/>
            <a:r>
              <a:rPr lang="en-US" altLang="x-none" sz="2400" dirty="0">
                <a:latin typeface="Times New Roman" panose="02020603050405020304" pitchFamily="18" charset="0"/>
                <a:cs typeface="Times New Roman" panose="02020603050405020304" pitchFamily="18" charset="0"/>
              </a:rPr>
              <a:t>Ordinal</a:t>
            </a:r>
            <a:endParaRPr lang="en-US" altLang="x-none" sz="2400" dirty="0">
              <a:latin typeface="Times New Roman" panose="02020603050405020304" pitchFamily="18" charset="0"/>
              <a:cs typeface="Times New Roman" panose="02020603050405020304" pitchFamily="18" charset="0"/>
            </a:endParaRPr>
          </a:p>
          <a:p>
            <a:pPr lvl="1" eaLnBrk="1" hangingPunct="1"/>
            <a:r>
              <a:rPr lang="en-US" altLang="x-none" sz="2400" dirty="0">
                <a:latin typeface="Times New Roman" panose="02020603050405020304" pitchFamily="18" charset="0"/>
                <a:cs typeface="Times New Roman" panose="02020603050405020304" pitchFamily="18" charset="0"/>
              </a:rPr>
              <a:t>Continuous</a:t>
            </a:r>
            <a:endParaRPr lang="en-US" altLang="x-none" sz="2400" dirty="0">
              <a:latin typeface="Times New Roman" panose="02020603050405020304" pitchFamily="18" charset="0"/>
              <a:cs typeface="Times New Roman" panose="02020603050405020304" pitchFamily="18" charset="0"/>
            </a:endParaRPr>
          </a:p>
          <a:p>
            <a:pPr lvl="1" eaLnBrk="1" hangingPunct="1"/>
            <a:endParaRPr lang="en-US" altLang="x-none" sz="2400" dirty="0">
              <a:latin typeface="Times New Roman" panose="02020603050405020304" pitchFamily="18" charset="0"/>
              <a:cs typeface="Times New Roman" panose="02020603050405020304" pitchFamily="18" charset="0"/>
            </a:endParaRPr>
          </a:p>
          <a:p>
            <a:pPr eaLnBrk="1" hangingPunct="1"/>
            <a:r>
              <a:rPr lang="en-US" altLang="x-none" sz="2400" dirty="0">
                <a:latin typeface="Times New Roman" panose="02020603050405020304" pitchFamily="18" charset="0"/>
                <a:cs typeface="Times New Roman" panose="02020603050405020304" pitchFamily="18" charset="0"/>
              </a:rPr>
              <a:t>Depends on number of ways to split</a:t>
            </a:r>
            <a:endParaRPr lang="en-US" altLang="x-none" sz="2400" dirty="0">
              <a:latin typeface="Times New Roman" panose="02020603050405020304" pitchFamily="18" charset="0"/>
              <a:cs typeface="Times New Roman" panose="02020603050405020304" pitchFamily="18" charset="0"/>
            </a:endParaRPr>
          </a:p>
          <a:p>
            <a:pPr lvl="1" eaLnBrk="1" hangingPunct="1"/>
            <a:r>
              <a:rPr lang="en-US" altLang="x-none" sz="2400" dirty="0">
                <a:latin typeface="Times New Roman" panose="02020603050405020304" pitchFamily="18" charset="0"/>
                <a:cs typeface="Times New Roman" panose="02020603050405020304" pitchFamily="18" charset="0"/>
              </a:rPr>
              <a:t>2-way split</a:t>
            </a:r>
            <a:endParaRPr lang="en-US" altLang="x-none" sz="2400" dirty="0">
              <a:latin typeface="Times New Roman" panose="02020603050405020304" pitchFamily="18" charset="0"/>
              <a:cs typeface="Times New Roman" panose="02020603050405020304" pitchFamily="18" charset="0"/>
            </a:endParaRPr>
          </a:p>
          <a:p>
            <a:pPr lvl="1" eaLnBrk="1" hangingPunct="1"/>
            <a:r>
              <a:rPr lang="en-US" altLang="x-none" sz="2400" dirty="0">
                <a:latin typeface="Times New Roman" panose="02020603050405020304" pitchFamily="18" charset="0"/>
                <a:cs typeface="Times New Roman" panose="02020603050405020304" pitchFamily="18" charset="0"/>
              </a:rPr>
              <a:t>Multi-way split</a:t>
            </a:r>
            <a:endParaRPr lang="en-US" altLang="x-none"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a:xfrm>
            <a:off x="228600" y="685800"/>
            <a:ext cx="8610600" cy="533400"/>
          </a:xfrm>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Splitting Based on Nominal Attributes</a:t>
            </a:r>
            <a:endParaRPr lang="en-US" altLang="x-none" sz="3200" b="1" dirty="0">
              <a:latin typeface="Times New Roman" panose="02020603050405020304" pitchFamily="18" charset="0"/>
              <a:ea typeface="Times New Roman" panose="02020603050405020304" pitchFamily="18" charset="0"/>
            </a:endParaRPr>
          </a:p>
        </p:txBody>
      </p:sp>
      <p:sp>
        <p:nvSpPr>
          <p:cNvPr id="41987" name="Rectangle 3"/>
          <p:cNvSpPr>
            <a:spLocks noGrp="1"/>
          </p:cNvSpPr>
          <p:nvPr>
            <p:ph idx="1"/>
          </p:nvPr>
        </p:nvSpPr>
        <p:spPr>
          <a:xfrm>
            <a:off x="381000" y="1447800"/>
            <a:ext cx="8382000" cy="3733800"/>
          </a:xfrm>
          <a:ln/>
        </p:spPr>
        <p:txBody>
          <a:bodyPr vert="horz" wrap="square" lIns="91440" tIns="45720" rIns="91440" bIns="45720" anchor="t" anchorCtr="0"/>
          <a:p>
            <a:pPr eaLnBrk="1" hangingPunct="1"/>
            <a:r>
              <a:rPr lang="en-US" altLang="x-none" sz="2400" dirty="0">
                <a:solidFill>
                  <a:srgbClr val="FF0000"/>
                </a:solidFill>
              </a:rPr>
              <a:t>Multi-way split:</a:t>
            </a:r>
            <a:r>
              <a:rPr lang="en-US" altLang="x-none" sz="2400" dirty="0"/>
              <a:t> Use as many partitions as distinct values. </a:t>
            </a:r>
            <a:endParaRPr lang="en-US" altLang="x-none" sz="2400" dirty="0"/>
          </a:p>
          <a:p>
            <a:pPr eaLnBrk="1" hangingPunct="1"/>
            <a:endParaRPr lang="en-US" altLang="x-none" sz="2400" dirty="0"/>
          </a:p>
          <a:p>
            <a:pPr eaLnBrk="1" hangingPunct="1"/>
            <a:endParaRPr lang="en-US" altLang="x-none" sz="2400" dirty="0"/>
          </a:p>
          <a:p>
            <a:pPr eaLnBrk="1" hangingPunct="1"/>
            <a:endParaRPr lang="en-US" altLang="x-none" sz="2400" dirty="0"/>
          </a:p>
          <a:p>
            <a:pPr eaLnBrk="1" hangingPunct="1"/>
            <a:r>
              <a:rPr lang="en-US" altLang="x-none" sz="2400" dirty="0">
                <a:solidFill>
                  <a:srgbClr val="FF0000"/>
                </a:solidFill>
              </a:rPr>
              <a:t>Binary split:</a:t>
            </a:r>
            <a:r>
              <a:rPr lang="en-US" altLang="x-none" sz="2400" dirty="0"/>
              <a:t>  Divides values into two subsets. </a:t>
            </a:r>
            <a:br>
              <a:rPr lang="en-US" altLang="x-none" sz="2400" dirty="0"/>
            </a:br>
            <a:r>
              <a:rPr lang="en-US" altLang="x-none" sz="2400" dirty="0"/>
              <a:t>		      Need to find optimal partitioning.</a:t>
            </a:r>
            <a:endParaRPr lang="en-US" altLang="x-none" dirty="0"/>
          </a:p>
        </p:txBody>
      </p:sp>
      <p:grpSp>
        <p:nvGrpSpPr>
          <p:cNvPr id="41988" name="Group 4"/>
          <p:cNvGrpSpPr/>
          <p:nvPr/>
        </p:nvGrpSpPr>
        <p:grpSpPr>
          <a:xfrm>
            <a:off x="2895600" y="2133600"/>
            <a:ext cx="2546350" cy="946150"/>
            <a:chOff x="1824" y="1680"/>
            <a:chExt cx="1604" cy="596"/>
          </a:xfrm>
        </p:grpSpPr>
        <p:sp>
          <p:nvSpPr>
            <p:cNvPr id="42002" name="Oval 5"/>
            <p:cNvSpPr/>
            <p:nvPr/>
          </p:nvSpPr>
          <p:spPr>
            <a:xfrm>
              <a:off x="2352" y="1680"/>
              <a:ext cx="576" cy="288"/>
            </a:xfrm>
            <a:prstGeom prst="ellipse">
              <a:avLst/>
            </a:prstGeom>
            <a:solidFill>
              <a:srgbClr val="FFFFFF"/>
            </a:solidFill>
            <a:ln w="9525" cap="flat" cmpd="sng">
              <a:solidFill>
                <a:schemeClr val="tx1"/>
              </a:solidFill>
              <a:prstDash val="solid"/>
              <a:headEnd type="none" w="med" len="med"/>
              <a:tailEnd type="none" w="med" len="med"/>
            </a:ln>
          </p:spPr>
          <p:txBody>
            <a:bodyPr wrap="none" anchor="ctr" anchorCtr="0"/>
            <a:p>
              <a:pPr algn="ctr" eaLnBrk="0" hangingPunct="0"/>
              <a:r>
                <a:rPr lang="en-US" altLang="x-none" dirty="0">
                  <a:latin typeface="Times New Roman" panose="02020603050405020304" pitchFamily="18" charset="0"/>
                </a:rPr>
                <a:t>CarType</a:t>
              </a:r>
              <a:endParaRPr lang="en-US" altLang="x-none" sz="2400" dirty="0">
                <a:latin typeface="Times New Roman" panose="02020603050405020304" pitchFamily="18" charset="0"/>
              </a:endParaRPr>
            </a:p>
          </p:txBody>
        </p:sp>
        <p:sp>
          <p:nvSpPr>
            <p:cNvPr id="42003" name="Line 6"/>
            <p:cNvSpPr/>
            <p:nvPr/>
          </p:nvSpPr>
          <p:spPr>
            <a:xfrm flipH="1">
              <a:off x="2064" y="1968"/>
              <a:ext cx="576" cy="144"/>
            </a:xfrm>
            <a:prstGeom prst="line">
              <a:avLst/>
            </a:prstGeom>
            <a:ln w="9525" cap="flat" cmpd="sng">
              <a:solidFill>
                <a:schemeClr val="tx1"/>
              </a:solidFill>
              <a:prstDash val="solid"/>
              <a:headEnd type="none" w="med" len="med"/>
              <a:tailEnd type="none" w="med" len="med"/>
            </a:ln>
          </p:spPr>
        </p:sp>
        <p:sp>
          <p:nvSpPr>
            <p:cNvPr id="42004" name="Line 7"/>
            <p:cNvSpPr/>
            <p:nvPr/>
          </p:nvSpPr>
          <p:spPr>
            <a:xfrm>
              <a:off x="2640" y="1968"/>
              <a:ext cx="0" cy="288"/>
            </a:xfrm>
            <a:prstGeom prst="line">
              <a:avLst/>
            </a:prstGeom>
            <a:ln w="9525" cap="flat" cmpd="sng">
              <a:solidFill>
                <a:schemeClr val="tx1"/>
              </a:solidFill>
              <a:prstDash val="solid"/>
              <a:headEnd type="none" w="med" len="med"/>
              <a:tailEnd type="none" w="med" len="med"/>
            </a:ln>
          </p:spPr>
        </p:sp>
        <p:sp>
          <p:nvSpPr>
            <p:cNvPr id="42005" name="Line 8"/>
            <p:cNvSpPr/>
            <p:nvPr/>
          </p:nvSpPr>
          <p:spPr>
            <a:xfrm>
              <a:off x="2640" y="1968"/>
              <a:ext cx="576" cy="144"/>
            </a:xfrm>
            <a:prstGeom prst="line">
              <a:avLst/>
            </a:prstGeom>
            <a:ln w="9525" cap="flat" cmpd="sng">
              <a:solidFill>
                <a:schemeClr val="tx1"/>
              </a:solidFill>
              <a:prstDash val="solid"/>
              <a:headEnd type="none" w="med" len="med"/>
              <a:tailEnd type="none" w="med" len="med"/>
            </a:ln>
          </p:spPr>
        </p:sp>
        <p:sp>
          <p:nvSpPr>
            <p:cNvPr id="42006" name="Text Box 9"/>
            <p:cNvSpPr txBox="1"/>
            <p:nvPr/>
          </p:nvSpPr>
          <p:spPr>
            <a:xfrm>
              <a:off x="1824" y="1872"/>
              <a:ext cx="492" cy="212"/>
            </a:xfrm>
            <a:prstGeom prst="rect">
              <a:avLst/>
            </a:prstGeom>
            <a:noFill/>
            <a:ln w="9525">
              <a:noFill/>
            </a:ln>
          </p:spPr>
          <p:txBody>
            <a:bodyPr wrap="none" anchor="ctr" anchorCtr="0">
              <a:spAutoFit/>
            </a:bodyPr>
            <a:p>
              <a:pPr algn="ctr" eaLnBrk="0" hangingPunct="0"/>
              <a:r>
                <a:rPr lang="en-US" altLang="x-none" sz="1600" dirty="0">
                  <a:latin typeface="Arial" panose="020B0604020202020204" pitchFamily="34" charset="0"/>
                </a:rPr>
                <a:t>Family</a:t>
              </a:r>
              <a:endParaRPr lang="en-US" altLang="x-none" sz="1600" dirty="0">
                <a:latin typeface="Arial" panose="020B0604020202020204" pitchFamily="34" charset="0"/>
              </a:endParaRPr>
            </a:p>
          </p:txBody>
        </p:sp>
        <p:sp>
          <p:nvSpPr>
            <p:cNvPr id="42007" name="Text Box 10"/>
            <p:cNvSpPr txBox="1"/>
            <p:nvPr/>
          </p:nvSpPr>
          <p:spPr>
            <a:xfrm>
              <a:off x="2208" y="2064"/>
              <a:ext cx="486" cy="212"/>
            </a:xfrm>
            <a:prstGeom prst="rect">
              <a:avLst/>
            </a:prstGeom>
            <a:noFill/>
            <a:ln w="9525">
              <a:noFill/>
            </a:ln>
          </p:spPr>
          <p:txBody>
            <a:bodyPr wrap="none" anchor="ctr" anchorCtr="0">
              <a:spAutoFit/>
            </a:bodyPr>
            <a:p>
              <a:pPr algn="ctr" eaLnBrk="0" hangingPunct="0"/>
              <a:r>
                <a:rPr lang="en-US" altLang="x-none" sz="1600" dirty="0">
                  <a:latin typeface="Arial" panose="020B0604020202020204" pitchFamily="34" charset="0"/>
                </a:rPr>
                <a:t>Sports</a:t>
              </a:r>
              <a:endParaRPr lang="en-US" altLang="x-none" sz="1600" dirty="0">
                <a:latin typeface="Arial" panose="020B0604020202020204" pitchFamily="34" charset="0"/>
              </a:endParaRPr>
            </a:p>
          </p:txBody>
        </p:sp>
        <p:sp>
          <p:nvSpPr>
            <p:cNvPr id="42008" name="Text Box 11"/>
            <p:cNvSpPr txBox="1"/>
            <p:nvPr/>
          </p:nvSpPr>
          <p:spPr>
            <a:xfrm>
              <a:off x="2928" y="1872"/>
              <a:ext cx="500" cy="212"/>
            </a:xfrm>
            <a:prstGeom prst="rect">
              <a:avLst/>
            </a:prstGeom>
            <a:noFill/>
            <a:ln w="9525">
              <a:noFill/>
            </a:ln>
          </p:spPr>
          <p:txBody>
            <a:bodyPr wrap="none" anchor="ctr" anchorCtr="0">
              <a:spAutoFit/>
            </a:bodyPr>
            <a:p>
              <a:pPr algn="ctr" eaLnBrk="0" hangingPunct="0"/>
              <a:r>
                <a:rPr lang="en-US" altLang="x-none" sz="1600" dirty="0">
                  <a:latin typeface="Arial" panose="020B0604020202020204" pitchFamily="34" charset="0"/>
                </a:rPr>
                <a:t>Luxury</a:t>
              </a:r>
              <a:endParaRPr lang="en-US" altLang="x-none" sz="1600" dirty="0">
                <a:latin typeface="Arial" panose="020B0604020202020204" pitchFamily="34" charset="0"/>
              </a:endParaRPr>
            </a:p>
          </p:txBody>
        </p:sp>
      </p:grpSp>
      <p:grpSp>
        <p:nvGrpSpPr>
          <p:cNvPr id="41989" name="Group 12"/>
          <p:cNvGrpSpPr/>
          <p:nvPr/>
        </p:nvGrpSpPr>
        <p:grpSpPr>
          <a:xfrm>
            <a:off x="5562600" y="5029200"/>
            <a:ext cx="2752725" cy="914400"/>
            <a:chOff x="3552" y="3216"/>
            <a:chExt cx="1734" cy="576"/>
          </a:xfrm>
        </p:grpSpPr>
        <p:sp>
          <p:nvSpPr>
            <p:cNvPr id="41997" name="Oval 13"/>
            <p:cNvSpPr/>
            <p:nvPr/>
          </p:nvSpPr>
          <p:spPr>
            <a:xfrm>
              <a:off x="4186" y="3216"/>
              <a:ext cx="576" cy="288"/>
            </a:xfrm>
            <a:prstGeom prst="ellipse">
              <a:avLst/>
            </a:prstGeom>
            <a:solidFill>
              <a:srgbClr val="FFFFFF"/>
            </a:solidFill>
            <a:ln w="9525" cap="flat" cmpd="sng">
              <a:solidFill>
                <a:schemeClr val="tx1"/>
              </a:solidFill>
              <a:prstDash val="solid"/>
              <a:headEnd type="none" w="med" len="med"/>
              <a:tailEnd type="none" w="med" len="med"/>
            </a:ln>
          </p:spPr>
          <p:txBody>
            <a:bodyPr wrap="none" anchor="ctr" anchorCtr="0"/>
            <a:p>
              <a:pPr algn="ctr" eaLnBrk="0" hangingPunct="0"/>
              <a:r>
                <a:rPr lang="en-US" altLang="x-none" dirty="0">
                  <a:latin typeface="Times New Roman" panose="02020603050405020304" pitchFamily="18" charset="0"/>
                </a:rPr>
                <a:t>CarType</a:t>
              </a:r>
              <a:endParaRPr lang="en-US" altLang="x-none" sz="2400" dirty="0">
                <a:latin typeface="Times New Roman" panose="02020603050405020304" pitchFamily="18" charset="0"/>
              </a:endParaRPr>
            </a:p>
          </p:txBody>
        </p:sp>
        <p:sp>
          <p:nvSpPr>
            <p:cNvPr id="41998" name="Line 14"/>
            <p:cNvSpPr/>
            <p:nvPr/>
          </p:nvSpPr>
          <p:spPr>
            <a:xfrm flipH="1">
              <a:off x="3946" y="3504"/>
              <a:ext cx="528" cy="240"/>
            </a:xfrm>
            <a:prstGeom prst="line">
              <a:avLst/>
            </a:prstGeom>
            <a:ln w="9525" cap="flat" cmpd="sng">
              <a:solidFill>
                <a:schemeClr val="tx1"/>
              </a:solidFill>
              <a:prstDash val="solid"/>
              <a:headEnd type="none" w="med" len="med"/>
              <a:tailEnd type="none" w="med" len="med"/>
            </a:ln>
          </p:spPr>
        </p:sp>
        <p:sp>
          <p:nvSpPr>
            <p:cNvPr id="41999" name="Line 15"/>
            <p:cNvSpPr/>
            <p:nvPr/>
          </p:nvSpPr>
          <p:spPr>
            <a:xfrm>
              <a:off x="4474" y="3504"/>
              <a:ext cx="480" cy="288"/>
            </a:xfrm>
            <a:prstGeom prst="line">
              <a:avLst/>
            </a:prstGeom>
            <a:ln w="9525" cap="flat" cmpd="sng">
              <a:solidFill>
                <a:schemeClr val="tx1"/>
              </a:solidFill>
              <a:prstDash val="solid"/>
              <a:headEnd type="none" w="med" len="med"/>
              <a:tailEnd type="none" w="med" len="med"/>
            </a:ln>
          </p:spPr>
        </p:sp>
        <p:sp>
          <p:nvSpPr>
            <p:cNvPr id="42000" name="Text Box 16"/>
            <p:cNvSpPr txBox="1"/>
            <p:nvPr/>
          </p:nvSpPr>
          <p:spPr>
            <a:xfrm>
              <a:off x="3552" y="3360"/>
              <a:ext cx="607" cy="366"/>
            </a:xfrm>
            <a:prstGeom prst="rect">
              <a:avLst/>
            </a:prstGeom>
            <a:noFill/>
            <a:ln w="9525">
              <a:noFill/>
            </a:ln>
          </p:spPr>
          <p:txBody>
            <a:bodyPr wrap="none" anchor="ctr" anchorCtr="0">
              <a:spAutoFit/>
            </a:bodyPr>
            <a:p>
              <a:pPr algn="ctr" eaLnBrk="0" hangingPunct="0"/>
              <a:r>
                <a:rPr lang="en-US" altLang="x-none" sz="1600" dirty="0">
                  <a:latin typeface="Arial" panose="020B0604020202020204" pitchFamily="34" charset="0"/>
                </a:rPr>
                <a:t>{Family, </a:t>
              </a:r>
              <a:br>
                <a:rPr lang="en-US" altLang="x-none" sz="1600" dirty="0">
                  <a:latin typeface="Arial" panose="020B0604020202020204" pitchFamily="34" charset="0"/>
                </a:rPr>
              </a:br>
              <a:r>
                <a:rPr lang="en-US" altLang="x-none" sz="1600" dirty="0">
                  <a:latin typeface="Arial" panose="020B0604020202020204" pitchFamily="34" charset="0"/>
                </a:rPr>
                <a:t>Luxury}</a:t>
              </a:r>
              <a:endParaRPr lang="en-US" altLang="x-none" sz="1600" dirty="0">
                <a:latin typeface="Arial" panose="020B0604020202020204" pitchFamily="34" charset="0"/>
              </a:endParaRPr>
            </a:p>
          </p:txBody>
        </p:sp>
        <p:sp>
          <p:nvSpPr>
            <p:cNvPr id="42001" name="Text Box 17"/>
            <p:cNvSpPr txBox="1"/>
            <p:nvPr/>
          </p:nvSpPr>
          <p:spPr>
            <a:xfrm>
              <a:off x="4714" y="3456"/>
              <a:ext cx="572" cy="212"/>
            </a:xfrm>
            <a:prstGeom prst="rect">
              <a:avLst/>
            </a:prstGeom>
            <a:noFill/>
            <a:ln w="9525">
              <a:noFill/>
            </a:ln>
          </p:spPr>
          <p:txBody>
            <a:bodyPr wrap="none" anchor="ctr" anchorCtr="0">
              <a:spAutoFit/>
            </a:bodyPr>
            <a:p>
              <a:pPr algn="ctr" eaLnBrk="0" hangingPunct="0"/>
              <a:r>
                <a:rPr lang="en-US" altLang="x-none" sz="1600" dirty="0">
                  <a:latin typeface="Arial" panose="020B0604020202020204" pitchFamily="34" charset="0"/>
                </a:rPr>
                <a:t>{Sports}</a:t>
              </a:r>
              <a:endParaRPr lang="en-US" altLang="x-none" sz="1600" dirty="0">
                <a:latin typeface="Arial" panose="020B0604020202020204" pitchFamily="34" charset="0"/>
              </a:endParaRPr>
            </a:p>
          </p:txBody>
        </p:sp>
      </p:grpSp>
      <p:grpSp>
        <p:nvGrpSpPr>
          <p:cNvPr id="41990" name="Group 18"/>
          <p:cNvGrpSpPr/>
          <p:nvPr/>
        </p:nvGrpSpPr>
        <p:grpSpPr>
          <a:xfrm>
            <a:off x="685800" y="5029200"/>
            <a:ext cx="2905125" cy="914400"/>
            <a:chOff x="768" y="3216"/>
            <a:chExt cx="1830" cy="576"/>
          </a:xfrm>
        </p:grpSpPr>
        <p:sp>
          <p:nvSpPr>
            <p:cNvPr id="41992" name="Oval 19"/>
            <p:cNvSpPr/>
            <p:nvPr/>
          </p:nvSpPr>
          <p:spPr>
            <a:xfrm>
              <a:off x="1494" y="3216"/>
              <a:ext cx="576" cy="288"/>
            </a:xfrm>
            <a:prstGeom prst="ellipse">
              <a:avLst/>
            </a:prstGeom>
            <a:solidFill>
              <a:srgbClr val="FFFFFF"/>
            </a:solidFill>
            <a:ln w="9525" cap="flat" cmpd="sng">
              <a:solidFill>
                <a:schemeClr val="tx1"/>
              </a:solidFill>
              <a:prstDash val="solid"/>
              <a:headEnd type="none" w="med" len="med"/>
              <a:tailEnd type="none" w="med" len="med"/>
            </a:ln>
          </p:spPr>
          <p:txBody>
            <a:bodyPr wrap="none" anchor="ctr" anchorCtr="0"/>
            <a:p>
              <a:pPr algn="ctr" eaLnBrk="0" hangingPunct="0"/>
              <a:r>
                <a:rPr lang="en-US" altLang="x-none" dirty="0">
                  <a:latin typeface="Times New Roman" panose="02020603050405020304" pitchFamily="18" charset="0"/>
                </a:rPr>
                <a:t>CarType</a:t>
              </a:r>
              <a:endParaRPr lang="en-US" altLang="x-none" sz="2400" dirty="0">
                <a:latin typeface="Times New Roman" panose="02020603050405020304" pitchFamily="18" charset="0"/>
              </a:endParaRPr>
            </a:p>
          </p:txBody>
        </p:sp>
        <p:sp>
          <p:nvSpPr>
            <p:cNvPr id="41993" name="Line 20"/>
            <p:cNvSpPr/>
            <p:nvPr/>
          </p:nvSpPr>
          <p:spPr>
            <a:xfrm flipH="1">
              <a:off x="1254" y="3504"/>
              <a:ext cx="528" cy="240"/>
            </a:xfrm>
            <a:prstGeom prst="line">
              <a:avLst/>
            </a:prstGeom>
            <a:ln w="9525" cap="flat" cmpd="sng">
              <a:solidFill>
                <a:schemeClr val="tx1"/>
              </a:solidFill>
              <a:prstDash val="solid"/>
              <a:headEnd type="none" w="med" len="med"/>
              <a:tailEnd type="none" w="med" len="med"/>
            </a:ln>
          </p:spPr>
        </p:sp>
        <p:sp>
          <p:nvSpPr>
            <p:cNvPr id="41994" name="Line 21"/>
            <p:cNvSpPr/>
            <p:nvPr/>
          </p:nvSpPr>
          <p:spPr>
            <a:xfrm>
              <a:off x="1782" y="3504"/>
              <a:ext cx="480" cy="288"/>
            </a:xfrm>
            <a:prstGeom prst="line">
              <a:avLst/>
            </a:prstGeom>
            <a:ln w="9525" cap="flat" cmpd="sng">
              <a:solidFill>
                <a:schemeClr val="tx1"/>
              </a:solidFill>
              <a:prstDash val="solid"/>
              <a:headEnd type="none" w="med" len="med"/>
              <a:tailEnd type="none" w="med" len="med"/>
            </a:ln>
          </p:spPr>
        </p:sp>
        <p:sp>
          <p:nvSpPr>
            <p:cNvPr id="41995" name="Text Box 22"/>
            <p:cNvSpPr txBox="1"/>
            <p:nvPr/>
          </p:nvSpPr>
          <p:spPr>
            <a:xfrm>
              <a:off x="768" y="3360"/>
              <a:ext cx="594" cy="366"/>
            </a:xfrm>
            <a:prstGeom prst="rect">
              <a:avLst/>
            </a:prstGeom>
            <a:noFill/>
            <a:ln w="9525">
              <a:noFill/>
            </a:ln>
          </p:spPr>
          <p:txBody>
            <a:bodyPr anchor="ctr" anchorCtr="0">
              <a:spAutoFit/>
            </a:bodyPr>
            <a:p>
              <a:pPr algn="ctr" eaLnBrk="0" hangingPunct="0"/>
              <a:r>
                <a:rPr lang="en-US" altLang="x-none" sz="1600" dirty="0">
                  <a:latin typeface="Arial" panose="020B0604020202020204" pitchFamily="34" charset="0"/>
                </a:rPr>
                <a:t>{Sports, Luxury}</a:t>
              </a:r>
              <a:endParaRPr lang="en-US" altLang="x-none" sz="1600" dirty="0">
                <a:latin typeface="Arial" panose="020B0604020202020204" pitchFamily="34" charset="0"/>
              </a:endParaRPr>
            </a:p>
          </p:txBody>
        </p:sp>
        <p:sp>
          <p:nvSpPr>
            <p:cNvPr id="41996" name="Text Box 23"/>
            <p:cNvSpPr txBox="1"/>
            <p:nvPr/>
          </p:nvSpPr>
          <p:spPr>
            <a:xfrm>
              <a:off x="2020" y="3456"/>
              <a:ext cx="578" cy="212"/>
            </a:xfrm>
            <a:prstGeom prst="rect">
              <a:avLst/>
            </a:prstGeom>
            <a:noFill/>
            <a:ln w="9525">
              <a:noFill/>
            </a:ln>
          </p:spPr>
          <p:txBody>
            <a:bodyPr wrap="none" anchor="ctr" anchorCtr="0">
              <a:spAutoFit/>
            </a:bodyPr>
            <a:p>
              <a:pPr algn="ctr" eaLnBrk="0" hangingPunct="0"/>
              <a:r>
                <a:rPr lang="en-US" altLang="x-none" sz="1600" dirty="0">
                  <a:latin typeface="Arial" panose="020B0604020202020204" pitchFamily="34" charset="0"/>
                </a:rPr>
                <a:t>{Family}</a:t>
              </a:r>
              <a:endParaRPr lang="en-US" altLang="x-none" sz="1600" dirty="0">
                <a:latin typeface="Arial" panose="020B0604020202020204" pitchFamily="34" charset="0"/>
              </a:endParaRPr>
            </a:p>
          </p:txBody>
        </p:sp>
      </p:grpSp>
      <p:sp>
        <p:nvSpPr>
          <p:cNvPr id="41991" name="Text Box 24"/>
          <p:cNvSpPr txBox="1"/>
          <p:nvPr/>
        </p:nvSpPr>
        <p:spPr>
          <a:xfrm>
            <a:off x="4191000" y="5105400"/>
            <a:ext cx="608013" cy="457200"/>
          </a:xfrm>
          <a:prstGeom prst="rect">
            <a:avLst/>
          </a:prstGeom>
          <a:noFill/>
          <a:ln w="9525">
            <a:noFill/>
          </a:ln>
        </p:spPr>
        <p:txBody>
          <a:bodyPr wrap="none" anchor="ctr" anchorCtr="0">
            <a:spAutoFit/>
          </a:bodyPr>
          <a:p>
            <a:pPr algn="ctr" eaLnBrk="0" hangingPunct="0"/>
            <a:r>
              <a:rPr lang="en-US" altLang="x-none" sz="2400" dirty="0">
                <a:latin typeface="Times New Roman" panose="02020603050405020304" pitchFamily="18" charset="0"/>
              </a:rPr>
              <a:t>OR</a:t>
            </a:r>
            <a:endParaRPr lang="en-US" altLang="x-none" sz="2400" dirty="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idx="1"/>
          </p:nvPr>
        </p:nvSpPr>
        <p:spPr>
          <a:xfrm>
            <a:off x="381000" y="1447800"/>
            <a:ext cx="8382000" cy="5257800"/>
          </a:xfrm>
          <a:ln/>
        </p:spPr>
        <p:txBody>
          <a:bodyPr vert="horz" wrap="square" lIns="90488" tIns="44450" rIns="90488" bIns="44450" anchor="t" anchorCtr="0"/>
          <a:p>
            <a:pPr eaLnBrk="1" hangingPunct="1"/>
            <a:r>
              <a:rPr lang="en-US" altLang="x-none" sz="2400" dirty="0">
                <a:solidFill>
                  <a:srgbClr val="FF0000"/>
                </a:solidFill>
              </a:rPr>
              <a:t>Multi-way split:</a:t>
            </a:r>
            <a:r>
              <a:rPr lang="en-US" altLang="x-none" sz="2400" dirty="0"/>
              <a:t> Use as many partitions as distinct values. </a:t>
            </a:r>
            <a:endParaRPr lang="en-US" altLang="x-none" sz="2400" dirty="0"/>
          </a:p>
          <a:p>
            <a:pPr eaLnBrk="1" hangingPunct="1"/>
            <a:endParaRPr lang="en-US" altLang="x-none" sz="2400" dirty="0"/>
          </a:p>
          <a:p>
            <a:pPr eaLnBrk="1" hangingPunct="1"/>
            <a:endParaRPr lang="en-US" altLang="x-none" sz="2400" dirty="0"/>
          </a:p>
          <a:p>
            <a:pPr lvl="4" eaLnBrk="1" hangingPunct="1"/>
            <a:endParaRPr lang="en-US" altLang="x-none" sz="900" dirty="0">
              <a:solidFill>
                <a:srgbClr val="FF0000"/>
              </a:solidFill>
            </a:endParaRPr>
          </a:p>
          <a:p>
            <a:pPr eaLnBrk="1" hangingPunct="1"/>
            <a:r>
              <a:rPr lang="en-US" altLang="x-none" sz="2400" dirty="0">
                <a:solidFill>
                  <a:srgbClr val="FF0000"/>
                </a:solidFill>
              </a:rPr>
              <a:t>Binary split:</a:t>
            </a:r>
            <a:r>
              <a:rPr lang="en-US" altLang="x-none" sz="2400" dirty="0"/>
              <a:t>  Divides values into two subsets. </a:t>
            </a:r>
            <a:br>
              <a:rPr lang="en-US" altLang="x-none" sz="2400" dirty="0"/>
            </a:br>
            <a:r>
              <a:rPr lang="en-US" altLang="x-none" sz="2400" dirty="0"/>
              <a:t>		      Need to find optimal partitioning.</a:t>
            </a:r>
            <a:endParaRPr lang="en-US" altLang="x-none" sz="2400" dirty="0"/>
          </a:p>
          <a:p>
            <a:pPr eaLnBrk="1" hangingPunct="1"/>
            <a:endParaRPr lang="en-US" altLang="x-none" sz="2400" dirty="0"/>
          </a:p>
          <a:p>
            <a:pPr eaLnBrk="1" hangingPunct="1"/>
            <a:endParaRPr lang="en-US" altLang="x-none" sz="2400" dirty="0"/>
          </a:p>
          <a:p>
            <a:pPr eaLnBrk="1" hangingPunct="1"/>
            <a:endParaRPr lang="en-US" altLang="x-none" sz="2400" dirty="0"/>
          </a:p>
          <a:p>
            <a:pPr eaLnBrk="1" hangingPunct="1"/>
            <a:r>
              <a:rPr lang="en-US" altLang="x-none" sz="2400" dirty="0"/>
              <a:t>What about this split?</a:t>
            </a:r>
            <a:endParaRPr lang="en-US" altLang="x-none" dirty="0"/>
          </a:p>
        </p:txBody>
      </p:sp>
      <p:sp>
        <p:nvSpPr>
          <p:cNvPr id="43011" name="Rectangle 3"/>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Splitting Based on Ordinal Attributes</a:t>
            </a:r>
            <a:endParaRPr lang="en-US" altLang="x-none" sz="3200" b="1" dirty="0">
              <a:latin typeface="Times New Roman" panose="02020603050405020304" pitchFamily="18" charset="0"/>
              <a:ea typeface="Times New Roman" panose="02020603050405020304" pitchFamily="18" charset="0"/>
            </a:endParaRPr>
          </a:p>
        </p:txBody>
      </p:sp>
      <p:grpSp>
        <p:nvGrpSpPr>
          <p:cNvPr id="43012" name="Group 4"/>
          <p:cNvGrpSpPr/>
          <p:nvPr/>
        </p:nvGrpSpPr>
        <p:grpSpPr>
          <a:xfrm>
            <a:off x="2971800" y="2057400"/>
            <a:ext cx="2457450" cy="946150"/>
            <a:chOff x="1853" y="1248"/>
            <a:chExt cx="1548" cy="596"/>
          </a:xfrm>
        </p:grpSpPr>
        <p:sp>
          <p:nvSpPr>
            <p:cNvPr id="43032" name="Oval 5"/>
            <p:cNvSpPr/>
            <p:nvPr/>
          </p:nvSpPr>
          <p:spPr>
            <a:xfrm>
              <a:off x="2352" y="1248"/>
              <a:ext cx="576" cy="288"/>
            </a:xfrm>
            <a:prstGeom prst="ellipse">
              <a:avLst/>
            </a:prstGeom>
            <a:solidFill>
              <a:srgbClr val="FFFFFF"/>
            </a:solidFill>
            <a:ln w="9525" cap="flat" cmpd="sng">
              <a:solidFill>
                <a:schemeClr val="tx1"/>
              </a:solidFill>
              <a:prstDash val="solid"/>
              <a:headEnd type="none" w="med" len="med"/>
              <a:tailEnd type="none" w="med" len="med"/>
            </a:ln>
          </p:spPr>
          <p:txBody>
            <a:bodyPr wrap="none" anchor="ctr" anchorCtr="0"/>
            <a:p>
              <a:pPr algn="ctr" eaLnBrk="0" hangingPunct="0"/>
              <a:r>
                <a:rPr lang="en-US" altLang="x-none" dirty="0">
                  <a:latin typeface="Times New Roman" panose="02020603050405020304" pitchFamily="18" charset="0"/>
                </a:rPr>
                <a:t>Size</a:t>
              </a:r>
              <a:endParaRPr lang="en-US" altLang="x-none" sz="2400" dirty="0">
                <a:latin typeface="Times New Roman" panose="02020603050405020304" pitchFamily="18" charset="0"/>
              </a:endParaRPr>
            </a:p>
          </p:txBody>
        </p:sp>
        <p:sp>
          <p:nvSpPr>
            <p:cNvPr id="43033" name="Line 6"/>
            <p:cNvSpPr/>
            <p:nvPr/>
          </p:nvSpPr>
          <p:spPr>
            <a:xfrm flipH="1">
              <a:off x="2064" y="1536"/>
              <a:ext cx="576" cy="144"/>
            </a:xfrm>
            <a:prstGeom prst="line">
              <a:avLst/>
            </a:prstGeom>
            <a:ln w="9525" cap="flat" cmpd="sng">
              <a:solidFill>
                <a:schemeClr val="tx1"/>
              </a:solidFill>
              <a:prstDash val="solid"/>
              <a:headEnd type="none" w="med" len="med"/>
              <a:tailEnd type="none" w="med" len="med"/>
            </a:ln>
          </p:spPr>
        </p:sp>
        <p:sp>
          <p:nvSpPr>
            <p:cNvPr id="43034" name="Line 7"/>
            <p:cNvSpPr/>
            <p:nvPr/>
          </p:nvSpPr>
          <p:spPr>
            <a:xfrm>
              <a:off x="2640" y="1536"/>
              <a:ext cx="0" cy="288"/>
            </a:xfrm>
            <a:prstGeom prst="line">
              <a:avLst/>
            </a:prstGeom>
            <a:ln w="9525" cap="flat" cmpd="sng">
              <a:solidFill>
                <a:schemeClr val="tx1"/>
              </a:solidFill>
              <a:prstDash val="solid"/>
              <a:headEnd type="none" w="med" len="med"/>
              <a:tailEnd type="none" w="med" len="med"/>
            </a:ln>
          </p:spPr>
        </p:sp>
        <p:sp>
          <p:nvSpPr>
            <p:cNvPr id="43035" name="Line 8"/>
            <p:cNvSpPr/>
            <p:nvPr/>
          </p:nvSpPr>
          <p:spPr>
            <a:xfrm>
              <a:off x="2640" y="1536"/>
              <a:ext cx="576" cy="144"/>
            </a:xfrm>
            <a:prstGeom prst="line">
              <a:avLst/>
            </a:prstGeom>
            <a:ln w="9525" cap="flat" cmpd="sng">
              <a:solidFill>
                <a:schemeClr val="tx1"/>
              </a:solidFill>
              <a:prstDash val="solid"/>
              <a:headEnd type="none" w="med" len="med"/>
              <a:tailEnd type="none" w="med" len="med"/>
            </a:ln>
          </p:spPr>
        </p:sp>
        <p:sp>
          <p:nvSpPr>
            <p:cNvPr id="43036" name="Text Box 9"/>
            <p:cNvSpPr txBox="1"/>
            <p:nvPr/>
          </p:nvSpPr>
          <p:spPr>
            <a:xfrm>
              <a:off x="1853" y="1440"/>
              <a:ext cx="435" cy="212"/>
            </a:xfrm>
            <a:prstGeom prst="rect">
              <a:avLst/>
            </a:prstGeom>
            <a:noFill/>
            <a:ln w="9525">
              <a:noFill/>
            </a:ln>
          </p:spPr>
          <p:txBody>
            <a:bodyPr wrap="none" anchor="ctr" anchorCtr="0">
              <a:spAutoFit/>
            </a:bodyPr>
            <a:p>
              <a:pPr algn="ctr" eaLnBrk="0" hangingPunct="0"/>
              <a:r>
                <a:rPr lang="en-US" altLang="x-none" sz="1600" dirty="0">
                  <a:latin typeface="Arial" panose="020B0604020202020204" pitchFamily="34" charset="0"/>
                </a:rPr>
                <a:t>Small</a:t>
              </a:r>
              <a:endParaRPr lang="en-US" altLang="x-none" sz="1600" dirty="0">
                <a:latin typeface="Arial" panose="020B0604020202020204" pitchFamily="34" charset="0"/>
              </a:endParaRPr>
            </a:p>
          </p:txBody>
        </p:sp>
        <p:sp>
          <p:nvSpPr>
            <p:cNvPr id="43037" name="Text Box 10"/>
            <p:cNvSpPr txBox="1"/>
            <p:nvPr/>
          </p:nvSpPr>
          <p:spPr>
            <a:xfrm>
              <a:off x="2167" y="1632"/>
              <a:ext cx="571" cy="212"/>
            </a:xfrm>
            <a:prstGeom prst="rect">
              <a:avLst/>
            </a:prstGeom>
            <a:noFill/>
            <a:ln w="9525">
              <a:noFill/>
            </a:ln>
          </p:spPr>
          <p:txBody>
            <a:bodyPr wrap="none" anchor="ctr" anchorCtr="0">
              <a:spAutoFit/>
            </a:bodyPr>
            <a:p>
              <a:pPr algn="ctr" eaLnBrk="0" hangingPunct="0"/>
              <a:r>
                <a:rPr lang="en-US" altLang="x-none" sz="1600" dirty="0">
                  <a:latin typeface="Arial" panose="020B0604020202020204" pitchFamily="34" charset="0"/>
                </a:rPr>
                <a:t>Medium</a:t>
              </a:r>
              <a:endParaRPr lang="en-US" altLang="x-none" sz="1600" dirty="0">
                <a:latin typeface="Arial" panose="020B0604020202020204" pitchFamily="34" charset="0"/>
              </a:endParaRPr>
            </a:p>
          </p:txBody>
        </p:sp>
        <p:sp>
          <p:nvSpPr>
            <p:cNvPr id="43038" name="Text Box 11"/>
            <p:cNvSpPr txBox="1"/>
            <p:nvPr/>
          </p:nvSpPr>
          <p:spPr>
            <a:xfrm>
              <a:off x="2958" y="1440"/>
              <a:ext cx="443" cy="212"/>
            </a:xfrm>
            <a:prstGeom prst="rect">
              <a:avLst/>
            </a:prstGeom>
            <a:noFill/>
            <a:ln w="9525">
              <a:noFill/>
            </a:ln>
          </p:spPr>
          <p:txBody>
            <a:bodyPr wrap="none" anchor="ctr" anchorCtr="0">
              <a:spAutoFit/>
            </a:bodyPr>
            <a:p>
              <a:pPr algn="ctr" eaLnBrk="0" hangingPunct="0"/>
              <a:r>
                <a:rPr lang="en-US" altLang="x-none" sz="1600" dirty="0">
                  <a:latin typeface="Arial" panose="020B0604020202020204" pitchFamily="34" charset="0"/>
                </a:rPr>
                <a:t>Large</a:t>
              </a:r>
              <a:endParaRPr lang="en-US" altLang="x-none" sz="1600" dirty="0">
                <a:latin typeface="Arial" panose="020B0604020202020204" pitchFamily="34" charset="0"/>
              </a:endParaRPr>
            </a:p>
          </p:txBody>
        </p:sp>
      </p:grpSp>
      <p:grpSp>
        <p:nvGrpSpPr>
          <p:cNvPr id="43013" name="Group 12"/>
          <p:cNvGrpSpPr/>
          <p:nvPr/>
        </p:nvGrpSpPr>
        <p:grpSpPr>
          <a:xfrm>
            <a:off x="5562600" y="4267200"/>
            <a:ext cx="2774950" cy="914400"/>
            <a:chOff x="3513" y="3216"/>
            <a:chExt cx="1748" cy="576"/>
          </a:xfrm>
        </p:grpSpPr>
        <p:sp>
          <p:nvSpPr>
            <p:cNvPr id="43027" name="Oval 13"/>
            <p:cNvSpPr/>
            <p:nvPr/>
          </p:nvSpPr>
          <p:spPr>
            <a:xfrm>
              <a:off x="4186" y="3216"/>
              <a:ext cx="576" cy="288"/>
            </a:xfrm>
            <a:prstGeom prst="ellipse">
              <a:avLst/>
            </a:prstGeom>
            <a:solidFill>
              <a:srgbClr val="FFFFFF"/>
            </a:solidFill>
            <a:ln w="9525" cap="flat" cmpd="sng">
              <a:solidFill>
                <a:schemeClr val="tx1"/>
              </a:solidFill>
              <a:prstDash val="solid"/>
              <a:headEnd type="none" w="med" len="med"/>
              <a:tailEnd type="none" w="med" len="med"/>
            </a:ln>
          </p:spPr>
          <p:txBody>
            <a:bodyPr wrap="none" anchor="ctr" anchorCtr="0"/>
            <a:p>
              <a:pPr algn="ctr" eaLnBrk="0" hangingPunct="0"/>
              <a:r>
                <a:rPr lang="en-US" altLang="x-none" dirty="0">
                  <a:latin typeface="Times New Roman" panose="02020603050405020304" pitchFamily="18" charset="0"/>
                </a:rPr>
                <a:t>Size</a:t>
              </a:r>
              <a:endParaRPr lang="en-US" altLang="x-none" sz="2400" dirty="0">
                <a:latin typeface="Times New Roman" panose="02020603050405020304" pitchFamily="18" charset="0"/>
              </a:endParaRPr>
            </a:p>
          </p:txBody>
        </p:sp>
        <p:sp>
          <p:nvSpPr>
            <p:cNvPr id="43028" name="Line 14"/>
            <p:cNvSpPr/>
            <p:nvPr/>
          </p:nvSpPr>
          <p:spPr>
            <a:xfrm flipH="1">
              <a:off x="3946" y="3504"/>
              <a:ext cx="528" cy="240"/>
            </a:xfrm>
            <a:prstGeom prst="line">
              <a:avLst/>
            </a:prstGeom>
            <a:ln w="9525" cap="flat" cmpd="sng">
              <a:solidFill>
                <a:schemeClr val="tx1"/>
              </a:solidFill>
              <a:prstDash val="solid"/>
              <a:headEnd type="none" w="med" len="med"/>
              <a:tailEnd type="none" w="med" len="med"/>
            </a:ln>
          </p:spPr>
        </p:sp>
        <p:sp>
          <p:nvSpPr>
            <p:cNvPr id="43029" name="Line 15"/>
            <p:cNvSpPr/>
            <p:nvPr/>
          </p:nvSpPr>
          <p:spPr>
            <a:xfrm>
              <a:off x="4474" y="3504"/>
              <a:ext cx="480" cy="288"/>
            </a:xfrm>
            <a:prstGeom prst="line">
              <a:avLst/>
            </a:prstGeom>
            <a:ln w="9525" cap="flat" cmpd="sng">
              <a:solidFill>
                <a:schemeClr val="tx1"/>
              </a:solidFill>
              <a:prstDash val="solid"/>
              <a:headEnd type="none" w="med" len="med"/>
              <a:tailEnd type="none" w="med" len="med"/>
            </a:ln>
          </p:spPr>
        </p:sp>
        <p:sp>
          <p:nvSpPr>
            <p:cNvPr id="43030" name="Text Box 16"/>
            <p:cNvSpPr txBox="1"/>
            <p:nvPr/>
          </p:nvSpPr>
          <p:spPr>
            <a:xfrm>
              <a:off x="3513" y="3360"/>
              <a:ext cx="686" cy="366"/>
            </a:xfrm>
            <a:prstGeom prst="rect">
              <a:avLst/>
            </a:prstGeom>
            <a:noFill/>
            <a:ln w="9525">
              <a:noFill/>
            </a:ln>
          </p:spPr>
          <p:txBody>
            <a:bodyPr wrap="none" anchor="ctr" anchorCtr="0">
              <a:spAutoFit/>
            </a:bodyPr>
            <a:p>
              <a:pPr algn="ctr" eaLnBrk="0" hangingPunct="0"/>
              <a:r>
                <a:rPr lang="en-US" altLang="x-none" sz="1600" dirty="0">
                  <a:latin typeface="Arial" panose="020B0604020202020204" pitchFamily="34" charset="0"/>
                </a:rPr>
                <a:t>{Medium, </a:t>
              </a:r>
              <a:br>
                <a:rPr lang="en-US" altLang="x-none" sz="1600" dirty="0">
                  <a:latin typeface="Arial" panose="020B0604020202020204" pitchFamily="34" charset="0"/>
                </a:rPr>
              </a:br>
              <a:r>
                <a:rPr lang="en-US" altLang="x-none" sz="1600" dirty="0">
                  <a:latin typeface="Arial" panose="020B0604020202020204" pitchFamily="34" charset="0"/>
                </a:rPr>
                <a:t>Large}</a:t>
              </a:r>
              <a:endParaRPr lang="en-US" altLang="x-none" sz="1600" dirty="0">
                <a:latin typeface="Arial" panose="020B0604020202020204" pitchFamily="34" charset="0"/>
              </a:endParaRPr>
            </a:p>
          </p:txBody>
        </p:sp>
        <p:sp>
          <p:nvSpPr>
            <p:cNvPr id="43031" name="Text Box 17"/>
            <p:cNvSpPr txBox="1"/>
            <p:nvPr/>
          </p:nvSpPr>
          <p:spPr>
            <a:xfrm>
              <a:off x="4740" y="3456"/>
              <a:ext cx="521" cy="212"/>
            </a:xfrm>
            <a:prstGeom prst="rect">
              <a:avLst/>
            </a:prstGeom>
            <a:noFill/>
            <a:ln w="9525">
              <a:noFill/>
            </a:ln>
          </p:spPr>
          <p:txBody>
            <a:bodyPr wrap="none" anchor="ctr" anchorCtr="0">
              <a:spAutoFit/>
            </a:bodyPr>
            <a:p>
              <a:pPr algn="ctr" eaLnBrk="0" hangingPunct="0"/>
              <a:r>
                <a:rPr lang="en-US" altLang="x-none" sz="1600" dirty="0">
                  <a:latin typeface="Arial" panose="020B0604020202020204" pitchFamily="34" charset="0"/>
                </a:rPr>
                <a:t>{Small}</a:t>
              </a:r>
              <a:endParaRPr lang="en-US" altLang="x-none" sz="1600" dirty="0">
                <a:latin typeface="Arial" panose="020B0604020202020204" pitchFamily="34" charset="0"/>
              </a:endParaRPr>
            </a:p>
          </p:txBody>
        </p:sp>
      </p:grpSp>
      <p:grpSp>
        <p:nvGrpSpPr>
          <p:cNvPr id="43014" name="Group 18"/>
          <p:cNvGrpSpPr/>
          <p:nvPr/>
        </p:nvGrpSpPr>
        <p:grpSpPr>
          <a:xfrm>
            <a:off x="762000" y="4267200"/>
            <a:ext cx="2997200" cy="914400"/>
            <a:chOff x="768" y="3216"/>
            <a:chExt cx="1794" cy="576"/>
          </a:xfrm>
        </p:grpSpPr>
        <p:sp>
          <p:nvSpPr>
            <p:cNvPr id="43022" name="Oval 19"/>
            <p:cNvSpPr/>
            <p:nvPr/>
          </p:nvSpPr>
          <p:spPr>
            <a:xfrm>
              <a:off x="1494" y="3216"/>
              <a:ext cx="576" cy="288"/>
            </a:xfrm>
            <a:prstGeom prst="ellipse">
              <a:avLst/>
            </a:prstGeom>
            <a:solidFill>
              <a:srgbClr val="FFFFFF"/>
            </a:solidFill>
            <a:ln w="9525" cap="flat" cmpd="sng">
              <a:solidFill>
                <a:schemeClr val="tx1"/>
              </a:solidFill>
              <a:prstDash val="solid"/>
              <a:headEnd type="none" w="med" len="med"/>
              <a:tailEnd type="none" w="med" len="med"/>
            </a:ln>
          </p:spPr>
          <p:txBody>
            <a:bodyPr wrap="none" anchor="ctr" anchorCtr="0"/>
            <a:p>
              <a:pPr algn="ctr" eaLnBrk="0" hangingPunct="0"/>
              <a:r>
                <a:rPr lang="en-US" altLang="x-none" dirty="0">
                  <a:latin typeface="Times New Roman" panose="02020603050405020304" pitchFamily="18" charset="0"/>
                </a:rPr>
                <a:t>Size</a:t>
              </a:r>
              <a:endParaRPr lang="en-US" altLang="x-none" sz="2400" dirty="0">
                <a:latin typeface="Times New Roman" panose="02020603050405020304" pitchFamily="18" charset="0"/>
              </a:endParaRPr>
            </a:p>
          </p:txBody>
        </p:sp>
        <p:sp>
          <p:nvSpPr>
            <p:cNvPr id="43023" name="Line 20"/>
            <p:cNvSpPr/>
            <p:nvPr/>
          </p:nvSpPr>
          <p:spPr>
            <a:xfrm flipH="1">
              <a:off x="1254" y="3504"/>
              <a:ext cx="528" cy="240"/>
            </a:xfrm>
            <a:prstGeom prst="line">
              <a:avLst/>
            </a:prstGeom>
            <a:ln w="9525" cap="flat" cmpd="sng">
              <a:solidFill>
                <a:schemeClr val="tx1"/>
              </a:solidFill>
              <a:prstDash val="solid"/>
              <a:headEnd type="none" w="med" len="med"/>
              <a:tailEnd type="none" w="med" len="med"/>
            </a:ln>
          </p:spPr>
        </p:sp>
        <p:sp>
          <p:nvSpPr>
            <p:cNvPr id="43024" name="Line 21"/>
            <p:cNvSpPr/>
            <p:nvPr/>
          </p:nvSpPr>
          <p:spPr>
            <a:xfrm>
              <a:off x="1782" y="3504"/>
              <a:ext cx="480" cy="288"/>
            </a:xfrm>
            <a:prstGeom prst="line">
              <a:avLst/>
            </a:prstGeom>
            <a:ln w="9525" cap="flat" cmpd="sng">
              <a:solidFill>
                <a:schemeClr val="tx1"/>
              </a:solidFill>
              <a:prstDash val="solid"/>
              <a:headEnd type="none" w="med" len="med"/>
              <a:tailEnd type="none" w="med" len="med"/>
            </a:ln>
          </p:spPr>
        </p:sp>
        <p:sp>
          <p:nvSpPr>
            <p:cNvPr id="43025" name="Text Box 22"/>
            <p:cNvSpPr txBox="1"/>
            <p:nvPr/>
          </p:nvSpPr>
          <p:spPr>
            <a:xfrm>
              <a:off x="768" y="3360"/>
              <a:ext cx="594" cy="366"/>
            </a:xfrm>
            <a:prstGeom prst="rect">
              <a:avLst/>
            </a:prstGeom>
            <a:noFill/>
            <a:ln w="9525">
              <a:noFill/>
            </a:ln>
          </p:spPr>
          <p:txBody>
            <a:bodyPr anchor="ctr" anchorCtr="0">
              <a:spAutoFit/>
            </a:bodyPr>
            <a:p>
              <a:pPr algn="ctr" eaLnBrk="0" hangingPunct="0"/>
              <a:r>
                <a:rPr lang="en-US" altLang="x-none" sz="1600" dirty="0">
                  <a:latin typeface="Arial" panose="020B0604020202020204" pitchFamily="34" charset="0"/>
                </a:rPr>
                <a:t>{Small, Medium}</a:t>
              </a:r>
              <a:endParaRPr lang="en-US" altLang="x-none" sz="1600" dirty="0">
                <a:latin typeface="Arial" panose="020B0604020202020204" pitchFamily="34" charset="0"/>
              </a:endParaRPr>
            </a:p>
          </p:txBody>
        </p:sp>
        <p:sp>
          <p:nvSpPr>
            <p:cNvPr id="43026" name="Text Box 23"/>
            <p:cNvSpPr txBox="1"/>
            <p:nvPr/>
          </p:nvSpPr>
          <p:spPr>
            <a:xfrm>
              <a:off x="2059" y="3456"/>
              <a:ext cx="503" cy="212"/>
            </a:xfrm>
            <a:prstGeom prst="rect">
              <a:avLst/>
            </a:prstGeom>
            <a:noFill/>
            <a:ln w="9525">
              <a:noFill/>
            </a:ln>
          </p:spPr>
          <p:txBody>
            <a:bodyPr wrap="none" anchor="ctr" anchorCtr="0">
              <a:spAutoFit/>
            </a:bodyPr>
            <a:p>
              <a:pPr algn="ctr" eaLnBrk="0" hangingPunct="0"/>
              <a:r>
                <a:rPr lang="en-US" altLang="x-none" sz="1600" dirty="0">
                  <a:latin typeface="Arial" panose="020B0604020202020204" pitchFamily="34" charset="0"/>
                </a:rPr>
                <a:t>{Large}</a:t>
              </a:r>
              <a:endParaRPr lang="en-US" altLang="x-none" sz="1600" dirty="0">
                <a:latin typeface="Arial" panose="020B0604020202020204" pitchFamily="34" charset="0"/>
              </a:endParaRPr>
            </a:p>
          </p:txBody>
        </p:sp>
      </p:grpSp>
      <p:sp>
        <p:nvSpPr>
          <p:cNvPr id="43015" name="Text Box 24"/>
          <p:cNvSpPr txBox="1"/>
          <p:nvPr/>
        </p:nvSpPr>
        <p:spPr>
          <a:xfrm>
            <a:off x="4267200" y="4419600"/>
            <a:ext cx="608013" cy="457200"/>
          </a:xfrm>
          <a:prstGeom prst="rect">
            <a:avLst/>
          </a:prstGeom>
          <a:noFill/>
          <a:ln w="9525">
            <a:noFill/>
          </a:ln>
        </p:spPr>
        <p:txBody>
          <a:bodyPr wrap="none" anchor="ctr" anchorCtr="0">
            <a:spAutoFit/>
          </a:bodyPr>
          <a:p>
            <a:pPr algn="ctr" eaLnBrk="0" hangingPunct="0"/>
            <a:r>
              <a:rPr lang="en-US" altLang="x-none" sz="2400" dirty="0">
                <a:latin typeface="Times New Roman" panose="02020603050405020304" pitchFamily="18" charset="0"/>
              </a:rPr>
              <a:t>OR</a:t>
            </a:r>
            <a:endParaRPr lang="en-US" altLang="x-none" sz="2400" dirty="0">
              <a:latin typeface="Times New Roman" panose="02020603050405020304" pitchFamily="18" charset="0"/>
            </a:endParaRPr>
          </a:p>
        </p:txBody>
      </p:sp>
      <p:grpSp>
        <p:nvGrpSpPr>
          <p:cNvPr id="43016" name="Group 25"/>
          <p:cNvGrpSpPr/>
          <p:nvPr/>
        </p:nvGrpSpPr>
        <p:grpSpPr>
          <a:xfrm>
            <a:off x="4289425" y="5486400"/>
            <a:ext cx="3101975" cy="914400"/>
            <a:chOff x="768" y="3216"/>
            <a:chExt cx="1856" cy="576"/>
          </a:xfrm>
        </p:grpSpPr>
        <p:sp>
          <p:nvSpPr>
            <p:cNvPr id="43017" name="Oval 26"/>
            <p:cNvSpPr/>
            <p:nvPr/>
          </p:nvSpPr>
          <p:spPr>
            <a:xfrm>
              <a:off x="1494" y="3216"/>
              <a:ext cx="576" cy="288"/>
            </a:xfrm>
            <a:prstGeom prst="ellipse">
              <a:avLst/>
            </a:prstGeom>
            <a:solidFill>
              <a:srgbClr val="FFFFFF"/>
            </a:solidFill>
            <a:ln w="9525" cap="flat" cmpd="sng">
              <a:solidFill>
                <a:schemeClr val="tx1"/>
              </a:solidFill>
              <a:prstDash val="solid"/>
              <a:headEnd type="none" w="med" len="med"/>
              <a:tailEnd type="none" w="med" len="med"/>
            </a:ln>
          </p:spPr>
          <p:txBody>
            <a:bodyPr wrap="none" anchor="ctr" anchorCtr="0"/>
            <a:p>
              <a:pPr algn="ctr" eaLnBrk="0" hangingPunct="0"/>
              <a:r>
                <a:rPr lang="en-US" altLang="x-none" dirty="0">
                  <a:latin typeface="Times New Roman" panose="02020603050405020304" pitchFamily="18" charset="0"/>
                </a:rPr>
                <a:t>Size</a:t>
              </a:r>
              <a:endParaRPr lang="en-US" altLang="x-none" sz="2400" dirty="0">
                <a:latin typeface="Times New Roman" panose="02020603050405020304" pitchFamily="18" charset="0"/>
              </a:endParaRPr>
            </a:p>
          </p:txBody>
        </p:sp>
        <p:sp>
          <p:nvSpPr>
            <p:cNvPr id="43018" name="Line 27"/>
            <p:cNvSpPr/>
            <p:nvPr/>
          </p:nvSpPr>
          <p:spPr>
            <a:xfrm flipH="1">
              <a:off x="1254" y="3504"/>
              <a:ext cx="528" cy="240"/>
            </a:xfrm>
            <a:prstGeom prst="line">
              <a:avLst/>
            </a:prstGeom>
            <a:ln w="9525" cap="flat" cmpd="sng">
              <a:solidFill>
                <a:schemeClr val="tx1"/>
              </a:solidFill>
              <a:prstDash val="solid"/>
              <a:headEnd type="none" w="med" len="med"/>
              <a:tailEnd type="none" w="med" len="med"/>
            </a:ln>
          </p:spPr>
        </p:sp>
        <p:sp>
          <p:nvSpPr>
            <p:cNvPr id="43019" name="Line 28"/>
            <p:cNvSpPr/>
            <p:nvPr/>
          </p:nvSpPr>
          <p:spPr>
            <a:xfrm>
              <a:off x="1782" y="3504"/>
              <a:ext cx="480" cy="288"/>
            </a:xfrm>
            <a:prstGeom prst="line">
              <a:avLst/>
            </a:prstGeom>
            <a:ln w="9525" cap="flat" cmpd="sng">
              <a:solidFill>
                <a:schemeClr val="tx1"/>
              </a:solidFill>
              <a:prstDash val="solid"/>
              <a:headEnd type="none" w="med" len="med"/>
              <a:tailEnd type="none" w="med" len="med"/>
            </a:ln>
          </p:spPr>
        </p:sp>
        <p:sp>
          <p:nvSpPr>
            <p:cNvPr id="43020" name="Text Box 29"/>
            <p:cNvSpPr txBox="1"/>
            <p:nvPr/>
          </p:nvSpPr>
          <p:spPr>
            <a:xfrm>
              <a:off x="768" y="3360"/>
              <a:ext cx="594" cy="366"/>
            </a:xfrm>
            <a:prstGeom prst="rect">
              <a:avLst/>
            </a:prstGeom>
            <a:noFill/>
            <a:ln w="9525">
              <a:noFill/>
            </a:ln>
          </p:spPr>
          <p:txBody>
            <a:bodyPr anchor="ctr" anchorCtr="0">
              <a:spAutoFit/>
            </a:bodyPr>
            <a:p>
              <a:pPr algn="ctr" eaLnBrk="0" hangingPunct="0"/>
              <a:r>
                <a:rPr lang="en-US" altLang="x-none" sz="1600" dirty="0">
                  <a:latin typeface="Arial" panose="020B0604020202020204" pitchFamily="34" charset="0"/>
                </a:rPr>
                <a:t>{Small, Large}</a:t>
              </a:r>
              <a:endParaRPr lang="en-US" altLang="x-none" sz="1600" dirty="0">
                <a:latin typeface="Arial" panose="020B0604020202020204" pitchFamily="34" charset="0"/>
              </a:endParaRPr>
            </a:p>
          </p:txBody>
        </p:sp>
        <p:sp>
          <p:nvSpPr>
            <p:cNvPr id="43021" name="Text Box 30"/>
            <p:cNvSpPr txBox="1"/>
            <p:nvPr/>
          </p:nvSpPr>
          <p:spPr>
            <a:xfrm>
              <a:off x="2000" y="3456"/>
              <a:ext cx="624" cy="212"/>
            </a:xfrm>
            <a:prstGeom prst="rect">
              <a:avLst/>
            </a:prstGeom>
            <a:noFill/>
            <a:ln w="9525">
              <a:noFill/>
            </a:ln>
          </p:spPr>
          <p:txBody>
            <a:bodyPr wrap="none" anchor="ctr" anchorCtr="0">
              <a:spAutoFit/>
            </a:bodyPr>
            <a:p>
              <a:pPr algn="ctr" eaLnBrk="0" hangingPunct="0"/>
              <a:r>
                <a:rPr lang="en-US" altLang="x-none" sz="1600" dirty="0">
                  <a:latin typeface="Arial" panose="020B0604020202020204" pitchFamily="34" charset="0"/>
                </a:rPr>
                <a:t>{Medium}</a:t>
              </a:r>
              <a:endParaRPr lang="en-US" altLang="x-none" sz="1600" dirty="0">
                <a:latin typeface="Arial" panose="020B0604020202020204" pitchFamily="34"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a:xfrm>
            <a:off x="381000" y="838200"/>
            <a:ext cx="8534400" cy="533400"/>
          </a:xfrm>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Splitting Based on Continuous Attributes</a:t>
            </a:r>
            <a:endParaRPr lang="en-US" altLang="x-none" sz="3200" b="1" dirty="0">
              <a:latin typeface="Times New Roman" panose="02020603050405020304" pitchFamily="18" charset="0"/>
              <a:ea typeface="Times New Roman" panose="02020603050405020304" pitchFamily="18" charset="0"/>
            </a:endParaRPr>
          </a:p>
        </p:txBody>
      </p:sp>
      <p:sp>
        <p:nvSpPr>
          <p:cNvPr id="44035" name="Rectangle 3"/>
          <p:cNvSpPr>
            <a:spLocks noGrp="1"/>
          </p:cNvSpPr>
          <p:nvPr>
            <p:ph idx="1"/>
          </p:nvPr>
        </p:nvSpPr>
        <p:spPr>
          <a:ln/>
        </p:spPr>
        <p:txBody>
          <a:bodyPr vert="horz" wrap="square" lIns="91440" tIns="45720" rIns="91440" bIns="45720" anchor="t" anchorCtr="0"/>
          <a:p>
            <a:pPr eaLnBrk="1" hangingPunct="1"/>
            <a:r>
              <a:rPr lang="en-US" altLang="x-none" sz="2400" dirty="0">
                <a:latin typeface="Times New Roman" panose="02020603050405020304" pitchFamily="18" charset="0"/>
                <a:cs typeface="Times New Roman" panose="02020603050405020304" pitchFamily="18" charset="0"/>
              </a:rPr>
              <a:t>Different ways of handling</a:t>
            </a:r>
            <a:endParaRPr lang="en-US" altLang="x-none" sz="2400" dirty="0">
              <a:latin typeface="Times New Roman" panose="02020603050405020304" pitchFamily="18" charset="0"/>
              <a:cs typeface="Times New Roman" panose="02020603050405020304" pitchFamily="18" charset="0"/>
            </a:endParaRPr>
          </a:p>
          <a:p>
            <a:pPr lvl="1" eaLnBrk="1" hangingPunct="1"/>
            <a:r>
              <a:rPr lang="en-US" altLang="x-none" sz="2400" dirty="0">
                <a:solidFill>
                  <a:srgbClr val="CC3300"/>
                </a:solidFill>
                <a:latin typeface="Times New Roman" panose="02020603050405020304" pitchFamily="18" charset="0"/>
                <a:cs typeface="Times New Roman" panose="02020603050405020304" pitchFamily="18" charset="0"/>
              </a:rPr>
              <a:t>Discretization</a:t>
            </a:r>
            <a:r>
              <a:rPr lang="en-US" altLang="x-none" sz="2400" dirty="0">
                <a:latin typeface="Times New Roman" panose="02020603050405020304" pitchFamily="18" charset="0"/>
                <a:cs typeface="Times New Roman" panose="02020603050405020304" pitchFamily="18" charset="0"/>
              </a:rPr>
              <a:t> to form an ordinal categorical attribute</a:t>
            </a:r>
            <a:endParaRPr lang="en-US" altLang="x-none" sz="2400" dirty="0">
              <a:latin typeface="Times New Roman" panose="02020603050405020304" pitchFamily="18" charset="0"/>
              <a:cs typeface="Times New Roman" panose="02020603050405020304" pitchFamily="18" charset="0"/>
            </a:endParaRPr>
          </a:p>
          <a:p>
            <a:pPr lvl="2" eaLnBrk="1" hangingPunct="1"/>
            <a:r>
              <a:rPr lang="en-US" altLang="x-none" dirty="0">
                <a:latin typeface="Times New Roman" panose="02020603050405020304" pitchFamily="18" charset="0"/>
                <a:cs typeface="Times New Roman" panose="02020603050405020304" pitchFamily="18" charset="0"/>
              </a:rPr>
              <a:t> Static – discretize once at the beginning</a:t>
            </a:r>
            <a:endParaRPr lang="en-US" altLang="x-none" dirty="0">
              <a:latin typeface="Times New Roman" panose="02020603050405020304" pitchFamily="18" charset="0"/>
              <a:cs typeface="Times New Roman" panose="02020603050405020304" pitchFamily="18" charset="0"/>
            </a:endParaRPr>
          </a:p>
          <a:p>
            <a:pPr lvl="2" eaLnBrk="1" hangingPunct="1"/>
            <a:r>
              <a:rPr lang="en-US" altLang="x-none" dirty="0">
                <a:latin typeface="Times New Roman" panose="02020603050405020304" pitchFamily="18" charset="0"/>
                <a:cs typeface="Times New Roman" panose="02020603050405020304" pitchFamily="18" charset="0"/>
              </a:rPr>
              <a:t> Dynamic – ranges can be found by equal interval 		bucketing, equal frequency bucketing</a:t>
            </a:r>
            <a:br>
              <a:rPr lang="en-US" altLang="x-none" dirty="0">
                <a:latin typeface="Times New Roman" panose="02020603050405020304" pitchFamily="18" charset="0"/>
                <a:cs typeface="Times New Roman" panose="02020603050405020304" pitchFamily="18" charset="0"/>
              </a:rPr>
            </a:br>
            <a:r>
              <a:rPr lang="en-US" altLang="x-none" dirty="0">
                <a:latin typeface="Times New Roman" panose="02020603050405020304" pitchFamily="18" charset="0"/>
                <a:cs typeface="Times New Roman" panose="02020603050405020304" pitchFamily="18" charset="0"/>
              </a:rPr>
              <a:t>		(percentiles), or clustering.</a:t>
            </a:r>
            <a:endParaRPr lang="en-US" altLang="x-none" dirty="0">
              <a:solidFill>
                <a:srgbClr val="CC3300"/>
              </a:solidFill>
              <a:latin typeface="Times New Roman" panose="02020603050405020304" pitchFamily="18" charset="0"/>
              <a:cs typeface="Times New Roman" panose="02020603050405020304" pitchFamily="18" charset="0"/>
            </a:endParaRPr>
          </a:p>
          <a:p>
            <a:pPr lvl="1" eaLnBrk="1" hangingPunct="1"/>
            <a:r>
              <a:rPr lang="en-US" altLang="x-none" sz="2400" dirty="0">
                <a:solidFill>
                  <a:srgbClr val="CC3300"/>
                </a:solidFill>
                <a:latin typeface="Times New Roman" panose="02020603050405020304" pitchFamily="18" charset="0"/>
                <a:cs typeface="Times New Roman" panose="02020603050405020304" pitchFamily="18" charset="0"/>
              </a:rPr>
              <a:t>Binary Decision</a:t>
            </a:r>
            <a:r>
              <a:rPr lang="en-US" altLang="x-none" sz="2400" dirty="0">
                <a:latin typeface="Times New Roman" panose="02020603050405020304" pitchFamily="18" charset="0"/>
                <a:cs typeface="Times New Roman" panose="02020603050405020304" pitchFamily="18" charset="0"/>
              </a:rPr>
              <a:t>: (A &lt; v) or (A </a:t>
            </a:r>
            <a:r>
              <a:rPr lang="en-US" altLang="x-none" sz="2400" dirty="0">
                <a:latin typeface="Times New Roman" panose="02020603050405020304" pitchFamily="18" charset="0"/>
                <a:cs typeface="Times New Roman" panose="02020603050405020304" pitchFamily="18" charset="0"/>
                <a:sym typeface="Symbol" panose="05050102010706020507" pitchFamily="18" charset="2"/>
              </a:rPr>
              <a:t> v)</a:t>
            </a:r>
            <a:endParaRPr lang="en-US" altLang="x-none" sz="2400" dirty="0">
              <a:latin typeface="Times New Roman" panose="02020603050405020304" pitchFamily="18" charset="0"/>
              <a:cs typeface="Times New Roman" panose="02020603050405020304" pitchFamily="18" charset="0"/>
            </a:endParaRPr>
          </a:p>
          <a:p>
            <a:pPr lvl="2" eaLnBrk="1" hangingPunct="1"/>
            <a:r>
              <a:rPr lang="en-US" altLang="x-none" dirty="0">
                <a:latin typeface="Times New Roman" panose="02020603050405020304" pitchFamily="18" charset="0"/>
                <a:cs typeface="Times New Roman" panose="02020603050405020304" pitchFamily="18" charset="0"/>
              </a:rPr>
              <a:t> consider all possible splits and finds the best cut</a:t>
            </a:r>
            <a:endParaRPr lang="en-US" altLang="x-none" dirty="0">
              <a:latin typeface="Times New Roman" panose="02020603050405020304" pitchFamily="18" charset="0"/>
              <a:cs typeface="Times New Roman" panose="02020603050405020304" pitchFamily="18" charset="0"/>
            </a:endParaRPr>
          </a:p>
          <a:p>
            <a:pPr lvl="2" eaLnBrk="1" hangingPunct="1"/>
            <a:r>
              <a:rPr lang="en-US" altLang="x-none" dirty="0">
                <a:latin typeface="Times New Roman" panose="02020603050405020304" pitchFamily="18" charset="0"/>
                <a:cs typeface="Times New Roman" panose="02020603050405020304" pitchFamily="18" charset="0"/>
              </a:rPr>
              <a:t> can be more compute intensive</a:t>
            </a:r>
            <a:endParaRPr lang="en-US" altLang="x-none"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2"/>
          <p:cNvSpPr>
            <a:spLocks noGrp="1"/>
          </p:cNvSpPr>
          <p:nvPr>
            <p:ph type="title"/>
          </p:nvPr>
        </p:nvSpPr>
        <p:spPr>
          <a:xfrm>
            <a:off x="381000" y="914400"/>
            <a:ext cx="8534400" cy="533400"/>
          </a:xfrm>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Splitting Based on Continuous Attributes</a:t>
            </a:r>
            <a:endParaRPr lang="en-US" altLang="x-none" sz="3200" b="1" dirty="0">
              <a:latin typeface="Times New Roman" panose="02020603050405020304" pitchFamily="18" charset="0"/>
              <a:ea typeface="Times New Roman" panose="02020603050405020304" pitchFamily="18" charset="0"/>
            </a:endParaRPr>
          </a:p>
        </p:txBody>
      </p:sp>
      <p:graphicFrame>
        <p:nvGraphicFramePr>
          <p:cNvPr id="15362" name="Object 3"/>
          <p:cNvGraphicFramePr>
            <a:graphicFrameLocks noChangeAspect="1"/>
          </p:cNvGraphicFramePr>
          <p:nvPr>
            <p:ph idx="1"/>
          </p:nvPr>
        </p:nvGraphicFramePr>
        <p:xfrm>
          <a:off x="781050" y="2127250"/>
          <a:ext cx="7527925" cy="2871788"/>
        </p:xfrm>
        <a:graphic>
          <a:graphicData uri="http://schemas.openxmlformats.org/presentationml/2006/ole">
            <mc:AlternateContent xmlns:mc="http://schemas.openxmlformats.org/markup-compatibility/2006">
              <mc:Choice xmlns:v="urn:schemas-microsoft-com:vml" Requires="v">
                <p:oleObj spid="_x0000_s3086" name="" r:id="rId1" imgW="8621395" imgH="3726815" progId="Visio.Drawing.6">
                  <p:embed/>
                </p:oleObj>
              </mc:Choice>
              <mc:Fallback>
                <p:oleObj name="" r:id="rId1" imgW="8621395" imgH="3726815" progId="Visio.Drawing.6">
                  <p:embed/>
                  <p:pic>
                    <p:nvPicPr>
                      <p:cNvPr id="0" name="Picture 3085"/>
                      <p:cNvPicPr/>
                      <p:nvPr/>
                    </p:nvPicPr>
                    <p:blipFill>
                      <a:blip r:embed="rId2"/>
                      <a:srcRect/>
                      <a:stretch>
                        <a:fillRect/>
                      </a:stretch>
                    </p:blipFill>
                    <p:spPr>
                      <a:xfrm>
                        <a:off x="781050" y="2127250"/>
                        <a:ext cx="7527925" cy="2871788"/>
                      </a:xfrm>
                      <a:prstGeom prst="rect">
                        <a:avLst/>
                      </a:prstGeom>
                      <a:noFill/>
                      <a:ln w="38100">
                        <a:miter/>
                      </a:ln>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xfrm>
            <a:off x="304800" y="457200"/>
            <a:ext cx="8229600" cy="944563"/>
          </a:xfrm>
          <a:ln/>
        </p:spPr>
        <p:txBody>
          <a:bodyPr vert="horz" wrap="square" lIns="91440" tIns="45720" rIns="91440" bIns="45720" anchor="ctr" anchorCtr="0"/>
          <a:p>
            <a:pPr>
              <a:buNone/>
            </a:pPr>
            <a:r>
              <a:rPr lang="en-US" altLang="zh-TW" sz="3600" dirty="0">
                <a:latin typeface="Times New Roman" panose="02020603050405020304" pitchFamily="18" charset="0"/>
                <a:ea typeface="PMingLiU" pitchFamily="18" charset="-120"/>
              </a:rPr>
              <a:t>Inferring Rudimentary Rules</a:t>
            </a:r>
            <a:endParaRPr lang="en-US" altLang="zh-TW" sz="3600" dirty="0">
              <a:latin typeface="Times New Roman" panose="02020603050405020304" pitchFamily="18" charset="0"/>
              <a:ea typeface="PMingLiU" pitchFamily="18" charset="-120"/>
            </a:endParaRPr>
          </a:p>
        </p:txBody>
      </p:sp>
      <p:sp>
        <p:nvSpPr>
          <p:cNvPr id="45059" name="Rectangle 3"/>
          <p:cNvSpPr>
            <a:spLocks noGrp="1"/>
          </p:cNvSpPr>
          <p:nvPr>
            <p:ph idx="1"/>
          </p:nvPr>
        </p:nvSpPr>
        <p:spPr>
          <a:xfrm>
            <a:off x="609600" y="1676400"/>
            <a:ext cx="8193088" cy="4114800"/>
          </a:xfrm>
          <a:ln/>
        </p:spPr>
        <p:txBody>
          <a:bodyPr vert="horz" wrap="square" lIns="91440" tIns="45720" rIns="91440" bIns="45720" anchor="t" anchorCtr="0"/>
          <a:p>
            <a:r>
              <a:rPr lang="en-US" altLang="zh-TW" sz="2000" dirty="0">
                <a:latin typeface="Times New Roman" panose="02020603050405020304" pitchFamily="18" charset="0"/>
                <a:ea typeface="PMingLiU" pitchFamily="18" charset="-120"/>
              </a:rPr>
              <a:t>1R: learns a 1-level decision tree</a:t>
            </a:r>
            <a:endParaRPr lang="en-US" altLang="zh-TW" sz="2000" dirty="0">
              <a:latin typeface="Times New Roman" panose="02020603050405020304" pitchFamily="18" charset="0"/>
              <a:ea typeface="PMingLiU" pitchFamily="18" charset="-120"/>
            </a:endParaRPr>
          </a:p>
          <a:p>
            <a:pPr lvl="1"/>
            <a:r>
              <a:rPr lang="en-US" altLang="zh-TW" sz="2000" dirty="0">
                <a:latin typeface="Times New Roman" panose="02020603050405020304" pitchFamily="18" charset="0"/>
                <a:ea typeface="PMingLiU" pitchFamily="18" charset="-120"/>
              </a:rPr>
              <a:t>In other words, generates a set of rules that all test on one particular attribute</a:t>
            </a:r>
            <a:endParaRPr lang="en-US" altLang="zh-TW" sz="2000" dirty="0">
              <a:latin typeface="Times New Roman" panose="02020603050405020304" pitchFamily="18" charset="0"/>
              <a:ea typeface="PMingLiU" pitchFamily="18" charset="-120"/>
            </a:endParaRPr>
          </a:p>
          <a:p>
            <a:pPr lvl="1"/>
            <a:r>
              <a:rPr lang="en-US" altLang="zh-TW" sz="2000" dirty="0">
                <a:latin typeface="Times New Roman" panose="02020603050405020304" pitchFamily="18" charset="0"/>
                <a:ea typeface="PMingLiU" pitchFamily="18" charset="-120"/>
              </a:rPr>
              <a:t>For example:</a:t>
            </a:r>
            <a:endParaRPr lang="en-US" altLang="zh-TW" sz="2000" dirty="0">
              <a:latin typeface="Times New Roman" panose="02020603050405020304" pitchFamily="18" charset="0"/>
              <a:ea typeface="PMingLiU" pitchFamily="18" charset="-120"/>
            </a:endParaRPr>
          </a:p>
          <a:p>
            <a:pPr lvl="2"/>
            <a:r>
              <a:rPr lang="en-US" altLang="zh-TW" sz="2000" dirty="0">
                <a:latin typeface="Times New Roman" panose="02020603050405020304" pitchFamily="18" charset="0"/>
                <a:ea typeface="PMingLiU" pitchFamily="18" charset="-120"/>
              </a:rPr>
              <a:t>Outlook = sunny </a:t>
            </a:r>
            <a:r>
              <a:rPr lang="en-US" altLang="zh-TW" sz="2000" dirty="0">
                <a:latin typeface="Times New Roman" panose="02020603050405020304" pitchFamily="18" charset="0"/>
                <a:ea typeface="PMingLiU" pitchFamily="18" charset="-120"/>
                <a:sym typeface="Wingdings" panose="05000000000000000000" pitchFamily="2" charset="2"/>
              </a:rPr>
              <a:t> play = yes</a:t>
            </a:r>
            <a:endParaRPr lang="en-US" altLang="zh-TW" sz="2000" dirty="0">
              <a:latin typeface="Times New Roman" panose="02020603050405020304" pitchFamily="18" charset="0"/>
              <a:ea typeface="PMingLiU" pitchFamily="18" charset="-120"/>
              <a:sym typeface="Wingdings" panose="05000000000000000000" pitchFamily="2" charset="2"/>
            </a:endParaRPr>
          </a:p>
          <a:p>
            <a:r>
              <a:rPr lang="en-US" altLang="zh-TW" sz="2000" dirty="0">
                <a:latin typeface="Times New Roman" panose="02020603050405020304" pitchFamily="18" charset="0"/>
                <a:ea typeface="PMingLiU" pitchFamily="18" charset="-120"/>
                <a:sym typeface="Wingdings" panose="05000000000000000000" pitchFamily="2" charset="2"/>
              </a:rPr>
              <a:t>Basic version (assuming nominal attributes)</a:t>
            </a:r>
            <a:endParaRPr lang="en-US" altLang="zh-TW" sz="2000" dirty="0">
              <a:latin typeface="Times New Roman" panose="02020603050405020304" pitchFamily="18" charset="0"/>
              <a:ea typeface="PMingLiU" pitchFamily="18" charset="-120"/>
              <a:sym typeface="Wingdings" panose="05000000000000000000" pitchFamily="2" charset="2"/>
            </a:endParaRPr>
          </a:p>
          <a:p>
            <a:pPr lvl="1"/>
            <a:r>
              <a:rPr lang="en-US" altLang="zh-TW" sz="2000" dirty="0">
                <a:latin typeface="Times New Roman" panose="02020603050405020304" pitchFamily="18" charset="0"/>
                <a:ea typeface="PMingLiU" pitchFamily="18" charset="-120"/>
                <a:sym typeface="Wingdings" panose="05000000000000000000" pitchFamily="2" charset="2"/>
              </a:rPr>
              <a:t>One branch for each of the attribute’s values</a:t>
            </a:r>
            <a:endParaRPr lang="en-US" altLang="zh-TW" sz="2000" dirty="0">
              <a:latin typeface="Times New Roman" panose="02020603050405020304" pitchFamily="18" charset="0"/>
              <a:ea typeface="PMingLiU" pitchFamily="18" charset="-120"/>
              <a:sym typeface="Wingdings" panose="05000000000000000000" pitchFamily="2" charset="2"/>
            </a:endParaRPr>
          </a:p>
          <a:p>
            <a:pPr lvl="1"/>
            <a:r>
              <a:rPr lang="en-US" altLang="zh-TW" sz="2000" dirty="0">
                <a:latin typeface="Times New Roman" panose="02020603050405020304" pitchFamily="18" charset="0"/>
                <a:ea typeface="PMingLiU" pitchFamily="18" charset="-120"/>
                <a:sym typeface="Wingdings" panose="05000000000000000000" pitchFamily="2" charset="2"/>
              </a:rPr>
              <a:t>Each branch assigns most frequent class</a:t>
            </a:r>
            <a:endParaRPr lang="en-US" altLang="zh-TW" sz="2000" dirty="0">
              <a:latin typeface="Times New Roman" panose="02020603050405020304" pitchFamily="18" charset="0"/>
              <a:ea typeface="PMingLiU" pitchFamily="18" charset="-120"/>
              <a:sym typeface="Wingdings" panose="05000000000000000000" pitchFamily="2" charset="2"/>
            </a:endParaRPr>
          </a:p>
          <a:p>
            <a:pPr lvl="1"/>
            <a:r>
              <a:rPr lang="en-US" altLang="zh-TW" sz="2000" dirty="0">
                <a:latin typeface="Times New Roman" panose="02020603050405020304" pitchFamily="18" charset="0"/>
                <a:ea typeface="PMingLiU" pitchFamily="18" charset="-120"/>
                <a:sym typeface="Wingdings" panose="05000000000000000000" pitchFamily="2" charset="2"/>
              </a:rPr>
              <a:t>Error rate: proportion of instances that don’t belong to the majority class of their corresponding branch</a:t>
            </a:r>
            <a:endParaRPr lang="en-US" altLang="zh-TW" sz="2000" dirty="0">
              <a:latin typeface="Times New Roman" panose="02020603050405020304" pitchFamily="18" charset="0"/>
              <a:ea typeface="PMingLiU" pitchFamily="18" charset="-120"/>
              <a:sym typeface="Wingdings" panose="05000000000000000000" pitchFamily="2" charset="2"/>
            </a:endParaRPr>
          </a:p>
          <a:p>
            <a:pPr lvl="1"/>
            <a:r>
              <a:rPr lang="en-US" altLang="zh-TW" sz="2000" dirty="0">
                <a:latin typeface="Times New Roman" panose="02020603050405020304" pitchFamily="18" charset="0"/>
                <a:ea typeface="PMingLiU" pitchFamily="18" charset="-120"/>
                <a:sym typeface="Wingdings" panose="05000000000000000000" pitchFamily="2" charset="2"/>
              </a:rPr>
              <a:t>Choose attribute with lowest error rate</a:t>
            </a:r>
            <a:endParaRPr lang="en-US" altLang="zh-TW" sz="2000" dirty="0">
              <a:latin typeface="Times New Roman" panose="02020603050405020304" pitchFamily="18" charset="0"/>
              <a:ea typeface="PMingLiU" pitchFamily="18" charset="-120"/>
              <a:sym typeface="Wingdings" panose="05000000000000000000" pitchFamily="2" charset="2"/>
            </a:endParaRPr>
          </a:p>
          <a:p>
            <a:endParaRPr lang="en-US" altLang="zh-TW" sz="2800" dirty="0">
              <a:ea typeface="PMingLiU" pitchFamily="18" charset="-12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7" name="Rectangle 2"/>
          <p:cNvSpPr>
            <a:spLocks noGrp="1"/>
          </p:cNvSpPr>
          <p:nvPr>
            <p:ph type="title"/>
          </p:nvPr>
        </p:nvSpPr>
        <p:spPr>
          <a:xfrm>
            <a:off x="228600" y="304800"/>
            <a:ext cx="8229600" cy="944563"/>
          </a:xfrm>
          <a:ln/>
        </p:spPr>
        <p:txBody>
          <a:bodyPr vert="horz" wrap="square" lIns="91440" tIns="45720" rIns="91440" bIns="45720" anchor="ctr" anchorCtr="0"/>
          <a:p>
            <a:pPr>
              <a:buNone/>
            </a:pPr>
            <a:r>
              <a:rPr lang="en-US" altLang="zh-TW" sz="3200" dirty="0">
                <a:latin typeface="Times New Roman" panose="02020603050405020304" pitchFamily="18" charset="0"/>
                <a:ea typeface="PMingLiU" pitchFamily="18" charset="-120"/>
              </a:rPr>
              <a:t>Inferring Rudimentary Rules</a:t>
            </a:r>
            <a:endParaRPr lang="en-US" altLang="zh-TW" sz="3200" dirty="0">
              <a:latin typeface="Times New Roman" panose="02020603050405020304" pitchFamily="18" charset="0"/>
              <a:ea typeface="PMingLiU" pitchFamily="18" charset="-120"/>
            </a:endParaRPr>
          </a:p>
        </p:txBody>
      </p:sp>
      <p:sp>
        <p:nvSpPr>
          <p:cNvPr id="16388" name="Rectangle 8"/>
          <p:cNvSpPr/>
          <p:nvPr/>
        </p:nvSpPr>
        <p:spPr>
          <a:xfrm>
            <a:off x="5105400" y="2587625"/>
            <a:ext cx="3581400" cy="2986088"/>
          </a:xfrm>
          <a:prstGeom prst="rect">
            <a:avLst/>
          </a:prstGeom>
          <a:noFill/>
          <a:ln w="9525">
            <a:noFill/>
          </a:ln>
        </p:spPr>
        <p:txBody>
          <a:bodyPr>
            <a:spAutoFit/>
          </a:bodyPr>
          <a:p>
            <a:pPr>
              <a:lnSpc>
                <a:spcPct val="140000"/>
              </a:lnSpc>
              <a:spcBef>
                <a:spcPct val="20000"/>
              </a:spcBef>
              <a:buClr>
                <a:schemeClr val="hlink"/>
              </a:buClr>
              <a:buSzPct val="55000"/>
              <a:buFont typeface="Wingdings" panose="05000000000000000000" pitchFamily="2" charset="2"/>
              <a:buChar char="n"/>
            </a:pPr>
            <a:r>
              <a:rPr lang="en-US" altLang="zh-TW" sz="2000" dirty="0">
                <a:latin typeface="Times New Roman" panose="02020603050405020304" pitchFamily="18" charset="0"/>
                <a:ea typeface="PMingLiU" pitchFamily="18" charset="-120"/>
              </a:rPr>
              <a:t>Goal: to classify on the </a:t>
            </a:r>
            <a:endParaRPr lang="en-US" altLang="zh-TW" sz="2000" dirty="0">
              <a:latin typeface="Times New Roman" panose="02020603050405020304" pitchFamily="18" charset="0"/>
              <a:ea typeface="PMingLiU" pitchFamily="18" charset="-120"/>
            </a:endParaRPr>
          </a:p>
          <a:p>
            <a:pPr>
              <a:lnSpc>
                <a:spcPct val="140000"/>
              </a:lnSpc>
              <a:spcBef>
                <a:spcPct val="20000"/>
              </a:spcBef>
              <a:buClr>
                <a:schemeClr val="hlink"/>
              </a:buClr>
              <a:buSzPct val="55000"/>
              <a:buFont typeface="Wingdings" panose="05000000000000000000" pitchFamily="2" charset="2"/>
              <a:buNone/>
            </a:pPr>
            <a:r>
              <a:rPr lang="en-US" altLang="zh-TW" sz="2000" dirty="0">
                <a:latin typeface="Times New Roman" panose="02020603050405020304" pitchFamily="18" charset="0"/>
                <a:ea typeface="PMingLiU" pitchFamily="18" charset="-120"/>
              </a:rPr>
              <a:t>          column ‘Play’</a:t>
            </a:r>
            <a:endParaRPr lang="en-US" altLang="zh-TW" sz="2000" dirty="0">
              <a:latin typeface="Times New Roman" panose="02020603050405020304" pitchFamily="18" charset="0"/>
              <a:ea typeface="PMingLiU" pitchFamily="18" charset="-120"/>
            </a:endParaRPr>
          </a:p>
          <a:p>
            <a:pPr>
              <a:lnSpc>
                <a:spcPct val="140000"/>
              </a:lnSpc>
              <a:spcBef>
                <a:spcPct val="20000"/>
              </a:spcBef>
              <a:buClr>
                <a:schemeClr val="hlink"/>
              </a:buClr>
              <a:buSzPct val="55000"/>
              <a:buFont typeface="Wingdings" panose="05000000000000000000" pitchFamily="2" charset="2"/>
              <a:buChar char="n"/>
            </a:pPr>
            <a:r>
              <a:rPr lang="en-US" altLang="zh-TW" sz="2000" dirty="0">
                <a:latin typeface="Times New Roman" panose="02020603050405020304" pitchFamily="18" charset="0"/>
                <a:ea typeface="PMingLiU" pitchFamily="18" charset="-120"/>
              </a:rPr>
              <a:t>Outlook=sunny </a:t>
            </a:r>
            <a:r>
              <a:rPr lang="en-US" altLang="zh-TW" sz="2000" dirty="0">
                <a:latin typeface="Times New Roman" panose="02020603050405020304" pitchFamily="18" charset="0"/>
                <a:ea typeface="PMingLiU" pitchFamily="18" charset="-120"/>
                <a:sym typeface="Wingdings" panose="05000000000000000000" pitchFamily="2" charset="2"/>
              </a:rPr>
              <a:t> play = no</a:t>
            </a:r>
            <a:endParaRPr lang="en-US" altLang="zh-TW" sz="2000" dirty="0">
              <a:latin typeface="Times New Roman" panose="02020603050405020304" pitchFamily="18" charset="0"/>
              <a:ea typeface="PMingLiU" pitchFamily="18" charset="-120"/>
              <a:sym typeface="Wingdings" panose="05000000000000000000" pitchFamily="2" charset="2"/>
            </a:endParaRPr>
          </a:p>
          <a:p>
            <a:pPr>
              <a:lnSpc>
                <a:spcPct val="140000"/>
              </a:lnSpc>
              <a:spcBef>
                <a:spcPct val="20000"/>
              </a:spcBef>
              <a:buClr>
                <a:schemeClr val="hlink"/>
              </a:buClr>
              <a:buSzPct val="55000"/>
              <a:buFont typeface="Wingdings" panose="05000000000000000000" pitchFamily="2" charset="2"/>
              <a:buChar char="n"/>
            </a:pPr>
            <a:r>
              <a:rPr lang="en-US" altLang="zh-TW" sz="2000" dirty="0">
                <a:latin typeface="Times New Roman" panose="02020603050405020304" pitchFamily="18" charset="0"/>
                <a:ea typeface="PMingLiU" pitchFamily="18" charset="-120"/>
              </a:rPr>
              <a:t>Outlook=overcast </a:t>
            </a:r>
            <a:r>
              <a:rPr lang="en-US" altLang="zh-TW" sz="2000" dirty="0">
                <a:latin typeface="Times New Roman" panose="02020603050405020304" pitchFamily="18" charset="0"/>
                <a:ea typeface="PMingLiU" pitchFamily="18" charset="-120"/>
                <a:sym typeface="Wingdings" panose="05000000000000000000" pitchFamily="2" charset="2"/>
              </a:rPr>
              <a:t> play = yes</a:t>
            </a:r>
            <a:endParaRPr lang="en-US" altLang="zh-TW" sz="2000" dirty="0">
              <a:latin typeface="Times New Roman" panose="02020603050405020304" pitchFamily="18" charset="0"/>
              <a:ea typeface="PMingLiU" pitchFamily="18" charset="-120"/>
              <a:sym typeface="Wingdings" panose="05000000000000000000" pitchFamily="2" charset="2"/>
            </a:endParaRPr>
          </a:p>
          <a:p>
            <a:pPr>
              <a:lnSpc>
                <a:spcPct val="140000"/>
              </a:lnSpc>
              <a:spcBef>
                <a:spcPct val="20000"/>
              </a:spcBef>
              <a:buClr>
                <a:schemeClr val="hlink"/>
              </a:buClr>
              <a:buSzPct val="55000"/>
              <a:buFont typeface="Wingdings" panose="05000000000000000000" pitchFamily="2" charset="2"/>
              <a:buChar char="n"/>
            </a:pPr>
            <a:r>
              <a:rPr lang="en-US" altLang="zh-TW" sz="2000" dirty="0">
                <a:latin typeface="Times New Roman" panose="02020603050405020304" pitchFamily="18" charset="0"/>
                <a:ea typeface="PMingLiU" pitchFamily="18" charset="-120"/>
              </a:rPr>
              <a:t>Outlook=rainy </a:t>
            </a:r>
            <a:r>
              <a:rPr lang="en-US" altLang="zh-TW" sz="2000" dirty="0">
                <a:latin typeface="Times New Roman" panose="02020603050405020304" pitchFamily="18" charset="0"/>
                <a:ea typeface="PMingLiU" pitchFamily="18" charset="-120"/>
                <a:sym typeface="Wingdings" panose="05000000000000000000" pitchFamily="2" charset="2"/>
              </a:rPr>
              <a:t> play = yes</a:t>
            </a:r>
            <a:endParaRPr lang="en-US" altLang="zh-TW" sz="2000" dirty="0">
              <a:latin typeface="Times New Roman" panose="02020603050405020304" pitchFamily="18" charset="0"/>
              <a:ea typeface="PMingLiU" pitchFamily="18" charset="-120"/>
              <a:sym typeface="Wingdings" panose="05000000000000000000" pitchFamily="2" charset="2"/>
            </a:endParaRPr>
          </a:p>
          <a:p>
            <a:pPr>
              <a:lnSpc>
                <a:spcPct val="140000"/>
              </a:lnSpc>
              <a:spcBef>
                <a:spcPct val="20000"/>
              </a:spcBef>
              <a:buClr>
                <a:schemeClr val="hlink"/>
              </a:buClr>
              <a:buSzPct val="55000"/>
              <a:buFont typeface="Wingdings" panose="05000000000000000000" pitchFamily="2" charset="2"/>
              <a:buChar char="n"/>
            </a:pPr>
            <a:endParaRPr lang="en-US" altLang="zh-TW" sz="2000" dirty="0">
              <a:latin typeface="Arial" panose="020B0604020202020204" pitchFamily="34" charset="0"/>
              <a:ea typeface="PMingLiU" pitchFamily="18" charset="-120"/>
              <a:sym typeface="Wingdings" panose="05000000000000000000" pitchFamily="2" charset="2"/>
            </a:endParaRPr>
          </a:p>
        </p:txBody>
      </p:sp>
      <p:graphicFrame>
        <p:nvGraphicFramePr>
          <p:cNvPr id="16386" name="Object 2"/>
          <p:cNvGraphicFramePr>
            <a:graphicFrameLocks noChangeAspect="1"/>
          </p:cNvGraphicFramePr>
          <p:nvPr/>
        </p:nvGraphicFramePr>
        <p:xfrm>
          <a:off x="990600" y="1524000"/>
          <a:ext cx="4005263" cy="4800600"/>
        </p:xfrm>
        <a:graphic>
          <a:graphicData uri="http://schemas.openxmlformats.org/presentationml/2006/ole">
            <mc:AlternateContent xmlns:mc="http://schemas.openxmlformats.org/markup-compatibility/2006">
              <mc:Choice xmlns:v="urn:schemas-microsoft-com:vml" Requires="v">
                <p:oleObj spid="_x0000_s3094" name="" r:id="rId1" imgW="2590800" imgH="3105150" progId="Paint.Picture">
                  <p:embed/>
                </p:oleObj>
              </mc:Choice>
              <mc:Fallback>
                <p:oleObj name="" r:id="rId1" imgW="2590800" imgH="3105150" progId="Paint.Picture">
                  <p:embed/>
                  <p:pic>
                    <p:nvPicPr>
                      <p:cNvPr id="0" name="Picture 3093"/>
                      <p:cNvPicPr/>
                      <p:nvPr/>
                    </p:nvPicPr>
                    <p:blipFill>
                      <a:blip r:embed="rId2"/>
                      <a:stretch>
                        <a:fillRect/>
                      </a:stretch>
                    </p:blipFill>
                    <p:spPr>
                      <a:xfrm>
                        <a:off x="990600" y="1524000"/>
                        <a:ext cx="4005263" cy="4800600"/>
                      </a:xfrm>
                      <a:prstGeom prst="rect">
                        <a:avLst/>
                      </a:prstGeom>
                      <a:noFill/>
                      <a:ln w="38100">
                        <a:noFill/>
                        <a:miter/>
                      </a:ln>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3"/>
          <p:cNvGrpSpPr/>
          <p:nvPr/>
        </p:nvGrpSpPr>
        <p:grpSpPr>
          <a:xfrm>
            <a:off x="1600200" y="381000"/>
            <a:ext cx="5943600" cy="5486400"/>
            <a:chOff x="1008" y="240"/>
            <a:chExt cx="3744" cy="3456"/>
          </a:xfrm>
        </p:grpSpPr>
        <p:graphicFrame>
          <p:nvGraphicFramePr>
            <p:cNvPr id="17412" name="Object 4"/>
            <p:cNvGraphicFramePr>
              <a:graphicFrameLocks noChangeAspect="1"/>
            </p:cNvGraphicFramePr>
            <p:nvPr/>
          </p:nvGraphicFramePr>
          <p:xfrm>
            <a:off x="1200" y="240"/>
            <a:ext cx="3072" cy="2805"/>
          </p:xfrm>
          <a:graphic>
            <a:graphicData uri="http://schemas.openxmlformats.org/presentationml/2006/ole">
              <mc:AlternateContent xmlns:mc="http://schemas.openxmlformats.org/markup-compatibility/2006">
                <mc:Choice xmlns:v="urn:schemas-microsoft-com:vml" Requires="v">
                  <p:oleObj spid="_x0000_s3092" name="" r:id="rId1" imgW="7429500" imgH="6786880" progId="Excel.Sheet.8">
                    <p:embed/>
                  </p:oleObj>
                </mc:Choice>
                <mc:Fallback>
                  <p:oleObj name="" r:id="rId1" imgW="7429500" imgH="6786880" progId="Excel.Sheet.8">
                    <p:embed/>
                    <p:pic>
                      <p:nvPicPr>
                        <p:cNvPr id="0" name="Picture 3091"/>
                        <p:cNvPicPr/>
                        <p:nvPr/>
                      </p:nvPicPr>
                      <p:blipFill>
                        <a:blip r:embed="rId2"/>
                        <a:stretch>
                          <a:fillRect/>
                        </a:stretch>
                      </p:blipFill>
                      <p:spPr>
                        <a:xfrm>
                          <a:off x="1200" y="240"/>
                          <a:ext cx="3072" cy="2805"/>
                        </a:xfrm>
                        <a:prstGeom prst="rect">
                          <a:avLst/>
                        </a:prstGeom>
                        <a:noFill/>
                        <a:ln w="38100">
                          <a:noFill/>
                          <a:miter/>
                        </a:ln>
                      </p:spPr>
                    </p:pic>
                  </p:oleObj>
                </mc:Fallback>
              </mc:AlternateContent>
            </a:graphicData>
          </a:graphic>
        </p:graphicFrame>
        <p:sp>
          <p:nvSpPr>
            <p:cNvPr id="17416" name="Line 10"/>
            <p:cNvSpPr/>
            <p:nvPr/>
          </p:nvSpPr>
          <p:spPr>
            <a:xfrm>
              <a:off x="1008" y="3696"/>
              <a:ext cx="3744" cy="0"/>
            </a:xfrm>
            <a:prstGeom prst="line">
              <a:avLst/>
            </a:prstGeom>
            <a:ln w="57150" cap="flat" cmpd="sng">
              <a:solidFill>
                <a:schemeClr val="hlink"/>
              </a:solidFill>
              <a:prstDash val="solid"/>
              <a:miter/>
              <a:headEnd type="none" w="med" len="med"/>
              <a:tailEnd type="none" w="med" len="med"/>
            </a:ln>
          </p:spPr>
        </p:sp>
      </p:grpSp>
      <p:graphicFrame>
        <p:nvGraphicFramePr>
          <p:cNvPr id="17410" name="Object 2"/>
          <p:cNvGraphicFramePr>
            <a:graphicFrameLocks noChangeAspect="1"/>
          </p:cNvGraphicFramePr>
          <p:nvPr/>
        </p:nvGraphicFramePr>
        <p:xfrm>
          <a:off x="1752600" y="5181600"/>
          <a:ext cx="5534025" cy="1266825"/>
        </p:xfrm>
        <a:graphic>
          <a:graphicData uri="http://schemas.openxmlformats.org/presentationml/2006/ole">
            <mc:AlternateContent xmlns:mc="http://schemas.openxmlformats.org/markup-compatibility/2006">
              <mc:Choice xmlns:v="urn:schemas-microsoft-com:vml" Requires="v">
                <p:oleObj spid="_x0000_s3089" name="" r:id="rId3" imgW="8315325" imgH="1914525" progId="Excel.Sheet.8">
                  <p:embed/>
                </p:oleObj>
              </mc:Choice>
              <mc:Fallback>
                <p:oleObj name="" r:id="rId3" imgW="8315325" imgH="1914525" progId="Excel.Sheet.8">
                  <p:embed/>
                  <p:pic>
                    <p:nvPicPr>
                      <p:cNvPr id="0" name="Picture 3088"/>
                      <p:cNvPicPr/>
                      <p:nvPr/>
                    </p:nvPicPr>
                    <p:blipFill>
                      <a:blip r:embed="rId4"/>
                      <a:stretch>
                        <a:fillRect/>
                      </a:stretch>
                    </p:blipFill>
                    <p:spPr>
                      <a:xfrm>
                        <a:off x="1752600" y="5181600"/>
                        <a:ext cx="5534025" cy="1266825"/>
                      </a:xfrm>
                      <a:prstGeom prst="rect">
                        <a:avLst/>
                      </a:prstGeom>
                      <a:noFill/>
                      <a:ln w="38100">
                        <a:noFill/>
                        <a:miter/>
                      </a:ln>
                    </p:spPr>
                  </p:pic>
                </p:oleObj>
              </mc:Fallback>
            </mc:AlternateContent>
          </a:graphicData>
        </a:graphic>
      </p:graphicFrame>
      <p:grpSp>
        <p:nvGrpSpPr>
          <p:cNvPr id="3" name="Group 14"/>
          <p:cNvGrpSpPr/>
          <p:nvPr/>
        </p:nvGrpSpPr>
        <p:grpSpPr>
          <a:xfrm>
            <a:off x="1600200" y="368300"/>
            <a:ext cx="5943600" cy="5810250"/>
            <a:chOff x="1008" y="232"/>
            <a:chExt cx="3744" cy="3660"/>
          </a:xfrm>
        </p:grpSpPr>
        <p:graphicFrame>
          <p:nvGraphicFramePr>
            <p:cNvPr id="17411" name="Object 3"/>
            <p:cNvGraphicFramePr>
              <a:graphicFrameLocks noChangeAspect="1"/>
            </p:cNvGraphicFramePr>
            <p:nvPr/>
          </p:nvGraphicFramePr>
          <p:xfrm>
            <a:off x="1200" y="232"/>
            <a:ext cx="3072" cy="2805"/>
          </p:xfrm>
          <a:graphic>
            <a:graphicData uri="http://schemas.openxmlformats.org/presentationml/2006/ole">
              <mc:AlternateContent xmlns:mc="http://schemas.openxmlformats.org/markup-compatibility/2006">
                <mc:Choice xmlns:v="urn:schemas-microsoft-com:vml" Requires="v">
                  <p:oleObj spid="_x0000_s3090" name="" r:id="rId5" imgW="7429500" imgH="6786880" progId="Excel.Sheet.8">
                    <p:embed/>
                  </p:oleObj>
                </mc:Choice>
                <mc:Fallback>
                  <p:oleObj name="" r:id="rId5" imgW="7429500" imgH="6786880" progId="Excel.Sheet.8">
                    <p:embed/>
                    <p:pic>
                      <p:nvPicPr>
                        <p:cNvPr id="0" name="Picture 3089"/>
                        <p:cNvPicPr/>
                        <p:nvPr/>
                      </p:nvPicPr>
                      <p:blipFill>
                        <a:blip r:embed="rId6"/>
                        <a:stretch>
                          <a:fillRect/>
                        </a:stretch>
                      </p:blipFill>
                      <p:spPr>
                        <a:xfrm>
                          <a:off x="1200" y="232"/>
                          <a:ext cx="3072" cy="2805"/>
                        </a:xfrm>
                        <a:prstGeom prst="rect">
                          <a:avLst/>
                        </a:prstGeom>
                        <a:noFill/>
                        <a:ln w="38100">
                          <a:noFill/>
                          <a:miter/>
                        </a:ln>
                      </p:spPr>
                    </p:pic>
                  </p:oleObj>
                </mc:Fallback>
              </mc:AlternateContent>
            </a:graphicData>
          </a:graphic>
        </p:graphicFrame>
        <p:sp>
          <p:nvSpPr>
            <p:cNvPr id="17415" name="Line 11"/>
            <p:cNvSpPr/>
            <p:nvPr/>
          </p:nvSpPr>
          <p:spPr>
            <a:xfrm>
              <a:off x="1008" y="3892"/>
              <a:ext cx="3744" cy="0"/>
            </a:xfrm>
            <a:prstGeom prst="line">
              <a:avLst/>
            </a:prstGeom>
            <a:ln w="57150" cap="flat" cmpd="sng">
              <a:solidFill>
                <a:schemeClr val="hlink"/>
              </a:solidFill>
              <a:prstDash val="solid"/>
              <a:miter/>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8434" name="Object 2"/>
          <p:cNvGraphicFramePr>
            <a:graphicFrameLocks noChangeAspect="1"/>
          </p:cNvGraphicFramePr>
          <p:nvPr/>
        </p:nvGraphicFramePr>
        <p:xfrm>
          <a:off x="1524000" y="1524000"/>
          <a:ext cx="5486400" cy="4733925"/>
        </p:xfrm>
        <a:graphic>
          <a:graphicData uri="http://schemas.openxmlformats.org/presentationml/2006/ole">
            <mc:AlternateContent xmlns:mc="http://schemas.openxmlformats.org/markup-compatibility/2006">
              <mc:Choice xmlns:v="urn:schemas-microsoft-com:vml" Requires="v">
                <p:oleObj spid="_x0000_s3093" name="" r:id="rId1" imgW="3962400" imgH="3419475" progId="Paint.Picture">
                  <p:embed/>
                </p:oleObj>
              </mc:Choice>
              <mc:Fallback>
                <p:oleObj name="" r:id="rId1" imgW="3962400" imgH="3419475" progId="Paint.Picture">
                  <p:embed/>
                  <p:pic>
                    <p:nvPicPr>
                      <p:cNvPr id="0" name="Picture 3092"/>
                      <p:cNvPicPr/>
                      <p:nvPr/>
                    </p:nvPicPr>
                    <p:blipFill>
                      <a:blip r:embed="rId2"/>
                      <a:stretch>
                        <a:fillRect/>
                      </a:stretch>
                    </p:blipFill>
                    <p:spPr>
                      <a:xfrm>
                        <a:off x="1524000" y="1524000"/>
                        <a:ext cx="5486400" cy="4733925"/>
                      </a:xfrm>
                      <a:prstGeom prst="rect">
                        <a:avLst/>
                      </a:prstGeom>
                      <a:noFill/>
                      <a:ln w="38100">
                        <a:noFill/>
                        <a:miter/>
                      </a:ln>
                    </p:spPr>
                  </p:pic>
                </p:oleObj>
              </mc:Fallback>
            </mc:AlternateContent>
          </a:graphicData>
        </a:graphic>
      </p:graphicFrame>
      <p:sp>
        <p:nvSpPr>
          <p:cNvPr id="18435" name="Rectangle 2"/>
          <p:cNvSpPr>
            <a:spLocks noGrp="1"/>
          </p:cNvSpPr>
          <p:nvPr>
            <p:ph type="title"/>
          </p:nvPr>
        </p:nvSpPr>
        <p:spPr>
          <a:xfrm>
            <a:off x="228600" y="304800"/>
            <a:ext cx="8229600" cy="944563"/>
          </a:xfrm>
          <a:ln/>
        </p:spPr>
        <p:txBody>
          <a:bodyPr vert="horz" wrap="square" lIns="91440" tIns="45720" rIns="91440" bIns="45720" anchor="ctr" anchorCtr="0"/>
          <a:p>
            <a:pPr>
              <a:buNone/>
            </a:pPr>
            <a:r>
              <a:rPr lang="en-US" altLang="zh-TW" sz="3200" dirty="0">
                <a:latin typeface="Times New Roman" panose="02020603050405020304" pitchFamily="18" charset="0"/>
                <a:ea typeface="PMingLiU" pitchFamily="18" charset="-120"/>
              </a:rPr>
              <a:t>Inferring Rudimentary Rules</a:t>
            </a:r>
            <a:endParaRPr lang="en-US" altLang="zh-TW" sz="3200" dirty="0">
              <a:latin typeface="Times New Roman" panose="02020603050405020304" pitchFamily="18" charset="0"/>
              <a:ea typeface="PMingLiU" pitchFamily="18" charset="-12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9"/>
          <p:cNvGrpSpPr/>
          <p:nvPr/>
        </p:nvGrpSpPr>
        <p:grpSpPr>
          <a:xfrm>
            <a:off x="228600" y="5105400"/>
            <a:ext cx="8382000" cy="1454150"/>
            <a:chOff x="144" y="3216"/>
            <a:chExt cx="5280" cy="916"/>
          </a:xfrm>
        </p:grpSpPr>
        <p:graphicFrame>
          <p:nvGraphicFramePr>
            <p:cNvPr id="19459" name="Object 3"/>
            <p:cNvGraphicFramePr>
              <a:graphicFrameLocks noChangeAspect="1"/>
            </p:cNvGraphicFramePr>
            <p:nvPr/>
          </p:nvGraphicFramePr>
          <p:xfrm>
            <a:off x="576" y="3504"/>
            <a:ext cx="4848" cy="628"/>
          </p:xfrm>
          <a:graphic>
            <a:graphicData uri="http://schemas.openxmlformats.org/presentationml/2006/ole">
              <mc:AlternateContent xmlns:mc="http://schemas.openxmlformats.org/markup-compatibility/2006">
                <mc:Choice xmlns:v="urn:schemas-microsoft-com:vml" Requires="v">
                  <p:oleObj spid="_x0000_s3095" name="" r:id="rId1" imgW="7729855" imgH="1014730" progId="Excel.Sheet.8">
                    <p:embed/>
                  </p:oleObj>
                </mc:Choice>
                <mc:Fallback>
                  <p:oleObj name="" r:id="rId1" imgW="7729855" imgH="1014730" progId="Excel.Sheet.8">
                    <p:embed/>
                    <p:pic>
                      <p:nvPicPr>
                        <p:cNvPr id="0" name="Picture 3094"/>
                        <p:cNvPicPr/>
                        <p:nvPr/>
                      </p:nvPicPr>
                      <p:blipFill>
                        <a:blip r:embed="rId2"/>
                        <a:stretch>
                          <a:fillRect/>
                        </a:stretch>
                      </p:blipFill>
                      <p:spPr>
                        <a:xfrm>
                          <a:off x="576" y="3504"/>
                          <a:ext cx="4848" cy="628"/>
                        </a:xfrm>
                        <a:prstGeom prst="rect">
                          <a:avLst/>
                        </a:prstGeom>
                        <a:noFill/>
                        <a:ln w="38100">
                          <a:noFill/>
                          <a:miter/>
                        </a:ln>
                      </p:spPr>
                    </p:pic>
                  </p:oleObj>
                </mc:Fallback>
              </mc:AlternateContent>
            </a:graphicData>
          </a:graphic>
        </p:graphicFrame>
        <p:sp>
          <p:nvSpPr>
            <p:cNvPr id="19462" name="Text Box 8"/>
            <p:cNvSpPr txBox="1"/>
            <p:nvPr/>
          </p:nvSpPr>
          <p:spPr>
            <a:xfrm>
              <a:off x="144" y="3216"/>
              <a:ext cx="1364" cy="288"/>
            </a:xfrm>
            <a:prstGeom prst="rect">
              <a:avLst/>
            </a:prstGeom>
            <a:noFill/>
            <a:ln w="9525">
              <a:noFill/>
            </a:ln>
          </p:spPr>
          <p:txBody>
            <a:bodyPr wrap="none">
              <a:spAutoFit/>
            </a:bodyPr>
            <a:p>
              <a:r>
                <a:rPr lang="en-US" altLang="zh-TW" b="1" dirty="0">
                  <a:solidFill>
                    <a:schemeClr val="tx2"/>
                  </a:solidFill>
                  <a:latin typeface="Arial" panose="020B0604020202020204" pitchFamily="34" charset="0"/>
                  <a:ea typeface="PMingLiU" pitchFamily="18" charset="-120"/>
                </a:rPr>
                <a:t>Temperature</a:t>
              </a:r>
              <a:endParaRPr lang="en-US" altLang="zh-TW" b="1" dirty="0">
                <a:solidFill>
                  <a:schemeClr val="tx2"/>
                </a:solidFill>
                <a:latin typeface="Arial" panose="020B0604020202020204" pitchFamily="34" charset="0"/>
                <a:ea typeface="PMingLiU" pitchFamily="18" charset="-120"/>
              </a:endParaRPr>
            </a:p>
          </p:txBody>
        </p:sp>
      </p:grpSp>
      <p:graphicFrame>
        <p:nvGraphicFramePr>
          <p:cNvPr id="19458" name="Object 2"/>
          <p:cNvGraphicFramePr>
            <a:graphicFrameLocks noChangeAspect="1"/>
          </p:cNvGraphicFramePr>
          <p:nvPr/>
        </p:nvGraphicFramePr>
        <p:xfrm>
          <a:off x="2362200" y="1117600"/>
          <a:ext cx="3581400" cy="4292600"/>
        </p:xfrm>
        <a:graphic>
          <a:graphicData uri="http://schemas.openxmlformats.org/presentationml/2006/ole">
            <mc:AlternateContent xmlns:mc="http://schemas.openxmlformats.org/markup-compatibility/2006">
              <mc:Choice xmlns:v="urn:schemas-microsoft-com:vml" Requires="v">
                <p:oleObj spid="_x0000_s3096" name="" r:id="rId3" imgW="2590800" imgH="3105150" progId="Paint.Picture">
                  <p:embed/>
                </p:oleObj>
              </mc:Choice>
              <mc:Fallback>
                <p:oleObj name="" r:id="rId3" imgW="2590800" imgH="3105150" progId="Paint.Picture">
                  <p:embed/>
                  <p:pic>
                    <p:nvPicPr>
                      <p:cNvPr id="0" name="Picture 3095"/>
                      <p:cNvPicPr/>
                      <p:nvPr/>
                    </p:nvPicPr>
                    <p:blipFill>
                      <a:blip r:embed="rId4"/>
                      <a:stretch>
                        <a:fillRect/>
                      </a:stretch>
                    </p:blipFill>
                    <p:spPr>
                      <a:xfrm>
                        <a:off x="2362200" y="1117600"/>
                        <a:ext cx="3581400" cy="4292600"/>
                      </a:xfrm>
                      <a:prstGeom prst="rect">
                        <a:avLst/>
                      </a:prstGeom>
                      <a:noFill/>
                      <a:ln w="38100">
                        <a:noFill/>
                        <a:miter/>
                      </a:ln>
                    </p:spPr>
                  </p:pic>
                </p:oleObj>
              </mc:Fallback>
            </mc:AlternateContent>
          </a:graphicData>
        </a:graphic>
      </p:graphicFrame>
      <p:sp>
        <p:nvSpPr>
          <p:cNvPr id="19461" name="Rectangle 2"/>
          <p:cNvSpPr>
            <a:spLocks noGrp="1"/>
          </p:cNvSpPr>
          <p:nvPr>
            <p:ph type="title"/>
          </p:nvPr>
        </p:nvSpPr>
        <p:spPr>
          <a:xfrm>
            <a:off x="457200" y="152400"/>
            <a:ext cx="7391400" cy="868363"/>
          </a:xfrm>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Numeric Attributes</a:t>
            </a:r>
            <a:endParaRPr lang="en-US" altLang="zh-TW" sz="3200" b="1" dirty="0">
              <a:latin typeface="Times New Roman" panose="02020603050405020304" pitchFamily="18" charset="0"/>
              <a:ea typeface="PMingLiU"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482" name="Object 2"/>
          <p:cNvGraphicFramePr>
            <a:graphicFrameLocks noChangeAspect="1"/>
          </p:cNvGraphicFramePr>
          <p:nvPr/>
        </p:nvGraphicFramePr>
        <p:xfrm>
          <a:off x="533400" y="2743200"/>
          <a:ext cx="7696200" cy="996950"/>
        </p:xfrm>
        <a:graphic>
          <a:graphicData uri="http://schemas.openxmlformats.org/presentationml/2006/ole">
            <mc:AlternateContent xmlns:mc="http://schemas.openxmlformats.org/markup-compatibility/2006">
              <mc:Choice xmlns:v="urn:schemas-microsoft-com:vml" Requires="v">
                <p:oleObj spid="_x0000_s3091" name="" r:id="rId1" imgW="7729855" imgH="1014730" progId="Excel.Sheet.8">
                  <p:embed/>
                </p:oleObj>
              </mc:Choice>
              <mc:Fallback>
                <p:oleObj name="" r:id="rId1" imgW="7729855" imgH="1014730" progId="Excel.Sheet.8">
                  <p:embed/>
                  <p:pic>
                    <p:nvPicPr>
                      <p:cNvPr id="0" name="Picture 3090"/>
                      <p:cNvPicPr/>
                      <p:nvPr/>
                    </p:nvPicPr>
                    <p:blipFill>
                      <a:blip r:embed="rId2"/>
                      <a:stretch>
                        <a:fillRect/>
                      </a:stretch>
                    </p:blipFill>
                    <p:spPr>
                      <a:xfrm>
                        <a:off x="533400" y="2743200"/>
                        <a:ext cx="7696200" cy="996950"/>
                      </a:xfrm>
                      <a:prstGeom prst="rect">
                        <a:avLst/>
                      </a:prstGeom>
                      <a:noFill/>
                      <a:ln w="38100">
                        <a:noFill/>
                        <a:miter/>
                      </a:ln>
                    </p:spPr>
                  </p:pic>
                </p:oleObj>
              </mc:Fallback>
            </mc:AlternateContent>
          </a:graphicData>
        </a:graphic>
      </p:graphicFrame>
      <p:sp>
        <p:nvSpPr>
          <p:cNvPr id="20483" name="Text Box 44"/>
          <p:cNvSpPr txBox="1"/>
          <p:nvPr/>
        </p:nvSpPr>
        <p:spPr>
          <a:xfrm>
            <a:off x="6324600" y="1447800"/>
            <a:ext cx="2165350" cy="457200"/>
          </a:xfrm>
          <a:prstGeom prst="rect">
            <a:avLst/>
          </a:prstGeom>
          <a:noFill/>
          <a:ln w="9525">
            <a:noFill/>
          </a:ln>
        </p:spPr>
        <p:txBody>
          <a:bodyPr wrap="none">
            <a:spAutoFit/>
          </a:bodyPr>
          <a:p>
            <a:r>
              <a:rPr lang="en-US" altLang="zh-TW" b="1" dirty="0">
                <a:solidFill>
                  <a:schemeClr val="tx2"/>
                </a:solidFill>
                <a:latin typeface="Arial" panose="020B0604020202020204" pitchFamily="34" charset="0"/>
                <a:ea typeface="PMingLiU" pitchFamily="18" charset="-120"/>
              </a:rPr>
              <a:t>Temperature</a:t>
            </a:r>
            <a:endParaRPr lang="en-US" altLang="zh-TW" b="1" dirty="0">
              <a:solidFill>
                <a:schemeClr val="tx2"/>
              </a:solidFill>
              <a:latin typeface="Arial" panose="020B0604020202020204" pitchFamily="34" charset="0"/>
              <a:ea typeface="PMingLiU" pitchFamily="18" charset="-120"/>
            </a:endParaRPr>
          </a:p>
        </p:txBody>
      </p:sp>
      <p:grpSp>
        <p:nvGrpSpPr>
          <p:cNvPr id="2" name="Group 45"/>
          <p:cNvGrpSpPr/>
          <p:nvPr/>
        </p:nvGrpSpPr>
        <p:grpSpPr>
          <a:xfrm>
            <a:off x="1143000" y="2514600"/>
            <a:ext cx="6588125" cy="1371600"/>
            <a:chOff x="816" y="1680"/>
            <a:chExt cx="4150" cy="864"/>
          </a:xfrm>
        </p:grpSpPr>
        <p:sp>
          <p:nvSpPr>
            <p:cNvPr id="20495" name="Line 46"/>
            <p:cNvSpPr/>
            <p:nvPr/>
          </p:nvSpPr>
          <p:spPr>
            <a:xfrm>
              <a:off x="816" y="1680"/>
              <a:ext cx="0" cy="864"/>
            </a:xfrm>
            <a:prstGeom prst="line">
              <a:avLst/>
            </a:prstGeom>
            <a:ln w="57150" cap="flat" cmpd="sng">
              <a:solidFill>
                <a:schemeClr val="hlink"/>
              </a:solidFill>
              <a:prstDash val="solid"/>
              <a:miter/>
              <a:headEnd type="none" w="med" len="med"/>
              <a:tailEnd type="none" w="med" len="med"/>
            </a:ln>
          </p:spPr>
        </p:sp>
        <p:sp>
          <p:nvSpPr>
            <p:cNvPr id="20496" name="Line 47"/>
            <p:cNvSpPr/>
            <p:nvPr/>
          </p:nvSpPr>
          <p:spPr>
            <a:xfrm>
              <a:off x="1104" y="1680"/>
              <a:ext cx="0" cy="864"/>
            </a:xfrm>
            <a:prstGeom prst="line">
              <a:avLst/>
            </a:prstGeom>
            <a:ln w="57150" cap="flat" cmpd="sng">
              <a:solidFill>
                <a:schemeClr val="hlink"/>
              </a:solidFill>
              <a:prstDash val="solid"/>
              <a:miter/>
              <a:headEnd type="none" w="med" len="med"/>
              <a:tailEnd type="none" w="med" len="med"/>
            </a:ln>
          </p:spPr>
        </p:sp>
        <p:sp>
          <p:nvSpPr>
            <p:cNvPr id="20497" name="Line 48"/>
            <p:cNvSpPr/>
            <p:nvPr/>
          </p:nvSpPr>
          <p:spPr>
            <a:xfrm>
              <a:off x="2208" y="1680"/>
              <a:ext cx="0" cy="864"/>
            </a:xfrm>
            <a:prstGeom prst="line">
              <a:avLst/>
            </a:prstGeom>
            <a:ln w="57150" cap="flat" cmpd="sng">
              <a:solidFill>
                <a:schemeClr val="hlink"/>
              </a:solidFill>
              <a:prstDash val="solid"/>
              <a:miter/>
              <a:headEnd type="none" w="med" len="med"/>
              <a:tailEnd type="none" w="med" len="med"/>
            </a:ln>
          </p:spPr>
        </p:sp>
        <p:sp>
          <p:nvSpPr>
            <p:cNvPr id="20498" name="Line 49"/>
            <p:cNvSpPr/>
            <p:nvPr/>
          </p:nvSpPr>
          <p:spPr>
            <a:xfrm>
              <a:off x="2832" y="1680"/>
              <a:ext cx="0" cy="864"/>
            </a:xfrm>
            <a:prstGeom prst="line">
              <a:avLst/>
            </a:prstGeom>
            <a:ln w="57150" cap="flat" cmpd="sng">
              <a:solidFill>
                <a:schemeClr val="hlink"/>
              </a:solidFill>
              <a:prstDash val="solid"/>
              <a:miter/>
              <a:headEnd type="none" w="med" len="med"/>
              <a:tailEnd type="none" w="med" len="med"/>
            </a:ln>
          </p:spPr>
        </p:sp>
        <p:sp>
          <p:nvSpPr>
            <p:cNvPr id="20499" name="Line 50"/>
            <p:cNvSpPr/>
            <p:nvPr/>
          </p:nvSpPr>
          <p:spPr>
            <a:xfrm>
              <a:off x="3936" y="1680"/>
              <a:ext cx="0" cy="864"/>
            </a:xfrm>
            <a:prstGeom prst="line">
              <a:avLst/>
            </a:prstGeom>
            <a:ln w="57150" cap="flat" cmpd="sng">
              <a:solidFill>
                <a:schemeClr val="hlink"/>
              </a:solidFill>
              <a:prstDash val="solid"/>
              <a:miter/>
              <a:headEnd type="none" w="med" len="med"/>
              <a:tailEnd type="none" w="med" len="med"/>
            </a:ln>
          </p:spPr>
        </p:sp>
        <p:sp>
          <p:nvSpPr>
            <p:cNvPr id="20500" name="Line 51"/>
            <p:cNvSpPr/>
            <p:nvPr/>
          </p:nvSpPr>
          <p:spPr>
            <a:xfrm>
              <a:off x="4224" y="1680"/>
              <a:ext cx="0" cy="864"/>
            </a:xfrm>
            <a:prstGeom prst="line">
              <a:avLst/>
            </a:prstGeom>
            <a:ln w="57150" cap="flat" cmpd="sng">
              <a:solidFill>
                <a:schemeClr val="hlink"/>
              </a:solidFill>
              <a:prstDash val="solid"/>
              <a:miter/>
              <a:headEnd type="none" w="med" len="med"/>
              <a:tailEnd type="none" w="med" len="med"/>
            </a:ln>
          </p:spPr>
        </p:sp>
        <p:sp>
          <p:nvSpPr>
            <p:cNvPr id="20501" name="Line 52"/>
            <p:cNvSpPr/>
            <p:nvPr/>
          </p:nvSpPr>
          <p:spPr>
            <a:xfrm>
              <a:off x="4966" y="1680"/>
              <a:ext cx="0" cy="864"/>
            </a:xfrm>
            <a:prstGeom prst="line">
              <a:avLst/>
            </a:prstGeom>
            <a:ln w="57150" cap="flat" cmpd="sng">
              <a:solidFill>
                <a:schemeClr val="hlink"/>
              </a:solidFill>
              <a:prstDash val="solid"/>
              <a:miter/>
              <a:headEnd type="none" w="med" len="med"/>
              <a:tailEnd type="none" w="med" len="med"/>
            </a:ln>
          </p:spPr>
        </p:sp>
      </p:grpSp>
      <p:sp>
        <p:nvSpPr>
          <p:cNvPr id="103477" name="Rectangle 53"/>
          <p:cNvSpPr>
            <a:spLocks noGrp="1"/>
          </p:cNvSpPr>
          <p:nvPr>
            <p:ph idx="1"/>
          </p:nvPr>
        </p:nvSpPr>
        <p:spPr>
          <a:xfrm>
            <a:off x="304800" y="4611688"/>
            <a:ext cx="8686800" cy="1865312"/>
          </a:xfrm>
          <a:ln/>
        </p:spPr>
        <p:txBody>
          <a:bodyPr vert="horz" wrap="square" lIns="91440" tIns="45720" rIns="91440" bIns="45720" anchor="t" anchorCtr="0"/>
          <a:p>
            <a:r>
              <a:rPr lang="en-US" altLang="zh-TW" sz="2400" dirty="0">
                <a:ea typeface="PMingLiU" pitchFamily="18" charset="-120"/>
              </a:rPr>
              <a:t>temperature &lt;= 64.5 </a:t>
            </a:r>
            <a:r>
              <a:rPr lang="en-US" altLang="zh-TW" sz="2400" dirty="0">
                <a:ea typeface="PMingLiU" pitchFamily="18" charset="-120"/>
                <a:sym typeface="Wingdings" panose="05000000000000000000" pitchFamily="2" charset="2"/>
              </a:rPr>
              <a:t> play = yes</a:t>
            </a:r>
            <a:endParaRPr lang="en-US" altLang="zh-TW" sz="2400" dirty="0">
              <a:ea typeface="PMingLiU" pitchFamily="18" charset="-120"/>
              <a:sym typeface="Wingdings" panose="05000000000000000000" pitchFamily="2" charset="2"/>
            </a:endParaRPr>
          </a:p>
          <a:p>
            <a:r>
              <a:rPr lang="en-US" altLang="zh-TW" sz="2400" dirty="0">
                <a:ea typeface="PMingLiU" pitchFamily="18" charset="-120"/>
              </a:rPr>
              <a:t>temperature &gt; 66.5 &amp; temperature &lt;= 70.5 </a:t>
            </a:r>
            <a:r>
              <a:rPr lang="en-US" altLang="zh-TW" sz="2400" dirty="0">
                <a:ea typeface="PMingLiU" pitchFamily="18" charset="-120"/>
                <a:sym typeface="Wingdings" panose="05000000000000000000" pitchFamily="2" charset="2"/>
              </a:rPr>
              <a:t> play = yes</a:t>
            </a:r>
            <a:endParaRPr lang="en-US" altLang="zh-TW" sz="2400" dirty="0">
              <a:ea typeface="PMingLiU" pitchFamily="18" charset="-120"/>
              <a:sym typeface="Wingdings" panose="05000000000000000000" pitchFamily="2" charset="2"/>
            </a:endParaRPr>
          </a:p>
          <a:p>
            <a:r>
              <a:rPr lang="en-US" altLang="zh-TW" sz="2400" dirty="0">
                <a:ea typeface="PMingLiU" pitchFamily="18" charset="-120"/>
              </a:rPr>
              <a:t>temperature &gt; 70.5 &amp; temperature &lt;= 72 </a:t>
            </a:r>
            <a:r>
              <a:rPr lang="en-US" altLang="zh-TW" sz="2400" dirty="0">
                <a:ea typeface="PMingLiU" pitchFamily="18" charset="-120"/>
                <a:sym typeface="Wingdings" panose="05000000000000000000" pitchFamily="2" charset="2"/>
              </a:rPr>
              <a:t> play = no</a:t>
            </a:r>
            <a:endParaRPr lang="en-US" altLang="zh-TW" sz="2400" dirty="0">
              <a:ea typeface="PMingLiU" pitchFamily="18" charset="-120"/>
              <a:sym typeface="Wingdings" panose="05000000000000000000" pitchFamily="2" charset="2"/>
            </a:endParaRPr>
          </a:p>
          <a:p>
            <a:r>
              <a:rPr lang="en-US" altLang="zh-TW" sz="2400" dirty="0">
                <a:latin typeface="Times New Roman" panose="02020603050405020304" pitchFamily="18" charset="0"/>
                <a:ea typeface="PMingLiU" pitchFamily="18" charset="-120"/>
                <a:sym typeface="Wingdings" panose="05000000000000000000" pitchFamily="2" charset="2"/>
              </a:rPr>
              <a:t>…</a:t>
            </a:r>
            <a:endParaRPr lang="en-US" altLang="zh-TW" sz="2400" dirty="0">
              <a:ea typeface="PMingLiU" pitchFamily="18" charset="-120"/>
              <a:sym typeface="Wingdings" panose="05000000000000000000" pitchFamily="2" charset="2"/>
            </a:endParaRPr>
          </a:p>
          <a:p>
            <a:endParaRPr lang="en-US" altLang="zh-TW" sz="2400" dirty="0">
              <a:ea typeface="PMingLiU" pitchFamily="18" charset="-120"/>
              <a:sym typeface="Wingdings" panose="05000000000000000000" pitchFamily="2" charset="2"/>
            </a:endParaRPr>
          </a:p>
          <a:p>
            <a:endParaRPr lang="en-US" altLang="zh-TW" sz="2400" dirty="0">
              <a:ea typeface="PMingLiU" pitchFamily="18" charset="-120"/>
            </a:endParaRPr>
          </a:p>
        </p:txBody>
      </p:sp>
      <p:grpSp>
        <p:nvGrpSpPr>
          <p:cNvPr id="3" name="Group 54"/>
          <p:cNvGrpSpPr/>
          <p:nvPr/>
        </p:nvGrpSpPr>
        <p:grpSpPr>
          <a:xfrm>
            <a:off x="822325" y="2024063"/>
            <a:ext cx="7162800" cy="2471737"/>
            <a:chOff x="614" y="1344"/>
            <a:chExt cx="4512" cy="1557"/>
          </a:xfrm>
        </p:grpSpPr>
        <p:sp>
          <p:nvSpPr>
            <p:cNvPr id="20488" name="Text Box 55"/>
            <p:cNvSpPr txBox="1"/>
            <p:nvPr/>
          </p:nvSpPr>
          <p:spPr>
            <a:xfrm>
              <a:off x="614" y="2613"/>
              <a:ext cx="489"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64.5</a:t>
              </a:r>
              <a:endParaRPr lang="zh-TW" altLang="en-US" dirty="0">
                <a:latin typeface="Arial" panose="020B0604020202020204" pitchFamily="34" charset="0"/>
                <a:ea typeface="PMingLiU" pitchFamily="18" charset="-120"/>
              </a:endParaRPr>
            </a:p>
          </p:txBody>
        </p:sp>
        <p:sp>
          <p:nvSpPr>
            <p:cNvPr id="20489" name="Text Box 56"/>
            <p:cNvSpPr txBox="1"/>
            <p:nvPr/>
          </p:nvSpPr>
          <p:spPr>
            <a:xfrm>
              <a:off x="912" y="1344"/>
              <a:ext cx="489"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66.5</a:t>
              </a:r>
              <a:endParaRPr lang="zh-TW" altLang="en-US" dirty="0">
                <a:latin typeface="Arial" panose="020B0604020202020204" pitchFamily="34" charset="0"/>
                <a:ea typeface="PMingLiU" pitchFamily="18" charset="-120"/>
              </a:endParaRPr>
            </a:p>
          </p:txBody>
        </p:sp>
        <p:sp>
          <p:nvSpPr>
            <p:cNvPr id="20490" name="Text Box 57"/>
            <p:cNvSpPr txBox="1"/>
            <p:nvPr/>
          </p:nvSpPr>
          <p:spPr>
            <a:xfrm>
              <a:off x="1959" y="2592"/>
              <a:ext cx="489"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70.5</a:t>
              </a:r>
              <a:endParaRPr lang="zh-TW" altLang="en-US" dirty="0">
                <a:latin typeface="Arial" panose="020B0604020202020204" pitchFamily="34" charset="0"/>
                <a:ea typeface="PMingLiU" pitchFamily="18" charset="-120"/>
              </a:endParaRPr>
            </a:p>
          </p:txBody>
        </p:sp>
        <p:sp>
          <p:nvSpPr>
            <p:cNvPr id="20491" name="Text Box 58"/>
            <p:cNvSpPr txBox="1"/>
            <p:nvPr/>
          </p:nvSpPr>
          <p:spPr>
            <a:xfrm>
              <a:off x="2592" y="1344"/>
              <a:ext cx="326"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72</a:t>
              </a:r>
              <a:endParaRPr lang="zh-TW" altLang="en-US" dirty="0">
                <a:latin typeface="Arial" panose="020B0604020202020204" pitchFamily="34" charset="0"/>
                <a:ea typeface="PMingLiU" pitchFamily="18" charset="-120"/>
              </a:endParaRPr>
            </a:p>
          </p:txBody>
        </p:sp>
        <p:sp>
          <p:nvSpPr>
            <p:cNvPr id="20492" name="Text Box 59"/>
            <p:cNvSpPr txBox="1"/>
            <p:nvPr/>
          </p:nvSpPr>
          <p:spPr>
            <a:xfrm>
              <a:off x="3696" y="2592"/>
              <a:ext cx="489"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77.5</a:t>
              </a:r>
              <a:endParaRPr lang="zh-TW" altLang="en-US" dirty="0">
                <a:latin typeface="Arial" panose="020B0604020202020204" pitchFamily="34" charset="0"/>
                <a:ea typeface="PMingLiU" pitchFamily="18" charset="-120"/>
              </a:endParaRPr>
            </a:p>
          </p:txBody>
        </p:sp>
        <p:sp>
          <p:nvSpPr>
            <p:cNvPr id="20493" name="Text Box 60"/>
            <p:cNvSpPr txBox="1"/>
            <p:nvPr/>
          </p:nvSpPr>
          <p:spPr>
            <a:xfrm>
              <a:off x="3984" y="1392"/>
              <a:ext cx="489"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80.5</a:t>
              </a:r>
              <a:endParaRPr lang="zh-TW" altLang="en-US" dirty="0">
                <a:latin typeface="Arial" panose="020B0604020202020204" pitchFamily="34" charset="0"/>
                <a:ea typeface="PMingLiU" pitchFamily="18" charset="-120"/>
              </a:endParaRPr>
            </a:p>
          </p:txBody>
        </p:sp>
        <p:sp>
          <p:nvSpPr>
            <p:cNvPr id="20494" name="Text Box 61"/>
            <p:cNvSpPr txBox="1"/>
            <p:nvPr/>
          </p:nvSpPr>
          <p:spPr>
            <a:xfrm>
              <a:off x="4800" y="2592"/>
              <a:ext cx="326"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84</a:t>
              </a:r>
              <a:endParaRPr lang="zh-TW" altLang="en-US" dirty="0">
                <a:latin typeface="Arial" panose="020B0604020202020204" pitchFamily="34" charset="0"/>
                <a:ea typeface="PMingLiU" pitchFamily="18" charset="-120"/>
              </a:endParaRPr>
            </a:p>
          </p:txBody>
        </p:sp>
      </p:grpSp>
      <p:sp>
        <p:nvSpPr>
          <p:cNvPr id="20487"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Numeric Attributes</a:t>
            </a:r>
            <a:endParaRPr lang="en-US" altLang="zh-TW" sz="3200" b="1" dirty="0">
              <a:latin typeface="Times New Roman" panose="02020603050405020304" pitchFamily="18" charset="0"/>
              <a:ea typeface="PMingLiU"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ppt_y-#ppt_h/2"/>
                                          </p:val>
                                        </p:tav>
                                        <p:tav tm="100000">
                                          <p:val>
                                            <p:strVal val="#ppt_y"/>
                                          </p:val>
                                        </p:tav>
                                      </p:tavLst>
                                    </p:anim>
                                    <p:anim calcmode="lin" valueType="num">
                                      <p:cBhvr>
                                        <p:cTn id="9" dur="500" fill="hold"/>
                                        <p:tgtEl>
                                          <p:spTgt spid="2"/>
                                        </p:tgtEl>
                                        <p:attrNameLst>
                                          <p:attrName>ppt_w</p:attrName>
                                        </p:attrNameLst>
                                      </p:cBhvr>
                                      <p:tavLst>
                                        <p:tav tm="0">
                                          <p:val>
                                            <p:strVal val="#ppt_w"/>
                                          </p:val>
                                        </p:tav>
                                        <p:tav tm="100000">
                                          <p:val>
                                            <p:strVal val="#ppt_w"/>
                                          </p:val>
                                        </p:tav>
                                      </p:tavLst>
                                    </p:anim>
                                    <p:anim calcmode="lin" valueType="num">
                                      <p:cBhvr>
                                        <p:cTn id="10" dur="500" fill="hold"/>
                                        <p:tgtEl>
                                          <p:spTgt spid="2"/>
                                        </p:tgtEl>
                                        <p:attrNameLst>
                                          <p:attrName>ppt_h</p:attrName>
                                        </p:attrNameLst>
                                      </p:cBhvr>
                                      <p:tavLst>
                                        <p:tav tm="0">
                                          <p:val>
                                            <p:fltVal val="0.00000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034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7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7"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Numeric Attributes</a:t>
            </a:r>
            <a:endParaRPr lang="en-US" altLang="zh-TW" sz="3200" b="1" dirty="0">
              <a:latin typeface="Times New Roman" panose="02020603050405020304" pitchFamily="18" charset="0"/>
              <a:ea typeface="PMingLiU" pitchFamily="18" charset="-120"/>
            </a:endParaRPr>
          </a:p>
        </p:txBody>
      </p:sp>
      <p:grpSp>
        <p:nvGrpSpPr>
          <p:cNvPr id="2" name="Group 39"/>
          <p:cNvGrpSpPr/>
          <p:nvPr/>
        </p:nvGrpSpPr>
        <p:grpSpPr>
          <a:xfrm>
            <a:off x="3886200" y="1828800"/>
            <a:ext cx="1219200" cy="1219200"/>
            <a:chOff x="2448" y="1104"/>
            <a:chExt cx="768" cy="768"/>
          </a:xfrm>
        </p:grpSpPr>
        <p:sp>
          <p:nvSpPr>
            <p:cNvPr id="21527" name="Oval 40"/>
            <p:cNvSpPr/>
            <p:nvPr/>
          </p:nvSpPr>
          <p:spPr>
            <a:xfrm>
              <a:off x="2544" y="1104"/>
              <a:ext cx="432" cy="384"/>
            </a:xfrm>
            <a:prstGeom prst="ellipse">
              <a:avLst/>
            </a:prstGeom>
            <a:noFill/>
            <a:ln w="57150" cap="flat" cmpd="sng">
              <a:solidFill>
                <a:schemeClr val="accent2"/>
              </a:solidFill>
              <a:prstDash val="solid"/>
              <a:miter/>
              <a:headEnd type="none" w="med" len="med"/>
              <a:tailEnd type="none" w="med" len="med"/>
            </a:ln>
          </p:spPr>
          <p:txBody>
            <a:bodyPr wrap="none" anchor="ctr" anchorCtr="0"/>
            <a:p>
              <a:endParaRPr lang="en-US" altLang="x-none" dirty="0">
                <a:latin typeface="Arial" panose="020B0604020202020204" pitchFamily="34" charset="0"/>
              </a:endParaRPr>
            </a:p>
          </p:txBody>
        </p:sp>
        <p:sp>
          <p:nvSpPr>
            <p:cNvPr id="21528" name="Oval 41"/>
            <p:cNvSpPr/>
            <p:nvPr/>
          </p:nvSpPr>
          <p:spPr>
            <a:xfrm>
              <a:off x="2448" y="1488"/>
              <a:ext cx="768" cy="384"/>
            </a:xfrm>
            <a:prstGeom prst="ellipse">
              <a:avLst/>
            </a:prstGeom>
            <a:noFill/>
            <a:ln w="57150" cap="flat" cmpd="sng">
              <a:solidFill>
                <a:schemeClr val="accent2"/>
              </a:solidFill>
              <a:prstDash val="solid"/>
              <a:miter/>
              <a:headEnd type="none" w="med" len="med"/>
              <a:tailEnd type="none" w="med" len="med"/>
            </a:ln>
          </p:spPr>
          <p:txBody>
            <a:bodyPr wrap="none" anchor="ctr" anchorCtr="0"/>
            <a:p>
              <a:endParaRPr lang="en-US" altLang="x-none" dirty="0">
                <a:latin typeface="Arial" panose="020B0604020202020204" pitchFamily="34" charset="0"/>
              </a:endParaRPr>
            </a:p>
          </p:txBody>
        </p:sp>
      </p:grpSp>
      <p:grpSp>
        <p:nvGrpSpPr>
          <p:cNvPr id="21509" name="Group 59"/>
          <p:cNvGrpSpPr/>
          <p:nvPr/>
        </p:nvGrpSpPr>
        <p:grpSpPr>
          <a:xfrm>
            <a:off x="685800" y="1795463"/>
            <a:ext cx="7696200" cy="2471737"/>
            <a:chOff x="432" y="1419"/>
            <a:chExt cx="4848" cy="1557"/>
          </a:xfrm>
        </p:grpSpPr>
        <p:graphicFrame>
          <p:nvGraphicFramePr>
            <p:cNvPr id="21506" name="Object 2"/>
            <p:cNvGraphicFramePr>
              <a:graphicFrameLocks noChangeAspect="1"/>
            </p:cNvGraphicFramePr>
            <p:nvPr/>
          </p:nvGraphicFramePr>
          <p:xfrm>
            <a:off x="432" y="1872"/>
            <a:ext cx="4848" cy="628"/>
          </p:xfrm>
          <a:graphic>
            <a:graphicData uri="http://schemas.openxmlformats.org/presentationml/2006/ole">
              <mc:AlternateContent xmlns:mc="http://schemas.openxmlformats.org/markup-compatibility/2006">
                <mc:Choice xmlns:v="urn:schemas-microsoft-com:vml" Requires="v">
                  <p:oleObj spid="_x0000_s3097" name="" r:id="rId1" imgW="7729855" imgH="1014730" progId="Excel.Sheet.8">
                    <p:embed/>
                  </p:oleObj>
                </mc:Choice>
                <mc:Fallback>
                  <p:oleObj name="" r:id="rId1" imgW="7729855" imgH="1014730" progId="Excel.Sheet.8">
                    <p:embed/>
                    <p:pic>
                      <p:nvPicPr>
                        <p:cNvPr id="0" name="Picture 3096"/>
                        <p:cNvPicPr/>
                        <p:nvPr/>
                      </p:nvPicPr>
                      <p:blipFill>
                        <a:blip r:embed="rId2"/>
                        <a:stretch>
                          <a:fillRect/>
                        </a:stretch>
                      </p:blipFill>
                      <p:spPr>
                        <a:xfrm>
                          <a:off x="432" y="1872"/>
                          <a:ext cx="4848" cy="628"/>
                        </a:xfrm>
                        <a:prstGeom prst="rect">
                          <a:avLst/>
                        </a:prstGeom>
                        <a:noFill/>
                        <a:ln w="38100">
                          <a:noFill/>
                          <a:miter/>
                        </a:ln>
                      </p:spPr>
                    </p:pic>
                  </p:oleObj>
                </mc:Fallback>
              </mc:AlternateContent>
            </a:graphicData>
          </a:graphic>
        </p:graphicFrame>
        <p:grpSp>
          <p:nvGrpSpPr>
            <p:cNvPr id="21511" name="Group 43"/>
            <p:cNvGrpSpPr/>
            <p:nvPr/>
          </p:nvGrpSpPr>
          <p:grpSpPr>
            <a:xfrm>
              <a:off x="816" y="1728"/>
              <a:ext cx="4150" cy="864"/>
              <a:chOff x="816" y="1680"/>
              <a:chExt cx="4150" cy="864"/>
            </a:xfrm>
          </p:grpSpPr>
          <p:sp>
            <p:nvSpPr>
              <p:cNvPr id="21520" name="Line 44"/>
              <p:cNvSpPr/>
              <p:nvPr/>
            </p:nvSpPr>
            <p:spPr>
              <a:xfrm>
                <a:off x="816" y="1680"/>
                <a:ext cx="0" cy="864"/>
              </a:xfrm>
              <a:prstGeom prst="line">
                <a:avLst/>
              </a:prstGeom>
              <a:ln w="57150" cap="flat" cmpd="sng">
                <a:solidFill>
                  <a:schemeClr val="hlink"/>
                </a:solidFill>
                <a:prstDash val="solid"/>
                <a:miter/>
                <a:headEnd type="none" w="med" len="med"/>
                <a:tailEnd type="none" w="med" len="med"/>
              </a:ln>
            </p:spPr>
          </p:sp>
          <p:sp>
            <p:nvSpPr>
              <p:cNvPr id="21521" name="Line 45"/>
              <p:cNvSpPr/>
              <p:nvPr/>
            </p:nvSpPr>
            <p:spPr>
              <a:xfrm>
                <a:off x="1104" y="1680"/>
                <a:ext cx="0" cy="864"/>
              </a:xfrm>
              <a:prstGeom prst="line">
                <a:avLst/>
              </a:prstGeom>
              <a:ln w="57150" cap="flat" cmpd="sng">
                <a:solidFill>
                  <a:schemeClr val="hlink"/>
                </a:solidFill>
                <a:prstDash val="solid"/>
                <a:miter/>
                <a:headEnd type="none" w="med" len="med"/>
                <a:tailEnd type="none" w="med" len="med"/>
              </a:ln>
            </p:spPr>
          </p:sp>
          <p:sp>
            <p:nvSpPr>
              <p:cNvPr id="21522" name="Line 46"/>
              <p:cNvSpPr/>
              <p:nvPr/>
            </p:nvSpPr>
            <p:spPr>
              <a:xfrm>
                <a:off x="2208" y="1680"/>
                <a:ext cx="0" cy="864"/>
              </a:xfrm>
              <a:prstGeom prst="line">
                <a:avLst/>
              </a:prstGeom>
              <a:ln w="57150" cap="flat" cmpd="sng">
                <a:solidFill>
                  <a:schemeClr val="hlink"/>
                </a:solidFill>
                <a:prstDash val="solid"/>
                <a:miter/>
                <a:headEnd type="none" w="med" len="med"/>
                <a:tailEnd type="none" w="med" len="med"/>
              </a:ln>
            </p:spPr>
          </p:sp>
          <p:sp>
            <p:nvSpPr>
              <p:cNvPr id="21523" name="Line 47"/>
              <p:cNvSpPr/>
              <p:nvPr/>
            </p:nvSpPr>
            <p:spPr>
              <a:xfrm>
                <a:off x="2832" y="1680"/>
                <a:ext cx="0" cy="864"/>
              </a:xfrm>
              <a:prstGeom prst="line">
                <a:avLst/>
              </a:prstGeom>
              <a:ln w="57150" cap="flat" cmpd="sng">
                <a:solidFill>
                  <a:schemeClr val="hlink"/>
                </a:solidFill>
                <a:prstDash val="solid"/>
                <a:miter/>
                <a:headEnd type="none" w="med" len="med"/>
                <a:tailEnd type="none" w="med" len="med"/>
              </a:ln>
            </p:spPr>
          </p:sp>
          <p:sp>
            <p:nvSpPr>
              <p:cNvPr id="21524" name="Line 48"/>
              <p:cNvSpPr/>
              <p:nvPr/>
            </p:nvSpPr>
            <p:spPr>
              <a:xfrm>
                <a:off x="3936" y="1680"/>
                <a:ext cx="0" cy="864"/>
              </a:xfrm>
              <a:prstGeom prst="line">
                <a:avLst/>
              </a:prstGeom>
              <a:ln w="57150" cap="flat" cmpd="sng">
                <a:solidFill>
                  <a:schemeClr val="hlink"/>
                </a:solidFill>
                <a:prstDash val="solid"/>
                <a:miter/>
                <a:headEnd type="none" w="med" len="med"/>
                <a:tailEnd type="none" w="med" len="med"/>
              </a:ln>
            </p:spPr>
          </p:sp>
          <p:sp>
            <p:nvSpPr>
              <p:cNvPr id="21525" name="Line 49"/>
              <p:cNvSpPr/>
              <p:nvPr/>
            </p:nvSpPr>
            <p:spPr>
              <a:xfrm>
                <a:off x="4224" y="1680"/>
                <a:ext cx="0" cy="864"/>
              </a:xfrm>
              <a:prstGeom prst="line">
                <a:avLst/>
              </a:prstGeom>
              <a:ln w="57150" cap="flat" cmpd="sng">
                <a:solidFill>
                  <a:schemeClr val="hlink"/>
                </a:solidFill>
                <a:prstDash val="solid"/>
                <a:miter/>
                <a:headEnd type="none" w="med" len="med"/>
                <a:tailEnd type="none" w="med" len="med"/>
              </a:ln>
            </p:spPr>
          </p:sp>
          <p:sp>
            <p:nvSpPr>
              <p:cNvPr id="21526" name="Line 50"/>
              <p:cNvSpPr/>
              <p:nvPr/>
            </p:nvSpPr>
            <p:spPr>
              <a:xfrm>
                <a:off x="4966" y="1680"/>
                <a:ext cx="0" cy="864"/>
              </a:xfrm>
              <a:prstGeom prst="line">
                <a:avLst/>
              </a:prstGeom>
              <a:ln w="57150" cap="flat" cmpd="sng">
                <a:solidFill>
                  <a:schemeClr val="hlink"/>
                </a:solidFill>
                <a:prstDash val="solid"/>
                <a:miter/>
                <a:headEnd type="none" w="med" len="med"/>
                <a:tailEnd type="none" w="med" len="med"/>
              </a:ln>
            </p:spPr>
          </p:sp>
        </p:grpSp>
        <p:grpSp>
          <p:nvGrpSpPr>
            <p:cNvPr id="21512" name="Group 51"/>
            <p:cNvGrpSpPr/>
            <p:nvPr/>
          </p:nvGrpSpPr>
          <p:grpSpPr>
            <a:xfrm>
              <a:off x="614" y="1419"/>
              <a:ext cx="4512" cy="1557"/>
              <a:chOff x="614" y="1344"/>
              <a:chExt cx="4512" cy="1557"/>
            </a:xfrm>
          </p:grpSpPr>
          <p:sp>
            <p:nvSpPr>
              <p:cNvPr id="21513" name="Text Box 52"/>
              <p:cNvSpPr txBox="1"/>
              <p:nvPr/>
            </p:nvSpPr>
            <p:spPr>
              <a:xfrm>
                <a:off x="614" y="2613"/>
                <a:ext cx="489"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64.5</a:t>
                </a:r>
                <a:endParaRPr lang="zh-TW" altLang="en-US" dirty="0">
                  <a:latin typeface="Arial" panose="020B0604020202020204" pitchFamily="34" charset="0"/>
                  <a:ea typeface="PMingLiU" pitchFamily="18" charset="-120"/>
                </a:endParaRPr>
              </a:p>
            </p:txBody>
          </p:sp>
          <p:sp>
            <p:nvSpPr>
              <p:cNvPr id="21514" name="Text Box 53"/>
              <p:cNvSpPr txBox="1"/>
              <p:nvPr/>
            </p:nvSpPr>
            <p:spPr>
              <a:xfrm>
                <a:off x="912" y="1344"/>
                <a:ext cx="489"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66.5</a:t>
                </a:r>
                <a:endParaRPr lang="zh-TW" altLang="en-US" dirty="0">
                  <a:latin typeface="Arial" panose="020B0604020202020204" pitchFamily="34" charset="0"/>
                  <a:ea typeface="PMingLiU" pitchFamily="18" charset="-120"/>
                </a:endParaRPr>
              </a:p>
            </p:txBody>
          </p:sp>
          <p:sp>
            <p:nvSpPr>
              <p:cNvPr id="21515" name="Text Box 54"/>
              <p:cNvSpPr txBox="1"/>
              <p:nvPr/>
            </p:nvSpPr>
            <p:spPr>
              <a:xfrm>
                <a:off x="1959" y="2592"/>
                <a:ext cx="489"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70.5</a:t>
                </a:r>
                <a:endParaRPr lang="zh-TW" altLang="en-US" dirty="0">
                  <a:latin typeface="Arial" panose="020B0604020202020204" pitchFamily="34" charset="0"/>
                  <a:ea typeface="PMingLiU" pitchFamily="18" charset="-120"/>
                </a:endParaRPr>
              </a:p>
            </p:txBody>
          </p:sp>
          <p:sp>
            <p:nvSpPr>
              <p:cNvPr id="21516" name="Text Box 55"/>
              <p:cNvSpPr txBox="1"/>
              <p:nvPr/>
            </p:nvSpPr>
            <p:spPr>
              <a:xfrm>
                <a:off x="2592" y="1344"/>
                <a:ext cx="326"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72</a:t>
                </a:r>
                <a:endParaRPr lang="zh-TW" altLang="en-US" dirty="0">
                  <a:latin typeface="Arial" panose="020B0604020202020204" pitchFamily="34" charset="0"/>
                  <a:ea typeface="PMingLiU" pitchFamily="18" charset="-120"/>
                </a:endParaRPr>
              </a:p>
            </p:txBody>
          </p:sp>
          <p:sp>
            <p:nvSpPr>
              <p:cNvPr id="21517" name="Text Box 56"/>
              <p:cNvSpPr txBox="1"/>
              <p:nvPr/>
            </p:nvSpPr>
            <p:spPr>
              <a:xfrm>
                <a:off x="3696" y="2592"/>
                <a:ext cx="489"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77.5</a:t>
                </a:r>
                <a:endParaRPr lang="zh-TW" altLang="en-US" dirty="0">
                  <a:latin typeface="Arial" panose="020B0604020202020204" pitchFamily="34" charset="0"/>
                  <a:ea typeface="PMingLiU" pitchFamily="18" charset="-120"/>
                </a:endParaRPr>
              </a:p>
            </p:txBody>
          </p:sp>
          <p:sp>
            <p:nvSpPr>
              <p:cNvPr id="21518" name="Text Box 57"/>
              <p:cNvSpPr txBox="1"/>
              <p:nvPr/>
            </p:nvSpPr>
            <p:spPr>
              <a:xfrm>
                <a:off x="3984" y="1392"/>
                <a:ext cx="489"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80.5</a:t>
                </a:r>
                <a:endParaRPr lang="zh-TW" altLang="en-US" dirty="0">
                  <a:latin typeface="Arial" panose="020B0604020202020204" pitchFamily="34" charset="0"/>
                  <a:ea typeface="PMingLiU" pitchFamily="18" charset="-120"/>
                </a:endParaRPr>
              </a:p>
            </p:txBody>
          </p:sp>
          <p:sp>
            <p:nvSpPr>
              <p:cNvPr id="21519" name="Text Box 58"/>
              <p:cNvSpPr txBox="1"/>
              <p:nvPr/>
            </p:nvSpPr>
            <p:spPr>
              <a:xfrm>
                <a:off x="4800" y="2592"/>
                <a:ext cx="326"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84</a:t>
                </a:r>
                <a:endParaRPr lang="zh-TW" altLang="en-US" dirty="0">
                  <a:latin typeface="Arial" panose="020B0604020202020204" pitchFamily="34" charset="0"/>
                  <a:ea typeface="PMingLiU" pitchFamily="18" charset="-120"/>
                </a:endParaRPr>
              </a:p>
            </p:txBody>
          </p:sp>
        </p:grpSp>
      </p:grpSp>
      <p:sp>
        <p:nvSpPr>
          <p:cNvPr id="105532" name="Rectangle 60"/>
          <p:cNvSpPr/>
          <p:nvPr/>
        </p:nvSpPr>
        <p:spPr>
          <a:xfrm>
            <a:off x="685800" y="4572000"/>
            <a:ext cx="8153400" cy="1771650"/>
          </a:xfrm>
          <a:prstGeom prst="rect">
            <a:avLst/>
          </a:prstGeom>
          <a:noFill/>
          <a:ln w="9525">
            <a:noFill/>
          </a:ln>
        </p:spPr>
        <p:txBody>
          <a:bodyPr>
            <a:spAutoFit/>
          </a:bodyPr>
          <a:p>
            <a:pPr>
              <a:spcBef>
                <a:spcPct val="20000"/>
              </a:spcBef>
              <a:buClr>
                <a:schemeClr val="folHlink"/>
              </a:buClr>
              <a:buSzPct val="60000"/>
              <a:buFont typeface="Wingdings" panose="05000000000000000000" pitchFamily="2" charset="2"/>
              <a:buChar char="n"/>
            </a:pPr>
            <a:r>
              <a:rPr lang="en-US" altLang="zh-TW" dirty="0">
                <a:latin typeface="Times New Roman" panose="02020603050405020304" pitchFamily="18" charset="0"/>
                <a:ea typeface="PMingLiU" pitchFamily="18" charset="-120"/>
              </a:rPr>
              <a:t>…</a:t>
            </a:r>
            <a:endParaRPr lang="en-US" altLang="zh-TW" dirty="0">
              <a:latin typeface="Arial" panose="020B0604020202020204" pitchFamily="34" charset="0"/>
              <a:ea typeface="PMingLiU" pitchFamily="18" charset="-120"/>
            </a:endParaRPr>
          </a:p>
          <a:p>
            <a:pPr>
              <a:spcBef>
                <a:spcPct val="20000"/>
              </a:spcBef>
              <a:buClr>
                <a:schemeClr val="folHlink"/>
              </a:buClr>
              <a:buSzPct val="60000"/>
              <a:buFont typeface="Wingdings" panose="05000000000000000000" pitchFamily="2" charset="2"/>
              <a:buChar char="n"/>
            </a:pPr>
            <a:r>
              <a:rPr lang="en-US" altLang="zh-TW" dirty="0">
                <a:latin typeface="Arial" panose="020B0604020202020204" pitchFamily="34" charset="0"/>
                <a:ea typeface="PMingLiU" pitchFamily="18" charset="-120"/>
              </a:rPr>
              <a:t>temperature &gt; 70.5 &amp; temperature &lt;= 72 </a:t>
            </a:r>
            <a:r>
              <a:rPr lang="en-US" altLang="zh-TW" dirty="0">
                <a:latin typeface="Arial" panose="020B0604020202020204" pitchFamily="34" charset="0"/>
                <a:ea typeface="PMingLiU" pitchFamily="18" charset="-120"/>
                <a:sym typeface="Wingdings" panose="05000000000000000000" pitchFamily="2" charset="2"/>
              </a:rPr>
              <a:t> play = no</a:t>
            </a:r>
            <a:endParaRPr lang="en-US" altLang="zh-TW" dirty="0">
              <a:latin typeface="Arial" panose="020B0604020202020204" pitchFamily="34" charset="0"/>
              <a:ea typeface="PMingLiU" pitchFamily="18" charset="-120"/>
              <a:sym typeface="Wingdings" panose="05000000000000000000" pitchFamily="2" charset="2"/>
            </a:endParaRPr>
          </a:p>
          <a:p>
            <a:pPr>
              <a:spcBef>
                <a:spcPct val="20000"/>
              </a:spcBef>
              <a:buClr>
                <a:schemeClr val="folHlink"/>
              </a:buClr>
              <a:buSzPct val="60000"/>
              <a:buFont typeface="Wingdings" panose="05000000000000000000" pitchFamily="2" charset="2"/>
              <a:buChar char="n"/>
            </a:pPr>
            <a:r>
              <a:rPr lang="en-US" altLang="zh-TW" dirty="0">
                <a:latin typeface="Arial" panose="020B0604020202020204" pitchFamily="34" charset="0"/>
                <a:ea typeface="PMingLiU" pitchFamily="18" charset="-120"/>
              </a:rPr>
              <a:t>temperature &gt; 72 &amp; temperature &lt;= 77.5 </a:t>
            </a:r>
            <a:r>
              <a:rPr lang="en-US" altLang="zh-TW" dirty="0">
                <a:latin typeface="Arial" panose="020B0604020202020204" pitchFamily="34" charset="0"/>
                <a:ea typeface="PMingLiU" pitchFamily="18" charset="-120"/>
                <a:sym typeface="Wingdings" panose="05000000000000000000" pitchFamily="2" charset="2"/>
              </a:rPr>
              <a:t> play = yes</a:t>
            </a:r>
            <a:endParaRPr lang="en-US" altLang="zh-TW" dirty="0">
              <a:latin typeface="Arial" panose="020B0604020202020204" pitchFamily="34" charset="0"/>
              <a:ea typeface="PMingLiU" pitchFamily="18" charset="-120"/>
              <a:sym typeface="Wingdings" panose="05000000000000000000" pitchFamily="2" charset="2"/>
            </a:endParaRPr>
          </a:p>
          <a:p>
            <a:pPr>
              <a:spcBef>
                <a:spcPct val="20000"/>
              </a:spcBef>
              <a:buClr>
                <a:schemeClr val="folHlink"/>
              </a:buClr>
              <a:buSzPct val="60000"/>
              <a:buFont typeface="Wingdings" panose="05000000000000000000" pitchFamily="2" charset="2"/>
              <a:buChar char="n"/>
            </a:pPr>
            <a:r>
              <a:rPr lang="en-US" altLang="zh-TW" dirty="0">
                <a:latin typeface="Times New Roman" panose="02020603050405020304" pitchFamily="18" charset="0"/>
                <a:ea typeface="PMingLiU" pitchFamily="18" charset="-120"/>
                <a:sym typeface="Wingdings" panose="05000000000000000000" pitchFamily="2" charset="2"/>
              </a:rPr>
              <a:t>…</a:t>
            </a:r>
            <a:endParaRPr lang="en-US" altLang="zh-TW" dirty="0">
              <a:latin typeface="Arial" panose="020B0604020202020204" pitchFamily="34" charset="0"/>
              <a:ea typeface="PMingLiU" pitchFamily="18" charset="-120"/>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499"/>
                                          </p:stCondLst>
                                        </p:cTn>
                                        <p:tgtEl>
                                          <p:spTgt spid="1055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53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2530" name="Object 2"/>
          <p:cNvGraphicFramePr>
            <a:graphicFrameLocks noChangeAspect="1"/>
          </p:cNvGraphicFramePr>
          <p:nvPr/>
        </p:nvGraphicFramePr>
        <p:xfrm>
          <a:off x="4343400" y="1676400"/>
          <a:ext cx="4572000" cy="4800600"/>
        </p:xfrm>
        <a:graphic>
          <a:graphicData uri="http://schemas.openxmlformats.org/presentationml/2006/ole">
            <mc:AlternateContent xmlns:mc="http://schemas.openxmlformats.org/markup-compatibility/2006">
              <mc:Choice xmlns:v="urn:schemas-microsoft-com:vml" Requires="v">
                <p:oleObj spid="_x0000_s3098" name="" r:id="rId1" imgW="6276975" imgH="3848100" progId="Paint.Picture">
                  <p:embed/>
                </p:oleObj>
              </mc:Choice>
              <mc:Fallback>
                <p:oleObj name="" r:id="rId1" imgW="6276975" imgH="3848100" progId="Paint.Picture">
                  <p:embed/>
                  <p:pic>
                    <p:nvPicPr>
                      <p:cNvPr id="0" name="Picture 3097"/>
                      <p:cNvPicPr/>
                      <p:nvPr/>
                    </p:nvPicPr>
                    <p:blipFill>
                      <a:blip r:embed="rId2"/>
                      <a:stretch>
                        <a:fillRect/>
                      </a:stretch>
                    </p:blipFill>
                    <p:spPr>
                      <a:xfrm>
                        <a:off x="4343400" y="1676400"/>
                        <a:ext cx="4572000" cy="4800600"/>
                      </a:xfrm>
                      <a:prstGeom prst="rect">
                        <a:avLst/>
                      </a:prstGeom>
                      <a:noFill/>
                      <a:ln w="38100">
                        <a:noFill/>
                        <a:miter/>
                      </a:ln>
                    </p:spPr>
                  </p:pic>
                </p:oleObj>
              </mc:Fallback>
            </mc:AlternateContent>
          </a:graphicData>
        </a:graphic>
      </p:graphicFrame>
      <p:graphicFrame>
        <p:nvGraphicFramePr>
          <p:cNvPr id="22531" name="Object 3"/>
          <p:cNvGraphicFramePr>
            <a:graphicFrameLocks noChangeAspect="1"/>
          </p:cNvGraphicFramePr>
          <p:nvPr/>
        </p:nvGraphicFramePr>
        <p:xfrm>
          <a:off x="304800" y="1676400"/>
          <a:ext cx="4038600" cy="4733925"/>
        </p:xfrm>
        <a:graphic>
          <a:graphicData uri="http://schemas.openxmlformats.org/presentationml/2006/ole">
            <mc:AlternateContent xmlns:mc="http://schemas.openxmlformats.org/markup-compatibility/2006">
              <mc:Choice xmlns:v="urn:schemas-microsoft-com:vml" Requires="v">
                <p:oleObj spid="_x0000_s3100" name="" r:id="rId3" imgW="3962400" imgH="3419475" progId="Paint.Picture">
                  <p:embed/>
                </p:oleObj>
              </mc:Choice>
              <mc:Fallback>
                <p:oleObj name="" r:id="rId3" imgW="3962400" imgH="3419475" progId="Paint.Picture">
                  <p:embed/>
                  <p:pic>
                    <p:nvPicPr>
                      <p:cNvPr id="0" name="Picture 3099"/>
                      <p:cNvPicPr/>
                      <p:nvPr/>
                    </p:nvPicPr>
                    <p:blipFill>
                      <a:blip r:embed="rId4"/>
                      <a:stretch>
                        <a:fillRect/>
                      </a:stretch>
                    </p:blipFill>
                    <p:spPr>
                      <a:xfrm>
                        <a:off x="304800" y="1676400"/>
                        <a:ext cx="4038600" cy="4733925"/>
                      </a:xfrm>
                      <a:prstGeom prst="rect">
                        <a:avLst/>
                      </a:prstGeom>
                      <a:noFill/>
                      <a:ln w="38100">
                        <a:noFill/>
                        <a:miter/>
                      </a:ln>
                    </p:spPr>
                  </p:pic>
                </p:oleObj>
              </mc:Fallback>
            </mc:AlternateContent>
          </a:graphicData>
        </a:graphic>
      </p:graphicFrame>
      <p:sp>
        <p:nvSpPr>
          <p:cNvPr id="22532"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Numeric Attributes</a:t>
            </a:r>
            <a:endParaRPr lang="en-US" altLang="zh-TW" sz="3200" b="1" dirty="0">
              <a:latin typeface="Times New Roman" panose="02020603050405020304" pitchFamily="18" charset="0"/>
              <a:ea typeface="PMingLiU" pitchFamily="18" charset="-12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3554" name="Object 2"/>
          <p:cNvGraphicFramePr>
            <a:graphicFrameLocks noChangeAspect="1"/>
          </p:cNvGraphicFramePr>
          <p:nvPr/>
        </p:nvGraphicFramePr>
        <p:xfrm>
          <a:off x="165100" y="1884363"/>
          <a:ext cx="8589963" cy="3200400"/>
        </p:xfrm>
        <a:graphic>
          <a:graphicData uri="http://schemas.openxmlformats.org/presentationml/2006/ole">
            <mc:AlternateContent xmlns:mc="http://schemas.openxmlformats.org/markup-compatibility/2006">
              <mc:Choice xmlns:v="urn:schemas-microsoft-com:vml" Requires="v">
                <p:oleObj spid="_x0000_s3101" name="" r:id="rId1" imgW="6981825" imgH="2152650" progId="Paint.Picture">
                  <p:embed/>
                </p:oleObj>
              </mc:Choice>
              <mc:Fallback>
                <p:oleObj name="" r:id="rId1" imgW="6981825" imgH="2152650" progId="Paint.Picture">
                  <p:embed/>
                  <p:pic>
                    <p:nvPicPr>
                      <p:cNvPr id="0" name="Picture 3100"/>
                      <p:cNvPicPr/>
                      <p:nvPr/>
                    </p:nvPicPr>
                    <p:blipFill>
                      <a:blip r:embed="rId2"/>
                      <a:stretch>
                        <a:fillRect/>
                      </a:stretch>
                    </p:blipFill>
                    <p:spPr>
                      <a:xfrm>
                        <a:off x="165100" y="1884363"/>
                        <a:ext cx="8589963" cy="3200400"/>
                      </a:xfrm>
                      <a:prstGeom prst="rect">
                        <a:avLst/>
                      </a:prstGeom>
                      <a:noFill/>
                      <a:ln w="38100">
                        <a:noFill/>
                        <a:miter/>
                      </a:ln>
                    </p:spPr>
                  </p:pic>
                </p:oleObj>
              </mc:Fallback>
            </mc:AlternateContent>
          </a:graphicData>
        </a:graphic>
      </p:graphicFrame>
      <p:graphicFrame>
        <p:nvGraphicFramePr>
          <p:cNvPr id="23555" name="Object 3"/>
          <p:cNvGraphicFramePr>
            <a:graphicFrameLocks noChangeAspect="1"/>
          </p:cNvGraphicFramePr>
          <p:nvPr/>
        </p:nvGraphicFramePr>
        <p:xfrm>
          <a:off x="1905000" y="5105400"/>
          <a:ext cx="4648200" cy="679450"/>
        </p:xfrm>
        <a:graphic>
          <a:graphicData uri="http://schemas.openxmlformats.org/presentationml/2006/ole">
            <mc:AlternateContent xmlns:mc="http://schemas.openxmlformats.org/markup-compatibility/2006">
              <mc:Choice xmlns:v="urn:schemas-microsoft-com:vml" Requires="v">
                <p:oleObj spid="_x0000_s3099" name="" r:id="rId3" imgW="5786755" imgH="857250" progId="Excel.Sheet.8">
                  <p:embed/>
                </p:oleObj>
              </mc:Choice>
              <mc:Fallback>
                <p:oleObj name="" r:id="rId3" imgW="5786755" imgH="857250" progId="Excel.Sheet.8">
                  <p:embed/>
                  <p:pic>
                    <p:nvPicPr>
                      <p:cNvPr id="0" name="Picture 3098"/>
                      <p:cNvPicPr/>
                      <p:nvPr/>
                    </p:nvPicPr>
                    <p:blipFill>
                      <a:blip r:embed="rId4"/>
                      <a:stretch>
                        <a:fillRect/>
                      </a:stretch>
                    </p:blipFill>
                    <p:spPr>
                      <a:xfrm>
                        <a:off x="1905000" y="5105400"/>
                        <a:ext cx="4648200" cy="679450"/>
                      </a:xfrm>
                      <a:prstGeom prst="rect">
                        <a:avLst/>
                      </a:prstGeom>
                      <a:noFill/>
                      <a:ln w="38100">
                        <a:noFill/>
                        <a:miter/>
                      </a:ln>
                    </p:spPr>
                  </p:pic>
                </p:oleObj>
              </mc:Fallback>
            </mc:AlternateContent>
          </a:graphicData>
        </a:graphic>
      </p:graphicFrame>
      <p:grpSp>
        <p:nvGrpSpPr>
          <p:cNvPr id="2" name="Group 30"/>
          <p:cNvGrpSpPr/>
          <p:nvPr/>
        </p:nvGrpSpPr>
        <p:grpSpPr>
          <a:xfrm>
            <a:off x="1066800" y="3733800"/>
            <a:ext cx="7107238" cy="2535238"/>
            <a:chOff x="672" y="2352"/>
            <a:chExt cx="4477" cy="1597"/>
          </a:xfrm>
        </p:grpSpPr>
        <p:sp>
          <p:nvSpPr>
            <p:cNvPr id="23566" name="Text Box 8"/>
            <p:cNvSpPr txBox="1"/>
            <p:nvPr/>
          </p:nvSpPr>
          <p:spPr>
            <a:xfrm>
              <a:off x="874" y="3661"/>
              <a:ext cx="3637" cy="288"/>
            </a:xfrm>
            <a:prstGeom prst="rect">
              <a:avLst/>
            </a:prstGeom>
            <a:noFill/>
            <a:ln w="9525">
              <a:noFill/>
            </a:ln>
          </p:spPr>
          <p:txBody>
            <a:bodyPr wrap="none">
              <a:spAutoFit/>
            </a:bodyPr>
            <a:p>
              <a:r>
                <a:rPr lang="en-US" altLang="zh-TW" dirty="0">
                  <a:latin typeface="Arial" panose="020B0604020202020204" pitchFamily="34" charset="0"/>
                  <a:ea typeface="PMingLiU" pitchFamily="18" charset="-120"/>
                </a:rPr>
                <a:t>Yes = 2/9*3/9*3/9*3/9*9/14=0.0053     </a:t>
              </a:r>
              <a:endParaRPr lang="en-US" altLang="zh-TW" dirty="0">
                <a:latin typeface="Arial" panose="020B0604020202020204" pitchFamily="34" charset="0"/>
                <a:ea typeface="PMingLiU" pitchFamily="18" charset="-120"/>
              </a:endParaRPr>
            </a:p>
          </p:txBody>
        </p:sp>
        <p:grpSp>
          <p:nvGrpSpPr>
            <p:cNvPr id="23567" name="Group 29"/>
            <p:cNvGrpSpPr/>
            <p:nvPr/>
          </p:nvGrpSpPr>
          <p:grpSpPr>
            <a:xfrm>
              <a:off x="672" y="2352"/>
              <a:ext cx="4477" cy="768"/>
              <a:chOff x="672" y="2352"/>
              <a:chExt cx="4477" cy="768"/>
            </a:xfrm>
          </p:grpSpPr>
          <p:sp>
            <p:nvSpPr>
              <p:cNvPr id="23568" name="Rectangle 10"/>
              <p:cNvSpPr/>
              <p:nvPr/>
            </p:nvSpPr>
            <p:spPr>
              <a:xfrm>
                <a:off x="672" y="2352"/>
                <a:ext cx="336" cy="288"/>
              </a:xfrm>
              <a:prstGeom prst="rect">
                <a:avLst/>
              </a:prstGeom>
              <a:noFill/>
              <a:ln w="57150" cap="flat" cmpd="sng">
                <a:solidFill>
                  <a:schemeClr val="hlink"/>
                </a:solidFill>
                <a:prstDash val="solid"/>
                <a:miter/>
                <a:headEnd type="none" w="med" len="med"/>
                <a:tailEnd type="none" w="med" len="med"/>
              </a:ln>
            </p:spPr>
            <p:txBody>
              <a:bodyPr wrap="none" anchor="ctr" anchorCtr="0"/>
              <a:p>
                <a:endParaRPr lang="en-US" altLang="x-none" dirty="0">
                  <a:latin typeface="Arial" panose="020B0604020202020204" pitchFamily="34" charset="0"/>
                </a:endParaRPr>
              </a:p>
            </p:txBody>
          </p:sp>
          <p:sp>
            <p:nvSpPr>
              <p:cNvPr id="23569" name="Rectangle 11"/>
              <p:cNvSpPr/>
              <p:nvPr/>
            </p:nvSpPr>
            <p:spPr>
              <a:xfrm>
                <a:off x="1715" y="2832"/>
                <a:ext cx="336" cy="288"/>
              </a:xfrm>
              <a:prstGeom prst="rect">
                <a:avLst/>
              </a:prstGeom>
              <a:noFill/>
              <a:ln w="57150" cap="flat" cmpd="sng">
                <a:solidFill>
                  <a:schemeClr val="hlink"/>
                </a:solidFill>
                <a:prstDash val="solid"/>
                <a:miter/>
                <a:headEnd type="none" w="med" len="med"/>
                <a:tailEnd type="none" w="med" len="med"/>
              </a:ln>
            </p:spPr>
            <p:txBody>
              <a:bodyPr wrap="none" anchor="ctr" anchorCtr="0"/>
              <a:p>
                <a:endParaRPr lang="en-US" altLang="x-none" dirty="0">
                  <a:latin typeface="Arial" panose="020B0604020202020204" pitchFamily="34" charset="0"/>
                </a:endParaRPr>
              </a:p>
            </p:txBody>
          </p:sp>
          <p:sp>
            <p:nvSpPr>
              <p:cNvPr id="23570" name="Rectangle 12"/>
              <p:cNvSpPr/>
              <p:nvPr/>
            </p:nvSpPr>
            <p:spPr>
              <a:xfrm>
                <a:off x="3002" y="2378"/>
                <a:ext cx="336" cy="288"/>
              </a:xfrm>
              <a:prstGeom prst="rect">
                <a:avLst/>
              </a:prstGeom>
              <a:noFill/>
              <a:ln w="57150" cap="flat" cmpd="sng">
                <a:solidFill>
                  <a:schemeClr val="hlink"/>
                </a:solidFill>
                <a:prstDash val="solid"/>
                <a:miter/>
                <a:headEnd type="none" w="med" len="med"/>
                <a:tailEnd type="none" w="med" len="med"/>
              </a:ln>
            </p:spPr>
            <p:txBody>
              <a:bodyPr wrap="none" anchor="ctr" anchorCtr="0"/>
              <a:p>
                <a:endParaRPr lang="en-US" altLang="x-none" dirty="0">
                  <a:latin typeface="Arial" panose="020B0604020202020204" pitchFamily="34" charset="0"/>
                </a:endParaRPr>
              </a:p>
            </p:txBody>
          </p:sp>
          <p:sp>
            <p:nvSpPr>
              <p:cNvPr id="23571" name="Rectangle 13"/>
              <p:cNvSpPr/>
              <p:nvPr/>
            </p:nvSpPr>
            <p:spPr>
              <a:xfrm>
                <a:off x="4163" y="2592"/>
                <a:ext cx="336" cy="288"/>
              </a:xfrm>
              <a:prstGeom prst="rect">
                <a:avLst/>
              </a:prstGeom>
              <a:noFill/>
              <a:ln w="57150" cap="flat" cmpd="sng">
                <a:solidFill>
                  <a:schemeClr val="hlink"/>
                </a:solidFill>
                <a:prstDash val="solid"/>
                <a:miter/>
                <a:headEnd type="none" w="med" len="med"/>
                <a:tailEnd type="none" w="med" len="med"/>
              </a:ln>
            </p:spPr>
            <p:txBody>
              <a:bodyPr wrap="none" anchor="ctr" anchorCtr="0"/>
              <a:p>
                <a:endParaRPr lang="en-US" altLang="x-none" dirty="0">
                  <a:latin typeface="Arial" panose="020B0604020202020204" pitchFamily="34" charset="0"/>
                </a:endParaRPr>
              </a:p>
            </p:txBody>
          </p:sp>
          <p:sp>
            <p:nvSpPr>
              <p:cNvPr id="23572" name="Rectangle 14"/>
              <p:cNvSpPr/>
              <p:nvPr/>
            </p:nvSpPr>
            <p:spPr>
              <a:xfrm>
                <a:off x="4813" y="2365"/>
                <a:ext cx="336" cy="288"/>
              </a:xfrm>
              <a:prstGeom prst="rect">
                <a:avLst/>
              </a:prstGeom>
              <a:noFill/>
              <a:ln w="57150" cap="flat" cmpd="sng">
                <a:solidFill>
                  <a:schemeClr val="hlink"/>
                </a:solidFill>
                <a:prstDash val="solid"/>
                <a:miter/>
                <a:headEnd type="none" w="med" len="med"/>
                <a:tailEnd type="none" w="med" len="med"/>
              </a:ln>
            </p:spPr>
            <p:txBody>
              <a:bodyPr wrap="none" anchor="ctr" anchorCtr="0"/>
              <a:p>
                <a:endParaRPr lang="en-US" altLang="x-none" dirty="0">
                  <a:latin typeface="Arial" panose="020B0604020202020204" pitchFamily="34" charset="0"/>
                </a:endParaRPr>
              </a:p>
            </p:txBody>
          </p:sp>
        </p:grpSp>
      </p:grpSp>
      <p:grpSp>
        <p:nvGrpSpPr>
          <p:cNvPr id="4" name="Group 32"/>
          <p:cNvGrpSpPr/>
          <p:nvPr/>
        </p:nvGrpSpPr>
        <p:grpSpPr>
          <a:xfrm>
            <a:off x="1447800" y="3733800"/>
            <a:ext cx="7259638" cy="2916238"/>
            <a:chOff x="912" y="2352"/>
            <a:chExt cx="4573" cy="1837"/>
          </a:xfrm>
        </p:grpSpPr>
        <p:sp>
          <p:nvSpPr>
            <p:cNvPr id="23559" name="Rectangle 17"/>
            <p:cNvSpPr/>
            <p:nvPr/>
          </p:nvSpPr>
          <p:spPr>
            <a:xfrm>
              <a:off x="912" y="3901"/>
              <a:ext cx="3552" cy="288"/>
            </a:xfrm>
            <a:prstGeom prst="rect">
              <a:avLst/>
            </a:prstGeom>
            <a:noFill/>
            <a:ln w="9525">
              <a:noFill/>
            </a:ln>
          </p:spPr>
          <p:txBody>
            <a:bodyPr>
              <a:spAutoFit/>
            </a:bodyPr>
            <a:p>
              <a:pPr>
                <a:spcBef>
                  <a:spcPct val="50000"/>
                </a:spcBef>
              </a:pPr>
              <a:r>
                <a:rPr lang="en-US" altLang="zh-TW" dirty="0">
                  <a:latin typeface="Arial" panose="020B0604020202020204" pitchFamily="34" charset="0"/>
                  <a:ea typeface="PMingLiU" pitchFamily="18" charset="-120"/>
                </a:rPr>
                <a:t>No  = 3/5*1/5*4/5*3/5*5/14=0.0206</a:t>
              </a:r>
              <a:endParaRPr lang="en-US" altLang="zh-TW" dirty="0">
                <a:latin typeface="Arial" panose="020B0604020202020204" pitchFamily="34" charset="0"/>
                <a:ea typeface="PMingLiU" pitchFamily="18" charset="-120"/>
              </a:endParaRPr>
            </a:p>
          </p:txBody>
        </p:sp>
        <p:grpSp>
          <p:nvGrpSpPr>
            <p:cNvPr id="23560" name="Group 31"/>
            <p:cNvGrpSpPr/>
            <p:nvPr/>
          </p:nvGrpSpPr>
          <p:grpSpPr>
            <a:xfrm>
              <a:off x="1008" y="2352"/>
              <a:ext cx="4477" cy="768"/>
              <a:chOff x="1008" y="2352"/>
              <a:chExt cx="4477" cy="768"/>
            </a:xfrm>
          </p:grpSpPr>
          <p:sp>
            <p:nvSpPr>
              <p:cNvPr id="23561" name="Rectangle 21"/>
              <p:cNvSpPr/>
              <p:nvPr/>
            </p:nvSpPr>
            <p:spPr>
              <a:xfrm>
                <a:off x="1008" y="2352"/>
                <a:ext cx="336" cy="288"/>
              </a:xfrm>
              <a:prstGeom prst="rect">
                <a:avLst/>
              </a:prstGeom>
              <a:noFill/>
              <a:ln w="57150" cap="flat" cmpd="sng">
                <a:solidFill>
                  <a:schemeClr val="tx2"/>
                </a:solidFill>
                <a:prstDash val="solid"/>
                <a:miter/>
                <a:headEnd type="none" w="med" len="med"/>
                <a:tailEnd type="none" w="med" len="med"/>
              </a:ln>
            </p:spPr>
            <p:txBody>
              <a:bodyPr wrap="none" anchor="ctr" anchorCtr="0"/>
              <a:p>
                <a:endParaRPr lang="en-US" altLang="x-none" dirty="0">
                  <a:latin typeface="Arial" panose="020B0604020202020204" pitchFamily="34" charset="0"/>
                </a:endParaRPr>
              </a:p>
            </p:txBody>
          </p:sp>
          <p:sp>
            <p:nvSpPr>
              <p:cNvPr id="23562" name="Rectangle 22"/>
              <p:cNvSpPr/>
              <p:nvPr/>
            </p:nvSpPr>
            <p:spPr>
              <a:xfrm>
                <a:off x="2051" y="2832"/>
                <a:ext cx="336" cy="288"/>
              </a:xfrm>
              <a:prstGeom prst="rect">
                <a:avLst/>
              </a:prstGeom>
              <a:noFill/>
              <a:ln w="57150" cap="flat" cmpd="sng">
                <a:solidFill>
                  <a:schemeClr val="tx2"/>
                </a:solidFill>
                <a:prstDash val="solid"/>
                <a:miter/>
                <a:headEnd type="none" w="med" len="med"/>
                <a:tailEnd type="none" w="med" len="med"/>
              </a:ln>
            </p:spPr>
            <p:txBody>
              <a:bodyPr wrap="none" anchor="ctr" anchorCtr="0"/>
              <a:p>
                <a:endParaRPr lang="en-US" altLang="x-none" dirty="0">
                  <a:latin typeface="Arial" panose="020B0604020202020204" pitchFamily="34" charset="0"/>
                </a:endParaRPr>
              </a:p>
            </p:txBody>
          </p:sp>
          <p:sp>
            <p:nvSpPr>
              <p:cNvPr id="23563" name="Rectangle 23"/>
              <p:cNvSpPr/>
              <p:nvPr/>
            </p:nvSpPr>
            <p:spPr>
              <a:xfrm>
                <a:off x="3347" y="2378"/>
                <a:ext cx="336" cy="288"/>
              </a:xfrm>
              <a:prstGeom prst="rect">
                <a:avLst/>
              </a:prstGeom>
              <a:noFill/>
              <a:ln w="57150" cap="flat" cmpd="sng">
                <a:solidFill>
                  <a:schemeClr val="tx2"/>
                </a:solidFill>
                <a:prstDash val="solid"/>
                <a:miter/>
                <a:headEnd type="none" w="med" len="med"/>
                <a:tailEnd type="none" w="med" len="med"/>
              </a:ln>
            </p:spPr>
            <p:txBody>
              <a:bodyPr wrap="none" anchor="ctr" anchorCtr="0"/>
              <a:p>
                <a:endParaRPr lang="en-US" altLang="x-none" dirty="0">
                  <a:latin typeface="Arial" panose="020B0604020202020204" pitchFamily="34" charset="0"/>
                </a:endParaRPr>
              </a:p>
            </p:txBody>
          </p:sp>
          <p:sp>
            <p:nvSpPr>
              <p:cNvPr id="23564" name="Rectangle 24"/>
              <p:cNvSpPr/>
              <p:nvPr/>
            </p:nvSpPr>
            <p:spPr>
              <a:xfrm>
                <a:off x="4499" y="2592"/>
                <a:ext cx="336" cy="288"/>
              </a:xfrm>
              <a:prstGeom prst="rect">
                <a:avLst/>
              </a:prstGeom>
              <a:noFill/>
              <a:ln w="57150" cap="flat" cmpd="sng">
                <a:solidFill>
                  <a:schemeClr val="tx2"/>
                </a:solidFill>
                <a:prstDash val="solid"/>
                <a:miter/>
                <a:headEnd type="none" w="med" len="med"/>
                <a:tailEnd type="none" w="med" len="med"/>
              </a:ln>
            </p:spPr>
            <p:txBody>
              <a:bodyPr wrap="none" anchor="ctr" anchorCtr="0"/>
              <a:p>
                <a:endParaRPr lang="en-US" altLang="x-none" dirty="0">
                  <a:latin typeface="Arial" panose="020B0604020202020204" pitchFamily="34" charset="0"/>
                </a:endParaRPr>
              </a:p>
            </p:txBody>
          </p:sp>
          <p:sp>
            <p:nvSpPr>
              <p:cNvPr id="23565" name="Rectangle 25"/>
              <p:cNvSpPr/>
              <p:nvPr/>
            </p:nvSpPr>
            <p:spPr>
              <a:xfrm>
                <a:off x="5149" y="2365"/>
                <a:ext cx="336" cy="288"/>
              </a:xfrm>
              <a:prstGeom prst="rect">
                <a:avLst/>
              </a:prstGeom>
              <a:noFill/>
              <a:ln w="57150" cap="flat" cmpd="sng">
                <a:solidFill>
                  <a:schemeClr val="tx2"/>
                </a:solidFill>
                <a:prstDash val="solid"/>
                <a:miter/>
                <a:headEnd type="none" w="med" len="med"/>
                <a:tailEnd type="none" w="med" len="med"/>
              </a:ln>
            </p:spPr>
            <p:txBody>
              <a:bodyPr wrap="none" anchor="ctr" anchorCtr="0"/>
              <a:p>
                <a:endParaRPr lang="en-US" altLang="x-none" dirty="0">
                  <a:latin typeface="Arial" panose="020B0604020202020204" pitchFamily="34" charset="0"/>
                </a:endParaRPr>
              </a:p>
            </p:txBody>
          </p:sp>
        </p:grpSp>
      </p:grpSp>
      <p:sp>
        <p:nvSpPr>
          <p:cNvPr id="23558"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Statistical Modeling</a:t>
            </a:r>
            <a:endParaRPr lang="zh-TW" altLang="en-US" sz="3200" b="1" dirty="0">
              <a:latin typeface="Times New Roman" panose="02020603050405020304" pitchFamily="18" charset="0"/>
              <a:ea typeface="PMingLiU"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9"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Statistical Modeling</a:t>
            </a:r>
            <a:endParaRPr lang="zh-TW" altLang="en-US" sz="3200" b="1" dirty="0">
              <a:latin typeface="Times New Roman" panose="02020603050405020304" pitchFamily="18" charset="0"/>
              <a:ea typeface="PMingLiU" pitchFamily="18" charset="-120"/>
            </a:endParaRPr>
          </a:p>
        </p:txBody>
      </p:sp>
      <p:sp>
        <p:nvSpPr>
          <p:cNvPr id="24580" name="Rectangle 3"/>
          <p:cNvSpPr>
            <a:spLocks noGrp="1"/>
          </p:cNvSpPr>
          <p:nvPr>
            <p:ph idx="1"/>
          </p:nvPr>
        </p:nvSpPr>
        <p:spPr>
          <a:xfrm>
            <a:off x="838200" y="1905000"/>
            <a:ext cx="7620000" cy="4114800"/>
          </a:xfrm>
          <a:ln/>
        </p:spPr>
        <p:txBody>
          <a:bodyPr vert="horz" wrap="square" lIns="91440" tIns="45720" rIns="91440" bIns="45720" anchor="t" anchorCtr="0"/>
          <a:p>
            <a:pPr>
              <a:lnSpc>
                <a:spcPct val="90000"/>
              </a:lnSpc>
            </a:pPr>
            <a:r>
              <a:rPr lang="en-US" altLang="zh-TW" sz="2000" dirty="0">
                <a:latin typeface="Times New Roman" panose="02020603050405020304" pitchFamily="18" charset="0"/>
                <a:ea typeface="PMingLiU" pitchFamily="18" charset="-120"/>
              </a:rPr>
              <a:t>Bayes’s rules</a:t>
            </a:r>
            <a:endParaRPr lang="en-US" altLang="zh-TW" sz="2000" dirty="0">
              <a:latin typeface="Times New Roman" panose="02020603050405020304" pitchFamily="18" charset="0"/>
              <a:ea typeface="PMingLiU" pitchFamily="18" charset="-120"/>
            </a:endParaRPr>
          </a:p>
          <a:p>
            <a:pPr>
              <a:lnSpc>
                <a:spcPct val="90000"/>
              </a:lnSpc>
            </a:pPr>
            <a:r>
              <a:rPr lang="en-US" altLang="zh-TW" sz="2000" dirty="0">
                <a:latin typeface="Times New Roman" panose="02020603050405020304" pitchFamily="18" charset="0"/>
                <a:ea typeface="PMingLiU" pitchFamily="18" charset="-120"/>
              </a:rPr>
              <a:t>Yes = 2/9*3/9*3/9*3/9*9/14=0.0053</a:t>
            </a:r>
            <a:endParaRPr lang="en-US" altLang="zh-TW" sz="2000" dirty="0">
              <a:latin typeface="Times New Roman" panose="02020603050405020304" pitchFamily="18" charset="0"/>
              <a:ea typeface="PMingLiU" pitchFamily="18" charset="-120"/>
            </a:endParaRPr>
          </a:p>
          <a:p>
            <a:pPr>
              <a:lnSpc>
                <a:spcPct val="90000"/>
              </a:lnSpc>
            </a:pPr>
            <a:r>
              <a:rPr lang="en-US" altLang="zh-TW" sz="2000" dirty="0">
                <a:latin typeface="Times New Roman" panose="02020603050405020304" pitchFamily="18" charset="0"/>
                <a:ea typeface="PMingLiU" pitchFamily="18" charset="-120"/>
              </a:rPr>
              <a:t>No  = 3/5*1/5*4/5*3/5*5/14=0.0206</a:t>
            </a:r>
            <a:endParaRPr lang="en-US" altLang="zh-TW" sz="2000" dirty="0">
              <a:latin typeface="Times New Roman" panose="02020603050405020304" pitchFamily="18" charset="0"/>
              <a:ea typeface="PMingLiU" pitchFamily="18" charset="-120"/>
            </a:endParaRPr>
          </a:p>
        </p:txBody>
      </p:sp>
      <p:graphicFrame>
        <p:nvGraphicFramePr>
          <p:cNvPr id="24578" name="Object 2"/>
          <p:cNvGraphicFramePr>
            <a:graphicFrameLocks noChangeAspect="1"/>
          </p:cNvGraphicFramePr>
          <p:nvPr/>
        </p:nvGraphicFramePr>
        <p:xfrm>
          <a:off x="762000" y="3352800"/>
          <a:ext cx="7696200" cy="2724150"/>
        </p:xfrm>
        <a:graphic>
          <a:graphicData uri="http://schemas.openxmlformats.org/presentationml/2006/ole">
            <mc:AlternateContent xmlns:mc="http://schemas.openxmlformats.org/markup-compatibility/2006">
              <mc:Choice xmlns:v="urn:schemas-microsoft-com:vml" Requires="v">
                <p:oleObj spid="_x0000_s3088" name="" r:id="rId1" imgW="3838575" imgH="1657350" progId="Paint.Picture">
                  <p:embed/>
                </p:oleObj>
              </mc:Choice>
              <mc:Fallback>
                <p:oleObj name="" r:id="rId1" imgW="3838575" imgH="1657350" progId="Paint.Picture">
                  <p:embed/>
                  <p:pic>
                    <p:nvPicPr>
                      <p:cNvPr id="0" name="Picture 3087"/>
                      <p:cNvPicPr/>
                      <p:nvPr/>
                    </p:nvPicPr>
                    <p:blipFill>
                      <a:blip r:embed="rId2"/>
                      <a:stretch>
                        <a:fillRect/>
                      </a:stretch>
                    </p:blipFill>
                    <p:spPr>
                      <a:xfrm>
                        <a:off x="762000" y="3352800"/>
                        <a:ext cx="7696200" cy="2724150"/>
                      </a:xfrm>
                      <a:prstGeom prst="rect">
                        <a:avLst/>
                      </a:prstGeom>
                      <a:noFill/>
                      <a:ln w="38100">
                        <a:noFill/>
                        <a:miter/>
                      </a:ln>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3"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Divide and Conquer:</a:t>
            </a:r>
            <a:br>
              <a:rPr lang="en-US" altLang="zh-TW" sz="3200" b="1" dirty="0">
                <a:latin typeface="Times New Roman" panose="02020603050405020304" pitchFamily="18" charset="0"/>
                <a:ea typeface="PMingLiU" pitchFamily="18" charset="-120"/>
              </a:rPr>
            </a:br>
            <a:r>
              <a:rPr lang="en-US" altLang="zh-TW" sz="3200" b="1" dirty="0">
                <a:latin typeface="Times New Roman" panose="02020603050405020304" pitchFamily="18" charset="0"/>
                <a:ea typeface="PMingLiU" pitchFamily="18" charset="-120"/>
              </a:rPr>
              <a:t>Constructing Decision Trees</a:t>
            </a:r>
            <a:endParaRPr lang="en-US" altLang="zh-TW" sz="3200" b="1" dirty="0">
              <a:latin typeface="Times New Roman" panose="02020603050405020304" pitchFamily="18" charset="0"/>
              <a:ea typeface="PMingLiU" pitchFamily="18" charset="-120"/>
            </a:endParaRPr>
          </a:p>
        </p:txBody>
      </p:sp>
      <p:graphicFrame>
        <p:nvGraphicFramePr>
          <p:cNvPr id="25602" name="Object 2"/>
          <p:cNvGraphicFramePr>
            <a:graphicFrameLocks noChangeAspect="1"/>
          </p:cNvGraphicFramePr>
          <p:nvPr/>
        </p:nvGraphicFramePr>
        <p:xfrm>
          <a:off x="533400" y="1957388"/>
          <a:ext cx="3657600" cy="4062412"/>
        </p:xfrm>
        <a:graphic>
          <a:graphicData uri="http://schemas.openxmlformats.org/presentationml/2006/ole">
            <mc:AlternateContent xmlns:mc="http://schemas.openxmlformats.org/markup-compatibility/2006">
              <mc:Choice xmlns:v="urn:schemas-microsoft-com:vml" Requires="v">
                <p:oleObj spid="_x0000_s3087" name="" r:id="rId1" imgW="7429500" imgH="6829425" progId="Excel.Sheet.8">
                  <p:embed/>
                </p:oleObj>
              </mc:Choice>
              <mc:Fallback>
                <p:oleObj name="" r:id="rId1" imgW="7429500" imgH="6829425" progId="Excel.Sheet.8">
                  <p:embed/>
                  <p:pic>
                    <p:nvPicPr>
                      <p:cNvPr id="0" name="Picture 3086"/>
                      <p:cNvPicPr/>
                      <p:nvPr/>
                    </p:nvPicPr>
                    <p:blipFill>
                      <a:blip r:embed="rId2"/>
                      <a:stretch>
                        <a:fillRect/>
                      </a:stretch>
                    </p:blipFill>
                    <p:spPr>
                      <a:xfrm>
                        <a:off x="533400" y="1957388"/>
                        <a:ext cx="3657600" cy="4062412"/>
                      </a:xfrm>
                      <a:prstGeom prst="rect">
                        <a:avLst/>
                      </a:prstGeom>
                      <a:noFill/>
                      <a:ln w="38100">
                        <a:noFill/>
                        <a:miter/>
                      </a:ln>
                    </p:spPr>
                  </p:pic>
                </p:oleObj>
              </mc:Fallback>
            </mc:AlternateContent>
          </a:graphicData>
        </a:graphic>
      </p:graphicFrame>
      <p:sp>
        <p:nvSpPr>
          <p:cNvPr id="25604" name="Text Box 44"/>
          <p:cNvSpPr txBox="1"/>
          <p:nvPr/>
        </p:nvSpPr>
        <p:spPr>
          <a:xfrm>
            <a:off x="914400" y="6019800"/>
            <a:ext cx="7543800" cy="457200"/>
          </a:xfrm>
          <a:prstGeom prst="rect">
            <a:avLst/>
          </a:prstGeom>
          <a:noFill/>
          <a:ln w="9525">
            <a:noFill/>
          </a:ln>
        </p:spPr>
        <p:txBody>
          <a:bodyPr>
            <a:spAutoFit/>
          </a:bodyPr>
          <a:p>
            <a:r>
              <a:rPr lang="en-US" altLang="zh-TW" b="1" dirty="0">
                <a:solidFill>
                  <a:schemeClr val="tx2"/>
                </a:solidFill>
                <a:latin typeface="Arial" panose="020B0604020202020204" pitchFamily="34" charset="0"/>
                <a:ea typeface="PMingLiU" pitchFamily="18" charset="-120"/>
              </a:rPr>
              <a:t>Which attribute to select ?</a:t>
            </a:r>
            <a:endParaRPr lang="en-US" altLang="zh-TW" b="1" dirty="0">
              <a:solidFill>
                <a:schemeClr val="tx2"/>
              </a:solidFill>
              <a:latin typeface="Arial" panose="020B0604020202020204" pitchFamily="34" charset="0"/>
              <a:ea typeface="PMingLiU" pitchFamily="18" charset="-120"/>
            </a:endParaRPr>
          </a:p>
        </p:txBody>
      </p:sp>
      <p:pic>
        <p:nvPicPr>
          <p:cNvPr id="111661" name="Picture 45" descr="_x000B_weather.GIF                                                    00018F84_x000C_Macintosh HD                   B279C9FF:"/>
          <p:cNvPicPr>
            <a:picLocks noChangeAspect="1"/>
          </p:cNvPicPr>
          <p:nvPr/>
        </p:nvPicPr>
        <p:blipFill>
          <a:blip r:embed="rId3"/>
          <a:stretch>
            <a:fillRect/>
          </a:stretch>
        </p:blipFill>
        <p:spPr>
          <a:xfrm>
            <a:off x="4343400" y="2133600"/>
            <a:ext cx="4572000" cy="36464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11661"/>
                                        </p:tgtEl>
                                        <p:attrNameLst>
                                          <p:attrName>style.visibility</p:attrName>
                                        </p:attrNameLst>
                                      </p:cBhvr>
                                      <p:to>
                                        <p:strVal val="visible"/>
                                      </p:to>
                                    </p:set>
                                    <p:animEffect transition="in" filter="dissolve">
                                      <p:cBhvr>
                                        <p:cTn id="7" dur="500"/>
                                        <p:tgtEl>
                                          <p:spTgt spid="111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3"/>
          <p:cNvSpPr>
            <a:spLocks noGrp="1"/>
          </p:cNvSpPr>
          <p:nvPr>
            <p:ph idx="1"/>
          </p:nvPr>
        </p:nvSpPr>
        <p:spPr>
          <a:xfrm>
            <a:off x="304800" y="2017713"/>
            <a:ext cx="8650288" cy="4611687"/>
          </a:xfrm>
          <a:ln/>
        </p:spPr>
        <p:txBody>
          <a:bodyPr vert="horz" wrap="square" lIns="91440" tIns="45720" rIns="91440" bIns="45720" anchor="t" anchorCtr="0"/>
          <a:p>
            <a:pPr>
              <a:lnSpc>
                <a:spcPct val="120000"/>
              </a:lnSpc>
            </a:pPr>
            <a:r>
              <a:rPr lang="en-US" altLang="zh-TW" sz="2400" dirty="0">
                <a:latin typeface="Times New Roman" panose="02020603050405020304" pitchFamily="18" charset="0"/>
                <a:ea typeface="PMingLiU" pitchFamily="18" charset="-120"/>
              </a:rPr>
              <a:t>Which is the best attribute?</a:t>
            </a:r>
            <a:endParaRPr lang="en-US" altLang="zh-TW" sz="2400" dirty="0">
              <a:latin typeface="Times New Roman" panose="02020603050405020304" pitchFamily="18" charset="0"/>
              <a:ea typeface="PMingLiU" pitchFamily="18" charset="-120"/>
            </a:endParaRPr>
          </a:p>
          <a:p>
            <a:pPr lvl="1">
              <a:lnSpc>
                <a:spcPct val="120000"/>
              </a:lnSpc>
            </a:pPr>
            <a:r>
              <a:rPr lang="en-US" altLang="zh-TW" sz="2400" dirty="0">
                <a:latin typeface="Times New Roman" panose="02020603050405020304" pitchFamily="18" charset="0"/>
                <a:ea typeface="PMingLiU" pitchFamily="18" charset="-120"/>
              </a:rPr>
              <a:t>The one which will result in the smallest tree</a:t>
            </a:r>
            <a:endParaRPr lang="en-US" altLang="zh-TW" sz="2400" dirty="0">
              <a:latin typeface="Times New Roman" panose="02020603050405020304" pitchFamily="18" charset="0"/>
              <a:ea typeface="PMingLiU" pitchFamily="18" charset="-120"/>
            </a:endParaRPr>
          </a:p>
          <a:p>
            <a:pPr>
              <a:lnSpc>
                <a:spcPct val="120000"/>
              </a:lnSpc>
            </a:pPr>
            <a:r>
              <a:rPr lang="en-US" altLang="zh-TW" sz="2400" dirty="0">
                <a:latin typeface="Times New Roman" panose="02020603050405020304" pitchFamily="18" charset="0"/>
                <a:ea typeface="PMingLiU" pitchFamily="18" charset="-120"/>
              </a:rPr>
              <a:t>Popular impurity criterion: information gain</a:t>
            </a:r>
            <a:endParaRPr lang="en-US" altLang="zh-TW" sz="2400" dirty="0">
              <a:latin typeface="Times New Roman" panose="02020603050405020304" pitchFamily="18" charset="0"/>
              <a:ea typeface="PMingLiU" pitchFamily="18" charset="-120"/>
            </a:endParaRPr>
          </a:p>
          <a:p>
            <a:pPr lvl="1">
              <a:lnSpc>
                <a:spcPct val="120000"/>
              </a:lnSpc>
            </a:pPr>
            <a:r>
              <a:rPr lang="en-US" altLang="zh-TW" sz="2400" dirty="0">
                <a:latin typeface="Times New Roman" panose="02020603050405020304" pitchFamily="18" charset="0"/>
                <a:ea typeface="PMingLiU" pitchFamily="18" charset="-120"/>
              </a:rPr>
              <a:t>Information gain increases with the average purity of the subsets that an attribute produces</a:t>
            </a:r>
            <a:endParaRPr lang="en-US" altLang="zh-TW" sz="2400" dirty="0">
              <a:latin typeface="Times New Roman" panose="02020603050405020304" pitchFamily="18" charset="0"/>
              <a:ea typeface="PMingLiU" pitchFamily="18" charset="-120"/>
            </a:endParaRPr>
          </a:p>
          <a:p>
            <a:pPr>
              <a:lnSpc>
                <a:spcPct val="120000"/>
              </a:lnSpc>
            </a:pPr>
            <a:r>
              <a:rPr lang="en-US" altLang="zh-TW" sz="2400" dirty="0">
                <a:latin typeface="Times New Roman" panose="02020603050405020304" pitchFamily="18" charset="0"/>
                <a:ea typeface="PMingLiU" pitchFamily="18" charset="-120"/>
              </a:rPr>
              <a:t>Strategy: choose attribute that results in greatest information gain</a:t>
            </a:r>
            <a:endParaRPr lang="zh-TW" altLang="en-US" sz="2400" dirty="0">
              <a:latin typeface="Times New Roman" panose="02020603050405020304" pitchFamily="18" charset="0"/>
              <a:ea typeface="PMingLiU" pitchFamily="18" charset="-120"/>
            </a:endParaRPr>
          </a:p>
        </p:txBody>
      </p:sp>
      <p:sp>
        <p:nvSpPr>
          <p:cNvPr id="46083"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Divide and Conquer:</a:t>
            </a:r>
            <a:br>
              <a:rPr lang="en-US" altLang="zh-TW" sz="3200" b="1" dirty="0">
                <a:latin typeface="Times New Roman" panose="02020603050405020304" pitchFamily="18" charset="0"/>
                <a:ea typeface="PMingLiU" pitchFamily="18" charset="-120"/>
              </a:rPr>
            </a:br>
            <a:r>
              <a:rPr lang="en-US" altLang="zh-TW" sz="3200" b="1" dirty="0">
                <a:latin typeface="Times New Roman" panose="02020603050405020304" pitchFamily="18" charset="0"/>
                <a:ea typeface="PMingLiU" pitchFamily="18" charset="-120"/>
              </a:rPr>
              <a:t>Constructing Decision Trees</a:t>
            </a:r>
            <a:endParaRPr lang="en-US" altLang="zh-TW" sz="3200" b="1" dirty="0">
              <a:latin typeface="Times New Roman" panose="02020603050405020304" pitchFamily="18" charset="0"/>
              <a:ea typeface="PMingLiU" pitchFamily="18" charset="-12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7" name="Rectangle 3"/>
          <p:cNvSpPr>
            <a:spLocks noGrp="1"/>
          </p:cNvSpPr>
          <p:nvPr>
            <p:ph idx="1"/>
          </p:nvPr>
        </p:nvSpPr>
        <p:spPr>
          <a:xfrm>
            <a:off x="381000" y="1752600"/>
            <a:ext cx="8382000" cy="4724400"/>
          </a:xfrm>
          <a:ln/>
        </p:spPr>
        <p:txBody>
          <a:bodyPr vert="horz" wrap="square" lIns="91440" tIns="45720" rIns="91440" bIns="45720" anchor="t" anchorCtr="0"/>
          <a:p>
            <a:pPr>
              <a:lnSpc>
                <a:spcPct val="110000"/>
              </a:lnSpc>
            </a:pPr>
            <a:r>
              <a:rPr lang="en-US" altLang="zh-TW" sz="2400" dirty="0">
                <a:latin typeface="Times New Roman" panose="02020603050405020304" pitchFamily="18" charset="0"/>
                <a:ea typeface="PMingLiU" pitchFamily="18" charset="-120"/>
              </a:rPr>
              <a:t>Information is measured in bits</a:t>
            </a:r>
            <a:endParaRPr lang="en-US" altLang="zh-TW" sz="2400" dirty="0">
              <a:latin typeface="Times New Roman" panose="02020603050405020304" pitchFamily="18" charset="0"/>
              <a:ea typeface="PMingLiU" pitchFamily="18" charset="-120"/>
            </a:endParaRPr>
          </a:p>
          <a:p>
            <a:pPr lvl="1">
              <a:lnSpc>
                <a:spcPct val="110000"/>
              </a:lnSpc>
            </a:pPr>
            <a:r>
              <a:rPr lang="en-US" altLang="zh-TW" sz="2400" dirty="0">
                <a:latin typeface="Times New Roman" panose="02020603050405020304" pitchFamily="18" charset="0"/>
                <a:ea typeface="PMingLiU" pitchFamily="18" charset="-120"/>
              </a:rPr>
              <a:t>Given a probability distribution, the info required to predict an event is the distribution’s entropy</a:t>
            </a:r>
            <a:endParaRPr lang="en-US" altLang="zh-TW" sz="2400" dirty="0">
              <a:latin typeface="Times New Roman" panose="02020603050405020304" pitchFamily="18" charset="0"/>
              <a:ea typeface="PMingLiU" pitchFamily="18" charset="-120"/>
            </a:endParaRPr>
          </a:p>
          <a:p>
            <a:pPr lvl="1">
              <a:lnSpc>
                <a:spcPct val="110000"/>
              </a:lnSpc>
            </a:pPr>
            <a:r>
              <a:rPr lang="en-US" altLang="zh-TW" sz="2400" dirty="0">
                <a:latin typeface="Times New Roman" panose="02020603050405020304" pitchFamily="18" charset="0"/>
                <a:ea typeface="PMingLiU" pitchFamily="18" charset="-120"/>
              </a:rPr>
              <a:t>Entropy gives the information required in bits (this can involve fractions of bits!)</a:t>
            </a:r>
            <a:endParaRPr lang="en-US" altLang="zh-TW" sz="2400" dirty="0">
              <a:latin typeface="Times New Roman" panose="02020603050405020304" pitchFamily="18" charset="0"/>
              <a:ea typeface="PMingLiU" pitchFamily="18" charset="-120"/>
            </a:endParaRPr>
          </a:p>
          <a:p>
            <a:pPr>
              <a:lnSpc>
                <a:spcPct val="110000"/>
              </a:lnSpc>
            </a:pPr>
            <a:r>
              <a:rPr lang="en-US" altLang="zh-TW" sz="2400" dirty="0">
                <a:latin typeface="Times New Roman" panose="02020603050405020304" pitchFamily="18" charset="0"/>
                <a:ea typeface="PMingLiU" pitchFamily="18" charset="-120"/>
              </a:rPr>
              <a:t>Formula for computing the entropy:</a:t>
            </a:r>
            <a:endParaRPr lang="en-US" altLang="zh-TW" sz="2400" dirty="0">
              <a:latin typeface="Times New Roman" panose="02020603050405020304" pitchFamily="18" charset="0"/>
              <a:ea typeface="PMingLiU" pitchFamily="18" charset="-120"/>
            </a:endParaRPr>
          </a:p>
          <a:p>
            <a:pPr>
              <a:lnSpc>
                <a:spcPct val="110000"/>
              </a:lnSpc>
            </a:pPr>
            <a:endParaRPr lang="en-US" altLang="zh-TW" dirty="0">
              <a:solidFill>
                <a:srgbClr val="6D6D6D"/>
              </a:solidFill>
              <a:latin typeface="Arial" panose="020B0604020202020204" pitchFamily="34" charset="0"/>
              <a:ea typeface="PMingLiU" pitchFamily="18" charset="-120"/>
            </a:endParaRPr>
          </a:p>
        </p:txBody>
      </p:sp>
      <p:graphicFrame>
        <p:nvGraphicFramePr>
          <p:cNvPr id="26626" name="Object 2"/>
          <p:cNvGraphicFramePr>
            <a:graphicFrameLocks noChangeAspect="1"/>
          </p:cNvGraphicFramePr>
          <p:nvPr/>
        </p:nvGraphicFramePr>
        <p:xfrm>
          <a:off x="685800" y="4876800"/>
          <a:ext cx="7391400" cy="430213"/>
        </p:xfrm>
        <a:graphic>
          <a:graphicData uri="http://schemas.openxmlformats.org/presentationml/2006/ole">
            <mc:AlternateContent xmlns:mc="http://schemas.openxmlformats.org/markup-compatibility/2006">
              <mc:Choice xmlns:v="urn:schemas-microsoft-com:vml" Requires="v">
                <p:oleObj spid="_x0000_s3102" name="" r:id="rId1" imgW="4743450" imgH="276225" progId="Paint.Picture">
                  <p:embed/>
                </p:oleObj>
              </mc:Choice>
              <mc:Fallback>
                <p:oleObj name="" r:id="rId1" imgW="4743450" imgH="276225" progId="Paint.Picture">
                  <p:embed/>
                  <p:pic>
                    <p:nvPicPr>
                      <p:cNvPr id="0" name="Picture 3101"/>
                      <p:cNvPicPr/>
                      <p:nvPr/>
                    </p:nvPicPr>
                    <p:blipFill>
                      <a:blip r:embed="rId2"/>
                      <a:stretch>
                        <a:fillRect/>
                      </a:stretch>
                    </p:blipFill>
                    <p:spPr>
                      <a:xfrm>
                        <a:off x="685800" y="4876800"/>
                        <a:ext cx="7391400" cy="430213"/>
                      </a:xfrm>
                      <a:prstGeom prst="rect">
                        <a:avLst/>
                      </a:prstGeom>
                      <a:noFill/>
                      <a:ln w="38100">
                        <a:noFill/>
                        <a:miter/>
                      </a:ln>
                    </p:spPr>
                  </p:pic>
                </p:oleObj>
              </mc:Fallback>
            </mc:AlternateContent>
          </a:graphicData>
        </a:graphic>
      </p:graphicFrame>
      <p:sp>
        <p:nvSpPr>
          <p:cNvPr id="26628"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Divide and Conquer:</a:t>
            </a:r>
            <a:br>
              <a:rPr lang="en-US" altLang="zh-TW" sz="3200" b="1" dirty="0">
                <a:latin typeface="Times New Roman" panose="02020603050405020304" pitchFamily="18" charset="0"/>
                <a:ea typeface="PMingLiU" pitchFamily="18" charset="-120"/>
              </a:rPr>
            </a:br>
            <a:r>
              <a:rPr lang="en-US" altLang="zh-TW" sz="3200" b="1" dirty="0">
                <a:latin typeface="Times New Roman" panose="02020603050405020304" pitchFamily="18" charset="0"/>
                <a:ea typeface="PMingLiU" pitchFamily="18" charset="-120"/>
              </a:rPr>
              <a:t>Constructing Decision Trees</a:t>
            </a:r>
            <a:endParaRPr lang="en-US" altLang="zh-TW" sz="3200" b="1" dirty="0">
              <a:latin typeface="Times New Roman" panose="02020603050405020304" pitchFamily="18" charset="0"/>
              <a:ea typeface="PMingLiU" pitchFamily="18" charset="-12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7650" name="Object 2"/>
          <p:cNvGraphicFramePr>
            <a:graphicFrameLocks noChangeAspect="1"/>
          </p:cNvGraphicFramePr>
          <p:nvPr/>
        </p:nvGraphicFramePr>
        <p:xfrm>
          <a:off x="838200" y="1905000"/>
          <a:ext cx="1725613" cy="4724400"/>
        </p:xfrm>
        <a:graphic>
          <a:graphicData uri="http://schemas.openxmlformats.org/presentationml/2006/ole">
            <mc:AlternateContent xmlns:mc="http://schemas.openxmlformats.org/markup-compatibility/2006">
              <mc:Choice xmlns:v="urn:schemas-microsoft-com:vml" Requires="v">
                <p:oleObj spid="_x0000_s3103" name="" r:id="rId1" imgW="2457450" imgH="6701155" progId="Excel.Sheet.8">
                  <p:embed/>
                </p:oleObj>
              </mc:Choice>
              <mc:Fallback>
                <p:oleObj name="" r:id="rId1" imgW="2457450" imgH="6701155" progId="Excel.Sheet.8">
                  <p:embed/>
                  <p:pic>
                    <p:nvPicPr>
                      <p:cNvPr id="0" name="Picture 3102"/>
                      <p:cNvPicPr/>
                      <p:nvPr/>
                    </p:nvPicPr>
                    <p:blipFill>
                      <a:blip r:embed="rId2"/>
                      <a:stretch>
                        <a:fillRect/>
                      </a:stretch>
                    </p:blipFill>
                    <p:spPr>
                      <a:xfrm>
                        <a:off x="838200" y="1905000"/>
                        <a:ext cx="1725613" cy="4724400"/>
                      </a:xfrm>
                      <a:prstGeom prst="rect">
                        <a:avLst/>
                      </a:prstGeom>
                      <a:noFill/>
                      <a:ln w="38100">
                        <a:noFill/>
                        <a:miter/>
                      </a:ln>
                    </p:spPr>
                  </p:pic>
                </p:oleObj>
              </mc:Fallback>
            </mc:AlternateContent>
          </a:graphicData>
        </a:graphic>
      </p:graphicFrame>
      <p:grpSp>
        <p:nvGrpSpPr>
          <p:cNvPr id="2" name="Group 15"/>
          <p:cNvGrpSpPr/>
          <p:nvPr/>
        </p:nvGrpSpPr>
        <p:grpSpPr>
          <a:xfrm>
            <a:off x="3810000" y="6096000"/>
            <a:ext cx="3740150" cy="457200"/>
            <a:chOff x="2256" y="3936"/>
            <a:chExt cx="2356" cy="288"/>
          </a:xfrm>
        </p:grpSpPr>
        <p:sp>
          <p:nvSpPr>
            <p:cNvPr id="27654" name="Text Box 16"/>
            <p:cNvSpPr txBox="1"/>
            <p:nvPr/>
          </p:nvSpPr>
          <p:spPr>
            <a:xfrm>
              <a:off x="2256" y="3936"/>
              <a:ext cx="532"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[2,3]</a:t>
              </a:r>
              <a:endParaRPr lang="zh-TW" altLang="en-US" dirty="0">
                <a:latin typeface="Arial" panose="020B0604020202020204" pitchFamily="34" charset="0"/>
                <a:ea typeface="PMingLiU" pitchFamily="18" charset="-120"/>
              </a:endParaRPr>
            </a:p>
          </p:txBody>
        </p:sp>
        <p:sp>
          <p:nvSpPr>
            <p:cNvPr id="27655" name="Text Box 17"/>
            <p:cNvSpPr txBox="1"/>
            <p:nvPr/>
          </p:nvSpPr>
          <p:spPr>
            <a:xfrm>
              <a:off x="3216" y="3936"/>
              <a:ext cx="532"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[4,0]</a:t>
              </a:r>
              <a:endParaRPr lang="zh-TW" altLang="en-US" dirty="0">
                <a:latin typeface="Arial" panose="020B0604020202020204" pitchFamily="34" charset="0"/>
                <a:ea typeface="PMingLiU" pitchFamily="18" charset="-120"/>
              </a:endParaRPr>
            </a:p>
          </p:txBody>
        </p:sp>
        <p:sp>
          <p:nvSpPr>
            <p:cNvPr id="27656" name="Text Box 18"/>
            <p:cNvSpPr txBox="1"/>
            <p:nvPr/>
          </p:nvSpPr>
          <p:spPr>
            <a:xfrm>
              <a:off x="4080" y="3936"/>
              <a:ext cx="532" cy="288"/>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[3,2]</a:t>
              </a:r>
              <a:endParaRPr lang="zh-TW" altLang="en-US" dirty="0">
                <a:latin typeface="Arial" panose="020B0604020202020204" pitchFamily="34" charset="0"/>
                <a:ea typeface="PMingLiU" pitchFamily="18" charset="-120"/>
              </a:endParaRPr>
            </a:p>
          </p:txBody>
        </p:sp>
      </p:grpSp>
      <p:pic>
        <p:nvPicPr>
          <p:cNvPr id="115731" name="Picture 19" descr="_x0013_weather_outlook.GIF                                            00018F84_x000C_Macintosh HD                   B279C9FF:"/>
          <p:cNvPicPr>
            <a:picLocks noChangeAspect="1"/>
          </p:cNvPicPr>
          <p:nvPr/>
        </p:nvPicPr>
        <p:blipFill>
          <a:blip r:embed="rId3"/>
          <a:stretch>
            <a:fillRect/>
          </a:stretch>
        </p:blipFill>
        <p:spPr>
          <a:xfrm>
            <a:off x="3429000" y="1981200"/>
            <a:ext cx="4876800" cy="4041775"/>
          </a:xfrm>
          <a:prstGeom prst="rect">
            <a:avLst/>
          </a:prstGeom>
          <a:noFill/>
          <a:ln w="9525">
            <a:noFill/>
          </a:ln>
        </p:spPr>
      </p:pic>
      <p:sp>
        <p:nvSpPr>
          <p:cNvPr id="27653"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Divide and Conquer:</a:t>
            </a:r>
            <a:br>
              <a:rPr lang="en-US" altLang="zh-TW" sz="3200" b="1" dirty="0">
                <a:latin typeface="Times New Roman" panose="02020603050405020304" pitchFamily="18" charset="0"/>
                <a:ea typeface="PMingLiU" pitchFamily="18" charset="-120"/>
              </a:rPr>
            </a:br>
            <a:r>
              <a:rPr lang="en-US" altLang="zh-TW" sz="3200" b="1" dirty="0">
                <a:latin typeface="Times New Roman" panose="02020603050405020304" pitchFamily="18" charset="0"/>
                <a:ea typeface="PMingLiU" pitchFamily="18" charset="-120"/>
              </a:rPr>
              <a:t>Constructing Decision Trees</a:t>
            </a:r>
            <a:endParaRPr lang="en-US" altLang="zh-TW" sz="3200" b="1" dirty="0">
              <a:latin typeface="Times New Roman" panose="02020603050405020304" pitchFamily="18" charset="0"/>
              <a:ea typeface="PMingLiU"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5731"/>
                                        </p:tgtEl>
                                        <p:attrNameLst>
                                          <p:attrName>style.visibility</p:attrName>
                                        </p:attrNameLst>
                                      </p:cBhvr>
                                      <p:to>
                                        <p:strVal val="visible"/>
                                      </p:to>
                                    </p:set>
                                    <p:animEffect transition="in" filter="dissolve">
                                      <p:cBhvr>
                                        <p:cTn id="7" dur="500"/>
                                        <p:tgtEl>
                                          <p:spTgt spid="11573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Text Box 49"/>
          <p:cNvSpPr txBox="1"/>
          <p:nvPr/>
        </p:nvSpPr>
        <p:spPr>
          <a:xfrm>
            <a:off x="990600" y="29718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[2,3]</a:t>
            </a:r>
            <a:endParaRPr lang="zh-TW" altLang="en-US" dirty="0">
              <a:latin typeface="Arial" panose="020B0604020202020204" pitchFamily="34" charset="0"/>
              <a:ea typeface="PMingLiU" pitchFamily="18" charset="-120"/>
            </a:endParaRPr>
          </a:p>
        </p:txBody>
      </p:sp>
      <p:sp>
        <p:nvSpPr>
          <p:cNvPr id="47107" name="Text Box 50"/>
          <p:cNvSpPr txBox="1"/>
          <p:nvPr/>
        </p:nvSpPr>
        <p:spPr>
          <a:xfrm>
            <a:off x="1981200" y="29718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[4,0]</a:t>
            </a:r>
            <a:endParaRPr lang="zh-TW" altLang="en-US" dirty="0">
              <a:latin typeface="Arial" panose="020B0604020202020204" pitchFamily="34" charset="0"/>
              <a:ea typeface="PMingLiU" pitchFamily="18" charset="-120"/>
            </a:endParaRPr>
          </a:p>
        </p:txBody>
      </p:sp>
      <p:sp>
        <p:nvSpPr>
          <p:cNvPr id="47108" name="Text Box 51"/>
          <p:cNvSpPr txBox="1"/>
          <p:nvPr/>
        </p:nvSpPr>
        <p:spPr>
          <a:xfrm>
            <a:off x="3048000" y="29718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[3,2]</a:t>
            </a:r>
            <a:endParaRPr lang="zh-TW" altLang="en-US" dirty="0">
              <a:latin typeface="Arial" panose="020B0604020202020204" pitchFamily="34" charset="0"/>
              <a:ea typeface="PMingLiU" pitchFamily="18" charset="-120"/>
            </a:endParaRPr>
          </a:p>
        </p:txBody>
      </p:sp>
      <p:sp>
        <p:nvSpPr>
          <p:cNvPr id="47109" name="Text Box 52"/>
          <p:cNvSpPr txBox="1"/>
          <p:nvPr/>
        </p:nvSpPr>
        <p:spPr>
          <a:xfrm>
            <a:off x="5181600" y="30480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[2,2]</a:t>
            </a:r>
            <a:endParaRPr lang="zh-TW" altLang="en-US" dirty="0">
              <a:latin typeface="Arial" panose="020B0604020202020204" pitchFamily="34" charset="0"/>
              <a:ea typeface="PMingLiU" pitchFamily="18" charset="-120"/>
            </a:endParaRPr>
          </a:p>
        </p:txBody>
      </p:sp>
      <p:sp>
        <p:nvSpPr>
          <p:cNvPr id="47110" name="Text Box 53"/>
          <p:cNvSpPr txBox="1"/>
          <p:nvPr/>
        </p:nvSpPr>
        <p:spPr>
          <a:xfrm>
            <a:off x="6400800" y="30480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[4,2]</a:t>
            </a:r>
            <a:endParaRPr lang="zh-TW" altLang="en-US" dirty="0">
              <a:latin typeface="Arial" panose="020B0604020202020204" pitchFamily="34" charset="0"/>
              <a:ea typeface="PMingLiU" pitchFamily="18" charset="-120"/>
            </a:endParaRPr>
          </a:p>
        </p:txBody>
      </p:sp>
      <p:sp>
        <p:nvSpPr>
          <p:cNvPr id="47111" name="Text Box 54"/>
          <p:cNvSpPr txBox="1"/>
          <p:nvPr/>
        </p:nvSpPr>
        <p:spPr>
          <a:xfrm>
            <a:off x="7391400" y="30480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[3,1]</a:t>
            </a:r>
            <a:endParaRPr lang="zh-TW" altLang="en-US" dirty="0">
              <a:latin typeface="Arial" panose="020B0604020202020204" pitchFamily="34" charset="0"/>
              <a:ea typeface="PMingLiU" pitchFamily="18" charset="-120"/>
            </a:endParaRPr>
          </a:p>
        </p:txBody>
      </p:sp>
      <p:sp>
        <p:nvSpPr>
          <p:cNvPr id="47112" name="Text Box 55"/>
          <p:cNvSpPr txBox="1"/>
          <p:nvPr/>
        </p:nvSpPr>
        <p:spPr>
          <a:xfrm>
            <a:off x="1212850" y="64008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[3,4]</a:t>
            </a:r>
            <a:endParaRPr lang="zh-TW" altLang="en-US" dirty="0">
              <a:latin typeface="Arial" panose="020B0604020202020204" pitchFamily="34" charset="0"/>
              <a:ea typeface="PMingLiU" pitchFamily="18" charset="-120"/>
            </a:endParaRPr>
          </a:p>
        </p:txBody>
      </p:sp>
      <p:sp>
        <p:nvSpPr>
          <p:cNvPr id="47113" name="Text Box 56"/>
          <p:cNvSpPr txBox="1"/>
          <p:nvPr/>
        </p:nvSpPr>
        <p:spPr>
          <a:xfrm>
            <a:off x="2514600" y="64008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[6,1]</a:t>
            </a:r>
            <a:endParaRPr lang="zh-TW" altLang="en-US" dirty="0">
              <a:latin typeface="Arial" panose="020B0604020202020204" pitchFamily="34" charset="0"/>
              <a:ea typeface="PMingLiU" pitchFamily="18" charset="-120"/>
            </a:endParaRPr>
          </a:p>
        </p:txBody>
      </p:sp>
      <p:sp>
        <p:nvSpPr>
          <p:cNvPr id="47114" name="Text Box 57"/>
          <p:cNvSpPr txBox="1"/>
          <p:nvPr/>
        </p:nvSpPr>
        <p:spPr>
          <a:xfrm>
            <a:off x="6013450" y="63246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[6,2]</a:t>
            </a:r>
            <a:endParaRPr lang="zh-TW" altLang="en-US" dirty="0">
              <a:latin typeface="Arial" panose="020B0604020202020204" pitchFamily="34" charset="0"/>
              <a:ea typeface="PMingLiU" pitchFamily="18" charset="-120"/>
            </a:endParaRPr>
          </a:p>
        </p:txBody>
      </p:sp>
      <p:sp>
        <p:nvSpPr>
          <p:cNvPr id="47115" name="Text Box 58"/>
          <p:cNvSpPr txBox="1"/>
          <p:nvPr/>
        </p:nvSpPr>
        <p:spPr>
          <a:xfrm>
            <a:off x="7391400" y="63246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[3,3]</a:t>
            </a:r>
            <a:endParaRPr lang="zh-TW" altLang="en-US" dirty="0">
              <a:latin typeface="Arial" panose="020B0604020202020204" pitchFamily="34" charset="0"/>
              <a:ea typeface="PMingLiU" pitchFamily="18" charset="-120"/>
            </a:endParaRPr>
          </a:p>
        </p:txBody>
      </p:sp>
      <p:pic>
        <p:nvPicPr>
          <p:cNvPr id="47116" name="Picture 59" descr="_x0013_weather_outlook.GIF                                            00018F84_x000C_Macintosh HD                   B279C9FF:"/>
          <p:cNvPicPr>
            <a:picLocks noChangeAspect="1"/>
          </p:cNvPicPr>
          <p:nvPr/>
        </p:nvPicPr>
        <p:blipFill>
          <a:blip r:embed="rId1"/>
          <a:stretch>
            <a:fillRect/>
          </a:stretch>
        </p:blipFill>
        <p:spPr>
          <a:xfrm>
            <a:off x="990600" y="304800"/>
            <a:ext cx="3200400" cy="2640013"/>
          </a:xfrm>
          <a:prstGeom prst="rect">
            <a:avLst/>
          </a:prstGeom>
          <a:noFill/>
          <a:ln w="9525">
            <a:noFill/>
          </a:ln>
        </p:spPr>
      </p:pic>
      <p:pic>
        <p:nvPicPr>
          <p:cNvPr id="47117" name="Picture 60" descr="_x0011_weather_windy.GIF                                              00018F84_x000C_Macintosh HD                   B279C9FF:"/>
          <p:cNvPicPr>
            <a:picLocks noChangeAspect="1"/>
          </p:cNvPicPr>
          <p:nvPr/>
        </p:nvPicPr>
        <p:blipFill>
          <a:blip r:embed="rId2"/>
          <a:stretch>
            <a:fillRect/>
          </a:stretch>
        </p:blipFill>
        <p:spPr>
          <a:xfrm>
            <a:off x="5943600" y="3581400"/>
            <a:ext cx="2438400" cy="2819400"/>
          </a:xfrm>
          <a:prstGeom prst="rect">
            <a:avLst/>
          </a:prstGeom>
          <a:noFill/>
          <a:ln w="9525">
            <a:noFill/>
          </a:ln>
        </p:spPr>
      </p:pic>
      <p:pic>
        <p:nvPicPr>
          <p:cNvPr id="47118" name="Picture 61" descr="_x0014_weather_humidity.GIF                                           00018F84_x000C_Macintosh HD                   B279C9FF:"/>
          <p:cNvPicPr>
            <a:picLocks noChangeAspect="1"/>
          </p:cNvPicPr>
          <p:nvPr/>
        </p:nvPicPr>
        <p:blipFill>
          <a:blip r:embed="rId3"/>
          <a:stretch>
            <a:fillRect/>
          </a:stretch>
        </p:blipFill>
        <p:spPr>
          <a:xfrm>
            <a:off x="1219200" y="3733800"/>
            <a:ext cx="2667000" cy="2667000"/>
          </a:xfrm>
          <a:prstGeom prst="rect">
            <a:avLst/>
          </a:prstGeom>
          <a:noFill/>
          <a:ln w="9525">
            <a:noFill/>
          </a:ln>
        </p:spPr>
      </p:pic>
      <p:pic>
        <p:nvPicPr>
          <p:cNvPr id="47119" name="Picture 62" descr="_x0017_weather_temperature.GIF                                        00018F84_x000C_Macintosh HD                   B279C9FF:"/>
          <p:cNvPicPr>
            <a:picLocks noChangeAspect="1"/>
          </p:cNvPicPr>
          <p:nvPr/>
        </p:nvPicPr>
        <p:blipFill>
          <a:blip r:embed="rId4"/>
          <a:stretch>
            <a:fillRect/>
          </a:stretch>
        </p:blipFill>
        <p:spPr>
          <a:xfrm>
            <a:off x="5257800" y="231775"/>
            <a:ext cx="3124200" cy="2816225"/>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idx="1"/>
          </p:nvPr>
        </p:nvSpPr>
        <p:spPr>
          <a:xfrm>
            <a:off x="381000" y="2286000"/>
            <a:ext cx="8763000" cy="4572000"/>
          </a:xfrm>
          <a:ln/>
        </p:spPr>
        <p:txBody>
          <a:bodyPr vert="horz" wrap="square" lIns="91440" tIns="45720" rIns="91440" bIns="45720" anchor="t" anchorCtr="0"/>
          <a:p>
            <a:pPr lvl="1">
              <a:lnSpc>
                <a:spcPct val="130000"/>
              </a:lnSpc>
            </a:pPr>
            <a:r>
              <a:rPr lang="en-US" altLang="zh-TW" dirty="0">
                <a:latin typeface="Times New Roman" panose="02020603050405020304" pitchFamily="18" charset="0"/>
                <a:ea typeface="PMingLiU" pitchFamily="18" charset="-120"/>
              </a:rPr>
              <a:t>The number of either yeses or nos is zero, the information is zero</a:t>
            </a:r>
            <a:endParaRPr lang="en-US" altLang="zh-TW" dirty="0">
              <a:latin typeface="Times New Roman" panose="02020603050405020304" pitchFamily="18" charset="0"/>
              <a:ea typeface="PMingLiU" pitchFamily="18" charset="-120"/>
            </a:endParaRPr>
          </a:p>
          <a:p>
            <a:pPr lvl="1">
              <a:lnSpc>
                <a:spcPct val="130000"/>
              </a:lnSpc>
            </a:pPr>
            <a:r>
              <a:rPr lang="en-US" altLang="zh-TW" dirty="0">
                <a:latin typeface="Times New Roman" panose="02020603050405020304" pitchFamily="18" charset="0"/>
                <a:ea typeface="PMingLiU" pitchFamily="18" charset="-120"/>
              </a:rPr>
              <a:t>The number of yeses and nos is equal, the information reaches a maximum</a:t>
            </a:r>
            <a:endParaRPr lang="en-US" altLang="zh-TW" sz="2400" dirty="0">
              <a:latin typeface="Times New Roman" panose="02020603050405020304" pitchFamily="18" charset="0"/>
              <a:ea typeface="PMingLiU" pitchFamily="18" charset="-120"/>
            </a:endParaRPr>
          </a:p>
        </p:txBody>
      </p:sp>
      <p:sp>
        <p:nvSpPr>
          <p:cNvPr id="48131" name="Rectangle 2"/>
          <p:cNvSpPr>
            <a:spLocks noGrp="1"/>
          </p:cNvSpPr>
          <p:nvPr>
            <p:ph type="title"/>
          </p:nvPr>
        </p:nvSpPr>
        <p:spPr>
          <a:xfrm>
            <a:off x="381000" y="762000"/>
            <a:ext cx="8229600" cy="1143000"/>
          </a:xfrm>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Divide and Conquer:</a:t>
            </a:r>
            <a:br>
              <a:rPr lang="en-US" altLang="zh-TW" sz="3200" b="1" dirty="0">
                <a:latin typeface="Times New Roman" panose="02020603050405020304" pitchFamily="18" charset="0"/>
                <a:ea typeface="PMingLiU" pitchFamily="18" charset="-120"/>
              </a:rPr>
            </a:br>
            <a:r>
              <a:rPr lang="en-US" altLang="zh-TW" sz="3200" b="1" dirty="0">
                <a:latin typeface="Times New Roman" panose="02020603050405020304" pitchFamily="18" charset="0"/>
                <a:ea typeface="PMingLiU" pitchFamily="18" charset="-120"/>
              </a:rPr>
              <a:t>Constructing Decision Trees</a:t>
            </a:r>
            <a:endParaRPr lang="en-US" altLang="zh-TW" sz="3200" b="1" dirty="0">
              <a:latin typeface="Times New Roman" panose="02020603050405020304" pitchFamily="18" charset="0"/>
              <a:ea typeface="PMingLiU" pitchFamily="18" charset="-12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idx="1"/>
          </p:nvPr>
        </p:nvSpPr>
        <p:spPr>
          <a:xfrm>
            <a:off x="533400" y="4495800"/>
            <a:ext cx="8610600" cy="914400"/>
          </a:xfrm>
          <a:ln/>
        </p:spPr>
        <p:txBody>
          <a:bodyPr vert="horz" wrap="square" lIns="91440" tIns="45720" rIns="91440" bIns="45720" anchor="t" anchorCtr="0"/>
          <a:p>
            <a:pPr>
              <a:lnSpc>
                <a:spcPct val="90000"/>
              </a:lnSpc>
            </a:pPr>
            <a:r>
              <a:rPr lang="en-US" altLang="zh-TW" sz="2400" dirty="0">
                <a:ea typeface="PMingLiU" pitchFamily="18" charset="-120"/>
              </a:rPr>
              <a:t>Info ([2,3]) = -2/5 * log 2/5 </a:t>
            </a:r>
            <a:r>
              <a:rPr lang="en-US" altLang="zh-TW" sz="2400" dirty="0">
                <a:latin typeface="Times New Roman" panose="02020603050405020304" pitchFamily="18" charset="0"/>
                <a:ea typeface="PMingLiU" pitchFamily="18" charset="-120"/>
              </a:rPr>
              <a:t>–</a:t>
            </a:r>
            <a:r>
              <a:rPr lang="en-US" altLang="zh-TW" sz="2400" dirty="0">
                <a:ea typeface="PMingLiU" pitchFamily="18" charset="-120"/>
              </a:rPr>
              <a:t> 3/5 * log 3/5 =0.971</a:t>
            </a:r>
            <a:endParaRPr lang="en-US" altLang="zh-TW" sz="2400" dirty="0">
              <a:ea typeface="PMingLiU" pitchFamily="18" charset="-120"/>
            </a:endParaRPr>
          </a:p>
          <a:p>
            <a:pPr>
              <a:lnSpc>
                <a:spcPct val="90000"/>
              </a:lnSpc>
            </a:pPr>
            <a:r>
              <a:rPr lang="en-US" altLang="zh-TW" sz="2400" dirty="0">
                <a:ea typeface="PMingLiU" pitchFamily="18" charset="-120"/>
              </a:rPr>
              <a:t>Info ([4,0]) = -4/4 * log 4/4 </a:t>
            </a:r>
            <a:r>
              <a:rPr lang="en-US" altLang="zh-TW" sz="2400" dirty="0">
                <a:latin typeface="Times New Roman" panose="02020603050405020304" pitchFamily="18" charset="0"/>
                <a:ea typeface="PMingLiU" pitchFamily="18" charset="-120"/>
              </a:rPr>
              <a:t>–</a:t>
            </a:r>
            <a:r>
              <a:rPr lang="en-US" altLang="zh-TW" sz="2400" dirty="0">
                <a:ea typeface="PMingLiU" pitchFamily="18" charset="-120"/>
              </a:rPr>
              <a:t> 0/4 * log 0/4 =0</a:t>
            </a:r>
            <a:endParaRPr lang="en-US" altLang="zh-TW" sz="2400" dirty="0">
              <a:ea typeface="PMingLiU" pitchFamily="18" charset="-120"/>
            </a:endParaRPr>
          </a:p>
          <a:p>
            <a:pPr>
              <a:lnSpc>
                <a:spcPct val="90000"/>
              </a:lnSpc>
            </a:pPr>
            <a:r>
              <a:rPr lang="en-US" altLang="zh-TW" sz="2400" dirty="0">
                <a:ea typeface="PMingLiU" pitchFamily="18" charset="-120"/>
              </a:rPr>
              <a:t>Info ([3,2]) = -3/5 * log 3/5 </a:t>
            </a:r>
            <a:r>
              <a:rPr lang="en-US" altLang="zh-TW" sz="2400" dirty="0">
                <a:latin typeface="Times New Roman" panose="02020603050405020304" pitchFamily="18" charset="0"/>
                <a:ea typeface="PMingLiU" pitchFamily="18" charset="-120"/>
              </a:rPr>
              <a:t>–</a:t>
            </a:r>
            <a:r>
              <a:rPr lang="en-US" altLang="zh-TW" sz="2400" dirty="0">
                <a:ea typeface="PMingLiU" pitchFamily="18" charset="-120"/>
              </a:rPr>
              <a:t> 2/5 * log 2/5 =0.971</a:t>
            </a:r>
            <a:endParaRPr lang="en-US" altLang="zh-TW" sz="2400" dirty="0">
              <a:ea typeface="PMingLiU" pitchFamily="18" charset="-120"/>
            </a:endParaRPr>
          </a:p>
          <a:p>
            <a:pPr>
              <a:lnSpc>
                <a:spcPct val="90000"/>
              </a:lnSpc>
            </a:pPr>
            <a:r>
              <a:rPr lang="en-US" altLang="zh-TW" sz="2400" dirty="0">
                <a:ea typeface="PMingLiU" pitchFamily="18" charset="-120"/>
              </a:rPr>
              <a:t>Info ([2,3],[4,0],[3,2])</a:t>
            </a:r>
            <a:endParaRPr lang="en-US" altLang="zh-TW" sz="2400" dirty="0">
              <a:ea typeface="PMingLiU" pitchFamily="18" charset="-120"/>
            </a:endParaRPr>
          </a:p>
          <a:p>
            <a:pPr>
              <a:lnSpc>
                <a:spcPct val="90000"/>
              </a:lnSpc>
              <a:buFont typeface="Wingdings" panose="05000000000000000000" pitchFamily="2" charset="2"/>
              <a:buNone/>
            </a:pPr>
            <a:r>
              <a:rPr lang="en-US" altLang="zh-TW" sz="2400" dirty="0">
                <a:ea typeface="PMingLiU" pitchFamily="18" charset="-120"/>
              </a:rPr>
              <a:t>         =  5/14 *0.971 + 4/14 *0 + 5/14 *0.971 = 0.673 bits</a:t>
            </a:r>
            <a:endParaRPr lang="en-US" altLang="zh-TW" sz="2400" dirty="0">
              <a:ea typeface="PMingLiU" pitchFamily="18" charset="-120"/>
            </a:endParaRPr>
          </a:p>
        </p:txBody>
      </p:sp>
      <p:sp>
        <p:nvSpPr>
          <p:cNvPr id="49155" name="Text Box 14"/>
          <p:cNvSpPr txBox="1"/>
          <p:nvPr/>
        </p:nvSpPr>
        <p:spPr>
          <a:xfrm>
            <a:off x="5867400" y="20574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[2,3]</a:t>
            </a:r>
            <a:endParaRPr lang="zh-TW" altLang="en-US" dirty="0">
              <a:latin typeface="Arial" panose="020B0604020202020204" pitchFamily="34" charset="0"/>
              <a:ea typeface="PMingLiU" pitchFamily="18" charset="-120"/>
            </a:endParaRPr>
          </a:p>
        </p:txBody>
      </p:sp>
      <p:sp>
        <p:nvSpPr>
          <p:cNvPr id="49156" name="Text Box 15"/>
          <p:cNvSpPr txBox="1"/>
          <p:nvPr/>
        </p:nvSpPr>
        <p:spPr>
          <a:xfrm>
            <a:off x="6858000" y="20574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[4,0]</a:t>
            </a:r>
            <a:endParaRPr lang="zh-TW" altLang="en-US" dirty="0">
              <a:latin typeface="Arial" panose="020B0604020202020204" pitchFamily="34" charset="0"/>
              <a:ea typeface="PMingLiU" pitchFamily="18" charset="-120"/>
            </a:endParaRPr>
          </a:p>
        </p:txBody>
      </p:sp>
      <p:sp>
        <p:nvSpPr>
          <p:cNvPr id="49157" name="Text Box 16"/>
          <p:cNvSpPr txBox="1"/>
          <p:nvPr/>
        </p:nvSpPr>
        <p:spPr>
          <a:xfrm>
            <a:off x="7924800" y="20574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[3,2]</a:t>
            </a:r>
            <a:endParaRPr lang="zh-TW" altLang="en-US" dirty="0">
              <a:latin typeface="Arial" panose="020B0604020202020204" pitchFamily="34" charset="0"/>
              <a:ea typeface="PMingLiU" pitchFamily="18" charset="-120"/>
            </a:endParaRPr>
          </a:p>
        </p:txBody>
      </p:sp>
      <p:pic>
        <p:nvPicPr>
          <p:cNvPr id="49158" name="Picture 18" descr="_x0013_weather_outlook.GIF                                            00018F84_x000C_Macintosh HD                   B279C9FF:"/>
          <p:cNvPicPr>
            <a:picLocks noChangeAspect="1"/>
          </p:cNvPicPr>
          <p:nvPr/>
        </p:nvPicPr>
        <p:blipFill>
          <a:blip r:embed="rId1"/>
          <a:stretch>
            <a:fillRect/>
          </a:stretch>
        </p:blipFill>
        <p:spPr>
          <a:xfrm>
            <a:off x="2667000" y="1828800"/>
            <a:ext cx="3200400" cy="2640013"/>
          </a:xfrm>
          <a:prstGeom prst="rect">
            <a:avLst/>
          </a:prstGeom>
          <a:noFill/>
          <a:ln w="9525">
            <a:noFill/>
          </a:ln>
        </p:spPr>
      </p:pic>
      <p:sp>
        <p:nvSpPr>
          <p:cNvPr id="49159"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Divide and Conquer:</a:t>
            </a:r>
            <a:br>
              <a:rPr lang="en-US" altLang="zh-TW" sz="3200" b="1" dirty="0">
                <a:latin typeface="Times New Roman" panose="02020603050405020304" pitchFamily="18" charset="0"/>
                <a:ea typeface="PMingLiU" pitchFamily="18" charset="-120"/>
              </a:rPr>
            </a:br>
            <a:r>
              <a:rPr lang="en-US" altLang="zh-TW" sz="3200" b="1" dirty="0">
                <a:latin typeface="Times New Roman" panose="02020603050405020304" pitchFamily="18" charset="0"/>
                <a:ea typeface="PMingLiU" pitchFamily="18" charset="-120"/>
              </a:rPr>
              <a:t>Constructing Decision Trees</a:t>
            </a:r>
            <a:endParaRPr lang="en-US" altLang="zh-TW" sz="3200" b="1" dirty="0">
              <a:latin typeface="Times New Roman" panose="02020603050405020304" pitchFamily="18" charset="0"/>
              <a:ea typeface="PMingLiU" pitchFamily="18" charset="-12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idx="1"/>
          </p:nvPr>
        </p:nvSpPr>
        <p:spPr>
          <a:xfrm>
            <a:off x="381000" y="2895600"/>
            <a:ext cx="8229600" cy="3352800"/>
          </a:xfrm>
          <a:ln/>
        </p:spPr>
        <p:txBody>
          <a:bodyPr vert="horz" wrap="square" lIns="91440" tIns="45720" rIns="91440" bIns="45720" anchor="t" anchorCtr="0"/>
          <a:p>
            <a:pPr>
              <a:lnSpc>
                <a:spcPct val="110000"/>
              </a:lnSpc>
            </a:pPr>
            <a:r>
              <a:rPr lang="en-US" altLang="zh-TW" sz="2400" dirty="0">
                <a:ea typeface="PMingLiU" pitchFamily="18" charset="-120"/>
              </a:rPr>
              <a:t>Play: Info ([9,5]) = -9/14 * log 9/14 </a:t>
            </a:r>
            <a:r>
              <a:rPr lang="en-US" altLang="zh-TW" sz="2400" dirty="0">
                <a:latin typeface="Times New Roman" panose="02020603050405020304" pitchFamily="18" charset="0"/>
                <a:ea typeface="PMingLiU" pitchFamily="18" charset="-120"/>
              </a:rPr>
              <a:t>–</a:t>
            </a:r>
            <a:r>
              <a:rPr lang="en-US" altLang="zh-TW" sz="2400" dirty="0">
                <a:ea typeface="PMingLiU" pitchFamily="18" charset="-120"/>
              </a:rPr>
              <a:t> 5/14 * log 5/14 </a:t>
            </a:r>
            <a:endParaRPr lang="en-US" altLang="zh-TW" sz="2400" dirty="0">
              <a:ea typeface="PMingLiU" pitchFamily="18" charset="-120"/>
            </a:endParaRPr>
          </a:p>
          <a:p>
            <a:pPr>
              <a:lnSpc>
                <a:spcPct val="110000"/>
              </a:lnSpc>
              <a:buFont typeface="Wingdings" panose="05000000000000000000" pitchFamily="2" charset="2"/>
              <a:buNone/>
            </a:pPr>
            <a:r>
              <a:rPr lang="en-US" altLang="zh-TW" sz="2400" dirty="0">
                <a:ea typeface="PMingLiU" pitchFamily="18" charset="-120"/>
              </a:rPr>
              <a:t>                            = 0.94 bits</a:t>
            </a:r>
            <a:endParaRPr lang="en-US" altLang="zh-TW" sz="2400" dirty="0">
              <a:ea typeface="PMingLiU" pitchFamily="18" charset="-120"/>
            </a:endParaRPr>
          </a:p>
          <a:p>
            <a:pPr>
              <a:lnSpc>
                <a:spcPct val="110000"/>
              </a:lnSpc>
            </a:pPr>
            <a:r>
              <a:rPr lang="en-US" altLang="zh-TW" sz="2400" dirty="0">
                <a:ea typeface="PMingLiU" pitchFamily="18" charset="-120"/>
              </a:rPr>
              <a:t>Gain (outlook) = Info ([9,5]) - Info ([2,3],[4,0],[3,2])</a:t>
            </a:r>
            <a:endParaRPr lang="en-US" altLang="zh-TW" sz="2400" dirty="0">
              <a:ea typeface="PMingLiU" pitchFamily="18" charset="-120"/>
            </a:endParaRPr>
          </a:p>
          <a:p>
            <a:pPr>
              <a:lnSpc>
                <a:spcPct val="110000"/>
              </a:lnSpc>
              <a:buFont typeface="Wingdings" panose="05000000000000000000" pitchFamily="2" charset="2"/>
              <a:buNone/>
            </a:pPr>
            <a:r>
              <a:rPr lang="en-US" altLang="zh-TW" sz="2400" dirty="0">
                <a:ea typeface="PMingLiU" pitchFamily="18" charset="-120"/>
              </a:rPr>
              <a:t>                        = 0.94 - 0.673 = 0.247 bits</a:t>
            </a:r>
            <a:endParaRPr lang="en-US" altLang="zh-TW" sz="2400" dirty="0">
              <a:ea typeface="PMingLiU" pitchFamily="18" charset="-120"/>
            </a:endParaRPr>
          </a:p>
          <a:p>
            <a:pPr>
              <a:lnSpc>
                <a:spcPct val="110000"/>
              </a:lnSpc>
            </a:pPr>
            <a:r>
              <a:rPr lang="en-US" altLang="zh-TW" sz="2400" dirty="0">
                <a:ea typeface="PMingLiU" pitchFamily="18" charset="-120"/>
              </a:rPr>
              <a:t>Gain (temperature) = 0.029 bits</a:t>
            </a:r>
            <a:endParaRPr lang="en-US" altLang="zh-TW" sz="2400" dirty="0">
              <a:ea typeface="PMingLiU" pitchFamily="18" charset="-120"/>
            </a:endParaRPr>
          </a:p>
          <a:p>
            <a:pPr>
              <a:lnSpc>
                <a:spcPct val="110000"/>
              </a:lnSpc>
            </a:pPr>
            <a:r>
              <a:rPr lang="en-US" altLang="zh-TW" sz="2400" dirty="0">
                <a:ea typeface="PMingLiU" pitchFamily="18" charset="-120"/>
              </a:rPr>
              <a:t>Gain (humidity) = 0.029 bits</a:t>
            </a:r>
            <a:endParaRPr lang="en-US" altLang="zh-TW" sz="2400" dirty="0">
              <a:ea typeface="PMingLiU" pitchFamily="18" charset="-120"/>
            </a:endParaRPr>
          </a:p>
          <a:p>
            <a:pPr>
              <a:lnSpc>
                <a:spcPct val="110000"/>
              </a:lnSpc>
            </a:pPr>
            <a:r>
              <a:rPr lang="en-US" altLang="zh-TW" sz="2400" dirty="0">
                <a:ea typeface="PMingLiU" pitchFamily="18" charset="-120"/>
              </a:rPr>
              <a:t>Gain (windy) = 0.048 bits</a:t>
            </a:r>
            <a:endParaRPr lang="en-US" altLang="zh-TW" sz="2400" dirty="0">
              <a:ea typeface="PMingLiU" pitchFamily="18" charset="-120"/>
            </a:endParaRPr>
          </a:p>
          <a:p>
            <a:pPr>
              <a:lnSpc>
                <a:spcPct val="110000"/>
              </a:lnSpc>
            </a:pPr>
            <a:endParaRPr lang="en-US" altLang="zh-TW" sz="2400" dirty="0">
              <a:ea typeface="PMingLiU" pitchFamily="18" charset="-120"/>
            </a:endParaRPr>
          </a:p>
          <a:p>
            <a:pPr>
              <a:lnSpc>
                <a:spcPct val="110000"/>
              </a:lnSpc>
            </a:pPr>
            <a:endParaRPr lang="en-US" altLang="zh-TW" sz="2400" dirty="0">
              <a:ea typeface="PMingLiU" pitchFamily="18" charset="-120"/>
            </a:endParaRPr>
          </a:p>
        </p:txBody>
      </p:sp>
      <p:sp>
        <p:nvSpPr>
          <p:cNvPr id="50179" name="Text Box 14"/>
          <p:cNvSpPr txBox="1"/>
          <p:nvPr/>
        </p:nvSpPr>
        <p:spPr>
          <a:xfrm>
            <a:off x="5562600" y="20574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[9,5]</a:t>
            </a:r>
            <a:endParaRPr lang="zh-TW" altLang="en-US" dirty="0">
              <a:latin typeface="Arial" panose="020B0604020202020204" pitchFamily="34" charset="0"/>
              <a:ea typeface="PMingLiU" pitchFamily="18" charset="-120"/>
            </a:endParaRPr>
          </a:p>
        </p:txBody>
      </p:sp>
      <p:sp>
        <p:nvSpPr>
          <p:cNvPr id="50180" name="Oval 18"/>
          <p:cNvSpPr/>
          <p:nvPr/>
        </p:nvSpPr>
        <p:spPr>
          <a:xfrm>
            <a:off x="3657600" y="2057400"/>
            <a:ext cx="1741488" cy="558800"/>
          </a:xfrm>
          <a:prstGeom prst="ellipse">
            <a:avLst/>
          </a:prstGeom>
          <a:noFill/>
          <a:ln w="9525" cap="flat" cmpd="sng">
            <a:solidFill>
              <a:schemeClr val="tx1"/>
            </a:solidFill>
            <a:prstDash val="solid"/>
            <a:miter/>
            <a:headEnd type="none" w="med" len="med"/>
            <a:tailEnd type="none" w="med" len="med"/>
          </a:ln>
        </p:spPr>
        <p:txBody>
          <a:bodyPr wrap="none" anchor="ctr" anchorCtr="0"/>
          <a:p>
            <a:r>
              <a:rPr lang="en-US" altLang="zh-TW" dirty="0">
                <a:latin typeface="Arial" panose="020B0604020202020204" pitchFamily="34" charset="0"/>
                <a:ea typeface="PMingLiU" pitchFamily="18" charset="-120"/>
              </a:rPr>
              <a:t>play</a:t>
            </a:r>
            <a:endParaRPr lang="en-US" altLang="zh-TW" dirty="0">
              <a:latin typeface="Arial" panose="020B0604020202020204" pitchFamily="34" charset="0"/>
              <a:ea typeface="PMingLiU" pitchFamily="18" charset="-120"/>
            </a:endParaRPr>
          </a:p>
        </p:txBody>
      </p:sp>
      <p:sp>
        <p:nvSpPr>
          <p:cNvPr id="116763" name="Line 27"/>
          <p:cNvSpPr/>
          <p:nvPr/>
        </p:nvSpPr>
        <p:spPr>
          <a:xfrm>
            <a:off x="2362200" y="4800600"/>
            <a:ext cx="2819400" cy="0"/>
          </a:xfrm>
          <a:prstGeom prst="line">
            <a:avLst/>
          </a:prstGeom>
          <a:ln w="57150" cap="flat" cmpd="sng">
            <a:solidFill>
              <a:schemeClr val="tx2"/>
            </a:solidFill>
            <a:prstDash val="solid"/>
            <a:headEnd type="none" w="med" len="med"/>
            <a:tailEnd type="none" w="med" len="med"/>
          </a:ln>
        </p:spPr>
      </p:sp>
      <p:sp>
        <p:nvSpPr>
          <p:cNvPr id="50182"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Divide and Conquer:</a:t>
            </a:r>
            <a:br>
              <a:rPr lang="en-US" altLang="zh-TW" sz="3200" b="1" dirty="0">
                <a:latin typeface="Times New Roman" panose="02020603050405020304" pitchFamily="18" charset="0"/>
                <a:ea typeface="PMingLiU" pitchFamily="18" charset="-120"/>
              </a:rPr>
            </a:br>
            <a:r>
              <a:rPr lang="en-US" altLang="zh-TW" sz="3200" b="1" dirty="0">
                <a:latin typeface="Times New Roman" panose="02020603050405020304" pitchFamily="18" charset="0"/>
                <a:ea typeface="PMingLiU" pitchFamily="18" charset="-120"/>
              </a:rPr>
              <a:t>Constructing Decision Trees</a:t>
            </a:r>
            <a:endParaRPr lang="en-US" altLang="zh-TW" sz="3200" b="1" dirty="0">
              <a:latin typeface="Times New Roman" panose="02020603050405020304" pitchFamily="18" charset="0"/>
              <a:ea typeface="PMingLiU"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6763"/>
                                        </p:tgtEl>
                                        <p:attrNameLst>
                                          <p:attrName>style.visibility</p:attrName>
                                        </p:attrNameLst>
                                      </p:cBhvr>
                                      <p:to>
                                        <p:strVal val="visible"/>
                                      </p:to>
                                    </p:set>
                                    <p:animEffect transition="in" filter="dissolve">
                                      <p:cBhvr>
                                        <p:cTn id="7" dur="500"/>
                                        <p:tgtEl>
                                          <p:spTgt spid="116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02" name="Picture 69" descr="_x0019_weather_outlook_windy.GIF                                      00018F84_x000C_Macintosh HD                   B279C9FF:"/>
          <p:cNvPicPr>
            <a:picLocks noChangeAspect="1"/>
          </p:cNvPicPr>
          <p:nvPr/>
        </p:nvPicPr>
        <p:blipFill>
          <a:blip r:embed="rId1"/>
          <a:stretch>
            <a:fillRect/>
          </a:stretch>
        </p:blipFill>
        <p:spPr>
          <a:xfrm>
            <a:off x="2590800" y="3124200"/>
            <a:ext cx="3306763" cy="3429000"/>
          </a:xfrm>
          <a:prstGeom prst="rect">
            <a:avLst/>
          </a:prstGeom>
          <a:noFill/>
          <a:ln w="9525">
            <a:noFill/>
          </a:ln>
        </p:spPr>
      </p:pic>
      <p:sp>
        <p:nvSpPr>
          <p:cNvPr id="51203" name="Text Box 66"/>
          <p:cNvSpPr txBox="1"/>
          <p:nvPr/>
        </p:nvSpPr>
        <p:spPr>
          <a:xfrm>
            <a:off x="6858000" y="4495800"/>
            <a:ext cx="712788" cy="1433513"/>
          </a:xfrm>
          <a:prstGeom prst="rect">
            <a:avLst/>
          </a:prstGeom>
          <a:noFill/>
          <a:ln w="9525">
            <a:noFill/>
          </a:ln>
        </p:spPr>
        <p:txBody>
          <a:bodyPr wrap="none">
            <a:spAutoFit/>
          </a:bodyPr>
          <a:p>
            <a:r>
              <a:rPr lang="zh-TW" altLang="en-US" sz="8800" dirty="0">
                <a:solidFill>
                  <a:schemeClr val="tx2"/>
                </a:solidFill>
                <a:latin typeface="Arial" panose="020B0604020202020204" pitchFamily="34" charset="0"/>
                <a:ea typeface="PMingLiU" pitchFamily="18" charset="-120"/>
              </a:rPr>
              <a:t>?</a:t>
            </a:r>
            <a:endParaRPr lang="zh-TW" altLang="en-US" sz="8800" dirty="0">
              <a:solidFill>
                <a:schemeClr val="tx2"/>
              </a:solidFill>
              <a:latin typeface="Arial" panose="020B0604020202020204" pitchFamily="34" charset="0"/>
              <a:ea typeface="PMingLiU" pitchFamily="18" charset="-120"/>
            </a:endParaRPr>
          </a:p>
        </p:txBody>
      </p:sp>
      <p:pic>
        <p:nvPicPr>
          <p:cNvPr id="51204" name="Picture 67" descr="_x001C_weather_outlook_humidity.GIF                                   00018F84_x000C_Macintosh HD                   B279C9FF:"/>
          <p:cNvPicPr>
            <a:picLocks noChangeAspect="1"/>
          </p:cNvPicPr>
          <p:nvPr/>
        </p:nvPicPr>
        <p:blipFill>
          <a:blip r:embed="rId2"/>
          <a:stretch>
            <a:fillRect/>
          </a:stretch>
        </p:blipFill>
        <p:spPr>
          <a:xfrm>
            <a:off x="5410200" y="304800"/>
            <a:ext cx="3449638" cy="3268663"/>
          </a:xfrm>
          <a:prstGeom prst="rect">
            <a:avLst/>
          </a:prstGeom>
          <a:noFill/>
          <a:ln w="9525">
            <a:noFill/>
          </a:ln>
        </p:spPr>
      </p:pic>
      <p:pic>
        <p:nvPicPr>
          <p:cNvPr id="51205" name="Picture 68" descr="_x001F_weather_outlook_temperature.GIF                                00018F84_x000C_Macintosh HD                   B279C9FF:"/>
          <p:cNvPicPr>
            <a:picLocks noChangeAspect="1"/>
          </p:cNvPicPr>
          <p:nvPr/>
        </p:nvPicPr>
        <p:blipFill>
          <a:blip r:embed="rId3"/>
          <a:stretch>
            <a:fillRect/>
          </a:stretch>
        </p:blipFill>
        <p:spPr>
          <a:xfrm>
            <a:off x="304800" y="304800"/>
            <a:ext cx="3971925" cy="2986088"/>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2226" name="Picture 55" descr="_x001F_weather_outlook_temperature.GIF                                00018F84_x000C_Macintosh HD                   B279C9FF:"/>
          <p:cNvPicPr>
            <a:picLocks noChangeAspect="1"/>
          </p:cNvPicPr>
          <p:nvPr/>
        </p:nvPicPr>
        <p:blipFill>
          <a:blip r:embed="rId1"/>
          <a:stretch>
            <a:fillRect/>
          </a:stretch>
        </p:blipFill>
        <p:spPr>
          <a:xfrm>
            <a:off x="2962275" y="381000"/>
            <a:ext cx="3971925" cy="2986088"/>
          </a:xfrm>
          <a:prstGeom prst="rect">
            <a:avLst/>
          </a:prstGeom>
          <a:noFill/>
          <a:ln w="9525">
            <a:noFill/>
          </a:ln>
        </p:spPr>
      </p:pic>
      <p:sp>
        <p:nvSpPr>
          <p:cNvPr id="52227" name="Rectangle 50"/>
          <p:cNvSpPr/>
          <p:nvPr/>
        </p:nvSpPr>
        <p:spPr>
          <a:xfrm>
            <a:off x="990600" y="1219200"/>
            <a:ext cx="2892425" cy="457200"/>
          </a:xfrm>
          <a:prstGeom prst="rect">
            <a:avLst/>
          </a:prstGeom>
          <a:noFill/>
          <a:ln w="9525">
            <a:noFill/>
          </a:ln>
        </p:spPr>
        <p:txBody>
          <a:bodyPr wrap="none">
            <a:spAutoFit/>
          </a:bodyPr>
          <a:p>
            <a:r>
              <a:rPr lang="en-US" altLang="zh-TW" dirty="0">
                <a:latin typeface="Arial" panose="020B0604020202020204" pitchFamily="34" charset="0"/>
                <a:ea typeface="PMingLiU" pitchFamily="18" charset="-120"/>
              </a:rPr>
              <a:t>Info ([2,3]) = 0.971</a:t>
            </a:r>
            <a:endParaRPr lang="zh-TW" altLang="en-US" dirty="0">
              <a:latin typeface="Arial" panose="020B0604020202020204" pitchFamily="34" charset="0"/>
              <a:ea typeface="PMingLiU" pitchFamily="18" charset="-120"/>
            </a:endParaRPr>
          </a:p>
        </p:txBody>
      </p:sp>
      <p:sp>
        <p:nvSpPr>
          <p:cNvPr id="52228" name="Text Box 51"/>
          <p:cNvSpPr txBox="1"/>
          <p:nvPr/>
        </p:nvSpPr>
        <p:spPr>
          <a:xfrm>
            <a:off x="2895600" y="34290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[0,2]</a:t>
            </a:r>
            <a:endParaRPr lang="zh-TW" altLang="en-US" dirty="0">
              <a:latin typeface="Arial" panose="020B0604020202020204" pitchFamily="34" charset="0"/>
              <a:ea typeface="PMingLiU" pitchFamily="18" charset="-120"/>
            </a:endParaRPr>
          </a:p>
        </p:txBody>
      </p:sp>
      <p:sp>
        <p:nvSpPr>
          <p:cNvPr id="52229" name="Text Box 52"/>
          <p:cNvSpPr txBox="1"/>
          <p:nvPr/>
        </p:nvSpPr>
        <p:spPr>
          <a:xfrm>
            <a:off x="3886200" y="34290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[1,1]</a:t>
            </a:r>
            <a:endParaRPr lang="zh-TW" altLang="en-US" dirty="0">
              <a:latin typeface="Arial" panose="020B0604020202020204" pitchFamily="34" charset="0"/>
              <a:ea typeface="PMingLiU" pitchFamily="18" charset="-120"/>
            </a:endParaRPr>
          </a:p>
        </p:txBody>
      </p:sp>
      <p:sp>
        <p:nvSpPr>
          <p:cNvPr id="52230" name="Text Box 53"/>
          <p:cNvSpPr txBox="1"/>
          <p:nvPr/>
        </p:nvSpPr>
        <p:spPr>
          <a:xfrm>
            <a:off x="4953000" y="3429000"/>
            <a:ext cx="844550" cy="457200"/>
          </a:xfrm>
          <a:prstGeom prst="rect">
            <a:avLst/>
          </a:prstGeom>
          <a:noFill/>
          <a:ln w="9525">
            <a:noFill/>
          </a:ln>
        </p:spPr>
        <p:txBody>
          <a:bodyPr wrap="none">
            <a:spAutoFit/>
          </a:bodyPr>
          <a:p>
            <a:r>
              <a:rPr lang="zh-TW" altLang="en-US" dirty="0">
                <a:latin typeface="Arial" panose="020B0604020202020204" pitchFamily="34" charset="0"/>
                <a:ea typeface="PMingLiU" pitchFamily="18" charset="-120"/>
              </a:rPr>
              <a:t>[1,0]</a:t>
            </a:r>
            <a:endParaRPr lang="zh-TW" altLang="en-US" dirty="0">
              <a:latin typeface="Arial" panose="020B0604020202020204" pitchFamily="34" charset="0"/>
              <a:ea typeface="PMingLiU" pitchFamily="18" charset="-120"/>
            </a:endParaRPr>
          </a:p>
        </p:txBody>
      </p:sp>
      <p:sp>
        <p:nvSpPr>
          <p:cNvPr id="52231" name="Rectangle 54"/>
          <p:cNvSpPr>
            <a:spLocks noGrp="1"/>
          </p:cNvSpPr>
          <p:nvPr>
            <p:ph idx="1"/>
          </p:nvPr>
        </p:nvSpPr>
        <p:spPr>
          <a:xfrm>
            <a:off x="457200" y="3886200"/>
            <a:ext cx="8686800" cy="2743200"/>
          </a:xfrm>
          <a:ln/>
        </p:spPr>
        <p:txBody>
          <a:bodyPr vert="horz" wrap="square" lIns="91440" tIns="45720" rIns="91440" bIns="45720" anchor="t" anchorCtr="0"/>
          <a:p>
            <a:r>
              <a:rPr lang="en-US" altLang="zh-TW" sz="2800" dirty="0">
                <a:ea typeface="PMingLiU" pitchFamily="18" charset="-120"/>
              </a:rPr>
              <a:t>Info ([0,2]) = 0</a:t>
            </a:r>
            <a:endParaRPr lang="en-US" altLang="zh-TW" sz="2800" dirty="0">
              <a:ea typeface="PMingLiU" pitchFamily="18" charset="-120"/>
            </a:endParaRPr>
          </a:p>
          <a:p>
            <a:r>
              <a:rPr lang="en-US" altLang="zh-TW" sz="2800" dirty="0">
                <a:ea typeface="PMingLiU" pitchFamily="18" charset="-120"/>
              </a:rPr>
              <a:t>Info ([1,1]) = -1/1 * log 1/1 </a:t>
            </a:r>
            <a:r>
              <a:rPr lang="en-US" altLang="zh-TW" sz="2800" dirty="0">
                <a:latin typeface="Times New Roman" panose="02020603050405020304" pitchFamily="18" charset="0"/>
                <a:ea typeface="PMingLiU" pitchFamily="18" charset="-120"/>
              </a:rPr>
              <a:t>–</a:t>
            </a:r>
            <a:r>
              <a:rPr lang="en-US" altLang="zh-TW" sz="2800" dirty="0">
                <a:ea typeface="PMingLiU" pitchFamily="18" charset="-120"/>
              </a:rPr>
              <a:t> 1/1 * log 1/1 </a:t>
            </a:r>
            <a:endParaRPr lang="en-US" altLang="zh-TW" sz="2800" dirty="0">
              <a:ea typeface="PMingLiU" pitchFamily="18" charset="-120"/>
            </a:endParaRPr>
          </a:p>
          <a:p>
            <a:r>
              <a:rPr lang="en-US" altLang="zh-TW" sz="2800" dirty="0">
                <a:ea typeface="PMingLiU" pitchFamily="18" charset="-120"/>
              </a:rPr>
              <a:t>Info ([1,0]) = 0</a:t>
            </a:r>
            <a:endParaRPr lang="en-US" altLang="zh-TW" sz="2800" dirty="0">
              <a:ea typeface="PMingLiU" pitchFamily="18" charset="-120"/>
            </a:endParaRPr>
          </a:p>
          <a:p>
            <a:r>
              <a:rPr lang="en-US" altLang="zh-TW" sz="2800" dirty="0">
                <a:ea typeface="PMingLiU" pitchFamily="18" charset="-120"/>
              </a:rPr>
              <a:t>Info ([0,2], [1,1], [1,0]) = 0.4 bits</a:t>
            </a:r>
            <a:endParaRPr lang="en-US" altLang="zh-TW" sz="2800" dirty="0">
              <a:ea typeface="PMingLiU" pitchFamily="18" charset="-120"/>
            </a:endParaRPr>
          </a:p>
          <a:p>
            <a:r>
              <a:rPr lang="en-US" altLang="zh-TW" sz="2800" dirty="0">
                <a:ea typeface="PMingLiU" pitchFamily="18" charset="-120"/>
              </a:rPr>
              <a:t>Gain (temperature) = 0.971 </a:t>
            </a:r>
            <a:r>
              <a:rPr lang="en-US" altLang="zh-TW" sz="2800" dirty="0">
                <a:latin typeface="Times New Roman" panose="02020603050405020304" pitchFamily="18" charset="0"/>
                <a:ea typeface="PMingLiU" pitchFamily="18" charset="-120"/>
              </a:rPr>
              <a:t>–</a:t>
            </a:r>
            <a:r>
              <a:rPr lang="en-US" altLang="zh-TW" sz="2800" dirty="0">
                <a:ea typeface="PMingLiU" pitchFamily="18" charset="-120"/>
              </a:rPr>
              <a:t> 0.4 = 0.571 bits</a:t>
            </a:r>
            <a:endParaRPr lang="en-US" altLang="zh-TW" sz="2800" dirty="0">
              <a:ea typeface="PMingLiU" pitchFamily="18" charset="-12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5"/>
          <p:cNvSpPr>
            <a:spLocks noGrp="1"/>
          </p:cNvSpPr>
          <p:nvPr>
            <p:ph idx="1"/>
          </p:nvPr>
        </p:nvSpPr>
        <p:spPr>
          <a:xfrm>
            <a:off x="457200" y="1752600"/>
            <a:ext cx="8686800" cy="4648200"/>
          </a:xfrm>
          <a:ln/>
        </p:spPr>
        <p:txBody>
          <a:bodyPr vert="horz" wrap="square" lIns="91440" tIns="45720" rIns="91440" bIns="45720" anchor="t" anchorCtr="0"/>
          <a:p>
            <a:r>
              <a:rPr lang="en-US" altLang="zh-TW" sz="2800" dirty="0">
                <a:ea typeface="PMingLiU" pitchFamily="18" charset="-120"/>
              </a:rPr>
              <a:t>Gain (temperature) = 0.571 bits</a:t>
            </a:r>
            <a:endParaRPr lang="en-US" altLang="zh-TW" sz="2800" dirty="0">
              <a:ea typeface="PMingLiU" pitchFamily="18" charset="-120"/>
            </a:endParaRPr>
          </a:p>
          <a:p>
            <a:r>
              <a:rPr lang="en-US" altLang="zh-TW" sz="2800" dirty="0">
                <a:ea typeface="PMingLiU" pitchFamily="18" charset="-120"/>
              </a:rPr>
              <a:t>Gain (humidity) = 0.971 bits</a:t>
            </a:r>
            <a:endParaRPr lang="en-US" altLang="zh-TW" sz="2800" dirty="0">
              <a:ea typeface="PMingLiU" pitchFamily="18" charset="-120"/>
            </a:endParaRPr>
          </a:p>
          <a:p>
            <a:r>
              <a:rPr lang="en-US" altLang="zh-TW" sz="2800" dirty="0">
                <a:ea typeface="PMingLiU" pitchFamily="18" charset="-120"/>
              </a:rPr>
              <a:t>Gain (windy) = 0.020 bits</a:t>
            </a:r>
            <a:endParaRPr lang="en-US" altLang="zh-TW" sz="2800" dirty="0">
              <a:ea typeface="PMingLiU" pitchFamily="18" charset="-120"/>
            </a:endParaRPr>
          </a:p>
          <a:p>
            <a:endParaRPr lang="en-US" altLang="zh-TW" sz="2800" dirty="0">
              <a:ea typeface="PMingLiU" pitchFamily="18" charset="-120"/>
            </a:endParaRPr>
          </a:p>
        </p:txBody>
      </p:sp>
      <p:sp>
        <p:nvSpPr>
          <p:cNvPr id="119834" name="Line 26"/>
          <p:cNvSpPr/>
          <p:nvPr/>
        </p:nvSpPr>
        <p:spPr>
          <a:xfrm>
            <a:off x="838200" y="2743200"/>
            <a:ext cx="4724400" cy="0"/>
          </a:xfrm>
          <a:prstGeom prst="line">
            <a:avLst/>
          </a:prstGeom>
          <a:ln w="57150" cap="flat" cmpd="sng">
            <a:solidFill>
              <a:schemeClr val="tx2"/>
            </a:solidFill>
            <a:prstDash val="solid"/>
            <a:headEnd type="none" w="med" len="med"/>
            <a:tailEnd type="none" w="med" len="med"/>
          </a:ln>
        </p:spPr>
      </p:sp>
      <p:pic>
        <p:nvPicPr>
          <p:cNvPr id="119859" name="Picture 51" descr="_x000B_weather.GIF                                                    00018F84_x000C_Macintosh HD                   B279C9FF:"/>
          <p:cNvPicPr>
            <a:picLocks noChangeAspect="1"/>
          </p:cNvPicPr>
          <p:nvPr/>
        </p:nvPicPr>
        <p:blipFill>
          <a:blip r:embed="rId1"/>
          <a:stretch>
            <a:fillRect/>
          </a:stretch>
        </p:blipFill>
        <p:spPr>
          <a:xfrm>
            <a:off x="2133600" y="3429000"/>
            <a:ext cx="5105400" cy="3281363"/>
          </a:xfrm>
          <a:prstGeom prst="rect">
            <a:avLst/>
          </a:prstGeom>
          <a:noFill/>
          <a:ln w="9525">
            <a:noFill/>
          </a:ln>
        </p:spPr>
      </p:pic>
      <p:sp>
        <p:nvSpPr>
          <p:cNvPr id="53253"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Divide and Conquer:</a:t>
            </a:r>
            <a:br>
              <a:rPr lang="en-US" altLang="zh-TW" sz="3200" b="1" dirty="0">
                <a:latin typeface="Times New Roman" panose="02020603050405020304" pitchFamily="18" charset="0"/>
                <a:ea typeface="PMingLiU" pitchFamily="18" charset="-120"/>
              </a:rPr>
            </a:br>
            <a:r>
              <a:rPr lang="en-US" altLang="zh-TW" sz="3200" b="1" dirty="0">
                <a:latin typeface="Times New Roman" panose="02020603050405020304" pitchFamily="18" charset="0"/>
                <a:ea typeface="PMingLiU" pitchFamily="18" charset="-120"/>
              </a:rPr>
              <a:t>Constructing Decision Trees</a:t>
            </a:r>
            <a:endParaRPr lang="en-US" altLang="zh-TW" sz="3200" b="1" dirty="0">
              <a:latin typeface="Times New Roman" panose="02020603050405020304" pitchFamily="18" charset="0"/>
              <a:ea typeface="PMingLiU"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9834"/>
                                        </p:tgtEl>
                                        <p:attrNameLst>
                                          <p:attrName>style.visibility</p:attrName>
                                        </p:attrNameLst>
                                      </p:cBhvr>
                                      <p:to>
                                        <p:strVal val="visible"/>
                                      </p:to>
                                    </p:set>
                                    <p:animEffect transition="in" filter="dissolve">
                                      <p:cBhvr>
                                        <p:cTn id="7" dur="500"/>
                                        <p:tgtEl>
                                          <p:spTgt spid="11983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19859"/>
                                        </p:tgtEl>
                                        <p:attrNameLst>
                                          <p:attrName>style.visibility</p:attrName>
                                        </p:attrNameLst>
                                      </p:cBhvr>
                                      <p:to>
                                        <p:strVal val="visible"/>
                                      </p:to>
                                    </p:set>
                                    <p:animEffect transition="in" filter="dissolve">
                                      <p:cBhvr>
                                        <p:cTn id="11" dur="500"/>
                                        <p:tgtEl>
                                          <p:spTgt spid="119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3"/>
          <p:cNvSpPr>
            <a:spLocks noGrp="1"/>
          </p:cNvSpPr>
          <p:nvPr>
            <p:ph idx="1"/>
          </p:nvPr>
        </p:nvSpPr>
        <p:spPr>
          <a:xfrm>
            <a:off x="685800" y="1676400"/>
            <a:ext cx="8193088" cy="4840288"/>
          </a:xfrm>
          <a:ln/>
        </p:spPr>
        <p:txBody>
          <a:bodyPr vert="horz" wrap="square" lIns="91440" tIns="45720" rIns="91440" bIns="45720" anchor="t" anchorCtr="0"/>
          <a:p>
            <a:pPr>
              <a:lnSpc>
                <a:spcPct val="130000"/>
              </a:lnSpc>
            </a:pPr>
            <a:r>
              <a:rPr lang="en-US" altLang="zh-TW" sz="2000" dirty="0">
                <a:latin typeface="Times New Roman" panose="02020603050405020304" pitchFamily="18" charset="0"/>
                <a:ea typeface="PMingLiU" pitchFamily="18" charset="-120"/>
              </a:rPr>
              <a:t>Algorithm for top-down induction of decision trees (“ID3”) was developed by Ross Quinlan</a:t>
            </a:r>
            <a:endParaRPr lang="en-US" altLang="zh-TW" sz="2000" dirty="0">
              <a:latin typeface="Times New Roman" panose="02020603050405020304" pitchFamily="18" charset="0"/>
              <a:ea typeface="PMingLiU" pitchFamily="18" charset="-120"/>
            </a:endParaRPr>
          </a:p>
          <a:p>
            <a:pPr lvl="1">
              <a:lnSpc>
                <a:spcPct val="130000"/>
              </a:lnSpc>
            </a:pPr>
            <a:r>
              <a:rPr lang="en-US" altLang="zh-TW" sz="2000" dirty="0">
                <a:latin typeface="Times New Roman" panose="02020603050405020304" pitchFamily="18" charset="0"/>
                <a:ea typeface="PMingLiU" pitchFamily="18" charset="-120"/>
              </a:rPr>
              <a:t>Gain ratio just one modification of this basic algorithm</a:t>
            </a:r>
            <a:endParaRPr lang="en-US" altLang="zh-TW" sz="2000" dirty="0">
              <a:latin typeface="Times New Roman" panose="02020603050405020304" pitchFamily="18" charset="0"/>
              <a:ea typeface="PMingLiU" pitchFamily="18" charset="-120"/>
            </a:endParaRPr>
          </a:p>
          <a:p>
            <a:pPr lvl="1">
              <a:lnSpc>
                <a:spcPct val="130000"/>
              </a:lnSpc>
            </a:pPr>
            <a:r>
              <a:rPr lang="en-US" altLang="zh-TW" sz="2000" dirty="0">
                <a:latin typeface="Times New Roman" panose="02020603050405020304" pitchFamily="18" charset="0"/>
                <a:ea typeface="PMingLiU" pitchFamily="18" charset="-120"/>
              </a:rPr>
              <a:t>Led to development of C4.5, which can deal with numeric attributes, missing values, and noisy data</a:t>
            </a:r>
            <a:endParaRPr lang="en-US" altLang="zh-TW" sz="2000" dirty="0">
              <a:latin typeface="Times New Roman" panose="02020603050405020304" pitchFamily="18" charset="0"/>
              <a:ea typeface="PMingLiU" pitchFamily="18" charset="-120"/>
            </a:endParaRPr>
          </a:p>
          <a:p>
            <a:pPr>
              <a:lnSpc>
                <a:spcPct val="130000"/>
              </a:lnSpc>
            </a:pPr>
            <a:r>
              <a:rPr lang="en-US" altLang="zh-TW" sz="2000" dirty="0">
                <a:latin typeface="Times New Roman" panose="02020603050405020304" pitchFamily="18" charset="0"/>
                <a:ea typeface="PMingLiU" pitchFamily="18" charset="-120"/>
              </a:rPr>
              <a:t>Similar approach: CART</a:t>
            </a:r>
            <a:endParaRPr lang="en-US" altLang="zh-TW" sz="2000" dirty="0">
              <a:latin typeface="Times New Roman" panose="02020603050405020304" pitchFamily="18" charset="0"/>
              <a:ea typeface="PMingLiU" pitchFamily="18" charset="-120"/>
            </a:endParaRPr>
          </a:p>
          <a:p>
            <a:pPr>
              <a:lnSpc>
                <a:spcPct val="130000"/>
              </a:lnSpc>
            </a:pPr>
            <a:r>
              <a:rPr lang="en-US" altLang="zh-TW" sz="2000" dirty="0">
                <a:latin typeface="Times New Roman" panose="02020603050405020304" pitchFamily="18" charset="0"/>
                <a:ea typeface="PMingLiU" pitchFamily="18" charset="-120"/>
              </a:rPr>
              <a:t>There are many other attribute selection criteria! (But almost no difference in accuracy of result.)</a:t>
            </a:r>
            <a:endParaRPr lang="zh-TW" altLang="en-US" sz="2000" dirty="0">
              <a:latin typeface="Times New Roman" panose="02020603050405020304" pitchFamily="18" charset="0"/>
              <a:ea typeface="PMingLiU" pitchFamily="18" charset="-120"/>
            </a:endParaRPr>
          </a:p>
        </p:txBody>
      </p:sp>
      <p:sp>
        <p:nvSpPr>
          <p:cNvPr id="54275"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Divide and Conquer:</a:t>
            </a:r>
            <a:br>
              <a:rPr lang="en-US" altLang="zh-TW" sz="3200" b="1" dirty="0">
                <a:latin typeface="Times New Roman" panose="02020603050405020304" pitchFamily="18" charset="0"/>
                <a:ea typeface="PMingLiU" pitchFamily="18" charset="-120"/>
              </a:rPr>
            </a:br>
            <a:r>
              <a:rPr lang="en-US" altLang="zh-TW" sz="3200" b="1" dirty="0">
                <a:latin typeface="Times New Roman" panose="02020603050405020304" pitchFamily="18" charset="0"/>
                <a:ea typeface="PMingLiU" pitchFamily="18" charset="-120"/>
              </a:rPr>
              <a:t>Constructing Decision Trees</a:t>
            </a:r>
            <a:endParaRPr lang="en-US" altLang="zh-TW" sz="3200" b="1" dirty="0">
              <a:latin typeface="Times New Roman" panose="02020603050405020304" pitchFamily="18" charset="0"/>
              <a:ea typeface="PMingLiU" pitchFamily="18" charset="-12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Constructing Rules</a:t>
            </a:r>
            <a:endParaRPr lang="en-US" altLang="zh-TW" sz="3200" b="1" dirty="0">
              <a:latin typeface="Times New Roman" panose="02020603050405020304" pitchFamily="18" charset="0"/>
              <a:ea typeface="PMingLiU" pitchFamily="18" charset="-120"/>
            </a:endParaRPr>
          </a:p>
        </p:txBody>
      </p:sp>
      <p:pic>
        <p:nvPicPr>
          <p:cNvPr id="55299" name="Picture 121" descr="_x0011_covering_one.pict                                              00018F84_x000C_Macintosh HD                   B279C9FF:"/>
          <p:cNvPicPr>
            <a:picLocks noChangeAspect="1"/>
          </p:cNvPicPr>
          <p:nvPr/>
        </p:nvPicPr>
        <p:blipFill>
          <a:blip r:embed="rId1"/>
          <a:stretch>
            <a:fillRect/>
          </a:stretch>
        </p:blipFill>
        <p:spPr>
          <a:xfrm>
            <a:off x="457200" y="2057400"/>
            <a:ext cx="3124200" cy="2538413"/>
          </a:xfrm>
          <a:prstGeom prst="rect">
            <a:avLst/>
          </a:prstGeom>
          <a:noFill/>
          <a:ln w="9525">
            <a:noFill/>
          </a:ln>
        </p:spPr>
      </p:pic>
      <p:grpSp>
        <p:nvGrpSpPr>
          <p:cNvPr id="55300" name="Group 158"/>
          <p:cNvGrpSpPr/>
          <p:nvPr/>
        </p:nvGrpSpPr>
        <p:grpSpPr>
          <a:xfrm>
            <a:off x="2914650" y="6453188"/>
            <a:ext cx="2813050" cy="125412"/>
            <a:chOff x="1836" y="4065"/>
            <a:chExt cx="1772" cy="79"/>
          </a:xfrm>
        </p:grpSpPr>
        <p:sp>
          <p:nvSpPr>
            <p:cNvPr id="55365" name="Freeform 156"/>
            <p:cNvSpPr/>
            <p:nvPr/>
          </p:nvSpPr>
          <p:spPr>
            <a:xfrm>
              <a:off x="3449" y="4065"/>
              <a:ext cx="159" cy="79"/>
            </a:xfrm>
            <a:custGeom>
              <a:avLst/>
              <a:gdLst>
                <a:gd name="txL" fmla="*/ 0 w 159"/>
                <a:gd name="txT" fmla="*/ 0 h 79"/>
                <a:gd name="txR" fmla="*/ 159 w 159"/>
                <a:gd name="txB" fmla="*/ 79 h 79"/>
              </a:gdLst>
              <a:ahLst/>
              <a:cxnLst>
                <a:cxn ang="0">
                  <a:pos x="159" y="45"/>
                </a:cxn>
                <a:cxn ang="0">
                  <a:pos x="0" y="79"/>
                </a:cxn>
                <a:cxn ang="0">
                  <a:pos x="0" y="45"/>
                </a:cxn>
                <a:cxn ang="0">
                  <a:pos x="0" y="0"/>
                </a:cxn>
                <a:cxn ang="0">
                  <a:pos x="159" y="45"/>
                </a:cxn>
              </a:cxnLst>
              <a:rect l="txL" t="txT" r="txR" b="txB"/>
              <a:pathLst>
                <a:path w="159" h="79">
                  <a:moveTo>
                    <a:pt x="159" y="45"/>
                  </a:moveTo>
                  <a:lnTo>
                    <a:pt x="0" y="79"/>
                  </a:lnTo>
                  <a:lnTo>
                    <a:pt x="0" y="45"/>
                  </a:lnTo>
                  <a:lnTo>
                    <a:pt x="0" y="0"/>
                  </a:lnTo>
                  <a:lnTo>
                    <a:pt x="159" y="45"/>
                  </a:lnTo>
                  <a:close/>
                </a:path>
              </a:pathLst>
            </a:custGeom>
            <a:solidFill>
              <a:srgbClr val="000000"/>
            </a:solidFill>
            <a:ln w="9525">
              <a:noFill/>
            </a:ln>
          </p:spPr>
          <p:txBody>
            <a:bodyPr/>
            <a:p>
              <a:endParaRPr lang="en-US" altLang="x-none" dirty="0">
                <a:latin typeface="Arial" panose="020B0604020202020204" pitchFamily="34" charset="0"/>
              </a:endParaRPr>
            </a:p>
          </p:txBody>
        </p:sp>
        <p:sp>
          <p:nvSpPr>
            <p:cNvPr id="55366" name="Line 157"/>
            <p:cNvSpPr/>
            <p:nvPr/>
          </p:nvSpPr>
          <p:spPr>
            <a:xfrm>
              <a:off x="1836" y="4110"/>
              <a:ext cx="1613" cy="1"/>
            </a:xfrm>
            <a:prstGeom prst="line">
              <a:avLst/>
            </a:prstGeom>
            <a:ln w="17463" cap="flat" cmpd="sng">
              <a:solidFill>
                <a:srgbClr val="000000"/>
              </a:solidFill>
              <a:prstDash val="solid"/>
              <a:headEnd type="none" w="med" len="med"/>
              <a:tailEnd type="none" w="med" len="med"/>
            </a:ln>
          </p:spPr>
        </p:sp>
      </p:grpSp>
      <p:grpSp>
        <p:nvGrpSpPr>
          <p:cNvPr id="55301" name="Group 161"/>
          <p:cNvGrpSpPr/>
          <p:nvPr/>
        </p:nvGrpSpPr>
        <p:grpSpPr>
          <a:xfrm>
            <a:off x="2843213" y="4343400"/>
            <a:ext cx="125412" cy="2181225"/>
            <a:chOff x="1791" y="2736"/>
            <a:chExt cx="79" cy="1374"/>
          </a:xfrm>
        </p:grpSpPr>
        <p:sp>
          <p:nvSpPr>
            <p:cNvPr id="55363" name="Freeform 159"/>
            <p:cNvSpPr/>
            <p:nvPr/>
          </p:nvSpPr>
          <p:spPr>
            <a:xfrm>
              <a:off x="1791" y="2736"/>
              <a:ext cx="79" cy="159"/>
            </a:xfrm>
            <a:custGeom>
              <a:avLst/>
              <a:gdLst>
                <a:gd name="txL" fmla="*/ 0 w 79"/>
                <a:gd name="txT" fmla="*/ 0 h 159"/>
                <a:gd name="txR" fmla="*/ 79 w 79"/>
                <a:gd name="txB" fmla="*/ 159 h 159"/>
              </a:gdLst>
              <a:ahLst/>
              <a:cxnLst>
                <a:cxn ang="0">
                  <a:pos x="45" y="0"/>
                </a:cxn>
                <a:cxn ang="0">
                  <a:pos x="79" y="159"/>
                </a:cxn>
                <a:cxn ang="0">
                  <a:pos x="45" y="159"/>
                </a:cxn>
                <a:cxn ang="0">
                  <a:pos x="0" y="159"/>
                </a:cxn>
                <a:cxn ang="0">
                  <a:pos x="45" y="0"/>
                </a:cxn>
              </a:cxnLst>
              <a:rect l="txL" t="txT" r="txR" b="txB"/>
              <a:pathLst>
                <a:path w="79" h="159">
                  <a:moveTo>
                    <a:pt x="45" y="0"/>
                  </a:moveTo>
                  <a:lnTo>
                    <a:pt x="79" y="159"/>
                  </a:lnTo>
                  <a:lnTo>
                    <a:pt x="45" y="159"/>
                  </a:lnTo>
                  <a:lnTo>
                    <a:pt x="0" y="159"/>
                  </a:lnTo>
                  <a:lnTo>
                    <a:pt x="45" y="0"/>
                  </a:lnTo>
                  <a:close/>
                </a:path>
              </a:pathLst>
            </a:custGeom>
            <a:solidFill>
              <a:srgbClr val="000000"/>
            </a:solidFill>
            <a:ln w="9525">
              <a:noFill/>
            </a:ln>
          </p:spPr>
          <p:txBody>
            <a:bodyPr/>
            <a:p>
              <a:endParaRPr lang="en-US" altLang="x-none" dirty="0">
                <a:latin typeface="Arial" panose="020B0604020202020204" pitchFamily="34" charset="0"/>
              </a:endParaRPr>
            </a:p>
          </p:txBody>
        </p:sp>
        <p:sp>
          <p:nvSpPr>
            <p:cNvPr id="55364" name="Line 160"/>
            <p:cNvSpPr/>
            <p:nvPr/>
          </p:nvSpPr>
          <p:spPr>
            <a:xfrm>
              <a:off x="1836" y="2895"/>
              <a:ext cx="1" cy="1215"/>
            </a:xfrm>
            <a:prstGeom prst="line">
              <a:avLst/>
            </a:prstGeom>
            <a:ln w="17463" cap="flat" cmpd="sng">
              <a:solidFill>
                <a:srgbClr val="000000"/>
              </a:solidFill>
              <a:prstDash val="solid"/>
              <a:headEnd type="none" w="med" len="med"/>
              <a:tailEnd type="none" w="med" len="med"/>
            </a:ln>
          </p:spPr>
        </p:sp>
      </p:grpSp>
      <p:sp>
        <p:nvSpPr>
          <p:cNvPr id="55302" name="Rectangle 162"/>
          <p:cNvSpPr/>
          <p:nvPr/>
        </p:nvSpPr>
        <p:spPr>
          <a:xfrm>
            <a:off x="2681288" y="4811713"/>
            <a:ext cx="198437" cy="30638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y</a:t>
            </a:r>
            <a:endParaRPr lang="en-US" altLang="zh-TW" dirty="0">
              <a:latin typeface="Arial" panose="020B0604020202020204" pitchFamily="34" charset="0"/>
              <a:ea typeface="PMingLiU" pitchFamily="18" charset="-120"/>
            </a:endParaRPr>
          </a:p>
        </p:txBody>
      </p:sp>
      <p:grpSp>
        <p:nvGrpSpPr>
          <p:cNvPr id="55303" name="Group 184"/>
          <p:cNvGrpSpPr/>
          <p:nvPr/>
        </p:nvGrpSpPr>
        <p:grpSpPr>
          <a:xfrm>
            <a:off x="3221038" y="4541838"/>
            <a:ext cx="2487612" cy="1820862"/>
            <a:chOff x="2029" y="2861"/>
            <a:chExt cx="1567" cy="1147"/>
          </a:xfrm>
        </p:grpSpPr>
        <p:sp>
          <p:nvSpPr>
            <p:cNvPr id="55342" name="Rectangle 163"/>
            <p:cNvSpPr/>
            <p:nvPr/>
          </p:nvSpPr>
          <p:spPr>
            <a:xfrm>
              <a:off x="3256" y="3576"/>
              <a:ext cx="114"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5343" name="Rectangle 164"/>
            <p:cNvSpPr/>
            <p:nvPr/>
          </p:nvSpPr>
          <p:spPr>
            <a:xfrm>
              <a:off x="2211" y="3054"/>
              <a:ext cx="125"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44" name="Rectangle 165"/>
            <p:cNvSpPr/>
            <p:nvPr/>
          </p:nvSpPr>
          <p:spPr>
            <a:xfrm>
              <a:off x="2415" y="3031"/>
              <a:ext cx="125"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45" name="Rectangle 166"/>
            <p:cNvSpPr/>
            <p:nvPr/>
          </p:nvSpPr>
          <p:spPr>
            <a:xfrm>
              <a:off x="3415" y="3542"/>
              <a:ext cx="125"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46" name="Rectangle 167"/>
            <p:cNvSpPr/>
            <p:nvPr/>
          </p:nvSpPr>
          <p:spPr>
            <a:xfrm>
              <a:off x="2291" y="3213"/>
              <a:ext cx="125"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47" name="Rectangle 168"/>
            <p:cNvSpPr/>
            <p:nvPr/>
          </p:nvSpPr>
          <p:spPr>
            <a:xfrm>
              <a:off x="3176" y="3781"/>
              <a:ext cx="125"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48" name="Rectangle 169"/>
            <p:cNvSpPr/>
            <p:nvPr/>
          </p:nvSpPr>
          <p:spPr>
            <a:xfrm>
              <a:off x="2643" y="3054"/>
              <a:ext cx="125"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49" name="Rectangle 170"/>
            <p:cNvSpPr/>
            <p:nvPr/>
          </p:nvSpPr>
          <p:spPr>
            <a:xfrm>
              <a:off x="2484" y="3179"/>
              <a:ext cx="125"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50" name="Rectangle 171"/>
            <p:cNvSpPr/>
            <p:nvPr/>
          </p:nvSpPr>
          <p:spPr>
            <a:xfrm>
              <a:off x="2540" y="2906"/>
              <a:ext cx="125"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51" name="Rectangle 172"/>
            <p:cNvSpPr/>
            <p:nvPr/>
          </p:nvSpPr>
          <p:spPr>
            <a:xfrm>
              <a:off x="2336" y="3463"/>
              <a:ext cx="125"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52" name="Rectangle 173"/>
            <p:cNvSpPr/>
            <p:nvPr/>
          </p:nvSpPr>
          <p:spPr>
            <a:xfrm>
              <a:off x="2563" y="3429"/>
              <a:ext cx="125"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53" name="Rectangle 174"/>
            <p:cNvSpPr/>
            <p:nvPr/>
          </p:nvSpPr>
          <p:spPr>
            <a:xfrm>
              <a:off x="2813" y="3497"/>
              <a:ext cx="125"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54" name="Rectangle 175"/>
            <p:cNvSpPr/>
            <p:nvPr/>
          </p:nvSpPr>
          <p:spPr>
            <a:xfrm>
              <a:off x="2609" y="3610"/>
              <a:ext cx="125"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55" name="Rectangle 176"/>
            <p:cNvSpPr/>
            <p:nvPr/>
          </p:nvSpPr>
          <p:spPr>
            <a:xfrm>
              <a:off x="2813" y="3781"/>
              <a:ext cx="125"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56" name="Rectangle 177"/>
            <p:cNvSpPr/>
            <p:nvPr/>
          </p:nvSpPr>
          <p:spPr>
            <a:xfrm>
              <a:off x="2938" y="3656"/>
              <a:ext cx="125"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57" name="Rectangle 178"/>
            <p:cNvSpPr/>
            <p:nvPr/>
          </p:nvSpPr>
          <p:spPr>
            <a:xfrm>
              <a:off x="2858" y="3145"/>
              <a:ext cx="114"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5358" name="Rectangle 179"/>
            <p:cNvSpPr/>
            <p:nvPr/>
          </p:nvSpPr>
          <p:spPr>
            <a:xfrm>
              <a:off x="3006" y="3213"/>
              <a:ext cx="114"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5359" name="Rectangle 180"/>
            <p:cNvSpPr/>
            <p:nvPr/>
          </p:nvSpPr>
          <p:spPr>
            <a:xfrm>
              <a:off x="3063" y="3009"/>
              <a:ext cx="114"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5360" name="Rectangle 181"/>
            <p:cNvSpPr/>
            <p:nvPr/>
          </p:nvSpPr>
          <p:spPr>
            <a:xfrm>
              <a:off x="2813" y="2940"/>
              <a:ext cx="114"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5361" name="Rectangle 182"/>
            <p:cNvSpPr/>
            <p:nvPr/>
          </p:nvSpPr>
          <p:spPr>
            <a:xfrm>
              <a:off x="3210" y="3179"/>
              <a:ext cx="114" cy="193"/>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5362" name="Freeform 183"/>
            <p:cNvSpPr/>
            <p:nvPr/>
          </p:nvSpPr>
          <p:spPr>
            <a:xfrm>
              <a:off x="2029" y="2861"/>
              <a:ext cx="1567" cy="1147"/>
            </a:xfrm>
            <a:custGeom>
              <a:avLst/>
              <a:gdLst>
                <a:gd name="txL" fmla="*/ 0 w 1567"/>
                <a:gd name="txT" fmla="*/ 0 h 1147"/>
                <a:gd name="txR" fmla="*/ 1567 w 1567"/>
                <a:gd name="txB" fmla="*/ 1147 h 1147"/>
              </a:gdLst>
              <a:ahLst/>
              <a:cxnLst>
                <a:cxn ang="0">
                  <a:pos x="228" y="91"/>
                </a:cxn>
                <a:cxn ang="0">
                  <a:pos x="341" y="57"/>
                </a:cxn>
                <a:cxn ang="0">
                  <a:pos x="455" y="23"/>
                </a:cxn>
                <a:cxn ang="0">
                  <a:pos x="534" y="11"/>
                </a:cxn>
                <a:cxn ang="0">
                  <a:pos x="591" y="0"/>
                </a:cxn>
                <a:cxn ang="0">
                  <a:pos x="693" y="11"/>
                </a:cxn>
                <a:cxn ang="0">
                  <a:pos x="852" y="34"/>
                </a:cxn>
                <a:cxn ang="0">
                  <a:pos x="943" y="57"/>
                </a:cxn>
                <a:cxn ang="0">
                  <a:pos x="1125" y="125"/>
                </a:cxn>
                <a:cxn ang="0">
                  <a:pos x="1249" y="204"/>
                </a:cxn>
                <a:cxn ang="0">
                  <a:pos x="1363" y="295"/>
                </a:cxn>
                <a:cxn ang="0">
                  <a:pos x="1465" y="420"/>
                </a:cxn>
                <a:cxn ang="0">
                  <a:pos x="1511" y="500"/>
                </a:cxn>
                <a:cxn ang="0">
                  <a:pos x="1556" y="613"/>
                </a:cxn>
                <a:cxn ang="0">
                  <a:pos x="1567" y="704"/>
                </a:cxn>
                <a:cxn ang="0">
                  <a:pos x="1556" y="784"/>
                </a:cxn>
                <a:cxn ang="0">
                  <a:pos x="1511" y="886"/>
                </a:cxn>
                <a:cxn ang="0">
                  <a:pos x="1488" y="931"/>
                </a:cxn>
                <a:cxn ang="0">
                  <a:pos x="1408" y="1011"/>
                </a:cxn>
                <a:cxn ang="0">
                  <a:pos x="1352" y="1045"/>
                </a:cxn>
                <a:cxn ang="0">
                  <a:pos x="1306" y="1068"/>
                </a:cxn>
                <a:cxn ang="0">
                  <a:pos x="1249" y="1090"/>
                </a:cxn>
                <a:cxn ang="0">
                  <a:pos x="1181" y="1102"/>
                </a:cxn>
                <a:cxn ang="0">
                  <a:pos x="1079" y="1124"/>
                </a:cxn>
                <a:cxn ang="0">
                  <a:pos x="1000" y="1136"/>
                </a:cxn>
                <a:cxn ang="0">
                  <a:pos x="818" y="1147"/>
                </a:cxn>
                <a:cxn ang="0">
                  <a:pos x="704" y="1124"/>
                </a:cxn>
                <a:cxn ang="0">
                  <a:pos x="614" y="1102"/>
                </a:cxn>
                <a:cxn ang="0">
                  <a:pos x="511" y="1045"/>
                </a:cxn>
                <a:cxn ang="0">
                  <a:pos x="466" y="1011"/>
                </a:cxn>
                <a:cxn ang="0">
                  <a:pos x="398" y="943"/>
                </a:cxn>
                <a:cxn ang="0">
                  <a:pos x="364" y="897"/>
                </a:cxn>
                <a:cxn ang="0">
                  <a:pos x="330" y="863"/>
                </a:cxn>
                <a:cxn ang="0">
                  <a:pos x="273" y="784"/>
                </a:cxn>
                <a:cxn ang="0">
                  <a:pos x="228" y="715"/>
                </a:cxn>
                <a:cxn ang="0">
                  <a:pos x="103" y="602"/>
                </a:cxn>
                <a:cxn ang="0">
                  <a:pos x="46" y="545"/>
                </a:cxn>
                <a:cxn ang="0">
                  <a:pos x="0" y="420"/>
                </a:cxn>
                <a:cxn ang="0">
                  <a:pos x="0" y="375"/>
                </a:cxn>
                <a:cxn ang="0">
                  <a:pos x="12" y="295"/>
                </a:cxn>
                <a:cxn ang="0">
                  <a:pos x="57" y="216"/>
                </a:cxn>
                <a:cxn ang="0">
                  <a:pos x="114" y="159"/>
                </a:cxn>
                <a:cxn ang="0">
                  <a:pos x="193" y="102"/>
                </a:cxn>
              </a:cxnLst>
              <a:rect l="txL" t="txT" r="txR" b="txB"/>
              <a:pathLst>
                <a:path w="1567" h="1147">
                  <a:moveTo>
                    <a:pt x="193" y="102"/>
                  </a:moveTo>
                  <a:lnTo>
                    <a:pt x="228" y="91"/>
                  </a:lnTo>
                  <a:lnTo>
                    <a:pt x="296" y="68"/>
                  </a:lnTo>
                  <a:lnTo>
                    <a:pt x="341" y="57"/>
                  </a:lnTo>
                  <a:lnTo>
                    <a:pt x="409" y="34"/>
                  </a:lnTo>
                  <a:lnTo>
                    <a:pt x="455" y="23"/>
                  </a:lnTo>
                  <a:lnTo>
                    <a:pt x="500" y="11"/>
                  </a:lnTo>
                  <a:lnTo>
                    <a:pt x="534" y="11"/>
                  </a:lnTo>
                  <a:lnTo>
                    <a:pt x="580" y="0"/>
                  </a:lnTo>
                  <a:lnTo>
                    <a:pt x="591" y="0"/>
                  </a:lnTo>
                  <a:lnTo>
                    <a:pt x="625" y="0"/>
                  </a:lnTo>
                  <a:lnTo>
                    <a:pt x="693" y="11"/>
                  </a:lnTo>
                  <a:lnTo>
                    <a:pt x="773" y="23"/>
                  </a:lnTo>
                  <a:lnTo>
                    <a:pt x="852" y="34"/>
                  </a:lnTo>
                  <a:lnTo>
                    <a:pt x="897" y="45"/>
                  </a:lnTo>
                  <a:lnTo>
                    <a:pt x="943" y="57"/>
                  </a:lnTo>
                  <a:lnTo>
                    <a:pt x="1045" y="91"/>
                  </a:lnTo>
                  <a:lnTo>
                    <a:pt x="1125" y="125"/>
                  </a:lnTo>
                  <a:lnTo>
                    <a:pt x="1215" y="182"/>
                  </a:lnTo>
                  <a:lnTo>
                    <a:pt x="1249" y="204"/>
                  </a:lnTo>
                  <a:lnTo>
                    <a:pt x="1295" y="238"/>
                  </a:lnTo>
                  <a:lnTo>
                    <a:pt x="1363" y="295"/>
                  </a:lnTo>
                  <a:lnTo>
                    <a:pt x="1420" y="363"/>
                  </a:lnTo>
                  <a:lnTo>
                    <a:pt x="1465" y="420"/>
                  </a:lnTo>
                  <a:lnTo>
                    <a:pt x="1488" y="454"/>
                  </a:lnTo>
                  <a:lnTo>
                    <a:pt x="1511" y="500"/>
                  </a:lnTo>
                  <a:lnTo>
                    <a:pt x="1533" y="556"/>
                  </a:lnTo>
                  <a:lnTo>
                    <a:pt x="1556" y="613"/>
                  </a:lnTo>
                  <a:lnTo>
                    <a:pt x="1567" y="681"/>
                  </a:lnTo>
                  <a:lnTo>
                    <a:pt x="1567" y="704"/>
                  </a:lnTo>
                  <a:lnTo>
                    <a:pt x="1567" y="727"/>
                  </a:lnTo>
                  <a:lnTo>
                    <a:pt x="1556" y="784"/>
                  </a:lnTo>
                  <a:lnTo>
                    <a:pt x="1533" y="840"/>
                  </a:lnTo>
                  <a:lnTo>
                    <a:pt x="1511" y="886"/>
                  </a:lnTo>
                  <a:lnTo>
                    <a:pt x="1499" y="909"/>
                  </a:lnTo>
                  <a:lnTo>
                    <a:pt x="1488" y="931"/>
                  </a:lnTo>
                  <a:lnTo>
                    <a:pt x="1454" y="965"/>
                  </a:lnTo>
                  <a:lnTo>
                    <a:pt x="1408" y="1011"/>
                  </a:lnTo>
                  <a:lnTo>
                    <a:pt x="1374" y="1033"/>
                  </a:lnTo>
                  <a:lnTo>
                    <a:pt x="1352" y="1045"/>
                  </a:lnTo>
                  <a:lnTo>
                    <a:pt x="1340" y="1056"/>
                  </a:lnTo>
                  <a:lnTo>
                    <a:pt x="1306" y="1068"/>
                  </a:lnTo>
                  <a:lnTo>
                    <a:pt x="1284" y="1079"/>
                  </a:lnTo>
                  <a:lnTo>
                    <a:pt x="1249" y="1090"/>
                  </a:lnTo>
                  <a:lnTo>
                    <a:pt x="1204" y="1102"/>
                  </a:lnTo>
                  <a:lnTo>
                    <a:pt x="1181" y="1102"/>
                  </a:lnTo>
                  <a:lnTo>
                    <a:pt x="1136" y="1113"/>
                  </a:lnTo>
                  <a:lnTo>
                    <a:pt x="1079" y="1124"/>
                  </a:lnTo>
                  <a:lnTo>
                    <a:pt x="1056" y="1124"/>
                  </a:lnTo>
                  <a:lnTo>
                    <a:pt x="1000" y="1136"/>
                  </a:lnTo>
                  <a:lnTo>
                    <a:pt x="897" y="1147"/>
                  </a:lnTo>
                  <a:lnTo>
                    <a:pt x="818" y="1147"/>
                  </a:lnTo>
                  <a:lnTo>
                    <a:pt x="738" y="1136"/>
                  </a:lnTo>
                  <a:lnTo>
                    <a:pt x="704" y="1124"/>
                  </a:lnTo>
                  <a:lnTo>
                    <a:pt x="670" y="1124"/>
                  </a:lnTo>
                  <a:lnTo>
                    <a:pt x="614" y="1102"/>
                  </a:lnTo>
                  <a:lnTo>
                    <a:pt x="557" y="1079"/>
                  </a:lnTo>
                  <a:lnTo>
                    <a:pt x="511" y="1045"/>
                  </a:lnTo>
                  <a:lnTo>
                    <a:pt x="489" y="1022"/>
                  </a:lnTo>
                  <a:lnTo>
                    <a:pt x="466" y="1011"/>
                  </a:lnTo>
                  <a:lnTo>
                    <a:pt x="432" y="977"/>
                  </a:lnTo>
                  <a:lnTo>
                    <a:pt x="398" y="943"/>
                  </a:lnTo>
                  <a:lnTo>
                    <a:pt x="375" y="920"/>
                  </a:lnTo>
                  <a:lnTo>
                    <a:pt x="364" y="897"/>
                  </a:lnTo>
                  <a:lnTo>
                    <a:pt x="352" y="886"/>
                  </a:lnTo>
                  <a:lnTo>
                    <a:pt x="330" y="863"/>
                  </a:lnTo>
                  <a:lnTo>
                    <a:pt x="307" y="829"/>
                  </a:lnTo>
                  <a:lnTo>
                    <a:pt x="273" y="784"/>
                  </a:lnTo>
                  <a:lnTo>
                    <a:pt x="262" y="761"/>
                  </a:lnTo>
                  <a:lnTo>
                    <a:pt x="228" y="715"/>
                  </a:lnTo>
                  <a:lnTo>
                    <a:pt x="148" y="636"/>
                  </a:lnTo>
                  <a:lnTo>
                    <a:pt x="103" y="602"/>
                  </a:lnTo>
                  <a:lnTo>
                    <a:pt x="80" y="591"/>
                  </a:lnTo>
                  <a:lnTo>
                    <a:pt x="46" y="545"/>
                  </a:lnTo>
                  <a:lnTo>
                    <a:pt x="23" y="488"/>
                  </a:lnTo>
                  <a:lnTo>
                    <a:pt x="0" y="420"/>
                  </a:lnTo>
                  <a:lnTo>
                    <a:pt x="0" y="386"/>
                  </a:lnTo>
                  <a:lnTo>
                    <a:pt x="0" y="375"/>
                  </a:lnTo>
                  <a:lnTo>
                    <a:pt x="0" y="341"/>
                  </a:lnTo>
                  <a:lnTo>
                    <a:pt x="12" y="295"/>
                  </a:lnTo>
                  <a:lnTo>
                    <a:pt x="34" y="250"/>
                  </a:lnTo>
                  <a:lnTo>
                    <a:pt x="57" y="216"/>
                  </a:lnTo>
                  <a:lnTo>
                    <a:pt x="91" y="182"/>
                  </a:lnTo>
                  <a:lnTo>
                    <a:pt x="114" y="159"/>
                  </a:lnTo>
                  <a:lnTo>
                    <a:pt x="159" y="125"/>
                  </a:lnTo>
                  <a:lnTo>
                    <a:pt x="193" y="102"/>
                  </a:lnTo>
                  <a:close/>
                </a:path>
              </a:pathLst>
            </a:custGeom>
            <a:noFill/>
            <a:ln w="17463" cap="flat" cmpd="sng">
              <a:solidFill>
                <a:srgbClr val="000000"/>
              </a:solidFill>
              <a:prstDash val="solid"/>
              <a:round/>
              <a:headEnd type="none" w="med" len="med"/>
              <a:tailEnd type="none" w="med" len="med"/>
            </a:ln>
          </p:spPr>
          <p:txBody>
            <a:bodyPr/>
            <a:p>
              <a:endParaRPr lang="en-US" altLang="x-none" dirty="0">
                <a:latin typeface="Arial" panose="020B0604020202020204" pitchFamily="34" charset="0"/>
              </a:endParaRPr>
            </a:p>
          </p:txBody>
        </p:sp>
      </p:grpSp>
      <p:sp>
        <p:nvSpPr>
          <p:cNvPr id="55304" name="Rectangle 185"/>
          <p:cNvSpPr/>
          <p:nvPr/>
        </p:nvSpPr>
        <p:spPr>
          <a:xfrm>
            <a:off x="5818188" y="6362700"/>
            <a:ext cx="198437" cy="30638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x</a:t>
            </a:r>
            <a:endParaRPr lang="en-US" altLang="zh-TW" dirty="0">
              <a:latin typeface="Arial" panose="020B0604020202020204" pitchFamily="34" charset="0"/>
              <a:ea typeface="PMingLiU" pitchFamily="18" charset="-120"/>
            </a:endParaRPr>
          </a:p>
        </p:txBody>
      </p:sp>
      <p:sp>
        <p:nvSpPr>
          <p:cNvPr id="55305" name="Rectangle 186"/>
          <p:cNvSpPr/>
          <p:nvPr/>
        </p:nvSpPr>
        <p:spPr>
          <a:xfrm>
            <a:off x="4291013" y="6580188"/>
            <a:ext cx="222250" cy="212725"/>
          </a:xfrm>
          <a:prstGeom prst="rect">
            <a:avLst/>
          </a:prstGeom>
          <a:noFill/>
          <a:ln w="9525">
            <a:noFill/>
          </a:ln>
        </p:spPr>
        <p:txBody>
          <a:bodyPr wrap="none" lIns="0" tIns="0" rIns="0" bIns="0">
            <a:spAutoFit/>
          </a:bodyPr>
          <a:p>
            <a:r>
              <a:rPr lang="zh-TW" altLang="en-US" sz="1400" dirty="0">
                <a:solidFill>
                  <a:srgbClr val="000000"/>
                </a:solidFill>
                <a:latin typeface="Times" pitchFamily="18" charset="0"/>
                <a:ea typeface="PMingLiU" pitchFamily="18" charset="-120"/>
              </a:rPr>
              <a:t>1.2</a:t>
            </a:r>
            <a:endParaRPr lang="zh-TW" altLang="en-US" dirty="0">
              <a:latin typeface="Arial" panose="020B0604020202020204" pitchFamily="34" charset="0"/>
              <a:ea typeface="PMingLiU" pitchFamily="18" charset="-120"/>
            </a:endParaRPr>
          </a:p>
        </p:txBody>
      </p:sp>
      <p:sp>
        <p:nvSpPr>
          <p:cNvPr id="55306" name="Line 187"/>
          <p:cNvSpPr/>
          <p:nvPr/>
        </p:nvSpPr>
        <p:spPr>
          <a:xfrm>
            <a:off x="4375150" y="4360863"/>
            <a:ext cx="1588" cy="2163762"/>
          </a:xfrm>
          <a:prstGeom prst="line">
            <a:avLst/>
          </a:prstGeom>
          <a:ln w="17463" cap="flat" cmpd="sng">
            <a:solidFill>
              <a:srgbClr val="000000"/>
            </a:solidFill>
            <a:prstDash val="solid"/>
            <a:headEnd type="none" w="med" len="med"/>
            <a:tailEnd type="none" w="med" len="med"/>
          </a:ln>
        </p:spPr>
      </p:sp>
      <p:sp>
        <p:nvSpPr>
          <p:cNvPr id="55307" name="Rectangle 188"/>
          <p:cNvSpPr/>
          <p:nvPr/>
        </p:nvSpPr>
        <p:spPr>
          <a:xfrm>
            <a:off x="2632075" y="5372100"/>
            <a:ext cx="222250" cy="212725"/>
          </a:xfrm>
          <a:prstGeom prst="rect">
            <a:avLst/>
          </a:prstGeom>
          <a:noFill/>
          <a:ln w="9525">
            <a:noFill/>
          </a:ln>
        </p:spPr>
        <p:txBody>
          <a:bodyPr wrap="none" lIns="0" tIns="0" rIns="0" bIns="0">
            <a:spAutoFit/>
          </a:bodyPr>
          <a:p>
            <a:r>
              <a:rPr lang="zh-TW" altLang="en-US" sz="1400" dirty="0">
                <a:solidFill>
                  <a:srgbClr val="000000"/>
                </a:solidFill>
                <a:latin typeface="Times" pitchFamily="18" charset="0"/>
                <a:ea typeface="PMingLiU" pitchFamily="18" charset="-120"/>
              </a:rPr>
              <a:t>2.6</a:t>
            </a:r>
            <a:endParaRPr lang="zh-TW" altLang="en-US" dirty="0">
              <a:latin typeface="Arial" panose="020B0604020202020204" pitchFamily="34" charset="0"/>
              <a:ea typeface="PMingLiU" pitchFamily="18" charset="-120"/>
            </a:endParaRPr>
          </a:p>
        </p:txBody>
      </p:sp>
      <p:sp>
        <p:nvSpPr>
          <p:cNvPr id="55308" name="Line 189"/>
          <p:cNvSpPr/>
          <p:nvPr/>
        </p:nvSpPr>
        <p:spPr>
          <a:xfrm>
            <a:off x="4392613" y="5461000"/>
            <a:ext cx="1298575" cy="1588"/>
          </a:xfrm>
          <a:prstGeom prst="line">
            <a:avLst/>
          </a:prstGeom>
          <a:ln w="17463" cap="flat" cmpd="sng">
            <a:solidFill>
              <a:srgbClr val="000000"/>
            </a:solidFill>
            <a:prstDash val="solid"/>
            <a:headEnd type="none" w="med" len="med"/>
            <a:tailEnd type="none" w="med" len="med"/>
          </a:ln>
        </p:spPr>
      </p:sp>
      <p:sp>
        <p:nvSpPr>
          <p:cNvPr id="55309" name="Line 190"/>
          <p:cNvSpPr/>
          <p:nvPr/>
        </p:nvSpPr>
        <p:spPr>
          <a:xfrm flipH="1">
            <a:off x="2914650" y="5461000"/>
            <a:ext cx="127000" cy="1588"/>
          </a:xfrm>
          <a:prstGeom prst="line">
            <a:avLst/>
          </a:prstGeom>
          <a:ln w="17463" cap="flat" cmpd="sng">
            <a:solidFill>
              <a:srgbClr val="000000"/>
            </a:solidFill>
            <a:prstDash val="solid"/>
            <a:headEnd type="none" w="med" len="med"/>
            <a:tailEnd type="none" w="med" len="med"/>
          </a:ln>
        </p:spPr>
      </p:sp>
      <p:grpSp>
        <p:nvGrpSpPr>
          <p:cNvPr id="55310" name="Group 126"/>
          <p:cNvGrpSpPr/>
          <p:nvPr/>
        </p:nvGrpSpPr>
        <p:grpSpPr>
          <a:xfrm>
            <a:off x="4524375" y="4287838"/>
            <a:ext cx="2874963" cy="128587"/>
            <a:chOff x="2850" y="2701"/>
            <a:chExt cx="1811" cy="81"/>
          </a:xfrm>
        </p:grpSpPr>
        <p:sp>
          <p:nvSpPr>
            <p:cNvPr id="55340" name="Freeform 124"/>
            <p:cNvSpPr/>
            <p:nvPr/>
          </p:nvSpPr>
          <p:spPr>
            <a:xfrm>
              <a:off x="4498" y="2701"/>
              <a:ext cx="163" cy="81"/>
            </a:xfrm>
            <a:custGeom>
              <a:avLst/>
              <a:gdLst>
                <a:gd name="txL" fmla="*/ 0 w 163"/>
                <a:gd name="txT" fmla="*/ 0 h 81"/>
                <a:gd name="txR" fmla="*/ 163 w 163"/>
                <a:gd name="txB" fmla="*/ 81 h 81"/>
              </a:gdLst>
              <a:ahLst/>
              <a:cxnLst>
                <a:cxn ang="0">
                  <a:pos x="163" y="46"/>
                </a:cxn>
                <a:cxn ang="0">
                  <a:pos x="0" y="81"/>
                </a:cxn>
                <a:cxn ang="0">
                  <a:pos x="0" y="46"/>
                </a:cxn>
                <a:cxn ang="0">
                  <a:pos x="0" y="0"/>
                </a:cxn>
                <a:cxn ang="0">
                  <a:pos x="163" y="46"/>
                </a:cxn>
              </a:cxnLst>
              <a:rect l="txL" t="txT" r="txR" b="txB"/>
              <a:pathLst>
                <a:path w="163" h="81">
                  <a:moveTo>
                    <a:pt x="163" y="46"/>
                  </a:moveTo>
                  <a:lnTo>
                    <a:pt x="0" y="81"/>
                  </a:lnTo>
                  <a:lnTo>
                    <a:pt x="0" y="46"/>
                  </a:lnTo>
                  <a:lnTo>
                    <a:pt x="0" y="0"/>
                  </a:lnTo>
                  <a:lnTo>
                    <a:pt x="163" y="46"/>
                  </a:lnTo>
                  <a:close/>
                </a:path>
              </a:pathLst>
            </a:custGeom>
            <a:solidFill>
              <a:srgbClr val="000000"/>
            </a:solidFill>
            <a:ln w="9525">
              <a:noFill/>
            </a:ln>
          </p:spPr>
          <p:txBody>
            <a:bodyPr/>
            <a:p>
              <a:endParaRPr lang="en-US" altLang="x-none" dirty="0">
                <a:latin typeface="Arial" panose="020B0604020202020204" pitchFamily="34" charset="0"/>
              </a:endParaRPr>
            </a:p>
          </p:txBody>
        </p:sp>
        <p:sp>
          <p:nvSpPr>
            <p:cNvPr id="55341" name="Line 125"/>
            <p:cNvSpPr/>
            <p:nvPr/>
          </p:nvSpPr>
          <p:spPr>
            <a:xfrm>
              <a:off x="2850" y="2747"/>
              <a:ext cx="1648" cy="1"/>
            </a:xfrm>
            <a:prstGeom prst="line">
              <a:avLst/>
            </a:prstGeom>
            <a:ln w="19050" cap="flat" cmpd="sng">
              <a:solidFill>
                <a:srgbClr val="000000"/>
              </a:solidFill>
              <a:prstDash val="solid"/>
              <a:headEnd type="none" w="med" len="med"/>
              <a:tailEnd type="none" w="med" len="med"/>
            </a:ln>
          </p:spPr>
        </p:sp>
      </p:grpSp>
      <p:grpSp>
        <p:nvGrpSpPr>
          <p:cNvPr id="55311" name="Group 129"/>
          <p:cNvGrpSpPr/>
          <p:nvPr/>
        </p:nvGrpSpPr>
        <p:grpSpPr>
          <a:xfrm>
            <a:off x="4451350" y="2133600"/>
            <a:ext cx="128588" cy="2227263"/>
            <a:chOff x="2804" y="1344"/>
            <a:chExt cx="81" cy="1403"/>
          </a:xfrm>
        </p:grpSpPr>
        <p:sp>
          <p:nvSpPr>
            <p:cNvPr id="55338" name="Freeform 127"/>
            <p:cNvSpPr/>
            <p:nvPr/>
          </p:nvSpPr>
          <p:spPr>
            <a:xfrm>
              <a:off x="2804" y="1344"/>
              <a:ext cx="81" cy="162"/>
            </a:xfrm>
            <a:custGeom>
              <a:avLst/>
              <a:gdLst>
                <a:gd name="txL" fmla="*/ 0 w 81"/>
                <a:gd name="txT" fmla="*/ 0 h 162"/>
                <a:gd name="txR" fmla="*/ 81 w 81"/>
                <a:gd name="txB" fmla="*/ 162 h 162"/>
              </a:gdLst>
              <a:ahLst/>
              <a:cxnLst>
                <a:cxn ang="0">
                  <a:pos x="46" y="0"/>
                </a:cxn>
                <a:cxn ang="0">
                  <a:pos x="81" y="162"/>
                </a:cxn>
                <a:cxn ang="0">
                  <a:pos x="46" y="162"/>
                </a:cxn>
                <a:cxn ang="0">
                  <a:pos x="0" y="162"/>
                </a:cxn>
                <a:cxn ang="0">
                  <a:pos x="46" y="0"/>
                </a:cxn>
              </a:cxnLst>
              <a:rect l="txL" t="txT" r="txR" b="txB"/>
              <a:pathLst>
                <a:path w="81" h="162">
                  <a:moveTo>
                    <a:pt x="46" y="0"/>
                  </a:moveTo>
                  <a:lnTo>
                    <a:pt x="81" y="162"/>
                  </a:lnTo>
                  <a:lnTo>
                    <a:pt x="46" y="162"/>
                  </a:lnTo>
                  <a:lnTo>
                    <a:pt x="0" y="162"/>
                  </a:lnTo>
                  <a:lnTo>
                    <a:pt x="46" y="0"/>
                  </a:lnTo>
                  <a:close/>
                </a:path>
              </a:pathLst>
            </a:custGeom>
            <a:solidFill>
              <a:srgbClr val="000000"/>
            </a:solidFill>
            <a:ln w="9525">
              <a:noFill/>
            </a:ln>
          </p:spPr>
          <p:txBody>
            <a:bodyPr/>
            <a:p>
              <a:endParaRPr lang="en-US" altLang="x-none" dirty="0">
                <a:latin typeface="Arial" panose="020B0604020202020204" pitchFamily="34" charset="0"/>
              </a:endParaRPr>
            </a:p>
          </p:txBody>
        </p:sp>
        <p:sp>
          <p:nvSpPr>
            <p:cNvPr id="55339" name="Line 128"/>
            <p:cNvSpPr/>
            <p:nvPr/>
          </p:nvSpPr>
          <p:spPr>
            <a:xfrm>
              <a:off x="2850" y="1506"/>
              <a:ext cx="1" cy="1241"/>
            </a:xfrm>
            <a:prstGeom prst="line">
              <a:avLst/>
            </a:prstGeom>
            <a:ln w="19050" cap="flat" cmpd="sng">
              <a:solidFill>
                <a:srgbClr val="000000"/>
              </a:solidFill>
              <a:prstDash val="solid"/>
              <a:headEnd type="none" w="med" len="med"/>
              <a:tailEnd type="none" w="med" len="med"/>
            </a:ln>
          </p:spPr>
        </p:sp>
      </p:grpSp>
      <p:sp>
        <p:nvSpPr>
          <p:cNvPr id="55312" name="Rectangle 130"/>
          <p:cNvSpPr/>
          <p:nvPr/>
        </p:nvSpPr>
        <p:spPr>
          <a:xfrm>
            <a:off x="4286250" y="2611438"/>
            <a:ext cx="203200" cy="31273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y</a:t>
            </a:r>
            <a:endParaRPr lang="en-US" altLang="zh-TW" dirty="0">
              <a:latin typeface="Arial" panose="020B0604020202020204" pitchFamily="34" charset="0"/>
              <a:ea typeface="PMingLiU" pitchFamily="18" charset="-120"/>
            </a:endParaRPr>
          </a:p>
        </p:txBody>
      </p:sp>
      <p:grpSp>
        <p:nvGrpSpPr>
          <p:cNvPr id="55313" name="Group 152"/>
          <p:cNvGrpSpPr/>
          <p:nvPr/>
        </p:nvGrpSpPr>
        <p:grpSpPr>
          <a:xfrm>
            <a:off x="4838700" y="2336800"/>
            <a:ext cx="2541588" cy="1839913"/>
            <a:chOff x="3048" y="1472"/>
            <a:chExt cx="1601" cy="1159"/>
          </a:xfrm>
        </p:grpSpPr>
        <p:sp>
          <p:nvSpPr>
            <p:cNvPr id="55317" name="Rectangle 131"/>
            <p:cNvSpPr/>
            <p:nvPr/>
          </p:nvSpPr>
          <p:spPr>
            <a:xfrm>
              <a:off x="4301" y="2202"/>
              <a:ext cx="116"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5318" name="Rectangle 132"/>
            <p:cNvSpPr/>
            <p:nvPr/>
          </p:nvSpPr>
          <p:spPr>
            <a:xfrm>
              <a:off x="3233" y="1657"/>
              <a:ext cx="128"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19" name="Rectangle 133"/>
            <p:cNvSpPr/>
            <p:nvPr/>
          </p:nvSpPr>
          <p:spPr>
            <a:xfrm>
              <a:off x="3442" y="1634"/>
              <a:ext cx="128"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20" name="Rectangle 134"/>
            <p:cNvSpPr/>
            <p:nvPr/>
          </p:nvSpPr>
          <p:spPr>
            <a:xfrm>
              <a:off x="4463" y="2155"/>
              <a:ext cx="128"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21" name="Rectangle 135"/>
            <p:cNvSpPr/>
            <p:nvPr/>
          </p:nvSpPr>
          <p:spPr>
            <a:xfrm>
              <a:off x="3315" y="1819"/>
              <a:ext cx="128"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22" name="Rectangle 136"/>
            <p:cNvSpPr/>
            <p:nvPr/>
          </p:nvSpPr>
          <p:spPr>
            <a:xfrm>
              <a:off x="4220" y="2411"/>
              <a:ext cx="128"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23" name="Rectangle 137"/>
            <p:cNvSpPr/>
            <p:nvPr/>
          </p:nvSpPr>
          <p:spPr>
            <a:xfrm>
              <a:off x="3674" y="1668"/>
              <a:ext cx="128"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24" name="Rectangle 138"/>
            <p:cNvSpPr/>
            <p:nvPr/>
          </p:nvSpPr>
          <p:spPr>
            <a:xfrm>
              <a:off x="3512" y="1784"/>
              <a:ext cx="128"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25" name="Rectangle 139"/>
            <p:cNvSpPr/>
            <p:nvPr/>
          </p:nvSpPr>
          <p:spPr>
            <a:xfrm>
              <a:off x="3570" y="1506"/>
              <a:ext cx="128"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26" name="Rectangle 140"/>
            <p:cNvSpPr/>
            <p:nvPr/>
          </p:nvSpPr>
          <p:spPr>
            <a:xfrm>
              <a:off x="3361" y="2074"/>
              <a:ext cx="128"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27" name="Rectangle 141"/>
            <p:cNvSpPr/>
            <p:nvPr/>
          </p:nvSpPr>
          <p:spPr>
            <a:xfrm>
              <a:off x="3593" y="2039"/>
              <a:ext cx="128"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28" name="Rectangle 142"/>
            <p:cNvSpPr/>
            <p:nvPr/>
          </p:nvSpPr>
          <p:spPr>
            <a:xfrm>
              <a:off x="3848" y="2109"/>
              <a:ext cx="128"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29" name="Rectangle 143"/>
            <p:cNvSpPr/>
            <p:nvPr/>
          </p:nvSpPr>
          <p:spPr>
            <a:xfrm>
              <a:off x="3640" y="2237"/>
              <a:ext cx="128"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30" name="Rectangle 144"/>
            <p:cNvSpPr/>
            <p:nvPr/>
          </p:nvSpPr>
          <p:spPr>
            <a:xfrm>
              <a:off x="3848" y="2411"/>
              <a:ext cx="128"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31" name="Rectangle 145"/>
            <p:cNvSpPr/>
            <p:nvPr/>
          </p:nvSpPr>
          <p:spPr>
            <a:xfrm>
              <a:off x="3976" y="2283"/>
              <a:ext cx="128"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5332" name="Rectangle 146"/>
            <p:cNvSpPr/>
            <p:nvPr/>
          </p:nvSpPr>
          <p:spPr>
            <a:xfrm>
              <a:off x="3895" y="1761"/>
              <a:ext cx="116"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5333" name="Rectangle 147"/>
            <p:cNvSpPr/>
            <p:nvPr/>
          </p:nvSpPr>
          <p:spPr>
            <a:xfrm>
              <a:off x="4046" y="1831"/>
              <a:ext cx="116"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5334" name="Rectangle 148"/>
            <p:cNvSpPr/>
            <p:nvPr/>
          </p:nvSpPr>
          <p:spPr>
            <a:xfrm>
              <a:off x="4104" y="1622"/>
              <a:ext cx="116"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5335" name="Rectangle 149"/>
            <p:cNvSpPr/>
            <p:nvPr/>
          </p:nvSpPr>
          <p:spPr>
            <a:xfrm>
              <a:off x="3848" y="1552"/>
              <a:ext cx="116"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5336" name="Rectangle 150"/>
            <p:cNvSpPr/>
            <p:nvPr/>
          </p:nvSpPr>
          <p:spPr>
            <a:xfrm>
              <a:off x="4255" y="1796"/>
              <a:ext cx="116" cy="19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5337" name="Freeform 151"/>
            <p:cNvSpPr/>
            <p:nvPr/>
          </p:nvSpPr>
          <p:spPr>
            <a:xfrm>
              <a:off x="3048" y="1472"/>
              <a:ext cx="1601" cy="1159"/>
            </a:xfrm>
            <a:custGeom>
              <a:avLst/>
              <a:gdLst>
                <a:gd name="txL" fmla="*/ 0 w 1601"/>
                <a:gd name="txT" fmla="*/ 0 h 1159"/>
                <a:gd name="txR" fmla="*/ 1601 w 1601"/>
                <a:gd name="txB" fmla="*/ 1159 h 1159"/>
              </a:gdLst>
              <a:ahLst/>
              <a:cxnLst>
                <a:cxn ang="0">
                  <a:pos x="232" y="81"/>
                </a:cxn>
                <a:cxn ang="0">
                  <a:pos x="348" y="46"/>
                </a:cxn>
                <a:cxn ang="0">
                  <a:pos x="452" y="23"/>
                </a:cxn>
                <a:cxn ang="0">
                  <a:pos x="557" y="0"/>
                </a:cxn>
                <a:cxn ang="0">
                  <a:pos x="603" y="0"/>
                </a:cxn>
                <a:cxn ang="0">
                  <a:pos x="708" y="0"/>
                </a:cxn>
                <a:cxn ang="0">
                  <a:pos x="870" y="23"/>
                </a:cxn>
                <a:cxn ang="0">
                  <a:pos x="963" y="46"/>
                </a:cxn>
                <a:cxn ang="0">
                  <a:pos x="1149" y="116"/>
                </a:cxn>
                <a:cxn ang="0">
                  <a:pos x="1276" y="197"/>
                </a:cxn>
                <a:cxn ang="0">
                  <a:pos x="1392" y="290"/>
                </a:cxn>
                <a:cxn ang="0">
                  <a:pos x="1497" y="417"/>
                </a:cxn>
                <a:cxn ang="0">
                  <a:pos x="1543" y="498"/>
                </a:cxn>
                <a:cxn ang="0">
                  <a:pos x="1590" y="626"/>
                </a:cxn>
                <a:cxn ang="0">
                  <a:pos x="1601" y="719"/>
                </a:cxn>
                <a:cxn ang="0">
                  <a:pos x="1590" y="788"/>
                </a:cxn>
                <a:cxn ang="0">
                  <a:pos x="1543" y="893"/>
                </a:cxn>
                <a:cxn ang="0">
                  <a:pos x="1520" y="939"/>
                </a:cxn>
                <a:cxn ang="0">
                  <a:pos x="1439" y="1020"/>
                </a:cxn>
                <a:cxn ang="0">
                  <a:pos x="1381" y="1067"/>
                </a:cxn>
                <a:cxn ang="0">
                  <a:pos x="1346" y="1078"/>
                </a:cxn>
                <a:cxn ang="0">
                  <a:pos x="1288" y="1101"/>
                </a:cxn>
                <a:cxn ang="0">
                  <a:pos x="1207" y="1125"/>
                </a:cxn>
                <a:cxn ang="0">
                  <a:pos x="1102" y="1148"/>
                </a:cxn>
                <a:cxn ang="0">
                  <a:pos x="1021" y="1159"/>
                </a:cxn>
                <a:cxn ang="0">
                  <a:pos x="835" y="1159"/>
                </a:cxn>
                <a:cxn ang="0">
                  <a:pos x="719" y="1148"/>
                </a:cxn>
                <a:cxn ang="0">
                  <a:pos x="615" y="1113"/>
                </a:cxn>
                <a:cxn ang="0">
                  <a:pos x="522" y="1067"/>
                </a:cxn>
                <a:cxn ang="0">
                  <a:pos x="476" y="1032"/>
                </a:cxn>
                <a:cxn ang="0">
                  <a:pos x="406" y="962"/>
                </a:cxn>
                <a:cxn ang="0">
                  <a:pos x="371" y="916"/>
                </a:cxn>
                <a:cxn ang="0">
                  <a:pos x="301" y="823"/>
                </a:cxn>
                <a:cxn ang="0">
                  <a:pos x="232" y="730"/>
                </a:cxn>
                <a:cxn ang="0">
                  <a:pos x="104" y="614"/>
                </a:cxn>
                <a:cxn ang="0">
                  <a:pos x="46" y="556"/>
                </a:cxn>
                <a:cxn ang="0">
                  <a:pos x="0" y="429"/>
                </a:cxn>
                <a:cxn ang="0">
                  <a:pos x="0" y="382"/>
                </a:cxn>
                <a:cxn ang="0">
                  <a:pos x="11" y="301"/>
                </a:cxn>
                <a:cxn ang="0">
                  <a:pos x="58" y="220"/>
                </a:cxn>
                <a:cxn ang="0">
                  <a:pos x="116" y="150"/>
                </a:cxn>
                <a:cxn ang="0">
                  <a:pos x="197" y="92"/>
                </a:cxn>
              </a:cxnLst>
              <a:rect l="txL" t="txT" r="txR" b="txB"/>
              <a:pathLst>
                <a:path w="1601" h="1159">
                  <a:moveTo>
                    <a:pt x="197" y="92"/>
                  </a:moveTo>
                  <a:lnTo>
                    <a:pt x="232" y="81"/>
                  </a:lnTo>
                  <a:lnTo>
                    <a:pt x="301" y="58"/>
                  </a:lnTo>
                  <a:lnTo>
                    <a:pt x="348" y="46"/>
                  </a:lnTo>
                  <a:lnTo>
                    <a:pt x="406" y="34"/>
                  </a:lnTo>
                  <a:lnTo>
                    <a:pt x="452" y="23"/>
                  </a:lnTo>
                  <a:lnTo>
                    <a:pt x="499" y="11"/>
                  </a:lnTo>
                  <a:lnTo>
                    <a:pt x="557" y="0"/>
                  </a:lnTo>
                  <a:lnTo>
                    <a:pt x="592" y="0"/>
                  </a:lnTo>
                  <a:lnTo>
                    <a:pt x="603" y="0"/>
                  </a:lnTo>
                  <a:lnTo>
                    <a:pt x="626" y="0"/>
                  </a:lnTo>
                  <a:lnTo>
                    <a:pt x="708" y="0"/>
                  </a:lnTo>
                  <a:lnTo>
                    <a:pt x="789" y="11"/>
                  </a:lnTo>
                  <a:lnTo>
                    <a:pt x="870" y="23"/>
                  </a:lnTo>
                  <a:lnTo>
                    <a:pt x="916" y="34"/>
                  </a:lnTo>
                  <a:lnTo>
                    <a:pt x="963" y="46"/>
                  </a:lnTo>
                  <a:lnTo>
                    <a:pt x="1067" y="81"/>
                  </a:lnTo>
                  <a:lnTo>
                    <a:pt x="1149" y="116"/>
                  </a:lnTo>
                  <a:lnTo>
                    <a:pt x="1241" y="174"/>
                  </a:lnTo>
                  <a:lnTo>
                    <a:pt x="1276" y="197"/>
                  </a:lnTo>
                  <a:lnTo>
                    <a:pt x="1323" y="232"/>
                  </a:lnTo>
                  <a:lnTo>
                    <a:pt x="1392" y="290"/>
                  </a:lnTo>
                  <a:lnTo>
                    <a:pt x="1450" y="359"/>
                  </a:lnTo>
                  <a:lnTo>
                    <a:pt x="1497" y="417"/>
                  </a:lnTo>
                  <a:lnTo>
                    <a:pt x="1520" y="464"/>
                  </a:lnTo>
                  <a:lnTo>
                    <a:pt x="1543" y="498"/>
                  </a:lnTo>
                  <a:lnTo>
                    <a:pt x="1566" y="556"/>
                  </a:lnTo>
                  <a:lnTo>
                    <a:pt x="1590" y="626"/>
                  </a:lnTo>
                  <a:lnTo>
                    <a:pt x="1601" y="695"/>
                  </a:lnTo>
                  <a:lnTo>
                    <a:pt x="1601" y="719"/>
                  </a:lnTo>
                  <a:lnTo>
                    <a:pt x="1601" y="742"/>
                  </a:lnTo>
                  <a:lnTo>
                    <a:pt x="1590" y="788"/>
                  </a:lnTo>
                  <a:lnTo>
                    <a:pt x="1566" y="846"/>
                  </a:lnTo>
                  <a:lnTo>
                    <a:pt x="1543" y="893"/>
                  </a:lnTo>
                  <a:lnTo>
                    <a:pt x="1532" y="916"/>
                  </a:lnTo>
                  <a:lnTo>
                    <a:pt x="1520" y="939"/>
                  </a:lnTo>
                  <a:lnTo>
                    <a:pt x="1485" y="974"/>
                  </a:lnTo>
                  <a:lnTo>
                    <a:pt x="1439" y="1020"/>
                  </a:lnTo>
                  <a:lnTo>
                    <a:pt x="1404" y="1055"/>
                  </a:lnTo>
                  <a:lnTo>
                    <a:pt x="1381" y="1067"/>
                  </a:lnTo>
                  <a:lnTo>
                    <a:pt x="1369" y="1078"/>
                  </a:lnTo>
                  <a:lnTo>
                    <a:pt x="1346" y="1078"/>
                  </a:lnTo>
                  <a:lnTo>
                    <a:pt x="1323" y="1090"/>
                  </a:lnTo>
                  <a:lnTo>
                    <a:pt x="1288" y="1101"/>
                  </a:lnTo>
                  <a:lnTo>
                    <a:pt x="1241" y="1113"/>
                  </a:lnTo>
                  <a:lnTo>
                    <a:pt x="1207" y="1125"/>
                  </a:lnTo>
                  <a:lnTo>
                    <a:pt x="1149" y="1136"/>
                  </a:lnTo>
                  <a:lnTo>
                    <a:pt x="1102" y="1148"/>
                  </a:lnTo>
                  <a:lnTo>
                    <a:pt x="1079" y="1148"/>
                  </a:lnTo>
                  <a:lnTo>
                    <a:pt x="1021" y="1159"/>
                  </a:lnTo>
                  <a:lnTo>
                    <a:pt x="928" y="1159"/>
                  </a:lnTo>
                  <a:lnTo>
                    <a:pt x="835" y="1159"/>
                  </a:lnTo>
                  <a:lnTo>
                    <a:pt x="754" y="1159"/>
                  </a:lnTo>
                  <a:lnTo>
                    <a:pt x="719" y="1148"/>
                  </a:lnTo>
                  <a:lnTo>
                    <a:pt x="684" y="1136"/>
                  </a:lnTo>
                  <a:lnTo>
                    <a:pt x="615" y="1113"/>
                  </a:lnTo>
                  <a:lnTo>
                    <a:pt x="557" y="1090"/>
                  </a:lnTo>
                  <a:lnTo>
                    <a:pt x="522" y="1067"/>
                  </a:lnTo>
                  <a:lnTo>
                    <a:pt x="499" y="1043"/>
                  </a:lnTo>
                  <a:lnTo>
                    <a:pt x="476" y="1032"/>
                  </a:lnTo>
                  <a:lnTo>
                    <a:pt x="441" y="997"/>
                  </a:lnTo>
                  <a:lnTo>
                    <a:pt x="406" y="962"/>
                  </a:lnTo>
                  <a:lnTo>
                    <a:pt x="383" y="939"/>
                  </a:lnTo>
                  <a:lnTo>
                    <a:pt x="371" y="916"/>
                  </a:lnTo>
                  <a:lnTo>
                    <a:pt x="348" y="893"/>
                  </a:lnTo>
                  <a:lnTo>
                    <a:pt x="301" y="823"/>
                  </a:lnTo>
                  <a:lnTo>
                    <a:pt x="267" y="777"/>
                  </a:lnTo>
                  <a:lnTo>
                    <a:pt x="232" y="730"/>
                  </a:lnTo>
                  <a:lnTo>
                    <a:pt x="151" y="649"/>
                  </a:lnTo>
                  <a:lnTo>
                    <a:pt x="104" y="614"/>
                  </a:lnTo>
                  <a:lnTo>
                    <a:pt x="81" y="591"/>
                  </a:lnTo>
                  <a:lnTo>
                    <a:pt x="46" y="556"/>
                  </a:lnTo>
                  <a:lnTo>
                    <a:pt x="23" y="498"/>
                  </a:lnTo>
                  <a:lnTo>
                    <a:pt x="0" y="429"/>
                  </a:lnTo>
                  <a:lnTo>
                    <a:pt x="0" y="394"/>
                  </a:lnTo>
                  <a:lnTo>
                    <a:pt x="0" y="382"/>
                  </a:lnTo>
                  <a:lnTo>
                    <a:pt x="0" y="348"/>
                  </a:lnTo>
                  <a:lnTo>
                    <a:pt x="11" y="301"/>
                  </a:lnTo>
                  <a:lnTo>
                    <a:pt x="35" y="255"/>
                  </a:lnTo>
                  <a:lnTo>
                    <a:pt x="58" y="220"/>
                  </a:lnTo>
                  <a:lnTo>
                    <a:pt x="93" y="185"/>
                  </a:lnTo>
                  <a:lnTo>
                    <a:pt x="116" y="150"/>
                  </a:lnTo>
                  <a:lnTo>
                    <a:pt x="162" y="116"/>
                  </a:lnTo>
                  <a:lnTo>
                    <a:pt x="197" y="92"/>
                  </a:lnTo>
                  <a:close/>
                </a:path>
              </a:pathLst>
            </a:custGeom>
            <a:noFill/>
            <a:ln w="19050" cap="flat" cmpd="sng">
              <a:solidFill>
                <a:srgbClr val="000000"/>
              </a:solidFill>
              <a:prstDash val="solid"/>
              <a:round/>
              <a:headEnd type="none" w="med" len="med"/>
              <a:tailEnd type="none" w="med" len="med"/>
            </a:ln>
          </p:spPr>
          <p:txBody>
            <a:bodyPr/>
            <a:p>
              <a:endParaRPr lang="en-US" altLang="x-none" dirty="0">
                <a:latin typeface="Arial" panose="020B0604020202020204" pitchFamily="34" charset="0"/>
              </a:endParaRPr>
            </a:p>
          </p:txBody>
        </p:sp>
      </p:grpSp>
      <p:sp>
        <p:nvSpPr>
          <p:cNvPr id="55314" name="Rectangle 153"/>
          <p:cNvSpPr/>
          <p:nvPr/>
        </p:nvSpPr>
        <p:spPr>
          <a:xfrm>
            <a:off x="7491413" y="4195763"/>
            <a:ext cx="203200" cy="31273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x</a:t>
            </a:r>
            <a:endParaRPr lang="en-US" altLang="zh-TW" dirty="0">
              <a:latin typeface="Arial" panose="020B0604020202020204" pitchFamily="34" charset="0"/>
              <a:ea typeface="PMingLiU" pitchFamily="18" charset="-120"/>
            </a:endParaRPr>
          </a:p>
        </p:txBody>
      </p:sp>
      <p:sp>
        <p:nvSpPr>
          <p:cNvPr id="55315" name="Rectangle 154"/>
          <p:cNvSpPr/>
          <p:nvPr/>
        </p:nvSpPr>
        <p:spPr>
          <a:xfrm>
            <a:off x="5907088" y="4418013"/>
            <a:ext cx="238125" cy="228600"/>
          </a:xfrm>
          <a:prstGeom prst="rect">
            <a:avLst/>
          </a:prstGeom>
          <a:noFill/>
          <a:ln w="9525">
            <a:noFill/>
          </a:ln>
        </p:spPr>
        <p:txBody>
          <a:bodyPr wrap="none" lIns="0" tIns="0" rIns="0" bIns="0">
            <a:spAutoFit/>
          </a:bodyPr>
          <a:p>
            <a:r>
              <a:rPr lang="zh-TW" altLang="en-US" sz="1500" dirty="0">
                <a:solidFill>
                  <a:srgbClr val="000000"/>
                </a:solidFill>
                <a:latin typeface="Times" pitchFamily="18" charset="0"/>
                <a:ea typeface="PMingLiU" pitchFamily="18" charset="-120"/>
              </a:rPr>
              <a:t>1.2</a:t>
            </a:r>
            <a:endParaRPr lang="zh-TW" altLang="en-US" dirty="0">
              <a:latin typeface="Arial" panose="020B0604020202020204" pitchFamily="34" charset="0"/>
              <a:ea typeface="PMingLiU" pitchFamily="18" charset="-120"/>
            </a:endParaRPr>
          </a:p>
        </p:txBody>
      </p:sp>
      <p:sp>
        <p:nvSpPr>
          <p:cNvPr id="55316" name="Line 155"/>
          <p:cNvSpPr/>
          <p:nvPr/>
        </p:nvSpPr>
        <p:spPr>
          <a:xfrm>
            <a:off x="6016625" y="2133600"/>
            <a:ext cx="1588" cy="2209800"/>
          </a:xfrm>
          <a:prstGeom prst="line">
            <a:avLst/>
          </a:prstGeom>
          <a:ln w="19050" cap="flat" cmpd="sng">
            <a:solidFill>
              <a:srgbClr val="000000"/>
            </a:solidFill>
            <a:prstDash val="solid"/>
            <a:headEnd type="none" w="med" len="med"/>
            <a:tailEnd type="none" w="med" len="med"/>
          </a:ln>
        </p:spPr>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6322" name="Group 174"/>
          <p:cNvGrpSpPr/>
          <p:nvPr/>
        </p:nvGrpSpPr>
        <p:grpSpPr>
          <a:xfrm>
            <a:off x="323850" y="2286000"/>
            <a:ext cx="3649663" cy="2857500"/>
            <a:chOff x="1664" y="2736"/>
            <a:chExt cx="2094" cy="1522"/>
          </a:xfrm>
        </p:grpSpPr>
        <p:grpSp>
          <p:nvGrpSpPr>
            <p:cNvPr id="56326" name="Group 139"/>
            <p:cNvGrpSpPr/>
            <p:nvPr/>
          </p:nvGrpSpPr>
          <p:grpSpPr>
            <a:xfrm>
              <a:off x="1836" y="4065"/>
              <a:ext cx="1772" cy="79"/>
              <a:chOff x="1836" y="4065"/>
              <a:chExt cx="1772" cy="79"/>
            </a:xfrm>
          </p:grpSpPr>
          <p:sp>
            <p:nvSpPr>
              <p:cNvPr id="56359" name="Freeform 140"/>
              <p:cNvSpPr/>
              <p:nvPr/>
            </p:nvSpPr>
            <p:spPr>
              <a:xfrm>
                <a:off x="3449" y="4065"/>
                <a:ext cx="159" cy="79"/>
              </a:xfrm>
              <a:custGeom>
                <a:avLst/>
                <a:gdLst>
                  <a:gd name="txL" fmla="*/ 0 w 159"/>
                  <a:gd name="txT" fmla="*/ 0 h 79"/>
                  <a:gd name="txR" fmla="*/ 159 w 159"/>
                  <a:gd name="txB" fmla="*/ 79 h 79"/>
                </a:gdLst>
                <a:ahLst/>
                <a:cxnLst>
                  <a:cxn ang="0">
                    <a:pos x="159" y="45"/>
                  </a:cxn>
                  <a:cxn ang="0">
                    <a:pos x="0" y="79"/>
                  </a:cxn>
                  <a:cxn ang="0">
                    <a:pos x="0" y="45"/>
                  </a:cxn>
                  <a:cxn ang="0">
                    <a:pos x="0" y="0"/>
                  </a:cxn>
                  <a:cxn ang="0">
                    <a:pos x="159" y="45"/>
                  </a:cxn>
                </a:cxnLst>
                <a:rect l="txL" t="txT" r="txR" b="txB"/>
                <a:pathLst>
                  <a:path w="159" h="79">
                    <a:moveTo>
                      <a:pt x="159" y="45"/>
                    </a:moveTo>
                    <a:lnTo>
                      <a:pt x="0" y="79"/>
                    </a:lnTo>
                    <a:lnTo>
                      <a:pt x="0" y="45"/>
                    </a:lnTo>
                    <a:lnTo>
                      <a:pt x="0" y="0"/>
                    </a:lnTo>
                    <a:lnTo>
                      <a:pt x="159" y="45"/>
                    </a:lnTo>
                    <a:close/>
                  </a:path>
                </a:pathLst>
              </a:custGeom>
              <a:solidFill>
                <a:srgbClr val="000000"/>
              </a:solidFill>
              <a:ln w="9525">
                <a:noFill/>
              </a:ln>
            </p:spPr>
            <p:txBody>
              <a:bodyPr/>
              <a:p>
                <a:endParaRPr lang="en-US" altLang="x-none" dirty="0">
                  <a:latin typeface="Arial" panose="020B0604020202020204" pitchFamily="34" charset="0"/>
                </a:endParaRPr>
              </a:p>
            </p:txBody>
          </p:sp>
          <p:sp>
            <p:nvSpPr>
              <p:cNvPr id="56360" name="Line 141"/>
              <p:cNvSpPr/>
              <p:nvPr/>
            </p:nvSpPr>
            <p:spPr>
              <a:xfrm>
                <a:off x="1836" y="4110"/>
                <a:ext cx="1613" cy="1"/>
              </a:xfrm>
              <a:prstGeom prst="line">
                <a:avLst/>
              </a:prstGeom>
              <a:ln w="17463" cap="flat" cmpd="sng">
                <a:solidFill>
                  <a:srgbClr val="000000"/>
                </a:solidFill>
                <a:prstDash val="solid"/>
                <a:headEnd type="none" w="med" len="med"/>
                <a:tailEnd type="none" w="med" len="med"/>
              </a:ln>
            </p:spPr>
          </p:sp>
        </p:grpSp>
        <p:grpSp>
          <p:nvGrpSpPr>
            <p:cNvPr id="56327" name="Group 142"/>
            <p:cNvGrpSpPr/>
            <p:nvPr/>
          </p:nvGrpSpPr>
          <p:grpSpPr>
            <a:xfrm>
              <a:off x="1791" y="2736"/>
              <a:ext cx="79" cy="1374"/>
              <a:chOff x="1791" y="2736"/>
              <a:chExt cx="79" cy="1374"/>
            </a:xfrm>
          </p:grpSpPr>
          <p:sp>
            <p:nvSpPr>
              <p:cNvPr id="56357" name="Freeform 143"/>
              <p:cNvSpPr/>
              <p:nvPr/>
            </p:nvSpPr>
            <p:spPr>
              <a:xfrm>
                <a:off x="1791" y="2736"/>
                <a:ext cx="79" cy="159"/>
              </a:xfrm>
              <a:custGeom>
                <a:avLst/>
                <a:gdLst>
                  <a:gd name="txL" fmla="*/ 0 w 79"/>
                  <a:gd name="txT" fmla="*/ 0 h 159"/>
                  <a:gd name="txR" fmla="*/ 79 w 79"/>
                  <a:gd name="txB" fmla="*/ 159 h 159"/>
                </a:gdLst>
                <a:ahLst/>
                <a:cxnLst>
                  <a:cxn ang="0">
                    <a:pos x="45" y="0"/>
                  </a:cxn>
                  <a:cxn ang="0">
                    <a:pos x="79" y="159"/>
                  </a:cxn>
                  <a:cxn ang="0">
                    <a:pos x="45" y="159"/>
                  </a:cxn>
                  <a:cxn ang="0">
                    <a:pos x="0" y="159"/>
                  </a:cxn>
                  <a:cxn ang="0">
                    <a:pos x="45" y="0"/>
                  </a:cxn>
                </a:cxnLst>
                <a:rect l="txL" t="txT" r="txR" b="txB"/>
                <a:pathLst>
                  <a:path w="79" h="159">
                    <a:moveTo>
                      <a:pt x="45" y="0"/>
                    </a:moveTo>
                    <a:lnTo>
                      <a:pt x="79" y="159"/>
                    </a:lnTo>
                    <a:lnTo>
                      <a:pt x="45" y="159"/>
                    </a:lnTo>
                    <a:lnTo>
                      <a:pt x="0" y="159"/>
                    </a:lnTo>
                    <a:lnTo>
                      <a:pt x="45" y="0"/>
                    </a:lnTo>
                    <a:close/>
                  </a:path>
                </a:pathLst>
              </a:custGeom>
              <a:solidFill>
                <a:srgbClr val="000000"/>
              </a:solidFill>
              <a:ln w="9525">
                <a:noFill/>
              </a:ln>
            </p:spPr>
            <p:txBody>
              <a:bodyPr/>
              <a:p>
                <a:endParaRPr lang="en-US" altLang="x-none" dirty="0">
                  <a:latin typeface="Arial" panose="020B0604020202020204" pitchFamily="34" charset="0"/>
                </a:endParaRPr>
              </a:p>
            </p:txBody>
          </p:sp>
          <p:sp>
            <p:nvSpPr>
              <p:cNvPr id="56358" name="Line 144"/>
              <p:cNvSpPr/>
              <p:nvPr/>
            </p:nvSpPr>
            <p:spPr>
              <a:xfrm>
                <a:off x="1836" y="2895"/>
                <a:ext cx="1" cy="1215"/>
              </a:xfrm>
              <a:prstGeom prst="line">
                <a:avLst/>
              </a:prstGeom>
              <a:ln w="17463" cap="flat" cmpd="sng">
                <a:solidFill>
                  <a:srgbClr val="000000"/>
                </a:solidFill>
                <a:prstDash val="solid"/>
                <a:headEnd type="none" w="med" len="med"/>
                <a:tailEnd type="none" w="med" len="med"/>
              </a:ln>
            </p:spPr>
          </p:sp>
        </p:grpSp>
        <p:sp>
          <p:nvSpPr>
            <p:cNvPr id="56328" name="Rectangle 145"/>
            <p:cNvSpPr/>
            <p:nvPr/>
          </p:nvSpPr>
          <p:spPr>
            <a:xfrm>
              <a:off x="1720" y="3031"/>
              <a:ext cx="62"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y</a:t>
              </a:r>
              <a:endParaRPr lang="en-US" altLang="zh-TW" dirty="0">
                <a:latin typeface="Arial" panose="020B0604020202020204" pitchFamily="34" charset="0"/>
                <a:ea typeface="PMingLiU" pitchFamily="18" charset="-120"/>
              </a:endParaRPr>
            </a:p>
          </p:txBody>
        </p:sp>
        <p:grpSp>
          <p:nvGrpSpPr>
            <p:cNvPr id="56329" name="Group 146"/>
            <p:cNvGrpSpPr/>
            <p:nvPr/>
          </p:nvGrpSpPr>
          <p:grpSpPr>
            <a:xfrm>
              <a:off x="2029" y="2861"/>
              <a:ext cx="1567" cy="1147"/>
              <a:chOff x="2029" y="2861"/>
              <a:chExt cx="1567" cy="1147"/>
            </a:xfrm>
          </p:grpSpPr>
          <p:sp>
            <p:nvSpPr>
              <p:cNvPr id="56336" name="Rectangle 147"/>
              <p:cNvSpPr/>
              <p:nvPr/>
            </p:nvSpPr>
            <p:spPr>
              <a:xfrm>
                <a:off x="3285" y="3576"/>
                <a:ext cx="55" cy="13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6337" name="Rectangle 148"/>
              <p:cNvSpPr/>
              <p:nvPr/>
            </p:nvSpPr>
            <p:spPr>
              <a:xfrm>
                <a:off x="2242" y="3054"/>
                <a:ext cx="62"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6338" name="Rectangle 149"/>
              <p:cNvSpPr/>
              <p:nvPr/>
            </p:nvSpPr>
            <p:spPr>
              <a:xfrm>
                <a:off x="2445" y="3031"/>
                <a:ext cx="62"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6339" name="Rectangle 150"/>
              <p:cNvSpPr/>
              <p:nvPr/>
            </p:nvSpPr>
            <p:spPr>
              <a:xfrm>
                <a:off x="3446" y="3542"/>
                <a:ext cx="62"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6340" name="Rectangle 151"/>
              <p:cNvSpPr/>
              <p:nvPr/>
            </p:nvSpPr>
            <p:spPr>
              <a:xfrm>
                <a:off x="2322" y="3213"/>
                <a:ext cx="62"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6341" name="Rectangle 152"/>
              <p:cNvSpPr/>
              <p:nvPr/>
            </p:nvSpPr>
            <p:spPr>
              <a:xfrm>
                <a:off x="3206" y="3781"/>
                <a:ext cx="62"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6342" name="Rectangle 153"/>
              <p:cNvSpPr/>
              <p:nvPr/>
            </p:nvSpPr>
            <p:spPr>
              <a:xfrm>
                <a:off x="2673" y="3054"/>
                <a:ext cx="62"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6343" name="Rectangle 154"/>
              <p:cNvSpPr/>
              <p:nvPr/>
            </p:nvSpPr>
            <p:spPr>
              <a:xfrm>
                <a:off x="2516" y="3179"/>
                <a:ext cx="62"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6344" name="Rectangle 155"/>
              <p:cNvSpPr/>
              <p:nvPr/>
            </p:nvSpPr>
            <p:spPr>
              <a:xfrm>
                <a:off x="2571" y="2906"/>
                <a:ext cx="62"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6345" name="Rectangle 156"/>
              <p:cNvSpPr/>
              <p:nvPr/>
            </p:nvSpPr>
            <p:spPr>
              <a:xfrm>
                <a:off x="2367" y="3463"/>
                <a:ext cx="62"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6346" name="Rectangle 157"/>
              <p:cNvSpPr/>
              <p:nvPr/>
            </p:nvSpPr>
            <p:spPr>
              <a:xfrm>
                <a:off x="2595" y="3429"/>
                <a:ext cx="62" cy="137"/>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6347" name="Rectangle 158"/>
              <p:cNvSpPr/>
              <p:nvPr/>
            </p:nvSpPr>
            <p:spPr>
              <a:xfrm>
                <a:off x="2844" y="3497"/>
                <a:ext cx="61"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6348" name="Rectangle 159"/>
              <p:cNvSpPr/>
              <p:nvPr/>
            </p:nvSpPr>
            <p:spPr>
              <a:xfrm>
                <a:off x="2640" y="3609"/>
                <a:ext cx="62"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6349" name="Rectangle 160"/>
              <p:cNvSpPr/>
              <p:nvPr/>
            </p:nvSpPr>
            <p:spPr>
              <a:xfrm>
                <a:off x="2844" y="3781"/>
                <a:ext cx="61"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6350" name="Rectangle 161"/>
              <p:cNvSpPr/>
              <p:nvPr/>
            </p:nvSpPr>
            <p:spPr>
              <a:xfrm>
                <a:off x="2968" y="3656"/>
                <a:ext cx="62"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b</a:t>
                </a:r>
                <a:endParaRPr lang="en-US" altLang="zh-TW" dirty="0">
                  <a:latin typeface="Arial" panose="020B0604020202020204" pitchFamily="34" charset="0"/>
                  <a:ea typeface="PMingLiU" pitchFamily="18" charset="-120"/>
                </a:endParaRPr>
              </a:p>
            </p:txBody>
          </p:sp>
          <p:sp>
            <p:nvSpPr>
              <p:cNvPr id="56351" name="Rectangle 162"/>
              <p:cNvSpPr/>
              <p:nvPr/>
            </p:nvSpPr>
            <p:spPr>
              <a:xfrm>
                <a:off x="2887" y="3145"/>
                <a:ext cx="55"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6352" name="Rectangle 163"/>
              <p:cNvSpPr/>
              <p:nvPr/>
            </p:nvSpPr>
            <p:spPr>
              <a:xfrm>
                <a:off x="3036" y="3213"/>
                <a:ext cx="54"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6353" name="Rectangle 164"/>
              <p:cNvSpPr/>
              <p:nvPr/>
            </p:nvSpPr>
            <p:spPr>
              <a:xfrm>
                <a:off x="3093" y="3009"/>
                <a:ext cx="55"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6354" name="Rectangle 165"/>
              <p:cNvSpPr/>
              <p:nvPr/>
            </p:nvSpPr>
            <p:spPr>
              <a:xfrm>
                <a:off x="2843" y="2940"/>
                <a:ext cx="54"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6355" name="Rectangle 166"/>
              <p:cNvSpPr/>
              <p:nvPr/>
            </p:nvSpPr>
            <p:spPr>
              <a:xfrm>
                <a:off x="3240" y="3179"/>
                <a:ext cx="54"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a</a:t>
                </a:r>
                <a:endParaRPr lang="en-US" altLang="zh-TW" dirty="0">
                  <a:latin typeface="Arial" panose="020B0604020202020204" pitchFamily="34" charset="0"/>
                  <a:ea typeface="PMingLiU" pitchFamily="18" charset="-120"/>
                </a:endParaRPr>
              </a:p>
            </p:txBody>
          </p:sp>
          <p:sp>
            <p:nvSpPr>
              <p:cNvPr id="56356" name="Freeform 167"/>
              <p:cNvSpPr/>
              <p:nvPr/>
            </p:nvSpPr>
            <p:spPr>
              <a:xfrm>
                <a:off x="2029" y="2861"/>
                <a:ext cx="1567" cy="1147"/>
              </a:xfrm>
              <a:custGeom>
                <a:avLst/>
                <a:gdLst>
                  <a:gd name="txL" fmla="*/ 0 w 1567"/>
                  <a:gd name="txT" fmla="*/ 0 h 1147"/>
                  <a:gd name="txR" fmla="*/ 1567 w 1567"/>
                  <a:gd name="txB" fmla="*/ 1147 h 1147"/>
                </a:gdLst>
                <a:ahLst/>
                <a:cxnLst>
                  <a:cxn ang="0">
                    <a:pos x="228" y="91"/>
                  </a:cxn>
                  <a:cxn ang="0">
                    <a:pos x="341" y="57"/>
                  </a:cxn>
                  <a:cxn ang="0">
                    <a:pos x="455" y="23"/>
                  </a:cxn>
                  <a:cxn ang="0">
                    <a:pos x="534" y="11"/>
                  </a:cxn>
                  <a:cxn ang="0">
                    <a:pos x="591" y="0"/>
                  </a:cxn>
                  <a:cxn ang="0">
                    <a:pos x="693" y="11"/>
                  </a:cxn>
                  <a:cxn ang="0">
                    <a:pos x="852" y="34"/>
                  </a:cxn>
                  <a:cxn ang="0">
                    <a:pos x="943" y="57"/>
                  </a:cxn>
                  <a:cxn ang="0">
                    <a:pos x="1125" y="125"/>
                  </a:cxn>
                  <a:cxn ang="0">
                    <a:pos x="1249" y="204"/>
                  </a:cxn>
                  <a:cxn ang="0">
                    <a:pos x="1363" y="295"/>
                  </a:cxn>
                  <a:cxn ang="0">
                    <a:pos x="1465" y="420"/>
                  </a:cxn>
                  <a:cxn ang="0">
                    <a:pos x="1511" y="500"/>
                  </a:cxn>
                  <a:cxn ang="0">
                    <a:pos x="1556" y="613"/>
                  </a:cxn>
                  <a:cxn ang="0">
                    <a:pos x="1567" y="704"/>
                  </a:cxn>
                  <a:cxn ang="0">
                    <a:pos x="1556" y="784"/>
                  </a:cxn>
                  <a:cxn ang="0">
                    <a:pos x="1511" y="886"/>
                  </a:cxn>
                  <a:cxn ang="0">
                    <a:pos x="1488" y="931"/>
                  </a:cxn>
                  <a:cxn ang="0">
                    <a:pos x="1408" y="1011"/>
                  </a:cxn>
                  <a:cxn ang="0">
                    <a:pos x="1352" y="1045"/>
                  </a:cxn>
                  <a:cxn ang="0">
                    <a:pos x="1306" y="1068"/>
                  </a:cxn>
                  <a:cxn ang="0">
                    <a:pos x="1249" y="1090"/>
                  </a:cxn>
                  <a:cxn ang="0">
                    <a:pos x="1181" y="1102"/>
                  </a:cxn>
                  <a:cxn ang="0">
                    <a:pos x="1079" y="1124"/>
                  </a:cxn>
                  <a:cxn ang="0">
                    <a:pos x="1000" y="1136"/>
                  </a:cxn>
                  <a:cxn ang="0">
                    <a:pos x="818" y="1147"/>
                  </a:cxn>
                  <a:cxn ang="0">
                    <a:pos x="704" y="1124"/>
                  </a:cxn>
                  <a:cxn ang="0">
                    <a:pos x="614" y="1102"/>
                  </a:cxn>
                  <a:cxn ang="0">
                    <a:pos x="511" y="1045"/>
                  </a:cxn>
                  <a:cxn ang="0">
                    <a:pos x="466" y="1011"/>
                  </a:cxn>
                  <a:cxn ang="0">
                    <a:pos x="398" y="943"/>
                  </a:cxn>
                  <a:cxn ang="0">
                    <a:pos x="364" y="897"/>
                  </a:cxn>
                  <a:cxn ang="0">
                    <a:pos x="330" y="863"/>
                  </a:cxn>
                  <a:cxn ang="0">
                    <a:pos x="273" y="784"/>
                  </a:cxn>
                  <a:cxn ang="0">
                    <a:pos x="228" y="715"/>
                  </a:cxn>
                  <a:cxn ang="0">
                    <a:pos x="103" y="602"/>
                  </a:cxn>
                  <a:cxn ang="0">
                    <a:pos x="46" y="545"/>
                  </a:cxn>
                  <a:cxn ang="0">
                    <a:pos x="0" y="420"/>
                  </a:cxn>
                  <a:cxn ang="0">
                    <a:pos x="0" y="375"/>
                  </a:cxn>
                  <a:cxn ang="0">
                    <a:pos x="12" y="295"/>
                  </a:cxn>
                  <a:cxn ang="0">
                    <a:pos x="57" y="216"/>
                  </a:cxn>
                  <a:cxn ang="0">
                    <a:pos x="114" y="159"/>
                  </a:cxn>
                  <a:cxn ang="0">
                    <a:pos x="193" y="102"/>
                  </a:cxn>
                </a:cxnLst>
                <a:rect l="txL" t="txT" r="txR" b="txB"/>
                <a:pathLst>
                  <a:path w="1567" h="1147">
                    <a:moveTo>
                      <a:pt x="193" y="102"/>
                    </a:moveTo>
                    <a:lnTo>
                      <a:pt x="228" y="91"/>
                    </a:lnTo>
                    <a:lnTo>
                      <a:pt x="296" y="68"/>
                    </a:lnTo>
                    <a:lnTo>
                      <a:pt x="341" y="57"/>
                    </a:lnTo>
                    <a:lnTo>
                      <a:pt x="409" y="34"/>
                    </a:lnTo>
                    <a:lnTo>
                      <a:pt x="455" y="23"/>
                    </a:lnTo>
                    <a:lnTo>
                      <a:pt x="500" y="11"/>
                    </a:lnTo>
                    <a:lnTo>
                      <a:pt x="534" y="11"/>
                    </a:lnTo>
                    <a:lnTo>
                      <a:pt x="580" y="0"/>
                    </a:lnTo>
                    <a:lnTo>
                      <a:pt x="591" y="0"/>
                    </a:lnTo>
                    <a:lnTo>
                      <a:pt x="625" y="0"/>
                    </a:lnTo>
                    <a:lnTo>
                      <a:pt x="693" y="11"/>
                    </a:lnTo>
                    <a:lnTo>
                      <a:pt x="773" y="23"/>
                    </a:lnTo>
                    <a:lnTo>
                      <a:pt x="852" y="34"/>
                    </a:lnTo>
                    <a:lnTo>
                      <a:pt x="897" y="45"/>
                    </a:lnTo>
                    <a:lnTo>
                      <a:pt x="943" y="57"/>
                    </a:lnTo>
                    <a:lnTo>
                      <a:pt x="1045" y="91"/>
                    </a:lnTo>
                    <a:lnTo>
                      <a:pt x="1125" y="125"/>
                    </a:lnTo>
                    <a:lnTo>
                      <a:pt x="1215" y="182"/>
                    </a:lnTo>
                    <a:lnTo>
                      <a:pt x="1249" y="204"/>
                    </a:lnTo>
                    <a:lnTo>
                      <a:pt x="1295" y="238"/>
                    </a:lnTo>
                    <a:lnTo>
                      <a:pt x="1363" y="295"/>
                    </a:lnTo>
                    <a:lnTo>
                      <a:pt x="1420" y="363"/>
                    </a:lnTo>
                    <a:lnTo>
                      <a:pt x="1465" y="420"/>
                    </a:lnTo>
                    <a:lnTo>
                      <a:pt x="1488" y="454"/>
                    </a:lnTo>
                    <a:lnTo>
                      <a:pt x="1511" y="500"/>
                    </a:lnTo>
                    <a:lnTo>
                      <a:pt x="1533" y="556"/>
                    </a:lnTo>
                    <a:lnTo>
                      <a:pt x="1556" y="613"/>
                    </a:lnTo>
                    <a:lnTo>
                      <a:pt x="1567" y="681"/>
                    </a:lnTo>
                    <a:lnTo>
                      <a:pt x="1567" y="704"/>
                    </a:lnTo>
                    <a:lnTo>
                      <a:pt x="1567" y="727"/>
                    </a:lnTo>
                    <a:lnTo>
                      <a:pt x="1556" y="784"/>
                    </a:lnTo>
                    <a:lnTo>
                      <a:pt x="1533" y="840"/>
                    </a:lnTo>
                    <a:lnTo>
                      <a:pt x="1511" y="886"/>
                    </a:lnTo>
                    <a:lnTo>
                      <a:pt x="1499" y="909"/>
                    </a:lnTo>
                    <a:lnTo>
                      <a:pt x="1488" y="931"/>
                    </a:lnTo>
                    <a:lnTo>
                      <a:pt x="1454" y="965"/>
                    </a:lnTo>
                    <a:lnTo>
                      <a:pt x="1408" y="1011"/>
                    </a:lnTo>
                    <a:lnTo>
                      <a:pt x="1374" y="1033"/>
                    </a:lnTo>
                    <a:lnTo>
                      <a:pt x="1352" y="1045"/>
                    </a:lnTo>
                    <a:lnTo>
                      <a:pt x="1340" y="1056"/>
                    </a:lnTo>
                    <a:lnTo>
                      <a:pt x="1306" y="1068"/>
                    </a:lnTo>
                    <a:lnTo>
                      <a:pt x="1284" y="1079"/>
                    </a:lnTo>
                    <a:lnTo>
                      <a:pt x="1249" y="1090"/>
                    </a:lnTo>
                    <a:lnTo>
                      <a:pt x="1204" y="1102"/>
                    </a:lnTo>
                    <a:lnTo>
                      <a:pt x="1181" y="1102"/>
                    </a:lnTo>
                    <a:lnTo>
                      <a:pt x="1136" y="1113"/>
                    </a:lnTo>
                    <a:lnTo>
                      <a:pt x="1079" y="1124"/>
                    </a:lnTo>
                    <a:lnTo>
                      <a:pt x="1056" y="1124"/>
                    </a:lnTo>
                    <a:lnTo>
                      <a:pt x="1000" y="1136"/>
                    </a:lnTo>
                    <a:lnTo>
                      <a:pt x="897" y="1147"/>
                    </a:lnTo>
                    <a:lnTo>
                      <a:pt x="818" y="1147"/>
                    </a:lnTo>
                    <a:lnTo>
                      <a:pt x="738" y="1136"/>
                    </a:lnTo>
                    <a:lnTo>
                      <a:pt x="704" y="1124"/>
                    </a:lnTo>
                    <a:lnTo>
                      <a:pt x="670" y="1124"/>
                    </a:lnTo>
                    <a:lnTo>
                      <a:pt x="614" y="1102"/>
                    </a:lnTo>
                    <a:lnTo>
                      <a:pt x="557" y="1079"/>
                    </a:lnTo>
                    <a:lnTo>
                      <a:pt x="511" y="1045"/>
                    </a:lnTo>
                    <a:lnTo>
                      <a:pt x="489" y="1022"/>
                    </a:lnTo>
                    <a:lnTo>
                      <a:pt x="466" y="1011"/>
                    </a:lnTo>
                    <a:lnTo>
                      <a:pt x="432" y="977"/>
                    </a:lnTo>
                    <a:lnTo>
                      <a:pt x="398" y="943"/>
                    </a:lnTo>
                    <a:lnTo>
                      <a:pt x="375" y="920"/>
                    </a:lnTo>
                    <a:lnTo>
                      <a:pt x="364" y="897"/>
                    </a:lnTo>
                    <a:lnTo>
                      <a:pt x="352" y="886"/>
                    </a:lnTo>
                    <a:lnTo>
                      <a:pt x="330" y="863"/>
                    </a:lnTo>
                    <a:lnTo>
                      <a:pt x="307" y="829"/>
                    </a:lnTo>
                    <a:lnTo>
                      <a:pt x="273" y="784"/>
                    </a:lnTo>
                    <a:lnTo>
                      <a:pt x="262" y="761"/>
                    </a:lnTo>
                    <a:lnTo>
                      <a:pt x="228" y="715"/>
                    </a:lnTo>
                    <a:lnTo>
                      <a:pt x="148" y="636"/>
                    </a:lnTo>
                    <a:lnTo>
                      <a:pt x="103" y="602"/>
                    </a:lnTo>
                    <a:lnTo>
                      <a:pt x="80" y="591"/>
                    </a:lnTo>
                    <a:lnTo>
                      <a:pt x="46" y="545"/>
                    </a:lnTo>
                    <a:lnTo>
                      <a:pt x="23" y="488"/>
                    </a:lnTo>
                    <a:lnTo>
                      <a:pt x="0" y="420"/>
                    </a:lnTo>
                    <a:lnTo>
                      <a:pt x="0" y="386"/>
                    </a:lnTo>
                    <a:lnTo>
                      <a:pt x="0" y="375"/>
                    </a:lnTo>
                    <a:lnTo>
                      <a:pt x="0" y="341"/>
                    </a:lnTo>
                    <a:lnTo>
                      <a:pt x="12" y="295"/>
                    </a:lnTo>
                    <a:lnTo>
                      <a:pt x="34" y="250"/>
                    </a:lnTo>
                    <a:lnTo>
                      <a:pt x="57" y="216"/>
                    </a:lnTo>
                    <a:lnTo>
                      <a:pt x="91" y="182"/>
                    </a:lnTo>
                    <a:lnTo>
                      <a:pt x="114" y="159"/>
                    </a:lnTo>
                    <a:lnTo>
                      <a:pt x="159" y="125"/>
                    </a:lnTo>
                    <a:lnTo>
                      <a:pt x="193" y="102"/>
                    </a:lnTo>
                    <a:close/>
                  </a:path>
                </a:pathLst>
              </a:custGeom>
              <a:noFill/>
              <a:ln w="17463" cap="flat" cmpd="sng">
                <a:solidFill>
                  <a:srgbClr val="000000"/>
                </a:solidFill>
                <a:prstDash val="solid"/>
                <a:round/>
                <a:headEnd type="none" w="med" len="med"/>
                <a:tailEnd type="none" w="med" len="med"/>
              </a:ln>
            </p:spPr>
            <p:txBody>
              <a:bodyPr/>
              <a:p>
                <a:endParaRPr lang="en-US" altLang="x-none" dirty="0">
                  <a:latin typeface="Arial" panose="020B0604020202020204" pitchFamily="34" charset="0"/>
                </a:endParaRPr>
              </a:p>
            </p:txBody>
          </p:sp>
        </p:grpSp>
        <p:sp>
          <p:nvSpPr>
            <p:cNvPr id="56330" name="Rectangle 168"/>
            <p:cNvSpPr/>
            <p:nvPr/>
          </p:nvSpPr>
          <p:spPr>
            <a:xfrm>
              <a:off x="3696" y="4008"/>
              <a:ext cx="62" cy="138"/>
            </a:xfrm>
            <a:prstGeom prst="rect">
              <a:avLst/>
            </a:prstGeom>
            <a:noFill/>
            <a:ln w="9525">
              <a:noFill/>
            </a:ln>
          </p:spPr>
          <p:txBody>
            <a:bodyPr wrap="none" lIns="0" tIns="0" rIns="0" bIns="0">
              <a:spAutoFit/>
            </a:bodyPr>
            <a:p>
              <a:r>
                <a:rPr lang="en-US" altLang="zh-TW" sz="1700" dirty="0">
                  <a:solidFill>
                    <a:srgbClr val="000000"/>
                  </a:solidFill>
                  <a:latin typeface="Times" pitchFamily="18" charset="0"/>
                  <a:ea typeface="PMingLiU" pitchFamily="18" charset="-120"/>
                </a:rPr>
                <a:t>x</a:t>
              </a:r>
              <a:endParaRPr lang="en-US" altLang="zh-TW" dirty="0">
                <a:latin typeface="Arial" panose="020B0604020202020204" pitchFamily="34" charset="0"/>
                <a:ea typeface="PMingLiU" pitchFamily="18" charset="-120"/>
              </a:endParaRPr>
            </a:p>
          </p:txBody>
        </p:sp>
        <p:sp>
          <p:nvSpPr>
            <p:cNvPr id="56331" name="Rectangle 169"/>
            <p:cNvSpPr/>
            <p:nvPr/>
          </p:nvSpPr>
          <p:spPr>
            <a:xfrm>
              <a:off x="2709" y="4145"/>
              <a:ext cx="127" cy="113"/>
            </a:xfrm>
            <a:prstGeom prst="rect">
              <a:avLst/>
            </a:prstGeom>
            <a:noFill/>
            <a:ln w="9525">
              <a:noFill/>
            </a:ln>
          </p:spPr>
          <p:txBody>
            <a:bodyPr wrap="none" lIns="0" tIns="0" rIns="0" bIns="0">
              <a:spAutoFit/>
            </a:bodyPr>
            <a:p>
              <a:r>
                <a:rPr lang="zh-TW" altLang="en-US" sz="1400" dirty="0">
                  <a:solidFill>
                    <a:srgbClr val="000000"/>
                  </a:solidFill>
                  <a:latin typeface="Times" pitchFamily="18" charset="0"/>
                  <a:ea typeface="PMingLiU" pitchFamily="18" charset="-120"/>
                </a:rPr>
                <a:t>1.2</a:t>
              </a:r>
              <a:endParaRPr lang="zh-TW" altLang="en-US" dirty="0">
                <a:latin typeface="Arial" panose="020B0604020202020204" pitchFamily="34" charset="0"/>
                <a:ea typeface="PMingLiU" pitchFamily="18" charset="-120"/>
              </a:endParaRPr>
            </a:p>
          </p:txBody>
        </p:sp>
        <p:sp>
          <p:nvSpPr>
            <p:cNvPr id="56332" name="Line 170"/>
            <p:cNvSpPr/>
            <p:nvPr/>
          </p:nvSpPr>
          <p:spPr>
            <a:xfrm>
              <a:off x="2756" y="2747"/>
              <a:ext cx="1" cy="1363"/>
            </a:xfrm>
            <a:prstGeom prst="line">
              <a:avLst/>
            </a:prstGeom>
            <a:ln w="17463" cap="flat" cmpd="sng">
              <a:solidFill>
                <a:srgbClr val="000000"/>
              </a:solidFill>
              <a:prstDash val="solid"/>
              <a:headEnd type="none" w="med" len="med"/>
              <a:tailEnd type="none" w="med" len="med"/>
            </a:ln>
          </p:spPr>
        </p:sp>
        <p:sp>
          <p:nvSpPr>
            <p:cNvPr id="56333" name="Rectangle 171"/>
            <p:cNvSpPr/>
            <p:nvPr/>
          </p:nvSpPr>
          <p:spPr>
            <a:xfrm>
              <a:off x="1664" y="3384"/>
              <a:ext cx="128" cy="113"/>
            </a:xfrm>
            <a:prstGeom prst="rect">
              <a:avLst/>
            </a:prstGeom>
            <a:noFill/>
            <a:ln w="9525">
              <a:noFill/>
            </a:ln>
          </p:spPr>
          <p:txBody>
            <a:bodyPr wrap="none" lIns="0" tIns="0" rIns="0" bIns="0">
              <a:spAutoFit/>
            </a:bodyPr>
            <a:p>
              <a:r>
                <a:rPr lang="zh-TW" altLang="en-US" sz="1400" dirty="0">
                  <a:solidFill>
                    <a:srgbClr val="000000"/>
                  </a:solidFill>
                  <a:latin typeface="Times" pitchFamily="18" charset="0"/>
                  <a:ea typeface="PMingLiU" pitchFamily="18" charset="-120"/>
                </a:rPr>
                <a:t>2.6</a:t>
              </a:r>
              <a:endParaRPr lang="zh-TW" altLang="en-US" dirty="0">
                <a:latin typeface="Arial" panose="020B0604020202020204" pitchFamily="34" charset="0"/>
                <a:ea typeface="PMingLiU" pitchFamily="18" charset="-120"/>
              </a:endParaRPr>
            </a:p>
          </p:txBody>
        </p:sp>
        <p:sp>
          <p:nvSpPr>
            <p:cNvPr id="56334" name="Line 172"/>
            <p:cNvSpPr/>
            <p:nvPr/>
          </p:nvSpPr>
          <p:spPr>
            <a:xfrm>
              <a:off x="2767" y="3440"/>
              <a:ext cx="818" cy="1"/>
            </a:xfrm>
            <a:prstGeom prst="line">
              <a:avLst/>
            </a:prstGeom>
            <a:ln w="17463" cap="flat" cmpd="sng">
              <a:solidFill>
                <a:srgbClr val="000000"/>
              </a:solidFill>
              <a:prstDash val="solid"/>
              <a:headEnd type="none" w="med" len="med"/>
              <a:tailEnd type="none" w="med" len="med"/>
            </a:ln>
          </p:spPr>
        </p:sp>
        <p:sp>
          <p:nvSpPr>
            <p:cNvPr id="56335" name="Line 173"/>
            <p:cNvSpPr/>
            <p:nvPr/>
          </p:nvSpPr>
          <p:spPr>
            <a:xfrm flipH="1">
              <a:off x="1836" y="3440"/>
              <a:ext cx="80" cy="1"/>
            </a:xfrm>
            <a:prstGeom prst="line">
              <a:avLst/>
            </a:prstGeom>
            <a:ln w="17463" cap="flat" cmpd="sng">
              <a:solidFill>
                <a:srgbClr val="000000"/>
              </a:solidFill>
              <a:prstDash val="solid"/>
              <a:headEnd type="none" w="med" len="med"/>
              <a:tailEnd type="none" w="med" len="med"/>
            </a:ln>
          </p:spPr>
        </p:sp>
      </p:grpSp>
      <p:pic>
        <p:nvPicPr>
          <p:cNvPr id="56323" name="Picture 175" descr="_x001B_covering_algorithm_tree.GIF                                    00018F84_x000C_Macintosh HD                   B279C9FF:"/>
          <p:cNvPicPr>
            <a:picLocks noChangeAspect="1"/>
          </p:cNvPicPr>
          <p:nvPr/>
        </p:nvPicPr>
        <p:blipFill>
          <a:blip r:embed="rId1"/>
          <a:stretch>
            <a:fillRect/>
          </a:stretch>
        </p:blipFill>
        <p:spPr>
          <a:xfrm>
            <a:off x="4419600" y="1905000"/>
            <a:ext cx="3760788" cy="4495800"/>
          </a:xfrm>
          <a:prstGeom prst="rect">
            <a:avLst/>
          </a:prstGeom>
          <a:noFill/>
          <a:ln w="9525">
            <a:noFill/>
          </a:ln>
        </p:spPr>
      </p:pic>
      <p:sp>
        <p:nvSpPr>
          <p:cNvPr id="56324" name="Rectangle 176"/>
          <p:cNvSpPr/>
          <p:nvPr/>
        </p:nvSpPr>
        <p:spPr>
          <a:xfrm>
            <a:off x="533400" y="5219700"/>
            <a:ext cx="4572000" cy="1033463"/>
          </a:xfrm>
          <a:prstGeom prst="rect">
            <a:avLst/>
          </a:prstGeom>
          <a:noFill/>
          <a:ln w="9525">
            <a:noFill/>
          </a:ln>
        </p:spPr>
        <p:txBody>
          <a:bodyPr>
            <a:spAutoFit/>
          </a:bodyPr>
          <a:p>
            <a:pPr>
              <a:lnSpc>
                <a:spcPct val="80000"/>
              </a:lnSpc>
              <a:spcBef>
                <a:spcPct val="50000"/>
              </a:spcBef>
            </a:pPr>
            <a:r>
              <a:rPr lang="en-US" altLang="zh-TW" dirty="0">
                <a:latin typeface="Courier" charset="0"/>
                <a:ea typeface="PMingLiU" pitchFamily="18" charset="-120"/>
              </a:rPr>
              <a:t>If x </a:t>
            </a:r>
            <a:r>
              <a:rPr lang="en-US" altLang="zh-TW" dirty="0">
                <a:latin typeface="Symbol" panose="05050102010706020507" pitchFamily="18" charset="2"/>
                <a:ea typeface="PMingLiU" pitchFamily="18" charset="-120"/>
              </a:rPr>
              <a:t>£ </a:t>
            </a:r>
            <a:r>
              <a:rPr lang="en-US" altLang="zh-TW" dirty="0">
                <a:latin typeface="Courier" charset="0"/>
                <a:ea typeface="PMingLiU" pitchFamily="18" charset="-120"/>
              </a:rPr>
              <a:t>1.2 then class = b</a:t>
            </a:r>
            <a:endParaRPr lang="en-US" altLang="zh-TW" dirty="0">
              <a:latin typeface="Courier" charset="0"/>
              <a:ea typeface="PMingLiU" pitchFamily="18" charset="-120"/>
            </a:endParaRPr>
          </a:p>
          <a:p>
            <a:pPr>
              <a:lnSpc>
                <a:spcPct val="80000"/>
              </a:lnSpc>
              <a:spcBef>
                <a:spcPct val="50000"/>
              </a:spcBef>
            </a:pPr>
            <a:r>
              <a:rPr lang="en-US" altLang="zh-TW" dirty="0">
                <a:latin typeface="Courier" charset="0"/>
                <a:ea typeface="PMingLiU" pitchFamily="18" charset="-120"/>
              </a:rPr>
              <a:t>If x &gt; 1.2 then class = a</a:t>
            </a:r>
            <a:endParaRPr lang="en-US" altLang="zh-TW" dirty="0">
              <a:latin typeface="Courier" charset="0"/>
              <a:ea typeface="PMingLiU" pitchFamily="18" charset="-120"/>
            </a:endParaRPr>
          </a:p>
          <a:p>
            <a:pPr>
              <a:lnSpc>
                <a:spcPct val="80000"/>
              </a:lnSpc>
              <a:spcBef>
                <a:spcPct val="50000"/>
              </a:spcBef>
            </a:pPr>
            <a:r>
              <a:rPr lang="en-US" altLang="zh-TW" dirty="0">
                <a:latin typeface="Courier" charset="0"/>
                <a:ea typeface="PMingLiU" pitchFamily="18" charset="-120"/>
              </a:rPr>
              <a:t>If x &gt; 1.2 and y </a:t>
            </a:r>
            <a:r>
              <a:rPr lang="en-US" altLang="zh-TW" dirty="0">
                <a:latin typeface="Symbol" panose="05050102010706020507" pitchFamily="18" charset="2"/>
                <a:ea typeface="PMingLiU" pitchFamily="18" charset="-120"/>
              </a:rPr>
              <a:t>£ </a:t>
            </a:r>
            <a:r>
              <a:rPr lang="en-US" altLang="zh-TW" dirty="0">
                <a:latin typeface="Courier" charset="0"/>
                <a:ea typeface="PMingLiU" pitchFamily="18" charset="-120"/>
              </a:rPr>
              <a:t>2.6 then class = b</a:t>
            </a:r>
            <a:endParaRPr lang="en-US" altLang="zh-TW" dirty="0">
              <a:latin typeface="Courier" charset="0"/>
              <a:ea typeface="PMingLiU" pitchFamily="18" charset="-120"/>
            </a:endParaRPr>
          </a:p>
        </p:txBody>
      </p:sp>
      <p:sp>
        <p:nvSpPr>
          <p:cNvPr id="56325" name="Rectangle 2"/>
          <p:cNvSpPr>
            <a:spLocks noGrp="1"/>
          </p:cNvSpPr>
          <p:nvPr>
            <p:ph type="title"/>
          </p:nvPr>
        </p:nvSpPr>
        <p:spPr>
          <a:ln/>
        </p:spPr>
        <p:txBody>
          <a:bodyPr vert="horz" wrap="square" lIns="91440" tIns="45720" rIns="91440" bIns="45720" anchor="ctr" anchorCtr="0"/>
          <a:p>
            <a:pPr>
              <a:buNone/>
            </a:pPr>
            <a:r>
              <a:rPr lang="en-US" altLang="zh-TW" sz="3200" b="1" dirty="0">
                <a:latin typeface="Times New Roman" panose="02020603050405020304" pitchFamily="18" charset="0"/>
                <a:ea typeface="PMingLiU" pitchFamily="18" charset="-120"/>
              </a:rPr>
              <a:t>Constructing Rules</a:t>
            </a:r>
            <a:endParaRPr lang="en-US" altLang="zh-TW" sz="3200" b="1" dirty="0">
              <a:latin typeface="Times New Roman" panose="02020603050405020304" pitchFamily="18" charset="0"/>
              <a:ea typeface="PMingLiU" pitchFamily="18" charset="-12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6" name="Rectangle 2"/>
          <p:cNvSpPr>
            <a:spLocks noGrp="1"/>
          </p:cNvSpPr>
          <p:nvPr>
            <p:ph type="title"/>
          </p:nvPr>
        </p:nvSpPr>
        <p:spPr>
          <a:ln/>
        </p:spPr>
        <p:txBody>
          <a:bodyPr vert="horz" wrap="square" lIns="91440" tIns="45720" rIns="91440" bIns="45720" anchor="ctr" anchorCtr="0"/>
          <a:p>
            <a:pPr eaLnBrk="1" hangingPunct="1"/>
            <a:r>
              <a:rPr lang="en-US" altLang="x-none" sz="3200" b="1" dirty="0">
                <a:latin typeface="Times New Roman" panose="02020603050405020304" pitchFamily="18" charset="0"/>
                <a:cs typeface="Times New Roman" panose="02020603050405020304" pitchFamily="18" charset="0"/>
              </a:rPr>
              <a:t>How to Determine the Best Split</a:t>
            </a:r>
            <a:endParaRPr lang="en-US" altLang="x-none" sz="3200" b="1" dirty="0">
              <a:latin typeface="Times New Roman" panose="02020603050405020304" pitchFamily="18" charset="0"/>
              <a:ea typeface="Times New Roman" panose="02020603050405020304" pitchFamily="18" charset="0"/>
            </a:endParaRPr>
          </a:p>
        </p:txBody>
      </p:sp>
      <p:sp>
        <p:nvSpPr>
          <p:cNvPr id="28677" name="Rectangle 3"/>
          <p:cNvSpPr>
            <a:spLocks noGrp="1"/>
          </p:cNvSpPr>
          <p:nvPr>
            <p:ph idx="1"/>
          </p:nvPr>
        </p:nvSpPr>
        <p:spPr>
          <a:xfrm>
            <a:off x="685800" y="1524000"/>
            <a:ext cx="8001000" cy="4525963"/>
          </a:xfrm>
          <a:ln/>
        </p:spPr>
        <p:txBody>
          <a:bodyPr vert="horz" wrap="square" lIns="91440" tIns="45720" rIns="91440" bIns="45720" anchor="t" anchorCtr="0"/>
          <a:p>
            <a:pPr eaLnBrk="1" hangingPunct="1"/>
            <a:r>
              <a:rPr lang="en-US" altLang="x-none" sz="2400" dirty="0">
                <a:latin typeface="Times New Roman" panose="02020603050405020304" pitchFamily="18" charset="0"/>
                <a:cs typeface="Times New Roman" panose="02020603050405020304" pitchFamily="18" charset="0"/>
              </a:rPr>
              <a:t>Greedy approach: </a:t>
            </a:r>
            <a:endParaRPr lang="en-US" altLang="x-none" sz="2400" dirty="0">
              <a:latin typeface="Times New Roman" panose="02020603050405020304" pitchFamily="18" charset="0"/>
              <a:cs typeface="Times New Roman" panose="02020603050405020304" pitchFamily="18" charset="0"/>
            </a:endParaRPr>
          </a:p>
          <a:p>
            <a:pPr lvl="1" eaLnBrk="1" hangingPunct="1"/>
            <a:r>
              <a:rPr lang="en-US" altLang="x-none" sz="2400" dirty="0">
                <a:latin typeface="Times New Roman" panose="02020603050405020304" pitchFamily="18" charset="0"/>
                <a:cs typeface="Times New Roman" panose="02020603050405020304" pitchFamily="18" charset="0"/>
              </a:rPr>
              <a:t>Nodes with </a:t>
            </a:r>
            <a:r>
              <a:rPr lang="en-US" altLang="x-none" sz="2400" dirty="0">
                <a:solidFill>
                  <a:srgbClr val="FF0000"/>
                </a:solidFill>
                <a:latin typeface="Times New Roman" panose="02020603050405020304" pitchFamily="18" charset="0"/>
                <a:cs typeface="Times New Roman" panose="02020603050405020304" pitchFamily="18" charset="0"/>
              </a:rPr>
              <a:t>homogeneous</a:t>
            </a:r>
            <a:r>
              <a:rPr lang="en-US" altLang="x-none" sz="2400" dirty="0">
                <a:latin typeface="Times New Roman" panose="02020603050405020304" pitchFamily="18" charset="0"/>
                <a:cs typeface="Times New Roman" panose="02020603050405020304" pitchFamily="18" charset="0"/>
              </a:rPr>
              <a:t> class distribution are preferred</a:t>
            </a:r>
            <a:endParaRPr lang="en-US" altLang="x-none" sz="2400" dirty="0">
              <a:latin typeface="Times New Roman" panose="02020603050405020304" pitchFamily="18" charset="0"/>
              <a:cs typeface="Times New Roman" panose="02020603050405020304" pitchFamily="18" charset="0"/>
            </a:endParaRPr>
          </a:p>
          <a:p>
            <a:pPr eaLnBrk="1" hangingPunct="1"/>
            <a:r>
              <a:rPr lang="en-US" altLang="x-none" sz="2400" dirty="0">
                <a:latin typeface="Times New Roman" panose="02020603050405020304" pitchFamily="18" charset="0"/>
                <a:cs typeface="Times New Roman" panose="02020603050405020304" pitchFamily="18" charset="0"/>
              </a:rPr>
              <a:t>Need a measure of node impurity:</a:t>
            </a:r>
            <a:endParaRPr lang="en-US" altLang="x-none" sz="2400"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None/>
            </a:pPr>
            <a:endParaRPr lang="en-US" altLang="x-none" dirty="0"/>
          </a:p>
        </p:txBody>
      </p:sp>
      <p:graphicFrame>
        <p:nvGraphicFramePr>
          <p:cNvPr id="28674" name="Object 4"/>
          <p:cNvGraphicFramePr>
            <a:graphicFrameLocks noChangeAspect="1"/>
          </p:cNvGraphicFramePr>
          <p:nvPr>
            <p:ph sz="half" idx="1"/>
          </p:nvPr>
        </p:nvGraphicFramePr>
        <p:xfrm>
          <a:off x="2209800" y="3505200"/>
          <a:ext cx="903288" cy="712788"/>
        </p:xfrm>
        <a:graphic>
          <a:graphicData uri="http://schemas.openxmlformats.org/presentationml/2006/ole">
            <mc:AlternateContent xmlns:mc="http://schemas.openxmlformats.org/markup-compatibility/2006">
              <mc:Choice xmlns:v="urn:schemas-microsoft-com:vml" Requires="v">
                <p:oleObj spid="_x0000_s3104" name="" r:id="rId1" imgW="668655" imgH="599440" progId="Visio.Drawing.6">
                  <p:embed/>
                </p:oleObj>
              </mc:Choice>
              <mc:Fallback>
                <p:oleObj name="" r:id="rId1" imgW="668655" imgH="599440" progId="Visio.Drawing.6">
                  <p:embed/>
                  <p:pic>
                    <p:nvPicPr>
                      <p:cNvPr id="0" name="Picture 3103"/>
                      <p:cNvPicPr/>
                      <p:nvPr/>
                    </p:nvPicPr>
                    <p:blipFill>
                      <a:blip r:embed="rId2"/>
                      <a:srcRect/>
                      <a:stretch>
                        <a:fillRect/>
                      </a:stretch>
                    </p:blipFill>
                    <p:spPr>
                      <a:xfrm>
                        <a:off x="2209800" y="3505200"/>
                        <a:ext cx="903288" cy="712788"/>
                      </a:xfrm>
                      <a:prstGeom prst="rect">
                        <a:avLst/>
                      </a:prstGeom>
                      <a:noFill/>
                      <a:ln w="38100">
                        <a:miter/>
                      </a:ln>
                    </p:spPr>
                  </p:pic>
                </p:oleObj>
              </mc:Fallback>
            </mc:AlternateContent>
          </a:graphicData>
        </a:graphic>
      </p:graphicFrame>
      <p:graphicFrame>
        <p:nvGraphicFramePr>
          <p:cNvPr id="28675" name="Object 5"/>
          <p:cNvGraphicFramePr>
            <a:graphicFrameLocks noChangeAspect="1"/>
          </p:cNvGraphicFramePr>
          <p:nvPr>
            <p:ph sz="half" idx="1"/>
          </p:nvPr>
        </p:nvGraphicFramePr>
        <p:xfrm>
          <a:off x="5715000" y="3429000"/>
          <a:ext cx="903288" cy="712788"/>
        </p:xfrm>
        <a:graphic>
          <a:graphicData uri="http://schemas.openxmlformats.org/presentationml/2006/ole">
            <mc:AlternateContent xmlns:mc="http://schemas.openxmlformats.org/markup-compatibility/2006">
              <mc:Choice xmlns:v="urn:schemas-microsoft-com:vml" Requires="v">
                <p:oleObj spid="_x0000_s3105" name="" r:id="rId3" imgW="668655" imgH="599440" progId="Visio.Drawing.6">
                  <p:embed/>
                </p:oleObj>
              </mc:Choice>
              <mc:Fallback>
                <p:oleObj name="" r:id="rId3" imgW="668655" imgH="599440" progId="Visio.Drawing.6">
                  <p:embed/>
                  <p:pic>
                    <p:nvPicPr>
                      <p:cNvPr id="0" name="Picture 3104"/>
                      <p:cNvPicPr/>
                      <p:nvPr/>
                    </p:nvPicPr>
                    <p:blipFill>
                      <a:blip r:embed="rId4"/>
                      <a:srcRect/>
                      <a:stretch>
                        <a:fillRect/>
                      </a:stretch>
                    </p:blipFill>
                    <p:spPr>
                      <a:xfrm>
                        <a:off x="5715000" y="3429000"/>
                        <a:ext cx="903288" cy="712788"/>
                      </a:xfrm>
                      <a:prstGeom prst="rect">
                        <a:avLst/>
                      </a:prstGeom>
                      <a:noFill/>
                      <a:ln w="38100">
                        <a:miter/>
                      </a:ln>
                    </p:spPr>
                  </p:pic>
                </p:oleObj>
              </mc:Fallback>
            </mc:AlternateContent>
          </a:graphicData>
        </a:graphic>
      </p:graphicFrame>
      <p:sp>
        <p:nvSpPr>
          <p:cNvPr id="28678" name="Text Box 6"/>
          <p:cNvSpPr txBox="1"/>
          <p:nvPr/>
        </p:nvSpPr>
        <p:spPr>
          <a:xfrm>
            <a:off x="1371600" y="4495800"/>
            <a:ext cx="2819400" cy="779463"/>
          </a:xfrm>
          <a:prstGeom prst="rect">
            <a:avLst/>
          </a:prstGeom>
          <a:noFill/>
          <a:ln w="12700">
            <a:noFill/>
          </a:ln>
        </p:spPr>
        <p:txBody>
          <a:bodyPr>
            <a:spAutoFit/>
          </a:bodyPr>
          <a:p>
            <a:pPr eaLnBrk="0" hangingPunct="0">
              <a:spcBef>
                <a:spcPct val="50000"/>
              </a:spcBef>
            </a:pPr>
            <a:r>
              <a:rPr lang="en-US" altLang="x-none" dirty="0">
                <a:latin typeface="Times New Roman" panose="02020603050405020304" pitchFamily="18" charset="0"/>
                <a:cs typeface="Times New Roman" panose="02020603050405020304" pitchFamily="18" charset="0"/>
              </a:rPr>
              <a:t>Non-homogeneous,</a:t>
            </a:r>
            <a:endParaRPr lang="en-US" altLang="x-none" dirty="0">
              <a:latin typeface="Times New Roman" panose="02020603050405020304" pitchFamily="18" charset="0"/>
              <a:cs typeface="Times New Roman" panose="02020603050405020304" pitchFamily="18" charset="0"/>
            </a:endParaRPr>
          </a:p>
          <a:p>
            <a:pPr eaLnBrk="0" hangingPunct="0">
              <a:spcBef>
                <a:spcPct val="50000"/>
              </a:spcBef>
            </a:pPr>
            <a:r>
              <a:rPr lang="en-US" altLang="x-none" dirty="0">
                <a:latin typeface="Times New Roman" panose="02020603050405020304" pitchFamily="18" charset="0"/>
                <a:cs typeface="Times New Roman" panose="02020603050405020304" pitchFamily="18" charset="0"/>
              </a:rPr>
              <a:t>High degree of impurity</a:t>
            </a:r>
            <a:endParaRPr lang="en-US" altLang="x-none" dirty="0">
              <a:latin typeface="Times New Roman" panose="02020603050405020304" pitchFamily="18" charset="0"/>
              <a:ea typeface="Times New Roman" panose="02020603050405020304" pitchFamily="18" charset="0"/>
            </a:endParaRPr>
          </a:p>
        </p:txBody>
      </p:sp>
      <p:sp>
        <p:nvSpPr>
          <p:cNvPr id="28679" name="Text Box 7"/>
          <p:cNvSpPr txBox="1"/>
          <p:nvPr/>
        </p:nvSpPr>
        <p:spPr>
          <a:xfrm>
            <a:off x="5181600" y="4572000"/>
            <a:ext cx="2819400" cy="862013"/>
          </a:xfrm>
          <a:prstGeom prst="rect">
            <a:avLst/>
          </a:prstGeom>
          <a:noFill/>
          <a:ln w="12700">
            <a:noFill/>
          </a:ln>
        </p:spPr>
        <p:txBody>
          <a:bodyPr>
            <a:spAutoFit/>
          </a:bodyPr>
          <a:p>
            <a:pPr eaLnBrk="0" hangingPunct="0">
              <a:spcBef>
                <a:spcPct val="50000"/>
              </a:spcBef>
            </a:pPr>
            <a:r>
              <a:rPr lang="en-US" altLang="x-none" sz="2000" dirty="0">
                <a:latin typeface="Times New Roman" panose="02020603050405020304" pitchFamily="18" charset="0"/>
                <a:cs typeface="Times New Roman" panose="02020603050405020304" pitchFamily="18" charset="0"/>
              </a:rPr>
              <a:t>Homogeneous,</a:t>
            </a:r>
            <a:endParaRPr lang="en-US" altLang="x-none" sz="2000" dirty="0">
              <a:latin typeface="Times New Roman" panose="02020603050405020304" pitchFamily="18" charset="0"/>
              <a:cs typeface="Times New Roman" panose="02020603050405020304" pitchFamily="18" charset="0"/>
            </a:endParaRPr>
          </a:p>
          <a:p>
            <a:pPr eaLnBrk="0" hangingPunct="0">
              <a:spcBef>
                <a:spcPct val="50000"/>
              </a:spcBef>
            </a:pPr>
            <a:r>
              <a:rPr lang="en-US" altLang="x-none" sz="2000" dirty="0">
                <a:latin typeface="Times New Roman" panose="02020603050405020304" pitchFamily="18" charset="0"/>
                <a:cs typeface="Times New Roman" panose="02020603050405020304" pitchFamily="18" charset="0"/>
              </a:rPr>
              <a:t>Low degree of impurity</a:t>
            </a:r>
            <a:endParaRPr lang="en-US" altLang="x-none" sz="2000" dirty="0">
              <a:latin typeface="Times New Roman" panose="02020603050405020304" pitchFamily="18" charset="0"/>
              <a:ea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7621</Words>
  <Application>WPS Presentation</Application>
  <PresentationFormat/>
  <Paragraphs>808</Paragraphs>
  <Slides>48</Slides>
  <Notes>2</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31</vt:i4>
      </vt:variant>
      <vt:variant>
        <vt:lpstr>幻灯片标题</vt:lpstr>
      </vt:variant>
      <vt:variant>
        <vt:i4>48</vt:i4>
      </vt:variant>
    </vt:vector>
  </HeadingPairs>
  <TitlesOfParts>
    <vt:vector size="98" baseType="lpstr">
      <vt:lpstr>Arial</vt:lpstr>
      <vt:lpstr>SimSun</vt:lpstr>
      <vt:lpstr>Wingdings</vt:lpstr>
      <vt:lpstr>Calibri</vt:lpstr>
      <vt:lpstr>Times New Roman</vt:lpstr>
      <vt:lpstr>Symbol</vt:lpstr>
      <vt:lpstr>Monotype Sorts</vt:lpstr>
      <vt:lpstr>Wingdings</vt:lpstr>
      <vt:lpstr>Comic Sans MS</vt:lpstr>
      <vt:lpstr>PMingLiU</vt:lpstr>
      <vt:lpstr>MingLiU-ExtB</vt:lpstr>
      <vt:lpstr>Times</vt:lpstr>
      <vt:lpstr>Courier</vt:lpstr>
      <vt:lpstr>Courier New</vt:lpstr>
      <vt:lpstr>Tahoma</vt:lpstr>
      <vt:lpstr>DejaVu Sans</vt:lpstr>
      <vt:lpstr>Microsoft YaHei</vt:lpstr>
      <vt:lpstr>Arial Unicode MS</vt:lpstr>
      <vt:lpstr>Office Theme</vt:lpstr>
      <vt:lpstr>Visio.Drawing.6</vt:lpstr>
      <vt:lpstr>Word.Document.8</vt:lpstr>
      <vt:lpstr>Visio.Drawing.6</vt:lpstr>
      <vt:lpstr>Visio.Drawing.6</vt:lpstr>
      <vt:lpstr>Paint.Picture</vt:lpstr>
      <vt:lpstr>Excel.Sheet.8</vt:lpstr>
      <vt:lpstr>Excel.Sheet.8</vt:lpstr>
      <vt:lpstr>Excel.Sheet.8</vt:lpstr>
      <vt:lpstr>Paint.Picture</vt:lpstr>
      <vt:lpstr>Excel.Sheet.8</vt:lpstr>
      <vt:lpstr>Paint.Picture</vt:lpstr>
      <vt:lpstr>Word.Document.8</vt:lpstr>
      <vt:lpstr>Excel.Sheet.8</vt:lpstr>
      <vt:lpstr>Excel.Sheet.8</vt:lpstr>
      <vt:lpstr>Paint.Picture</vt:lpstr>
      <vt:lpstr>Paint.Picture</vt:lpstr>
      <vt:lpstr>Paint.Picture</vt:lpstr>
      <vt:lpstr>Excel.Sheet.8</vt:lpstr>
      <vt:lpstr>Paint.Picture</vt:lpstr>
      <vt:lpstr>Excel.Sheet.8</vt:lpstr>
      <vt:lpstr>Paint.Picture</vt:lpstr>
      <vt:lpstr>Excel.Sheet.8</vt:lpstr>
      <vt:lpstr>Word.Document.8</vt:lpstr>
      <vt:lpstr>Visio.Drawing.6</vt:lpstr>
      <vt:lpstr>Visio.Drawing.6</vt:lpstr>
      <vt:lpstr>Visio.Drawing.6</vt:lpstr>
      <vt:lpstr>Word.Document.8</vt:lpstr>
      <vt:lpstr>Word.Document.8</vt:lpstr>
      <vt:lpstr>Word.Document.8</vt:lpstr>
      <vt:lpstr>Word.Document.8</vt:lpstr>
      <vt:lpstr>Word.Document.8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PhD</dc:title>
  <dc:creator>luser</dc:creator>
  <cp:lastModifiedBy>Muhammad Minhal Raza</cp:lastModifiedBy>
  <cp:revision>412</cp:revision>
  <dcterms:created xsi:type="dcterms:W3CDTF">2011-04-29T16:46:39Z</dcterms:created>
  <dcterms:modified xsi:type="dcterms:W3CDTF">2025-10-13T15:14:38Z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FF721F3D2E53463BA0DF006304DE6F05_12</vt:lpwstr>
  </property>
  <property fmtid="{D5CDD505-2E9C-101B-9397-08002B2CF9AE}" pid="3" name="KSOProductBuildVer">
    <vt:lpwstr>1033-12.2.0.23131</vt:lpwstr>
  </property>
</Properties>
</file>