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88" r:id="rId8"/>
    <p:sldId id="290" r:id="rId9"/>
    <p:sldId id="291" r:id="rId10"/>
    <p:sldId id="292" r:id="rId11"/>
    <p:sldId id="293" r:id="rId12"/>
    <p:sldId id="295" r:id="rId13"/>
    <p:sldId id="296" r:id="rId14"/>
    <p:sldId id="297" r:id="rId15"/>
    <p:sldId id="298" r:id="rId16"/>
    <p:sldId id="299" r:id="rId17"/>
    <p:sldId id="282" r:id="rId18"/>
    <p:sldId id="283" r:id="rId19"/>
    <p:sldId id="28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8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5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6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9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1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58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8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6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0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48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1981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17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56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42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32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4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60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2329" y="2665615"/>
            <a:ext cx="6069268" cy="1373070"/>
          </a:xfrm>
        </p:spPr>
        <p:txBody>
          <a:bodyPr/>
          <a:lstStyle/>
          <a:p>
            <a:pPr>
              <a:defRPr sz="4000">
                <a:solidFill>
                  <a:srgbClr val="8A2BE2"/>
                </a:solidFill>
              </a:defRPr>
            </a:pPr>
            <a:r>
              <a:rPr sz="36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E6E6FA"/>
                </a:solidFill>
              </a:defRPr>
            </a:pPr>
            <a:r>
              <a:rPr dirty="0"/>
              <a:t>Dimensionality reduction, step-by-step calculations, examples, and interpretation</a:t>
            </a:r>
            <a:r>
              <a:rPr lang="en-US" dirty="0"/>
              <a:t> </a:t>
            </a:r>
          </a:p>
          <a:p>
            <a:pPr>
              <a:defRPr sz="2000">
                <a:solidFill>
                  <a:srgbClr val="E6E6FA"/>
                </a:solidFill>
              </a:defRPr>
            </a:pPr>
            <a:r>
              <a:rPr lang="en-US" dirty="0"/>
              <a:t>Kinza 23K-0842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668" y="1834166"/>
            <a:ext cx="7657289" cy="4620638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Introduction to PCA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Mathematical foundation &amp; optimization theory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Detailed covariance &amp; correlation mathematics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Matrix operations in PCA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Eigenvalues &amp; eigenvectors (detailed linear algebra)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Step-by-step numerical example with full calculations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Complete matrix representations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Applications, advantages &amp; limitations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Key mathematical formulas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184362"/>
            <a:ext cx="9011195" cy="5354574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PCA reduces dimensionality while preserving variance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Transforms correlated features into uncorrelated principal components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Useful for: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Visualization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Noise reduction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Feature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018" y="1870923"/>
            <a:ext cx="7628106" cy="4233849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Mathematical Foundation: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Given data matrix X ∈ ℝⁿˣᵖ with n observations and p features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Goal: Find projection matrix W ∈ </a:t>
            </a:r>
            <a:r>
              <a:rPr sz="14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ℝᵖˣ</a:t>
            </a: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ᵏ (k &lt; p) such that:</a:t>
            </a:r>
          </a:p>
          <a:p>
            <a:pPr marL="0" indent="0">
              <a:buNone/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Y = XW captures maximum variance</a:t>
            </a:r>
          </a:p>
          <a:p>
            <a:pPr marL="0" indent="0">
              <a:buNone/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Columns of W are orthonormal (W^T W = I)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Optimization Problem: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maximize: Var(W^T X) = W^T Σ W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subject to: ||W|| = 1 (unit vector)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Solution: Use Lagrange multipliers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 = W^T Σ W - λ(W^T W - 1)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Taking derivative: ∂L/∂W = 2ΣW - 2λW = 0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This gives: ΣW = </a:t>
            </a:r>
            <a:r>
              <a:rPr sz="14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λW</a:t>
            </a: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(eigenvalue equation!)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Covariance &amp; Correlation (Mathematical Details)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7178040" cy="3954989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Covariance: Measures joint variability of two variables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Definition: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Cov(X,Y) = E[(X - E[X])(Y - E[Y])]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= (1/(n-1)) × Σᵢ₌₁ⁿ (Xᵢ - X̄)(Yᵢ - Ȳ)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Sample Covariance Matrix Σ: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Σᵢⱼ = Cov(Xᵢ, Xⱼ)  for features </a:t>
            </a:r>
            <a:r>
              <a:rPr sz="14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i</a:t>
            </a: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and j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Properties: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Cov(X,X) = Var(X) ≥ 0  (diagonal elements)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Cov(X,Y) = Cov(Y,X)  (symmetric matrix)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|Cov(X,Y)| ≤ √(Var(X)Var(Y))  (Cauchy-Schwarz)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Correlation Coefficient: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ρ(X,Y) = Cov(X,Y) / (</a:t>
            </a:r>
            <a:r>
              <a:rPr sz="14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σₓσ</a:t>
            </a: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ᵧ)  ∈ [-1, 1]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Matrix Form: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Σ = (1/(n-1)) × (X - 1ₙX̄^T)^T (X - 1ₙX̄^T)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239" y="793868"/>
            <a:ext cx="6896534" cy="10809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8F40D2-430F-AD83-6CBA-2889E71C4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02" y="2186787"/>
            <a:ext cx="6691878" cy="4116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3F07D-FBB3-5B7D-49A5-8C2ED997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7FFD-6246-2DEF-6AB7-A9288676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9745CF-F87B-E90D-733D-307F7D7B5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39" y="2529756"/>
            <a:ext cx="7060569" cy="273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66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3FBB-80AA-468D-302B-40DAC06E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8EA0-11DD-A525-504F-FCD94EDB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1A22B5-AE61-7271-E5B4-E7B1B299E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19" t="3533" r="7946" b="1884"/>
          <a:stretch>
            <a:fillRect/>
          </a:stretch>
        </p:blipFill>
        <p:spPr>
          <a:xfrm>
            <a:off x="1361440" y="2184400"/>
            <a:ext cx="4338320" cy="412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1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4484A-EEEE-C22F-5ED1-02A63987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4261B-D1AC-D40F-1E56-4211FD90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3E34D-6CA3-8431-58B5-62760FF16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68" y="2817378"/>
            <a:ext cx="7049607" cy="237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9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D370-4D5E-6B61-C594-FEB2E516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4299-47FB-23F3-19FF-7A15A2B4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72E3C-0200-B609-8DF0-98B78F339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76" y="2283311"/>
            <a:ext cx="4770533" cy="40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66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98B39-4130-95B2-1986-338CF111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D206-475A-D30B-735B-946B8FA7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6E423-9DB4-9704-4017-529E98845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48" y="2459836"/>
            <a:ext cx="5681151" cy="36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88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2DC77-6037-91C7-BBE0-7CF10507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F927-AEC2-8E63-697F-9CE0711C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1E4378-AE9A-471A-53B3-BC8240C0F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69" y="2314955"/>
            <a:ext cx="5653761" cy="400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42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450C-BBD1-6C00-E032-861DD023F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1060-191F-13CE-281B-CDF24443C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5A862-FC7E-9B0E-FD68-7C0E30E8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16" y="2833918"/>
            <a:ext cx="6866565" cy="261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C495F-AF9D-877E-967B-B3347801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71E3-C87F-E892-90B0-1BA755E7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CBB7E-F3A7-6B57-E675-A97F7406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8" y="2833919"/>
            <a:ext cx="6973974" cy="238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57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470DC-3205-F99A-F495-BA4296914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25C3F-66AA-D1B0-49AF-8E6FFAFC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3B676-A2BE-ABF0-83F2-105066222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56" y="2182849"/>
            <a:ext cx="5541478" cy="420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30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5677D-0108-C0D7-4075-CD57B810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6398-AB69-285F-22A7-9DCD6025E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59" y="946268"/>
            <a:ext cx="6896534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Mathematical Formulation (Solved Example) </a:t>
            </a:r>
            <a:b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24136-CB56-80BA-E7DE-208F3F5FE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77" y="2621347"/>
            <a:ext cx="6638325" cy="249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10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Applications of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60" y="2133673"/>
            <a:ext cx="6887389" cy="3599316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Applications of PCA: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1. Dimensionality reduction for high-dimensional data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   → Reduce from 1000 features to 50 principal components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2. Visualization in 2D/3D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   → Project high-dimensional data to 2D for plotting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3. Noise reduction in datasets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   → Remove components with low variance (often noise)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4. Preprocessing for machine learning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   → Reduce features before training models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   → Remove multicollinearity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5. Feature extraction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2300" dirty="0">
                <a:solidFill>
                  <a:schemeClr val="bg1"/>
                </a:solidFill>
              </a:rPr>
              <a:t>   → Create new features that capture most information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280" y="2113353"/>
            <a:ext cx="6887389" cy="3599316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A</a:t>
            </a:r>
            <a:r>
              <a:rPr sz="1700" dirty="0">
                <a:solidFill>
                  <a:schemeClr val="bg1"/>
                </a:solidFill>
              </a:rPr>
              <a:t>dvantages: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Reduces dimensionality → faster algorithms, less storage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Removes multicollinearity → uncorrelated features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Preserves maximum variance → minimal information loss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No labels required → unsupervised method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Limitations: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Linear assumptions → may miss non-linear relationships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May lose interpretability → components are linear combinations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Sensitive to scaling → features must be standardized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Assumes variance = importance → may not always be true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1834166"/>
            <a:ext cx="6887389" cy="35993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1800" dirty="0">
                <a:solidFill>
                  <a:schemeClr val="bg1"/>
                </a:solidFill>
              </a:rPr>
              <a:t>Key Takeaways: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>
                <a:solidFill>
                  <a:schemeClr val="bg1"/>
                </a:solidFill>
              </a:rPr>
              <a:t>• PCA transforms correlated features into uncorrelated principal components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>
                <a:solidFill>
                  <a:schemeClr val="bg1"/>
                </a:solidFill>
              </a:rPr>
              <a:t>• Key steps: Standardize → Covariance → Eigen decomposition → Projection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>
                <a:solidFill>
                  <a:schemeClr val="bg1"/>
                </a:solidFill>
              </a:rPr>
              <a:t>• Eigenvalues indicate variance explained by each component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>
                <a:solidFill>
                  <a:schemeClr val="bg1"/>
                </a:solidFill>
              </a:rPr>
              <a:t>• Choose number of components based on explained variance (e.g., 95%)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>
                <a:solidFill>
                  <a:schemeClr val="bg1"/>
                </a:solidFill>
              </a:rPr>
              <a:t>• First PC captures maximum variance, second PC captures second maximum (orthogonal), etc.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>
                <a:solidFill>
                  <a:schemeClr val="bg1"/>
                </a:solidFill>
              </a:rPr>
              <a:t>• Useful for visualization, noise reduction, and feature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51</TotalTime>
  <Words>731</Words>
  <Application>Microsoft Office PowerPoint</Application>
  <PresentationFormat>On-screen Show (4:3)</PresentationFormat>
  <Paragraphs>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Trebuchet MS</vt:lpstr>
      <vt:lpstr>Berlin</vt:lpstr>
      <vt:lpstr>Principal Component Analysis (PCA)</vt:lpstr>
      <vt:lpstr>Agenda</vt:lpstr>
      <vt:lpstr>Introduction</vt:lpstr>
      <vt:lpstr>Mathematical Foundation</vt:lpstr>
      <vt:lpstr>Covariance &amp; Correlation (Mathematical Details)</vt:lpstr>
      <vt:lpstr>Mathematical Formulation (Solved Example) </vt:lpstr>
      <vt:lpstr>Mathematical Formulation (Solved Example)  </vt:lpstr>
      <vt:lpstr>Mathematical Formulation (Solved Example)  </vt:lpstr>
      <vt:lpstr>Mathematical Formulation (Solved Example)  </vt:lpstr>
      <vt:lpstr>Mathematical Formulation (Solved Example)  </vt:lpstr>
      <vt:lpstr>Mathematical Formulation (Solved Example)  </vt:lpstr>
      <vt:lpstr>Mathematical Formulation (Solved Example)  </vt:lpstr>
      <vt:lpstr>Mathematical Formulation (Solved Example)  </vt:lpstr>
      <vt:lpstr>Mathematical Formulation (Solved Example)  </vt:lpstr>
      <vt:lpstr>Mathematical Formulation (Solved Example)  </vt:lpstr>
      <vt:lpstr>Mathematical Formulation (Solved Example)  </vt:lpstr>
      <vt:lpstr>Applications of PCA</vt:lpstr>
      <vt:lpstr>Advantages &amp; Limitations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muhammadhussain150907@gmail.com</cp:lastModifiedBy>
  <cp:revision>3</cp:revision>
  <dcterms:created xsi:type="dcterms:W3CDTF">2013-01-27T09:14:16Z</dcterms:created>
  <dcterms:modified xsi:type="dcterms:W3CDTF">2025-11-29T08:50:12Z</dcterms:modified>
  <cp:category/>
</cp:coreProperties>
</file>