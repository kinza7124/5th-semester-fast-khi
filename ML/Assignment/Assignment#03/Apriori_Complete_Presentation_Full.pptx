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1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4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2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1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80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1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1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3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6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9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72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829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26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58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63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03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7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11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1641" y="2733709"/>
            <a:ext cx="6069268" cy="1373070"/>
          </a:xfrm>
        </p:spPr>
        <p:txBody>
          <a:bodyPr/>
          <a:lstStyle/>
          <a:p>
            <a:pPr>
              <a:defRPr sz="4000">
                <a:solidFill>
                  <a:srgbClr val="8A2BE2"/>
                </a:solidFill>
              </a:defRPr>
            </a:pPr>
            <a:r>
              <a:rPr lang="en-US" b="1" dirty="0">
                <a:solidFill>
                  <a:srgbClr val="DC143C"/>
                </a:solidFill>
              </a:rPr>
              <a:t>APRIORI ALGORITHM</a:t>
            </a:r>
            <a:br>
              <a:rPr lang="en-US" b="1" dirty="0">
                <a:solidFill>
                  <a:srgbClr val="DC143C"/>
                </a:solidFill>
              </a:rPr>
            </a:br>
            <a:r>
              <a:rPr b="1" dirty="0">
                <a:solidFill>
                  <a:srgbClr val="DC143C"/>
                </a:solidFill>
              </a:rPr>
              <a:t> </a:t>
            </a:r>
            <a:r>
              <a:rPr lang="en-US" b="1" dirty="0">
                <a:solidFill>
                  <a:srgbClr val="DC143C"/>
                </a:solidFill>
              </a:rPr>
              <a:t>KINZA 23K-0842</a:t>
            </a:r>
            <a:endParaRPr b="1" dirty="0">
              <a:solidFill>
                <a:srgbClr val="DC143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6E6FA"/>
                </a:solidFill>
              </a:defRPr>
            </a:pPr>
            <a:r>
              <a:rPr dirty="0"/>
              <a:t>Step-by-step formulas, worked examples, pseudocode, and interpretations (Beginner friendly)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1928312"/>
            <a:ext cx="6887389" cy="35993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Introduction &amp; Key Concepts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 err="1"/>
              <a:t>Apriori</a:t>
            </a:r>
            <a:r>
              <a:rPr dirty="0"/>
              <a:t> principle &amp; Pseudocode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Worked Example — full iteration tables and arithmetic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Rule generation: confidence &amp; lift with calculations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Second example (Tea &amp; Biscuits) + interpretation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Real-world supermarket example + suggested actions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Parameters, complexity &amp; optimizations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Advantages &amp; limitations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7178040" cy="3423848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 err="1"/>
              <a:t>Apriori</a:t>
            </a:r>
            <a:r>
              <a:rPr dirty="0"/>
              <a:t> finds frequent </a:t>
            </a:r>
            <a:r>
              <a:rPr dirty="0" err="1"/>
              <a:t>itemsets</a:t>
            </a:r>
            <a:r>
              <a:rPr dirty="0"/>
              <a:t> in a transaction database and derives association rules.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Typical use: Market basket analysis (what customers buy together).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Inputs: Transaction set T, minimum support </a:t>
            </a:r>
            <a:r>
              <a:rPr dirty="0" err="1"/>
              <a:t>min_sup</a:t>
            </a:r>
            <a:r>
              <a:rPr dirty="0"/>
              <a:t>, minimum confidence </a:t>
            </a:r>
            <a:r>
              <a:rPr dirty="0" err="1"/>
              <a:t>min_conf</a:t>
            </a:r>
            <a:r>
              <a:rPr dirty="0"/>
              <a:t>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Outputs: Frequent </a:t>
            </a:r>
            <a:r>
              <a:rPr dirty="0" err="1"/>
              <a:t>itemsets</a:t>
            </a:r>
            <a:r>
              <a:rPr dirty="0"/>
              <a:t> and high-confidence association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Key Concepts &amp;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" y="2103121"/>
            <a:ext cx="7406640" cy="37490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Transaction: e.g., T1 = {Milk, Bread, Butter}.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Itemset: any set of items (1-itemset, 2-itemset, ...).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Support(X) = |{t ∈ T : X ⊆ t}| / |T|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  → Example: If X appears in 3 of 10 transactions, support(X) = 3/10 = 0.3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Confidence(A→B) = support(A∪B) / support(A)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  → Interprets as P(B | A)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Lift(A→B) = support(A∪B) / (support(A) × support(B))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  → Lift &gt; 1: positive association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  → Lift ≈ 1: independent</a:t>
            </a:r>
          </a:p>
          <a:p>
            <a:pPr>
              <a:defRPr sz="1400">
                <a:solidFill>
                  <a:srgbClr val="E6E6FA"/>
                </a:solidFill>
              </a:defRPr>
            </a:pPr>
            <a:r>
              <a:rPr sz="1600" dirty="0"/>
              <a:t>  → Lift &lt; 1: negative association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 err="1">
                <a:solidFill>
                  <a:srgbClr val="DC143C"/>
                </a:solidFill>
              </a:rPr>
              <a:t>Apriori</a:t>
            </a:r>
            <a:r>
              <a:rPr b="1" dirty="0">
                <a:solidFill>
                  <a:srgbClr val="DC143C"/>
                </a:solidFill>
              </a:rPr>
              <a:t> Principle (Intuition)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7822660" cy="3767899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If an itemset is frequent, all of its subsets must be frequent.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Example: If {A,B,C} is frequent, then {A,B}, {A,C}, {B,C}, {A}, {B}, {C} are all frequent.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Use this to prune: when a candidate has any infrequent subset, drop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Detailed Pseudocode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2852" y="1857455"/>
            <a:ext cx="122435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Apriori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(T,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min_sup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):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T: list of transactions (sets)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min_sup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: fraction (e.g., 0.4 for 40%)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L1 = find_frequent_1_itemsets(T,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min_sup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)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k = 2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L = {1: L1}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while L[k-1] is not empty: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Ck =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apriori_gen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(L[k-1])      # join + prune step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for each transaction t in T: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for each candidate c in Ck: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if c subset of t: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 count[c] += 1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Lk = { c in Ck | count[c] / |T| &gt;=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min_sup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}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L[k] = Lk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k += 1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return union of all L[k]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endParaRPr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apriori_gen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(Lk_minus_1):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join step: join pairs in Lk_minus_1 with first k-2 items equal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prune step: remove candidate if any (k-1)-subset is not in Lk_minus_1</a:t>
            </a:r>
          </a:p>
          <a:p>
            <a:pPr>
              <a:defRPr sz="1200">
                <a:solidFill>
                  <a:srgbClr val="6495ED"/>
                </a:solidFill>
                <a:latin typeface="Courier New"/>
              </a:defRPr>
            </a:pP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return candidate set 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How the Algorithm Executes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829" y="1712069"/>
            <a:ext cx="7186154" cy="3988340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1. Scan DB once to count all single items ⇒ produce L1 (frequent 1-itemsets).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2. From L1 generate candidate pairs C2 (all combinations of L1 items).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3. Scan DB and count C2 occurrences ⇒ filter by </a:t>
            </a:r>
            <a:r>
              <a:rPr dirty="0" err="1"/>
              <a:t>min_sup</a:t>
            </a:r>
            <a:r>
              <a:rPr dirty="0"/>
              <a:t> ⇒ L2.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4. From L2 generate C3 (join L2 items that share prefix), prune using </a:t>
            </a:r>
            <a:r>
              <a:rPr dirty="0" err="1"/>
              <a:t>Apriori</a:t>
            </a:r>
            <a:r>
              <a:rPr dirty="0"/>
              <a:t>, count and filter ⇒ L3, etc.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5. Continue until no Lk is produced.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6. Generate rules from frequent </a:t>
            </a:r>
            <a:r>
              <a:rPr dirty="0" err="1"/>
              <a:t>itemsets</a:t>
            </a:r>
            <a:r>
              <a:rPr dirty="0"/>
              <a:t> by computing confidence and filtering by </a:t>
            </a:r>
            <a:r>
              <a:rPr dirty="0" err="1"/>
              <a:t>min_conf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Worked Example: Dataset (Setup)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65020"/>
            <a:ext cx="8488680" cy="454172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Dataset (5 transactions):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T1: {A, B, C}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T2: {A, B}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T3: {A, C}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T4: {B, C}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T5: {A, B, C}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Total transactions |T| = 5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Set </a:t>
            </a:r>
            <a:r>
              <a:rPr dirty="0" err="1"/>
              <a:t>min_sup</a:t>
            </a:r>
            <a:r>
              <a:rPr dirty="0"/>
              <a:t> = 40% = 0.4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That means an itemset must appear in at least 0.4 × 5 = 2 transactions.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So required count ≥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L1 Calculat</a:t>
            </a:r>
            <a:r>
              <a:rPr lang="en-US" b="1" dirty="0">
                <a:solidFill>
                  <a:srgbClr val="DC143C"/>
                </a:solidFill>
              </a:rPr>
              <a:t>ion</a:t>
            </a:r>
            <a:endParaRPr b="1" dirty="0">
              <a:solidFill>
                <a:srgbClr val="DC143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108939"/>
            <a:ext cx="8894463" cy="4359955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 every single item across T1..T5: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Count(A) = appears in T1, T2, T3, T5 → 4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Support(A) = 4/5 = 0.8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Count(B) = T1, T2, T4, T5 → 4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Support(B) = 4/5 = 0.8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Count(C) = T1, T3, T4, T5 → 4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Support(C) = 4/5 = 0.8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All supports ≥ 0.4 → L1 = {A, B, C}.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C143C"/>
                </a:solidFill>
              </a:rPr>
              <a:t>L1 Calculation Table</a:t>
            </a:r>
            <a:endParaRPr b="1" dirty="0">
              <a:solidFill>
                <a:srgbClr val="DC143C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621782"/>
              </p:ext>
            </p:extLst>
          </p:nvPr>
        </p:nvGraphicFramePr>
        <p:xfrm>
          <a:off x="359923" y="2840476"/>
          <a:ext cx="8229600" cy="17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0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0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Item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Count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Support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307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4/5 = 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69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4/5 = 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307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4/5 = 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Generate C2 (Candidates) — Explain Join &amp; Prune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511918"/>
            <a:ext cx="9016678" cy="5023833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From L1 = {A,B,C}, all 2-combinations: {AB, AC, BC}.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No pruning necessary (all 1-subsets are frequent).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 each by scanning transactions: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AB appears in T1, T2, T5 ⇒ count = 3 → support = 3/5 = 0.6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AC appears in T1, T3, T5 ⇒ count = 3 → support = 0.6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BC appears in T1, T4, T5 ⇒ count = 3 → support = 0.6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All ≥ 0.4 → L2 = {AB, AC, BC}.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C143C"/>
                </a:solidFill>
              </a:rPr>
              <a:t>C2 Calculation Table</a:t>
            </a:r>
            <a:endParaRPr b="1" dirty="0">
              <a:solidFill>
                <a:srgbClr val="DC143C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524970"/>
              </p:ext>
            </p:extLst>
          </p:nvPr>
        </p:nvGraphicFramePr>
        <p:xfrm>
          <a:off x="531639" y="2748988"/>
          <a:ext cx="8229600" cy="2392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Itemset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Count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Support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93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3/5 = 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6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3/5 = 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8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3/5 = 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Generate C3 and L3</a:t>
            </a:r>
            <a:r>
              <a:rPr lang="en-US" b="1" dirty="0">
                <a:solidFill>
                  <a:srgbClr val="DC143C"/>
                </a:solidFill>
              </a:rPr>
              <a:t> </a:t>
            </a:r>
            <a:endParaRPr b="1" dirty="0">
              <a:solidFill>
                <a:srgbClr val="DC143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358" y="2284452"/>
            <a:ext cx="7859210" cy="5011838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From L2, make C3 candidate by joining AB &amp; AC → ABC (since AB and AC share prefix A).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Count ABC across transactions: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ABC appears in T1 and T5 → count = 2 → support = 2/5 = 0.4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Because support(ABC) = 0.4 ≥ </a:t>
            </a:r>
            <a:r>
              <a:rPr dirty="0" err="1"/>
              <a:t>min_sup</a:t>
            </a:r>
            <a:r>
              <a:rPr dirty="0"/>
              <a:t>, L3 = {ABC}.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926848"/>
            <a:ext cx="6896534" cy="1080938"/>
          </a:xfrm>
        </p:spPr>
        <p:txBody>
          <a:bodyPr/>
          <a:lstStyle/>
          <a:p>
            <a:r>
              <a:rPr lang="en-US" b="1" dirty="0">
                <a:solidFill>
                  <a:srgbClr val="DC143C"/>
                </a:solidFill>
              </a:rPr>
              <a:t>C3 Calculation Table</a:t>
            </a:r>
            <a:br>
              <a:rPr lang="en-US" b="1" dirty="0">
                <a:solidFill>
                  <a:srgbClr val="DC143C"/>
                </a:solidFill>
              </a:rPr>
            </a:br>
            <a:endParaRPr b="1" dirty="0">
              <a:solidFill>
                <a:srgbClr val="DC143C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166096"/>
              </p:ext>
            </p:extLst>
          </p:nvPr>
        </p:nvGraphicFramePr>
        <p:xfrm>
          <a:off x="457200" y="3063240"/>
          <a:ext cx="8229600" cy="1080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46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Itemset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Count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Support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46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2/5 = 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Summary of Frequent </a:t>
            </a:r>
            <a:r>
              <a:rPr b="1" dirty="0" err="1">
                <a:solidFill>
                  <a:srgbClr val="DC143C"/>
                </a:solidFill>
              </a:rPr>
              <a:t>Itemsets</a:t>
            </a:r>
            <a:endParaRPr b="1" dirty="0">
              <a:solidFill>
                <a:srgbClr val="DC143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L1: A (0.8), B (0.8), C (0.8)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L2: AB (0.6), AC (0.6), BC (0.6)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L3: ABC (0.4)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Algorithm stops after L3 because next candidates would be size 4 but there are only 3 items.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Rule Generation: Method, Formulas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69" y="1727162"/>
            <a:ext cx="8565266" cy="4809702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Method: For each frequent itemset X, for every non-empty proper subset A ⊂ X, form rule A → X</a:t>
            </a:r>
            <a:r>
              <a:rPr lang="en-US" sz="1600" dirty="0"/>
              <a:t>/</a:t>
            </a:r>
            <a:r>
              <a:rPr sz="1600" dirty="0"/>
              <a:t>A.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Accept rule if confidence(A → X</a:t>
            </a:r>
            <a:r>
              <a:rPr lang="en-US" sz="1600" dirty="0"/>
              <a:t>/</a:t>
            </a:r>
            <a:r>
              <a:rPr sz="1600" dirty="0"/>
              <a:t>A) ≥ </a:t>
            </a:r>
            <a:r>
              <a:rPr sz="1600" dirty="0" err="1"/>
              <a:t>min_conf</a:t>
            </a:r>
            <a:r>
              <a:rPr sz="1600" dirty="0"/>
              <a:t>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Example (let </a:t>
            </a:r>
            <a:r>
              <a:rPr sz="1600" dirty="0" err="1"/>
              <a:t>min_conf</a:t>
            </a:r>
            <a:r>
              <a:rPr sz="1600" dirty="0"/>
              <a:t> = 0.6):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From AB (support 0.6): rules A→B and B→A.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  • confidence(A→B) = support(AB)/support(A) = 0.6 / 0.8 = 0.75 → accepted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  • confidence(B→A) = 0.6 / 0.8 = 0.75 → accepted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From ABC (support 0.4): rules like AB→C, A→BC, etc.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  • AB→C: confidence = support(ABC)/support(AB) = 0.4 / 0.6 ≈ 0.6667 → accepted if </a:t>
            </a:r>
            <a:r>
              <a:rPr sz="1600" dirty="0" err="1"/>
              <a:t>min_conf</a:t>
            </a:r>
            <a:r>
              <a:rPr sz="1600" dirty="0"/>
              <a:t> ≤ 0.6667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Lift example: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  • lift(A→B) = support(AB)/(support(A)×support(B)) = 0.6 / (0.8 × 0.8) = 0.6 / 0.64 = 0.9375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1600" dirty="0"/>
              <a:t>  • Lift &lt; 1: items slightly negatively associated relative to expectation from independence.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Detailed Arithmetic: A →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60" y="2093680"/>
            <a:ext cx="8905240" cy="4378888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Show calculations step-by-step: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support(A) = 4/5 = 0.8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support(AB) = 3/5 = 0.6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confidence(A→B) = support(AB)/support(A) = 0.6 / 0.8 = 0.75 → 75%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Interpretation: if a transaction contains A, 75% of time it also contains 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Second Worked Example (Tea &amp; Biscuits)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025588"/>
            <a:ext cx="6887389" cy="35993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 sz="1300">
                <a:solidFill>
                  <a:srgbClr val="E6E6FA"/>
                </a:solidFill>
              </a:defRPr>
            </a:pPr>
            <a:r>
              <a:rPr sz="4800" dirty="0"/>
              <a:t>Dataset (5 transactions):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T1: {Tea, Sugar}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T2: {Tea, Biscuits}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T3: {Sugar, Biscuits}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T4: {Tea, Sugar, Biscuits}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T5: {Tea, Biscuits}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|T| = 5. Choose </a:t>
            </a:r>
            <a:r>
              <a:rPr sz="4800" dirty="0" err="1"/>
              <a:t>min_sup</a:t>
            </a:r>
            <a:r>
              <a:rPr sz="4800" dirty="0"/>
              <a:t> = 50% = 0.5 ⇒ required count ≥ 3.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L1 counts: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Tea: appears in T1,T2,T4,T5 ⇒ 4 → support = 4/5 = 0.8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Biscuits: T2,T3,T4,T5 ⇒ 4 → support = 0.8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Sugar: T1, T3, T4 ⇒ 3 → support = 3/5 = 0.6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C2 counts (pairs):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Tea-Biscuits: appears in T2, T4, T5 → count = 3 → support = 0.6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Tea-Sugar: T1, T4 → count = 2 → support = 0.4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  • Biscuits-Sugar: T3, T4 → count = 2 → support = 0.4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For </a:t>
            </a:r>
            <a:r>
              <a:rPr sz="4800" dirty="0" err="1"/>
              <a:t>min_sup</a:t>
            </a:r>
            <a:r>
              <a:rPr sz="4800" dirty="0"/>
              <a:t> 0.5, only Tea-Biscuits (0.6) is frequent.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Rule: Tea → Biscuits: confidence = support(</a:t>
            </a:r>
            <a:r>
              <a:rPr sz="4800" dirty="0" err="1"/>
              <a:t>Tea,Biscuits</a:t>
            </a:r>
            <a:r>
              <a:rPr sz="4800" dirty="0"/>
              <a:t>)/support(Tea) = 0.6 / 0.8 = 0.75</a:t>
            </a:r>
          </a:p>
          <a:p>
            <a:pPr>
              <a:defRPr sz="1300">
                <a:solidFill>
                  <a:srgbClr val="E6E6FA"/>
                </a:solidFill>
              </a:defRPr>
            </a:pPr>
            <a:r>
              <a:rPr sz="4800" dirty="0"/>
              <a:t>Interpretation: 75% of transactions with Tea also include Biscuits — good for bundling tea &amp; biscuits</a:t>
            </a:r>
            <a:r>
              <a:rPr sz="35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Practical Supermarket Mini-Dataset (Realistic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11753"/>
            <a:ext cx="6887389" cy="3599316"/>
          </a:xfrm>
        </p:spPr>
        <p:txBody>
          <a:bodyPr>
            <a:noAutofit/>
          </a:bodyPr>
          <a:lstStyle/>
          <a:p>
            <a:pPr marL="0" indent="0">
              <a:buNone/>
              <a:defRPr sz="1200">
                <a:solidFill>
                  <a:srgbClr val="E6E6FA"/>
                </a:solidFill>
              </a:defRPr>
            </a:pPr>
            <a:r>
              <a:rPr sz="1800" dirty="0"/>
              <a:t>Transactions (10 example):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T1: {Bread, Milk}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T2: {Bread, Diapers, Beer, Eggs}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T3: {Milk, Diapers, Beer, Cola}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T4: {Bread, Milk, Diapers, Beer}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T5: {Bread, Milk, Diapers, Cola}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T6: {Bread, Milk}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T7: {Diapers, Beer}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T8: {Bread, Cola}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T9: {Milk, Eggs}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T10: {Bread, Milk, Diapers}</a:t>
            </a:r>
          </a:p>
          <a:p>
            <a:pPr>
              <a:defRPr sz="1200">
                <a:solidFill>
                  <a:srgbClr val="E6E6FA"/>
                </a:solidFill>
              </a:defRPr>
            </a:pPr>
            <a:r>
              <a:rPr sz="1800" dirty="0"/>
              <a:t>Choose </a:t>
            </a:r>
            <a:r>
              <a:rPr sz="1800" dirty="0" err="1"/>
              <a:t>min_sup</a:t>
            </a:r>
            <a:r>
              <a:rPr sz="1800" dirty="0"/>
              <a:t> = 30% (0.3) → threshold count ≥ 3 (since 0.3×10=3).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C143C"/>
                </a:solidFill>
              </a:rPr>
              <a:t>Supermarket Frequent </a:t>
            </a:r>
            <a:r>
              <a:rPr lang="en-US" b="1" dirty="0" err="1">
                <a:solidFill>
                  <a:srgbClr val="DC143C"/>
                </a:solidFill>
              </a:rPr>
              <a:t>Itemsets</a:t>
            </a:r>
            <a:r>
              <a:rPr lang="en-US" b="1" dirty="0">
                <a:solidFill>
                  <a:srgbClr val="DC143C"/>
                </a:solidFill>
              </a:rPr>
              <a:t> &amp; Actions</a:t>
            </a:r>
            <a:endParaRPr b="1" dirty="0">
              <a:solidFill>
                <a:srgbClr val="DC143C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12626"/>
              </p:ext>
            </p:extLst>
          </p:nvPr>
        </p:nvGraphicFramePr>
        <p:xfrm>
          <a:off x="437745" y="2587557"/>
          <a:ext cx="8229600" cy="3105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48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Itemset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Example Support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Action/Interpretation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6/10 = 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High demand — prioritize shelf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497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5/10 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Staple — maintain stock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Diapers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5/10 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>
                          <a:solidFill>
                            <a:schemeClr val="bg1"/>
                          </a:solidFill>
                        </a:rPr>
                        <a:t>Promote with related products (beer/cola)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Beer, Diapers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4/10 = 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6E6FA"/>
                          </a:solidFill>
                        </a:defRPr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Suggest bundle or targeted marketing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Business Actions from Supermarket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336872"/>
            <a:ext cx="11343190" cy="4521128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Business Actions: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Place diapers near beer/cola promotions for adults</a:t>
            </a:r>
            <a:endParaRPr lang="en-US" dirty="0"/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Create cross-sell offers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Plan inventory based on frequent patterns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How to Choose </a:t>
            </a:r>
            <a:r>
              <a:rPr b="1" dirty="0" err="1">
                <a:solidFill>
                  <a:srgbClr val="DC143C"/>
                </a:solidFill>
              </a:rPr>
              <a:t>min_sup</a:t>
            </a:r>
            <a:r>
              <a:rPr b="1" dirty="0">
                <a:solidFill>
                  <a:srgbClr val="DC143C"/>
                </a:solidFill>
              </a:rPr>
              <a:t> &amp; </a:t>
            </a:r>
            <a:r>
              <a:rPr b="1" dirty="0" err="1">
                <a:solidFill>
                  <a:srgbClr val="DC143C"/>
                </a:solidFill>
              </a:rPr>
              <a:t>min_conf</a:t>
            </a:r>
            <a:endParaRPr b="1" dirty="0">
              <a:solidFill>
                <a:srgbClr val="DC143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030" y="2336872"/>
            <a:ext cx="7800372" cy="3767899"/>
          </a:xfrm>
        </p:spPr>
        <p:txBody>
          <a:bodyPr>
            <a:noAutofit/>
          </a:bodyPr>
          <a:lstStyle/>
          <a:p>
            <a:endParaRPr sz="1800"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/>
              <a:t>Start with domain knowledge: staples (bread, milk) need higher thresholds.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 err="1"/>
              <a:t>min_sup</a:t>
            </a:r>
            <a:r>
              <a:rPr sz="1800" dirty="0"/>
              <a:t> too high → few patterns (may miss less-frequent but useful combos).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 err="1"/>
              <a:t>min_sup</a:t>
            </a:r>
            <a:r>
              <a:rPr sz="1800" dirty="0"/>
              <a:t> too low → explosion of candidates; heavy computation.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/>
              <a:t>Common practical approach: start with moderate </a:t>
            </a:r>
            <a:r>
              <a:rPr sz="1800" dirty="0" err="1"/>
              <a:t>min_sup</a:t>
            </a:r>
            <a:r>
              <a:rPr sz="1800" dirty="0"/>
              <a:t> (e.g., 0.01–0.05 for very large datasets) and raise/lower depending on output count.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 err="1"/>
              <a:t>min_conf</a:t>
            </a:r>
            <a:r>
              <a:rPr sz="1800" dirty="0"/>
              <a:t> typically 50%–80% depending on how conservative you want rules to be.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Complexity &amp; Common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90" y="2095019"/>
            <a:ext cx="7893934" cy="4419905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Complexity: multiple DB scans, candidate explosion; worst-case exponential in number of distinct items.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Optimizations: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Hash-based counting to reduce candidate generation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Partition algorithm: find local frequent </a:t>
            </a:r>
            <a:r>
              <a:rPr dirty="0" err="1"/>
              <a:t>itemsets</a:t>
            </a:r>
            <a:r>
              <a:rPr dirty="0"/>
              <a:t> per partition and combine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Sampling: approximate frequent </a:t>
            </a:r>
            <a:r>
              <a:rPr dirty="0" err="1"/>
              <a:t>itemsets</a:t>
            </a:r>
            <a:r>
              <a:rPr dirty="0"/>
              <a:t> from a sample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dirty="0"/>
              <a:t>• Use FP-Growth (no candidate generation) for dense datasets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/>
              <a:t>Advantages: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/>
              <a:t>• Simple and intuitive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/>
              <a:t>• Uses pruning (</a:t>
            </a:r>
            <a:r>
              <a:rPr sz="1800" dirty="0" err="1"/>
              <a:t>Apriori</a:t>
            </a:r>
            <a:r>
              <a:rPr sz="1800" dirty="0"/>
              <a:t> principle) to reduce search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sz="1800" dirty="0"/>
              <a:t>Limitations: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/>
              <a:t>• Many DB scans, slow on large datasets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/>
              <a:t>• Generates a large number of candidates in dense datasets</a:t>
            </a:r>
          </a:p>
          <a:p>
            <a:pPr marL="0" indent="0">
              <a:buNone/>
              <a:defRPr sz="1600">
                <a:solidFill>
                  <a:srgbClr val="E6E6FA"/>
                </a:solidFill>
              </a:defRPr>
            </a:pPr>
            <a:r>
              <a:rPr sz="1800" dirty="0"/>
              <a:t>• Not memory-efficient for huge numbers of items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C143C"/>
                </a:solidFill>
              </a:rPr>
              <a:t>Support vs </a:t>
            </a:r>
            <a:r>
              <a:rPr lang="en-US" b="1" dirty="0" err="1">
                <a:solidFill>
                  <a:srgbClr val="DC143C"/>
                </a:solidFill>
              </a:rPr>
              <a:t>Itemsets</a:t>
            </a:r>
            <a:r>
              <a:rPr lang="en-US" b="1" dirty="0">
                <a:solidFill>
                  <a:srgbClr val="DC143C"/>
                </a:solidFill>
              </a:rPr>
              <a:t> Graph</a:t>
            </a:r>
            <a:endParaRPr b="1" dirty="0">
              <a:solidFill>
                <a:srgbClr val="DC143C"/>
              </a:solidFill>
            </a:endParaRPr>
          </a:p>
        </p:txBody>
      </p:sp>
      <p:pic>
        <p:nvPicPr>
          <p:cNvPr id="4" name="Picture 3" descr="support_vs_item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13074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8A2BE2"/>
                </a:solidFill>
              </a:defRPr>
            </a:pPr>
            <a:r>
              <a:rPr b="1" dirty="0">
                <a:solidFill>
                  <a:srgbClr val="DC143C"/>
                </a:solidFill>
              </a:rP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574" y="2142319"/>
            <a:ext cx="7676745" cy="4453034"/>
          </a:xfrm>
        </p:spPr>
        <p:txBody>
          <a:bodyPr/>
          <a:lstStyle/>
          <a:p>
            <a:endParaRPr dirty="0"/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 err="1"/>
              <a:t>Apriori</a:t>
            </a:r>
            <a:r>
              <a:rPr dirty="0"/>
              <a:t> is foundational for association mining and demonstrates pruning via downward closure.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For large or dense datasets, consider FP-Growth or other optimized algorithms.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References: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• Agrawal &amp; Srikant (1994) — Fast Algorithms for Mining Association Rules</a:t>
            </a:r>
          </a:p>
          <a:p>
            <a:pPr>
              <a:defRPr sz="1600">
                <a:solidFill>
                  <a:srgbClr val="E6E6FA"/>
                </a:solidFill>
              </a:defRPr>
            </a:pPr>
            <a:r>
              <a:rPr dirty="0"/>
              <a:t>• Han et al. — Data Mining: Concepts and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45</TotalTime>
  <Words>2132</Words>
  <Application>Microsoft Office PowerPoint</Application>
  <PresentationFormat>On-screen Show (4:3)</PresentationFormat>
  <Paragraphs>249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Trebuchet MS</vt:lpstr>
      <vt:lpstr>Berlin</vt:lpstr>
      <vt:lpstr>APRIORI ALGORITHM  KINZA 23K-0842</vt:lpstr>
      <vt:lpstr>Agenda</vt:lpstr>
      <vt:lpstr>Introduction</vt:lpstr>
      <vt:lpstr>Key Concepts &amp; Formulas</vt:lpstr>
      <vt:lpstr>Apriori Principle (Intuition)</vt:lpstr>
      <vt:lpstr>Detailed Pseudocode</vt:lpstr>
      <vt:lpstr>How the Algorithm Executes (Step-by-Step)</vt:lpstr>
      <vt:lpstr>Worked Example: Dataset (Setup)</vt:lpstr>
      <vt:lpstr>L1 Calculation</vt:lpstr>
      <vt:lpstr>L1 Calculation Table</vt:lpstr>
      <vt:lpstr>Generate C2 (Candidates) — Explain Join &amp; Prune</vt:lpstr>
      <vt:lpstr>C2 Calculation Table</vt:lpstr>
      <vt:lpstr>Generate C3 and L3 </vt:lpstr>
      <vt:lpstr>C3 Calculation Table </vt:lpstr>
      <vt:lpstr>Summary of Frequent Itemsets</vt:lpstr>
      <vt:lpstr>Rule Generation: Method, Formulas &amp; Examples</vt:lpstr>
      <vt:lpstr>Detailed Arithmetic: A → B</vt:lpstr>
      <vt:lpstr>Second Worked Example (Tea &amp; Biscuits)</vt:lpstr>
      <vt:lpstr>Practical Supermarket Mini-Dataset (Realistic Demo)</vt:lpstr>
      <vt:lpstr>Supermarket Frequent Itemsets &amp; Actions</vt:lpstr>
      <vt:lpstr>Business Actions from Supermarket Analysis</vt:lpstr>
      <vt:lpstr>How to Choose min_sup &amp; min_conf</vt:lpstr>
      <vt:lpstr>Complexity &amp; Common Optimizations</vt:lpstr>
      <vt:lpstr>Advantages &amp; Limitations</vt:lpstr>
      <vt:lpstr>Support vs Itemsets Graph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muhammadhussain150907@gmail.com</cp:lastModifiedBy>
  <cp:revision>4</cp:revision>
  <dcterms:created xsi:type="dcterms:W3CDTF">2013-01-27T09:14:16Z</dcterms:created>
  <dcterms:modified xsi:type="dcterms:W3CDTF">2025-11-28T22:57:49Z</dcterms:modified>
  <cp:category/>
</cp:coreProperties>
</file>