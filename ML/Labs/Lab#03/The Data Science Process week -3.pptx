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6858000" cx="9144000"/>
  <p:notesSz cx="6858000" cy="9144000"/>
  <p:embeddedFontLst>
    <p:embeddedFont>
      <p:font typeface="Book Antiqua"/>
      <p:regular r:id="rId44"/>
      <p:bold r:id="rId45"/>
      <p:italic r:id="rId46"/>
      <p:boldItalic r:id="rId47"/>
    </p:embeddedFont>
    <p:embeddedFont>
      <p:font typeface="Arial Black"/>
      <p:regular r:id="rId48"/>
    </p:embeddedFont>
    <p:embeddedFont>
      <p:font typeface="Roboto Mono"/>
      <p:regular r:id="rId49"/>
      <p:bold r:id="rId50"/>
      <p:italic r:id="rId51"/>
      <p:boldItalic r:id="rId5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53" roundtripDataSignature="AMtx7mjAOM6x3dfKjINsnIF6EftTPfkP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BookAntiqua-regular.fntdata"/><Relationship Id="rId43" Type="http://schemas.openxmlformats.org/officeDocument/2006/relationships/slide" Target="slides/slide38.xml"/><Relationship Id="rId46" Type="http://schemas.openxmlformats.org/officeDocument/2006/relationships/font" Target="fonts/BookAntiqua-italic.fntdata"/><Relationship Id="rId45" Type="http://schemas.openxmlformats.org/officeDocument/2006/relationships/font" Target="fonts/BookAntiqua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ArialBlack-regular.fntdata"/><Relationship Id="rId47" Type="http://schemas.openxmlformats.org/officeDocument/2006/relationships/font" Target="fonts/BookAntiqua-boldItalic.fntdata"/><Relationship Id="rId49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italic.fntdata"/><Relationship Id="rId50" Type="http://schemas.openxmlformats.org/officeDocument/2006/relationships/font" Target="fonts/RobotoMono-bold.fntdata"/><Relationship Id="rId53" Type="http://customschemas.google.com/relationships/presentationmetadata" Target="metadata"/><Relationship Id="rId52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2cf55ae23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2cf55ae2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c2cf55ae23_0_0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87" name="Google Shape;8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Understanding buiseness goals and context is essential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" name="Google Shape;88;p4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24eee606d_0_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94" name="Google Shape;94;g3c24eee606d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Understanding buiseness goals and context is essential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g3c24eee606d_0_7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24eee606d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c24eee606d_0_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24eee606d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3c24eee606d_0_3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" name="Google Shape;119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26535460b_0_4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c26535460b_0_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c26535460b_0_44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26535460b_0_5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26535460b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3c26535460b_0_56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26535460b_0_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26535460b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c26535460b_0_61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26535460b_0_6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49" name="Google Shape;149;g3c26535460b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 preparation is the </a:t>
            </a:r>
            <a:r>
              <a:rPr b="1" lang="en-US"/>
              <a:t>process of cleaning and transforming raw data prior to processing and analysis</a:t>
            </a:r>
            <a:r>
              <a:rPr lang="en-US"/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 </a:t>
            </a:r>
            <a:r>
              <a:rPr b="1" lang="en-US"/>
              <a:t>codebook</a:t>
            </a:r>
            <a:r>
              <a:rPr lang="en-US"/>
              <a:t> describes the layout of the data in the data file and describes what the data codes mean. </a:t>
            </a:r>
            <a:r>
              <a:rPr b="1" lang="en-US"/>
              <a:t>Codebooks</a:t>
            </a:r>
            <a:r>
              <a:rPr lang="en-US"/>
              <a:t> are used to document the values associated with the answer options for a given survey question.</a:t>
            </a:r>
            <a:endParaRPr/>
          </a:p>
        </p:txBody>
      </p:sp>
      <p:sp>
        <p:nvSpPr>
          <p:cNvPr id="150" name="Google Shape;150;g3c26535460b_0_67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24eee606d_0_6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56" name="Google Shape;156;g3c24eee606d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Data preparation is the </a:t>
            </a:r>
            <a:r>
              <a:rPr b="1" lang="en-US"/>
              <a:t>process of cleaning and transforming raw data prior to processing and analysis</a:t>
            </a:r>
            <a:r>
              <a:rPr lang="en-US"/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 </a:t>
            </a:r>
            <a:r>
              <a:rPr b="1" lang="en-US"/>
              <a:t>codebook</a:t>
            </a:r>
            <a:r>
              <a:rPr lang="en-US"/>
              <a:t> describes the layout of the data in the data file and describes what the data codes mean. </a:t>
            </a:r>
            <a:r>
              <a:rPr b="1" lang="en-US"/>
              <a:t>Codebooks</a:t>
            </a:r>
            <a:r>
              <a:rPr lang="en-US"/>
              <a:t> are used to document the values associated with the answer options for a given survey question.</a:t>
            </a:r>
            <a:endParaRPr/>
          </a:p>
        </p:txBody>
      </p:sp>
      <p:sp>
        <p:nvSpPr>
          <p:cNvPr id="157" name="Google Shape;157;g3c24eee606d_0_61:notes"/>
          <p:cNvSpPr txBox="1"/>
          <p:nvPr/>
        </p:nvSpPr>
        <p:spPr>
          <a:xfrm>
            <a:off x="3884612" y="8685212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26535460b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26535460b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c26535460b_0_0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26535460b_0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c26535460b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c26535460b_0_6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Extrapolation</a:t>
            </a:r>
            <a:r>
              <a:rPr lang="en-US"/>
              <a:t> is the process of taking </a:t>
            </a:r>
            <a:r>
              <a:rPr b="1" lang="en-US"/>
              <a:t>data</a:t>
            </a:r>
            <a:r>
              <a:rPr lang="en-US"/>
              <a:t> values at points x</a:t>
            </a:r>
            <a:r>
              <a:rPr baseline="-25000" lang="en-US"/>
              <a:t>1</a:t>
            </a:r>
            <a:r>
              <a:rPr lang="en-US"/>
              <a:t>, ..., x</a:t>
            </a:r>
            <a:r>
              <a:rPr baseline="-25000" lang="en-US"/>
              <a:t>n</a:t>
            </a:r>
            <a:r>
              <a:rPr lang="en-US"/>
              <a:t>, and approximating a value outside the range of the given points.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A </a:t>
            </a:r>
            <a:r>
              <a:rPr b="1" lang="en-US"/>
              <a:t>dummy variable </a:t>
            </a:r>
            <a:r>
              <a:rPr lang="en-US"/>
              <a:t>is one that takes only the value 0 or 1 to indicate the absence or presence of some categorical effect that may be expected to shift the outcome. </a:t>
            </a:r>
            <a:endParaRPr/>
          </a:p>
        </p:txBody>
      </p:sp>
      <p:sp>
        <p:nvSpPr>
          <p:cNvPr id="181" name="Google Shape;181;p10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26535460b_0_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26535460b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c26535460b_0_15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c26535460b_0_2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c26535460b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c26535460b_0_20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26535460b_0_3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26535460b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c26535460b_0_30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524288"/>
            <a:headEnd len="sm" w="sm" type="none"/>
            <a:tailEnd len="sm" w="sm" type="none"/>
          </a:ln>
        </p:spPr>
      </p:sp>
      <p:sp>
        <p:nvSpPr>
          <p:cNvPr id="231" name="Google Shape;23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/>
              <a:t>Tabulating</a:t>
            </a:r>
            <a:r>
              <a:rPr lang="en-US"/>
              <a:t> is a way of processing information or data by putting it in a table. This doesn't mean the kind of table you eat off of, though.</a:t>
            </a:r>
            <a:endParaRPr/>
          </a:p>
        </p:txBody>
      </p:sp>
      <p:sp>
        <p:nvSpPr>
          <p:cNvPr id="232" name="Google Shape;232;p17:notes"/>
          <p:cNvSpPr txBox="1"/>
          <p:nvPr/>
        </p:nvSpPr>
        <p:spPr>
          <a:xfrm>
            <a:off x="3884612" y="8685212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c26535460b_0_10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c26535460b_0_1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c26535460b_0_109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26535460b_0_1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26535460b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g3c26535460b_0_116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26535460b_0_1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c26535460b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c26535460b_0_123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26535460b_0_1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g3c26535460b_0_14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26535460b_0_15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26535460b_0_15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g3c26535460b_0_152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26535460b_0_139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c26535460b_0_1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c26535460b_0_139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26535460b_0_16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c26535460b_0_16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c26535460b_0_164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c26535460b_0_17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c26535460b_0_1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c26535460b_0_176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p2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26535460b_0_18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26535460b_0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c26535460b_0_183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c26535460b_0_19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c26535460b_0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g3c26535460b_0_193:notes"/>
          <p:cNvSpPr txBox="1"/>
          <p:nvPr>
            <p:ph idx="12" type="sldNum"/>
          </p:nvPr>
        </p:nvSpPr>
        <p:spPr>
          <a:xfrm>
            <a:off x="3884612" y="8685212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2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539258657f9fb1c3_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g539258657f9fb1c3_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g539258657f9fb1c3_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539258657f9fb1c3_8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g539258657f9fb1c3_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539258657f9fb1c3_1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g539258657f9fb1c3_1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g539258657f9fb1c3_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539258657f9fb1c3_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g539258657f9fb1c3_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g539258657f9fb1c3_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g539258657f9fb1c3_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539258657f9fb1c3_2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g539258657f9fb1c3_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539258657f9fb1c3_23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g539258657f9fb1c3_23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g539258657f9fb1c3_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539258657f9fb1c3_27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539258657f9fb1c3_2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539258657f9fb1c3_30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g539258657f9fb1c3_30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539258657f9fb1c3_30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539258657f9fb1c3_30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g539258657f9fb1c3_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539258657f9fb1c3_36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g539258657f9fb1c3_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539258657f9fb1c3_39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g539258657f9fb1c3_39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g539258657f9fb1c3_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539258657f9fb1c3_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539258657f9fb1c3_45"/>
          <p:cNvSpPr txBox="1"/>
          <p:nvPr>
            <p:ph type="title"/>
          </p:nvPr>
        </p:nvSpPr>
        <p:spPr>
          <a:xfrm>
            <a:off x="195262" y="228600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539258657f9fb1c3_45"/>
          <p:cNvSpPr txBox="1"/>
          <p:nvPr>
            <p:ph idx="1" type="body"/>
          </p:nvPr>
        </p:nvSpPr>
        <p:spPr>
          <a:xfrm>
            <a:off x="609600" y="1600200"/>
            <a:ext cx="7924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2004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40"/>
              <a:buChar char="●"/>
              <a:defRPr/>
            </a:lvl1pPr>
            <a:lvl2pPr indent="-30861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●"/>
              <a:defRPr/>
            </a:lvl2pPr>
            <a:lvl3pPr indent="-302894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●"/>
              <a:defRPr/>
            </a:lvl3pPr>
            <a:lvl4pPr indent="-29718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4pPr>
            <a:lvl5pPr indent="-27432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720"/>
              <a:buChar char="●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g539258657f9fb1c3_45"/>
          <p:cNvSpPr txBox="1"/>
          <p:nvPr>
            <p:ph idx="10" type="dt"/>
          </p:nvPr>
        </p:nvSpPr>
        <p:spPr>
          <a:xfrm>
            <a:off x="457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g539258657f9fb1c3_4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539258657f9fb1c3_45"/>
          <p:cNvSpPr txBox="1"/>
          <p:nvPr>
            <p:ph idx="12" type="sldNum"/>
          </p:nvPr>
        </p:nvSpPr>
        <p:spPr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 Black"/>
              <a:buNone/>
              <a:defRPr b="0" i="0" sz="12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539258657f9fb1c3_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" name="Google Shape;11;g539258657f9fb1c3_0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g539258657f9fb1c3_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png"/><Relationship Id="rId4" Type="http://schemas.openxmlformats.org/officeDocument/2006/relationships/image" Target="../media/image20.png"/><Relationship Id="rId5" Type="http://schemas.openxmlformats.org/officeDocument/2006/relationships/image" Target="../media/image28.png"/><Relationship Id="rId6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>
            <p:ph type="ctrTitle"/>
          </p:nvPr>
        </p:nvSpPr>
        <p:spPr>
          <a:xfrm>
            <a:off x="311708" y="537842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600"/>
              <a:buFont typeface="Arial"/>
              <a:buNone/>
            </a:pPr>
            <a:r>
              <a:rPr b="0" i="0" lang="en-US" sz="4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Data Science Process</a:t>
            </a:r>
            <a:endParaRPr/>
          </a:p>
        </p:txBody>
      </p:sp>
      <p:pic>
        <p:nvPicPr>
          <p:cNvPr id="65" name="Google Shape;65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725" y="3274750"/>
            <a:ext cx="8255924" cy="317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 txBox="1"/>
          <p:nvPr>
            <p:ph type="title"/>
          </p:nvPr>
        </p:nvSpPr>
        <p:spPr>
          <a:xfrm>
            <a:off x="195262" y="228600"/>
            <a:ext cx="8015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1" i="0" lang="en-US" sz="3600" u="none">
                <a:solidFill>
                  <a:schemeClr val="dk2"/>
                </a:solidFill>
              </a:rPr>
              <a:t>A common mistake in Data Science Projects</a:t>
            </a:r>
            <a:endParaRPr b="1"/>
          </a:p>
        </p:txBody>
      </p:sp>
      <p:pic>
        <p:nvPicPr>
          <p:cNvPr id="72" name="Google Shape;7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00" y="1383775"/>
            <a:ext cx="9056400" cy="510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"/>
          <p:cNvSpPr txBox="1"/>
          <p:nvPr>
            <p:ph idx="4294967295" type="title"/>
          </p:nvPr>
        </p:nvSpPr>
        <p:spPr>
          <a:xfrm>
            <a:off x="195262" y="228600"/>
            <a:ext cx="8015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chemeClr val="dk2"/>
                </a:solidFill>
              </a:rPr>
              <a:t>Data Science Process</a:t>
            </a:r>
            <a:endParaRPr b="1"/>
          </a:p>
        </p:txBody>
      </p:sp>
      <p:pic>
        <p:nvPicPr>
          <p:cNvPr id="78" name="Google Shape;7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325" y="1047950"/>
            <a:ext cx="8745671" cy="581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c2cf55ae2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143999" cy="6648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"/>
          <p:cNvSpPr txBox="1"/>
          <p:nvPr>
            <p:ph idx="4294967295" type="title"/>
          </p:nvPr>
        </p:nvSpPr>
        <p:spPr>
          <a:xfrm>
            <a:off x="373837" y="0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1. Setting the Research Goal</a:t>
            </a:r>
            <a:endParaRPr b="1"/>
          </a:p>
        </p:txBody>
      </p:sp>
      <p:sp>
        <p:nvSpPr>
          <p:cNvPr id="91" name="Google Shape;91;p4"/>
          <p:cNvSpPr txBox="1"/>
          <p:nvPr>
            <p:ph idx="4294967295" type="body"/>
          </p:nvPr>
        </p:nvSpPr>
        <p:spPr>
          <a:xfrm>
            <a:off x="0" y="843375"/>
            <a:ext cx="9052200" cy="60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project starts by the </a:t>
            </a:r>
            <a:r>
              <a:rPr b="1" i="0" lang="en-US" sz="2200" u="none" cap="none" strike="noStrike">
                <a:solidFill>
                  <a:schemeClr val="dk1"/>
                </a:solidFill>
              </a:rPr>
              <a:t>WHAT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the</a:t>
            </a:r>
            <a:r>
              <a:rPr b="1" i="0" lang="en-US" sz="2200" u="none" cap="none" strike="noStrike">
                <a:solidFill>
                  <a:schemeClr val="dk1"/>
                </a:solidFill>
              </a:rPr>
              <a:t> Why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the </a:t>
            </a:r>
            <a:r>
              <a:rPr b="1" i="0" lang="en-US" sz="2200" u="none" cap="none" strike="noStrike">
                <a:solidFill>
                  <a:schemeClr val="dk1"/>
                </a:solidFill>
              </a:rPr>
              <a:t>HOW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sz="2200"/>
          </a:p>
          <a:p>
            <a:pPr indent="-3556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●"/>
            </a:pPr>
            <a:r>
              <a:rPr b="1" lang="en-US" sz="2000">
                <a:solidFill>
                  <a:schemeClr val="dk1"/>
                </a:solidFill>
              </a:rPr>
              <a:t>WHAT is the problem? 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This defines what you want to solve or predict.</a:t>
            </a:r>
            <a:br>
              <a:rPr i="1" lang="en-US" sz="2000">
                <a:solidFill>
                  <a:schemeClr val="dk1"/>
                </a:solidFill>
              </a:rPr>
            </a:br>
            <a:r>
              <a:rPr i="1" lang="en-US" sz="2000">
                <a:solidFill>
                  <a:schemeClr val="dk1"/>
                </a:solidFill>
              </a:rPr>
              <a:t>e.g :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rgbClr val="FF0000"/>
                </a:solidFill>
              </a:rPr>
              <a:t>A university wants to know why student enrollment is decreasing over the last 3 years.</a:t>
            </a:r>
            <a:endParaRPr b="1" sz="2000">
              <a:solidFill>
                <a:srgbClr val="FF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●"/>
            </a:pPr>
            <a:r>
              <a:rPr b="1" lang="en-US" sz="2000">
                <a:solidFill>
                  <a:schemeClr val="dk1"/>
                </a:solidFill>
              </a:rPr>
              <a:t> WHY is it important?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This explains the purpose and value of solving the problem.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e.g </a:t>
            </a:r>
            <a:r>
              <a:rPr i="1" lang="en-US" sz="2000">
                <a:solidFill>
                  <a:srgbClr val="FF0000"/>
                </a:solidFill>
              </a:rPr>
              <a:t>:</a:t>
            </a:r>
            <a:r>
              <a:rPr b="1" lang="en-US" sz="2000">
                <a:solidFill>
                  <a:srgbClr val="FF0000"/>
                </a:solidFill>
              </a:rPr>
              <a:t>Understanding the reason for declining enrollment helps the university improve marketing strategies, revise programs, and increase admissions.</a:t>
            </a:r>
            <a:endParaRPr b="1" sz="2000">
              <a:solidFill>
                <a:srgbClr val="FF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000"/>
              <a:buFont typeface="Noto Sans Symbols"/>
              <a:buChar char="●"/>
            </a:pPr>
            <a:r>
              <a:rPr b="1" lang="en-US" sz="2000">
                <a:solidFill>
                  <a:schemeClr val="dk1"/>
                </a:solidFill>
              </a:rPr>
              <a:t>HOW will it be solved?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This identifies </a:t>
            </a:r>
            <a:r>
              <a:rPr b="1" lang="en-US" sz="2000">
                <a:solidFill>
                  <a:schemeClr val="dk1"/>
                </a:solidFill>
              </a:rPr>
              <a:t>how data science techniques will be used</a:t>
            </a:r>
            <a:r>
              <a:rPr lang="en-US" sz="2000">
                <a:solidFill>
                  <a:schemeClr val="dk1"/>
                </a:solidFill>
              </a:rPr>
              <a:t> to achieve the goal.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e.g</a:t>
            </a:r>
            <a:r>
              <a:rPr i="1" lang="en-US" sz="2000">
                <a:solidFill>
                  <a:schemeClr val="dk1"/>
                </a:solidFill>
              </a:rPr>
              <a:t>: </a:t>
            </a: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rgbClr val="FF0000"/>
                </a:solidFill>
              </a:rPr>
              <a:t>Analyze historical enrollment data, student feedback surveys, and marketing data using statistical analysis and machine learning models.</a:t>
            </a:r>
            <a:endParaRPr b="1" sz="20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066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24eee606d_0_7"/>
          <p:cNvSpPr txBox="1"/>
          <p:nvPr>
            <p:ph idx="4294967295" type="title"/>
          </p:nvPr>
        </p:nvSpPr>
        <p:spPr>
          <a:xfrm>
            <a:off x="195262" y="228600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1. Setting the Research Goal</a:t>
            </a:r>
            <a:endParaRPr b="1"/>
          </a:p>
        </p:txBody>
      </p:sp>
      <p:sp>
        <p:nvSpPr>
          <p:cNvPr id="98" name="Google Shape;98;g3c24eee606d_0_7"/>
          <p:cNvSpPr txBox="1"/>
          <p:nvPr>
            <p:ph idx="4294967295" type="body"/>
          </p:nvPr>
        </p:nvSpPr>
        <p:spPr>
          <a:xfrm>
            <a:off x="0" y="1653800"/>
            <a:ext cx="9144000" cy="37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Outcome of first phase: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</a:endParaRPr>
          </a:p>
          <a:p>
            <a:pPr indent="-406400" lvl="0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Research goal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Understanding of the context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plan with well-defined milestones</a:t>
            </a:r>
            <a:endParaRPr/>
          </a:p>
          <a:p>
            <a:pPr indent="-4064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 of deliverables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</a:endParaRPr>
          </a:p>
          <a:p>
            <a:pPr indent="-431800" lvl="0" marL="457200" marR="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Involves Senior personnel</a:t>
            </a:r>
            <a:endParaRPr/>
          </a:p>
          <a:p>
            <a:pPr indent="0" lvl="0" marL="13716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066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"/>
          <p:cNvSpPr txBox="1"/>
          <p:nvPr>
            <p:ph idx="4294967295" type="title"/>
          </p:nvPr>
        </p:nvSpPr>
        <p:spPr>
          <a:xfrm>
            <a:off x="195262" y="228600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1. Setting the Research Goal</a:t>
            </a:r>
            <a:endParaRPr b="1"/>
          </a:p>
        </p:txBody>
      </p:sp>
      <p:sp>
        <p:nvSpPr>
          <p:cNvPr id="104" name="Google Shape;104;p5"/>
          <p:cNvSpPr txBox="1"/>
          <p:nvPr>
            <p:ph idx="4294967295" type="body"/>
          </p:nvPr>
        </p:nvSpPr>
        <p:spPr>
          <a:xfrm>
            <a:off x="195250" y="1143000"/>
            <a:ext cx="8948700" cy="55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274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400"/>
              <a:buFont typeface="Noto Sans Symbols"/>
              <a:buChar char="●"/>
            </a:pPr>
            <a:r>
              <a:rPr b="1" i="0" lang="en-US" sz="2400" u="none">
                <a:solidFill>
                  <a:schemeClr val="dk1"/>
                </a:solidFill>
              </a:rPr>
              <a:t>Research goal</a:t>
            </a:r>
            <a:endParaRPr b="1" i="0" sz="2400" u="none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  <a:p>
            <a:pPr indent="-30099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nderstanding </a:t>
            </a:r>
            <a:r>
              <a:rPr lang="en-US" sz="2200">
                <a:solidFill>
                  <a:schemeClr val="dk1"/>
                </a:solidFill>
              </a:rPr>
              <a:t>business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goals and context is essential</a:t>
            </a:r>
            <a:endParaRPr sz="2200"/>
          </a:p>
          <a:p>
            <a:pPr indent="-269239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r>
              <a:rPr lang="en-US" sz="2200">
                <a:solidFill>
                  <a:schemeClr val="dk1"/>
                </a:solidFill>
              </a:rPr>
              <a:t>scientists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often fail to understand </a:t>
            </a:r>
            <a:r>
              <a:rPr lang="en-US" sz="2200">
                <a:solidFill>
                  <a:schemeClr val="dk1"/>
                </a:solidFill>
              </a:rPr>
              <a:t>business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goals</a:t>
            </a:r>
            <a:endParaRPr sz="2200"/>
          </a:p>
          <a:p>
            <a:pPr indent="-30099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Take this phase seriously</a:t>
            </a:r>
            <a:endParaRPr sz="2200"/>
          </a:p>
          <a:p>
            <a:pPr indent="-269239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Spend more time</a:t>
            </a:r>
            <a:endParaRPr sz="2200"/>
          </a:p>
          <a:p>
            <a:pPr indent="-269239" lvl="2" marL="11430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Involve people with domain expertise</a:t>
            </a: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chemeClr val="dk1"/>
                </a:solidFill>
              </a:rPr>
              <a:t>Example:</a:t>
            </a:r>
            <a:endParaRPr b="1" i="1" sz="2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b="1" i="1" lang="en-US" sz="2200">
                <a:solidFill>
                  <a:schemeClr val="dk1"/>
                </a:solidFill>
              </a:rPr>
              <a:t>“</a:t>
            </a:r>
            <a:r>
              <a:rPr b="1" i="1" lang="en-US" sz="2200">
                <a:solidFill>
                  <a:srgbClr val="FF0000"/>
                </a:solidFill>
              </a:rPr>
              <a:t>Identify key factors affecting student enrollment and predict enrollment trends for the next two years.</a:t>
            </a:r>
            <a:r>
              <a:rPr lang="en-US" sz="2200">
                <a:solidFill>
                  <a:srgbClr val="FF0000"/>
                </a:solidFill>
              </a:rPr>
              <a:t>”</a:t>
            </a:r>
            <a:endParaRPr sz="22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24eee606d_0_23"/>
          <p:cNvSpPr txBox="1"/>
          <p:nvPr>
            <p:ph idx="4294967295" type="title"/>
          </p:nvPr>
        </p:nvSpPr>
        <p:spPr>
          <a:xfrm>
            <a:off x="195262" y="228600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1. Setting the Research Goal</a:t>
            </a:r>
            <a:endParaRPr b="1"/>
          </a:p>
        </p:txBody>
      </p:sp>
      <p:sp>
        <p:nvSpPr>
          <p:cNvPr id="110" name="Google Shape;110;g3c24eee606d_0_23"/>
          <p:cNvSpPr txBox="1"/>
          <p:nvPr>
            <p:ph idx="4294967295" type="body"/>
          </p:nvPr>
        </p:nvSpPr>
        <p:spPr>
          <a:xfrm>
            <a:off x="195250" y="1143000"/>
            <a:ext cx="8948700" cy="55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Understanding of the Context: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chemeClr val="dk1"/>
                </a:solidFill>
              </a:rPr>
              <a:t>Knowledge of the </a:t>
            </a:r>
            <a:r>
              <a:rPr b="1" lang="en-US" sz="2000">
                <a:solidFill>
                  <a:schemeClr val="dk1"/>
                </a:solidFill>
              </a:rPr>
              <a:t>business, academic, or real-world domain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</a:rPr>
              <a:t>Example:</a:t>
            </a:r>
            <a:br>
              <a:rPr b="1" i="1" lang="en-US" sz="2000">
                <a:solidFill>
                  <a:schemeClr val="dk1"/>
                </a:solidFill>
              </a:rPr>
            </a:br>
            <a:r>
              <a:rPr b="1" lang="en-US" sz="2000">
                <a:solidFill>
                  <a:schemeClr val="dk1"/>
                </a:solidFill>
              </a:rPr>
              <a:t> </a:t>
            </a:r>
            <a:r>
              <a:rPr b="1" lang="en-US" sz="2000">
                <a:solidFill>
                  <a:srgbClr val="FF0000"/>
                </a:solidFill>
              </a:rPr>
              <a:t>Understanding admission policies, fee structure, program demand, and competition from other universities.</a:t>
            </a:r>
            <a:endParaRPr b="1" sz="2000">
              <a:solidFill>
                <a:srgbClr val="FF0000"/>
              </a:solidFill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Project Plan with Well-Defined Milestones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A roadmap of tasks and timelines.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</a:rPr>
              <a:t>E</a:t>
            </a:r>
            <a:r>
              <a:rPr b="1" i="1" lang="en-US" sz="2000">
                <a:solidFill>
                  <a:schemeClr val="dk1"/>
                </a:solidFill>
              </a:rPr>
              <a:t>xample Milestones:</a:t>
            </a:r>
            <a:endParaRPr b="1" i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b="1" lang="en-US" sz="2000">
                <a:solidFill>
                  <a:srgbClr val="FF0000"/>
                </a:solidFill>
              </a:rPr>
              <a:t>Data collection – Week 1</a:t>
            </a:r>
            <a:endParaRPr b="1" sz="2000">
              <a:solidFill>
                <a:srgbClr val="FF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b="1" lang="en-US" sz="2000">
                <a:solidFill>
                  <a:srgbClr val="FF0000"/>
                </a:solidFill>
              </a:rPr>
              <a:t>Data cleaning – Week 2</a:t>
            </a:r>
            <a:endParaRPr b="1" sz="2000">
              <a:solidFill>
                <a:srgbClr val="FF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b="1" lang="en-US" sz="2000">
                <a:solidFill>
                  <a:srgbClr val="FF0000"/>
                </a:solidFill>
              </a:rPr>
              <a:t>Data analysis – Week 3</a:t>
            </a:r>
            <a:endParaRPr b="1" sz="2000">
              <a:solidFill>
                <a:srgbClr val="FF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b="1" lang="en-US" sz="2000">
                <a:solidFill>
                  <a:srgbClr val="FF0000"/>
                </a:solidFill>
              </a:rPr>
              <a:t>Model development – Week 4</a:t>
            </a:r>
            <a:endParaRPr b="1" sz="2000">
              <a:solidFill>
                <a:srgbClr val="FF0000"/>
              </a:solidFill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b="1" lang="en-US" sz="2000">
                <a:solidFill>
                  <a:srgbClr val="FF0000"/>
                </a:solidFill>
              </a:rPr>
              <a:t>Final report – Week 5</a:t>
            </a:r>
            <a:endParaRPr b="1" sz="2000">
              <a:solidFill>
                <a:srgbClr val="FF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c24eee606d_0_37"/>
          <p:cNvSpPr txBox="1"/>
          <p:nvPr>
            <p:ph idx="4294967295" type="title"/>
          </p:nvPr>
        </p:nvSpPr>
        <p:spPr>
          <a:xfrm>
            <a:off x="335212" y="0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1. Setting the Research Goal</a:t>
            </a:r>
            <a:endParaRPr b="1"/>
          </a:p>
        </p:txBody>
      </p:sp>
      <p:sp>
        <p:nvSpPr>
          <p:cNvPr id="116" name="Google Shape;116;g3c24eee606d_0_37"/>
          <p:cNvSpPr txBox="1"/>
          <p:nvPr>
            <p:ph idx="4294967295" type="body"/>
          </p:nvPr>
        </p:nvSpPr>
        <p:spPr>
          <a:xfrm>
            <a:off x="152175" y="981525"/>
            <a:ext cx="8948700" cy="58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List of Deliverables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Clear outputs that will be produced.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2000">
                <a:solidFill>
                  <a:schemeClr val="dk1"/>
                </a:solidFill>
              </a:rPr>
              <a:t>Example Deliverables:</a:t>
            </a:r>
            <a:endParaRPr b="1" i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b="1" lang="en-US" sz="2000">
                <a:solidFill>
                  <a:srgbClr val="FF0000"/>
                </a:solidFill>
              </a:rPr>
              <a:t>Cleaned dataset</a:t>
            </a:r>
            <a:endParaRPr b="1" sz="2000">
              <a:solidFill>
                <a:srgbClr val="FF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b="1" lang="en-US" sz="2000">
                <a:solidFill>
                  <a:srgbClr val="FF0000"/>
                </a:solidFill>
              </a:rPr>
              <a:t>Analytical report</a:t>
            </a:r>
            <a:endParaRPr b="1" sz="2000">
              <a:solidFill>
                <a:srgbClr val="FF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b="1" lang="en-US" sz="2000">
                <a:solidFill>
                  <a:srgbClr val="FF0000"/>
                </a:solidFill>
              </a:rPr>
              <a:t>Predictive model </a:t>
            </a:r>
            <a:endParaRPr b="1" sz="2000">
              <a:solidFill>
                <a:srgbClr val="FF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●"/>
            </a:pPr>
            <a:r>
              <a:rPr b="1" lang="en-US" sz="2000">
                <a:solidFill>
                  <a:srgbClr val="FF0000"/>
                </a:solidFill>
              </a:rPr>
              <a:t>Visualization dashboar</a:t>
            </a:r>
            <a:r>
              <a:rPr b="1" lang="en-US" sz="2000">
                <a:solidFill>
                  <a:srgbClr val="FF0000"/>
                </a:solidFill>
              </a:rPr>
              <a:t>d</a:t>
            </a:r>
            <a:endParaRPr b="1" sz="2000">
              <a:solidFill>
                <a:srgbClr val="FF0000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Involvement of Senior Personnel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Senior stakeholders ensure the project is </a:t>
            </a:r>
            <a:r>
              <a:rPr b="1" lang="en-US" sz="2000">
                <a:solidFill>
                  <a:schemeClr val="dk1"/>
                </a:solidFill>
              </a:rPr>
              <a:t>aligned with organizational goals</a:t>
            </a:r>
            <a:r>
              <a:rPr lang="en-US" sz="20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 </a:t>
            </a:r>
            <a:r>
              <a:rPr b="1" i="1" lang="en-US" sz="2000">
                <a:solidFill>
                  <a:schemeClr val="dk1"/>
                </a:solidFill>
              </a:rPr>
              <a:t>Example:</a:t>
            </a:r>
            <a:br>
              <a:rPr b="1" i="1" lang="en-US" sz="2000">
                <a:solidFill>
                  <a:schemeClr val="dk1"/>
                </a:solidFill>
              </a:rPr>
            </a:br>
            <a:r>
              <a:rPr b="1" lang="en-US" sz="2000">
                <a:solidFill>
                  <a:srgbClr val="FF0000"/>
                </a:solidFill>
              </a:rPr>
              <a:t> University dean and admission director validate the research goal and approve the final outcomes.</a:t>
            </a:r>
            <a:endParaRPr b="1" i="1" sz="2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"/>
          <p:cNvSpPr txBox="1"/>
          <p:nvPr>
            <p:ph idx="4294967295" type="title"/>
          </p:nvPr>
        </p:nvSpPr>
        <p:spPr>
          <a:xfrm>
            <a:off x="195262" y="228600"/>
            <a:ext cx="8015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1. Setting the Research Goal</a:t>
            </a:r>
            <a:endParaRPr b="1"/>
          </a:p>
        </p:txBody>
      </p:sp>
      <p:sp>
        <p:nvSpPr>
          <p:cNvPr id="122" name="Google Shape;122;p6"/>
          <p:cNvSpPr txBox="1"/>
          <p:nvPr>
            <p:ph idx="4294967295" type="body"/>
          </p:nvPr>
        </p:nvSpPr>
        <p:spPr>
          <a:xfrm>
            <a:off x="0" y="1314450"/>
            <a:ext cx="9144000" cy="55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dk1"/>
                </a:solidFill>
              </a:rPr>
              <a:t>Project Charter : </a:t>
            </a:r>
            <a:endParaRPr b="1" sz="2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A project charter is a foundational document that formally defines and approves a project by outlining its goals, approach, resources, timeline, and deliverables.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It  is created during </a:t>
            </a:r>
            <a:r>
              <a:rPr b="1" lang="en-US" sz="2200">
                <a:solidFill>
                  <a:schemeClr val="dk1"/>
                </a:solidFill>
              </a:rPr>
              <a:t>Step 1: Setting the Research Goal</a:t>
            </a:r>
            <a:r>
              <a:rPr lang="en-US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Example: 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200">
                <a:solidFill>
                  <a:schemeClr val="dk1"/>
                </a:solidFill>
              </a:rPr>
              <a:t>Project:</a:t>
            </a:r>
            <a:r>
              <a:rPr lang="en-US" sz="2200">
                <a:solidFill>
                  <a:schemeClr val="dk1"/>
                </a:solidFill>
              </a:rPr>
              <a:t> Predict Student Performance</a:t>
            </a:r>
            <a:br>
              <a:rPr lang="en-US" sz="2200">
                <a:solidFill>
                  <a:schemeClr val="dk1"/>
                </a:solidFill>
              </a:rPr>
            </a:br>
            <a:r>
              <a:rPr lang="en-US" sz="2200">
                <a:solidFill>
                  <a:schemeClr val="dk1"/>
                </a:solidFill>
              </a:rPr>
              <a:t> </a:t>
            </a:r>
            <a:r>
              <a:rPr b="1" lang="en-US" sz="2200">
                <a:solidFill>
                  <a:schemeClr val="dk1"/>
                </a:solidFill>
              </a:rPr>
              <a:t>Charter Defines: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b="1" lang="en-US" sz="2200">
                <a:solidFill>
                  <a:srgbClr val="FF0000"/>
                </a:solidFill>
              </a:rPr>
              <a:t>Goal: Identify the reason and how to improve</a:t>
            </a:r>
            <a:endParaRPr b="1" sz="2200">
              <a:solidFill>
                <a:srgbClr val="FF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b="1" lang="en-US" sz="2200">
                <a:solidFill>
                  <a:srgbClr val="FF0000"/>
                </a:solidFill>
              </a:rPr>
              <a:t>Method: Statistical analysis + ML</a:t>
            </a:r>
            <a:endParaRPr b="1" sz="2200">
              <a:solidFill>
                <a:srgbClr val="FF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b="1" lang="en-US" sz="2200">
                <a:solidFill>
                  <a:srgbClr val="FF0000"/>
                </a:solidFill>
              </a:rPr>
              <a:t>Deliverables: Model, report, dashboard</a:t>
            </a:r>
            <a:endParaRPr b="1" sz="2200">
              <a:solidFill>
                <a:srgbClr val="FF0000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●"/>
            </a:pPr>
            <a:r>
              <a:rPr b="1" lang="en-US" sz="2200">
                <a:solidFill>
                  <a:srgbClr val="FF0000"/>
                </a:solidFill>
              </a:rPr>
              <a:t>Timeline: 5 weeks</a:t>
            </a:r>
            <a:endParaRPr b="1" sz="2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22098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92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 txBox="1"/>
          <p:nvPr>
            <p:ph idx="4294967295" type="title"/>
          </p:nvPr>
        </p:nvSpPr>
        <p:spPr>
          <a:xfrm>
            <a:off x="195262" y="228600"/>
            <a:ext cx="8015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2. Retrieving Data</a:t>
            </a:r>
            <a:endParaRPr b="1"/>
          </a:p>
        </p:txBody>
      </p:sp>
      <p:sp>
        <p:nvSpPr>
          <p:cNvPr id="128" name="Google Shape;128;p7"/>
          <p:cNvSpPr txBox="1"/>
          <p:nvPr>
            <p:ph idx="4294967295" type="body"/>
          </p:nvPr>
        </p:nvSpPr>
        <p:spPr>
          <a:xfrm>
            <a:off x="103600" y="1417175"/>
            <a:ext cx="8972100" cy="48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</a:rPr>
              <a:t>Retrieving data is </a:t>
            </a:r>
            <a:r>
              <a:rPr b="1" lang="en-US" sz="2400">
                <a:solidFill>
                  <a:schemeClr val="dk1"/>
                </a:solidFill>
              </a:rPr>
              <a:t>getting data from any source</a:t>
            </a:r>
            <a:r>
              <a:rPr lang="en-US" sz="2400">
                <a:solidFill>
                  <a:schemeClr val="dk1"/>
                </a:solidFill>
              </a:rPr>
              <a:t> in a form that you can </a:t>
            </a:r>
            <a:r>
              <a:rPr b="1" lang="en-US" sz="2400">
                <a:solidFill>
                  <a:schemeClr val="dk1"/>
                </a:solidFill>
              </a:rPr>
              <a:t>load into your analysis environment</a:t>
            </a:r>
            <a:r>
              <a:rPr lang="en-US" sz="2400">
                <a:solidFill>
                  <a:schemeClr val="dk1"/>
                </a:solidFill>
              </a:rPr>
              <a:t> for cleaning, transformation, and modeling. This </a:t>
            </a:r>
            <a:r>
              <a:rPr lang="en-US" sz="2400">
                <a:solidFill>
                  <a:schemeClr val="dk1"/>
                </a:solidFill>
              </a:rPr>
              <a:t>involves further</a:t>
            </a:r>
            <a:r>
              <a:rPr lang="en-US" sz="2400">
                <a:solidFill>
                  <a:schemeClr val="dk1"/>
                </a:solidFill>
              </a:rPr>
              <a:t> three steps :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Start with data available internally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Getting data from other sources</a:t>
            </a:r>
            <a:endParaRPr sz="2400"/>
          </a:p>
          <a:p>
            <a:pPr indent="-3810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US" sz="2400">
                <a:solidFill>
                  <a:schemeClr val="dk1"/>
                </a:solidFill>
              </a:rPr>
              <a:t>Quality check</a:t>
            </a:r>
            <a:endParaRPr sz="2400"/>
          </a:p>
          <a:p>
            <a:pPr indent="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26535460b_0_44"/>
          <p:cNvSpPr txBox="1"/>
          <p:nvPr/>
        </p:nvSpPr>
        <p:spPr>
          <a:xfrm>
            <a:off x="0" y="43075"/>
            <a:ext cx="90651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1800"/>
              <a:t> </a:t>
            </a:r>
            <a:r>
              <a:rPr b="1" lang="en-US" sz="2400"/>
              <a:t>Start with Data Available Internally</a:t>
            </a:r>
            <a:endParaRPr b="1" sz="24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Most organizations already </a:t>
            </a:r>
            <a:r>
              <a:rPr b="1" lang="en-US" sz="1800"/>
              <a:t>collect and store data</a:t>
            </a:r>
            <a:r>
              <a:rPr lang="en-US" sz="1800"/>
              <a:t> as part of their routine operations. This internal data is usually the </a:t>
            </a:r>
            <a:r>
              <a:rPr b="1" lang="en-US" sz="1800"/>
              <a:t>first and most reliable source</a:t>
            </a:r>
            <a:r>
              <a:rPr lang="en-US" sz="1800"/>
              <a:t> for analysis.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/>
              <a:t>Examples of Internal Data Sources: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Databases</a:t>
            </a:r>
            <a:r>
              <a:rPr lang="en-US" sz="1800"/>
              <a:t>: Customer records stored in SQL databases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Data warehouses</a:t>
            </a:r>
            <a:r>
              <a:rPr lang="en-US" sz="1800"/>
              <a:t>: Historical sales and transaction data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Flat files</a:t>
            </a:r>
            <a:r>
              <a:rPr lang="en-US" sz="1800"/>
              <a:t>: CSV or text files generated by systems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Workbooks</a:t>
            </a:r>
            <a:r>
              <a:rPr lang="en-US" sz="1800"/>
              <a:t>: Excel sheets maintained by departments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Hard copies</a:t>
            </a:r>
            <a:r>
              <a:rPr lang="en-US" sz="1800"/>
              <a:t>: Printed reports, forms, and registers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/>
              <a:t>Example:</a:t>
            </a:r>
            <a:br>
              <a:rPr b="1" lang="en-US" sz="1800"/>
            </a:br>
            <a:r>
              <a:rPr b="1" lang="en-US" sz="1800">
                <a:solidFill>
                  <a:srgbClr val="FF0000"/>
                </a:solidFill>
              </a:rPr>
              <a:t>A university may have student data stored in:</a:t>
            </a:r>
            <a:endParaRPr b="1" sz="1800"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b="1" lang="en-US" sz="1800">
                <a:solidFill>
                  <a:srgbClr val="FF0000"/>
                </a:solidFill>
              </a:rPr>
              <a:t>Admission database</a:t>
            </a:r>
            <a:endParaRPr b="1" sz="1800"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b="1" lang="en-US" sz="1800">
                <a:solidFill>
                  <a:srgbClr val="FF0000"/>
                </a:solidFill>
              </a:rPr>
              <a:t>Excel files for attendance</a:t>
            </a:r>
            <a:endParaRPr b="1" sz="1800"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b="1" lang="en-US" sz="1800">
                <a:solidFill>
                  <a:srgbClr val="FF0000"/>
                </a:solidFill>
              </a:rPr>
              <a:t>Printed result sheets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/>
              <a:t>Access Considerations: </a:t>
            </a:r>
            <a:r>
              <a:rPr lang="en-US" sz="1800"/>
              <a:t>Access to internal data often depends on:</a:t>
            </a:r>
            <a:endParaRPr sz="1800"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Company policies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Data privacy rules</a:t>
            </a:r>
            <a:endParaRPr b="1" sz="1800"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Organizational hierarchy and politics</a:t>
            </a:r>
            <a:endParaRPr b="1" sz="1800"/>
          </a:p>
          <a:p>
            <a:pPr indent="0" lvl="0" marL="381000" marR="3810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For example, financial data may only be accessible to senior management.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26535460b_0_56"/>
          <p:cNvSpPr txBox="1"/>
          <p:nvPr/>
        </p:nvSpPr>
        <p:spPr>
          <a:xfrm>
            <a:off x="304800" y="304800"/>
            <a:ext cx="8771100" cy="639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/>
              <a:t>Getting Data from External Sources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When internal data is insufficient, organizations rely on </a:t>
            </a:r>
            <a:r>
              <a:rPr b="1" lang="en-US" sz="1800"/>
              <a:t>external data sources</a:t>
            </a:r>
            <a:r>
              <a:rPr lang="en-US" sz="1800"/>
              <a:t>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/>
              <a:t>Common External Data Sources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Online data portals</a:t>
            </a:r>
            <a:r>
              <a:rPr lang="en-US" sz="1800"/>
              <a:t> (e.g., government open data websites)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Data published by companies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Research labs and academic institutions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/>
              <a:t>Public APIs and reports</a:t>
            </a:r>
            <a:endParaRPr b="1"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/>
              <a:t>Example:</a:t>
            </a:r>
            <a:br>
              <a:rPr b="1" lang="en-US" sz="1800"/>
            </a:br>
            <a:r>
              <a:rPr b="1" lang="en-US" sz="1800">
                <a:solidFill>
                  <a:srgbClr val="FF0000"/>
                </a:solidFill>
              </a:rPr>
              <a:t>A weather prediction project may use:</a:t>
            </a:r>
            <a:endParaRPr b="1" sz="1800"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b="1" lang="en-US" sz="1800">
                <a:solidFill>
                  <a:srgbClr val="FF0000"/>
                </a:solidFill>
              </a:rPr>
              <a:t>Internal sensor data</a:t>
            </a:r>
            <a:endParaRPr b="1" sz="1800">
              <a:solidFill>
                <a:srgbClr val="FF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b="1" lang="en-US" sz="1800">
                <a:solidFill>
                  <a:srgbClr val="FF0000"/>
                </a:solidFill>
              </a:rPr>
              <a:t>External meteorological data published by research organizations</a:t>
            </a:r>
            <a:endParaRPr b="1" sz="1800">
              <a:solidFill>
                <a:srgbClr val="FF0000"/>
              </a:solidFill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External data is often </a:t>
            </a:r>
            <a:r>
              <a:rPr b="1" lang="en-US" sz="1800"/>
              <a:t>well-documented and high quality</a:t>
            </a:r>
            <a:r>
              <a:rPr lang="en-US" sz="1800"/>
              <a:t> because it is published for public or research use.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c26535460b_0_61"/>
          <p:cNvSpPr txBox="1"/>
          <p:nvPr/>
        </p:nvSpPr>
        <p:spPr>
          <a:xfrm>
            <a:off x="53825" y="304800"/>
            <a:ext cx="9033000" cy="64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400"/>
              <a:t>Quality Check of Collected Data</a:t>
            </a:r>
            <a:endParaRPr b="1" sz="2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After collecting data (internal or external), a </a:t>
            </a:r>
            <a:r>
              <a:rPr b="1" lang="en-US" sz="1800"/>
              <a:t>quality check</a:t>
            </a:r>
            <a:r>
              <a:rPr lang="en-US" sz="1800"/>
              <a:t> must be performed before analysis.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/>
              <a:t>Why Quality Checks are Important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Errors are </a:t>
            </a:r>
            <a:r>
              <a:rPr b="1" lang="en-US" sz="1800"/>
              <a:t>easier to detect at an early stage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Prevents incorrect conclusions later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/>
              <a:t>Common Quality Checks</a:t>
            </a:r>
            <a:endParaRPr b="1"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Ensure data is of the </a:t>
            </a:r>
            <a:r>
              <a:rPr b="1" lang="en-US" sz="1800"/>
              <a:t>correct data type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Example: Age should be numeric, not text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Ensure data is in the </a:t>
            </a:r>
            <a:r>
              <a:rPr b="1" lang="en-US" sz="1800"/>
              <a:t>correct format</a:t>
            </a:r>
            <a:endParaRPr b="1"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/>
              <a:t>Example: Date should be in </a:t>
            </a:r>
            <a:r>
              <a:rPr b="1" lang="en-US" sz="18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YYYY-MM-DD</a:t>
            </a:r>
            <a:r>
              <a:rPr lang="en-US" sz="1800"/>
              <a:t> format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Check for missing values, impossible values, and inconsistencies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/>
              <a:t>Example:</a:t>
            </a:r>
            <a:br>
              <a:rPr b="1" lang="en-US" sz="1800"/>
            </a:br>
            <a:r>
              <a:rPr b="1" lang="en-US" sz="1800">
                <a:solidFill>
                  <a:srgbClr val="FF0000"/>
                </a:solidFill>
              </a:rPr>
              <a:t>If a salary column contains values like </a:t>
            </a:r>
            <a:r>
              <a:rPr b="1" lang="en-US" sz="18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"50k"</a:t>
            </a:r>
            <a:r>
              <a:rPr b="1" lang="en-US" sz="1800">
                <a:solidFill>
                  <a:srgbClr val="FF0000"/>
                </a:solidFill>
              </a:rPr>
              <a:t> instead of </a:t>
            </a:r>
            <a:r>
              <a:rPr b="1" lang="en-US" sz="1800">
                <a:solidFill>
                  <a:srgbClr val="FF0000"/>
                </a:solidFill>
                <a:latin typeface="Roboto Mono"/>
                <a:ea typeface="Roboto Mono"/>
                <a:cs typeface="Roboto Mono"/>
                <a:sym typeface="Roboto Mono"/>
              </a:rPr>
              <a:t>50000</a:t>
            </a:r>
            <a:r>
              <a:rPr b="1" lang="en-US" sz="1800">
                <a:solidFill>
                  <a:srgbClr val="FF0000"/>
                </a:solidFill>
              </a:rPr>
              <a:t>, it must be corrected.</a:t>
            </a:r>
            <a:endParaRPr b="1"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c26535460b_0_67"/>
          <p:cNvSpPr txBox="1"/>
          <p:nvPr>
            <p:ph idx="4294967295" type="title"/>
          </p:nvPr>
        </p:nvSpPr>
        <p:spPr>
          <a:xfrm>
            <a:off x="195262" y="228600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3. Data Preparation</a:t>
            </a:r>
            <a:endParaRPr b="1"/>
          </a:p>
        </p:txBody>
      </p:sp>
      <p:sp>
        <p:nvSpPr>
          <p:cNvPr id="153" name="Google Shape;153;g3c26535460b_0_67"/>
          <p:cNvSpPr txBox="1"/>
          <p:nvPr>
            <p:ph idx="4294967295" type="body"/>
          </p:nvPr>
        </p:nvSpPr>
        <p:spPr>
          <a:xfrm>
            <a:off x="240550" y="1369075"/>
            <a:ext cx="7924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cleaning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Data </a:t>
            </a:r>
            <a:r>
              <a:rPr lang="en-US" sz="3200">
                <a:solidFill>
                  <a:schemeClr val="dk1"/>
                </a:solidFill>
              </a:rPr>
              <a:t>Integration</a:t>
            </a:r>
            <a:endParaRPr sz="3200">
              <a:solidFill>
                <a:schemeClr val="dk1"/>
              </a:solidFill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Data Transformation </a:t>
            </a:r>
            <a:endParaRPr sz="3200">
              <a:solidFill>
                <a:schemeClr val="dk1"/>
              </a:solidFill>
            </a:endParaRPr>
          </a:p>
          <a:p>
            <a:pPr indent="-431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●"/>
            </a:pPr>
            <a:r>
              <a:rPr lang="en-US" sz="3200">
                <a:solidFill>
                  <a:schemeClr val="dk1"/>
                </a:solidFill>
              </a:rPr>
              <a:t>Data Reduction</a:t>
            </a:r>
            <a:r>
              <a:rPr lang="en-US" sz="3200">
                <a:solidFill>
                  <a:schemeClr val="dk1"/>
                </a:solidFill>
              </a:rPr>
              <a:t> </a:t>
            </a:r>
            <a:endParaRPr sz="3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c24eee606d_0_61"/>
          <p:cNvSpPr txBox="1"/>
          <p:nvPr>
            <p:ph idx="4294967295" type="body"/>
          </p:nvPr>
        </p:nvSpPr>
        <p:spPr>
          <a:xfrm>
            <a:off x="43425" y="1400550"/>
            <a:ext cx="8709300" cy="4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Data </a:t>
            </a:r>
            <a:r>
              <a:rPr b="1" lang="en-US" sz="36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C</a:t>
            </a:r>
            <a:r>
              <a:rPr b="1" i="0" lang="en-US" sz="36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leaning</a:t>
            </a:r>
            <a:endParaRPr b="1" i="0" sz="36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rgbClr val="000000"/>
              </a:solidFill>
              <a:highlight>
                <a:srgbClr val="FFFFFF"/>
              </a:highlight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0000"/>
                </a:solidFill>
                <a:highlight>
                  <a:srgbClr val="FFFFFF"/>
                </a:highlight>
                <a:latin typeface="Book Antiqua"/>
                <a:ea typeface="Book Antiqua"/>
                <a:cs typeface="Book Antiqua"/>
                <a:sym typeface="Book Antiqua"/>
              </a:rPr>
              <a:t>Data cleaning is the process of fixing or removing incorrect, corrupted, or incomplete data within a dataset.</a:t>
            </a:r>
            <a:endParaRPr b="1" sz="2200">
              <a:solidFill>
                <a:srgbClr val="000000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  <a:p>
            <a:pPr indent="-35179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Noto Sans Symbols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Errors from data entry</a:t>
            </a:r>
            <a:endParaRPr sz="3000"/>
          </a:p>
          <a:p>
            <a:pPr indent="-35179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Noto Sans Symbols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Impossible values</a:t>
            </a:r>
            <a:endParaRPr sz="3000"/>
          </a:p>
          <a:p>
            <a:pPr indent="-35179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Noto Sans Symbols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Missing values</a:t>
            </a:r>
            <a:endParaRPr sz="3000"/>
          </a:p>
          <a:p>
            <a:pPr indent="-35179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Noto Sans Symbols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Outliers</a:t>
            </a:r>
            <a:endParaRPr sz="3000"/>
          </a:p>
          <a:p>
            <a:pPr indent="-35179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Noto Sans Symbols"/>
              <a:buChar char="●"/>
            </a:pPr>
            <a:r>
              <a:rPr b="0" i="0" lang="en-US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Spaces, typos…etc</a:t>
            </a:r>
            <a:endParaRPr sz="3000"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560"/>
              <a:buNone/>
            </a:pPr>
            <a:r>
              <a:t/>
            </a:r>
            <a:endParaRPr/>
          </a:p>
        </p:txBody>
      </p:sp>
      <p:sp>
        <p:nvSpPr>
          <p:cNvPr id="160" name="Google Shape;160;g3c24eee606d_0_61"/>
          <p:cNvSpPr txBox="1"/>
          <p:nvPr>
            <p:ph idx="4294967295" type="title"/>
          </p:nvPr>
        </p:nvSpPr>
        <p:spPr>
          <a:xfrm>
            <a:off x="195262" y="228600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3. Data Preparation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g3c26535460b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1325" y="712775"/>
            <a:ext cx="4562475" cy="57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g3c26535460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8550" y="1329450"/>
            <a:ext cx="8991599" cy="56469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8" name="Google Shape;168;g3c26535460b_0_0"/>
          <p:cNvSpPr txBox="1"/>
          <p:nvPr>
            <p:ph idx="4294967295" type="title"/>
          </p:nvPr>
        </p:nvSpPr>
        <p:spPr>
          <a:xfrm>
            <a:off x="636662" y="0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3. Data Preparation</a:t>
            </a:r>
            <a:endParaRPr b="1"/>
          </a:p>
        </p:txBody>
      </p:sp>
      <p:pic>
        <p:nvPicPr>
          <p:cNvPr id="169" name="Google Shape;169;g3c26535460b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88388" y="834000"/>
            <a:ext cx="3171825" cy="33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c26535460b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800" y="1702734"/>
            <a:ext cx="9056200" cy="401795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76" name="Google Shape;176;g3c26535460b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3000" y="141650"/>
            <a:ext cx="7458075" cy="120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c26535460b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53063" y="5776173"/>
            <a:ext cx="8725675" cy="99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idx="4294967295" type="title"/>
          </p:nvPr>
        </p:nvSpPr>
        <p:spPr>
          <a:xfrm>
            <a:off x="302937" y="0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3. Data Preparation</a:t>
            </a:r>
            <a:endParaRPr b="1"/>
          </a:p>
        </p:txBody>
      </p:sp>
      <p:sp>
        <p:nvSpPr>
          <p:cNvPr id="184" name="Google Shape;184;p10"/>
          <p:cNvSpPr txBox="1"/>
          <p:nvPr>
            <p:ph idx="4294967295" type="body"/>
          </p:nvPr>
        </p:nvSpPr>
        <p:spPr>
          <a:xfrm>
            <a:off x="-44650" y="846775"/>
            <a:ext cx="9144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Data transformation</a:t>
            </a:r>
            <a:endParaRPr b="1" sz="30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highlight>
                  <a:schemeClr val="lt1"/>
                </a:highlight>
                <a:latin typeface="Book Antiqua"/>
                <a:ea typeface="Book Antiqua"/>
                <a:cs typeface="Book Antiqua"/>
                <a:sym typeface="Book Antiqua"/>
              </a:rPr>
              <a:t>Data transformation is the process of converting raw data into a structured, unified format to enhance its usability, compatibility, and quality.</a:t>
            </a:r>
            <a:endParaRPr b="1" sz="2000">
              <a:highlight>
                <a:schemeClr val="lt1"/>
              </a:highlight>
              <a:latin typeface="Book Antiqua"/>
              <a:ea typeface="Book Antiqua"/>
              <a:cs typeface="Book Antiqua"/>
              <a:sym typeface="Book Antiqua"/>
            </a:endParaRPr>
          </a:p>
        </p:txBody>
      </p:sp>
      <p:pic>
        <p:nvPicPr>
          <p:cNvPr id="185" name="Google Shape;185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50" y="2494725"/>
            <a:ext cx="9054700" cy="43632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 txBox="1"/>
          <p:nvPr>
            <p:ph idx="4294967295" type="title"/>
          </p:nvPr>
        </p:nvSpPr>
        <p:spPr>
          <a:xfrm>
            <a:off x="173737" y="121784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3. Data Preparation</a:t>
            </a:r>
            <a:endParaRPr b="1"/>
          </a:p>
        </p:txBody>
      </p:sp>
      <p:sp>
        <p:nvSpPr>
          <p:cNvPr id="191" name="Google Shape;191;p11"/>
          <p:cNvSpPr txBox="1"/>
          <p:nvPr>
            <p:ph idx="4294967295" type="body"/>
          </p:nvPr>
        </p:nvSpPr>
        <p:spPr>
          <a:xfrm>
            <a:off x="455975" y="1036175"/>
            <a:ext cx="79248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Data Integration :</a:t>
            </a:r>
            <a:endParaRPr b="1" i="0" sz="3200" u="non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It is the process of combining data from multiple sources into a single, consistent dataset for analysis or decision-making.</a:t>
            </a:r>
            <a:endParaRPr b="1" sz="2200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-30099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Merging / joining data sets</a:t>
            </a:r>
            <a:endParaRPr sz="2200"/>
          </a:p>
          <a:p>
            <a:pPr indent="-30099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Address redundant data </a:t>
            </a:r>
            <a:endParaRPr sz="2200"/>
          </a:p>
          <a:p>
            <a:pPr indent="-30099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operators</a:t>
            </a:r>
            <a:endParaRPr sz="2200"/>
          </a:p>
          <a:p>
            <a:pPr indent="-30099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Noto Sans Symbols"/>
              <a:buChar char="●"/>
            </a:pPr>
            <a:r>
              <a:rPr b="0" i="0" lang="en-US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Creating views</a:t>
            </a:r>
            <a:endParaRPr sz="2200"/>
          </a:p>
          <a:p>
            <a:pPr indent="-20066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31" y="2816950"/>
            <a:ext cx="8948751" cy="35454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5427" y="6254752"/>
            <a:ext cx="4156941" cy="60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26535460b_0_15"/>
          <p:cNvSpPr txBox="1"/>
          <p:nvPr/>
        </p:nvSpPr>
        <p:spPr>
          <a:xfrm>
            <a:off x="2766875" y="0"/>
            <a:ext cx="401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/>
              <a:t>Diagnostic Plots </a:t>
            </a:r>
            <a:endParaRPr b="1" sz="3000"/>
          </a:p>
        </p:txBody>
      </p:sp>
      <p:pic>
        <p:nvPicPr>
          <p:cNvPr id="200" name="Google Shape;200;g3c26535460b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03425"/>
            <a:ext cx="8839200" cy="844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c26535460b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650" y="1448425"/>
            <a:ext cx="9034676" cy="521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g3c26535460b_0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1638" y="583050"/>
            <a:ext cx="5800725" cy="460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g3c26535460b_0_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336025"/>
            <a:ext cx="8839199" cy="11655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g3c26535460b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475" y="0"/>
            <a:ext cx="7105626" cy="3262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g3c26535460b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950" y="3488200"/>
            <a:ext cx="8735468" cy="3262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"/>
          <p:cNvSpPr txBox="1"/>
          <p:nvPr>
            <p:ph idx="4294967295" type="body"/>
          </p:nvPr>
        </p:nvSpPr>
        <p:spPr>
          <a:xfrm>
            <a:off x="609600" y="2737975"/>
            <a:ext cx="7924800" cy="4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60"/>
              <a:buFont typeface="Noto Sans Symbols"/>
              <a:buChar char="●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Sanity checks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for incorrect values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for out of range values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for data type mismatch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960"/>
              <a:buFont typeface="Noto Sans Symbols"/>
              <a:buChar char="●"/>
            </a:pPr>
            <a:r>
              <a:rPr b="0" i="0" lang="en-US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Often these checks can be easily enforced in Programs</a:t>
            </a:r>
            <a:endParaRPr/>
          </a:p>
        </p:txBody>
      </p:sp>
      <p:sp>
        <p:nvSpPr>
          <p:cNvPr id="221" name="Google Shape;221;p14"/>
          <p:cNvSpPr txBox="1"/>
          <p:nvPr/>
        </p:nvSpPr>
        <p:spPr>
          <a:xfrm>
            <a:off x="0" y="12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</a:t>
            </a: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Data Preparation – Cleansing Data</a:t>
            </a:r>
            <a:b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(removing errors in data)</a:t>
            </a:r>
            <a:endParaRPr b="1" i="0" sz="1400" u="none" cap="none" strike="noStrike">
              <a:solidFill>
                <a:schemeClr val="dk1"/>
              </a:solidFill>
            </a:endParaRPr>
          </a:p>
        </p:txBody>
      </p:sp>
      <p:pic>
        <p:nvPicPr>
          <p:cNvPr id="222" name="Google Shape;22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37349"/>
            <a:ext cx="9143999" cy="15161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"/>
          <p:cNvSpPr txBox="1"/>
          <p:nvPr/>
        </p:nvSpPr>
        <p:spPr>
          <a:xfrm>
            <a:off x="581375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Data Preparation – Cleansing Data</a:t>
            </a:r>
            <a:b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(removing errors in data)</a:t>
            </a:r>
            <a:endParaRPr b="1" i="0" sz="1400" u="none" cap="none" strike="noStrike">
              <a:solidFill>
                <a:schemeClr val="dk1"/>
              </a:solidFill>
            </a:endParaRPr>
          </a:p>
        </p:txBody>
      </p:sp>
      <p:pic>
        <p:nvPicPr>
          <p:cNvPr id="228" name="Google Shape;2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25" y="1189200"/>
            <a:ext cx="9081975" cy="562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7"/>
          <p:cNvSpPr txBox="1"/>
          <p:nvPr>
            <p:ph idx="4294967295" type="title"/>
          </p:nvPr>
        </p:nvSpPr>
        <p:spPr>
          <a:xfrm>
            <a:off x="442887" y="56350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4. Exploratory Data Analysis</a:t>
            </a:r>
            <a:endParaRPr b="1"/>
          </a:p>
        </p:txBody>
      </p:sp>
      <p:sp>
        <p:nvSpPr>
          <p:cNvPr id="235" name="Google Shape;235;p17"/>
          <p:cNvSpPr txBox="1"/>
          <p:nvPr>
            <p:ph idx="4294967295" type="body"/>
          </p:nvPr>
        </p:nvSpPr>
        <p:spPr>
          <a:xfrm>
            <a:off x="0" y="1125600"/>
            <a:ext cx="9086700" cy="56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EDA is a critical step in data science where we analyze and understand the data before applying models. The main goal is to discover patterns, spot anomalies, test hypotheses, and check assumptions.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b="1" lang="en-US" sz="2200">
                <a:solidFill>
                  <a:schemeClr val="dk1"/>
                </a:solidFill>
              </a:rPr>
              <a:t>Graphical Techniques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b="1" lang="en-US" sz="2200">
                <a:solidFill>
                  <a:schemeClr val="dk1"/>
                </a:solidFill>
              </a:rPr>
              <a:t>Computing Descriptive Analysis</a:t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b="1" lang="en-US" sz="2200">
                <a:solidFill>
                  <a:schemeClr val="dk1"/>
                </a:solidFill>
              </a:rPr>
              <a:t>Detecting Errors During EDA</a:t>
            </a:r>
            <a:r>
              <a:rPr b="1" lang="en-US" sz="2200">
                <a:solidFill>
                  <a:schemeClr val="dk1"/>
                </a:solidFill>
              </a:rPr>
              <a:t> </a:t>
            </a:r>
            <a:endParaRPr b="1" sz="2200">
              <a:solidFill>
                <a:schemeClr val="dk1"/>
              </a:solidFill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236" name="Google Shape;23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50725" y="2247300"/>
            <a:ext cx="3659050" cy="20834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37" name="Google Shape;23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0725" y="4465400"/>
            <a:ext cx="3659050" cy="2220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26535460b_0_109"/>
          <p:cNvSpPr txBox="1"/>
          <p:nvPr/>
        </p:nvSpPr>
        <p:spPr>
          <a:xfrm>
            <a:off x="61050" y="196650"/>
            <a:ext cx="9021900" cy="6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2600"/>
              <a:buAutoNum type="arabicPeriod"/>
            </a:pPr>
            <a:r>
              <a:rPr b="1" lang="en-US" sz="2600">
                <a:solidFill>
                  <a:schemeClr val="dk1"/>
                </a:solidFill>
              </a:rPr>
              <a:t>Graphical Techniques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EDA </a:t>
            </a:r>
            <a:r>
              <a:rPr b="1" lang="en-US" sz="1800">
                <a:solidFill>
                  <a:schemeClr val="dk1"/>
                </a:solidFill>
              </a:rPr>
              <a:t>usually uses visualizations</a:t>
            </a:r>
            <a:r>
              <a:rPr lang="en-US" sz="1800">
                <a:solidFill>
                  <a:schemeClr val="dk1"/>
                </a:solidFill>
              </a:rPr>
              <a:t> because humans understand patterns faster visually. Some common types are: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Histogram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Shows the </a:t>
            </a:r>
            <a:r>
              <a:rPr b="1" lang="en-US" sz="1800">
                <a:solidFill>
                  <a:schemeClr val="dk1"/>
                </a:solidFill>
              </a:rPr>
              <a:t>distribution of a single variable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Helps detect skewness, outliers, and gaps.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Example: distribution of students’ scores.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Line Chart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Shows </a:t>
            </a:r>
            <a:r>
              <a:rPr b="1" lang="en-US" sz="1800">
                <a:solidFill>
                  <a:schemeClr val="dk1"/>
                </a:solidFill>
              </a:rPr>
              <a:t>trends over time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Example: daily temperature over a month.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Box Plot (or Whisker Plot)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Shows </a:t>
            </a:r>
            <a:r>
              <a:rPr b="1" lang="en-US" sz="1800">
                <a:solidFill>
                  <a:schemeClr val="dk1"/>
                </a:solidFill>
              </a:rPr>
              <a:t>spread of the data, median, quartiles, and outliers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Example: salaries in a company to see if there are unusually high or low values.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Scatter Plot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Shows </a:t>
            </a:r>
            <a:r>
              <a:rPr b="1" lang="en-US" sz="1800">
                <a:solidFill>
                  <a:schemeClr val="dk1"/>
                </a:solidFill>
              </a:rPr>
              <a:t>relationship between two variables</a:t>
            </a:r>
            <a:r>
              <a:rPr lang="en-US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Example: hours studied vs exam score.</a:t>
            </a:r>
            <a:endParaRPr sz="1800">
              <a:solidFill>
                <a:srgbClr val="FF0000"/>
              </a:solidFill>
            </a:endParaRPr>
          </a:p>
        </p:txBody>
      </p:sp>
      <p:pic>
        <p:nvPicPr>
          <p:cNvPr id="244" name="Google Shape;244;g3c26535460b_0_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3715" y="1182747"/>
            <a:ext cx="1650297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c26535460b_0_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3550" y="2893650"/>
            <a:ext cx="2403575" cy="13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g3c26535460b_0_10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60581" y="3428995"/>
            <a:ext cx="1772964" cy="13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c26535460b_0_10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38300" y="5573850"/>
            <a:ext cx="1860900" cy="120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c26535460b_0_116"/>
          <p:cNvSpPr txBox="1"/>
          <p:nvPr/>
        </p:nvSpPr>
        <p:spPr>
          <a:xfrm>
            <a:off x="104100" y="441400"/>
            <a:ext cx="8935800" cy="5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2. </a:t>
            </a:r>
            <a:r>
              <a:rPr b="1" lang="en-US" sz="2600">
                <a:solidFill>
                  <a:schemeClr val="dk1"/>
                </a:solidFill>
              </a:rPr>
              <a:t>Computing Descriptive Analysis </a:t>
            </a:r>
            <a:endParaRPr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EDA is </a:t>
            </a:r>
            <a:r>
              <a:rPr b="1" lang="en-US" sz="2000">
                <a:solidFill>
                  <a:schemeClr val="dk1"/>
                </a:solidFill>
              </a:rPr>
              <a:t>not just visual</a:t>
            </a:r>
            <a:r>
              <a:rPr lang="en-US" sz="2000">
                <a:solidFill>
                  <a:schemeClr val="dk1"/>
                </a:solidFill>
              </a:rPr>
              <a:t>. You can also use: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Tabulation / Summary Statistics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Mean, median, standard deviation, counts of categories, missing values.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</a:rPr>
              <a:t>Example: average salary by department.</a:t>
            </a:r>
            <a:endParaRPr sz="2000">
              <a:solidFill>
                <a:srgbClr val="FF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Clustering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Grouping similar data points to find patterns.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Example: grouping customers by spending habits.</a:t>
            </a:r>
            <a:endParaRPr sz="2000">
              <a:solidFill>
                <a:srgbClr val="FF0000"/>
              </a:solidFill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en-US" sz="2000">
                <a:solidFill>
                  <a:schemeClr val="dk1"/>
                </a:solidFill>
              </a:rPr>
              <a:t>Simple Model Building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Trying a simple model can reveal </a:t>
            </a:r>
            <a:r>
              <a:rPr b="1" lang="en-US" sz="2000">
                <a:solidFill>
                  <a:schemeClr val="dk1"/>
                </a:solidFill>
              </a:rPr>
              <a:t>relationships, missing patterns, or errors</a:t>
            </a:r>
            <a:r>
              <a:rPr lang="en-US" sz="2000">
                <a:solidFill>
                  <a:schemeClr val="dk1"/>
                </a:solidFill>
              </a:rPr>
              <a:t>.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>
                <a:solidFill>
                  <a:srgbClr val="FF0000"/>
                </a:solidFill>
              </a:rPr>
              <a:t>Example: linear regression to check how one variable predicts another.</a:t>
            </a:r>
            <a:endParaRPr sz="2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26535460b_0_123"/>
          <p:cNvSpPr txBox="1"/>
          <p:nvPr/>
        </p:nvSpPr>
        <p:spPr>
          <a:xfrm>
            <a:off x="227850" y="630600"/>
            <a:ext cx="8688300" cy="5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3. Detecting Errors During EDA</a:t>
            </a:r>
            <a:endParaRPr b="1" sz="2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EDA helps </a:t>
            </a:r>
            <a:r>
              <a:rPr b="1" lang="en-US" sz="2200">
                <a:solidFill>
                  <a:schemeClr val="dk1"/>
                </a:solidFill>
              </a:rPr>
              <a:t>catch errors that are often hidden</a:t>
            </a:r>
            <a:r>
              <a:rPr lang="en-US" sz="2200">
                <a:solidFill>
                  <a:schemeClr val="dk1"/>
                </a:solidFill>
              </a:rPr>
              <a:t>, such as: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</a:rPr>
              <a:t>Impossible values</a:t>
            </a:r>
            <a:r>
              <a:rPr lang="en-US" sz="2200">
                <a:solidFill>
                  <a:schemeClr val="dk1"/>
                </a:solidFill>
              </a:rPr>
              <a:t> (e.g., negative age, temperature = 1000°C)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</a:rPr>
              <a:t>Missing values</a:t>
            </a:r>
            <a:r>
              <a:rPr lang="en-US" sz="2200">
                <a:solidFill>
                  <a:schemeClr val="dk1"/>
                </a:solidFill>
              </a:rPr>
              <a:t> or inconsistencies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</a:rPr>
              <a:t>Outliers</a:t>
            </a:r>
            <a:r>
              <a:rPr lang="en-US" sz="2200">
                <a:solidFill>
                  <a:schemeClr val="dk1"/>
                </a:solidFill>
              </a:rPr>
              <a:t> (e.g., extremely high or low data points that don’t make sense)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b="1" lang="en-US" sz="2200">
                <a:solidFill>
                  <a:schemeClr val="dk1"/>
                </a:solidFill>
              </a:rPr>
              <a:t>Duplicate entries</a:t>
            </a:r>
            <a:r>
              <a:rPr lang="en-US" sz="2200">
                <a:solidFill>
                  <a:schemeClr val="dk1"/>
                </a:solidFill>
              </a:rPr>
              <a:t> or mislabels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These errors, if undetected, can </a:t>
            </a:r>
            <a:r>
              <a:rPr b="1" lang="en-US" sz="2200">
                <a:solidFill>
                  <a:schemeClr val="dk1"/>
                </a:solidFill>
              </a:rPr>
              <a:t>mislead your models</a:t>
            </a:r>
            <a:r>
              <a:rPr lang="en-US" sz="2200">
                <a:solidFill>
                  <a:schemeClr val="dk1"/>
                </a:solidFill>
              </a:rPr>
              <a:t> later.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c26535460b_0_146"/>
          <p:cNvSpPr txBox="1"/>
          <p:nvPr>
            <p:ph idx="4294967295" type="title"/>
          </p:nvPr>
        </p:nvSpPr>
        <p:spPr>
          <a:xfrm>
            <a:off x="195262" y="228600"/>
            <a:ext cx="8015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5. Build the Models</a:t>
            </a:r>
            <a:endParaRPr b="1"/>
          </a:p>
        </p:txBody>
      </p:sp>
      <p:sp>
        <p:nvSpPr>
          <p:cNvPr id="265" name="Google Shape;265;g3c26535460b_0_146"/>
          <p:cNvSpPr txBox="1"/>
          <p:nvPr>
            <p:ph idx="4294967295" type="body"/>
          </p:nvPr>
        </p:nvSpPr>
        <p:spPr>
          <a:xfrm>
            <a:off x="240550" y="1219200"/>
            <a:ext cx="8727600" cy="54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chemeClr val="dk1"/>
                </a:solidFill>
              </a:rPr>
              <a:t>The goal of modeling is to </a:t>
            </a:r>
            <a:r>
              <a:rPr b="1" lang="en-US" sz="2400">
                <a:solidFill>
                  <a:schemeClr val="dk1"/>
                </a:solidFill>
              </a:rPr>
              <a:t>create mathematical or computational models</a:t>
            </a:r>
            <a:r>
              <a:rPr lang="en-US" sz="2400">
                <a:solidFill>
                  <a:schemeClr val="dk1"/>
                </a:solidFill>
              </a:rPr>
              <a:t> that can </a:t>
            </a:r>
            <a:r>
              <a:rPr b="1" lang="en-US" sz="2400">
                <a:solidFill>
                  <a:schemeClr val="dk1"/>
                </a:solidFill>
              </a:rPr>
              <a:t>predict outcomes, classify data, or discover patterns</a:t>
            </a:r>
            <a:r>
              <a:rPr lang="en-US" sz="2400">
                <a:solidFill>
                  <a:schemeClr val="dk1"/>
                </a:solidFill>
              </a:rPr>
              <a:t> in the dataset.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Prediction</a:t>
            </a:r>
            <a:r>
              <a:rPr lang="en-US" sz="2400">
                <a:solidFill>
                  <a:schemeClr val="dk1"/>
                </a:solidFill>
              </a:rPr>
              <a:t> → Forecast future values (e.g., predict stock prices or temperature).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Classification</a:t>
            </a:r>
            <a:r>
              <a:rPr lang="en-US" sz="2400">
                <a:solidFill>
                  <a:schemeClr val="dk1"/>
                </a:solidFill>
              </a:rPr>
              <a:t> → Assign items to categories (e.g., email → spam or not spam).</a:t>
            </a:r>
            <a:br>
              <a:rPr lang="en-US" sz="2400">
                <a:solidFill>
                  <a:schemeClr val="dk1"/>
                </a:solidFill>
              </a:rPr>
            </a:b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b="1" lang="en-US" sz="2400">
                <a:solidFill>
                  <a:schemeClr val="dk1"/>
                </a:solidFill>
              </a:rPr>
              <a:t>Clustering</a:t>
            </a:r>
            <a:r>
              <a:rPr lang="en-US" sz="2400">
                <a:solidFill>
                  <a:schemeClr val="dk1"/>
                </a:solidFill>
              </a:rPr>
              <a:t> → Group similar data points without predefined labels (e.g., customer segmentation).</a:t>
            </a:r>
            <a:endParaRPr sz="24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g3c26535460b_0_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18450"/>
            <a:ext cx="9081899" cy="544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c26535460b_0_139"/>
          <p:cNvSpPr txBox="1"/>
          <p:nvPr/>
        </p:nvSpPr>
        <p:spPr>
          <a:xfrm>
            <a:off x="-64600" y="118425"/>
            <a:ext cx="8989800" cy="61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</a:rPr>
              <a:t>Three Main Steps in Modeling</a:t>
            </a:r>
            <a:endParaRPr b="1" sz="26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AutoNum type="arabicPeriod"/>
            </a:pPr>
            <a:r>
              <a:rPr b="1" lang="en-US" sz="2200">
                <a:solidFill>
                  <a:schemeClr val="dk1"/>
                </a:solidFill>
              </a:rPr>
              <a:t>Model and Variable Selection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Choose a model</a:t>
            </a:r>
            <a:r>
              <a:rPr lang="en-US" sz="2200">
                <a:solidFill>
                  <a:schemeClr val="dk1"/>
                </a:solidFill>
              </a:rPr>
              <a:t> depending on your task:</a:t>
            </a:r>
            <a:endParaRPr sz="2200">
              <a:solidFill>
                <a:schemeClr val="dk1"/>
              </a:solidFill>
            </a:endParaRPr>
          </a:p>
          <a:p>
            <a:pPr indent="-3683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</a:pPr>
            <a:r>
              <a:rPr lang="en-US" sz="2200">
                <a:solidFill>
                  <a:schemeClr val="dk1"/>
                </a:solidFill>
              </a:rPr>
              <a:t>Regression → predicting numerical values</a:t>
            </a:r>
            <a:endParaRPr sz="2200">
              <a:solidFill>
                <a:schemeClr val="dk1"/>
              </a:solidFill>
            </a:endParaRPr>
          </a:p>
          <a:p>
            <a:pPr indent="-3683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</a:pPr>
            <a:r>
              <a:rPr lang="en-US" sz="2200">
                <a:solidFill>
                  <a:schemeClr val="dk1"/>
                </a:solidFill>
              </a:rPr>
              <a:t>Classification → predicting categories</a:t>
            </a:r>
            <a:endParaRPr sz="2200">
              <a:solidFill>
                <a:schemeClr val="dk1"/>
              </a:solidFill>
            </a:endParaRPr>
          </a:p>
          <a:p>
            <a:pPr indent="-3683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</a:pPr>
            <a:r>
              <a:rPr lang="en-US" sz="2200">
                <a:solidFill>
                  <a:schemeClr val="dk1"/>
                </a:solidFill>
              </a:rPr>
              <a:t>Clustering → grouping similar items</a:t>
            </a:r>
            <a:endParaRPr sz="2200">
              <a:solidFill>
                <a:schemeClr val="dk1"/>
              </a:solidFill>
            </a:endParaRPr>
          </a:p>
          <a:p>
            <a:pPr indent="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Select variables (features)</a:t>
            </a:r>
            <a:r>
              <a:rPr lang="en-US" sz="2200">
                <a:solidFill>
                  <a:schemeClr val="dk1"/>
                </a:solidFill>
              </a:rPr>
              <a:t> that are most important for prediction.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Example:</a:t>
            </a:r>
            <a:r>
              <a:rPr lang="en-US" sz="2200">
                <a:solidFill>
                  <a:schemeClr val="dk1"/>
                </a:solidFill>
              </a:rPr>
              <a:t> 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For predicting house prices, select features like area, bedrooms, location, not irrelevant ones like paint color.</a:t>
            </a:r>
            <a:endParaRPr sz="2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c26535460b_0_164"/>
          <p:cNvSpPr txBox="1"/>
          <p:nvPr/>
        </p:nvSpPr>
        <p:spPr>
          <a:xfrm>
            <a:off x="0" y="882800"/>
            <a:ext cx="9144000" cy="5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2. </a:t>
            </a:r>
            <a:r>
              <a:rPr b="1" lang="en-US" sz="2200">
                <a:solidFill>
                  <a:schemeClr val="dk1"/>
                </a:solidFill>
              </a:rPr>
              <a:t>Model Execution (Training)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Train the selected model using historical data.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The model learns relationships between input variables and output.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1"/>
                </a:solidFill>
              </a:rPr>
              <a:t>This step may include: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Splitting data into training and testing sets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Parameter tuning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Example: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 </a:t>
            </a:r>
            <a:r>
              <a:rPr lang="en-US" sz="2200">
                <a:solidFill>
                  <a:srgbClr val="FF0000"/>
                </a:solidFill>
              </a:rPr>
              <a:t>Training a linear regression model to learn how study hours affect exam scores.</a:t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rgbClr val="FF0000"/>
              </a:solidFill>
            </a:endParaRPr>
          </a:p>
        </p:txBody>
      </p:sp>
      <p:pic>
        <p:nvPicPr>
          <p:cNvPr id="284" name="Google Shape;284;g3c26535460b_0_1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813" y="98575"/>
            <a:ext cx="452437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26535460b_0_176"/>
          <p:cNvSpPr txBox="1"/>
          <p:nvPr/>
        </p:nvSpPr>
        <p:spPr>
          <a:xfrm>
            <a:off x="43075" y="678250"/>
            <a:ext cx="9144000" cy="49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434343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3. Model Diagnostics and Comparison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Evaluate </a:t>
            </a:r>
            <a:r>
              <a:rPr b="1" lang="en-US" sz="2200">
                <a:solidFill>
                  <a:schemeClr val="dk1"/>
                </a:solidFill>
              </a:rPr>
              <a:t>how well the model performs</a:t>
            </a:r>
            <a:r>
              <a:rPr lang="en-US" sz="2200">
                <a:solidFill>
                  <a:schemeClr val="dk1"/>
                </a:solidFill>
              </a:rPr>
              <a:t> using metrics:</a:t>
            </a:r>
            <a:endParaRPr sz="2200">
              <a:solidFill>
                <a:schemeClr val="dk1"/>
              </a:solidFill>
            </a:endParaRPr>
          </a:p>
          <a:p>
            <a:pPr indent="-3683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</a:pPr>
            <a:r>
              <a:rPr lang="en-US" sz="2200">
                <a:solidFill>
                  <a:schemeClr val="dk1"/>
                </a:solidFill>
              </a:rPr>
              <a:t>Prediction → RMSE, MAE</a:t>
            </a:r>
            <a:endParaRPr sz="2200">
              <a:solidFill>
                <a:schemeClr val="dk1"/>
              </a:solidFill>
            </a:endParaRPr>
          </a:p>
          <a:p>
            <a:pPr indent="-3683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</a:pPr>
            <a:r>
              <a:rPr lang="en-US" sz="2200">
                <a:solidFill>
                  <a:schemeClr val="dk1"/>
                </a:solidFill>
              </a:rPr>
              <a:t>Classification → Accuracy, Precision, Recall</a:t>
            </a:r>
            <a:endParaRPr sz="2200">
              <a:solidFill>
                <a:schemeClr val="dk1"/>
              </a:solidFill>
            </a:endParaRPr>
          </a:p>
          <a:p>
            <a:pPr indent="-3683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■"/>
            </a:pPr>
            <a:r>
              <a:rPr lang="en-US" sz="2200">
                <a:solidFill>
                  <a:schemeClr val="dk1"/>
                </a:solidFill>
              </a:rPr>
              <a:t>Clustering → Silhouette Score, Davies-Bouldin Index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Compare different models to </a:t>
            </a:r>
            <a:r>
              <a:rPr b="1" lang="en-US" sz="2200">
                <a:solidFill>
                  <a:schemeClr val="dk1"/>
                </a:solidFill>
              </a:rPr>
              <a:t>choose the best one</a:t>
            </a:r>
            <a:r>
              <a:rPr lang="en-US" sz="2200">
                <a:solidFill>
                  <a:schemeClr val="dk1"/>
                </a:solidFill>
              </a:rPr>
              <a:t>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Example: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>
                <a:solidFill>
                  <a:srgbClr val="FF0000"/>
                </a:solidFill>
              </a:rPr>
              <a:t>Compare Linear Regression vs Random Forest for predicting house prices.</a:t>
            </a:r>
            <a:endParaRPr sz="2200">
              <a:solidFill>
                <a:srgbClr val="FF0000"/>
              </a:solidFill>
            </a:endParaRPr>
          </a:p>
        </p:txBody>
      </p:sp>
      <p:pic>
        <p:nvPicPr>
          <p:cNvPr id="291" name="Google Shape;291;g3c26535460b_0_1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950" y="97950"/>
            <a:ext cx="452437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1"/>
          <p:cNvSpPr txBox="1"/>
          <p:nvPr>
            <p:ph idx="4294967295" type="title"/>
          </p:nvPr>
        </p:nvSpPr>
        <p:spPr>
          <a:xfrm>
            <a:off x="195262" y="228600"/>
            <a:ext cx="8015287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Arial"/>
              <a:buNone/>
            </a:pPr>
            <a:r>
              <a:rPr b="1" i="0" lang="en-US" sz="3800" u="none" cap="none" strike="noStrike"/>
              <a:t>5. Build the Models – Model and Variable Selection</a:t>
            </a:r>
            <a:endParaRPr b="1"/>
          </a:p>
        </p:txBody>
      </p:sp>
      <p:pic>
        <p:nvPicPr>
          <p:cNvPr id="297" name="Google Shape;29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64550"/>
            <a:ext cx="8839200" cy="388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26535460b_0_183"/>
          <p:cNvSpPr txBox="1"/>
          <p:nvPr/>
        </p:nvSpPr>
        <p:spPr>
          <a:xfrm>
            <a:off x="0" y="136200"/>
            <a:ext cx="9144000" cy="6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Other Factors to Consider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In real life, a model is not judged only by how accurate it is. We also need to think about practical issues.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1. Using the Model in Real Systems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Will the model be used in a real system?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Can it be easily added to a </a:t>
            </a:r>
            <a:r>
              <a:rPr b="1" lang="en-US" sz="2200">
                <a:solidFill>
                  <a:schemeClr val="dk1"/>
                </a:solidFill>
              </a:rPr>
              <a:t>website, mobile app, or software system</a:t>
            </a:r>
            <a:r>
              <a:rPr lang="en-US" sz="2200">
                <a:solidFill>
                  <a:schemeClr val="dk1"/>
                </a:solidFill>
              </a:rPr>
              <a:t>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Some models are accurate but very hard to use in real applications.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2. Maintaining the Model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How often does the model need updates?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Will it still work well after some time?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Can it adjust when data changes over time (for example, customer behavior changes)?</a:t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c26535460b_0_193"/>
          <p:cNvSpPr txBox="1"/>
          <p:nvPr/>
        </p:nvSpPr>
        <p:spPr>
          <a:xfrm>
            <a:off x="-57550" y="0"/>
            <a:ext cx="9144000" cy="61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Other Factors to Consider 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3. Easy to Understand</a:t>
            </a:r>
            <a:endParaRPr b="1"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Does the model need to be easy to explain to people like managers or clients?</a:t>
            </a:r>
            <a:endParaRPr sz="2200">
              <a:solidFill>
                <a:schemeClr val="dk1"/>
              </a:solidFill>
            </a:endParaRPr>
          </a:p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US" sz="2200">
                <a:solidFill>
                  <a:schemeClr val="dk1"/>
                </a:solidFill>
              </a:rPr>
              <a:t>Simple models are often preferred because they are </a:t>
            </a:r>
            <a:r>
              <a:rPr b="1" lang="en-US" sz="2200">
                <a:solidFill>
                  <a:schemeClr val="dk1"/>
                </a:solidFill>
              </a:rPr>
              <a:t>easy to understand and explain</a:t>
            </a:r>
            <a:r>
              <a:rPr lang="en-US" sz="2200">
                <a:solidFill>
                  <a:schemeClr val="dk1"/>
                </a:solidFill>
              </a:rPr>
              <a:t>.</a:t>
            </a:r>
            <a:br>
              <a:rPr lang="en-US" sz="2200">
                <a:solidFill>
                  <a:schemeClr val="dk1"/>
                </a:solidFill>
              </a:rPr>
            </a:br>
            <a:endParaRPr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chemeClr val="dk1"/>
                </a:solidFill>
              </a:rPr>
              <a:t>Example</a:t>
            </a:r>
            <a:endParaRPr b="1" sz="2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A bank may choose a model that is </a:t>
            </a:r>
            <a:r>
              <a:rPr b="1" lang="en-US" sz="2200">
                <a:solidFill>
                  <a:schemeClr val="dk1"/>
                </a:solidFill>
              </a:rPr>
              <a:t>easy to explain</a:t>
            </a:r>
            <a:r>
              <a:rPr lang="en-US" sz="2200">
                <a:solidFill>
                  <a:schemeClr val="dk1"/>
                </a:solidFill>
              </a:rPr>
              <a:t> for loan approval, even if it is slightly less accurate, rather than a complex model that no one understands.</a:t>
            </a:r>
            <a:endParaRPr sz="2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3"/>
          <p:cNvSpPr txBox="1"/>
          <p:nvPr>
            <p:ph idx="4294967295" type="title"/>
          </p:nvPr>
        </p:nvSpPr>
        <p:spPr>
          <a:xfrm>
            <a:off x="195249" y="228600"/>
            <a:ext cx="8948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Arial"/>
              <a:buNone/>
            </a:pPr>
            <a:r>
              <a:rPr b="1" i="0" lang="en-US" sz="4200" u="none" cap="none" strike="noStrike"/>
              <a:t>6. Presentation and Automation</a:t>
            </a:r>
            <a:endParaRPr b="1"/>
          </a:p>
        </p:txBody>
      </p:sp>
      <p:pic>
        <p:nvPicPr>
          <p:cNvPr id="315" name="Google Shape;3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100" y="1647300"/>
            <a:ext cx="9067800" cy="423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2017-08-27T09:53:14Z</dcterms:created>
  <dc:creator>Shany .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