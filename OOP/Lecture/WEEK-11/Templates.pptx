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48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274CB-93FE-4669-B4BA-DF0271A5C6B5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056C7-A1D2-4798-AB95-8A85BFB6C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284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274CB-93FE-4669-B4BA-DF0271A5C6B5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056C7-A1D2-4798-AB95-8A85BFB6C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560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274CB-93FE-4669-B4BA-DF0271A5C6B5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056C7-A1D2-4798-AB95-8A85BFB6C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4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274CB-93FE-4669-B4BA-DF0271A5C6B5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056C7-A1D2-4798-AB95-8A85BFB6C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970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274CB-93FE-4669-B4BA-DF0271A5C6B5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056C7-A1D2-4798-AB95-8A85BFB6C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691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274CB-93FE-4669-B4BA-DF0271A5C6B5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056C7-A1D2-4798-AB95-8A85BFB6C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04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274CB-93FE-4669-B4BA-DF0271A5C6B5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056C7-A1D2-4798-AB95-8A85BFB6C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535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274CB-93FE-4669-B4BA-DF0271A5C6B5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056C7-A1D2-4798-AB95-8A85BFB6C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826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274CB-93FE-4669-B4BA-DF0271A5C6B5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056C7-A1D2-4798-AB95-8A85BFB6C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665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274CB-93FE-4669-B4BA-DF0271A5C6B5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056C7-A1D2-4798-AB95-8A85BFB6C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589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274CB-93FE-4669-B4BA-DF0271A5C6B5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E056C7-A1D2-4798-AB95-8A85BFB6C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343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7274CB-93FE-4669-B4BA-DF0271A5C6B5}" type="datetimeFigureOut">
              <a:rPr lang="en-US" smtClean="0"/>
              <a:t>12/5/2022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E056C7-A1D2-4798-AB95-8A85BFB6CB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990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Templates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513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Templates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1849631"/>
          </a:xfrm>
        </p:spPr>
        <p:txBody>
          <a:bodyPr/>
          <a:lstStyle/>
          <a:p>
            <a:r>
              <a:rPr lang="en-US" dirty="0"/>
              <a:t>A class can have members that use template parameters as types. For example:</a:t>
            </a:r>
          </a:p>
          <a:p>
            <a:pPr marL="0" indent="0">
              <a:buNone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template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&lt;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class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T&gt; </a:t>
            </a:r>
          </a:p>
          <a:p>
            <a:pPr marL="0" indent="0">
              <a:buNone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class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mypair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{ </a:t>
            </a:r>
          </a:p>
          <a:p>
            <a:pPr marL="0" indent="0">
              <a:buNone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T values [2]; </a:t>
            </a:r>
          </a:p>
          <a:p>
            <a:pPr marL="0" indent="0">
              <a:buNone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public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: </a:t>
            </a:r>
            <a:r>
              <a:rPr kumimoji="0" 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mypair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(T first, T second) { </a:t>
            </a:r>
          </a:p>
          <a:p>
            <a:pPr marL="0" indent="0">
              <a:buNone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values[0]=first; </a:t>
            </a:r>
          </a:p>
          <a:p>
            <a:pPr marL="0" indent="0">
              <a:buNone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values[1]=second; } </a:t>
            </a:r>
          </a:p>
          <a:p>
            <a:pPr marL="0" indent="0">
              <a:buNone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};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810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954583"/>
            <a:ext cx="10306026" cy="40934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The class that we have just defined serves to store two elements of any valid type.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For example, if we wanted to declare an object of this class to store two integer values of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type 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int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 with the values 115 and 36 we would write: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mypair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int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&gt;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myobject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(115, 36);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mypair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lang="en-US" sz="2000" dirty="0">
                <a:solidFill>
                  <a:srgbClr val="0000B0"/>
                </a:solidFill>
                <a:latin typeface="Arial Unicode MS" panose="020B0604020202020204" pitchFamily="34" charset="-128"/>
              </a:rPr>
              <a:t>float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&gt;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myobject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(115, 36);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mypair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lang="en-US" sz="2000" dirty="0">
                <a:solidFill>
                  <a:srgbClr val="0000B0"/>
                </a:solidFill>
                <a:latin typeface="Arial Unicode MS" panose="020B0604020202020204" pitchFamily="34" charset="-128"/>
              </a:rPr>
              <a:t>double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&gt;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myobject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(115, 36);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/>
            </a:r>
            <a:b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</a:b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792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662195"/>
            <a:ext cx="3480120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500070"/>
                </a:solidFill>
                <a:effectLst/>
                <a:latin typeface="Arial Unicode MS" panose="020B0604020202020204" pitchFamily="34" charset="-128"/>
              </a:rPr>
              <a:t>#include &lt;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rgbClr val="500070"/>
                </a:solidFill>
                <a:effectLst/>
                <a:latin typeface="Arial Unicode MS" panose="020B0604020202020204" pitchFamily="34" charset="-128"/>
              </a:rPr>
              <a:t>iostream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500070"/>
                </a:solidFill>
                <a:effectLst/>
                <a:latin typeface="Arial Unicode MS" panose="020B0604020202020204" pitchFamily="34" charset="-128"/>
              </a:rPr>
              <a:t>&gt;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using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namespace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std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template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&lt;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class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T&gt;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class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mypair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	T a, b;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public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</a:rPr>
              <a:t>	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mypair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(T first, T second) 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		a=first; b=second;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	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T 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getmax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()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	T 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retval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	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retval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= a&gt;b? a : b;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	return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retval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solidFill>
                  <a:srgbClr val="000000"/>
                </a:solidFill>
                <a:latin typeface="Arial Unicode MS" panose="020B0604020202020204" pitchFamily="34" charset="-128"/>
              </a:rPr>
              <a:t>};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int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main ()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mypair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&lt;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int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&gt; 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myobject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(100, 75);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cout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&lt;&lt; </a:t>
            </a:r>
            <a:r>
              <a:rPr kumimoji="0" lang="en-US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myobject.getmax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(); 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return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0;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}</a:t>
            </a: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69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Functions that operates with generic types.</a:t>
            </a:r>
          </a:p>
          <a:p>
            <a:r>
              <a:rPr lang="en-US" dirty="0"/>
              <a:t>A function whose functionality can be adapted to more than one type or class.</a:t>
            </a:r>
          </a:p>
          <a:p>
            <a:r>
              <a:rPr lang="en-US" dirty="0"/>
              <a:t>A template parameter is a special type of parameter.</a:t>
            </a:r>
          </a:p>
          <a:p>
            <a:r>
              <a:rPr lang="en-US" dirty="0"/>
              <a:t>Used to pass a type as argument.</a:t>
            </a:r>
          </a:p>
          <a:p>
            <a:r>
              <a:rPr lang="en-US" dirty="0"/>
              <a:t>Just like parameter , type is also passed.</a:t>
            </a:r>
          </a:p>
          <a:p>
            <a:r>
              <a:rPr lang="en-US" dirty="0"/>
              <a:t>Syntax:</a:t>
            </a:r>
          </a:p>
          <a:p>
            <a:pPr marL="0" indent="0">
              <a:buNone/>
            </a:pPr>
            <a:r>
              <a:rPr lang="en-US" dirty="0"/>
              <a:t>	template &lt;class identifier&gt; </a:t>
            </a:r>
            <a:r>
              <a:rPr lang="en-US" dirty="0" err="1"/>
              <a:t>function_declaration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		OR</a:t>
            </a:r>
            <a:br>
              <a:rPr lang="en-US" dirty="0"/>
            </a:br>
            <a:r>
              <a:rPr lang="en-US" dirty="0"/>
              <a:t>	template &lt;</a:t>
            </a:r>
            <a:r>
              <a:rPr lang="en-US" dirty="0" err="1"/>
              <a:t>typename</a:t>
            </a:r>
            <a:r>
              <a:rPr lang="en-US" dirty="0"/>
              <a:t> identifier&gt; </a:t>
            </a:r>
            <a:r>
              <a:rPr lang="en-US" dirty="0" err="1"/>
              <a:t>function_declaration</a:t>
            </a:r>
            <a:r>
              <a:rPr lang="en-US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861579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443448"/>
            <a:ext cx="4807406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template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&lt;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class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myType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myType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GetMax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(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myType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a,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myType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b)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return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(a &gt; b ? </a:t>
            </a:r>
            <a:r>
              <a:rPr lang="en-US" sz="2000" dirty="0">
                <a:solidFill>
                  <a:srgbClr val="000000"/>
                </a:solidFill>
                <a:latin typeface="Arial Unicode MS" panose="020B0604020202020204" pitchFamily="34" charset="-128"/>
              </a:rPr>
              <a:t>a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: b 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}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Arial" panose="020B0604020202020204" pitchFamily="34" charset="0"/>
              </a:rPr>
              <a:t>Function call syntax: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000" dirty="0" err="1"/>
              <a:t>function_name</a:t>
            </a:r>
            <a:r>
              <a:rPr lang="en-US" sz="2000" dirty="0"/>
              <a:t>  &lt;type&gt;  (parameters);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rgbClr val="0000B0"/>
              </a:solidFill>
              <a:effectLst/>
              <a:latin typeface="Arial Unicode MS" panose="020B0604020202020204" pitchFamily="34" charset="-128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int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x,y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;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GetMax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&lt;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int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&gt; (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x,y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);</a:t>
            </a:r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532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385197"/>
            <a:ext cx="6280052" cy="5232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500070"/>
                </a:solidFill>
                <a:effectLst/>
                <a:latin typeface="Arial Unicode MS" panose="020B0604020202020204" pitchFamily="34" charset="-128"/>
              </a:rPr>
              <a:t>#include &lt;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500070"/>
                </a:solidFill>
                <a:effectLst/>
                <a:latin typeface="Arial Unicode MS" panose="020B0604020202020204" pitchFamily="34" charset="-128"/>
              </a:rPr>
              <a:t>iostream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500070"/>
                </a:solidFill>
                <a:effectLst/>
                <a:latin typeface="Arial Unicode MS" panose="020B0604020202020204" pitchFamily="34" charset="-128"/>
              </a:rPr>
              <a:t>&gt;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using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namespace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std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template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&lt;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class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T&gt;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T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GetMax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(T a, T b)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T result; result = (a&gt;b)? a : b;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return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(result);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>
              <a:solidFill>
                <a:srgbClr val="000000"/>
              </a:solidFill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int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main ()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int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i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=5, j=6, k;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long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l=10, m=5, n;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k=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GetMax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int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&gt;(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i,j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n=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GetMax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long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&gt;(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l,m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cout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&lt;&lt; k &lt;&lt;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endl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cout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&lt;&lt; n &lt;&lt;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endl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return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0;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}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869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5972"/>
            <a:ext cx="10515600" cy="1325563"/>
          </a:xfrm>
        </p:spPr>
        <p:txBody>
          <a:bodyPr/>
          <a:lstStyle/>
          <a:p>
            <a:r>
              <a:rPr lang="en-US" dirty="0"/>
              <a:t>Using two types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231309"/>
            <a:ext cx="3217227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template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&lt;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class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T, </a:t>
            </a:r>
            <a:r>
              <a:rPr lang="en-US" sz="2000" dirty="0">
                <a:solidFill>
                  <a:srgbClr val="0000B0"/>
                </a:solidFill>
                <a:latin typeface="Arial Unicode MS" panose="020B0604020202020204" pitchFamily="34" charset="-128"/>
              </a:rPr>
              <a:t>class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U&gt;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T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GetMax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(T a, U b)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return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(a&gt;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b?a:b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rgbClr val="0000B0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int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main ()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rgbClr val="0000B0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int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i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=5, j=6, k;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long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l=10, m=5, n;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k=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GetMax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(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i,j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n=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GetMax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(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l,m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cout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&lt;&lt; k &lt;&lt;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endl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cout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&lt;&lt; n &lt;&lt;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endl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return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0; }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7707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Specialization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If we want to define a different implementation for a template when a specific type is passed as template parameter, </a:t>
            </a:r>
          </a:p>
          <a:p>
            <a:r>
              <a:rPr lang="en-US" dirty="0"/>
              <a:t>we can declare a specialization of that template.</a:t>
            </a:r>
          </a:p>
          <a:p>
            <a:pPr marL="0" indent="0">
              <a:buNone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template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&lt;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class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T&gt; </a:t>
            </a:r>
          </a:p>
          <a:p>
            <a:pPr marL="0" indent="0">
              <a:buNone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class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mycontainer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{ </a:t>
            </a:r>
          </a:p>
          <a:p>
            <a:pPr marL="457200" lvl="1" indent="0">
              <a:buNone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T element; </a:t>
            </a:r>
          </a:p>
          <a:p>
            <a:pPr marL="457200" lvl="1" indent="0">
              <a:buNone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public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: </a:t>
            </a:r>
          </a:p>
          <a:p>
            <a:pPr marL="457200" lvl="1" indent="0">
              <a:buNone/>
            </a:pPr>
            <a:r>
              <a:rPr kumimoji="0" 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mycontainer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(T </a:t>
            </a:r>
            <a:r>
              <a:rPr kumimoji="0" 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arg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) {element=</a:t>
            </a:r>
            <a:r>
              <a:rPr kumimoji="0" 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arg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;} </a:t>
            </a:r>
          </a:p>
          <a:p>
            <a:pPr marL="457200" lvl="1" indent="0">
              <a:buNone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T increase () {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return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++element;} </a:t>
            </a:r>
          </a:p>
          <a:p>
            <a:pPr marL="457200" lvl="1" indent="0">
              <a:buNone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};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8726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154639"/>
            <a:ext cx="585897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template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&lt;&gt;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class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mycontainer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&lt;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char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&gt;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	char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element;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rgbClr val="000000"/>
                </a:solidFill>
                <a:latin typeface="Arial Unicode MS" panose="020B0604020202020204" pitchFamily="34" charset="-128"/>
              </a:rPr>
              <a:t>	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public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rgbClr val="000000"/>
                </a:solidFill>
                <a:latin typeface="Arial Unicode MS" panose="020B0604020202020204" pitchFamily="34" charset="-128"/>
              </a:rPr>
              <a:t>	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mycontainer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(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char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arg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) {element=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arg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;}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rgbClr val="000000"/>
                </a:solidFill>
                <a:latin typeface="Arial Unicode MS" panose="020B0604020202020204" pitchFamily="34" charset="-128"/>
              </a:rPr>
              <a:t>	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char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uppercase ()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rgbClr val="000000"/>
                </a:solidFill>
                <a:latin typeface="Arial Unicode MS" panose="020B0604020202020204" pitchFamily="34" charset="-128"/>
              </a:rPr>
              <a:t>		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if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((element&gt;=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00030"/>
                </a:solidFill>
                <a:effectLst/>
                <a:latin typeface="Arial Unicode MS" panose="020B0604020202020204" pitchFamily="34" charset="-128"/>
              </a:rPr>
              <a:t>'a'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)&amp;&amp;(element&lt;=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00030"/>
                </a:solidFill>
                <a:effectLst/>
                <a:latin typeface="Arial Unicode MS" panose="020B0604020202020204" pitchFamily="34" charset="-128"/>
              </a:rPr>
              <a:t>'z'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))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rgbClr val="000000"/>
                </a:solidFill>
                <a:latin typeface="Arial Unicode MS" panose="020B0604020202020204" pitchFamily="34" charset="-128"/>
              </a:rPr>
              <a:t>			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element+=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00030"/>
                </a:solidFill>
                <a:effectLst/>
                <a:latin typeface="Arial Unicode MS" panose="020B0604020202020204" pitchFamily="34" charset="-128"/>
              </a:rPr>
              <a:t>'A'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-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600030"/>
                </a:solidFill>
                <a:effectLst/>
                <a:latin typeface="Arial Unicode MS" panose="020B0604020202020204" pitchFamily="34" charset="-128"/>
              </a:rPr>
              <a:t>'a'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rgbClr val="000000"/>
                </a:solidFill>
                <a:latin typeface="Arial Unicode MS" panose="020B0604020202020204" pitchFamily="34" charset="-128"/>
              </a:rPr>
              <a:t>		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		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return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element;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solidFill>
                  <a:srgbClr val="000000"/>
                </a:solidFill>
                <a:latin typeface="Arial Unicode MS" panose="020B0604020202020204" pitchFamily="34" charset="-128"/>
              </a:rPr>
              <a:t>	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};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8201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10064" y="2277747"/>
            <a:ext cx="5998437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err="1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int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main ()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mycontainer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b="0" i="0" u="none" strike="noStrike" cap="none" normalizeH="0" baseline="0" dirty="0" err="1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int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&gt; </a:t>
            </a:r>
            <a:r>
              <a:rPr kumimoji="0" 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myint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(7);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mycontainer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&lt;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char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&gt; </a:t>
            </a:r>
            <a:r>
              <a:rPr kumimoji="0" 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mychar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(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600030"/>
                </a:solidFill>
                <a:effectLst/>
                <a:latin typeface="Arial Unicode MS" panose="020B0604020202020204" pitchFamily="34" charset="-128"/>
              </a:rPr>
              <a:t>'j'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cout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&lt;&lt; </a:t>
            </a:r>
            <a:r>
              <a:rPr kumimoji="0" 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myint.increase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() &lt;&lt; </a:t>
            </a:r>
            <a:r>
              <a:rPr kumimoji="0" 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endl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cout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&lt;&lt; </a:t>
            </a:r>
            <a:r>
              <a:rPr kumimoji="0" 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mychar.uppercase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() &lt;&lt; </a:t>
            </a:r>
            <a:r>
              <a:rPr kumimoji="0" 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endl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return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0;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}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594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and Specialized syntax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969969"/>
            <a:ext cx="9380132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template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&lt;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class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T&gt;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class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mycontainer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{ ... };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400" dirty="0">
              <a:solidFill>
                <a:srgbClr val="000000"/>
              </a:solidFill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template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&lt;&gt;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class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en-US" sz="2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mycontainer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&lt;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char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&gt; { ... };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400" dirty="0">
              <a:solidFill>
                <a:srgbClr val="000000"/>
              </a:solidFill>
              <a:latin typeface="Arial Unicode MS" panose="020B0604020202020204" pitchFamily="34" charset="-128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Note:</a:t>
            </a:r>
            <a:r>
              <a:rPr lang="en-US" sz="2400" dirty="0"/>
              <a:t>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When we declare specializations for a template class,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we must also define all its members,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even those exactly equal to the generic template class,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/>
              <a:t>because there is no "inheritance" of members from the generic template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/>
              <a:t>to the specialization.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2830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Non-type parameters for templates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277749"/>
            <a:ext cx="6774290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template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&lt;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class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T, </a:t>
            </a:r>
            <a:r>
              <a:rPr kumimoji="0" lang="en-US" sz="3200" b="0" i="0" u="none" strike="noStrike" cap="none" normalizeH="0" baseline="0" dirty="0" err="1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int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N&gt;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class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en-US" sz="3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mysequence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	T </a:t>
            </a:r>
            <a:r>
              <a:rPr kumimoji="0" lang="en-US" sz="3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memblock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[N];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public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	void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</a:t>
            </a:r>
            <a:r>
              <a:rPr kumimoji="0" lang="en-US" sz="3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setmember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(</a:t>
            </a:r>
            <a:r>
              <a:rPr kumimoji="0" lang="en-US" sz="3200" b="0" i="0" u="none" strike="noStrike" cap="none" normalizeH="0" baseline="0" dirty="0" err="1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int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x, T value);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	T </a:t>
            </a:r>
            <a:r>
              <a:rPr kumimoji="0" lang="en-US" sz="3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getmember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(</a:t>
            </a:r>
            <a:r>
              <a:rPr kumimoji="0" lang="en-US" sz="3200" b="0" i="0" u="none" strike="noStrike" cap="none" normalizeH="0" baseline="0" dirty="0" err="1">
                <a:ln>
                  <a:noFill/>
                </a:ln>
                <a:solidFill>
                  <a:srgbClr val="0000B0"/>
                </a:solidFill>
                <a:effectLst/>
                <a:latin typeface="Arial Unicode MS" panose="020B0604020202020204" pitchFamily="34" charset="-128"/>
              </a:rPr>
              <a:t>int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 x);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 panose="020B0604020202020204" pitchFamily="34" charset="-128"/>
              </a:rPr>
              <a:t>};</a:t>
            </a: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962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3026</TotalTime>
  <Words>550</Words>
  <Application>Microsoft Office PowerPoint</Application>
  <PresentationFormat>Widescreen</PresentationFormat>
  <Paragraphs>150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 Unicode MS</vt:lpstr>
      <vt:lpstr>Arial</vt:lpstr>
      <vt:lpstr>Calibri</vt:lpstr>
      <vt:lpstr>Calibri Light</vt:lpstr>
      <vt:lpstr>Office Theme</vt:lpstr>
      <vt:lpstr>Templates</vt:lpstr>
      <vt:lpstr>Class Templates</vt:lpstr>
      <vt:lpstr>PowerPoint Presentation</vt:lpstr>
      <vt:lpstr>Example</vt:lpstr>
      <vt:lpstr>Function template</vt:lpstr>
      <vt:lpstr>Example</vt:lpstr>
      <vt:lpstr>Example 2</vt:lpstr>
      <vt:lpstr>Using two types</vt:lpstr>
      <vt:lpstr>Template Specialization </vt:lpstr>
      <vt:lpstr>PowerPoint Presentation</vt:lpstr>
      <vt:lpstr>PowerPoint Presentation</vt:lpstr>
      <vt:lpstr>Generic and Specialized syntax</vt:lpstr>
      <vt:lpstr>Non-type parameters for templates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Templates</dc:title>
  <dc:creator>Fast</dc:creator>
  <cp:lastModifiedBy>Administrator</cp:lastModifiedBy>
  <cp:revision>10</cp:revision>
  <dcterms:created xsi:type="dcterms:W3CDTF">2017-11-19T14:05:25Z</dcterms:created>
  <dcterms:modified xsi:type="dcterms:W3CDTF">2022-12-05T10:35:55Z</dcterms:modified>
</cp:coreProperties>
</file>