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1"/>
  </p:notesMasterIdLst>
  <p:sldIdLst>
    <p:sldId id="256" r:id="rId2"/>
    <p:sldId id="266" r:id="rId3"/>
    <p:sldId id="289" r:id="rId4"/>
    <p:sldId id="257" r:id="rId5"/>
    <p:sldId id="258" r:id="rId6"/>
    <p:sldId id="259" r:id="rId7"/>
    <p:sldId id="260" r:id="rId8"/>
    <p:sldId id="262" r:id="rId9"/>
    <p:sldId id="285" r:id="rId10"/>
    <p:sldId id="280" r:id="rId11"/>
    <p:sldId id="271" r:id="rId12"/>
    <p:sldId id="286" r:id="rId13"/>
    <p:sldId id="287" r:id="rId14"/>
    <p:sldId id="290" r:id="rId15"/>
    <p:sldId id="291" r:id="rId16"/>
    <p:sldId id="281" r:id="rId17"/>
    <p:sldId id="278" r:id="rId18"/>
    <p:sldId id="279" r:id="rId19"/>
    <p:sldId id="261" r:id="rId20"/>
    <p:sldId id="263" r:id="rId21"/>
    <p:sldId id="264" r:id="rId22"/>
    <p:sldId id="265" r:id="rId23"/>
    <p:sldId id="267" r:id="rId24"/>
    <p:sldId id="282" r:id="rId25"/>
    <p:sldId id="283" r:id="rId26"/>
    <p:sldId id="268" r:id="rId27"/>
    <p:sldId id="269" r:id="rId28"/>
    <p:sldId id="270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3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AAE4F-35A8-4A4F-8B83-F5ECB5C8F1C3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32637-4B4A-4B04-89B6-1B314E157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6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32637-4B4A-4B04-89B6-1B314E15789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6639029-8A8A-4512-B729-8E4D569F871D}" type="slidenum">
              <a:rPr lang="en-GB" sz="1200"/>
              <a:pPr/>
              <a:t>11</a:t>
            </a:fld>
            <a:endParaRPr lang="en-GB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98448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55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68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56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1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8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2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6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5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70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9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National University- FAST (KHI Campus)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88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National University- FAST (KHI Campus)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7E2BB87-D71E-4CF9-82E5-0EC57876DD5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40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 Oriented Programming</a:t>
            </a:r>
            <a:br>
              <a:rPr lang="en-US" dirty="0"/>
            </a:br>
            <a:r>
              <a:rPr lang="en-US" dirty="0"/>
              <a:t>Week-1</a:t>
            </a:r>
            <a:br>
              <a:rPr lang="en-US" dirty="0"/>
            </a:br>
            <a:r>
              <a:rPr lang="en-US" sz="1300" dirty="0" smtClean="0"/>
              <a:t>Aug 22-27, 2022</a:t>
            </a:r>
            <a:endParaRPr lang="en-US" sz="1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Instructor: </a:t>
            </a:r>
          </a:p>
          <a:p>
            <a:endParaRPr lang="en-US" dirty="0"/>
          </a:p>
          <a:p>
            <a:r>
              <a:rPr lang="en-US" b="1" dirty="0"/>
              <a:t>Dr. Abdul Aziz</a:t>
            </a:r>
          </a:p>
          <a:p>
            <a:r>
              <a:rPr lang="en-US" sz="1600" dirty="0"/>
              <a:t>Assistant Professor </a:t>
            </a:r>
          </a:p>
          <a:p>
            <a:r>
              <a:rPr lang="en-US" sz="1300" dirty="0" smtClean="0"/>
              <a:t>(School of Computing) </a:t>
            </a:r>
            <a:endParaRPr lang="en-US" sz="1300" dirty="0"/>
          </a:p>
          <a:p>
            <a:r>
              <a:rPr lang="en-US" sz="1300" dirty="0"/>
              <a:t>National University- FAST (KHI Campus)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2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 Publish material by Virtual University of Pakistan.</a:t>
            </a:r>
          </a:p>
          <a:p>
            <a:r>
              <a:rPr lang="en-US" dirty="0"/>
              <a:t>- Publish material by </a:t>
            </a:r>
            <a:r>
              <a:rPr lang="en-US" dirty="0" err="1"/>
              <a:t>Deitel</a:t>
            </a:r>
            <a:r>
              <a:rPr lang="en-US" dirty="0"/>
              <a:t> &amp;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r>
              <a:rPr lang="en-US" dirty="0"/>
              <a:t>- Publish material by Robert </a:t>
            </a:r>
            <a:r>
              <a:rPr lang="en-US" dirty="0" err="1"/>
              <a:t>Lafore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2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Classroom 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Join Using the code</a:t>
            </a:r>
            <a:r>
              <a:rPr lang="en-US" dirty="0" smtClean="0"/>
              <a:t>:</a:t>
            </a:r>
            <a:r>
              <a:rPr lang="en-US" altLang="en-US" sz="2400" dirty="0">
                <a:solidFill>
                  <a:srgbClr val="1967D2"/>
                </a:solidFill>
                <a:latin typeface="Google Sans"/>
              </a:rPr>
              <a:t> </a:t>
            </a:r>
            <a:endParaRPr lang="en-US" altLang="en-US" sz="2400" dirty="0" smtClean="0">
              <a:solidFill>
                <a:srgbClr val="1967D2"/>
              </a:solidFill>
              <a:latin typeface="Google Sans"/>
            </a:endParaRPr>
          </a:p>
          <a:p>
            <a:r>
              <a:rPr lang="en-US" altLang="en-US" sz="2400" dirty="0" smtClean="0">
                <a:solidFill>
                  <a:srgbClr val="1967D2"/>
                </a:solidFill>
                <a:latin typeface="Google Sans"/>
              </a:rPr>
              <a:t>BCY-3A:</a:t>
            </a:r>
            <a:endParaRPr lang="en-US" altLang="en-US" sz="2400" dirty="0">
              <a:solidFill>
                <a:srgbClr val="1967D2"/>
              </a:solidFill>
              <a:latin typeface="Google Sans"/>
            </a:endParaRPr>
          </a:p>
          <a:p>
            <a:pPr marL="128016" lvl="1" indent="0">
              <a:buNone/>
            </a:pPr>
            <a:r>
              <a:rPr lang="en-US" altLang="en-US" sz="2800" b="1" dirty="0" smtClean="0">
                <a:solidFill>
                  <a:srgbClr val="1967D2"/>
                </a:solidFill>
                <a:latin typeface="Google Sans"/>
              </a:rPr>
              <a:t>              6zejwbr</a:t>
            </a:r>
          </a:p>
          <a:p>
            <a:pPr marL="128016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Google Sans"/>
              </a:rPr>
              <a:t>BCS-3G</a:t>
            </a:r>
            <a:endParaRPr lang="en-US" sz="2400" dirty="0">
              <a:solidFill>
                <a:srgbClr val="FF0000"/>
              </a:solidFill>
              <a:latin typeface="Google Sans"/>
            </a:endParaRPr>
          </a:p>
          <a:p>
            <a:r>
              <a:rPr lang="en-US" sz="2800" b="1" dirty="0" smtClean="0">
                <a:solidFill>
                  <a:srgbClr val="1967D2"/>
                </a:solidFill>
                <a:latin typeface="Google Sans"/>
              </a:rPr>
              <a:t>              </a:t>
            </a:r>
            <a:r>
              <a:rPr lang="en-US" sz="2800" b="1" dirty="0" smtClean="0">
                <a:solidFill>
                  <a:srgbClr val="FF0000"/>
                </a:solidFill>
                <a:latin typeface="Google Sans"/>
              </a:rPr>
              <a:t>3n6pexa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 smtClean="0">
              <a:solidFill>
                <a:srgbClr val="00B050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 smtClean="0">
                <a:solidFill>
                  <a:srgbClr val="00B050"/>
                </a:solidFill>
                <a:latin typeface="Google Sans"/>
              </a:rPr>
              <a:t>BCS-3A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00B050"/>
                </a:solidFill>
                <a:latin typeface="Google Sans"/>
              </a:rPr>
              <a:t> </a:t>
            </a:r>
            <a:r>
              <a:rPr lang="en-US" altLang="en-US" sz="2400" dirty="0" smtClean="0">
                <a:solidFill>
                  <a:srgbClr val="00B050"/>
                </a:solidFill>
                <a:latin typeface="Google Sans"/>
              </a:rPr>
              <a:t>                 </a:t>
            </a:r>
            <a:r>
              <a:rPr lang="en-US" altLang="en-US" sz="2800" b="1" dirty="0">
                <a:solidFill>
                  <a:srgbClr val="00B050"/>
                </a:solidFill>
                <a:latin typeface="Google Sans"/>
              </a:rPr>
              <a:t>3um67f</a:t>
            </a:r>
            <a:endParaRPr lang="en-US" altLang="en-US" sz="2800" b="1" dirty="0">
              <a:solidFill>
                <a:srgbClr val="00B050"/>
              </a:solidFill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400" dirty="0">
              <a:latin typeface="Arial" panose="020B0604020202020204" pitchFamily="34" charset="0"/>
            </a:endParaRPr>
          </a:p>
          <a:p>
            <a:endParaRPr lang="en-US" sz="2400" dirty="0" smtClean="0">
              <a:solidFill>
                <a:srgbClr val="FF0000"/>
              </a:solidFill>
              <a:latin typeface="Google Sans"/>
            </a:endParaRPr>
          </a:p>
          <a:p>
            <a:endParaRPr lang="en-US" sz="2400" dirty="0">
              <a:solidFill>
                <a:srgbClr val="FF0000"/>
              </a:solidFill>
              <a:latin typeface="Google Sans"/>
            </a:endParaRPr>
          </a:p>
          <a:p>
            <a:endParaRPr lang="en-US" sz="2800" b="1" dirty="0">
              <a:solidFill>
                <a:srgbClr val="FF0000"/>
              </a:solidFill>
              <a:latin typeface="Google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1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have done so far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Introduction to Computer Programming (ITC):</a:t>
            </a:r>
          </a:p>
          <a:p>
            <a:pPr lvl="1"/>
            <a:r>
              <a:rPr lang="en-US" dirty="0"/>
              <a:t>How to think a program.</a:t>
            </a:r>
          </a:p>
          <a:p>
            <a:pPr lvl="1"/>
            <a:r>
              <a:rPr lang="en-US" dirty="0"/>
              <a:t>How to write a program.</a:t>
            </a:r>
          </a:p>
          <a:p>
            <a:pPr lvl="1"/>
            <a:r>
              <a:rPr lang="en-US" dirty="0"/>
              <a:t>Basic Programming structure.</a:t>
            </a:r>
          </a:p>
          <a:p>
            <a:pPr lvl="1"/>
            <a:r>
              <a:rPr lang="en-US" dirty="0"/>
              <a:t>Procedural paradigm.</a:t>
            </a:r>
          </a:p>
          <a:p>
            <a:pPr lvl="1"/>
            <a:r>
              <a:rPr lang="en-US" dirty="0"/>
              <a:t>Group of functions that interact with each other.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/>
              <a:t>- Already have knowledge about the offered course.</a:t>
            </a:r>
          </a:p>
          <a:p>
            <a:pPr marL="128016" lvl="1" indent="0">
              <a:buNone/>
            </a:pPr>
            <a:r>
              <a:rPr lang="en-US" dirty="0"/>
              <a:t>- Need to strengthen our concepts.</a:t>
            </a:r>
          </a:p>
          <a:p>
            <a:pPr marL="128016" lvl="1" indent="0">
              <a:buNone/>
            </a:pPr>
            <a:r>
              <a:rPr lang="en-US" dirty="0"/>
              <a:t>- Try to implement what we know.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5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Programming as a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 will study:</a:t>
            </a:r>
          </a:p>
          <a:p>
            <a:pPr lvl="1"/>
            <a:r>
              <a:rPr lang="en-US" dirty="0"/>
              <a:t>Object Oriented Programming.</a:t>
            </a:r>
          </a:p>
          <a:p>
            <a:pPr lvl="1"/>
            <a:r>
              <a:rPr lang="en-US" dirty="0"/>
              <a:t>How to think in a OOP way.</a:t>
            </a:r>
          </a:p>
          <a:p>
            <a:pPr lvl="1"/>
            <a:r>
              <a:rPr lang="en-US" dirty="0"/>
              <a:t>How to map real world into a program </a:t>
            </a:r>
          </a:p>
          <a:p>
            <a:pPr lvl="1"/>
            <a:r>
              <a:rPr lang="en-US" dirty="0"/>
              <a:t>Or, how to program a real world scenario.</a:t>
            </a:r>
          </a:p>
          <a:p>
            <a:pPr lvl="1"/>
            <a:r>
              <a:rPr lang="en-US" dirty="0"/>
              <a:t>Aim :</a:t>
            </a:r>
          </a:p>
          <a:p>
            <a:pPr lvl="2"/>
            <a:r>
              <a:rPr lang="en-US" dirty="0"/>
              <a:t>Our aim is to lean the concepts of Object Oriented programming.</a:t>
            </a:r>
          </a:p>
          <a:p>
            <a:pPr lvl="2"/>
            <a:r>
              <a:rPr lang="en-US" dirty="0"/>
              <a:t>Try to digest them.</a:t>
            </a:r>
          </a:p>
          <a:p>
            <a:pPr lvl="2"/>
            <a:r>
              <a:rPr lang="en-US" dirty="0"/>
              <a:t>Implement in a program.</a:t>
            </a:r>
          </a:p>
          <a:p>
            <a:pPr lvl="2"/>
            <a:r>
              <a:rPr lang="en-US" dirty="0"/>
              <a:t>Tool: C++.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1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Object Oriented Programming.</a:t>
            </a:r>
          </a:p>
          <a:p>
            <a:r>
              <a:rPr lang="en-US" dirty="0"/>
              <a:t>- Classes &amp; Objects.</a:t>
            </a:r>
          </a:p>
          <a:p>
            <a:r>
              <a:rPr lang="en-US" dirty="0"/>
              <a:t>- Overloading.</a:t>
            </a:r>
          </a:p>
          <a:p>
            <a:r>
              <a:rPr lang="en-US" dirty="0"/>
              <a:t>- Inheritance.</a:t>
            </a:r>
          </a:p>
          <a:p>
            <a:r>
              <a:rPr lang="en-US" dirty="0"/>
              <a:t>- Polymorphism.</a:t>
            </a:r>
          </a:p>
          <a:p>
            <a:r>
              <a:rPr lang="en-US" dirty="0"/>
              <a:t>- Generic Programming.</a:t>
            </a:r>
          </a:p>
          <a:p>
            <a:r>
              <a:rPr lang="en-US" dirty="0"/>
              <a:t>- Exception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25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Book:</a:t>
            </a:r>
          </a:p>
          <a:p>
            <a:r>
              <a:rPr lang="en-US" dirty="0"/>
              <a:t>1- C++ How to program By </a:t>
            </a:r>
            <a:r>
              <a:rPr lang="en-US" dirty="0" err="1"/>
              <a:t>Deitel</a:t>
            </a:r>
            <a:r>
              <a:rPr lang="en-US" dirty="0"/>
              <a:t> &amp;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Reference Books:</a:t>
            </a:r>
          </a:p>
          <a:p>
            <a:r>
              <a:rPr lang="en-US" dirty="0"/>
              <a:t>1- The C++ Programming Language By </a:t>
            </a:r>
            <a:r>
              <a:rPr lang="en-US" dirty="0" err="1"/>
              <a:t>Bjarne</a:t>
            </a:r>
            <a:r>
              <a:rPr lang="en-US" dirty="0"/>
              <a:t> </a:t>
            </a:r>
            <a:r>
              <a:rPr lang="en-US" dirty="0" err="1"/>
              <a:t>Stroustrup</a:t>
            </a:r>
            <a:r>
              <a:rPr lang="en-US" dirty="0"/>
              <a:t>.</a:t>
            </a:r>
          </a:p>
          <a:p>
            <a:r>
              <a:rPr lang="en-US" dirty="0"/>
              <a:t>2- Object Oriented Software Engineering By Jacobson.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9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98067"/>
            <a:ext cx="9720073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Assignments</a:t>
            </a:r>
            <a:r>
              <a:rPr lang="en-US" dirty="0"/>
              <a:t>			</a:t>
            </a:r>
            <a:r>
              <a:rPr lang="en-US" dirty="0" smtClean="0"/>
              <a:t>10</a:t>
            </a:r>
            <a:r>
              <a:rPr lang="en-US" dirty="0"/>
              <a:t>		at least </a:t>
            </a:r>
            <a:r>
              <a:rPr lang="en-US" dirty="0" smtClean="0"/>
              <a:t>four</a:t>
            </a:r>
            <a:endParaRPr lang="en-US" dirty="0"/>
          </a:p>
          <a:p>
            <a:r>
              <a:rPr lang="en-US" dirty="0" smtClean="0"/>
              <a:t>Quiz				10		at least three	</a:t>
            </a:r>
          </a:p>
          <a:p>
            <a:r>
              <a:rPr lang="en-US" dirty="0" smtClean="0"/>
              <a:t>Midterm’s</a:t>
            </a:r>
            <a:r>
              <a:rPr lang="en-US" dirty="0"/>
              <a:t>			</a:t>
            </a:r>
            <a:r>
              <a:rPr lang="en-US" dirty="0" smtClean="0"/>
              <a:t>30</a:t>
            </a:r>
            <a:r>
              <a:rPr lang="en-US" dirty="0"/>
              <a:t>		two (</a:t>
            </a:r>
            <a:r>
              <a:rPr lang="en-US" dirty="0" smtClean="0"/>
              <a:t>15 </a:t>
            </a:r>
            <a:r>
              <a:rPr lang="en-US" dirty="0"/>
              <a:t>marks each)</a:t>
            </a:r>
          </a:p>
          <a:p>
            <a:r>
              <a:rPr lang="en-US" dirty="0"/>
              <a:t>Final				50</a:t>
            </a:r>
          </a:p>
          <a:p>
            <a:r>
              <a:rPr lang="en-US" dirty="0"/>
              <a:t>                                            _____</a:t>
            </a:r>
          </a:p>
          <a:p>
            <a:r>
              <a:rPr lang="en-US" dirty="0"/>
              <a:t>Total				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8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44843A-7831-4AA6-BC52-FF18B520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—Chinese Proverb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F9C64E-00F5-4BAC-B7D7-F2E896FC3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Tell me and I forget. </a:t>
            </a:r>
          </a:p>
          <a:p>
            <a:pPr algn="ctr"/>
            <a:r>
              <a:rPr lang="en-US" sz="4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Show me and I remember. </a:t>
            </a:r>
          </a:p>
          <a:p>
            <a:pPr algn="ctr"/>
            <a:r>
              <a:rPr lang="en-US" sz="4000" dirty="0">
                <a:solidFill>
                  <a:srgbClr val="002060"/>
                </a:solidFill>
              </a:rPr>
              <a:t>Let me do and I understand.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754A49-6249-4E58-83DB-FE26E74D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8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One, class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Introduction to  the Generation of Languages</a:t>
            </a:r>
          </a:p>
          <a:p>
            <a:r>
              <a:rPr lang="en-US" dirty="0"/>
              <a:t>- Introduction to Software Development </a:t>
            </a:r>
          </a:p>
          <a:p>
            <a:r>
              <a:rPr lang="en-US" dirty="0"/>
              <a:t>- Introduction to Programming Paradigms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18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What Are the Types of Programming Languages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First Generation Languages</a:t>
            </a:r>
          </a:p>
          <a:p>
            <a:pPr eaLnBrk="1" hangingPunct="1"/>
            <a:r>
              <a:rPr lang="en-US"/>
              <a:t>Second Generation Languages</a:t>
            </a:r>
          </a:p>
          <a:p>
            <a:pPr eaLnBrk="1" hangingPunct="1"/>
            <a:r>
              <a:rPr lang="en-US"/>
              <a:t>Third Generation Languages</a:t>
            </a:r>
          </a:p>
          <a:p>
            <a:pPr eaLnBrk="1" hangingPunct="1"/>
            <a:r>
              <a:rPr lang="en-US"/>
              <a:t>Fourth Generation Languages</a:t>
            </a:r>
          </a:p>
          <a:p>
            <a:pPr eaLnBrk="1" hangingPunct="1"/>
            <a:r>
              <a:rPr lang="en-US"/>
              <a:t>Fifth Generation Languages</a:t>
            </a:r>
          </a:p>
        </p:txBody>
      </p:sp>
    </p:spTree>
    <p:extLst>
      <p:ext uri="{BB962C8B-B14F-4D97-AF65-F5344CB8AC3E}">
        <p14:creationId xmlns:p14="http://schemas.microsoft.com/office/powerpoint/2010/main" val="175267715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67B5D2-67C9-460D-A30D-37774985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8B0FFC-E803-489F-B6C9-B7F30AA28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► Computer Software is the product that software engineers design and build.</a:t>
            </a:r>
          </a:p>
          <a:p>
            <a:r>
              <a:rPr lang="en-US" dirty="0"/>
              <a:t>► It encompasses –programs that execute within a computer of any size and architecture, </a:t>
            </a:r>
          </a:p>
          <a:p>
            <a:r>
              <a:rPr lang="en-US" dirty="0"/>
              <a:t>      – documents that encompass hard-copy and virtual forms, </a:t>
            </a:r>
          </a:p>
          <a:p>
            <a:r>
              <a:rPr lang="en-US" dirty="0"/>
              <a:t>      – data that combine numbers and text but also includes representations of   pictorial, video and audio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6C31394-A0BA-42B9-B860-294E9BAB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2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9C577A4-58DB-4C7E-B3EC-6BB741EEF6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89" t="15923" r="17355" b="11068"/>
          <a:stretch/>
        </p:blipFill>
        <p:spPr>
          <a:xfrm>
            <a:off x="701337" y="106530"/>
            <a:ext cx="9383696" cy="627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06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vs problem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1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represent a pure approach to 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1-Everything is an </a:t>
            </a:r>
            <a:r>
              <a:rPr lang="en-US" dirty="0" smtClean="0"/>
              <a:t>object</a:t>
            </a:r>
          </a:p>
          <a:p>
            <a:r>
              <a:rPr lang="en-US" dirty="0"/>
              <a:t>2-A program is a bunch of objects telling each other what to do by sending </a:t>
            </a:r>
            <a:r>
              <a:rPr lang="en-US" dirty="0" smtClean="0"/>
              <a:t>message</a:t>
            </a:r>
          </a:p>
          <a:p>
            <a:r>
              <a:rPr lang="en-US" dirty="0"/>
              <a:t>3-Each object has its own memory made up of other </a:t>
            </a:r>
            <a:r>
              <a:rPr lang="en-US" dirty="0" smtClean="0"/>
              <a:t>objects</a:t>
            </a:r>
          </a:p>
          <a:p>
            <a:r>
              <a:rPr lang="en-US" dirty="0"/>
              <a:t>4-Every object has a </a:t>
            </a:r>
            <a:r>
              <a:rPr lang="en-US" dirty="0" smtClean="0"/>
              <a:t>type</a:t>
            </a:r>
          </a:p>
          <a:p>
            <a:r>
              <a:rPr lang="en-US" dirty="0"/>
              <a:t>5-All objects of a particular type can receive the same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1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one, class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Introduction to OO paradigm</a:t>
            </a:r>
          </a:p>
          <a:p>
            <a:r>
              <a:rPr lang="en-US" dirty="0"/>
              <a:t>- Principles of Object Oriented Paradigm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2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 Sequential</a:t>
            </a:r>
          </a:p>
          <a:p>
            <a:r>
              <a:rPr lang="en-US" dirty="0"/>
              <a:t>2- Procedural</a:t>
            </a:r>
          </a:p>
          <a:p>
            <a:r>
              <a:rPr lang="en-US" dirty="0"/>
              <a:t>3- Object Oriented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89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18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369126" y="2632363"/>
            <a:ext cx="131618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Oriented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724399" y="2632364"/>
            <a:ext cx="1399310" cy="9143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Oriented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62801" y="2632363"/>
            <a:ext cx="131618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Oriented</a:t>
            </a:r>
          </a:p>
        </p:txBody>
      </p:sp>
      <p:sp>
        <p:nvSpPr>
          <p:cNvPr id="9" name="Curved Up Arrow 8"/>
          <p:cNvSpPr/>
          <p:nvPr/>
        </p:nvSpPr>
        <p:spPr>
          <a:xfrm>
            <a:off x="3574471" y="3824130"/>
            <a:ext cx="1593273" cy="54032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Up Arrow 9"/>
          <p:cNvSpPr/>
          <p:nvPr/>
        </p:nvSpPr>
        <p:spPr>
          <a:xfrm>
            <a:off x="5884164" y="3824129"/>
            <a:ext cx="1593273" cy="54032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5162" y="5056910"/>
            <a:ext cx="1704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Think in term of data that we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56910"/>
            <a:ext cx="1704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Think in term of Process that we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8838" y="5056910"/>
            <a:ext cx="1704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Think in term of Object that is involved</a:t>
            </a:r>
          </a:p>
        </p:txBody>
      </p:sp>
    </p:spTree>
    <p:extLst>
      <p:ext uri="{BB962C8B-B14F-4D97-AF65-F5344CB8AC3E}">
        <p14:creationId xmlns:p14="http://schemas.microsoft.com/office/powerpoint/2010/main" val="5947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build="p" animBg="1"/>
      <p:bldP spid="8" grpId="0" animBg="1"/>
      <p:bldP spid="9" grpId="0" animBg="1"/>
      <p:bldP spid="10" grpId="0" animBg="1"/>
      <p:bldP spid="11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object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A technique for system modeling.</a:t>
            </a:r>
          </a:p>
          <a:p>
            <a:r>
              <a:rPr lang="en-US" dirty="0"/>
              <a:t>- OO model consists of several interacting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002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 abstraction of something.</a:t>
            </a:r>
          </a:p>
          <a:p>
            <a:r>
              <a:rPr lang="en-US" dirty="0"/>
              <a:t>- Purpose is to understand the product before developing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05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OO Model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522" t="27373" r="29819" b="19801"/>
          <a:stretch/>
        </p:blipFill>
        <p:spPr>
          <a:xfrm>
            <a:off x="2923505" y="2228044"/>
            <a:ext cx="5370490" cy="37389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301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OO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</a:t>
            </a:r>
          </a:p>
          <a:p>
            <a:pPr lvl="1"/>
            <a:r>
              <a:rPr lang="en-US" dirty="0"/>
              <a:t>Person </a:t>
            </a:r>
            <a:r>
              <a:rPr lang="en-US" dirty="0" err="1"/>
              <a:t>i.e</a:t>
            </a:r>
            <a:r>
              <a:rPr lang="en-US" dirty="0"/>
              <a:t> Name: Ali </a:t>
            </a:r>
          </a:p>
          <a:p>
            <a:pPr lvl="1"/>
            <a:r>
              <a:rPr lang="en-US" dirty="0"/>
              <a:t>House </a:t>
            </a:r>
          </a:p>
          <a:p>
            <a:pPr lvl="1"/>
            <a:r>
              <a:rPr lang="en-US" dirty="0"/>
              <a:t>Car </a:t>
            </a:r>
          </a:p>
          <a:p>
            <a:pPr lvl="1"/>
            <a:r>
              <a:rPr lang="en-US" dirty="0"/>
              <a:t>Tree</a:t>
            </a:r>
          </a:p>
          <a:p>
            <a:endParaRPr lang="en-US" dirty="0"/>
          </a:p>
          <a:p>
            <a:r>
              <a:rPr lang="en-US" dirty="0"/>
              <a:t>Interactions</a:t>
            </a:r>
          </a:p>
          <a:p>
            <a:pPr lvl="1"/>
            <a:r>
              <a:rPr lang="en-US" dirty="0"/>
              <a:t>Ali lives in the house</a:t>
            </a:r>
          </a:p>
          <a:p>
            <a:pPr lvl="1"/>
            <a:r>
              <a:rPr lang="en-US" dirty="0"/>
              <a:t>Ali drives the 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4820" t="30766" r="22911" b="40536"/>
          <a:stretch/>
        </p:blipFill>
        <p:spPr>
          <a:xfrm>
            <a:off x="5396248" y="2562896"/>
            <a:ext cx="4198512" cy="209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9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Object-Orientation -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- People think in terms of objects</a:t>
            </a:r>
          </a:p>
          <a:p>
            <a:r>
              <a:rPr lang="en-US" dirty="0"/>
              <a:t>- OO models map to reality</a:t>
            </a:r>
          </a:p>
          <a:p>
            <a:endParaRPr lang="en-US" dirty="0"/>
          </a:p>
          <a:p>
            <a:r>
              <a:rPr lang="en-US" dirty="0"/>
              <a:t>Therefore, OO models are:</a:t>
            </a:r>
          </a:p>
          <a:p>
            <a:r>
              <a:rPr lang="en-US" dirty="0"/>
              <a:t>- easy to develop</a:t>
            </a:r>
          </a:p>
          <a:p>
            <a:r>
              <a:rPr lang="en-US" dirty="0"/>
              <a:t>- easy to understand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95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principles of OO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1- Abstraction: To have the relevant information.</a:t>
            </a:r>
          </a:p>
          <a:p>
            <a:r>
              <a:rPr lang="en-US" dirty="0"/>
              <a:t>2- Encapsulation: To hide information inside the object.</a:t>
            </a:r>
          </a:p>
          <a:p>
            <a:r>
              <a:rPr lang="en-US" dirty="0"/>
              <a:t>3- Polymorphism: To have many shapes / behaviors.</a:t>
            </a:r>
          </a:p>
          <a:p>
            <a:r>
              <a:rPr lang="en-US" dirty="0"/>
              <a:t>4- Inheritance: To create a new object with an existing one (To adopt features from others)</a:t>
            </a:r>
          </a:p>
          <a:p>
            <a:r>
              <a:rPr lang="en-US" dirty="0"/>
              <a:t>5- Reusability: Ability to use an object again and again if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7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one, class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Introduction to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13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object is:</a:t>
            </a:r>
          </a:p>
          <a:p>
            <a:r>
              <a:rPr lang="en-US" dirty="0"/>
              <a:t>- It can be anything for which we want to save Information</a:t>
            </a:r>
          </a:p>
          <a:p>
            <a:r>
              <a:rPr lang="en-US" dirty="0"/>
              <a:t>- Something tangible (Ali, Car)</a:t>
            </a:r>
          </a:p>
          <a:p>
            <a:r>
              <a:rPr lang="en-US" dirty="0"/>
              <a:t>- Something that can be captured intellectually (Time, date)</a:t>
            </a:r>
          </a:p>
          <a:p>
            <a:endParaRPr lang="en-US" dirty="0"/>
          </a:p>
          <a:p>
            <a:r>
              <a:rPr lang="en-US" dirty="0"/>
              <a:t>An object has:</a:t>
            </a:r>
          </a:p>
          <a:p>
            <a:pPr lvl="1"/>
            <a:r>
              <a:rPr lang="en-US" dirty="0"/>
              <a:t>State / attributes / properties / data</a:t>
            </a:r>
          </a:p>
          <a:p>
            <a:pPr lvl="1"/>
            <a:r>
              <a:rPr lang="en-US" dirty="0"/>
              <a:t>Well-defined behavior / methods / functions</a:t>
            </a:r>
          </a:p>
          <a:p>
            <a:pPr lvl="1"/>
            <a:r>
              <a:rPr lang="en-US" dirty="0"/>
              <a:t>Unique identity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13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 as an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Attributes: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age</a:t>
            </a:r>
          </a:p>
          <a:p>
            <a:r>
              <a:rPr lang="en-US" dirty="0"/>
              <a:t>Behavior (operations)</a:t>
            </a:r>
          </a:p>
          <a:p>
            <a:pPr lvl="1"/>
            <a:r>
              <a:rPr lang="en-US" dirty="0"/>
              <a:t>Walks</a:t>
            </a:r>
          </a:p>
          <a:p>
            <a:pPr lvl="1"/>
            <a:r>
              <a:rPr lang="en-US" dirty="0"/>
              <a:t>Eats</a:t>
            </a:r>
          </a:p>
          <a:p>
            <a:r>
              <a:rPr lang="en-US" dirty="0"/>
              <a:t>Identity</a:t>
            </a:r>
          </a:p>
          <a:p>
            <a:pPr lvl="1"/>
            <a:r>
              <a:rPr lang="en-US" dirty="0"/>
              <a:t>His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5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as an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 (attributes)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Model</a:t>
            </a:r>
          </a:p>
          <a:p>
            <a:r>
              <a:rPr lang="en-US" dirty="0"/>
              <a:t>Behavior (operations)</a:t>
            </a:r>
          </a:p>
          <a:p>
            <a:pPr lvl="1"/>
            <a:r>
              <a:rPr lang="en-US" dirty="0"/>
              <a:t>Accelerate</a:t>
            </a:r>
          </a:p>
          <a:p>
            <a:pPr lvl="1"/>
            <a:r>
              <a:rPr lang="en-US" dirty="0"/>
              <a:t>Start Car</a:t>
            </a:r>
          </a:p>
          <a:p>
            <a:pPr lvl="1"/>
            <a:r>
              <a:rPr lang="en-US" dirty="0"/>
              <a:t>Change Gear</a:t>
            </a:r>
          </a:p>
          <a:p>
            <a:r>
              <a:rPr lang="en-US" dirty="0"/>
              <a:t>Identity</a:t>
            </a:r>
          </a:p>
          <a:p>
            <a:pPr lvl="1"/>
            <a:r>
              <a:rPr lang="en-US" dirty="0"/>
              <a:t>Its registration 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xmlns="" id="{40B9B3CB-3E10-4D42-AF45-A32AEF3D96DB}"/>
              </a:ext>
            </a:extLst>
          </p:cNvPr>
          <p:cNvSpPr/>
          <p:nvPr/>
        </p:nvSpPr>
        <p:spPr>
          <a:xfrm>
            <a:off x="3603812" y="1945341"/>
            <a:ext cx="4231341" cy="3603812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672E29-8E0F-4C65-A358-7A2D9C7E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an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5A2EDB9-7C47-477B-A170-D49B87AB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2BB87-D71E-4CF9-82E5-0EC57876DD58}" type="slidenum">
              <a:rPr lang="en-US" smtClean="0"/>
              <a:t>29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E6C51BFD-41D4-4E90-B827-ED77E300A76F}"/>
              </a:ext>
            </a:extLst>
          </p:cNvPr>
          <p:cNvSpPr/>
          <p:nvPr/>
        </p:nvSpPr>
        <p:spPr>
          <a:xfrm>
            <a:off x="4192839" y="2444343"/>
            <a:ext cx="3110753" cy="2707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Objects Data / Attributes / States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D4EC75F-A3B7-4D3C-BCAE-C989BFC2ABB6}"/>
              </a:ext>
            </a:extLst>
          </p:cNvPr>
          <p:cNvSpPr txBox="1"/>
          <p:nvPr/>
        </p:nvSpPr>
        <p:spPr>
          <a:xfrm>
            <a:off x="4456487" y="2138738"/>
            <a:ext cx="3311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Functions/Methods/Behavior</a:t>
            </a:r>
          </a:p>
        </p:txBody>
      </p:sp>
    </p:spTree>
    <p:extLst>
      <p:ext uri="{BB962C8B-B14F-4D97-AF65-F5344CB8AC3E}">
        <p14:creationId xmlns:p14="http://schemas.microsoft.com/office/powerpoint/2010/main" val="3575776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735</TotalTime>
  <Words>827</Words>
  <Application>Microsoft Office PowerPoint</Application>
  <PresentationFormat>Widescreen</PresentationFormat>
  <Paragraphs>202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Google Sans</vt:lpstr>
      <vt:lpstr>Times New Roman</vt:lpstr>
      <vt:lpstr>Tw Cen MT</vt:lpstr>
      <vt:lpstr>Tw Cen MT Condensed</vt:lpstr>
      <vt:lpstr>Wingdings 3</vt:lpstr>
      <vt:lpstr>Integral</vt:lpstr>
      <vt:lpstr>Object Oriented Programming Week-1 Aug 22-27, 2022</vt:lpstr>
      <vt:lpstr>acknowledgment</vt:lpstr>
      <vt:lpstr>Google Classroom Link</vt:lpstr>
      <vt:lpstr>What you have done so far !</vt:lpstr>
      <vt:lpstr>Computer Programming as a course</vt:lpstr>
      <vt:lpstr>Contents of the Course</vt:lpstr>
      <vt:lpstr>Books</vt:lpstr>
      <vt:lpstr>Grading policy</vt:lpstr>
      <vt:lpstr>—Chinese Proverb</vt:lpstr>
      <vt:lpstr>Week One, class one</vt:lpstr>
      <vt:lpstr>What Are the Types of Programming Languages</vt:lpstr>
      <vt:lpstr>Software</vt:lpstr>
      <vt:lpstr>PowerPoint Presentation</vt:lpstr>
      <vt:lpstr>Solution vs problem Space</vt:lpstr>
      <vt:lpstr>characteristics represent a pure approach to object-oriented programming</vt:lpstr>
      <vt:lpstr>Week one, class two</vt:lpstr>
      <vt:lpstr>Programming Paradigms</vt:lpstr>
      <vt:lpstr>Programming Paradigms</vt:lpstr>
      <vt:lpstr>What is object orientation</vt:lpstr>
      <vt:lpstr>What is a Model?</vt:lpstr>
      <vt:lpstr>Example – OO Model</vt:lpstr>
      <vt:lpstr>Example – OO Model</vt:lpstr>
      <vt:lpstr>Object-Orientation - Advantages</vt:lpstr>
      <vt:lpstr>Five principles of OO paradigm</vt:lpstr>
      <vt:lpstr>Week one, class three</vt:lpstr>
      <vt:lpstr>What is an Object?</vt:lpstr>
      <vt:lpstr>Ali as an object</vt:lpstr>
      <vt:lpstr>Car as an Object</vt:lpstr>
      <vt:lpstr>Visualizing an Object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</dc:title>
  <dc:creator>Fast</dc:creator>
  <cp:lastModifiedBy>Administrator</cp:lastModifiedBy>
  <cp:revision>38</cp:revision>
  <dcterms:created xsi:type="dcterms:W3CDTF">2017-06-07T07:31:08Z</dcterms:created>
  <dcterms:modified xsi:type="dcterms:W3CDTF">2022-08-22T06:07:12Z</dcterms:modified>
</cp:coreProperties>
</file>